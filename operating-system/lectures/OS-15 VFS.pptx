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9"/>
  </p:notesMasterIdLst>
  <p:handoutMasterIdLst>
    <p:handoutMasterId r:id="rId80"/>
  </p:handoutMasterIdLst>
  <p:sldIdLst>
    <p:sldId id="1306" r:id="rId2"/>
    <p:sldId id="1359" r:id="rId3"/>
    <p:sldId id="2451" r:id="rId4"/>
    <p:sldId id="2574" r:id="rId5"/>
    <p:sldId id="2573" r:id="rId6"/>
    <p:sldId id="2459" r:id="rId7"/>
    <p:sldId id="2552" r:id="rId8"/>
    <p:sldId id="2358" r:id="rId9"/>
    <p:sldId id="2420" r:id="rId10"/>
    <p:sldId id="2418" r:id="rId11"/>
    <p:sldId id="2423" r:id="rId12"/>
    <p:sldId id="2428" r:id="rId13"/>
    <p:sldId id="2430" r:id="rId14"/>
    <p:sldId id="2424" r:id="rId15"/>
    <p:sldId id="2432" r:id="rId16"/>
    <p:sldId id="2553" r:id="rId17"/>
    <p:sldId id="2554" r:id="rId18"/>
    <p:sldId id="2392" r:id="rId19"/>
    <p:sldId id="2560" r:id="rId20"/>
    <p:sldId id="2561" r:id="rId21"/>
    <p:sldId id="2419" r:id="rId22"/>
    <p:sldId id="2550" r:id="rId23"/>
    <p:sldId id="2470" r:id="rId24"/>
    <p:sldId id="2471" r:id="rId25"/>
    <p:sldId id="2458" r:id="rId26"/>
    <p:sldId id="2511" r:id="rId27"/>
    <p:sldId id="2526" r:id="rId28"/>
    <p:sldId id="2527" r:id="rId29"/>
    <p:sldId id="2524" r:id="rId30"/>
    <p:sldId id="2525" r:id="rId31"/>
    <p:sldId id="2523" r:id="rId32"/>
    <p:sldId id="2513" r:id="rId33"/>
    <p:sldId id="2528" r:id="rId34"/>
    <p:sldId id="2530" r:id="rId35"/>
    <p:sldId id="2514" r:id="rId36"/>
    <p:sldId id="2555" r:id="rId37"/>
    <p:sldId id="2532" r:id="rId38"/>
    <p:sldId id="2542" r:id="rId39"/>
    <p:sldId id="2544" r:id="rId40"/>
    <p:sldId id="2531" r:id="rId41"/>
    <p:sldId id="2536" r:id="rId42"/>
    <p:sldId id="2551" r:id="rId43"/>
    <p:sldId id="2516" r:id="rId44"/>
    <p:sldId id="2507" r:id="rId45"/>
    <p:sldId id="2545" r:id="rId46"/>
    <p:sldId id="2519" r:id="rId47"/>
    <p:sldId id="2546" r:id="rId48"/>
    <p:sldId id="2547" r:id="rId49"/>
    <p:sldId id="2520" r:id="rId50"/>
    <p:sldId id="2579" r:id="rId51"/>
    <p:sldId id="1363" r:id="rId52"/>
    <p:sldId id="2415" r:id="rId53"/>
    <p:sldId id="2416" r:id="rId54"/>
    <p:sldId id="2422" r:id="rId55"/>
    <p:sldId id="2576" r:id="rId56"/>
    <p:sldId id="2483" r:id="rId57"/>
    <p:sldId id="2577" r:id="rId58"/>
    <p:sldId id="438" r:id="rId59"/>
    <p:sldId id="439" r:id="rId60"/>
    <p:sldId id="394" r:id="rId61"/>
    <p:sldId id="442" r:id="rId62"/>
    <p:sldId id="445" r:id="rId63"/>
    <p:sldId id="2578" r:id="rId64"/>
    <p:sldId id="2575" r:id="rId65"/>
    <p:sldId id="2440" r:id="rId66"/>
    <p:sldId id="996" r:id="rId67"/>
    <p:sldId id="2505" r:id="rId68"/>
    <p:sldId id="2506" r:id="rId69"/>
    <p:sldId id="2580" r:id="rId70"/>
    <p:sldId id="2581" r:id="rId71"/>
    <p:sldId id="2582" r:id="rId72"/>
    <p:sldId id="2583" r:id="rId73"/>
    <p:sldId id="2584" r:id="rId74"/>
    <p:sldId id="2585" r:id="rId75"/>
    <p:sldId id="2586" r:id="rId76"/>
    <p:sldId id="2587" r:id="rId77"/>
    <p:sldId id="1365" r:id="rId78"/>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userDrawn="1">
          <p15:clr>
            <a:srgbClr val="A4A3A4"/>
          </p15:clr>
        </p15:guide>
        <p15:guide id="3" pos="2880" userDrawn="1">
          <p15:clr>
            <a:srgbClr val="A4A3A4"/>
          </p15:clr>
        </p15:guide>
        <p15:guide id="4" orient="horz" pos="89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9300"/>
    <a:srgbClr val="00FB92"/>
    <a:srgbClr val="941100"/>
    <a:srgbClr val="212121"/>
    <a:srgbClr val="005493"/>
    <a:srgbClr val="FF2F92"/>
    <a:srgbClr val="9437FF"/>
    <a:srgbClr val="73FEFF"/>
    <a:srgbClr val="ED3C64"/>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5069" autoAdjust="0"/>
  </p:normalViewPr>
  <p:slideViewPr>
    <p:cSldViewPr>
      <p:cViewPr varScale="1">
        <p:scale>
          <a:sx n="112" d="100"/>
          <a:sy n="112" d="100"/>
        </p:scale>
        <p:origin x="1392" y="176"/>
      </p:cViewPr>
      <p:guideLst>
        <p:guide orient="horz" pos="2480"/>
        <p:guide pos="2880"/>
        <p:guide orient="horz" pos="893"/>
      </p:guideLst>
    </p:cSldViewPr>
  </p:slideViewPr>
  <p:outlineViewPr>
    <p:cViewPr>
      <p:scale>
        <a:sx n="33" d="100"/>
        <a:sy n="33" d="100"/>
      </p:scale>
      <p:origin x="0" y="-5720"/>
    </p:cViewPr>
  </p:outlineViewPr>
  <p:notesTextViewPr>
    <p:cViewPr>
      <p:scale>
        <a:sx n="110" d="100"/>
        <a:sy n="110" d="100"/>
      </p:scale>
      <p:origin x="0" y="0"/>
    </p:cViewPr>
  </p:notesTextViewPr>
  <p:sorterViewPr>
    <p:cViewPr>
      <p:scale>
        <a:sx n="66" d="100"/>
        <a:sy n="66" d="100"/>
      </p:scale>
      <p:origin x="0" y="0"/>
    </p:cViewPr>
  </p:sorterViewPr>
  <p:notesViewPr>
    <p:cSldViewPr>
      <p:cViewPr varScale="1">
        <p:scale>
          <a:sx n="96" d="100"/>
          <a:sy n="96" d="100"/>
        </p:scale>
        <p:origin x="3048"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2022/4/7</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2022/4/7</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osdfir.blogspot.com/2020/04/parsing-mft-ntfs-metadata-file.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hlinkClick r:id="rId3"/>
              </a:rPr>
              <a:t>Parsing the $MFT NTFS metadata file (osdfir.blogspot.com)</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a:t>
            </a:fld>
            <a:endParaRPr lang="zh-CN" altLang="en-US"/>
          </a:p>
        </p:txBody>
      </p:sp>
    </p:spTree>
    <p:extLst>
      <p:ext uri="{BB962C8B-B14F-4D97-AF65-F5344CB8AC3E}">
        <p14:creationId xmlns:p14="http://schemas.microsoft.com/office/powerpoint/2010/main" val="378753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8</a:t>
            </a:fld>
            <a:endParaRPr lang="zh-CN" altLang="en-US"/>
          </a:p>
        </p:txBody>
      </p:sp>
    </p:spTree>
    <p:extLst>
      <p:ext uri="{BB962C8B-B14F-4D97-AF65-F5344CB8AC3E}">
        <p14:creationId xmlns:p14="http://schemas.microsoft.com/office/powerpoint/2010/main" val="34641496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不同结构的大小和使用方式不同</a:t>
            </a:r>
            <a:r>
              <a:rPr lang="zh-CN" altLang="en-US" dirty="0"/>
              <a:t>，单独的所以能够更加高效（在内存利用率和性能上）</a:t>
            </a:r>
            <a:endParaRPr lang="en-US" altLang="zh-CN" dirty="0"/>
          </a:p>
          <a:p>
            <a:r>
              <a:rPr lang="zh-CN" altLang="en-US" dirty="0"/>
              <a:t>比如 </a:t>
            </a:r>
            <a:r>
              <a:rPr lang="en-US" altLang="zh-CN" dirty="0" err="1"/>
              <a:t>inode</a:t>
            </a:r>
            <a:r>
              <a:rPr lang="zh-CN" altLang="en-US" dirty="0"/>
              <a:t> 小于 </a:t>
            </a:r>
            <a:r>
              <a:rPr lang="en-US" altLang="zh-CN" dirty="0"/>
              <a:t>4K</a:t>
            </a:r>
            <a:r>
              <a:rPr lang="zh-CN" altLang="en-US" dirty="0"/>
              <a:t>，一个页面里有多个 </a:t>
            </a:r>
            <a:r>
              <a:rPr lang="en-US" altLang="zh-CN" dirty="0" err="1"/>
              <a:t>inode</a:t>
            </a:r>
            <a:r>
              <a:rPr lang="zh-CN" altLang="en-US" dirty="0"/>
              <a:t>，如果其中只有一个 </a:t>
            </a:r>
            <a:r>
              <a:rPr lang="en-US" altLang="zh-CN" dirty="0" err="1"/>
              <a:t>inode</a:t>
            </a:r>
            <a:r>
              <a:rPr lang="zh-CN" altLang="en-US" dirty="0"/>
              <a:t> 被使用，整个页面都存在内存，浪费了。</a:t>
            </a:r>
            <a:endParaRPr lang="en-US" altLang="zh-CN" dirty="0"/>
          </a:p>
          <a:p>
            <a:r>
              <a:rPr lang="zh-CN" altLang="en-US" dirty="0"/>
              <a:t>比如分配器，一些文件系统可以在内存中通过链表等方式，加速分配，而在磁盘上保存 </a:t>
            </a:r>
            <a:r>
              <a:rPr lang="en-US" altLang="zh-CN" dirty="0"/>
              <a:t>bitmap</a:t>
            </a:r>
            <a:r>
              <a:rPr lang="zh-CN" altLang="en-US"/>
              <a:t>。</a:t>
            </a:r>
            <a:endParaRPr lang="en-US" altLang="zh-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20</a:t>
            </a:fld>
            <a:endParaRPr lang="zh-CN" altLang="en-US"/>
          </a:p>
        </p:txBody>
      </p:sp>
    </p:spTree>
    <p:extLst>
      <p:ext uri="{BB962C8B-B14F-4D97-AF65-F5344CB8AC3E}">
        <p14:creationId xmlns:p14="http://schemas.microsoft.com/office/powerpoint/2010/main" val="71016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21</a:t>
            </a:fld>
            <a:endParaRPr lang="zh-CN" altLang="en-US"/>
          </a:p>
        </p:txBody>
      </p:sp>
    </p:spTree>
    <p:extLst>
      <p:ext uri="{BB962C8B-B14F-4D97-AF65-F5344CB8AC3E}">
        <p14:creationId xmlns:p14="http://schemas.microsoft.com/office/powerpoint/2010/main" val="4201187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26</a:t>
            </a:fld>
            <a:endParaRPr lang="zh-CN" altLang="en-US"/>
          </a:p>
        </p:txBody>
      </p:sp>
    </p:spTree>
    <p:extLst>
      <p:ext uri="{BB962C8B-B14F-4D97-AF65-F5344CB8AC3E}">
        <p14:creationId xmlns:p14="http://schemas.microsoft.com/office/powerpoint/2010/main" val="2066672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27</a:t>
            </a:fld>
            <a:endParaRPr lang="zh-CN" altLang="en-US"/>
          </a:p>
        </p:txBody>
      </p:sp>
    </p:spTree>
    <p:extLst>
      <p:ext uri="{BB962C8B-B14F-4D97-AF65-F5344CB8AC3E}">
        <p14:creationId xmlns:p14="http://schemas.microsoft.com/office/powerpoint/2010/main" val="471701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28</a:t>
            </a:fld>
            <a:endParaRPr lang="zh-CN" altLang="en-US"/>
          </a:p>
        </p:txBody>
      </p:sp>
    </p:spTree>
    <p:extLst>
      <p:ext uri="{BB962C8B-B14F-4D97-AF65-F5344CB8AC3E}">
        <p14:creationId xmlns:p14="http://schemas.microsoft.com/office/powerpoint/2010/main" val="1347008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29</a:t>
            </a:fld>
            <a:endParaRPr lang="zh-CN" altLang="en-US"/>
          </a:p>
        </p:txBody>
      </p:sp>
    </p:spTree>
    <p:extLst>
      <p:ext uri="{BB962C8B-B14F-4D97-AF65-F5344CB8AC3E}">
        <p14:creationId xmlns:p14="http://schemas.microsoft.com/office/powerpoint/2010/main" val="733547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30</a:t>
            </a:fld>
            <a:endParaRPr lang="zh-CN" altLang="en-US"/>
          </a:p>
        </p:txBody>
      </p:sp>
    </p:spTree>
    <p:extLst>
      <p:ext uri="{BB962C8B-B14F-4D97-AF65-F5344CB8AC3E}">
        <p14:creationId xmlns:p14="http://schemas.microsoft.com/office/powerpoint/2010/main" val="692311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RoW</a:t>
            </a:r>
            <a:r>
              <a:rPr lang="zh-CN" altLang="en-US" dirty="0"/>
              <a:t>：与</a:t>
            </a:r>
            <a:r>
              <a:rPr lang="en-US" altLang="zh-CN" dirty="0" err="1"/>
              <a:t>CoW</a:t>
            </a:r>
            <a:r>
              <a:rPr lang="zh-CN" altLang="en-US" dirty="0"/>
              <a:t>区别在于，</a:t>
            </a:r>
            <a:r>
              <a:rPr lang="en-US" altLang="zh-CN" dirty="0"/>
              <a:t>copy</a:t>
            </a:r>
            <a:r>
              <a:rPr lang="zh-CN" altLang="en-US" dirty="0"/>
              <a:t>之后在哪一份数据上修改</a:t>
            </a:r>
            <a:endParaRPr lang="en-US" altLang="zh-CN" dirty="0"/>
          </a:p>
          <a:p>
            <a:r>
              <a:rPr lang="en-US" altLang="zh-CN" dirty="0" err="1"/>
              <a:t>UnionFS</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31</a:t>
            </a:fld>
            <a:endParaRPr lang="zh-CN" altLang="en-US"/>
          </a:p>
        </p:txBody>
      </p:sp>
    </p:spTree>
    <p:extLst>
      <p:ext uri="{BB962C8B-B14F-4D97-AF65-F5344CB8AC3E}">
        <p14:creationId xmlns:p14="http://schemas.microsoft.com/office/powerpoint/2010/main" val="632935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CN" b="0" dirty="0"/>
              <a:t>子卷</a:t>
            </a:r>
            <a:r>
              <a:rPr lang="zh-CN" altLang="en-US" b="0" dirty="0"/>
              <a:t>（把文件系统中的一部分变成完整的子文件系统）</a:t>
            </a:r>
            <a:endParaRPr lang="en-US" altLang="zh-CN" b="0"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35</a:t>
            </a:fld>
            <a:endParaRPr lang="zh-CN" altLang="en-US"/>
          </a:p>
        </p:txBody>
      </p:sp>
    </p:spTree>
    <p:extLst>
      <p:ext uri="{BB962C8B-B14F-4D97-AF65-F5344CB8AC3E}">
        <p14:creationId xmlns:p14="http://schemas.microsoft.com/office/powerpoint/2010/main" val="3202459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zh-CN" altLang="en-CN" dirty="0"/>
              <a:t>打开时间</a:t>
            </a:r>
            <a:r>
              <a:rPr lang="zh-CN" altLang="en-US" dirty="0"/>
              <a:t>慢</a:t>
            </a:r>
            <a:r>
              <a:rPr lang="en-US" altLang="zh-CN" dirty="0"/>
              <a:t>=&gt;</a:t>
            </a:r>
            <a:r>
              <a:rPr lang="zh-CN" altLang="en-US" dirty="0"/>
              <a:t>查找时间慢</a:t>
            </a:r>
            <a:r>
              <a:rPr lang="en-US" altLang="zh-CN" dirty="0"/>
              <a:t>=&gt;</a:t>
            </a:r>
            <a:r>
              <a:rPr lang="zh-CN" altLang="en-US" dirty="0"/>
              <a:t>目录结构效率不高、目录太深</a:t>
            </a:r>
            <a:endParaRPr lang="en-US" altLang="zh-CN" dirty="0"/>
          </a:p>
          <a:p>
            <a:pPr marL="228600" indent="-228600">
              <a:buAutoNum type="arabicPeriod"/>
            </a:pPr>
            <a:r>
              <a:rPr lang="zh-CN" altLang="en-US" dirty="0"/>
              <a:t>优化目录结构、用</a:t>
            </a:r>
            <a:r>
              <a:rPr lang="en-US" altLang="zh-CN" dirty="0" err="1"/>
              <a:t>db</a:t>
            </a:r>
            <a:r>
              <a:rPr lang="zh-CN" altLang="en-US" dirty="0"/>
              <a:t>做</a:t>
            </a:r>
            <a:r>
              <a:rPr lang="en-US" altLang="zh-CN" dirty="0"/>
              <a:t>fs</a:t>
            </a:r>
            <a:r>
              <a:rPr lang="zh-CN" altLang="en-US" dirty="0"/>
              <a:t>的索引、或者在</a:t>
            </a:r>
            <a:r>
              <a:rPr lang="en-US" altLang="zh-CN" dirty="0"/>
              <a:t>fs</a:t>
            </a:r>
            <a:r>
              <a:rPr lang="zh-CN" altLang="en-US" dirty="0"/>
              <a:t>中内置一个</a:t>
            </a:r>
            <a:r>
              <a:rPr lang="en-US" altLang="zh-CN" dirty="0" err="1"/>
              <a:t>db</a:t>
            </a:r>
            <a:r>
              <a:rPr lang="zh-CN" altLang="en-US" dirty="0"/>
              <a:t>专门存小文件。</a:t>
            </a:r>
            <a:endParaRPr lang="en-CN" dirty="0"/>
          </a:p>
          <a:p>
            <a:r>
              <a:rPr lang="en-US" altLang="zh-CN" dirty="0"/>
              <a:t>3.</a:t>
            </a:r>
            <a:r>
              <a:rPr lang="zh-CN" altLang="en-US" dirty="0"/>
              <a:t> </a:t>
            </a:r>
            <a:r>
              <a:rPr lang="en-CN" dirty="0"/>
              <a:t>HTML</a:t>
            </a:r>
            <a:r>
              <a:rPr lang="zh-CN" altLang="en-CN" dirty="0"/>
              <a:t>里面</a:t>
            </a:r>
            <a:r>
              <a:rPr lang="zh-CN" altLang="en-US" dirty="0"/>
              <a:t>小图片都是拼在一起，用</a:t>
            </a:r>
            <a:r>
              <a:rPr lang="en-US" altLang="zh-CN" dirty="0" err="1"/>
              <a:t>css</a:t>
            </a:r>
            <a:r>
              <a:rPr lang="zh-CN" altLang="en-US" dirty="0"/>
              <a:t>切图（页面加载速度、网络传输）</a:t>
            </a:r>
            <a:endParaRPr lang="en-US" altLang="zh-CN" dirty="0"/>
          </a:p>
          <a:p>
            <a:r>
              <a:rPr lang="zh-CN" altLang="en-US" dirty="0"/>
              <a:t>传文件到远端或优盘，先打包再传输</a:t>
            </a:r>
            <a:endParaRPr lang="en-US" altLang="zh-CN" dirty="0"/>
          </a:p>
          <a:p>
            <a:r>
              <a:rPr lang="en-US" altLang="zh-CN" dirty="0"/>
              <a:t>Git</a:t>
            </a:r>
            <a:r>
              <a:rPr lang="zh-CN" altLang="en-US" dirty="0"/>
              <a:t>的</a:t>
            </a:r>
            <a:r>
              <a:rPr lang="en-US" altLang="zh-CN" dirty="0"/>
              <a:t>push/pull</a:t>
            </a:r>
            <a:r>
              <a:rPr lang="zh-CN" altLang="en-US" dirty="0"/>
              <a:t>是先打包再传输</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42</a:t>
            </a:fld>
            <a:endParaRPr lang="zh-CN" altLang="en-US"/>
          </a:p>
        </p:txBody>
      </p:sp>
    </p:spTree>
    <p:extLst>
      <p:ext uri="{BB962C8B-B14F-4D97-AF65-F5344CB8AC3E}">
        <p14:creationId xmlns:p14="http://schemas.microsoft.com/office/powerpoint/2010/main" val="1780272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慢！考虑</a:t>
            </a:r>
            <a:r>
              <a:rPr lang="en-US" altLang="zh-CN" dirty="0"/>
              <a:t>copy</a:t>
            </a:r>
            <a:r>
              <a:rPr lang="zh-CN" altLang="en-US" dirty="0"/>
              <a:t>个</a:t>
            </a:r>
            <a:r>
              <a:rPr lang="en-US" altLang="zh-CN" dirty="0"/>
              <a:t>10G</a:t>
            </a:r>
            <a:r>
              <a:rPr lang="zh-CN" altLang="en-US" dirty="0"/>
              <a:t>的文件？</a:t>
            </a:r>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45</a:t>
            </a:fld>
            <a:endParaRPr lang="zh-CN" altLang="en-US"/>
          </a:p>
        </p:txBody>
      </p:sp>
    </p:spTree>
    <p:extLst>
      <p:ext uri="{BB962C8B-B14F-4D97-AF65-F5344CB8AC3E}">
        <p14:creationId xmlns:p14="http://schemas.microsoft.com/office/powerpoint/2010/main" val="1099862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49</a:t>
            </a:fld>
            <a:endParaRPr lang="zh-CN" altLang="en-US"/>
          </a:p>
        </p:txBody>
      </p:sp>
    </p:spTree>
    <p:extLst>
      <p:ext uri="{BB962C8B-B14F-4D97-AF65-F5344CB8AC3E}">
        <p14:creationId xmlns:p14="http://schemas.microsoft.com/office/powerpoint/2010/main" val="3764902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52</a:t>
            </a:fld>
            <a:endParaRPr lang="zh-CN" altLang="en-US"/>
          </a:p>
        </p:txBody>
      </p:sp>
    </p:spTree>
    <p:extLst>
      <p:ext uri="{BB962C8B-B14F-4D97-AF65-F5344CB8AC3E}">
        <p14:creationId xmlns:p14="http://schemas.microsoft.com/office/powerpoint/2010/main" val="2205918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53</a:t>
            </a:fld>
            <a:endParaRPr lang="zh-CN" altLang="en-US"/>
          </a:p>
        </p:txBody>
      </p:sp>
    </p:spTree>
    <p:extLst>
      <p:ext uri="{BB962C8B-B14F-4D97-AF65-F5344CB8AC3E}">
        <p14:creationId xmlns:p14="http://schemas.microsoft.com/office/powerpoint/2010/main" val="3691996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54</a:t>
            </a:fld>
            <a:endParaRPr lang="zh-CN" altLang="en-US"/>
          </a:p>
        </p:txBody>
      </p:sp>
    </p:spTree>
    <p:extLst>
      <p:ext uri="{BB962C8B-B14F-4D97-AF65-F5344CB8AC3E}">
        <p14:creationId xmlns:p14="http://schemas.microsoft.com/office/powerpoint/2010/main" val="31981591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C00000"/>
                </a:solidFill>
              </a:rPr>
              <a:t>（崩溃后重启，有哪些可能出现情况？）</a:t>
            </a:r>
            <a:endParaRPr lang="en-US" altLang="zh-CN" sz="1200" dirty="0">
              <a:solidFill>
                <a:srgbClr val="C00000"/>
              </a:solidFill>
            </a:endParaRPr>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55</a:t>
            </a:fld>
            <a:endParaRPr lang="zh-CN" altLang="en-US"/>
          </a:p>
        </p:txBody>
      </p:sp>
    </p:spTree>
    <p:extLst>
      <p:ext uri="{BB962C8B-B14F-4D97-AF65-F5344CB8AC3E}">
        <p14:creationId xmlns:p14="http://schemas.microsoft.com/office/powerpoint/2010/main" val="3320346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56</a:t>
            </a:fld>
            <a:endParaRPr lang="zh-CN" altLang="en-US"/>
          </a:p>
        </p:txBody>
      </p:sp>
    </p:spTree>
    <p:extLst>
      <p:ext uri="{BB962C8B-B14F-4D97-AF65-F5344CB8AC3E}">
        <p14:creationId xmlns:p14="http://schemas.microsoft.com/office/powerpoint/2010/main" val="40186972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CN" dirty="0"/>
              <a:t>文件系统</a:t>
            </a:r>
            <a:r>
              <a:rPr lang="en-US" altLang="zh-CN" dirty="0"/>
              <a:t>crash</a:t>
            </a:r>
          </a:p>
          <a:p>
            <a:r>
              <a:rPr lang="zh-CN" altLang="en-US" dirty="0"/>
              <a:t>设备故障</a:t>
            </a:r>
            <a:endParaRPr lang="en-US" altLang="zh-CN" dirty="0"/>
          </a:p>
          <a:p>
            <a:endParaRPr lang="en-CN" dirty="0"/>
          </a:p>
        </p:txBody>
      </p:sp>
      <p:sp>
        <p:nvSpPr>
          <p:cNvPr id="4" name="Slide Number Placeholder 3"/>
          <p:cNvSpPr>
            <a:spLocks noGrp="1"/>
          </p:cNvSpPr>
          <p:nvPr>
            <p:ph type="sldNum" sz="quarter" idx="5"/>
          </p:nvPr>
        </p:nvSpPr>
        <p:spPr/>
        <p:txBody>
          <a:bodyPr/>
          <a:lstStyle/>
          <a:p>
            <a:fld id="{3A84A077-83E9-49A7-9F59-234D78BD6949}" type="slidenum">
              <a:rPr lang="zh-CN" altLang="en-US" smtClean="0"/>
              <a:t>57</a:t>
            </a:fld>
            <a:endParaRPr lang="zh-CN" altLang="en-US"/>
          </a:p>
        </p:txBody>
      </p:sp>
    </p:spTree>
    <p:extLst>
      <p:ext uri="{BB962C8B-B14F-4D97-AF65-F5344CB8AC3E}">
        <p14:creationId xmlns:p14="http://schemas.microsoft.com/office/powerpoint/2010/main" val="15700440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main idea of soft updates is </a:t>
            </a:r>
            <a:r>
              <a:rPr lang="en-US" u="sng" baseline="0" dirty="0"/>
              <a:t>to </a:t>
            </a:r>
            <a:r>
              <a:rPr lang="en-US" b="1" u="sng" baseline="0" dirty="0"/>
              <a:t>leverage the page cache </a:t>
            </a:r>
            <a:r>
              <a:rPr lang="en-US" baseline="0" dirty="0"/>
              <a:t>to store latest metadata in DRAM and keep the in-disk metadata consistent.</a:t>
            </a:r>
          </a:p>
          <a:p>
            <a:r>
              <a:rPr lang="en-US" dirty="0"/>
              <a:t>All the updates</a:t>
            </a:r>
            <a:r>
              <a:rPr lang="en-US" baseline="0" dirty="0"/>
              <a:t> are firstly done in DRAM with the dependencies tracked.</a:t>
            </a:r>
          </a:p>
          <a:p>
            <a:r>
              <a:rPr lang="en-US" baseline="0" dirty="0"/>
              <a:t>These updates in DRAM are persisted to disks by background threads, with respect to the dependencies tracked.</a:t>
            </a:r>
          </a:p>
          <a:p>
            <a:r>
              <a:rPr lang="en-US" b="1" u="sng" baseline="0" dirty="0"/>
              <a:t>As a result</a:t>
            </a:r>
            <a:r>
              <a:rPr lang="en-US" baseline="0" dirty="0"/>
              <a:t>, there are no synchronous disk writes and the metadata operations can be done with DRAM performance. And the metadata in disks are always consistent so that can be immediately used after crashes, without lengthy recoveries.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7384CE-5573-0340-B05C-B15137D0D3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277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文件系统首先分配并初始化了</a:t>
            </a:r>
            <a:r>
              <a:rPr kumimoji="1" lang="en-US" altLang="zh-CN" dirty="0"/>
              <a:t>6</a:t>
            </a:r>
            <a:r>
              <a:rPr kumimoji="1" lang="zh-CN" altLang="en-US" dirty="0"/>
              <a:t>号 </a:t>
            </a:r>
            <a:r>
              <a:rPr kumimoji="1" lang="en" altLang="zh-CN" dirty="0" err="1"/>
              <a:t>inode</a:t>
            </a:r>
            <a:r>
              <a:rPr kumimoji="1" lang="zh-CN" altLang="en" dirty="0"/>
              <a:t>，</a:t>
            </a:r>
            <a:r>
              <a:rPr kumimoji="1" lang="zh-CN" altLang="en-US" dirty="0"/>
              <a:t>使其对应文件</a:t>
            </a:r>
            <a:r>
              <a:rPr kumimoji="1" lang="en" altLang="zh-CN" dirty="0"/>
              <a:t>File B</a:t>
            </a:r>
            <a:r>
              <a:rPr kumimoji="1" lang="zh-CN" altLang="en" dirty="0"/>
              <a:t>，</a:t>
            </a:r>
            <a:r>
              <a:rPr kumimoji="1" lang="zh-CN" altLang="en-US" dirty="0"/>
              <a:t>然后 新增了目录项。在这些修改还未写入存储设备之时，文件系统还删除了</a:t>
            </a:r>
            <a:r>
              <a:rPr kumimoji="1" lang="en" altLang="zh-CN" dirty="0"/>
              <a:t>File D</a:t>
            </a:r>
            <a:r>
              <a:rPr kumimoji="1" lang="zh-CN" altLang="en" dirty="0"/>
              <a:t>，</a:t>
            </a:r>
            <a:r>
              <a:rPr kumimoji="1" lang="zh-CN" altLang="en-US" dirty="0"/>
              <a:t>对应的 </a:t>
            </a:r>
            <a:r>
              <a:rPr kumimoji="1" lang="en" altLang="zh-CN" dirty="0" err="1"/>
              <a:t>inode</a:t>
            </a:r>
            <a:r>
              <a:rPr kumimoji="1" lang="en" altLang="zh-CN" dirty="0"/>
              <a:t> </a:t>
            </a:r>
            <a:r>
              <a:rPr kumimoji="1" lang="zh-CN" altLang="en-US" dirty="0"/>
              <a:t>号为</a:t>
            </a:r>
            <a:r>
              <a:rPr kumimoji="1" lang="en-US" altLang="zh-CN" dirty="0"/>
              <a:t>7</a:t>
            </a:r>
            <a:r>
              <a:rPr kumimoji="1" lang="zh-CN" altLang="en-US" dirty="0"/>
              <a:t>。这两个操作的目录项刚好在同一个数据块（块 </a:t>
            </a:r>
            <a:r>
              <a:rPr kumimoji="1" lang="en" altLang="zh-CN" dirty="0"/>
              <a:t>B</a:t>
            </a:r>
            <a:r>
              <a:rPr kumimoji="1" lang="zh-CN" altLang="en" dirty="0"/>
              <a:t>）</a:t>
            </a:r>
            <a:r>
              <a:rPr kumimoji="1" lang="zh-CN" altLang="en-US" dirty="0"/>
              <a:t>中， 而涉及到的两个 </a:t>
            </a:r>
            <a:r>
              <a:rPr kumimoji="1" lang="en" altLang="zh-CN" dirty="0" err="1"/>
              <a:t>inode</a:t>
            </a:r>
            <a:r>
              <a:rPr kumimoji="1" lang="en" altLang="zh-CN" dirty="0"/>
              <a:t> </a:t>
            </a:r>
            <a:r>
              <a:rPr kumimoji="1" lang="zh-CN" altLang="en-US" dirty="0"/>
              <a:t>刚好也在同一个块（块 </a:t>
            </a:r>
            <a:r>
              <a:rPr kumimoji="1" lang="en" altLang="zh-CN" dirty="0"/>
              <a:t>A</a:t>
            </a:r>
            <a:r>
              <a:rPr kumimoji="1" lang="zh-CN" altLang="en" dirty="0"/>
              <a:t>）</a:t>
            </a:r>
            <a:r>
              <a:rPr kumimoji="1" lang="zh-CN" altLang="en-US" dirty="0"/>
              <a:t>中。这时，根据 </a:t>
            </a:r>
            <a:r>
              <a:rPr kumimoji="1" lang="en" altLang="zh-CN" dirty="0"/>
              <a:t>soft updates </a:t>
            </a:r>
            <a:r>
              <a:rPr kumimoji="1" lang="zh-CN" altLang="en-US" dirty="0"/>
              <a:t>的持久化规则，在创建文件时，</a:t>
            </a:r>
            <a:r>
              <a:rPr kumimoji="1" lang="en" altLang="zh-CN" dirty="0" err="1"/>
              <a:t>inode</a:t>
            </a:r>
            <a:r>
              <a:rPr kumimoji="1" lang="en" altLang="zh-CN" dirty="0"/>
              <a:t> </a:t>
            </a:r>
            <a:r>
              <a:rPr kumimoji="1" lang="zh-CN" altLang="en-US" dirty="0"/>
              <a:t>结构的初始化应在新增目录项之前写回， 因此从块 </a:t>
            </a:r>
            <a:r>
              <a:rPr kumimoji="1" lang="en" altLang="zh-CN" dirty="0"/>
              <a:t>A </a:t>
            </a:r>
            <a:r>
              <a:rPr kumimoji="1" lang="zh-CN" altLang="en-US" dirty="0"/>
              <a:t>应在块 </a:t>
            </a:r>
            <a:r>
              <a:rPr kumimoji="1" lang="en" altLang="zh-CN" dirty="0"/>
              <a:t>B </a:t>
            </a:r>
            <a:r>
              <a:rPr kumimoji="1" lang="zh-CN" altLang="en-US" dirty="0"/>
              <a:t>之前被写回到存储设备。同时，在删除文件时，目录项 的删除应在对 </a:t>
            </a:r>
            <a:r>
              <a:rPr kumimoji="1" lang="en" altLang="zh-CN" dirty="0" err="1"/>
              <a:t>inode</a:t>
            </a:r>
            <a:r>
              <a:rPr kumimoji="1" lang="en" altLang="zh-CN" dirty="0"/>
              <a:t> </a:t>
            </a:r>
            <a:r>
              <a:rPr kumimoji="1" lang="zh-CN" altLang="en-US" dirty="0"/>
              <a:t>结构进行清理之前写回，因此块 </a:t>
            </a:r>
            <a:r>
              <a:rPr kumimoji="1" lang="en" altLang="zh-CN" dirty="0"/>
              <a:t>B </a:t>
            </a:r>
            <a:r>
              <a:rPr kumimoji="1" lang="zh-CN" altLang="en-US" dirty="0"/>
              <a:t>应该在块 </a:t>
            </a:r>
            <a:r>
              <a:rPr kumimoji="1" lang="en" altLang="zh-CN" dirty="0"/>
              <a:t>A </a:t>
            </a:r>
            <a:r>
              <a:rPr kumimoji="1" lang="zh-CN" altLang="en-US" dirty="0"/>
              <a:t>之前写回。 一旦产生了这种循环依赖，文件系统无法决定写回顺序。</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73</a:t>
            </a:fld>
            <a:endParaRPr lang="zh-CN" altLang="en-US"/>
          </a:p>
        </p:txBody>
      </p:sp>
    </p:spTree>
    <p:extLst>
      <p:ext uri="{BB962C8B-B14F-4D97-AF65-F5344CB8AC3E}">
        <p14:creationId xmlns:p14="http://schemas.microsoft.com/office/powerpoint/2010/main" val="11906059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给出了使用撤销和重做方法打破循环依赖的示例。对于此前创 建</a:t>
            </a:r>
            <a:r>
              <a:rPr kumimoji="1" lang="en" altLang="zh-CN" dirty="0"/>
              <a:t>File B</a:t>
            </a:r>
            <a:r>
              <a:rPr kumimoji="1" lang="zh-CN" altLang="en-US" dirty="0"/>
              <a:t>和删除</a:t>
            </a:r>
            <a:r>
              <a:rPr kumimoji="1" lang="en" altLang="zh-CN" dirty="0"/>
              <a:t>File D</a:t>
            </a:r>
            <a:r>
              <a:rPr kumimoji="1" lang="zh-CN" altLang="en-US" dirty="0"/>
              <a:t>造成的环形依赖，</a:t>
            </a:r>
            <a:r>
              <a:rPr kumimoji="1" lang="en" altLang="zh-CN" dirty="0"/>
              <a:t>soft updates </a:t>
            </a:r>
            <a:r>
              <a:rPr kumimoji="1" lang="zh-CN" altLang="en-US" dirty="0"/>
              <a:t>首先撤销了删除</a:t>
            </a:r>
            <a:r>
              <a:rPr kumimoji="1" lang="en" altLang="zh-CN" dirty="0"/>
              <a:t>File D</a:t>
            </a:r>
            <a:r>
              <a:rPr kumimoji="1" lang="zh-CN" altLang="en-US" dirty="0"/>
              <a:t>的修改（ </a:t>
            </a:r>
            <a:r>
              <a:rPr kumimoji="1" lang="en-US" altLang="zh-CN" dirty="0"/>
              <a:t>1 </a:t>
            </a:r>
            <a:r>
              <a:rPr kumimoji="1" lang="zh-CN" altLang="en-US" dirty="0"/>
              <a:t>）。在删除完毕后，块 </a:t>
            </a:r>
            <a:r>
              <a:rPr kumimoji="1" lang="en" altLang="zh-CN" dirty="0"/>
              <a:t>A </a:t>
            </a:r>
            <a:r>
              <a:rPr kumimoji="1" lang="zh-CN" altLang="en-US" dirty="0"/>
              <a:t>和块 </a:t>
            </a:r>
            <a:r>
              <a:rPr kumimoji="1" lang="en" altLang="zh-CN" dirty="0"/>
              <a:t>B </a:t>
            </a:r>
            <a:r>
              <a:rPr kumimoji="1" lang="zh-CN" altLang="en-US" dirty="0"/>
              <a:t>之间只剩下一个依赖关系。只需要按照依赖关系，先将块 </a:t>
            </a:r>
            <a:r>
              <a:rPr kumimoji="1" lang="en" altLang="zh-CN" dirty="0"/>
              <a:t>A </a:t>
            </a:r>
            <a:r>
              <a:rPr kumimoji="1" lang="zh-CN" altLang="en-US" dirty="0"/>
              <a:t>进行写回，再将块 </a:t>
            </a:r>
            <a:r>
              <a:rPr kumimoji="1" lang="en" altLang="zh-CN" dirty="0"/>
              <a:t>B </a:t>
            </a:r>
            <a:r>
              <a:rPr kumimoji="1" lang="zh-CN" altLang="en-US" dirty="0"/>
              <a:t>进行写回即可（ </a:t>
            </a:r>
            <a:r>
              <a:rPr kumimoji="1" lang="en-US" altLang="zh-CN" dirty="0"/>
              <a:t>2 </a:t>
            </a:r>
            <a:r>
              <a:rPr kumimoji="1" lang="zh-CN" altLang="en-US" dirty="0"/>
              <a:t>）。在修改 持久化到存储设备之后，</a:t>
            </a:r>
            <a:r>
              <a:rPr kumimoji="1" lang="en" altLang="zh-CN" dirty="0"/>
              <a:t>soft updates </a:t>
            </a:r>
            <a:r>
              <a:rPr kumimoji="1" lang="zh-CN" altLang="en-US" dirty="0"/>
              <a:t>将刚刚撤销的删除操作进行重做（ </a:t>
            </a:r>
            <a:r>
              <a:rPr kumimoji="1" lang="en-US" altLang="zh-CN" dirty="0"/>
              <a:t>3 </a:t>
            </a:r>
            <a:r>
              <a:rPr kumimoji="1" lang="zh-CN" altLang="en-US" dirty="0"/>
              <a:t>）。 重做后块 </a:t>
            </a:r>
            <a:r>
              <a:rPr kumimoji="1" lang="en" altLang="zh-CN" dirty="0"/>
              <a:t>A </a:t>
            </a:r>
            <a:r>
              <a:rPr kumimoji="1" lang="zh-CN" altLang="en-US" dirty="0"/>
              <a:t>和块 </a:t>
            </a:r>
            <a:r>
              <a:rPr kumimoji="1" lang="en" altLang="zh-CN" dirty="0"/>
              <a:t>B </a:t>
            </a:r>
            <a:r>
              <a:rPr kumimoji="1" lang="zh-CN" altLang="en-US" dirty="0"/>
              <a:t>之间依然只有简单的依赖关系，此时继续按照顺序进行写 回即可。在撤销到重做期间，</a:t>
            </a:r>
            <a:r>
              <a:rPr kumimoji="1" lang="en" altLang="zh-CN" dirty="0"/>
              <a:t>soft updates </a:t>
            </a:r>
            <a:r>
              <a:rPr kumimoji="1" lang="zh-CN" altLang="en-US" dirty="0"/>
              <a:t>通过对结构上锁，避免应用程序错 误地看到撤销后的结构状态。</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75</a:t>
            </a:fld>
            <a:endParaRPr lang="zh-CN" altLang="en-US"/>
          </a:p>
        </p:txBody>
      </p:sp>
    </p:spTree>
    <p:extLst>
      <p:ext uri="{BB962C8B-B14F-4D97-AF65-F5344CB8AC3E}">
        <p14:creationId xmlns:p14="http://schemas.microsoft.com/office/powerpoint/2010/main" val="246741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61469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文件系统结构</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zh-CN" altLang="en-US" sz="1800" dirty="0">
                <a:solidFill>
                  <a:schemeClr val="tx1">
                    <a:lumMod val="75000"/>
                    <a:lumOff val="25000"/>
                  </a:schemeClr>
                </a:solidFill>
              </a:rPr>
              <a:t>上海交通大学并行与分布式系统研究所</a:t>
            </a:r>
            <a:endParaRPr kumimoji="1" lang="en-US" altLang="zh-CN" sz="1800" dirty="0">
              <a:solidFill>
                <a:schemeClr val="tx1">
                  <a:lumMod val="75000"/>
                  <a:lumOff val="25000"/>
                </a:schemeClr>
              </a:solidFill>
            </a:endParaRPr>
          </a:p>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Arial" panose="020B0604020202020204"/>
              </a:rPr>
              <a:t>SE3357-1</a:t>
            </a:r>
            <a:r>
              <a:rPr lang="zh-CN" altLang="en-US" sz="1400" dirty="0">
                <a:solidFill>
                  <a:srgbClr val="000000">
                    <a:lumMod val="75000"/>
                    <a:lumOff val="25000"/>
                  </a:srgbClr>
                </a:solidFill>
                <a:latin typeface="Arial" panose="020B0604020202020204"/>
              </a:rPr>
              <a:t> </a:t>
            </a:r>
            <a:r>
              <a:rPr lang="en-US" altLang="zh-CN" sz="1400" dirty="0">
                <a:solidFill>
                  <a:srgbClr val="000000">
                    <a:lumMod val="75000"/>
                    <a:lumOff val="25000"/>
                  </a:srgbClr>
                </a:solidFill>
                <a:latin typeface="Arial" panose="020B0604020202020204"/>
              </a:rPr>
              <a:t>·</a:t>
            </a:r>
            <a:r>
              <a:rPr lang="zh-CN" altLang="en-US" sz="1400" dirty="0">
                <a:solidFill>
                  <a:srgbClr val="000000">
                    <a:lumMod val="75000"/>
                    <a:lumOff val="25000"/>
                  </a:srgbClr>
                </a:solidFill>
                <a:latin typeface="Arial" panose="020B0604020202020204"/>
              </a:rPr>
              <a:t> 操作系统（</a:t>
            </a:r>
            <a:r>
              <a:rPr lang="en-US" altLang="zh-CN" sz="1400" dirty="0">
                <a:solidFill>
                  <a:srgbClr val="000000">
                    <a:lumMod val="75000"/>
                    <a:lumOff val="25000"/>
                  </a:srgbClr>
                </a:solidFill>
                <a:latin typeface="Arial" panose="020B0604020202020204"/>
              </a:rPr>
              <a:t>2022</a:t>
            </a:r>
            <a:r>
              <a:rPr lang="zh-CN" altLang="en-US" sz="1400" dirty="0">
                <a:solidFill>
                  <a:srgbClr val="000000">
                    <a:lumMod val="75000"/>
                    <a:lumOff val="25000"/>
                  </a:srgbClr>
                </a:solidFill>
                <a:latin typeface="Arial" panose="020B0604020202020204"/>
              </a:rPr>
              <a:t>春）</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3AC2A-F8D1-FC44-9385-BFBEEC33CED1}"/>
              </a:ext>
            </a:extLst>
          </p:cNvPr>
          <p:cNvSpPr>
            <a:spLocks noGrp="1"/>
          </p:cNvSpPr>
          <p:nvPr>
            <p:ph type="title"/>
          </p:nvPr>
        </p:nvSpPr>
        <p:spPr/>
        <p:txBody>
          <a:bodyPr/>
          <a:lstStyle/>
          <a:p>
            <a:r>
              <a:rPr lang="en-US" altLang="zh-CN" dirty="0"/>
              <a:t>Review:</a:t>
            </a:r>
            <a:r>
              <a:rPr lang="zh-CN" altLang="en-US" dirty="0"/>
              <a:t> </a:t>
            </a:r>
            <a:r>
              <a:rPr lang="en-CN"/>
              <a:t>NTFS</a:t>
            </a:r>
            <a:r>
              <a:rPr lang="zh-CN" altLang="en-US" dirty="0"/>
              <a:t>主文件表</a:t>
            </a:r>
            <a:r>
              <a:rPr lang="en-US" altLang="zh-CN" dirty="0"/>
              <a:t>MFT</a:t>
            </a:r>
            <a:endParaRPr lang="en-CN" dirty="0"/>
          </a:p>
        </p:txBody>
      </p:sp>
      <p:sp>
        <p:nvSpPr>
          <p:cNvPr id="4" name="Slide Number Placeholder 3">
            <a:extLst>
              <a:ext uri="{FF2B5EF4-FFF2-40B4-BE49-F238E27FC236}">
                <a16:creationId xmlns:a16="http://schemas.microsoft.com/office/drawing/2014/main" id="{8BECA1A2-4EAC-9742-810E-8F99B2CEFBDB}"/>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Footer Placeholder 4">
            <a:extLst>
              <a:ext uri="{FF2B5EF4-FFF2-40B4-BE49-F238E27FC236}">
                <a16:creationId xmlns:a16="http://schemas.microsoft.com/office/drawing/2014/main" id="{D3AA9A32-C8B9-054B-9833-2985427103D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Rectangle 6">
            <a:extLst>
              <a:ext uri="{FF2B5EF4-FFF2-40B4-BE49-F238E27FC236}">
                <a16:creationId xmlns:a16="http://schemas.microsoft.com/office/drawing/2014/main" id="{D143CB14-B4F0-DC45-8506-8DE2634A2D93}"/>
              </a:ext>
            </a:extLst>
          </p:cNvPr>
          <p:cNvSpPr/>
          <p:nvPr/>
        </p:nvSpPr>
        <p:spPr>
          <a:xfrm>
            <a:off x="523068" y="1410882"/>
            <a:ext cx="575866"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400" dirty="0"/>
              <a:t>引导</a:t>
            </a:r>
            <a:endParaRPr lang="en-CN" sz="1400" dirty="0"/>
          </a:p>
        </p:txBody>
      </p:sp>
      <p:sp>
        <p:nvSpPr>
          <p:cNvPr id="8" name="Rectangle 7">
            <a:extLst>
              <a:ext uri="{FF2B5EF4-FFF2-40B4-BE49-F238E27FC236}">
                <a16:creationId xmlns:a16="http://schemas.microsoft.com/office/drawing/2014/main" id="{5B66DA39-14BD-064D-8D8A-7C46A3B3CA75}"/>
              </a:ext>
            </a:extLst>
          </p:cNvPr>
          <p:cNvSpPr/>
          <p:nvPr/>
        </p:nvSpPr>
        <p:spPr>
          <a:xfrm>
            <a:off x="1098934" y="1410882"/>
            <a:ext cx="1100509"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数据区</a:t>
            </a:r>
            <a:endParaRPr lang="en-CN" sz="1400" dirty="0"/>
          </a:p>
        </p:txBody>
      </p:sp>
      <p:sp>
        <p:nvSpPr>
          <p:cNvPr id="9" name="Rectangle 8">
            <a:extLst>
              <a:ext uri="{FF2B5EF4-FFF2-40B4-BE49-F238E27FC236}">
                <a16:creationId xmlns:a16="http://schemas.microsoft.com/office/drawing/2014/main" id="{504BB6CF-ED8E-CE4C-B53F-465DD48D09F9}"/>
              </a:ext>
            </a:extLst>
          </p:cNvPr>
          <p:cNvSpPr/>
          <p:nvPr/>
        </p:nvSpPr>
        <p:spPr>
          <a:xfrm>
            <a:off x="4791730" y="1410882"/>
            <a:ext cx="1296144"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t>MFT</a:t>
            </a:r>
            <a:r>
              <a:rPr lang="zh-CN" altLang="en-US" sz="1400" dirty="0"/>
              <a:t>（镜像）</a:t>
            </a:r>
            <a:endParaRPr lang="en-CN" sz="1400" dirty="0"/>
          </a:p>
        </p:txBody>
      </p:sp>
      <p:sp>
        <p:nvSpPr>
          <p:cNvPr id="10" name="Rectangle 9">
            <a:extLst>
              <a:ext uri="{FF2B5EF4-FFF2-40B4-BE49-F238E27FC236}">
                <a16:creationId xmlns:a16="http://schemas.microsoft.com/office/drawing/2014/main" id="{DBEB2957-F13C-CA49-B41E-209EFBA5D0CB}"/>
              </a:ext>
            </a:extLst>
          </p:cNvPr>
          <p:cNvSpPr/>
          <p:nvPr/>
        </p:nvSpPr>
        <p:spPr>
          <a:xfrm>
            <a:off x="6087875" y="1410882"/>
            <a:ext cx="1964606"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数据区</a:t>
            </a:r>
            <a:endParaRPr lang="en-CN" sz="1400" dirty="0"/>
          </a:p>
        </p:txBody>
      </p:sp>
      <p:sp>
        <p:nvSpPr>
          <p:cNvPr id="11" name="Rectangle 10">
            <a:extLst>
              <a:ext uri="{FF2B5EF4-FFF2-40B4-BE49-F238E27FC236}">
                <a16:creationId xmlns:a16="http://schemas.microsoft.com/office/drawing/2014/main" id="{033DE9E2-5DB5-F746-B6E0-F8AB3A4BC6E0}"/>
              </a:ext>
            </a:extLst>
          </p:cNvPr>
          <p:cNvSpPr/>
          <p:nvPr/>
        </p:nvSpPr>
        <p:spPr>
          <a:xfrm>
            <a:off x="2199443" y="1410882"/>
            <a:ext cx="1100509"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t>MFT</a:t>
            </a:r>
            <a:endParaRPr lang="en-CN" sz="1400" dirty="0"/>
          </a:p>
        </p:txBody>
      </p:sp>
      <p:sp>
        <p:nvSpPr>
          <p:cNvPr id="12" name="Rectangle 11">
            <a:extLst>
              <a:ext uri="{FF2B5EF4-FFF2-40B4-BE49-F238E27FC236}">
                <a16:creationId xmlns:a16="http://schemas.microsoft.com/office/drawing/2014/main" id="{1F9146AE-A08E-6642-98F3-7DF9FD059BB5}"/>
              </a:ext>
            </a:extLst>
          </p:cNvPr>
          <p:cNvSpPr/>
          <p:nvPr/>
        </p:nvSpPr>
        <p:spPr>
          <a:xfrm>
            <a:off x="3299952" y="1410882"/>
            <a:ext cx="1491778" cy="504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数据区</a:t>
            </a:r>
            <a:endParaRPr lang="en-CN" sz="1400" dirty="0"/>
          </a:p>
        </p:txBody>
      </p:sp>
      <p:sp>
        <p:nvSpPr>
          <p:cNvPr id="13" name="Rectangle 12">
            <a:extLst>
              <a:ext uri="{FF2B5EF4-FFF2-40B4-BE49-F238E27FC236}">
                <a16:creationId xmlns:a16="http://schemas.microsoft.com/office/drawing/2014/main" id="{ECE77028-3819-E54D-904B-74D60FDF7F58}"/>
              </a:ext>
            </a:extLst>
          </p:cNvPr>
          <p:cNvSpPr/>
          <p:nvPr/>
        </p:nvSpPr>
        <p:spPr>
          <a:xfrm>
            <a:off x="2111095" y="2196512"/>
            <a:ext cx="1274362" cy="2599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t>MFT</a:t>
            </a:r>
            <a:endParaRPr lang="en-CN" sz="1400" dirty="0"/>
          </a:p>
        </p:txBody>
      </p:sp>
      <p:sp>
        <p:nvSpPr>
          <p:cNvPr id="14" name="Rectangle 13">
            <a:extLst>
              <a:ext uri="{FF2B5EF4-FFF2-40B4-BE49-F238E27FC236}">
                <a16:creationId xmlns:a16="http://schemas.microsoft.com/office/drawing/2014/main" id="{F5E8F0AE-FBD6-B040-A42D-9C2FD1D347CD}"/>
              </a:ext>
            </a:extLst>
          </p:cNvPr>
          <p:cNvSpPr/>
          <p:nvPr/>
        </p:nvSpPr>
        <p:spPr>
          <a:xfrm>
            <a:off x="2111095" y="2449928"/>
            <a:ext cx="1274362" cy="2599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t>MFT</a:t>
            </a:r>
            <a:r>
              <a:rPr lang="zh-CN" altLang="en-US" sz="1400" dirty="0"/>
              <a:t>（镜像）</a:t>
            </a:r>
            <a:endParaRPr lang="en-CN" sz="1400" dirty="0"/>
          </a:p>
        </p:txBody>
      </p:sp>
      <p:sp>
        <p:nvSpPr>
          <p:cNvPr id="15" name="Rectangle 14">
            <a:extLst>
              <a:ext uri="{FF2B5EF4-FFF2-40B4-BE49-F238E27FC236}">
                <a16:creationId xmlns:a16="http://schemas.microsoft.com/office/drawing/2014/main" id="{544769AF-C66E-4E4B-9764-867B1CDA700E}"/>
              </a:ext>
            </a:extLst>
          </p:cNvPr>
          <p:cNvSpPr/>
          <p:nvPr/>
        </p:nvSpPr>
        <p:spPr>
          <a:xfrm>
            <a:off x="2111095" y="2709854"/>
            <a:ext cx="1274362" cy="2599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400" dirty="0"/>
              <a:t>日志</a:t>
            </a:r>
            <a:r>
              <a:rPr lang="zh-CN" altLang="en-US" sz="1400" dirty="0"/>
              <a:t>文件</a:t>
            </a:r>
            <a:endParaRPr lang="en-CN" sz="1400" dirty="0"/>
          </a:p>
        </p:txBody>
      </p:sp>
      <p:sp>
        <p:nvSpPr>
          <p:cNvPr id="16" name="Rectangle 15">
            <a:extLst>
              <a:ext uri="{FF2B5EF4-FFF2-40B4-BE49-F238E27FC236}">
                <a16:creationId xmlns:a16="http://schemas.microsoft.com/office/drawing/2014/main" id="{56C7D6E1-6F5F-344C-AEB9-3C647632F970}"/>
              </a:ext>
            </a:extLst>
          </p:cNvPr>
          <p:cNvSpPr/>
          <p:nvPr/>
        </p:nvSpPr>
        <p:spPr>
          <a:xfrm>
            <a:off x="2111095" y="3540770"/>
            <a:ext cx="1274362" cy="2599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文件记录</a:t>
            </a:r>
            <a:endParaRPr lang="en-CN" sz="1400" dirty="0"/>
          </a:p>
        </p:txBody>
      </p:sp>
      <p:sp>
        <p:nvSpPr>
          <p:cNvPr id="17" name="Rectangle 16">
            <a:extLst>
              <a:ext uri="{FF2B5EF4-FFF2-40B4-BE49-F238E27FC236}">
                <a16:creationId xmlns:a16="http://schemas.microsoft.com/office/drawing/2014/main" id="{2BA7B490-0E6A-6041-907F-F5AFD4F84D11}"/>
              </a:ext>
            </a:extLst>
          </p:cNvPr>
          <p:cNvSpPr/>
          <p:nvPr/>
        </p:nvSpPr>
        <p:spPr>
          <a:xfrm>
            <a:off x="2111095" y="3802345"/>
            <a:ext cx="1274362" cy="2599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目录记录</a:t>
            </a:r>
            <a:endParaRPr lang="en-CN" sz="1400" dirty="0"/>
          </a:p>
        </p:txBody>
      </p:sp>
      <p:sp>
        <p:nvSpPr>
          <p:cNvPr id="18" name="Rectangle 17">
            <a:extLst>
              <a:ext uri="{FF2B5EF4-FFF2-40B4-BE49-F238E27FC236}">
                <a16:creationId xmlns:a16="http://schemas.microsoft.com/office/drawing/2014/main" id="{14FCCCB6-9EC4-EC4E-9BAC-52EF441A3666}"/>
              </a:ext>
            </a:extLst>
          </p:cNvPr>
          <p:cNvSpPr/>
          <p:nvPr/>
        </p:nvSpPr>
        <p:spPr>
          <a:xfrm>
            <a:off x="2111095" y="4055692"/>
            <a:ext cx="1274362" cy="2599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文件记录</a:t>
            </a:r>
            <a:endParaRPr lang="en-CN" sz="1400" dirty="0"/>
          </a:p>
        </p:txBody>
      </p:sp>
      <p:sp>
        <p:nvSpPr>
          <p:cNvPr id="19" name="Rectangle 18">
            <a:extLst>
              <a:ext uri="{FF2B5EF4-FFF2-40B4-BE49-F238E27FC236}">
                <a16:creationId xmlns:a16="http://schemas.microsoft.com/office/drawing/2014/main" id="{0B394A9C-4383-6E48-97B4-07A10C19BF97}"/>
              </a:ext>
            </a:extLst>
          </p:cNvPr>
          <p:cNvSpPr/>
          <p:nvPr/>
        </p:nvSpPr>
        <p:spPr>
          <a:xfrm>
            <a:off x="2111095" y="4323289"/>
            <a:ext cx="1274362" cy="25992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400" dirty="0"/>
              <a:t>文件记录</a:t>
            </a:r>
            <a:endParaRPr lang="en-CN" sz="1400" dirty="0"/>
          </a:p>
        </p:txBody>
      </p:sp>
      <p:sp>
        <p:nvSpPr>
          <p:cNvPr id="20" name="Rectangle 19">
            <a:extLst>
              <a:ext uri="{FF2B5EF4-FFF2-40B4-BE49-F238E27FC236}">
                <a16:creationId xmlns:a16="http://schemas.microsoft.com/office/drawing/2014/main" id="{92E0603F-F900-E142-B76B-5AD60E1A72D0}"/>
              </a:ext>
            </a:extLst>
          </p:cNvPr>
          <p:cNvSpPr/>
          <p:nvPr/>
        </p:nvSpPr>
        <p:spPr>
          <a:xfrm>
            <a:off x="2111095" y="2971428"/>
            <a:ext cx="1274362" cy="56769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t>……</a:t>
            </a:r>
            <a:endParaRPr lang="en-CN" sz="1400" dirty="0"/>
          </a:p>
        </p:txBody>
      </p:sp>
      <p:sp>
        <p:nvSpPr>
          <p:cNvPr id="21" name="Right Brace 20">
            <a:extLst>
              <a:ext uri="{FF2B5EF4-FFF2-40B4-BE49-F238E27FC236}">
                <a16:creationId xmlns:a16="http://schemas.microsoft.com/office/drawing/2014/main" id="{CFC21141-7A7E-FA4C-B756-613ABEC1D0B0}"/>
              </a:ext>
            </a:extLst>
          </p:cNvPr>
          <p:cNvSpPr/>
          <p:nvPr/>
        </p:nvSpPr>
        <p:spPr>
          <a:xfrm rot="10800000">
            <a:off x="1808157" y="2208949"/>
            <a:ext cx="265772" cy="1330172"/>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600"/>
          </a:p>
        </p:txBody>
      </p:sp>
      <p:sp>
        <p:nvSpPr>
          <p:cNvPr id="22" name="TextBox 21">
            <a:extLst>
              <a:ext uri="{FF2B5EF4-FFF2-40B4-BE49-F238E27FC236}">
                <a16:creationId xmlns:a16="http://schemas.microsoft.com/office/drawing/2014/main" id="{904179A6-2031-5146-AE23-683AAF0AEB1C}"/>
              </a:ext>
            </a:extLst>
          </p:cNvPr>
          <p:cNvSpPr txBox="1"/>
          <p:nvPr/>
        </p:nvSpPr>
        <p:spPr>
          <a:xfrm>
            <a:off x="509676" y="2579891"/>
            <a:ext cx="1326020" cy="923330"/>
          </a:xfrm>
          <a:prstGeom prst="rect">
            <a:avLst/>
          </a:prstGeom>
          <a:noFill/>
        </p:spPr>
        <p:txBody>
          <a:bodyPr wrap="square" rtlCol="0">
            <a:spAutoFit/>
          </a:bodyPr>
          <a:lstStyle/>
          <a:p>
            <a:pPr algn="ctr"/>
            <a:r>
              <a:rPr lang="zh-CN" altLang="en-CN" dirty="0"/>
              <a:t>前</a:t>
            </a:r>
            <a:r>
              <a:rPr lang="en-US" altLang="zh-CN" dirty="0"/>
              <a:t>16</a:t>
            </a:r>
            <a:r>
              <a:rPr lang="zh-CN" altLang="en-US" dirty="0"/>
              <a:t>个为保留记录</a:t>
            </a:r>
            <a:endParaRPr lang="en-US" altLang="zh-CN" dirty="0"/>
          </a:p>
          <a:p>
            <a:pPr algn="ctr"/>
            <a:r>
              <a:rPr lang="zh-CN" altLang="en-US" dirty="0"/>
              <a:t>（即元数据）</a:t>
            </a:r>
            <a:endParaRPr lang="en-CN" dirty="0"/>
          </a:p>
        </p:txBody>
      </p:sp>
      <p:sp>
        <p:nvSpPr>
          <p:cNvPr id="25" name="Rectangle 24">
            <a:extLst>
              <a:ext uri="{FF2B5EF4-FFF2-40B4-BE49-F238E27FC236}">
                <a16:creationId xmlns:a16="http://schemas.microsoft.com/office/drawing/2014/main" id="{AE3D0A6A-736C-7145-BDAE-E6A50C21FD51}"/>
              </a:ext>
            </a:extLst>
          </p:cNvPr>
          <p:cNvSpPr/>
          <p:nvPr/>
        </p:nvSpPr>
        <p:spPr>
          <a:xfrm>
            <a:off x="2111095" y="4581181"/>
            <a:ext cx="1274362" cy="3419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400" dirty="0"/>
              <a:t>……</a:t>
            </a:r>
            <a:endParaRPr lang="en-CN" sz="1400" dirty="0"/>
          </a:p>
        </p:txBody>
      </p:sp>
      <p:cxnSp>
        <p:nvCxnSpPr>
          <p:cNvPr id="26" name="Straight Connector 25">
            <a:extLst>
              <a:ext uri="{FF2B5EF4-FFF2-40B4-BE49-F238E27FC236}">
                <a16:creationId xmlns:a16="http://schemas.microsoft.com/office/drawing/2014/main" id="{62DF6ACD-66AC-0A47-B70D-EC2E88B7CC24}"/>
              </a:ext>
            </a:extLst>
          </p:cNvPr>
          <p:cNvCxnSpPr>
            <a:cxnSpLocks/>
          </p:cNvCxnSpPr>
          <p:nvPr/>
        </p:nvCxnSpPr>
        <p:spPr>
          <a:xfrm flipH="1">
            <a:off x="2111095" y="1912655"/>
            <a:ext cx="88348" cy="28385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BF916AB-F2AF-494A-A61C-E488E94509E0}"/>
              </a:ext>
            </a:extLst>
          </p:cNvPr>
          <p:cNvCxnSpPr>
            <a:cxnSpLocks/>
          </p:cNvCxnSpPr>
          <p:nvPr/>
        </p:nvCxnSpPr>
        <p:spPr>
          <a:xfrm>
            <a:off x="3299953" y="1912655"/>
            <a:ext cx="85504" cy="28385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6696CA9-828E-5A46-9FC1-CB969C0C7F70}"/>
              </a:ext>
            </a:extLst>
          </p:cNvPr>
          <p:cNvSpPr txBox="1"/>
          <p:nvPr/>
        </p:nvSpPr>
        <p:spPr>
          <a:xfrm>
            <a:off x="4130221" y="2460189"/>
            <a:ext cx="704039" cy="369332"/>
          </a:xfrm>
          <a:prstGeom prst="rect">
            <a:avLst/>
          </a:prstGeom>
          <a:noFill/>
        </p:spPr>
        <p:txBody>
          <a:bodyPr wrap="none" rtlCol="0">
            <a:spAutoFit/>
          </a:bodyPr>
          <a:lstStyle/>
          <a:p>
            <a:r>
              <a:rPr lang="en-CN" dirty="0"/>
              <a:t>B</a:t>
            </a:r>
            <a:r>
              <a:rPr lang="en-US" altLang="zh-CN" dirty="0"/>
              <a:t>+</a:t>
            </a:r>
            <a:r>
              <a:rPr lang="zh-CN" altLang="en-CN" dirty="0"/>
              <a:t>树</a:t>
            </a:r>
            <a:endParaRPr lang="en-CN" dirty="0"/>
          </a:p>
        </p:txBody>
      </p:sp>
      <p:cxnSp>
        <p:nvCxnSpPr>
          <p:cNvPr id="61" name="Straight Arrow Connector 39">
            <a:extLst>
              <a:ext uri="{FF2B5EF4-FFF2-40B4-BE49-F238E27FC236}">
                <a16:creationId xmlns:a16="http://schemas.microsoft.com/office/drawing/2014/main" id="{746DEC7F-6D78-054F-9E84-83EC40416522}"/>
              </a:ext>
            </a:extLst>
          </p:cNvPr>
          <p:cNvCxnSpPr>
            <a:cxnSpLocks/>
            <a:stCxn id="13" idx="3"/>
            <a:endCxn id="60" idx="1"/>
          </p:cNvCxnSpPr>
          <p:nvPr/>
        </p:nvCxnSpPr>
        <p:spPr>
          <a:xfrm>
            <a:off x="3385457" y="2326475"/>
            <a:ext cx="744764" cy="318380"/>
          </a:xfrm>
          <a:prstGeom prst="bentConnector3">
            <a:avLst>
              <a:gd name="adj1" fmla="val 50000"/>
            </a:avLst>
          </a:prstGeom>
          <a:ln w="19050">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D04AA480-7926-2140-9D08-BBDABBCB0916}"/>
              </a:ext>
            </a:extLst>
          </p:cNvPr>
          <p:cNvGrpSpPr/>
          <p:nvPr/>
        </p:nvGrpSpPr>
        <p:grpSpPr>
          <a:xfrm>
            <a:off x="4834260" y="2069114"/>
            <a:ext cx="1561248" cy="1738440"/>
            <a:chOff x="4836076" y="2069113"/>
            <a:chExt cx="2001399" cy="2228547"/>
          </a:xfrm>
        </p:grpSpPr>
        <p:grpSp>
          <p:nvGrpSpPr>
            <p:cNvPr id="41" name="Group 40">
              <a:extLst>
                <a:ext uri="{FF2B5EF4-FFF2-40B4-BE49-F238E27FC236}">
                  <a16:creationId xmlns:a16="http://schemas.microsoft.com/office/drawing/2014/main" id="{CD752C37-7A40-D940-BF35-82B9ADF607DD}"/>
                </a:ext>
              </a:extLst>
            </p:cNvPr>
            <p:cNvGrpSpPr/>
            <p:nvPr/>
          </p:nvGrpSpPr>
          <p:grpSpPr>
            <a:xfrm>
              <a:off x="5338272" y="2069113"/>
              <a:ext cx="1499203" cy="745691"/>
              <a:chOff x="4902518" y="2111809"/>
              <a:chExt cx="1499203" cy="745691"/>
            </a:xfrm>
          </p:grpSpPr>
          <p:sp>
            <p:nvSpPr>
              <p:cNvPr id="32" name="Rectangle 31">
                <a:extLst>
                  <a:ext uri="{FF2B5EF4-FFF2-40B4-BE49-F238E27FC236}">
                    <a16:creationId xmlns:a16="http://schemas.microsoft.com/office/drawing/2014/main" id="{3B70DEAB-EF22-184E-82AD-B22D941A3384}"/>
                  </a:ext>
                </a:extLst>
              </p:cNvPr>
              <p:cNvSpPr/>
              <p:nvPr/>
            </p:nvSpPr>
            <p:spPr>
              <a:xfrm>
                <a:off x="4902519"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33" name="Rectangle 32">
                <a:extLst>
                  <a:ext uri="{FF2B5EF4-FFF2-40B4-BE49-F238E27FC236}">
                    <a16:creationId xmlns:a16="http://schemas.microsoft.com/office/drawing/2014/main" id="{69F29356-7BB5-EC43-A74F-09893A1DFC6A}"/>
                  </a:ext>
                </a:extLst>
              </p:cNvPr>
              <p:cNvSpPr/>
              <p:nvPr/>
            </p:nvSpPr>
            <p:spPr>
              <a:xfrm>
                <a:off x="5152386"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34" name="Rectangle 33">
                <a:extLst>
                  <a:ext uri="{FF2B5EF4-FFF2-40B4-BE49-F238E27FC236}">
                    <a16:creationId xmlns:a16="http://schemas.microsoft.com/office/drawing/2014/main" id="{A41A5E4E-88DC-7A47-A757-020F28209A55}"/>
                  </a:ext>
                </a:extLst>
              </p:cNvPr>
              <p:cNvSpPr/>
              <p:nvPr/>
            </p:nvSpPr>
            <p:spPr>
              <a:xfrm>
                <a:off x="5402253"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35" name="Right Brace 34">
                <a:extLst>
                  <a:ext uri="{FF2B5EF4-FFF2-40B4-BE49-F238E27FC236}">
                    <a16:creationId xmlns:a16="http://schemas.microsoft.com/office/drawing/2014/main" id="{6278639D-F396-8241-90B9-F6F0E21E4CF1}"/>
                  </a:ext>
                </a:extLst>
              </p:cNvPr>
              <p:cNvSpPr/>
              <p:nvPr/>
            </p:nvSpPr>
            <p:spPr>
              <a:xfrm rot="5400000" flipH="1">
                <a:off x="5588310" y="1701095"/>
                <a:ext cx="127617" cy="1499202"/>
              </a:xfrm>
              <a:prstGeom prst="rightBrace">
                <a:avLst>
                  <a:gd name="adj1" fmla="val 34720"/>
                  <a:gd name="adj2" fmla="val 5000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CN" sz="1200"/>
              </a:p>
            </p:txBody>
          </p:sp>
          <p:sp>
            <p:nvSpPr>
              <p:cNvPr id="36" name="TextBox 35">
                <a:extLst>
                  <a:ext uri="{FF2B5EF4-FFF2-40B4-BE49-F238E27FC236}">
                    <a16:creationId xmlns:a16="http://schemas.microsoft.com/office/drawing/2014/main" id="{56392345-699D-3D45-B90B-B586C474D582}"/>
                  </a:ext>
                </a:extLst>
              </p:cNvPr>
              <p:cNvSpPr txBox="1"/>
              <p:nvPr/>
            </p:nvSpPr>
            <p:spPr>
              <a:xfrm>
                <a:off x="5292080" y="2111809"/>
                <a:ext cx="802249" cy="335364"/>
              </a:xfrm>
              <a:prstGeom prst="rect">
                <a:avLst/>
              </a:prstGeom>
              <a:noFill/>
            </p:spPr>
            <p:txBody>
              <a:bodyPr wrap="square" rtlCol="0">
                <a:spAutoFit/>
              </a:bodyPr>
              <a:lstStyle/>
              <a:p>
                <a:r>
                  <a:rPr lang="en-CN" sz="1100" dirty="0"/>
                  <a:t>Extent</a:t>
                </a:r>
              </a:p>
            </p:txBody>
          </p:sp>
          <p:sp>
            <p:nvSpPr>
              <p:cNvPr id="38" name="Rectangle 37">
                <a:extLst>
                  <a:ext uri="{FF2B5EF4-FFF2-40B4-BE49-F238E27FC236}">
                    <a16:creationId xmlns:a16="http://schemas.microsoft.com/office/drawing/2014/main" id="{6B355873-E85B-8848-A08E-18D0ADCBDF36}"/>
                  </a:ext>
                </a:extLst>
              </p:cNvPr>
              <p:cNvSpPr/>
              <p:nvPr/>
            </p:nvSpPr>
            <p:spPr>
              <a:xfrm>
                <a:off x="5652120"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39" name="Rectangle 38">
                <a:extLst>
                  <a:ext uri="{FF2B5EF4-FFF2-40B4-BE49-F238E27FC236}">
                    <a16:creationId xmlns:a16="http://schemas.microsoft.com/office/drawing/2014/main" id="{4F09C587-82B1-4B42-8229-DD09B6E1079F}"/>
                  </a:ext>
                </a:extLst>
              </p:cNvPr>
              <p:cNvSpPr/>
              <p:nvPr/>
            </p:nvSpPr>
            <p:spPr>
              <a:xfrm>
                <a:off x="5901987"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40" name="Rectangle 39">
                <a:extLst>
                  <a:ext uri="{FF2B5EF4-FFF2-40B4-BE49-F238E27FC236}">
                    <a16:creationId xmlns:a16="http://schemas.microsoft.com/office/drawing/2014/main" id="{C5D0F77D-DEBB-1449-9019-E95C6869FF50}"/>
                  </a:ext>
                </a:extLst>
              </p:cNvPr>
              <p:cNvSpPr/>
              <p:nvPr/>
            </p:nvSpPr>
            <p:spPr>
              <a:xfrm>
                <a:off x="6151854"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grpSp>
        <p:grpSp>
          <p:nvGrpSpPr>
            <p:cNvPr id="42" name="Group 41">
              <a:extLst>
                <a:ext uri="{FF2B5EF4-FFF2-40B4-BE49-F238E27FC236}">
                  <a16:creationId xmlns:a16="http://schemas.microsoft.com/office/drawing/2014/main" id="{36AA1F31-BA27-6A48-AD5B-408CDE11FFD8}"/>
                </a:ext>
              </a:extLst>
            </p:cNvPr>
            <p:cNvGrpSpPr/>
            <p:nvPr/>
          </p:nvGrpSpPr>
          <p:grpSpPr>
            <a:xfrm>
              <a:off x="5338271" y="2848910"/>
              <a:ext cx="999469" cy="742967"/>
              <a:chOff x="4902518" y="2114533"/>
              <a:chExt cx="999469" cy="742967"/>
            </a:xfrm>
          </p:grpSpPr>
          <p:sp>
            <p:nvSpPr>
              <p:cNvPr id="43" name="Rectangle 42">
                <a:extLst>
                  <a:ext uri="{FF2B5EF4-FFF2-40B4-BE49-F238E27FC236}">
                    <a16:creationId xmlns:a16="http://schemas.microsoft.com/office/drawing/2014/main" id="{3C2617B5-55E1-234C-B561-025920F8CA40}"/>
                  </a:ext>
                </a:extLst>
              </p:cNvPr>
              <p:cNvSpPr/>
              <p:nvPr/>
            </p:nvSpPr>
            <p:spPr>
              <a:xfrm>
                <a:off x="4902519"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44" name="Rectangle 43">
                <a:extLst>
                  <a:ext uri="{FF2B5EF4-FFF2-40B4-BE49-F238E27FC236}">
                    <a16:creationId xmlns:a16="http://schemas.microsoft.com/office/drawing/2014/main" id="{89E7FCAF-17F9-C947-BA07-4F0D8F64ED88}"/>
                  </a:ext>
                </a:extLst>
              </p:cNvPr>
              <p:cNvSpPr/>
              <p:nvPr/>
            </p:nvSpPr>
            <p:spPr>
              <a:xfrm>
                <a:off x="5152386"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45" name="Rectangle 44">
                <a:extLst>
                  <a:ext uri="{FF2B5EF4-FFF2-40B4-BE49-F238E27FC236}">
                    <a16:creationId xmlns:a16="http://schemas.microsoft.com/office/drawing/2014/main" id="{5546CA80-D48D-DF4A-A25C-8900FF78713F}"/>
                  </a:ext>
                </a:extLst>
              </p:cNvPr>
              <p:cNvSpPr/>
              <p:nvPr/>
            </p:nvSpPr>
            <p:spPr>
              <a:xfrm>
                <a:off x="5402253"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46" name="Right Brace 45">
                <a:extLst>
                  <a:ext uri="{FF2B5EF4-FFF2-40B4-BE49-F238E27FC236}">
                    <a16:creationId xmlns:a16="http://schemas.microsoft.com/office/drawing/2014/main" id="{1A0E3CA9-9C76-CF46-8105-80822FFA1D6C}"/>
                  </a:ext>
                </a:extLst>
              </p:cNvPr>
              <p:cNvSpPr/>
              <p:nvPr/>
            </p:nvSpPr>
            <p:spPr>
              <a:xfrm rot="5400000" flipH="1">
                <a:off x="5338443" y="1950962"/>
                <a:ext cx="127617" cy="999468"/>
              </a:xfrm>
              <a:prstGeom prst="rightBrace">
                <a:avLst>
                  <a:gd name="adj1" fmla="val 34720"/>
                  <a:gd name="adj2" fmla="val 5000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CN" sz="1200"/>
              </a:p>
            </p:txBody>
          </p:sp>
          <p:sp>
            <p:nvSpPr>
              <p:cNvPr id="47" name="TextBox 46">
                <a:extLst>
                  <a:ext uri="{FF2B5EF4-FFF2-40B4-BE49-F238E27FC236}">
                    <a16:creationId xmlns:a16="http://schemas.microsoft.com/office/drawing/2014/main" id="{B26FF7A6-75E1-DF4A-9A77-0A1151702D06}"/>
                  </a:ext>
                </a:extLst>
              </p:cNvPr>
              <p:cNvSpPr txBox="1"/>
              <p:nvPr/>
            </p:nvSpPr>
            <p:spPr>
              <a:xfrm>
                <a:off x="5032588" y="2114533"/>
                <a:ext cx="802249" cy="335364"/>
              </a:xfrm>
              <a:prstGeom prst="rect">
                <a:avLst/>
              </a:prstGeom>
              <a:noFill/>
            </p:spPr>
            <p:txBody>
              <a:bodyPr wrap="square" rtlCol="0">
                <a:spAutoFit/>
              </a:bodyPr>
              <a:lstStyle/>
              <a:p>
                <a:r>
                  <a:rPr lang="en-CN" sz="1100" dirty="0"/>
                  <a:t>Extent</a:t>
                </a:r>
              </a:p>
            </p:txBody>
          </p:sp>
          <p:sp>
            <p:nvSpPr>
              <p:cNvPr id="48" name="Rectangle 47">
                <a:extLst>
                  <a:ext uri="{FF2B5EF4-FFF2-40B4-BE49-F238E27FC236}">
                    <a16:creationId xmlns:a16="http://schemas.microsoft.com/office/drawing/2014/main" id="{E9D5F6B4-9C68-BF4C-99AE-13B506F35B39}"/>
                  </a:ext>
                </a:extLst>
              </p:cNvPr>
              <p:cNvSpPr/>
              <p:nvPr/>
            </p:nvSpPr>
            <p:spPr>
              <a:xfrm>
                <a:off x="5652120"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grpSp>
        <p:grpSp>
          <p:nvGrpSpPr>
            <p:cNvPr id="51" name="Group 50">
              <a:extLst>
                <a:ext uri="{FF2B5EF4-FFF2-40B4-BE49-F238E27FC236}">
                  <a16:creationId xmlns:a16="http://schemas.microsoft.com/office/drawing/2014/main" id="{494CB4BA-227F-4F48-ACEF-D45122C98E07}"/>
                </a:ext>
              </a:extLst>
            </p:cNvPr>
            <p:cNvGrpSpPr/>
            <p:nvPr/>
          </p:nvGrpSpPr>
          <p:grpSpPr>
            <a:xfrm>
              <a:off x="5338270" y="3555454"/>
              <a:ext cx="1249336" cy="742206"/>
              <a:chOff x="4902518" y="2115294"/>
              <a:chExt cx="1249336" cy="742206"/>
            </a:xfrm>
          </p:grpSpPr>
          <p:sp>
            <p:nvSpPr>
              <p:cNvPr id="52" name="Rectangle 51">
                <a:extLst>
                  <a:ext uri="{FF2B5EF4-FFF2-40B4-BE49-F238E27FC236}">
                    <a16:creationId xmlns:a16="http://schemas.microsoft.com/office/drawing/2014/main" id="{B731D59C-9238-DD40-89DB-DD2A20DB87CD}"/>
                  </a:ext>
                </a:extLst>
              </p:cNvPr>
              <p:cNvSpPr/>
              <p:nvPr/>
            </p:nvSpPr>
            <p:spPr>
              <a:xfrm>
                <a:off x="4902519"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53" name="Rectangle 52">
                <a:extLst>
                  <a:ext uri="{FF2B5EF4-FFF2-40B4-BE49-F238E27FC236}">
                    <a16:creationId xmlns:a16="http://schemas.microsoft.com/office/drawing/2014/main" id="{936DF800-604D-1942-A6A8-A5F70B0C6DFB}"/>
                  </a:ext>
                </a:extLst>
              </p:cNvPr>
              <p:cNvSpPr/>
              <p:nvPr/>
            </p:nvSpPr>
            <p:spPr>
              <a:xfrm>
                <a:off x="5152386"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54" name="Rectangle 53">
                <a:extLst>
                  <a:ext uri="{FF2B5EF4-FFF2-40B4-BE49-F238E27FC236}">
                    <a16:creationId xmlns:a16="http://schemas.microsoft.com/office/drawing/2014/main" id="{59FCE89A-7ADD-D141-9786-1CCBEE810605}"/>
                  </a:ext>
                </a:extLst>
              </p:cNvPr>
              <p:cNvSpPr/>
              <p:nvPr/>
            </p:nvSpPr>
            <p:spPr>
              <a:xfrm>
                <a:off x="5402253"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55" name="Right Brace 54">
                <a:extLst>
                  <a:ext uri="{FF2B5EF4-FFF2-40B4-BE49-F238E27FC236}">
                    <a16:creationId xmlns:a16="http://schemas.microsoft.com/office/drawing/2014/main" id="{5F5F96BE-BF41-0F4A-ABA1-FC283976FAE4}"/>
                  </a:ext>
                </a:extLst>
              </p:cNvPr>
              <p:cNvSpPr/>
              <p:nvPr/>
            </p:nvSpPr>
            <p:spPr>
              <a:xfrm rot="5400000" flipH="1">
                <a:off x="5463377" y="1826028"/>
                <a:ext cx="127617" cy="1249336"/>
              </a:xfrm>
              <a:prstGeom prst="rightBrace">
                <a:avLst>
                  <a:gd name="adj1" fmla="val 34720"/>
                  <a:gd name="adj2" fmla="val 5000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CN" sz="1200"/>
              </a:p>
            </p:txBody>
          </p:sp>
          <p:sp>
            <p:nvSpPr>
              <p:cNvPr id="56" name="TextBox 55">
                <a:extLst>
                  <a:ext uri="{FF2B5EF4-FFF2-40B4-BE49-F238E27FC236}">
                    <a16:creationId xmlns:a16="http://schemas.microsoft.com/office/drawing/2014/main" id="{06C8B836-FDE5-DF4A-9455-19C5FE878345}"/>
                  </a:ext>
                </a:extLst>
              </p:cNvPr>
              <p:cNvSpPr txBox="1"/>
              <p:nvPr/>
            </p:nvSpPr>
            <p:spPr>
              <a:xfrm>
                <a:off x="5205433" y="2115294"/>
                <a:ext cx="802248" cy="335364"/>
              </a:xfrm>
              <a:prstGeom prst="rect">
                <a:avLst/>
              </a:prstGeom>
              <a:noFill/>
            </p:spPr>
            <p:txBody>
              <a:bodyPr wrap="square" rtlCol="0">
                <a:spAutoFit/>
              </a:bodyPr>
              <a:lstStyle/>
              <a:p>
                <a:r>
                  <a:rPr lang="en-CN" sz="1100" dirty="0"/>
                  <a:t>Extent</a:t>
                </a:r>
              </a:p>
            </p:txBody>
          </p:sp>
          <p:sp>
            <p:nvSpPr>
              <p:cNvPr id="57" name="Rectangle 56">
                <a:extLst>
                  <a:ext uri="{FF2B5EF4-FFF2-40B4-BE49-F238E27FC236}">
                    <a16:creationId xmlns:a16="http://schemas.microsoft.com/office/drawing/2014/main" id="{B1F84276-652E-4C4C-B4B5-7884D7AB379C}"/>
                  </a:ext>
                </a:extLst>
              </p:cNvPr>
              <p:cNvSpPr/>
              <p:nvPr/>
            </p:nvSpPr>
            <p:spPr>
              <a:xfrm>
                <a:off x="5652120"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58" name="Rectangle 57">
                <a:extLst>
                  <a:ext uri="{FF2B5EF4-FFF2-40B4-BE49-F238E27FC236}">
                    <a16:creationId xmlns:a16="http://schemas.microsoft.com/office/drawing/2014/main" id="{B8EC12F7-1636-034D-B7A7-4EE957C61331}"/>
                  </a:ext>
                </a:extLst>
              </p:cNvPr>
              <p:cNvSpPr/>
              <p:nvPr/>
            </p:nvSpPr>
            <p:spPr>
              <a:xfrm>
                <a:off x="5901987"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grpSp>
        <p:cxnSp>
          <p:nvCxnSpPr>
            <p:cNvPr id="64" name="Straight Arrow Connector 39">
              <a:extLst>
                <a:ext uri="{FF2B5EF4-FFF2-40B4-BE49-F238E27FC236}">
                  <a16:creationId xmlns:a16="http://schemas.microsoft.com/office/drawing/2014/main" id="{2C5BC76C-38AE-8B43-8747-62A01312E6E6}"/>
                </a:ext>
              </a:extLst>
            </p:cNvPr>
            <p:cNvCxnSpPr>
              <a:cxnSpLocks/>
              <a:stCxn id="60" idx="3"/>
              <a:endCxn id="32" idx="1"/>
            </p:cNvCxnSpPr>
            <p:nvPr/>
          </p:nvCxnSpPr>
          <p:spPr>
            <a:xfrm flipV="1">
              <a:off x="4836076" y="2643306"/>
              <a:ext cx="502197" cy="163863"/>
            </a:xfrm>
            <a:prstGeom prst="bentConnector3">
              <a:avLst>
                <a:gd name="adj1" fmla="val 50000"/>
              </a:avLst>
            </a:prstGeom>
            <a:ln w="1905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39">
              <a:extLst>
                <a:ext uri="{FF2B5EF4-FFF2-40B4-BE49-F238E27FC236}">
                  <a16:creationId xmlns:a16="http://schemas.microsoft.com/office/drawing/2014/main" id="{B2E500F7-0E39-1947-AAD3-8095277F8CED}"/>
                </a:ext>
              </a:extLst>
            </p:cNvPr>
            <p:cNvCxnSpPr>
              <a:cxnSpLocks/>
              <a:stCxn id="60" idx="3"/>
              <a:endCxn id="52" idx="1"/>
            </p:cNvCxnSpPr>
            <p:nvPr/>
          </p:nvCxnSpPr>
          <p:spPr>
            <a:xfrm>
              <a:off x="4836077" y="2807169"/>
              <a:ext cx="502195" cy="1318994"/>
            </a:xfrm>
            <a:prstGeom prst="bentConnector3">
              <a:avLst>
                <a:gd name="adj1" fmla="val 50000"/>
              </a:avLst>
            </a:prstGeom>
            <a:ln w="1905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39">
              <a:extLst>
                <a:ext uri="{FF2B5EF4-FFF2-40B4-BE49-F238E27FC236}">
                  <a16:creationId xmlns:a16="http://schemas.microsoft.com/office/drawing/2014/main" id="{321ECD52-0929-4446-AFFF-E96937BBB3BF}"/>
                </a:ext>
              </a:extLst>
            </p:cNvPr>
            <p:cNvCxnSpPr>
              <a:cxnSpLocks/>
              <a:stCxn id="60" idx="3"/>
              <a:endCxn id="43" idx="1"/>
            </p:cNvCxnSpPr>
            <p:nvPr/>
          </p:nvCxnSpPr>
          <p:spPr>
            <a:xfrm>
              <a:off x="4836076" y="2807169"/>
              <a:ext cx="502197" cy="613209"/>
            </a:xfrm>
            <a:prstGeom prst="bentConnector3">
              <a:avLst>
                <a:gd name="adj1" fmla="val 50000"/>
              </a:avLst>
            </a:prstGeom>
            <a:ln w="19050">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73" name="Rectangle 72">
            <a:extLst>
              <a:ext uri="{FF2B5EF4-FFF2-40B4-BE49-F238E27FC236}">
                <a16:creationId xmlns:a16="http://schemas.microsoft.com/office/drawing/2014/main" id="{84905319-8531-2A4D-8C03-82C75C723864}"/>
              </a:ext>
            </a:extLst>
          </p:cNvPr>
          <p:cNvSpPr/>
          <p:nvPr/>
        </p:nvSpPr>
        <p:spPr>
          <a:xfrm>
            <a:off x="3851920" y="2069113"/>
            <a:ext cx="4834880" cy="3079760"/>
          </a:xfrm>
          <a:prstGeom prst="rect">
            <a:avLst/>
          </a:prstGeom>
          <a:noFill/>
          <a:ln>
            <a:prstDash val="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74" name="TextBox 73">
            <a:extLst>
              <a:ext uri="{FF2B5EF4-FFF2-40B4-BE49-F238E27FC236}">
                <a16:creationId xmlns:a16="http://schemas.microsoft.com/office/drawing/2014/main" id="{D6FA3790-E493-B845-86B9-362673C529D8}"/>
              </a:ext>
            </a:extLst>
          </p:cNvPr>
          <p:cNvSpPr txBox="1"/>
          <p:nvPr/>
        </p:nvSpPr>
        <p:spPr>
          <a:xfrm>
            <a:off x="7837851" y="2155122"/>
            <a:ext cx="877163" cy="369332"/>
          </a:xfrm>
          <a:prstGeom prst="rect">
            <a:avLst/>
          </a:prstGeom>
          <a:noFill/>
        </p:spPr>
        <p:txBody>
          <a:bodyPr wrap="none" rtlCol="0">
            <a:spAutoFit/>
          </a:bodyPr>
          <a:lstStyle/>
          <a:p>
            <a:r>
              <a:rPr lang="zh-CN" altLang="en-CN" dirty="0"/>
              <a:t>数据区</a:t>
            </a:r>
            <a:endParaRPr lang="en-CN" dirty="0"/>
          </a:p>
        </p:txBody>
      </p:sp>
      <p:sp>
        <p:nvSpPr>
          <p:cNvPr id="76" name="TextBox 75">
            <a:extLst>
              <a:ext uri="{FF2B5EF4-FFF2-40B4-BE49-F238E27FC236}">
                <a16:creationId xmlns:a16="http://schemas.microsoft.com/office/drawing/2014/main" id="{55476DFD-8725-FD4A-800D-0C9C94355C7A}"/>
              </a:ext>
            </a:extLst>
          </p:cNvPr>
          <p:cNvSpPr txBox="1"/>
          <p:nvPr/>
        </p:nvSpPr>
        <p:spPr>
          <a:xfrm>
            <a:off x="4619428" y="4204917"/>
            <a:ext cx="704039" cy="369332"/>
          </a:xfrm>
          <a:prstGeom prst="rect">
            <a:avLst/>
          </a:prstGeom>
          <a:noFill/>
        </p:spPr>
        <p:txBody>
          <a:bodyPr wrap="none" rtlCol="0">
            <a:spAutoFit/>
          </a:bodyPr>
          <a:lstStyle/>
          <a:p>
            <a:r>
              <a:rPr lang="en-CN" dirty="0"/>
              <a:t>B</a:t>
            </a:r>
            <a:r>
              <a:rPr lang="en-US" altLang="zh-CN" dirty="0"/>
              <a:t>+</a:t>
            </a:r>
            <a:r>
              <a:rPr lang="zh-CN" altLang="en-CN" dirty="0"/>
              <a:t>树</a:t>
            </a:r>
            <a:endParaRPr lang="en-CN" dirty="0"/>
          </a:p>
        </p:txBody>
      </p:sp>
      <p:cxnSp>
        <p:nvCxnSpPr>
          <p:cNvPr id="77" name="Straight Arrow Connector 39">
            <a:extLst>
              <a:ext uri="{FF2B5EF4-FFF2-40B4-BE49-F238E27FC236}">
                <a16:creationId xmlns:a16="http://schemas.microsoft.com/office/drawing/2014/main" id="{26EF5EB4-D136-3645-B978-9EB872FDAAE6}"/>
              </a:ext>
            </a:extLst>
          </p:cNvPr>
          <p:cNvCxnSpPr>
            <a:cxnSpLocks/>
            <a:stCxn id="18" idx="3"/>
            <a:endCxn id="76" idx="1"/>
          </p:cNvCxnSpPr>
          <p:nvPr/>
        </p:nvCxnSpPr>
        <p:spPr>
          <a:xfrm>
            <a:off x="3385457" y="4185655"/>
            <a:ext cx="1233971" cy="203928"/>
          </a:xfrm>
          <a:prstGeom prst="bentConnector3">
            <a:avLst>
              <a:gd name="adj1" fmla="val 50000"/>
            </a:avLst>
          </a:prstGeom>
          <a:ln w="19050">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A91E795B-D883-5746-AFE4-98EBFB10BBF0}"/>
              </a:ext>
            </a:extLst>
          </p:cNvPr>
          <p:cNvGrpSpPr/>
          <p:nvPr/>
        </p:nvGrpSpPr>
        <p:grpSpPr>
          <a:xfrm>
            <a:off x="6777899" y="4290748"/>
            <a:ext cx="974580" cy="578978"/>
            <a:chOff x="4902518" y="2115294"/>
            <a:chExt cx="1249336" cy="742206"/>
          </a:xfrm>
        </p:grpSpPr>
        <p:sp>
          <p:nvSpPr>
            <p:cNvPr id="85" name="Rectangle 84">
              <a:extLst>
                <a:ext uri="{FF2B5EF4-FFF2-40B4-BE49-F238E27FC236}">
                  <a16:creationId xmlns:a16="http://schemas.microsoft.com/office/drawing/2014/main" id="{DD3E5CCA-C422-3A43-95A3-94F2FD5C13A1}"/>
                </a:ext>
              </a:extLst>
            </p:cNvPr>
            <p:cNvSpPr/>
            <p:nvPr/>
          </p:nvSpPr>
          <p:spPr>
            <a:xfrm>
              <a:off x="4902519"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86" name="Rectangle 85">
              <a:extLst>
                <a:ext uri="{FF2B5EF4-FFF2-40B4-BE49-F238E27FC236}">
                  <a16:creationId xmlns:a16="http://schemas.microsoft.com/office/drawing/2014/main" id="{9740F2E9-AF8A-A54D-B880-EFAC7C9C06F5}"/>
                </a:ext>
              </a:extLst>
            </p:cNvPr>
            <p:cNvSpPr/>
            <p:nvPr/>
          </p:nvSpPr>
          <p:spPr>
            <a:xfrm>
              <a:off x="5152386"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87" name="Rectangle 86">
              <a:extLst>
                <a:ext uri="{FF2B5EF4-FFF2-40B4-BE49-F238E27FC236}">
                  <a16:creationId xmlns:a16="http://schemas.microsoft.com/office/drawing/2014/main" id="{C4090E70-8148-E24D-B3D7-402C75A65CF2}"/>
                </a:ext>
              </a:extLst>
            </p:cNvPr>
            <p:cNvSpPr/>
            <p:nvPr/>
          </p:nvSpPr>
          <p:spPr>
            <a:xfrm>
              <a:off x="5402253"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88" name="Right Brace 87">
              <a:extLst>
                <a:ext uri="{FF2B5EF4-FFF2-40B4-BE49-F238E27FC236}">
                  <a16:creationId xmlns:a16="http://schemas.microsoft.com/office/drawing/2014/main" id="{AEABEE98-8B0E-5846-BF6E-A9717F52E753}"/>
                </a:ext>
              </a:extLst>
            </p:cNvPr>
            <p:cNvSpPr/>
            <p:nvPr/>
          </p:nvSpPr>
          <p:spPr>
            <a:xfrm rot="5400000" flipH="1">
              <a:off x="5463377" y="1826028"/>
              <a:ext cx="127617" cy="1249336"/>
            </a:xfrm>
            <a:prstGeom prst="rightBrace">
              <a:avLst>
                <a:gd name="adj1" fmla="val 34720"/>
                <a:gd name="adj2" fmla="val 5000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CN" sz="1200"/>
            </a:p>
          </p:txBody>
        </p:sp>
        <p:sp>
          <p:nvSpPr>
            <p:cNvPr id="89" name="TextBox 88">
              <a:extLst>
                <a:ext uri="{FF2B5EF4-FFF2-40B4-BE49-F238E27FC236}">
                  <a16:creationId xmlns:a16="http://schemas.microsoft.com/office/drawing/2014/main" id="{3C861F4C-66DB-664E-A5C5-C8D7DF6BC19E}"/>
                </a:ext>
              </a:extLst>
            </p:cNvPr>
            <p:cNvSpPr txBox="1"/>
            <p:nvPr/>
          </p:nvSpPr>
          <p:spPr>
            <a:xfrm>
              <a:off x="5205433" y="2115294"/>
              <a:ext cx="802248" cy="335364"/>
            </a:xfrm>
            <a:prstGeom prst="rect">
              <a:avLst/>
            </a:prstGeom>
            <a:noFill/>
          </p:spPr>
          <p:txBody>
            <a:bodyPr wrap="square" rtlCol="0">
              <a:spAutoFit/>
            </a:bodyPr>
            <a:lstStyle/>
            <a:p>
              <a:r>
                <a:rPr lang="en-CN" sz="1100" dirty="0"/>
                <a:t>Extent</a:t>
              </a:r>
            </a:p>
          </p:txBody>
        </p:sp>
        <p:sp>
          <p:nvSpPr>
            <p:cNvPr id="90" name="Rectangle 89">
              <a:extLst>
                <a:ext uri="{FF2B5EF4-FFF2-40B4-BE49-F238E27FC236}">
                  <a16:creationId xmlns:a16="http://schemas.microsoft.com/office/drawing/2014/main" id="{777586B3-625E-AF4A-A2F6-6C96A36C4CC8}"/>
                </a:ext>
              </a:extLst>
            </p:cNvPr>
            <p:cNvSpPr/>
            <p:nvPr/>
          </p:nvSpPr>
          <p:spPr>
            <a:xfrm>
              <a:off x="5652120"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91" name="Rectangle 90">
              <a:extLst>
                <a:ext uri="{FF2B5EF4-FFF2-40B4-BE49-F238E27FC236}">
                  <a16:creationId xmlns:a16="http://schemas.microsoft.com/office/drawing/2014/main" id="{BF47246E-AC22-4A4F-AC20-9BC66244045D}"/>
                </a:ext>
              </a:extLst>
            </p:cNvPr>
            <p:cNvSpPr/>
            <p:nvPr/>
          </p:nvSpPr>
          <p:spPr>
            <a:xfrm>
              <a:off x="5901987" y="2514504"/>
              <a:ext cx="249867" cy="34299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grpSp>
      <p:cxnSp>
        <p:nvCxnSpPr>
          <p:cNvPr id="82" name="Straight Arrow Connector 39">
            <a:extLst>
              <a:ext uri="{FF2B5EF4-FFF2-40B4-BE49-F238E27FC236}">
                <a16:creationId xmlns:a16="http://schemas.microsoft.com/office/drawing/2014/main" id="{0E452438-E3B4-004C-811B-815AA433FA58}"/>
              </a:ext>
            </a:extLst>
          </p:cNvPr>
          <p:cNvCxnSpPr>
            <a:cxnSpLocks/>
            <a:stCxn id="76" idx="3"/>
            <a:endCxn id="98" idx="1"/>
          </p:cNvCxnSpPr>
          <p:nvPr/>
        </p:nvCxnSpPr>
        <p:spPr>
          <a:xfrm flipV="1">
            <a:off x="5323467" y="4127005"/>
            <a:ext cx="1454434" cy="262578"/>
          </a:xfrm>
          <a:prstGeom prst="bentConnector3">
            <a:avLst>
              <a:gd name="adj1" fmla="val 50000"/>
            </a:avLst>
          </a:prstGeom>
          <a:ln w="1905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39">
            <a:extLst>
              <a:ext uri="{FF2B5EF4-FFF2-40B4-BE49-F238E27FC236}">
                <a16:creationId xmlns:a16="http://schemas.microsoft.com/office/drawing/2014/main" id="{4698A3CB-F056-3543-94D2-347F1AAF23AC}"/>
              </a:ext>
            </a:extLst>
          </p:cNvPr>
          <p:cNvCxnSpPr>
            <a:cxnSpLocks/>
            <a:stCxn id="76" idx="3"/>
            <a:endCxn id="85" idx="1"/>
          </p:cNvCxnSpPr>
          <p:nvPr/>
        </p:nvCxnSpPr>
        <p:spPr>
          <a:xfrm>
            <a:off x="5323467" y="4389583"/>
            <a:ext cx="1454433" cy="346362"/>
          </a:xfrm>
          <a:prstGeom prst="bentConnector3">
            <a:avLst>
              <a:gd name="adj1" fmla="val 50000"/>
            </a:avLst>
          </a:prstGeom>
          <a:ln w="19050">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13" name="Group 112">
            <a:extLst>
              <a:ext uri="{FF2B5EF4-FFF2-40B4-BE49-F238E27FC236}">
                <a16:creationId xmlns:a16="http://schemas.microsoft.com/office/drawing/2014/main" id="{FECD880E-4113-FF45-A241-26F7E8B86645}"/>
              </a:ext>
            </a:extLst>
          </p:cNvPr>
          <p:cNvGrpSpPr/>
          <p:nvPr/>
        </p:nvGrpSpPr>
        <p:grpSpPr>
          <a:xfrm>
            <a:off x="6777899" y="3679090"/>
            <a:ext cx="1364410" cy="581697"/>
            <a:chOff x="6858574" y="3312861"/>
            <a:chExt cx="1364410" cy="581697"/>
          </a:xfrm>
        </p:grpSpPr>
        <p:sp>
          <p:nvSpPr>
            <p:cNvPr id="98" name="Rectangle 97">
              <a:extLst>
                <a:ext uri="{FF2B5EF4-FFF2-40B4-BE49-F238E27FC236}">
                  <a16:creationId xmlns:a16="http://schemas.microsoft.com/office/drawing/2014/main" id="{F1745A14-11B1-B545-AA7E-80D23B02F203}"/>
                </a:ext>
              </a:extLst>
            </p:cNvPr>
            <p:cNvSpPr/>
            <p:nvPr/>
          </p:nvSpPr>
          <p:spPr>
            <a:xfrm>
              <a:off x="6858576" y="3626994"/>
              <a:ext cx="194916" cy="267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99" name="Rectangle 98">
              <a:extLst>
                <a:ext uri="{FF2B5EF4-FFF2-40B4-BE49-F238E27FC236}">
                  <a16:creationId xmlns:a16="http://schemas.microsoft.com/office/drawing/2014/main" id="{78E518A3-5BC2-8F48-8DFE-D7718212A9B1}"/>
                </a:ext>
              </a:extLst>
            </p:cNvPr>
            <p:cNvSpPr/>
            <p:nvPr/>
          </p:nvSpPr>
          <p:spPr>
            <a:xfrm>
              <a:off x="7053491" y="3626994"/>
              <a:ext cx="194916" cy="267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100" name="Rectangle 99">
              <a:extLst>
                <a:ext uri="{FF2B5EF4-FFF2-40B4-BE49-F238E27FC236}">
                  <a16:creationId xmlns:a16="http://schemas.microsoft.com/office/drawing/2014/main" id="{5C3B4F2A-A62A-1049-BBF6-6A0DA761333F}"/>
                </a:ext>
              </a:extLst>
            </p:cNvPr>
            <p:cNvSpPr/>
            <p:nvPr/>
          </p:nvSpPr>
          <p:spPr>
            <a:xfrm>
              <a:off x="7248407" y="3626994"/>
              <a:ext cx="194916" cy="267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101" name="Right Brace 100">
              <a:extLst>
                <a:ext uri="{FF2B5EF4-FFF2-40B4-BE49-F238E27FC236}">
                  <a16:creationId xmlns:a16="http://schemas.microsoft.com/office/drawing/2014/main" id="{4DED1203-DAC0-F145-8D52-2B94E060040D}"/>
                </a:ext>
              </a:extLst>
            </p:cNvPr>
            <p:cNvSpPr/>
            <p:nvPr/>
          </p:nvSpPr>
          <p:spPr>
            <a:xfrm rot="5400000" flipH="1">
              <a:off x="7491003" y="2895014"/>
              <a:ext cx="99551" cy="1364409"/>
            </a:xfrm>
            <a:prstGeom prst="rightBrace">
              <a:avLst>
                <a:gd name="adj1" fmla="val 34720"/>
                <a:gd name="adj2" fmla="val 5000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CN" sz="1200"/>
            </a:p>
          </p:txBody>
        </p:sp>
        <p:sp>
          <p:nvSpPr>
            <p:cNvPr id="102" name="TextBox 101">
              <a:extLst>
                <a:ext uri="{FF2B5EF4-FFF2-40B4-BE49-F238E27FC236}">
                  <a16:creationId xmlns:a16="http://schemas.microsoft.com/office/drawing/2014/main" id="{E653C68C-00B9-E64B-AFDB-E93F6993D964}"/>
                </a:ext>
              </a:extLst>
            </p:cNvPr>
            <p:cNvSpPr txBox="1"/>
            <p:nvPr/>
          </p:nvSpPr>
          <p:spPr>
            <a:xfrm>
              <a:off x="7162463" y="3312861"/>
              <a:ext cx="625817" cy="261610"/>
            </a:xfrm>
            <a:prstGeom prst="rect">
              <a:avLst/>
            </a:prstGeom>
            <a:noFill/>
          </p:spPr>
          <p:txBody>
            <a:bodyPr wrap="square" rtlCol="0">
              <a:spAutoFit/>
            </a:bodyPr>
            <a:lstStyle/>
            <a:p>
              <a:r>
                <a:rPr lang="en-CN" sz="1100" dirty="0"/>
                <a:t>Extent</a:t>
              </a:r>
            </a:p>
          </p:txBody>
        </p:sp>
        <p:sp>
          <p:nvSpPr>
            <p:cNvPr id="103" name="Rectangle 102">
              <a:extLst>
                <a:ext uri="{FF2B5EF4-FFF2-40B4-BE49-F238E27FC236}">
                  <a16:creationId xmlns:a16="http://schemas.microsoft.com/office/drawing/2014/main" id="{EB6A2A42-68C8-244E-8095-7569E5AD68FB}"/>
                </a:ext>
              </a:extLst>
            </p:cNvPr>
            <p:cNvSpPr/>
            <p:nvPr/>
          </p:nvSpPr>
          <p:spPr>
            <a:xfrm>
              <a:off x="7443323" y="3626994"/>
              <a:ext cx="194916" cy="267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104" name="Rectangle 103">
              <a:extLst>
                <a:ext uri="{FF2B5EF4-FFF2-40B4-BE49-F238E27FC236}">
                  <a16:creationId xmlns:a16="http://schemas.microsoft.com/office/drawing/2014/main" id="{9C3F9884-115B-FD48-A021-B37A9387C1E0}"/>
                </a:ext>
              </a:extLst>
            </p:cNvPr>
            <p:cNvSpPr/>
            <p:nvPr/>
          </p:nvSpPr>
          <p:spPr>
            <a:xfrm>
              <a:off x="7638238" y="3626994"/>
              <a:ext cx="194916" cy="267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105" name="Rectangle 104">
              <a:extLst>
                <a:ext uri="{FF2B5EF4-FFF2-40B4-BE49-F238E27FC236}">
                  <a16:creationId xmlns:a16="http://schemas.microsoft.com/office/drawing/2014/main" id="{BFEE4B9E-CAEB-8642-B30C-C1997F021D1B}"/>
                </a:ext>
              </a:extLst>
            </p:cNvPr>
            <p:cNvSpPr/>
            <p:nvPr/>
          </p:nvSpPr>
          <p:spPr>
            <a:xfrm>
              <a:off x="7833154" y="3626994"/>
              <a:ext cx="194916" cy="267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sp>
          <p:nvSpPr>
            <p:cNvPr id="110" name="Rectangle 109">
              <a:extLst>
                <a:ext uri="{FF2B5EF4-FFF2-40B4-BE49-F238E27FC236}">
                  <a16:creationId xmlns:a16="http://schemas.microsoft.com/office/drawing/2014/main" id="{01A65586-F804-AF4D-ADC0-9625A87AE8FB}"/>
                </a:ext>
              </a:extLst>
            </p:cNvPr>
            <p:cNvSpPr/>
            <p:nvPr/>
          </p:nvSpPr>
          <p:spPr>
            <a:xfrm>
              <a:off x="8028068" y="3626993"/>
              <a:ext cx="194916" cy="2675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1100" dirty="0"/>
            </a:p>
          </p:txBody>
        </p:sp>
      </p:grpSp>
      <p:sp>
        <p:nvSpPr>
          <p:cNvPr id="124" name="TextBox 123">
            <a:extLst>
              <a:ext uri="{FF2B5EF4-FFF2-40B4-BE49-F238E27FC236}">
                <a16:creationId xmlns:a16="http://schemas.microsoft.com/office/drawing/2014/main" id="{2F8CDE7D-9E54-2E4E-A075-956ECF32C20C}"/>
              </a:ext>
            </a:extLst>
          </p:cNvPr>
          <p:cNvSpPr txBox="1"/>
          <p:nvPr/>
        </p:nvSpPr>
        <p:spPr>
          <a:xfrm>
            <a:off x="35496" y="4977180"/>
            <a:ext cx="3954929" cy="369332"/>
          </a:xfrm>
          <a:prstGeom prst="rect">
            <a:avLst/>
          </a:prstGeom>
          <a:noFill/>
        </p:spPr>
        <p:txBody>
          <a:bodyPr wrap="none" rtlCol="0">
            <a:spAutoFit/>
          </a:bodyPr>
          <a:lstStyle/>
          <a:p>
            <a:r>
              <a:rPr lang="en-US" altLang="zh-CN" dirty="0"/>
              <a:t>MFT</a:t>
            </a:r>
            <a:r>
              <a:rPr lang="zh-CN" altLang="en-CN" dirty="0"/>
              <a:t>保存</a:t>
            </a:r>
            <a:r>
              <a:rPr lang="zh-CN" altLang="en-US" dirty="0"/>
              <a:t>了所有文件和目录的元数据 </a:t>
            </a:r>
            <a:endParaRPr lang="en-CN" dirty="0"/>
          </a:p>
        </p:txBody>
      </p:sp>
    </p:spTree>
    <p:extLst>
      <p:ext uri="{BB962C8B-B14F-4D97-AF65-F5344CB8AC3E}">
        <p14:creationId xmlns:p14="http://schemas.microsoft.com/office/powerpoint/2010/main" val="1647804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5C6DC-D1F8-6C4F-B76E-E8E8F78ECB24}"/>
              </a:ext>
            </a:extLst>
          </p:cNvPr>
          <p:cNvSpPr>
            <a:spLocks noGrp="1"/>
          </p:cNvSpPr>
          <p:nvPr>
            <p:ph type="title"/>
          </p:nvPr>
        </p:nvSpPr>
        <p:spPr/>
        <p:txBody>
          <a:bodyPr/>
          <a:lstStyle/>
          <a:p>
            <a:r>
              <a:rPr kumimoji="1" lang="en-US" altLang="zh-CN" dirty="0"/>
              <a:t>Review:</a:t>
            </a:r>
            <a:r>
              <a:rPr kumimoji="1" lang="zh-CN" altLang="en-US" dirty="0"/>
              <a:t> </a:t>
            </a:r>
            <a:r>
              <a:rPr kumimoji="1" lang="en-US" altLang="zh-CN" dirty="0"/>
              <a:t>NTFS</a:t>
            </a:r>
            <a:r>
              <a:rPr kumimoji="1" lang="zh-CN" altLang="en-US" dirty="0"/>
              <a:t>的目录和硬链接</a:t>
            </a:r>
          </a:p>
        </p:txBody>
      </p:sp>
      <p:sp>
        <p:nvSpPr>
          <p:cNvPr id="3" name="内容占位符 2">
            <a:extLst>
              <a:ext uri="{FF2B5EF4-FFF2-40B4-BE49-F238E27FC236}">
                <a16:creationId xmlns:a16="http://schemas.microsoft.com/office/drawing/2014/main" id="{452183F1-36F9-5246-8791-B72DAEAE4334}"/>
              </a:ext>
            </a:extLst>
          </p:cNvPr>
          <p:cNvSpPr>
            <a:spLocks noGrp="1"/>
          </p:cNvSpPr>
          <p:nvPr>
            <p:ph idx="1"/>
          </p:nvPr>
        </p:nvSpPr>
        <p:spPr/>
        <p:txBody>
          <a:bodyPr>
            <a:noAutofit/>
          </a:bodyPr>
          <a:lstStyle/>
          <a:p>
            <a:r>
              <a:rPr kumimoji="1" lang="zh-CN" altLang="en-US" sz="2000" dirty="0"/>
              <a:t>每个文件的文件名保存了两份</a:t>
            </a:r>
            <a:endParaRPr kumimoji="1" lang="en-US" altLang="zh-CN" sz="2000" dirty="0"/>
          </a:p>
          <a:p>
            <a:pPr lvl="1"/>
            <a:r>
              <a:rPr kumimoji="1" lang="zh-CN" altLang="en-US" sz="1800" dirty="0"/>
              <a:t>一份在目录中</a:t>
            </a:r>
            <a:endParaRPr kumimoji="1" lang="en-US" altLang="zh-CN" sz="1800" dirty="0"/>
          </a:p>
          <a:p>
            <a:pPr lvl="1"/>
            <a:r>
              <a:rPr kumimoji="1" lang="zh-CN" altLang="en-US" sz="1800" dirty="0"/>
              <a:t>一份在</a:t>
            </a:r>
            <a:r>
              <a:rPr kumimoji="1" lang="en-US" altLang="zh-CN" sz="1800" dirty="0"/>
              <a:t>MFT</a:t>
            </a:r>
            <a:r>
              <a:rPr kumimoji="1" lang="zh-CN" altLang="en-US" sz="1800" dirty="0"/>
              <a:t>的文件记录中的属性（</a:t>
            </a:r>
            <a:r>
              <a:rPr kumimoji="1" lang="en-US" altLang="zh-CN" sz="1800" dirty="0"/>
              <a:t>ATTRIBUTE</a:t>
            </a:r>
            <a:r>
              <a:rPr kumimoji="1" lang="zh-CN" altLang="en-US" sz="1800" dirty="0"/>
              <a:t>）中</a:t>
            </a:r>
            <a:endParaRPr kumimoji="1" lang="en-US" altLang="zh-CN" sz="1800" dirty="0"/>
          </a:p>
          <a:p>
            <a:r>
              <a:rPr kumimoji="1" lang="zh-CN" altLang="en-US" sz="2000" dirty="0"/>
              <a:t>硬链接需要同时更新两份文件名</a:t>
            </a:r>
            <a:endParaRPr kumimoji="1" lang="en-US" altLang="zh-CN" sz="2000" dirty="0"/>
          </a:p>
          <a:p>
            <a:pPr lvl="1"/>
            <a:r>
              <a:rPr kumimoji="1" lang="zh-CN" altLang="en-US" sz="1800" dirty="0"/>
              <a:t>在目录中：新建一个目录项，指向文件</a:t>
            </a:r>
            <a:r>
              <a:rPr kumimoji="1" lang="en-US" altLang="zh-CN" sz="1800" dirty="0"/>
              <a:t>MFT</a:t>
            </a:r>
            <a:r>
              <a:rPr kumimoji="1" lang="zh-CN" altLang="en-US" sz="1800" dirty="0"/>
              <a:t>记录的</a:t>
            </a:r>
            <a:r>
              <a:rPr kumimoji="1" lang="en-US" altLang="zh-CN" sz="1800" dirty="0"/>
              <a:t>ID</a:t>
            </a:r>
          </a:p>
          <a:p>
            <a:pPr lvl="1"/>
            <a:r>
              <a:rPr kumimoji="1" lang="zh-CN" altLang="en-US" sz="1800" dirty="0"/>
              <a:t>在文件的</a:t>
            </a:r>
            <a:r>
              <a:rPr kumimoji="1" lang="en-US" altLang="zh-CN" sz="1800" dirty="0"/>
              <a:t>MFT</a:t>
            </a:r>
            <a:r>
              <a:rPr kumimoji="1" lang="zh-CN" altLang="en-US" sz="1800" dirty="0"/>
              <a:t>记录中：新增一个属性，其中有文件名，以及</a:t>
            </a:r>
            <a:r>
              <a:rPr kumimoji="1" lang="en-US" altLang="zh-CN" sz="1800" dirty="0"/>
              <a:t>parent</a:t>
            </a:r>
            <a:r>
              <a:rPr kumimoji="1" lang="zh-CN" altLang="en-US" sz="1800" dirty="0"/>
              <a:t>目录</a:t>
            </a:r>
            <a:endParaRPr kumimoji="1" lang="en-US" altLang="zh-CN" sz="1800" dirty="0"/>
          </a:p>
          <a:p>
            <a:r>
              <a:rPr kumimoji="1" lang="zh-CN" altLang="en-US" sz="2000" dirty="0"/>
              <a:t>为了兼容</a:t>
            </a:r>
            <a:r>
              <a:rPr kumimoji="1" lang="en-US" altLang="zh-CN" sz="2000" dirty="0"/>
              <a:t>DOS</a:t>
            </a:r>
            <a:r>
              <a:rPr kumimoji="1" lang="zh-CN" altLang="en-US" sz="2000" dirty="0"/>
              <a:t>支持</a:t>
            </a:r>
            <a:r>
              <a:rPr kumimoji="1" lang="en-US" altLang="zh-CN" sz="2000" dirty="0"/>
              <a:t>8.3</a:t>
            </a:r>
            <a:r>
              <a:rPr kumimoji="1" lang="zh-CN" altLang="en-US" sz="2000" dirty="0"/>
              <a:t>短文件名</a:t>
            </a:r>
            <a:endParaRPr kumimoji="1" lang="en-US" altLang="zh-CN" sz="2000" dirty="0"/>
          </a:p>
          <a:p>
            <a:pPr lvl="1"/>
            <a:r>
              <a:rPr kumimoji="1" lang="zh-CN" altLang="en-US" sz="1800" dirty="0"/>
              <a:t>通过一个特殊的硬链接实现：会随长文件名更新而更新</a:t>
            </a:r>
          </a:p>
        </p:txBody>
      </p:sp>
      <p:sp>
        <p:nvSpPr>
          <p:cNvPr id="4" name="灯片编号占位符 3">
            <a:extLst>
              <a:ext uri="{FF2B5EF4-FFF2-40B4-BE49-F238E27FC236}">
                <a16:creationId xmlns:a16="http://schemas.microsoft.com/office/drawing/2014/main" id="{1D7A6C8D-AE61-D040-AB8C-0ED255C4C535}"/>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AE2E6CE8-95D8-9641-AB44-B7BDB63BABA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103312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AD75DB-182B-7A44-8157-271C19D65674}"/>
              </a:ext>
            </a:extLst>
          </p:cNvPr>
          <p:cNvSpPr>
            <a:spLocks noGrp="1"/>
          </p:cNvSpPr>
          <p:nvPr>
            <p:ph type="title"/>
          </p:nvPr>
        </p:nvSpPr>
        <p:spPr/>
        <p:txBody>
          <a:bodyPr/>
          <a:lstStyle/>
          <a:p>
            <a:endParaRPr kumimoji="1" lang="zh-CN" altLang="en-US"/>
          </a:p>
        </p:txBody>
      </p:sp>
      <p:sp>
        <p:nvSpPr>
          <p:cNvPr id="4" name="灯片编号占位符 3">
            <a:extLst>
              <a:ext uri="{FF2B5EF4-FFF2-40B4-BE49-F238E27FC236}">
                <a16:creationId xmlns:a16="http://schemas.microsoft.com/office/drawing/2014/main" id="{C57BC26F-E119-DF47-8ECD-650FEB701439}"/>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页脚占位符 4">
            <a:extLst>
              <a:ext uri="{FF2B5EF4-FFF2-40B4-BE49-F238E27FC236}">
                <a16:creationId xmlns:a16="http://schemas.microsoft.com/office/drawing/2014/main" id="{1149C4AD-116F-BD4D-8BAC-802ACBDA59F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125B6D9E-C03B-6642-8D77-F76A797AB1A6}"/>
              </a:ext>
            </a:extLst>
          </p:cNvPr>
          <p:cNvPicPr>
            <a:picLocks noChangeAspect="1"/>
          </p:cNvPicPr>
          <p:nvPr/>
        </p:nvPicPr>
        <p:blipFill>
          <a:blip r:embed="rId3"/>
          <a:stretch>
            <a:fillRect/>
          </a:stretch>
        </p:blipFill>
        <p:spPr>
          <a:xfrm>
            <a:off x="1619672" y="-11528"/>
            <a:ext cx="6562432" cy="5715000"/>
          </a:xfrm>
          <a:prstGeom prst="rect">
            <a:avLst/>
          </a:prstGeom>
        </p:spPr>
      </p:pic>
    </p:spTree>
    <p:extLst>
      <p:ext uri="{BB962C8B-B14F-4D97-AF65-F5344CB8AC3E}">
        <p14:creationId xmlns:p14="http://schemas.microsoft.com/office/powerpoint/2010/main" val="2911995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B4B7F-73A6-BE48-AEBC-3DC5B30A68E4}"/>
              </a:ext>
            </a:extLst>
          </p:cNvPr>
          <p:cNvSpPr>
            <a:spLocks noGrp="1"/>
          </p:cNvSpPr>
          <p:nvPr>
            <p:ph type="title"/>
          </p:nvPr>
        </p:nvSpPr>
        <p:spPr/>
        <p:txBody>
          <a:bodyPr/>
          <a:lstStyle/>
          <a:p>
            <a:r>
              <a:rPr lang="zh-CN" altLang="en-CN" dirty="0"/>
              <a:t>虚拟文件系统</a:t>
            </a:r>
            <a:r>
              <a:rPr lang="zh-CN" altLang="en-US" dirty="0"/>
              <a:t>（</a:t>
            </a:r>
            <a:r>
              <a:rPr lang="en-US" altLang="zh-CN" dirty="0"/>
              <a:t>VFS</a:t>
            </a:r>
            <a:r>
              <a:rPr lang="zh-CN" altLang="en-US" dirty="0"/>
              <a:t>）</a:t>
            </a:r>
            <a:endParaRPr lang="en-CN" dirty="0"/>
          </a:p>
        </p:txBody>
      </p:sp>
      <p:sp>
        <p:nvSpPr>
          <p:cNvPr id="3" name="Text Placeholder 2">
            <a:extLst>
              <a:ext uri="{FF2B5EF4-FFF2-40B4-BE49-F238E27FC236}">
                <a16:creationId xmlns:a16="http://schemas.microsoft.com/office/drawing/2014/main" id="{C59C9938-839D-1948-9190-3075027927DF}"/>
              </a:ext>
            </a:extLst>
          </p:cNvPr>
          <p:cNvSpPr>
            <a:spLocks noGrp="1"/>
          </p:cNvSpPr>
          <p:nvPr>
            <p:ph type="body" idx="1"/>
          </p:nvPr>
        </p:nvSpPr>
        <p:spPr/>
        <p:txBody>
          <a:bodyPr/>
          <a:lstStyle/>
          <a:p>
            <a:r>
              <a:rPr lang="zh-CN" altLang="en-US" dirty="0"/>
              <a:t>缓存、多文件系统、</a:t>
            </a:r>
            <a:r>
              <a:rPr lang="en-US" altLang="zh-CN" dirty="0"/>
              <a:t>FUSE</a:t>
            </a:r>
            <a:endParaRPr lang="en-CN" dirty="0"/>
          </a:p>
        </p:txBody>
      </p:sp>
      <p:sp>
        <p:nvSpPr>
          <p:cNvPr id="4" name="Slide Number Placeholder 3">
            <a:extLst>
              <a:ext uri="{FF2B5EF4-FFF2-40B4-BE49-F238E27FC236}">
                <a16:creationId xmlns:a16="http://schemas.microsoft.com/office/drawing/2014/main" id="{B6872423-FBC2-E644-888E-8A13388B603C}"/>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Footer Placeholder 4">
            <a:extLst>
              <a:ext uri="{FF2B5EF4-FFF2-40B4-BE49-F238E27FC236}">
                <a16:creationId xmlns:a16="http://schemas.microsoft.com/office/drawing/2014/main" id="{99799667-E0C4-3D4B-BC5F-87C8064E8BD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714595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1981FA8D-AF3D-1B49-8E03-889B13CE6791}"/>
              </a:ext>
            </a:extLst>
          </p:cNvPr>
          <p:cNvSpPr>
            <a:spLocks noGrp="1"/>
          </p:cNvSpPr>
          <p:nvPr>
            <p:ph type="title"/>
          </p:nvPr>
        </p:nvSpPr>
        <p:spPr/>
        <p:txBody>
          <a:bodyPr>
            <a:normAutofit fontScale="90000"/>
          </a:bodyPr>
          <a:lstStyle/>
          <a:p>
            <a:r>
              <a:rPr kumimoji="1" lang="zh-CN" altLang="en-US" dirty="0"/>
              <a:t>如何在一个系统中同时支持多个文件系统？</a:t>
            </a:r>
          </a:p>
        </p:txBody>
      </p:sp>
      <p:sp>
        <p:nvSpPr>
          <p:cNvPr id="7" name="内容占位符 6">
            <a:extLst>
              <a:ext uri="{FF2B5EF4-FFF2-40B4-BE49-F238E27FC236}">
                <a16:creationId xmlns:a16="http://schemas.microsoft.com/office/drawing/2014/main" id="{1E1CE9C5-C2F9-6B4B-A739-5DB87718282B}"/>
              </a:ext>
            </a:extLst>
          </p:cNvPr>
          <p:cNvSpPr>
            <a:spLocks noGrp="1"/>
          </p:cNvSpPr>
          <p:nvPr>
            <p:ph idx="1"/>
          </p:nvPr>
        </p:nvSpPr>
        <p:spPr/>
        <p:txBody>
          <a:bodyPr/>
          <a:lstStyle/>
          <a:p>
            <a:r>
              <a:rPr kumimoji="1" lang="zh-CN" altLang="en-US" dirty="0"/>
              <a:t>计算机中的异构文件系统</a:t>
            </a:r>
            <a:endParaRPr kumimoji="1" lang="en-US" altLang="zh-CN" dirty="0"/>
          </a:p>
          <a:p>
            <a:pPr lvl="1"/>
            <a:r>
              <a:rPr kumimoji="1" lang="en-US" altLang="zh-CN" dirty="0"/>
              <a:t>Linux</a:t>
            </a:r>
            <a:r>
              <a:rPr kumimoji="1" lang="zh-CN" altLang="en-US" dirty="0"/>
              <a:t>和</a:t>
            </a:r>
            <a:r>
              <a:rPr kumimoji="1" lang="en-US" altLang="zh-CN" dirty="0"/>
              <a:t>Windows</a:t>
            </a:r>
            <a:r>
              <a:rPr kumimoji="1" lang="zh-CN" altLang="en-US" dirty="0"/>
              <a:t>双启动，两个分区有各自的文件系统</a:t>
            </a:r>
            <a:endParaRPr kumimoji="1" lang="en-US" altLang="zh-CN" dirty="0"/>
          </a:p>
          <a:p>
            <a:pPr lvl="1"/>
            <a:r>
              <a:rPr kumimoji="1" lang="en-US" altLang="zh-CN" dirty="0"/>
              <a:t>Mac</a:t>
            </a:r>
            <a:r>
              <a:rPr kumimoji="1" lang="zh-CN" altLang="en-US" dirty="0"/>
              <a:t>用</a:t>
            </a:r>
            <a:r>
              <a:rPr kumimoji="1" lang="en-US" altLang="zh-CN" dirty="0"/>
              <a:t>APFS</a:t>
            </a:r>
            <a:r>
              <a:rPr kumimoji="1" lang="zh-CN" altLang="en-US" dirty="0"/>
              <a:t>，</a:t>
            </a:r>
            <a:r>
              <a:rPr kumimoji="1" lang="en-US" altLang="zh-CN" dirty="0"/>
              <a:t>U</a:t>
            </a:r>
            <a:r>
              <a:rPr kumimoji="1" lang="zh-CN" altLang="en-US" dirty="0"/>
              <a:t>盘一般用</a:t>
            </a:r>
            <a:r>
              <a:rPr kumimoji="1" lang="en-US" altLang="zh-CN" dirty="0"/>
              <a:t>FAT/</a:t>
            </a:r>
            <a:r>
              <a:rPr kumimoji="1" lang="en-US" altLang="zh-CN" dirty="0" err="1"/>
              <a:t>exFAT</a:t>
            </a:r>
            <a:r>
              <a:rPr kumimoji="1" lang="zh-CN" altLang="en-US" dirty="0"/>
              <a:t>，移动硬盘用</a:t>
            </a:r>
            <a:r>
              <a:rPr kumimoji="1" lang="en-US" altLang="zh-CN" dirty="0"/>
              <a:t>NTFS</a:t>
            </a:r>
          </a:p>
          <a:p>
            <a:pPr lvl="1"/>
            <a:endParaRPr kumimoji="1" lang="en-US" altLang="zh-CN" dirty="0"/>
          </a:p>
          <a:p>
            <a:r>
              <a:rPr kumimoji="1" lang="zh-CN" altLang="en-US" dirty="0"/>
              <a:t>如何对用户屏蔽文件系统的异构性？</a:t>
            </a:r>
            <a:endParaRPr kumimoji="1" lang="en-US" altLang="zh-CN" dirty="0"/>
          </a:p>
          <a:p>
            <a:pPr lvl="1"/>
            <a:r>
              <a:rPr kumimoji="1" lang="en-US" altLang="zh-CN" dirty="0"/>
              <a:t>VFS</a:t>
            </a:r>
            <a:r>
              <a:rPr kumimoji="1" lang="zh-CN" altLang="en-US" dirty="0"/>
              <a:t>：</a:t>
            </a:r>
            <a:r>
              <a:rPr kumimoji="1" lang="en-US" altLang="zh-CN" dirty="0"/>
              <a:t>Virtual</a:t>
            </a:r>
            <a:r>
              <a:rPr kumimoji="1" lang="zh-CN" altLang="en-US" dirty="0"/>
              <a:t> </a:t>
            </a:r>
            <a:r>
              <a:rPr kumimoji="1" lang="en-US" altLang="zh-CN" dirty="0"/>
              <a:t>File</a:t>
            </a:r>
            <a:r>
              <a:rPr kumimoji="1" lang="zh-CN" altLang="en-US" dirty="0"/>
              <a:t> </a:t>
            </a:r>
            <a:r>
              <a:rPr kumimoji="1" lang="en-US" altLang="zh-CN" dirty="0"/>
              <a:t>System</a:t>
            </a:r>
          </a:p>
          <a:p>
            <a:pPr lvl="1"/>
            <a:r>
              <a:rPr kumimoji="1" lang="zh-CN" altLang="en-US" dirty="0"/>
              <a:t>中间层，对上提供</a:t>
            </a:r>
            <a:r>
              <a:rPr kumimoji="1" lang="en-US" altLang="zh-CN" dirty="0"/>
              <a:t>POSIX</a:t>
            </a:r>
            <a:r>
              <a:rPr kumimoji="1" lang="zh-CN" altLang="en-US" dirty="0"/>
              <a:t> </a:t>
            </a:r>
            <a:r>
              <a:rPr kumimoji="1" lang="en-US" altLang="zh-CN" dirty="0"/>
              <a:t>API</a:t>
            </a:r>
            <a:r>
              <a:rPr kumimoji="1" lang="zh-CN" altLang="en-US" dirty="0"/>
              <a:t>，对下对接不同的文件系统驱动</a:t>
            </a:r>
          </a:p>
        </p:txBody>
      </p:sp>
      <p:sp>
        <p:nvSpPr>
          <p:cNvPr id="4" name="灯片编号占位符 3">
            <a:extLst>
              <a:ext uri="{FF2B5EF4-FFF2-40B4-BE49-F238E27FC236}">
                <a16:creationId xmlns:a16="http://schemas.microsoft.com/office/drawing/2014/main" id="{5B9125E5-F1BA-0C4C-AAEE-C03A9AB5DF2D}"/>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页脚占位符 4">
            <a:extLst>
              <a:ext uri="{FF2B5EF4-FFF2-40B4-BE49-F238E27FC236}">
                <a16:creationId xmlns:a16="http://schemas.microsoft.com/office/drawing/2014/main" id="{180A4D58-4240-D648-BEDA-28349DDA4F9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475552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28375-E15A-FD46-87E7-0E1A0B91358A}"/>
              </a:ext>
            </a:extLst>
          </p:cNvPr>
          <p:cNvSpPr>
            <a:spLocks noGrp="1"/>
          </p:cNvSpPr>
          <p:nvPr>
            <p:ph type="title"/>
          </p:nvPr>
        </p:nvSpPr>
        <p:spPr/>
        <p:txBody>
          <a:bodyPr/>
          <a:lstStyle/>
          <a:p>
            <a:r>
              <a:rPr lang="en-US" altLang="zh-CN" dirty="0"/>
              <a:t>Linux</a:t>
            </a:r>
            <a:r>
              <a:rPr lang="zh-CN" altLang="en-US" dirty="0"/>
              <a:t>中的虚拟文件系统</a:t>
            </a:r>
            <a:r>
              <a:rPr lang="en-US" altLang="zh-CN" dirty="0"/>
              <a:t>VFS</a:t>
            </a:r>
            <a:endParaRPr lang="en-CN" dirty="0"/>
          </a:p>
        </p:txBody>
      </p:sp>
      <p:sp>
        <p:nvSpPr>
          <p:cNvPr id="3" name="Content Placeholder 2">
            <a:extLst>
              <a:ext uri="{FF2B5EF4-FFF2-40B4-BE49-F238E27FC236}">
                <a16:creationId xmlns:a16="http://schemas.microsoft.com/office/drawing/2014/main" id="{EEFAB39C-D790-BA42-81EE-F1E5D6B6DD3A}"/>
              </a:ext>
            </a:extLst>
          </p:cNvPr>
          <p:cNvSpPr>
            <a:spLocks noGrp="1"/>
          </p:cNvSpPr>
          <p:nvPr>
            <p:ph idx="1"/>
          </p:nvPr>
        </p:nvSpPr>
        <p:spPr>
          <a:xfrm>
            <a:off x="457200" y="1333501"/>
            <a:ext cx="4114800" cy="3771636"/>
          </a:xfrm>
        </p:spPr>
        <p:txBody>
          <a:bodyPr>
            <a:normAutofit fontScale="92500" lnSpcReduction="10000"/>
          </a:bodyPr>
          <a:lstStyle/>
          <a:p>
            <a:pPr marL="0" indent="0">
              <a:buNone/>
            </a:pPr>
            <a:r>
              <a:rPr lang="en-US" altLang="zh-CN" sz="1800" b="0" dirty="0"/>
              <a:t>Linux</a:t>
            </a:r>
            <a:r>
              <a:rPr lang="zh-CN" altLang="en-US" sz="1800" b="0" dirty="0"/>
              <a:t>的</a:t>
            </a:r>
            <a:r>
              <a:rPr lang="en-US" altLang="zh-CN" sz="1800" b="0" dirty="0"/>
              <a:t>VFS</a:t>
            </a:r>
            <a:r>
              <a:rPr lang="zh-CN" altLang="en-US" sz="1800" b="0" dirty="0"/>
              <a:t>定义了一些系列接口</a:t>
            </a:r>
            <a:endParaRPr lang="en-US" altLang="zh-CN" sz="1800" b="0" dirty="0"/>
          </a:p>
          <a:p>
            <a:pPr marL="0" indent="0">
              <a:buNone/>
            </a:pPr>
            <a:r>
              <a:rPr lang="zh-CN" altLang="en-US" sz="1800" b="0" dirty="0"/>
              <a:t>具体的文件系统实现这些接口</a:t>
            </a:r>
            <a:endParaRPr lang="en-US" altLang="zh-CN" sz="1800" b="0" dirty="0"/>
          </a:p>
          <a:p>
            <a:pPr marL="0" indent="0">
              <a:buNone/>
            </a:pPr>
            <a:endParaRPr lang="en-US" altLang="zh-CN" sz="1800" b="0" dirty="0"/>
          </a:p>
          <a:p>
            <a:pPr marL="0" indent="0">
              <a:buNone/>
            </a:pPr>
            <a:r>
              <a:rPr lang="zh-CN" altLang="en-US" sz="1800" b="0" dirty="0"/>
              <a:t>如在读取一个</a:t>
            </a:r>
            <a:r>
              <a:rPr lang="en-US" altLang="zh-CN" sz="1800" b="0" dirty="0" err="1"/>
              <a:t>inode</a:t>
            </a:r>
            <a:r>
              <a:rPr lang="zh-CN" altLang="en-US" sz="1800" b="0" dirty="0"/>
              <a:t>的文件时</a:t>
            </a:r>
            <a:endParaRPr lang="en-US" altLang="zh-CN" sz="1800" b="0" dirty="0"/>
          </a:p>
          <a:p>
            <a:r>
              <a:rPr lang="en-US" altLang="zh-CN" sz="1600" b="0" dirty="0"/>
              <a:t>VFS</a:t>
            </a:r>
            <a:r>
              <a:rPr lang="zh-CN" altLang="en-US" sz="1600" b="0" dirty="0"/>
              <a:t>先找到该</a:t>
            </a:r>
            <a:r>
              <a:rPr lang="en-US" altLang="zh-CN" sz="1600" b="0" dirty="0" err="1"/>
              <a:t>inode</a:t>
            </a:r>
            <a:r>
              <a:rPr lang="zh-CN" altLang="en-US" sz="1600" b="0" dirty="0"/>
              <a:t>所属文件系统</a:t>
            </a:r>
            <a:endParaRPr lang="en-US" altLang="zh-CN" sz="1600" b="0" dirty="0"/>
          </a:p>
          <a:p>
            <a:r>
              <a:rPr lang="zh-CN" altLang="en-US" sz="1600" b="0" dirty="0"/>
              <a:t>再调用该文件系统的读取接口</a:t>
            </a:r>
            <a:endParaRPr lang="en-US" altLang="zh-CN" sz="1600" b="0" dirty="0"/>
          </a:p>
          <a:p>
            <a:endParaRPr lang="en-US" altLang="zh-CN" sz="1600" b="0" dirty="0"/>
          </a:p>
          <a:p>
            <a:pPr marL="0" indent="0">
              <a:buNone/>
            </a:pPr>
            <a:r>
              <a:rPr lang="en-US" altLang="zh-CN" sz="1800" b="0" dirty="0"/>
              <a:t>Windows</a:t>
            </a:r>
            <a:r>
              <a:rPr lang="zh-CN" altLang="en-US" sz="1800" b="0" dirty="0"/>
              <a:t>的类似机制</a:t>
            </a:r>
            <a:endParaRPr lang="en-US" altLang="zh-CN" sz="1800" b="0" dirty="0"/>
          </a:p>
          <a:p>
            <a:r>
              <a:rPr lang="en-US" altLang="zh-CN" sz="1600" b="0" dirty="0"/>
              <a:t>Installable</a:t>
            </a:r>
            <a:r>
              <a:rPr lang="zh-CN" altLang="en-US" sz="1600" b="0" dirty="0"/>
              <a:t> </a:t>
            </a:r>
            <a:r>
              <a:rPr lang="en-US" altLang="zh-CN" sz="1600" b="0" dirty="0"/>
              <a:t>File</a:t>
            </a:r>
            <a:r>
              <a:rPr lang="zh-CN" altLang="en-US" sz="1600" b="0" dirty="0"/>
              <a:t> </a:t>
            </a:r>
            <a:r>
              <a:rPr lang="en-US" altLang="zh-CN" sz="1600" b="0" dirty="0"/>
              <a:t>System</a:t>
            </a:r>
          </a:p>
        </p:txBody>
      </p:sp>
      <p:sp>
        <p:nvSpPr>
          <p:cNvPr id="4" name="Footer Placeholder 3">
            <a:extLst>
              <a:ext uri="{FF2B5EF4-FFF2-40B4-BE49-F238E27FC236}">
                <a16:creationId xmlns:a16="http://schemas.microsoft.com/office/drawing/2014/main" id="{D405289A-17DF-A749-8B3A-2B352B9FC54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Rounded Rectangle 4">
            <a:extLst>
              <a:ext uri="{FF2B5EF4-FFF2-40B4-BE49-F238E27FC236}">
                <a16:creationId xmlns:a16="http://schemas.microsoft.com/office/drawing/2014/main" id="{BBF3BF8E-CDAB-3D46-B7E6-45F4B97B2ED5}"/>
              </a:ext>
            </a:extLst>
          </p:cNvPr>
          <p:cNvSpPr/>
          <p:nvPr/>
        </p:nvSpPr>
        <p:spPr>
          <a:xfrm>
            <a:off x="5277072" y="1741638"/>
            <a:ext cx="3183360" cy="90044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t>VFS</a:t>
            </a:r>
          </a:p>
          <a:p>
            <a:pPr algn="ctr"/>
            <a:endParaRPr lang="en-CN" dirty="0"/>
          </a:p>
        </p:txBody>
      </p:sp>
      <p:sp>
        <p:nvSpPr>
          <p:cNvPr id="6" name="Rounded Rectangle 5">
            <a:extLst>
              <a:ext uri="{FF2B5EF4-FFF2-40B4-BE49-F238E27FC236}">
                <a16:creationId xmlns:a16="http://schemas.microsoft.com/office/drawing/2014/main" id="{196A5C68-F501-A14C-98F7-2FB8708E231C}"/>
              </a:ext>
            </a:extLst>
          </p:cNvPr>
          <p:cNvSpPr/>
          <p:nvPr/>
        </p:nvSpPr>
        <p:spPr>
          <a:xfrm>
            <a:off x="5426978" y="3153790"/>
            <a:ext cx="849088"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Ext4</a:t>
            </a:r>
            <a:endParaRPr lang="en-CN" dirty="0"/>
          </a:p>
        </p:txBody>
      </p:sp>
      <p:sp>
        <p:nvSpPr>
          <p:cNvPr id="7" name="Rounded Rectangle 6">
            <a:extLst>
              <a:ext uri="{FF2B5EF4-FFF2-40B4-BE49-F238E27FC236}">
                <a16:creationId xmlns:a16="http://schemas.microsoft.com/office/drawing/2014/main" id="{90E3E731-5D83-7A4E-9E6B-DB2B29739BB9}"/>
              </a:ext>
            </a:extLst>
          </p:cNvPr>
          <p:cNvSpPr/>
          <p:nvPr/>
        </p:nvSpPr>
        <p:spPr>
          <a:xfrm>
            <a:off x="6467870" y="3144928"/>
            <a:ext cx="849088"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XFS</a:t>
            </a:r>
            <a:endParaRPr lang="en-CN" dirty="0"/>
          </a:p>
        </p:txBody>
      </p:sp>
      <p:sp>
        <p:nvSpPr>
          <p:cNvPr id="8" name="Rounded Rectangle 7">
            <a:extLst>
              <a:ext uri="{FF2B5EF4-FFF2-40B4-BE49-F238E27FC236}">
                <a16:creationId xmlns:a16="http://schemas.microsoft.com/office/drawing/2014/main" id="{8AEE6BE3-4BB2-3C47-8AC1-D5BF69B86359}"/>
              </a:ext>
            </a:extLst>
          </p:cNvPr>
          <p:cNvSpPr/>
          <p:nvPr/>
        </p:nvSpPr>
        <p:spPr>
          <a:xfrm>
            <a:off x="7457221" y="3144928"/>
            <a:ext cx="849088"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FAT</a:t>
            </a:r>
            <a:endParaRPr lang="en-CN" dirty="0"/>
          </a:p>
        </p:txBody>
      </p:sp>
      <p:sp>
        <p:nvSpPr>
          <p:cNvPr id="12" name="Pentagon 11">
            <a:extLst>
              <a:ext uri="{FF2B5EF4-FFF2-40B4-BE49-F238E27FC236}">
                <a16:creationId xmlns:a16="http://schemas.microsoft.com/office/drawing/2014/main" id="{86B45F17-E45E-4940-B08D-018BD27CB679}"/>
              </a:ext>
            </a:extLst>
          </p:cNvPr>
          <p:cNvSpPr/>
          <p:nvPr/>
        </p:nvSpPr>
        <p:spPr>
          <a:xfrm rot="16200000">
            <a:off x="5588057" y="2962473"/>
            <a:ext cx="526937" cy="288035"/>
          </a:xfrm>
          <a:prstGeom prst="homePlate">
            <a:avLst/>
          </a:prstGeom>
          <a:solidFill>
            <a:srgbClr val="BE384B"/>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a:solidFill>
                <a:schemeClr val="tx1"/>
              </a:solidFill>
            </a:endParaRPr>
          </a:p>
        </p:txBody>
      </p:sp>
      <p:sp>
        <p:nvSpPr>
          <p:cNvPr id="13" name="Pentagon 12">
            <a:extLst>
              <a:ext uri="{FF2B5EF4-FFF2-40B4-BE49-F238E27FC236}">
                <a16:creationId xmlns:a16="http://schemas.microsoft.com/office/drawing/2014/main" id="{232B46D0-F855-A147-ADDA-882F591357BD}"/>
              </a:ext>
            </a:extLst>
          </p:cNvPr>
          <p:cNvSpPr/>
          <p:nvPr/>
        </p:nvSpPr>
        <p:spPr>
          <a:xfrm rot="16200000">
            <a:off x="6628945" y="2931761"/>
            <a:ext cx="526937" cy="288035"/>
          </a:xfrm>
          <a:prstGeom prst="homePlate">
            <a:avLst/>
          </a:prstGeom>
          <a:solidFill>
            <a:srgbClr val="BE384B"/>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a:solidFill>
                <a:schemeClr val="tx1"/>
              </a:solidFill>
            </a:endParaRPr>
          </a:p>
        </p:txBody>
      </p:sp>
      <p:sp>
        <p:nvSpPr>
          <p:cNvPr id="14" name="Pentagon 13">
            <a:extLst>
              <a:ext uri="{FF2B5EF4-FFF2-40B4-BE49-F238E27FC236}">
                <a16:creationId xmlns:a16="http://schemas.microsoft.com/office/drawing/2014/main" id="{B16EB309-3BAC-CE4F-801D-063E4EBACFB8}"/>
              </a:ext>
            </a:extLst>
          </p:cNvPr>
          <p:cNvSpPr/>
          <p:nvPr/>
        </p:nvSpPr>
        <p:spPr>
          <a:xfrm rot="16200000">
            <a:off x="7618296" y="2928292"/>
            <a:ext cx="526937" cy="288035"/>
          </a:xfrm>
          <a:prstGeom prst="homePlate">
            <a:avLst/>
          </a:prstGeom>
          <a:solidFill>
            <a:srgbClr val="BE384B"/>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N">
              <a:solidFill>
                <a:schemeClr val="tx1"/>
              </a:solidFill>
            </a:endParaRPr>
          </a:p>
        </p:txBody>
      </p:sp>
      <p:grpSp>
        <p:nvGrpSpPr>
          <p:cNvPr id="17" name="Group 16">
            <a:extLst>
              <a:ext uri="{FF2B5EF4-FFF2-40B4-BE49-F238E27FC236}">
                <a16:creationId xmlns:a16="http://schemas.microsoft.com/office/drawing/2014/main" id="{E59DBC4B-FB83-FE40-8383-C14F2696D2CA}"/>
              </a:ext>
            </a:extLst>
          </p:cNvPr>
          <p:cNvGrpSpPr/>
          <p:nvPr/>
        </p:nvGrpSpPr>
        <p:grpSpPr>
          <a:xfrm>
            <a:off x="5707508" y="1963860"/>
            <a:ext cx="288036" cy="783050"/>
            <a:chOff x="5707502" y="2015916"/>
            <a:chExt cx="288036" cy="783050"/>
          </a:xfrm>
        </p:grpSpPr>
        <p:sp>
          <p:nvSpPr>
            <p:cNvPr id="11" name="Rectangle 10">
              <a:extLst>
                <a:ext uri="{FF2B5EF4-FFF2-40B4-BE49-F238E27FC236}">
                  <a16:creationId xmlns:a16="http://schemas.microsoft.com/office/drawing/2014/main" id="{2C103557-A25C-1647-AD7F-62A3A9040C4E}"/>
                </a:ext>
              </a:extLst>
            </p:cNvPr>
            <p:cNvSpPr/>
            <p:nvPr/>
          </p:nvSpPr>
          <p:spPr>
            <a:xfrm>
              <a:off x="5707502" y="2150894"/>
              <a:ext cx="288036" cy="64807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16" name="Chevron 15">
              <a:extLst>
                <a:ext uri="{FF2B5EF4-FFF2-40B4-BE49-F238E27FC236}">
                  <a16:creationId xmlns:a16="http://schemas.microsoft.com/office/drawing/2014/main" id="{AC41ACBA-0C1C-494E-9E9F-367398E268CD}"/>
                </a:ext>
              </a:extLst>
            </p:cNvPr>
            <p:cNvSpPr/>
            <p:nvPr/>
          </p:nvSpPr>
          <p:spPr>
            <a:xfrm rot="16200000">
              <a:off x="5610750" y="2112672"/>
              <a:ext cx="481544" cy="288032"/>
            </a:xfrm>
            <a:prstGeom prst="chevron">
              <a:avLst/>
            </a:prstGeom>
            <a:solidFill>
              <a:srgbClr val="BE384B"/>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solidFill>
                  <a:schemeClr val="tx1"/>
                </a:solidFill>
              </a:endParaRPr>
            </a:p>
          </p:txBody>
        </p:sp>
      </p:grpSp>
      <p:sp>
        <p:nvSpPr>
          <p:cNvPr id="9" name="Slide Number Placeholder 8">
            <a:extLst>
              <a:ext uri="{FF2B5EF4-FFF2-40B4-BE49-F238E27FC236}">
                <a16:creationId xmlns:a16="http://schemas.microsoft.com/office/drawing/2014/main" id="{34F50FD2-E0AC-3D44-9AD2-37EDD7222681}"/>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grpSp>
        <p:nvGrpSpPr>
          <p:cNvPr id="18" name="Group 17">
            <a:extLst>
              <a:ext uri="{FF2B5EF4-FFF2-40B4-BE49-F238E27FC236}">
                <a16:creationId xmlns:a16="http://schemas.microsoft.com/office/drawing/2014/main" id="{70B3C225-093A-2042-8DBF-DC568905F8FD}"/>
              </a:ext>
            </a:extLst>
          </p:cNvPr>
          <p:cNvGrpSpPr/>
          <p:nvPr/>
        </p:nvGrpSpPr>
        <p:grpSpPr>
          <a:xfrm>
            <a:off x="6748396" y="2137420"/>
            <a:ext cx="288036" cy="606388"/>
            <a:chOff x="5707502" y="2180614"/>
            <a:chExt cx="288036" cy="606388"/>
          </a:xfrm>
        </p:grpSpPr>
        <p:sp>
          <p:nvSpPr>
            <p:cNvPr id="19" name="Rectangle 18">
              <a:extLst>
                <a:ext uri="{FF2B5EF4-FFF2-40B4-BE49-F238E27FC236}">
                  <a16:creationId xmlns:a16="http://schemas.microsoft.com/office/drawing/2014/main" id="{3B59CFE9-EF0F-164B-AC84-60FB34A5A39D}"/>
                </a:ext>
              </a:extLst>
            </p:cNvPr>
            <p:cNvSpPr/>
            <p:nvPr/>
          </p:nvSpPr>
          <p:spPr>
            <a:xfrm>
              <a:off x="5707502" y="2324630"/>
              <a:ext cx="288036" cy="46237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20" name="Chevron 19">
              <a:extLst>
                <a:ext uri="{FF2B5EF4-FFF2-40B4-BE49-F238E27FC236}">
                  <a16:creationId xmlns:a16="http://schemas.microsoft.com/office/drawing/2014/main" id="{48157C39-1629-6844-AFB5-EB61B65FBBB4}"/>
                </a:ext>
              </a:extLst>
            </p:cNvPr>
            <p:cNvSpPr/>
            <p:nvPr/>
          </p:nvSpPr>
          <p:spPr>
            <a:xfrm rot="16200000">
              <a:off x="5693099" y="2195021"/>
              <a:ext cx="316846" cy="288032"/>
            </a:xfrm>
            <a:prstGeom prst="chevron">
              <a:avLst/>
            </a:prstGeom>
            <a:solidFill>
              <a:srgbClr val="BE384B"/>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solidFill>
                  <a:schemeClr val="tx1"/>
                </a:solidFill>
              </a:endParaRPr>
            </a:p>
          </p:txBody>
        </p:sp>
      </p:grpSp>
      <p:grpSp>
        <p:nvGrpSpPr>
          <p:cNvPr id="21" name="Group 20">
            <a:extLst>
              <a:ext uri="{FF2B5EF4-FFF2-40B4-BE49-F238E27FC236}">
                <a16:creationId xmlns:a16="http://schemas.microsoft.com/office/drawing/2014/main" id="{78D30F0A-FB85-CD4B-BA31-4ABE1D1BCCC3}"/>
              </a:ext>
            </a:extLst>
          </p:cNvPr>
          <p:cNvGrpSpPr/>
          <p:nvPr/>
        </p:nvGrpSpPr>
        <p:grpSpPr>
          <a:xfrm>
            <a:off x="7737746" y="1959997"/>
            <a:ext cx="288036" cy="783048"/>
            <a:chOff x="5707502" y="2015916"/>
            <a:chExt cx="288036" cy="783048"/>
          </a:xfrm>
        </p:grpSpPr>
        <p:sp>
          <p:nvSpPr>
            <p:cNvPr id="22" name="Rectangle 21">
              <a:extLst>
                <a:ext uri="{FF2B5EF4-FFF2-40B4-BE49-F238E27FC236}">
                  <a16:creationId xmlns:a16="http://schemas.microsoft.com/office/drawing/2014/main" id="{81D2A53E-E3E9-614F-9F34-54CE7911E189}"/>
                </a:ext>
              </a:extLst>
            </p:cNvPr>
            <p:cNvSpPr/>
            <p:nvPr/>
          </p:nvSpPr>
          <p:spPr>
            <a:xfrm>
              <a:off x="5707502" y="2150893"/>
              <a:ext cx="288036" cy="648071"/>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23" name="Chevron 22">
              <a:extLst>
                <a:ext uri="{FF2B5EF4-FFF2-40B4-BE49-F238E27FC236}">
                  <a16:creationId xmlns:a16="http://schemas.microsoft.com/office/drawing/2014/main" id="{A3C46A39-F787-8B4E-9A7D-8CBCC7AC5CD8}"/>
                </a:ext>
              </a:extLst>
            </p:cNvPr>
            <p:cNvSpPr/>
            <p:nvPr/>
          </p:nvSpPr>
          <p:spPr>
            <a:xfrm rot="16200000">
              <a:off x="5610750" y="2112672"/>
              <a:ext cx="481544" cy="288032"/>
            </a:xfrm>
            <a:prstGeom prst="chevron">
              <a:avLst/>
            </a:prstGeom>
            <a:solidFill>
              <a:srgbClr val="BE384B"/>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solidFill>
                  <a:schemeClr val="tx1"/>
                </a:solidFill>
              </a:endParaRPr>
            </a:p>
          </p:txBody>
        </p:sp>
      </p:grpSp>
    </p:spTree>
    <p:extLst>
      <p:ext uri="{BB962C8B-B14F-4D97-AF65-F5344CB8AC3E}">
        <p14:creationId xmlns:p14="http://schemas.microsoft.com/office/powerpoint/2010/main" val="1676366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6141-A05D-4549-B084-C66B2EC34F4C}"/>
              </a:ext>
            </a:extLst>
          </p:cNvPr>
          <p:cNvSpPr>
            <a:spLocks noGrp="1"/>
          </p:cNvSpPr>
          <p:nvPr>
            <p:ph type="title"/>
          </p:nvPr>
        </p:nvSpPr>
        <p:spPr/>
        <p:txBody>
          <a:bodyPr/>
          <a:lstStyle/>
          <a:p>
            <a:r>
              <a:rPr lang="zh-CN" altLang="en-US" dirty="0"/>
              <a:t>虚拟</a:t>
            </a:r>
            <a:r>
              <a:rPr lang="zh-CN" altLang="en-CN" dirty="0"/>
              <a:t>文件系统</a:t>
            </a:r>
            <a:r>
              <a:rPr lang="zh-CN" altLang="en-US" dirty="0"/>
              <a:t> </a:t>
            </a:r>
            <a:r>
              <a:rPr lang="en-US" altLang="zh-CN" dirty="0"/>
              <a:t>VFS</a:t>
            </a:r>
            <a:endParaRPr lang="en-CN" dirty="0"/>
          </a:p>
        </p:txBody>
      </p:sp>
      <p:sp>
        <p:nvSpPr>
          <p:cNvPr id="3" name="Content Placeholder 2">
            <a:extLst>
              <a:ext uri="{FF2B5EF4-FFF2-40B4-BE49-F238E27FC236}">
                <a16:creationId xmlns:a16="http://schemas.microsoft.com/office/drawing/2014/main" id="{E6A36AF6-D7C1-6E44-BE6C-D8CD5935711E}"/>
              </a:ext>
            </a:extLst>
          </p:cNvPr>
          <p:cNvSpPr>
            <a:spLocks noGrp="1"/>
          </p:cNvSpPr>
          <p:nvPr>
            <p:ph idx="1"/>
          </p:nvPr>
        </p:nvSpPr>
        <p:spPr>
          <a:xfrm>
            <a:off x="457200" y="1333501"/>
            <a:ext cx="8229600" cy="1757511"/>
          </a:xfrm>
        </p:spPr>
        <p:txBody>
          <a:bodyPr>
            <a:normAutofit/>
          </a:bodyPr>
          <a:lstStyle/>
          <a:p>
            <a:pPr marL="0" indent="0">
              <a:buNone/>
            </a:pPr>
            <a:r>
              <a:rPr lang="zh-CN" altLang="en-US" sz="1800" b="0" dirty="0"/>
              <a:t>操作系统同时使用多个文件系统</a:t>
            </a:r>
            <a:endParaRPr lang="en-US" altLang="zh-CN" sz="1800" b="0" dirty="0"/>
          </a:p>
          <a:p>
            <a:pPr marL="0" indent="0">
              <a:buNone/>
            </a:pPr>
            <a:r>
              <a:rPr lang="zh-CN" altLang="en-US" sz="1800" b="0" dirty="0"/>
              <a:t>虚拟文件系统提供统一的管理，对应用程序提供统一的视图和抽象</a:t>
            </a:r>
            <a:endParaRPr lang="en-US" altLang="zh-CN" sz="1800" b="0" dirty="0"/>
          </a:p>
          <a:p>
            <a:pPr marL="0" indent="0">
              <a:buNone/>
            </a:pPr>
            <a:r>
              <a:rPr lang="zh-CN" altLang="en-US" sz="1800" b="0" dirty="0"/>
              <a:t>问题：每个文件系统都有自己的根节点，它们如何配合在一起？</a:t>
            </a:r>
            <a:endParaRPr lang="en-US" altLang="zh-CN" sz="1800" b="0" dirty="0"/>
          </a:p>
          <a:p>
            <a:pPr marL="0" indent="0">
              <a:buNone/>
            </a:pPr>
            <a:endParaRPr lang="en-US" altLang="zh-CN" sz="1800" b="0" dirty="0"/>
          </a:p>
          <a:p>
            <a:pPr marL="0" indent="0">
              <a:buNone/>
            </a:pPr>
            <a:endParaRPr lang="en-CN" sz="1800" b="0" dirty="0"/>
          </a:p>
        </p:txBody>
      </p:sp>
      <p:sp>
        <p:nvSpPr>
          <p:cNvPr id="4" name="Footer Placeholder 3">
            <a:extLst>
              <a:ext uri="{FF2B5EF4-FFF2-40B4-BE49-F238E27FC236}">
                <a16:creationId xmlns:a16="http://schemas.microsoft.com/office/drawing/2014/main" id="{F1365FF2-22A1-3741-83E0-9E3963E95DF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5" name="Group 4">
            <a:extLst>
              <a:ext uri="{FF2B5EF4-FFF2-40B4-BE49-F238E27FC236}">
                <a16:creationId xmlns:a16="http://schemas.microsoft.com/office/drawing/2014/main" id="{B54C9290-3626-0144-8516-C2A159D426D6}"/>
              </a:ext>
            </a:extLst>
          </p:cNvPr>
          <p:cNvGrpSpPr/>
          <p:nvPr/>
        </p:nvGrpSpPr>
        <p:grpSpPr>
          <a:xfrm>
            <a:off x="692141" y="3091012"/>
            <a:ext cx="2602632" cy="2035301"/>
            <a:chOff x="4218630" y="861490"/>
            <a:chExt cx="4819069" cy="3768591"/>
          </a:xfrm>
        </p:grpSpPr>
        <p:sp>
          <p:nvSpPr>
            <p:cNvPr id="6" name="Oval 5">
              <a:extLst>
                <a:ext uri="{FF2B5EF4-FFF2-40B4-BE49-F238E27FC236}">
                  <a16:creationId xmlns:a16="http://schemas.microsoft.com/office/drawing/2014/main" id="{6621E551-16A1-5843-B044-DE5212BD5215}"/>
                </a:ext>
              </a:extLst>
            </p:cNvPr>
            <p:cNvSpPr/>
            <p:nvPr/>
          </p:nvSpPr>
          <p:spPr>
            <a:xfrm>
              <a:off x="4218630" y="412597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7" name="Oval 6">
              <a:extLst>
                <a:ext uri="{FF2B5EF4-FFF2-40B4-BE49-F238E27FC236}">
                  <a16:creationId xmlns:a16="http://schemas.microsoft.com/office/drawing/2014/main" id="{ACD10FC5-8D64-CD41-8A8D-821A6A48E06D}"/>
                </a:ext>
              </a:extLst>
            </p:cNvPr>
            <p:cNvSpPr/>
            <p:nvPr/>
          </p:nvSpPr>
          <p:spPr>
            <a:xfrm>
              <a:off x="7729955" y="4080602"/>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8" name="Oval 7">
              <a:extLst>
                <a:ext uri="{FF2B5EF4-FFF2-40B4-BE49-F238E27FC236}">
                  <a16:creationId xmlns:a16="http://schemas.microsoft.com/office/drawing/2014/main" id="{8CB004D9-2D7D-0445-A317-ECF74C2FB7A9}"/>
                </a:ext>
              </a:extLst>
            </p:cNvPr>
            <p:cNvSpPr/>
            <p:nvPr/>
          </p:nvSpPr>
          <p:spPr>
            <a:xfrm>
              <a:off x="8539206" y="303362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9" name="Straight Arrow Connector 8">
              <a:extLst>
                <a:ext uri="{FF2B5EF4-FFF2-40B4-BE49-F238E27FC236}">
                  <a16:creationId xmlns:a16="http://schemas.microsoft.com/office/drawing/2014/main" id="{A1BECE92-D6A5-BD45-9C88-9DBACEB75024}"/>
                </a:ext>
              </a:extLst>
            </p:cNvPr>
            <p:cNvCxnSpPr>
              <a:cxnSpLocks/>
              <a:stCxn id="30" idx="3"/>
              <a:endCxn id="6" idx="0"/>
            </p:cNvCxnSpPr>
            <p:nvPr/>
          </p:nvCxnSpPr>
          <p:spPr>
            <a:xfrm flipH="1">
              <a:off x="4467877" y="3351408"/>
              <a:ext cx="1184581" cy="77457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0" name="Straight Arrow Connector 9">
              <a:extLst>
                <a:ext uri="{FF2B5EF4-FFF2-40B4-BE49-F238E27FC236}">
                  <a16:creationId xmlns:a16="http://schemas.microsoft.com/office/drawing/2014/main" id="{1549BBE2-AA41-5B47-B5AD-26A59A5A70A9}"/>
                </a:ext>
              </a:extLst>
            </p:cNvPr>
            <p:cNvCxnSpPr>
              <a:cxnSpLocks/>
              <a:stCxn id="31" idx="4"/>
              <a:endCxn id="7" idx="0"/>
            </p:cNvCxnSpPr>
            <p:nvPr/>
          </p:nvCxnSpPr>
          <p:spPr>
            <a:xfrm>
              <a:off x="7480113" y="3442502"/>
              <a:ext cx="499089" cy="6381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1" name="Straight Arrow Connector 10">
              <a:extLst>
                <a:ext uri="{FF2B5EF4-FFF2-40B4-BE49-F238E27FC236}">
                  <a16:creationId xmlns:a16="http://schemas.microsoft.com/office/drawing/2014/main" id="{DA58F409-2C4F-E849-96E0-AA2869717A32}"/>
                </a:ext>
              </a:extLst>
            </p:cNvPr>
            <p:cNvCxnSpPr>
              <a:cxnSpLocks/>
              <a:stCxn id="29" idx="5"/>
              <a:endCxn id="8" idx="0"/>
            </p:cNvCxnSpPr>
            <p:nvPr/>
          </p:nvCxnSpPr>
          <p:spPr>
            <a:xfrm>
              <a:off x="7275961" y="1776066"/>
              <a:ext cx="1512492" cy="125756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2" name="TextBox 11">
              <a:extLst>
                <a:ext uri="{FF2B5EF4-FFF2-40B4-BE49-F238E27FC236}">
                  <a16:creationId xmlns:a16="http://schemas.microsoft.com/office/drawing/2014/main" id="{AE378EA4-A736-9A4B-AF81-FBAE7FA908C0}"/>
                </a:ext>
              </a:extLst>
            </p:cNvPr>
            <p:cNvSpPr txBox="1"/>
            <p:nvPr/>
          </p:nvSpPr>
          <p:spPr>
            <a:xfrm>
              <a:off x="7081504" y="3543788"/>
              <a:ext cx="1191237" cy="416117"/>
            </a:xfrm>
            <a:prstGeom prst="rect">
              <a:avLst/>
            </a:prstGeom>
            <a:noFill/>
          </p:spPr>
          <p:txBody>
            <a:bodyPr wrap="none" rtlCol="0">
              <a:spAutoFit/>
            </a:bodyPr>
            <a:lstStyle/>
            <a:p>
              <a:r>
                <a:rPr lang="zh-CN" altLang="en-CN" sz="1100" dirty="0"/>
                <a:t>算法</a:t>
              </a:r>
              <a:r>
                <a:rPr lang="zh-CN" altLang="en-US" sz="1100" dirty="0"/>
                <a:t>笔记</a:t>
              </a:r>
              <a:endParaRPr lang="en-CN" sz="1100" dirty="0"/>
            </a:p>
          </p:txBody>
        </p:sp>
        <p:sp>
          <p:nvSpPr>
            <p:cNvPr id="13" name="TextBox 12">
              <a:extLst>
                <a:ext uri="{FF2B5EF4-FFF2-40B4-BE49-F238E27FC236}">
                  <a16:creationId xmlns:a16="http://schemas.microsoft.com/office/drawing/2014/main" id="{74E7860F-0A8B-804D-B05A-CE554F00619E}"/>
                </a:ext>
              </a:extLst>
            </p:cNvPr>
            <p:cNvSpPr txBox="1"/>
            <p:nvPr/>
          </p:nvSpPr>
          <p:spPr>
            <a:xfrm>
              <a:off x="7554774" y="1886026"/>
              <a:ext cx="1191237" cy="416117"/>
            </a:xfrm>
            <a:prstGeom prst="rect">
              <a:avLst/>
            </a:prstGeom>
            <a:noFill/>
          </p:spPr>
          <p:txBody>
            <a:bodyPr wrap="none" rtlCol="0">
              <a:spAutoFit/>
            </a:bodyPr>
            <a:lstStyle/>
            <a:p>
              <a:r>
                <a:rPr lang="zh-CN" altLang="en-US" sz="1100" dirty="0"/>
                <a:t>数据结构</a:t>
              </a:r>
              <a:endParaRPr lang="en-CN" sz="1100" dirty="0"/>
            </a:p>
          </p:txBody>
        </p:sp>
        <p:sp>
          <p:nvSpPr>
            <p:cNvPr id="14" name="TextBox 13">
              <a:extLst>
                <a:ext uri="{FF2B5EF4-FFF2-40B4-BE49-F238E27FC236}">
                  <a16:creationId xmlns:a16="http://schemas.microsoft.com/office/drawing/2014/main" id="{67799574-F5E3-BD40-A1D2-74D9F24E2157}"/>
                </a:ext>
              </a:extLst>
            </p:cNvPr>
            <p:cNvSpPr txBox="1"/>
            <p:nvPr/>
          </p:nvSpPr>
          <p:spPr>
            <a:xfrm>
              <a:off x="7621411" y="861490"/>
              <a:ext cx="966861" cy="416117"/>
            </a:xfrm>
            <a:prstGeom prst="rect">
              <a:avLst/>
            </a:prstGeom>
            <a:noFill/>
          </p:spPr>
          <p:txBody>
            <a:bodyPr wrap="none" rtlCol="0">
              <a:spAutoFit/>
            </a:bodyPr>
            <a:lstStyle/>
            <a:p>
              <a:r>
                <a:rPr lang="zh-CN" altLang="en-US" sz="1100" dirty="0"/>
                <a:t>根</a:t>
              </a:r>
              <a:r>
                <a:rPr lang="zh-CN" altLang="en-CN" sz="1100" dirty="0"/>
                <a:t>目录</a:t>
              </a:r>
              <a:endParaRPr lang="en-CN" sz="1100" dirty="0"/>
            </a:p>
          </p:txBody>
        </p:sp>
        <p:sp>
          <p:nvSpPr>
            <p:cNvPr id="15" name="Oval 14">
              <a:extLst>
                <a:ext uri="{FF2B5EF4-FFF2-40B4-BE49-F238E27FC236}">
                  <a16:creationId xmlns:a16="http://schemas.microsoft.com/office/drawing/2014/main" id="{EC2C64E3-F8C8-134D-95A6-1C3BE4CDFBA5}"/>
                </a:ext>
              </a:extLst>
            </p:cNvPr>
            <p:cNvSpPr/>
            <p:nvPr/>
          </p:nvSpPr>
          <p:spPr>
            <a:xfrm>
              <a:off x="5320272" y="413158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7</a:t>
              </a:r>
              <a:endParaRPr lang="en-CN" sz="1100" dirty="0"/>
            </a:p>
          </p:txBody>
        </p:sp>
        <p:sp>
          <p:nvSpPr>
            <p:cNvPr id="16" name="Oval 15">
              <a:extLst>
                <a:ext uri="{FF2B5EF4-FFF2-40B4-BE49-F238E27FC236}">
                  <a16:creationId xmlns:a16="http://schemas.microsoft.com/office/drawing/2014/main" id="{B1E64B75-25EC-EF49-ADC5-5F6D6A2C9CDC}"/>
                </a:ext>
              </a:extLst>
            </p:cNvPr>
            <p:cNvSpPr/>
            <p:nvPr/>
          </p:nvSpPr>
          <p:spPr>
            <a:xfrm>
              <a:off x="6530203" y="4106987"/>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4</a:t>
              </a:r>
              <a:endParaRPr lang="en-CN" sz="1100" dirty="0"/>
            </a:p>
          </p:txBody>
        </p:sp>
        <p:cxnSp>
          <p:nvCxnSpPr>
            <p:cNvPr id="17" name="Straight Arrow Connector 16">
              <a:extLst>
                <a:ext uri="{FF2B5EF4-FFF2-40B4-BE49-F238E27FC236}">
                  <a16:creationId xmlns:a16="http://schemas.microsoft.com/office/drawing/2014/main" id="{494672EC-DE8E-2B45-A991-9A1C05503EAC}"/>
                </a:ext>
              </a:extLst>
            </p:cNvPr>
            <p:cNvCxnSpPr>
              <a:cxnSpLocks/>
              <a:stCxn id="30" idx="4"/>
              <a:endCxn id="15" idx="0"/>
            </p:cNvCxnSpPr>
            <p:nvPr/>
          </p:nvCxnSpPr>
          <p:spPr>
            <a:xfrm flipH="1">
              <a:off x="5569519" y="3424411"/>
              <a:ext cx="259183" cy="70717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8" name="Straight Arrow Connector 17">
              <a:extLst>
                <a:ext uri="{FF2B5EF4-FFF2-40B4-BE49-F238E27FC236}">
                  <a16:creationId xmlns:a16="http://schemas.microsoft.com/office/drawing/2014/main" id="{0AF377B3-16A2-E04B-B609-0D3633324D6C}"/>
                </a:ext>
              </a:extLst>
            </p:cNvPr>
            <p:cNvCxnSpPr>
              <a:cxnSpLocks/>
              <a:stCxn id="30" idx="5"/>
              <a:endCxn id="16" idx="0"/>
            </p:cNvCxnSpPr>
            <p:nvPr/>
          </p:nvCxnSpPr>
          <p:spPr>
            <a:xfrm>
              <a:off x="6004945" y="3351408"/>
              <a:ext cx="774505" cy="75557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9" name="Rectangle 18">
              <a:extLst>
                <a:ext uri="{FF2B5EF4-FFF2-40B4-BE49-F238E27FC236}">
                  <a16:creationId xmlns:a16="http://schemas.microsoft.com/office/drawing/2014/main" id="{F66BCF10-5F1F-574B-ACC6-14EE1B3317DA}"/>
                </a:ext>
              </a:extLst>
            </p:cNvPr>
            <p:cNvSpPr/>
            <p:nvPr/>
          </p:nvSpPr>
          <p:spPr>
            <a:xfrm>
              <a:off x="4336045" y="2789178"/>
              <a:ext cx="2641136" cy="1138936"/>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20" name="TextBox 19">
              <a:extLst>
                <a:ext uri="{FF2B5EF4-FFF2-40B4-BE49-F238E27FC236}">
                  <a16:creationId xmlns:a16="http://schemas.microsoft.com/office/drawing/2014/main" id="{57984105-8A5C-DD4A-BB77-EABB4E61CEE3}"/>
                </a:ext>
              </a:extLst>
            </p:cNvPr>
            <p:cNvSpPr txBox="1"/>
            <p:nvPr/>
          </p:nvSpPr>
          <p:spPr>
            <a:xfrm>
              <a:off x="5953873" y="1882738"/>
              <a:ext cx="617547" cy="416117"/>
            </a:xfrm>
            <a:prstGeom prst="rect">
              <a:avLst/>
            </a:prstGeom>
            <a:noFill/>
          </p:spPr>
          <p:txBody>
            <a:bodyPr wrap="none" rtlCol="0">
              <a:spAutoFit/>
            </a:bodyPr>
            <a:lstStyle/>
            <a:p>
              <a:r>
                <a:rPr lang="en-US" altLang="zh-CN" sz="1100" dirty="0"/>
                <a:t>OS</a:t>
              </a:r>
              <a:endParaRPr lang="en-CN" sz="1100" dirty="0"/>
            </a:p>
          </p:txBody>
        </p:sp>
        <p:sp>
          <p:nvSpPr>
            <p:cNvPr id="21" name="TextBox 20">
              <a:extLst>
                <a:ext uri="{FF2B5EF4-FFF2-40B4-BE49-F238E27FC236}">
                  <a16:creationId xmlns:a16="http://schemas.microsoft.com/office/drawing/2014/main" id="{5FEAD545-1A59-6C4F-AF3B-2872A83A524F}"/>
                </a:ext>
              </a:extLst>
            </p:cNvPr>
            <p:cNvSpPr txBox="1"/>
            <p:nvPr/>
          </p:nvSpPr>
          <p:spPr>
            <a:xfrm>
              <a:off x="4336043" y="3282872"/>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1</a:t>
              </a:r>
              <a:endParaRPr lang="en-CN" sz="1100" dirty="0"/>
            </a:p>
          </p:txBody>
        </p:sp>
        <p:sp>
          <p:nvSpPr>
            <p:cNvPr id="22" name="TextBox 21">
              <a:extLst>
                <a:ext uri="{FF2B5EF4-FFF2-40B4-BE49-F238E27FC236}">
                  <a16:creationId xmlns:a16="http://schemas.microsoft.com/office/drawing/2014/main" id="{3498396A-8A8A-5342-B932-5FB20F6DA213}"/>
                </a:ext>
              </a:extLst>
            </p:cNvPr>
            <p:cNvSpPr txBox="1"/>
            <p:nvPr/>
          </p:nvSpPr>
          <p:spPr>
            <a:xfrm>
              <a:off x="5093993" y="3596254"/>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2</a:t>
              </a:r>
              <a:endParaRPr lang="en-CN" sz="1100" dirty="0"/>
            </a:p>
          </p:txBody>
        </p:sp>
        <p:sp>
          <p:nvSpPr>
            <p:cNvPr id="23" name="Rectangle 22">
              <a:extLst>
                <a:ext uri="{FF2B5EF4-FFF2-40B4-BE49-F238E27FC236}">
                  <a16:creationId xmlns:a16="http://schemas.microsoft.com/office/drawing/2014/main" id="{599308A3-D8CF-7946-A08F-BD63873F0E51}"/>
                </a:ext>
              </a:extLst>
            </p:cNvPr>
            <p:cNvSpPr/>
            <p:nvPr/>
          </p:nvSpPr>
          <p:spPr>
            <a:xfrm>
              <a:off x="7059771" y="2789178"/>
              <a:ext cx="1167809" cy="1144709"/>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24" name="Rectangle 23">
              <a:extLst>
                <a:ext uri="{FF2B5EF4-FFF2-40B4-BE49-F238E27FC236}">
                  <a16:creationId xmlns:a16="http://schemas.microsoft.com/office/drawing/2014/main" id="{D1DD9240-A73D-804E-970B-5288CDE00829}"/>
                </a:ext>
              </a:extLst>
            </p:cNvPr>
            <p:cNvSpPr/>
            <p:nvPr/>
          </p:nvSpPr>
          <p:spPr>
            <a:xfrm>
              <a:off x="5484188" y="1302143"/>
              <a:ext cx="3489077" cy="1204825"/>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25" name="Straight Arrow Connector 24">
              <a:extLst>
                <a:ext uri="{FF2B5EF4-FFF2-40B4-BE49-F238E27FC236}">
                  <a16:creationId xmlns:a16="http://schemas.microsoft.com/office/drawing/2014/main" id="{BD5CFF7A-65DD-2041-8BF1-AB6971C6A34E}"/>
                </a:ext>
              </a:extLst>
            </p:cNvPr>
            <p:cNvCxnSpPr>
              <a:cxnSpLocks/>
              <a:stCxn id="29" idx="4"/>
              <a:endCxn id="31" idx="0"/>
            </p:cNvCxnSpPr>
            <p:nvPr/>
          </p:nvCxnSpPr>
          <p:spPr>
            <a:xfrm>
              <a:off x="7099718" y="1849069"/>
              <a:ext cx="380395" cy="109494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26" name="Straight Arrow Connector 25">
              <a:extLst>
                <a:ext uri="{FF2B5EF4-FFF2-40B4-BE49-F238E27FC236}">
                  <a16:creationId xmlns:a16="http://schemas.microsoft.com/office/drawing/2014/main" id="{532DA226-FD33-B643-A5AA-E7AB0481BBE4}"/>
                </a:ext>
              </a:extLst>
            </p:cNvPr>
            <p:cNvCxnSpPr>
              <a:cxnSpLocks/>
              <a:stCxn id="29" idx="3"/>
              <a:endCxn id="30" idx="0"/>
            </p:cNvCxnSpPr>
            <p:nvPr/>
          </p:nvCxnSpPr>
          <p:spPr>
            <a:xfrm flipH="1">
              <a:off x="5828702" y="1776066"/>
              <a:ext cx="1094772" cy="114985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7" name="TextBox 26">
              <a:extLst>
                <a:ext uri="{FF2B5EF4-FFF2-40B4-BE49-F238E27FC236}">
                  <a16:creationId xmlns:a16="http://schemas.microsoft.com/office/drawing/2014/main" id="{77267A90-B0FA-E741-90F0-86693FD5CA0F}"/>
                </a:ext>
              </a:extLst>
            </p:cNvPr>
            <p:cNvSpPr txBox="1"/>
            <p:nvPr/>
          </p:nvSpPr>
          <p:spPr>
            <a:xfrm>
              <a:off x="6732202" y="1909082"/>
              <a:ext cx="742483" cy="416117"/>
            </a:xfrm>
            <a:prstGeom prst="rect">
              <a:avLst/>
            </a:prstGeom>
            <a:noFill/>
          </p:spPr>
          <p:txBody>
            <a:bodyPr wrap="none" rtlCol="0">
              <a:spAutoFit/>
            </a:bodyPr>
            <a:lstStyle/>
            <a:p>
              <a:r>
                <a:rPr lang="zh-CN" altLang="en-CN" sz="1100" dirty="0"/>
                <a:t>算法</a:t>
              </a:r>
              <a:endParaRPr lang="en-CN" sz="1100" dirty="0"/>
            </a:p>
          </p:txBody>
        </p:sp>
        <p:sp>
          <p:nvSpPr>
            <p:cNvPr id="28" name="TextBox 27">
              <a:extLst>
                <a:ext uri="{FF2B5EF4-FFF2-40B4-BE49-F238E27FC236}">
                  <a16:creationId xmlns:a16="http://schemas.microsoft.com/office/drawing/2014/main" id="{72570AEB-9B86-5E46-891D-A6646E4692F0}"/>
                </a:ext>
              </a:extLst>
            </p:cNvPr>
            <p:cNvSpPr txBox="1"/>
            <p:nvPr/>
          </p:nvSpPr>
          <p:spPr>
            <a:xfrm>
              <a:off x="6326886" y="3424410"/>
              <a:ext cx="742483" cy="416117"/>
            </a:xfrm>
            <a:prstGeom prst="rect">
              <a:avLst/>
            </a:prstGeom>
            <a:noFill/>
          </p:spPr>
          <p:txBody>
            <a:bodyPr wrap="none" rtlCol="0">
              <a:spAutoFit/>
            </a:bodyPr>
            <a:lstStyle/>
            <a:p>
              <a:r>
                <a:rPr lang="zh-CN" altLang="en-US" sz="1100" dirty="0"/>
                <a:t>其他</a:t>
              </a:r>
              <a:endParaRPr lang="en-CN" sz="1100" dirty="0"/>
            </a:p>
          </p:txBody>
        </p:sp>
        <p:sp>
          <p:nvSpPr>
            <p:cNvPr id="29" name="Oval 28">
              <a:extLst>
                <a:ext uri="{FF2B5EF4-FFF2-40B4-BE49-F238E27FC236}">
                  <a16:creationId xmlns:a16="http://schemas.microsoft.com/office/drawing/2014/main" id="{5A132DC4-5B97-1A46-94E4-27CC9674FD16}"/>
                </a:ext>
              </a:extLst>
            </p:cNvPr>
            <p:cNvSpPr/>
            <p:nvPr/>
          </p:nvSpPr>
          <p:spPr>
            <a:xfrm>
              <a:off x="6850471" y="135057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0</a:t>
              </a:r>
              <a:endParaRPr lang="en-CN" sz="1100" dirty="0"/>
            </a:p>
          </p:txBody>
        </p:sp>
        <p:sp>
          <p:nvSpPr>
            <p:cNvPr id="30" name="Oval 29">
              <a:extLst>
                <a:ext uri="{FF2B5EF4-FFF2-40B4-BE49-F238E27FC236}">
                  <a16:creationId xmlns:a16="http://schemas.microsoft.com/office/drawing/2014/main" id="{347F1E60-2C23-F744-A48A-A8A00305620C}"/>
                </a:ext>
              </a:extLst>
            </p:cNvPr>
            <p:cNvSpPr/>
            <p:nvPr/>
          </p:nvSpPr>
          <p:spPr>
            <a:xfrm>
              <a:off x="5579455" y="2925918"/>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13</a:t>
              </a:r>
              <a:endParaRPr lang="en-CN" sz="1100" dirty="0"/>
            </a:p>
          </p:txBody>
        </p:sp>
        <p:sp>
          <p:nvSpPr>
            <p:cNvPr id="31" name="Oval 30">
              <a:extLst>
                <a:ext uri="{FF2B5EF4-FFF2-40B4-BE49-F238E27FC236}">
                  <a16:creationId xmlns:a16="http://schemas.microsoft.com/office/drawing/2014/main" id="{21F026EA-C5D9-4841-AADC-99B471BCD6D3}"/>
                </a:ext>
              </a:extLst>
            </p:cNvPr>
            <p:cNvSpPr/>
            <p:nvPr/>
          </p:nvSpPr>
          <p:spPr>
            <a:xfrm>
              <a:off x="7230866" y="2944009"/>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14</a:t>
              </a:r>
              <a:endParaRPr lang="en-CN" sz="1100" dirty="0"/>
            </a:p>
          </p:txBody>
        </p:sp>
      </p:grpSp>
      <p:grpSp>
        <p:nvGrpSpPr>
          <p:cNvPr id="74" name="Group 73">
            <a:extLst>
              <a:ext uri="{FF2B5EF4-FFF2-40B4-BE49-F238E27FC236}">
                <a16:creationId xmlns:a16="http://schemas.microsoft.com/office/drawing/2014/main" id="{C8B49BEF-3053-A84F-B40B-C0AFD856AE25}"/>
              </a:ext>
            </a:extLst>
          </p:cNvPr>
          <p:cNvGrpSpPr/>
          <p:nvPr/>
        </p:nvGrpSpPr>
        <p:grpSpPr>
          <a:xfrm>
            <a:off x="5200538" y="3149227"/>
            <a:ext cx="2867938" cy="2108666"/>
            <a:chOff x="3576270" y="3170153"/>
            <a:chExt cx="2867938" cy="2108666"/>
          </a:xfrm>
        </p:grpSpPr>
        <p:sp>
          <p:nvSpPr>
            <p:cNvPr id="35" name="Oval 34">
              <a:extLst>
                <a:ext uri="{FF2B5EF4-FFF2-40B4-BE49-F238E27FC236}">
                  <a16:creationId xmlns:a16="http://schemas.microsoft.com/office/drawing/2014/main" id="{C8BC99F5-3266-CD46-B881-16314231D4EC}"/>
                </a:ext>
              </a:extLst>
            </p:cNvPr>
            <p:cNvSpPr/>
            <p:nvPr/>
          </p:nvSpPr>
          <p:spPr>
            <a:xfrm>
              <a:off x="3576270" y="493320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sp>
          <p:nvSpPr>
            <p:cNvPr id="36" name="Oval 35">
              <a:extLst>
                <a:ext uri="{FF2B5EF4-FFF2-40B4-BE49-F238E27FC236}">
                  <a16:creationId xmlns:a16="http://schemas.microsoft.com/office/drawing/2014/main" id="{24F94565-974B-F54C-80C1-3D21E8FFA731}"/>
                </a:ext>
              </a:extLst>
            </p:cNvPr>
            <p:cNvSpPr/>
            <p:nvPr/>
          </p:nvSpPr>
          <p:spPr>
            <a:xfrm>
              <a:off x="5540483" y="4999342"/>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37" name="Oval 36">
              <a:extLst>
                <a:ext uri="{FF2B5EF4-FFF2-40B4-BE49-F238E27FC236}">
                  <a16:creationId xmlns:a16="http://schemas.microsoft.com/office/drawing/2014/main" id="{8F46133A-BD03-8047-9F5D-30A731E76ECB}"/>
                </a:ext>
              </a:extLst>
            </p:cNvPr>
            <p:cNvSpPr/>
            <p:nvPr/>
          </p:nvSpPr>
          <p:spPr>
            <a:xfrm>
              <a:off x="6030387" y="4315619"/>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38" name="Straight Arrow Connector 37">
              <a:extLst>
                <a:ext uri="{FF2B5EF4-FFF2-40B4-BE49-F238E27FC236}">
                  <a16:creationId xmlns:a16="http://schemas.microsoft.com/office/drawing/2014/main" id="{F13E15A4-5019-114B-8D07-FE5BB706219D}"/>
                </a:ext>
              </a:extLst>
            </p:cNvPr>
            <p:cNvCxnSpPr>
              <a:cxnSpLocks/>
              <a:stCxn id="59" idx="3"/>
              <a:endCxn id="35" idx="0"/>
            </p:cNvCxnSpPr>
            <p:nvPr/>
          </p:nvCxnSpPr>
          <p:spPr>
            <a:xfrm flipH="1">
              <a:off x="3710881" y="4514882"/>
              <a:ext cx="639756" cy="41832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9" name="Straight Arrow Connector 38">
              <a:extLst>
                <a:ext uri="{FF2B5EF4-FFF2-40B4-BE49-F238E27FC236}">
                  <a16:creationId xmlns:a16="http://schemas.microsoft.com/office/drawing/2014/main" id="{367BD347-25F5-7C46-BBB3-F0D4026AFB4D}"/>
                </a:ext>
              </a:extLst>
            </p:cNvPr>
            <p:cNvCxnSpPr>
              <a:cxnSpLocks/>
              <a:stCxn id="60" idx="4"/>
              <a:endCxn id="36" idx="0"/>
            </p:cNvCxnSpPr>
            <p:nvPr/>
          </p:nvCxnSpPr>
          <p:spPr>
            <a:xfrm>
              <a:off x="5337697" y="4564079"/>
              <a:ext cx="337397" cy="43526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0" name="Straight Arrow Connector 39">
              <a:extLst>
                <a:ext uri="{FF2B5EF4-FFF2-40B4-BE49-F238E27FC236}">
                  <a16:creationId xmlns:a16="http://schemas.microsoft.com/office/drawing/2014/main" id="{24DF391D-F345-1A42-B6C7-5D6088A62DCB}"/>
                </a:ext>
              </a:extLst>
            </p:cNvPr>
            <p:cNvCxnSpPr>
              <a:cxnSpLocks/>
              <a:stCxn id="58" idx="5"/>
              <a:endCxn id="37" idx="0"/>
            </p:cNvCxnSpPr>
            <p:nvPr/>
          </p:nvCxnSpPr>
          <p:spPr>
            <a:xfrm>
              <a:off x="5227441" y="3664087"/>
              <a:ext cx="937557" cy="65153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41" name="TextBox 40">
              <a:extLst>
                <a:ext uri="{FF2B5EF4-FFF2-40B4-BE49-F238E27FC236}">
                  <a16:creationId xmlns:a16="http://schemas.microsoft.com/office/drawing/2014/main" id="{8A73FCB3-C0F2-8343-BA6E-EC3B9BC33109}"/>
                </a:ext>
              </a:extLst>
            </p:cNvPr>
            <p:cNvSpPr txBox="1"/>
            <p:nvPr/>
          </p:nvSpPr>
          <p:spPr>
            <a:xfrm>
              <a:off x="5361807" y="4510104"/>
              <a:ext cx="466794" cy="261610"/>
            </a:xfrm>
            <a:prstGeom prst="rect">
              <a:avLst/>
            </a:prstGeom>
            <a:noFill/>
          </p:spPr>
          <p:txBody>
            <a:bodyPr wrap="none" rtlCol="0">
              <a:spAutoFit/>
            </a:bodyPr>
            <a:lstStyle/>
            <a:p>
              <a:r>
                <a:rPr lang="zh-CN" altLang="en-US" sz="1100" dirty="0"/>
                <a:t>小明</a:t>
              </a:r>
              <a:endParaRPr lang="en-CN" sz="1100" dirty="0"/>
            </a:p>
          </p:txBody>
        </p:sp>
        <p:sp>
          <p:nvSpPr>
            <p:cNvPr id="42" name="TextBox 41">
              <a:extLst>
                <a:ext uri="{FF2B5EF4-FFF2-40B4-BE49-F238E27FC236}">
                  <a16:creationId xmlns:a16="http://schemas.microsoft.com/office/drawing/2014/main" id="{48A353C1-7539-6C4E-B31F-15323DFF11CE}"/>
                </a:ext>
              </a:extLst>
            </p:cNvPr>
            <p:cNvSpPr txBox="1"/>
            <p:nvPr/>
          </p:nvSpPr>
          <p:spPr>
            <a:xfrm>
              <a:off x="5461984" y="3729422"/>
              <a:ext cx="474810" cy="261610"/>
            </a:xfrm>
            <a:prstGeom prst="rect">
              <a:avLst/>
            </a:prstGeom>
            <a:noFill/>
          </p:spPr>
          <p:txBody>
            <a:bodyPr wrap="none" rtlCol="0">
              <a:spAutoFit/>
            </a:bodyPr>
            <a:lstStyle/>
            <a:p>
              <a:r>
                <a:rPr lang="en-US" altLang="zh-CN" sz="1100" dirty="0"/>
                <a:t>boot</a:t>
              </a:r>
            </a:p>
          </p:txBody>
        </p:sp>
        <p:sp>
          <p:nvSpPr>
            <p:cNvPr id="43" name="TextBox 42">
              <a:extLst>
                <a:ext uri="{FF2B5EF4-FFF2-40B4-BE49-F238E27FC236}">
                  <a16:creationId xmlns:a16="http://schemas.microsoft.com/office/drawing/2014/main" id="{E72CCC33-A38F-004F-94EA-AC329C7A0EAD}"/>
                </a:ext>
              </a:extLst>
            </p:cNvPr>
            <p:cNvSpPr txBox="1"/>
            <p:nvPr/>
          </p:nvSpPr>
          <p:spPr>
            <a:xfrm>
              <a:off x="5414008" y="3170153"/>
              <a:ext cx="522172" cy="224732"/>
            </a:xfrm>
            <a:prstGeom prst="rect">
              <a:avLst/>
            </a:prstGeom>
            <a:noFill/>
          </p:spPr>
          <p:txBody>
            <a:bodyPr wrap="none" rtlCol="0">
              <a:spAutoFit/>
            </a:bodyPr>
            <a:lstStyle/>
            <a:p>
              <a:r>
                <a:rPr lang="zh-CN" altLang="en-US" sz="1100" dirty="0"/>
                <a:t>根</a:t>
              </a:r>
              <a:r>
                <a:rPr lang="zh-CN" altLang="en-CN" sz="1100" dirty="0"/>
                <a:t>目录</a:t>
              </a:r>
              <a:endParaRPr lang="en-CN" sz="1100" dirty="0"/>
            </a:p>
          </p:txBody>
        </p:sp>
        <p:sp>
          <p:nvSpPr>
            <p:cNvPr id="44" name="Oval 43">
              <a:extLst>
                <a:ext uri="{FF2B5EF4-FFF2-40B4-BE49-F238E27FC236}">
                  <a16:creationId xmlns:a16="http://schemas.microsoft.com/office/drawing/2014/main" id="{4840414C-386B-E54A-B9E4-6FB27029EB53}"/>
                </a:ext>
              </a:extLst>
            </p:cNvPr>
            <p:cNvSpPr/>
            <p:nvPr/>
          </p:nvSpPr>
          <p:spPr>
            <a:xfrm>
              <a:off x="4171233" y="493623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9</a:t>
              </a:r>
              <a:endParaRPr lang="en-CN" sz="1100" dirty="0"/>
            </a:p>
          </p:txBody>
        </p:sp>
        <p:cxnSp>
          <p:nvCxnSpPr>
            <p:cNvPr id="46" name="Straight Arrow Connector 45">
              <a:extLst>
                <a:ext uri="{FF2B5EF4-FFF2-40B4-BE49-F238E27FC236}">
                  <a16:creationId xmlns:a16="http://schemas.microsoft.com/office/drawing/2014/main" id="{1C18F889-6A46-1748-8D06-EFB2FA2D17D8}"/>
                </a:ext>
              </a:extLst>
            </p:cNvPr>
            <p:cNvCxnSpPr>
              <a:cxnSpLocks/>
              <a:stCxn id="59" idx="4"/>
              <a:endCxn id="44" idx="0"/>
            </p:cNvCxnSpPr>
            <p:nvPr/>
          </p:nvCxnSpPr>
          <p:spPr>
            <a:xfrm flipH="1">
              <a:off x="4305844" y="4554308"/>
              <a:ext cx="139977" cy="38192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48" name="Rectangle 47">
              <a:extLst>
                <a:ext uri="{FF2B5EF4-FFF2-40B4-BE49-F238E27FC236}">
                  <a16:creationId xmlns:a16="http://schemas.microsoft.com/office/drawing/2014/main" id="{45697903-D525-A646-8324-010DC53ED9BF}"/>
                </a:ext>
              </a:extLst>
            </p:cNvPr>
            <p:cNvSpPr/>
            <p:nvPr/>
          </p:nvSpPr>
          <p:spPr>
            <a:xfrm>
              <a:off x="3639682" y="4211238"/>
              <a:ext cx="1153683" cy="61510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49" name="TextBox 48">
              <a:extLst>
                <a:ext uri="{FF2B5EF4-FFF2-40B4-BE49-F238E27FC236}">
                  <a16:creationId xmlns:a16="http://schemas.microsoft.com/office/drawing/2014/main" id="{85527DA3-4AAC-6745-B4E2-90E9D47EEB3D}"/>
                </a:ext>
              </a:extLst>
            </p:cNvPr>
            <p:cNvSpPr txBox="1"/>
            <p:nvPr/>
          </p:nvSpPr>
          <p:spPr>
            <a:xfrm>
              <a:off x="4457257" y="3723474"/>
              <a:ext cx="373820" cy="261610"/>
            </a:xfrm>
            <a:prstGeom prst="rect">
              <a:avLst/>
            </a:prstGeom>
            <a:noFill/>
          </p:spPr>
          <p:txBody>
            <a:bodyPr wrap="none" rtlCol="0">
              <a:spAutoFit/>
            </a:bodyPr>
            <a:lstStyle/>
            <a:p>
              <a:r>
                <a:rPr lang="en-US" altLang="zh-CN" sz="1100" dirty="0"/>
                <a:t>bin</a:t>
              </a:r>
              <a:endParaRPr lang="en-CN" sz="1100" dirty="0"/>
            </a:p>
          </p:txBody>
        </p:sp>
        <p:sp>
          <p:nvSpPr>
            <p:cNvPr id="50" name="TextBox 49">
              <a:extLst>
                <a:ext uri="{FF2B5EF4-FFF2-40B4-BE49-F238E27FC236}">
                  <a16:creationId xmlns:a16="http://schemas.microsoft.com/office/drawing/2014/main" id="{6521FA43-BE0F-214B-8726-3561BAF8D169}"/>
                </a:ext>
              </a:extLst>
            </p:cNvPr>
            <p:cNvSpPr txBox="1"/>
            <p:nvPr/>
          </p:nvSpPr>
          <p:spPr>
            <a:xfrm>
              <a:off x="3639681" y="4477868"/>
              <a:ext cx="287258" cy="261610"/>
            </a:xfrm>
            <a:prstGeom prst="rect">
              <a:avLst/>
            </a:prstGeom>
            <a:noFill/>
          </p:spPr>
          <p:txBody>
            <a:bodyPr wrap="none" rtlCol="0">
              <a:spAutoFit/>
            </a:bodyPr>
            <a:lstStyle/>
            <a:p>
              <a:r>
                <a:rPr lang="en-CN" altLang="zh-CN" sz="1100" dirty="0"/>
                <a:t>ls</a:t>
              </a:r>
              <a:endParaRPr lang="en-CN" sz="1100" dirty="0"/>
            </a:p>
          </p:txBody>
        </p:sp>
        <p:sp>
          <p:nvSpPr>
            <p:cNvPr id="51" name="TextBox 50">
              <a:extLst>
                <a:ext uri="{FF2B5EF4-FFF2-40B4-BE49-F238E27FC236}">
                  <a16:creationId xmlns:a16="http://schemas.microsoft.com/office/drawing/2014/main" id="{DC0C112B-73EB-6B47-A4DE-2DF5C3DE71C2}"/>
                </a:ext>
              </a:extLst>
            </p:cNvPr>
            <p:cNvSpPr txBox="1"/>
            <p:nvPr/>
          </p:nvSpPr>
          <p:spPr>
            <a:xfrm>
              <a:off x="4079845" y="4578217"/>
              <a:ext cx="365806" cy="261610"/>
            </a:xfrm>
            <a:prstGeom prst="rect">
              <a:avLst/>
            </a:prstGeom>
            <a:noFill/>
          </p:spPr>
          <p:txBody>
            <a:bodyPr wrap="none" rtlCol="0">
              <a:spAutoFit/>
            </a:bodyPr>
            <a:lstStyle/>
            <a:p>
              <a:r>
                <a:rPr lang="en-US" altLang="zh-CN" sz="1100" dirty="0" err="1"/>
                <a:t>init</a:t>
              </a:r>
              <a:endParaRPr lang="en-CN" sz="1100" dirty="0"/>
            </a:p>
          </p:txBody>
        </p:sp>
        <p:sp>
          <p:nvSpPr>
            <p:cNvPr id="52" name="Rectangle 51">
              <a:extLst>
                <a:ext uri="{FF2B5EF4-FFF2-40B4-BE49-F238E27FC236}">
                  <a16:creationId xmlns:a16="http://schemas.microsoft.com/office/drawing/2014/main" id="{55197CE3-5D8C-DC44-B189-77CFA37F891E}"/>
                </a:ext>
              </a:extLst>
            </p:cNvPr>
            <p:cNvSpPr/>
            <p:nvPr/>
          </p:nvSpPr>
          <p:spPr>
            <a:xfrm>
              <a:off x="4944894" y="4211238"/>
              <a:ext cx="883707"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53" name="Rectangle 52">
              <a:extLst>
                <a:ext uri="{FF2B5EF4-FFF2-40B4-BE49-F238E27FC236}">
                  <a16:creationId xmlns:a16="http://schemas.microsoft.com/office/drawing/2014/main" id="{343148EB-D979-BE43-9A48-B2F54AED701A}"/>
                </a:ext>
              </a:extLst>
            </p:cNvPr>
            <p:cNvSpPr/>
            <p:nvPr/>
          </p:nvSpPr>
          <p:spPr>
            <a:xfrm>
              <a:off x="4259759" y="3408136"/>
              <a:ext cx="2184449" cy="65068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54" name="Straight Arrow Connector 53">
              <a:extLst>
                <a:ext uri="{FF2B5EF4-FFF2-40B4-BE49-F238E27FC236}">
                  <a16:creationId xmlns:a16="http://schemas.microsoft.com/office/drawing/2014/main" id="{7A402A83-A74A-4148-BD6E-7D7E9FA515CB}"/>
                </a:ext>
              </a:extLst>
            </p:cNvPr>
            <p:cNvCxnSpPr>
              <a:cxnSpLocks/>
              <a:stCxn id="58" idx="4"/>
              <a:endCxn id="60" idx="0"/>
            </p:cNvCxnSpPr>
            <p:nvPr/>
          </p:nvCxnSpPr>
          <p:spPr>
            <a:xfrm>
              <a:off x="5132257" y="3703514"/>
              <a:ext cx="205440" cy="591344"/>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55" name="Straight Arrow Connector 54">
              <a:extLst>
                <a:ext uri="{FF2B5EF4-FFF2-40B4-BE49-F238E27FC236}">
                  <a16:creationId xmlns:a16="http://schemas.microsoft.com/office/drawing/2014/main" id="{94403563-7415-9B46-B47E-9E2E5F81A940}"/>
                </a:ext>
              </a:extLst>
            </p:cNvPr>
            <p:cNvCxnSpPr>
              <a:cxnSpLocks/>
              <a:stCxn id="58" idx="3"/>
              <a:endCxn id="59" idx="0"/>
            </p:cNvCxnSpPr>
            <p:nvPr/>
          </p:nvCxnSpPr>
          <p:spPr>
            <a:xfrm flipH="1">
              <a:off x="4445821" y="3664088"/>
              <a:ext cx="591253" cy="6210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56" name="TextBox 55">
              <a:extLst>
                <a:ext uri="{FF2B5EF4-FFF2-40B4-BE49-F238E27FC236}">
                  <a16:creationId xmlns:a16="http://schemas.microsoft.com/office/drawing/2014/main" id="{EA35FFC1-5C26-8A46-8D6F-B957125E6A34}"/>
                </a:ext>
              </a:extLst>
            </p:cNvPr>
            <p:cNvSpPr txBox="1"/>
            <p:nvPr/>
          </p:nvSpPr>
          <p:spPr>
            <a:xfrm>
              <a:off x="4946601" y="3751225"/>
              <a:ext cx="537327" cy="261610"/>
            </a:xfrm>
            <a:prstGeom prst="rect">
              <a:avLst/>
            </a:prstGeom>
            <a:noFill/>
          </p:spPr>
          <p:txBody>
            <a:bodyPr wrap="none" rtlCol="0">
              <a:spAutoFit/>
            </a:bodyPr>
            <a:lstStyle/>
            <a:p>
              <a:r>
                <a:rPr lang="en-US" altLang="zh-CN" sz="1100" dirty="0"/>
                <a:t>home</a:t>
              </a:r>
              <a:endParaRPr lang="en-CN" sz="1100" dirty="0"/>
            </a:p>
          </p:txBody>
        </p:sp>
        <p:sp>
          <p:nvSpPr>
            <p:cNvPr id="58" name="Oval 57">
              <a:extLst>
                <a:ext uri="{FF2B5EF4-FFF2-40B4-BE49-F238E27FC236}">
                  <a16:creationId xmlns:a16="http://schemas.microsoft.com/office/drawing/2014/main" id="{DE21BFEE-069F-D947-9811-7B6EA1A4CB42}"/>
                </a:ext>
              </a:extLst>
            </p:cNvPr>
            <p:cNvSpPr/>
            <p:nvPr/>
          </p:nvSpPr>
          <p:spPr>
            <a:xfrm>
              <a:off x="4997647" y="343429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59" name="Oval 58">
              <a:extLst>
                <a:ext uri="{FF2B5EF4-FFF2-40B4-BE49-F238E27FC236}">
                  <a16:creationId xmlns:a16="http://schemas.microsoft.com/office/drawing/2014/main" id="{89F98251-67C5-4444-BD22-703C9F9CE3E4}"/>
                </a:ext>
              </a:extLst>
            </p:cNvPr>
            <p:cNvSpPr/>
            <p:nvPr/>
          </p:nvSpPr>
          <p:spPr>
            <a:xfrm>
              <a:off x="4311210" y="428508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7</a:t>
              </a:r>
              <a:endParaRPr lang="en-CN" sz="1100" dirty="0"/>
            </a:p>
          </p:txBody>
        </p:sp>
        <p:sp>
          <p:nvSpPr>
            <p:cNvPr id="60" name="Oval 59">
              <a:extLst>
                <a:ext uri="{FF2B5EF4-FFF2-40B4-BE49-F238E27FC236}">
                  <a16:creationId xmlns:a16="http://schemas.microsoft.com/office/drawing/2014/main" id="{440FAE1F-7181-484F-AA73-7E82642CFAE8}"/>
                </a:ext>
              </a:extLst>
            </p:cNvPr>
            <p:cNvSpPr/>
            <p:nvPr/>
          </p:nvSpPr>
          <p:spPr>
            <a:xfrm>
              <a:off x="5203086" y="429485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4</a:t>
              </a:r>
              <a:endParaRPr lang="en-CN" sz="1100" dirty="0"/>
            </a:p>
          </p:txBody>
        </p:sp>
        <p:sp>
          <p:nvSpPr>
            <p:cNvPr id="61" name="Rectangle 60">
              <a:extLst>
                <a:ext uri="{FF2B5EF4-FFF2-40B4-BE49-F238E27FC236}">
                  <a16:creationId xmlns:a16="http://schemas.microsoft.com/office/drawing/2014/main" id="{844E360D-E417-B240-B634-4CF998D7EFAE}"/>
                </a:ext>
              </a:extLst>
            </p:cNvPr>
            <p:cNvSpPr/>
            <p:nvPr/>
          </p:nvSpPr>
          <p:spPr>
            <a:xfrm>
              <a:off x="5878858" y="4211238"/>
              <a:ext cx="56535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63" name="Oval 62">
              <a:extLst>
                <a:ext uri="{FF2B5EF4-FFF2-40B4-BE49-F238E27FC236}">
                  <a16:creationId xmlns:a16="http://schemas.microsoft.com/office/drawing/2014/main" id="{DF49E372-ABC6-7148-81EA-EEA60A94C18A}"/>
                </a:ext>
              </a:extLst>
            </p:cNvPr>
            <p:cNvSpPr/>
            <p:nvPr/>
          </p:nvSpPr>
          <p:spPr>
            <a:xfrm>
              <a:off x="4944423" y="5009598"/>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6</a:t>
              </a:r>
              <a:endParaRPr lang="en-CN" sz="1100" dirty="0"/>
            </a:p>
          </p:txBody>
        </p:sp>
        <p:cxnSp>
          <p:nvCxnSpPr>
            <p:cNvPr id="64" name="Straight Arrow Connector 63">
              <a:extLst>
                <a:ext uri="{FF2B5EF4-FFF2-40B4-BE49-F238E27FC236}">
                  <a16:creationId xmlns:a16="http://schemas.microsoft.com/office/drawing/2014/main" id="{1AEF4ABD-3E1E-D840-9E37-911292F99E2B}"/>
                </a:ext>
              </a:extLst>
            </p:cNvPr>
            <p:cNvCxnSpPr>
              <a:cxnSpLocks/>
              <a:stCxn id="60" idx="4"/>
              <a:endCxn id="63" idx="7"/>
            </p:cNvCxnSpPr>
            <p:nvPr/>
          </p:nvCxnSpPr>
          <p:spPr>
            <a:xfrm flipH="1">
              <a:off x="5174217" y="4564079"/>
              <a:ext cx="163480" cy="484946"/>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67" name="TextBox 66">
              <a:extLst>
                <a:ext uri="{FF2B5EF4-FFF2-40B4-BE49-F238E27FC236}">
                  <a16:creationId xmlns:a16="http://schemas.microsoft.com/office/drawing/2014/main" id="{04C093EF-49AD-F442-BD43-20B72F9D3AE5}"/>
                </a:ext>
              </a:extLst>
            </p:cNvPr>
            <p:cNvSpPr txBox="1"/>
            <p:nvPr/>
          </p:nvSpPr>
          <p:spPr>
            <a:xfrm>
              <a:off x="4882939" y="4510104"/>
              <a:ext cx="466794" cy="261610"/>
            </a:xfrm>
            <a:prstGeom prst="rect">
              <a:avLst/>
            </a:prstGeom>
            <a:noFill/>
          </p:spPr>
          <p:txBody>
            <a:bodyPr wrap="none" rtlCol="0">
              <a:spAutoFit/>
            </a:bodyPr>
            <a:lstStyle/>
            <a:p>
              <a:r>
                <a:rPr lang="zh-CN" altLang="en-US" sz="1100" dirty="0"/>
                <a:t>小红</a:t>
              </a:r>
              <a:endParaRPr lang="en-CN" sz="1100" dirty="0"/>
            </a:p>
          </p:txBody>
        </p:sp>
      </p:grpSp>
      <p:sp>
        <p:nvSpPr>
          <p:cNvPr id="68" name="TextBox 67">
            <a:extLst>
              <a:ext uri="{FF2B5EF4-FFF2-40B4-BE49-F238E27FC236}">
                <a16:creationId xmlns:a16="http://schemas.microsoft.com/office/drawing/2014/main" id="{31BA4993-C634-A344-8219-B1C71D3D622D}"/>
              </a:ext>
            </a:extLst>
          </p:cNvPr>
          <p:cNvSpPr txBox="1"/>
          <p:nvPr/>
        </p:nvSpPr>
        <p:spPr>
          <a:xfrm>
            <a:off x="311840" y="2800951"/>
            <a:ext cx="1119217" cy="338554"/>
          </a:xfrm>
          <a:prstGeom prst="rect">
            <a:avLst/>
          </a:prstGeom>
          <a:noFill/>
        </p:spPr>
        <p:txBody>
          <a:bodyPr wrap="none" rtlCol="0">
            <a:spAutoFit/>
          </a:bodyPr>
          <a:lstStyle/>
          <a:p>
            <a:r>
              <a:rPr lang="zh-CN" altLang="en-CN" sz="1600" dirty="0"/>
              <a:t>文件系统</a:t>
            </a:r>
            <a:r>
              <a:rPr lang="en-US" altLang="zh-CN" sz="1600" dirty="0"/>
              <a:t>1</a:t>
            </a:r>
            <a:endParaRPr lang="en-CN" sz="1600" dirty="0"/>
          </a:p>
        </p:txBody>
      </p:sp>
      <p:sp>
        <p:nvSpPr>
          <p:cNvPr id="70" name="TextBox 69">
            <a:extLst>
              <a:ext uri="{FF2B5EF4-FFF2-40B4-BE49-F238E27FC236}">
                <a16:creationId xmlns:a16="http://schemas.microsoft.com/office/drawing/2014/main" id="{6B62EAD1-C53A-C548-9540-9727B7D17624}"/>
              </a:ext>
            </a:extLst>
          </p:cNvPr>
          <p:cNvSpPr txBox="1"/>
          <p:nvPr/>
        </p:nvSpPr>
        <p:spPr>
          <a:xfrm>
            <a:off x="5095683" y="2800951"/>
            <a:ext cx="1119217" cy="338554"/>
          </a:xfrm>
          <a:prstGeom prst="rect">
            <a:avLst/>
          </a:prstGeom>
          <a:noFill/>
        </p:spPr>
        <p:txBody>
          <a:bodyPr wrap="none" rtlCol="0">
            <a:spAutoFit/>
          </a:bodyPr>
          <a:lstStyle/>
          <a:p>
            <a:r>
              <a:rPr lang="zh-CN" altLang="en-CN" sz="1600" dirty="0"/>
              <a:t>文件系统</a:t>
            </a:r>
            <a:r>
              <a:rPr lang="en-US" altLang="zh-CN" sz="1600" dirty="0"/>
              <a:t>2</a:t>
            </a:r>
            <a:endParaRPr lang="en-CN" sz="1600" dirty="0"/>
          </a:p>
        </p:txBody>
      </p:sp>
      <p:sp>
        <p:nvSpPr>
          <p:cNvPr id="62" name="Rectangle 61">
            <a:extLst>
              <a:ext uri="{FF2B5EF4-FFF2-40B4-BE49-F238E27FC236}">
                <a16:creationId xmlns:a16="http://schemas.microsoft.com/office/drawing/2014/main" id="{267AD4A6-8D32-5142-9DBC-98B783FAF4C5}"/>
              </a:ext>
            </a:extLst>
          </p:cNvPr>
          <p:cNvSpPr/>
          <p:nvPr/>
        </p:nvSpPr>
        <p:spPr>
          <a:xfrm>
            <a:off x="6516217" y="4868696"/>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65" name="Rectangle 64">
            <a:extLst>
              <a:ext uri="{FF2B5EF4-FFF2-40B4-BE49-F238E27FC236}">
                <a16:creationId xmlns:a16="http://schemas.microsoft.com/office/drawing/2014/main" id="{B5FE39B0-E146-5845-914D-0F18DCE812CE}"/>
              </a:ext>
            </a:extLst>
          </p:cNvPr>
          <p:cNvSpPr/>
          <p:nvPr/>
        </p:nvSpPr>
        <p:spPr>
          <a:xfrm>
            <a:off x="7098326" y="4864736"/>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32" name="Slide Number Placeholder 31">
            <a:extLst>
              <a:ext uri="{FF2B5EF4-FFF2-40B4-BE49-F238E27FC236}">
                <a16:creationId xmlns:a16="http://schemas.microsoft.com/office/drawing/2014/main" id="{9D0B7E6D-448D-FF4E-88F3-D07CBEF8820F}"/>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Tree>
    <p:extLst>
      <p:ext uri="{BB962C8B-B14F-4D97-AF65-F5344CB8AC3E}">
        <p14:creationId xmlns:p14="http://schemas.microsoft.com/office/powerpoint/2010/main" val="1685115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6141-A05D-4549-B084-C66B2EC34F4C}"/>
              </a:ext>
            </a:extLst>
          </p:cNvPr>
          <p:cNvSpPr>
            <a:spLocks noGrp="1"/>
          </p:cNvSpPr>
          <p:nvPr>
            <p:ph type="title"/>
          </p:nvPr>
        </p:nvSpPr>
        <p:spPr/>
        <p:txBody>
          <a:bodyPr/>
          <a:lstStyle/>
          <a:p>
            <a:r>
              <a:rPr lang="zh-CN" altLang="en-US" dirty="0"/>
              <a:t>虚拟</a:t>
            </a:r>
            <a:r>
              <a:rPr lang="zh-CN" altLang="en-CN" dirty="0"/>
              <a:t>文件系统</a:t>
            </a:r>
            <a:r>
              <a:rPr lang="zh-CN" altLang="en-US" dirty="0"/>
              <a:t> </a:t>
            </a:r>
            <a:r>
              <a:rPr lang="en-US" altLang="zh-CN" dirty="0"/>
              <a:t>VFS</a:t>
            </a:r>
            <a:endParaRPr lang="en-CN" dirty="0"/>
          </a:p>
        </p:txBody>
      </p:sp>
      <p:sp>
        <p:nvSpPr>
          <p:cNvPr id="3" name="Content Placeholder 2">
            <a:extLst>
              <a:ext uri="{FF2B5EF4-FFF2-40B4-BE49-F238E27FC236}">
                <a16:creationId xmlns:a16="http://schemas.microsoft.com/office/drawing/2014/main" id="{E6A36AF6-D7C1-6E44-BE6C-D8CD5935711E}"/>
              </a:ext>
            </a:extLst>
          </p:cNvPr>
          <p:cNvSpPr>
            <a:spLocks noGrp="1"/>
          </p:cNvSpPr>
          <p:nvPr>
            <p:ph idx="1"/>
          </p:nvPr>
        </p:nvSpPr>
        <p:spPr/>
        <p:txBody>
          <a:bodyPr>
            <a:normAutofit/>
          </a:bodyPr>
          <a:lstStyle/>
          <a:p>
            <a:pPr marL="0" indent="0">
              <a:buNone/>
            </a:pPr>
            <a:r>
              <a:rPr lang="en-CN" altLang="zh-CN" sz="1800" b="0" dirty="0"/>
              <a:t>VFS</a:t>
            </a:r>
            <a:r>
              <a:rPr lang="zh-CN" altLang="en-US" sz="1800" b="0" dirty="0"/>
              <a:t>维护一个统一的文件系统树</a:t>
            </a:r>
            <a:endParaRPr lang="en-US" altLang="zh-CN" sz="1800" b="0" dirty="0"/>
          </a:p>
          <a:p>
            <a:pPr marL="0" indent="0">
              <a:buNone/>
            </a:pPr>
            <a:r>
              <a:rPr lang="zh-CN" altLang="en-US" sz="1800" b="0" dirty="0"/>
              <a:t>操作系统内核启动时会挂载一个根文件系统</a:t>
            </a:r>
            <a:endParaRPr lang="en-US" altLang="zh-CN" sz="1800" b="0" dirty="0"/>
          </a:p>
          <a:p>
            <a:pPr marL="0" indent="0">
              <a:buNone/>
            </a:pPr>
            <a:r>
              <a:rPr lang="zh-CN" altLang="en-US" sz="1800" b="0" dirty="0"/>
              <a:t>其他文件系统可以</a:t>
            </a:r>
            <a:r>
              <a:rPr lang="zh-CN" altLang="en-US" sz="1800" dirty="0"/>
              <a:t>挂载</a:t>
            </a:r>
            <a:r>
              <a:rPr lang="zh-CN" altLang="en-US" sz="1800" b="0" dirty="0"/>
              <a:t>在文件系统树的目录上</a:t>
            </a:r>
            <a:endParaRPr lang="en-US" altLang="zh-CN" sz="1800" b="0" dirty="0"/>
          </a:p>
          <a:p>
            <a:pPr marL="0" indent="0">
              <a:buNone/>
            </a:pPr>
            <a:endParaRPr lang="en-CN" sz="1800" b="0" dirty="0"/>
          </a:p>
        </p:txBody>
      </p:sp>
      <p:sp>
        <p:nvSpPr>
          <p:cNvPr id="4" name="Footer Placeholder 3">
            <a:extLst>
              <a:ext uri="{FF2B5EF4-FFF2-40B4-BE49-F238E27FC236}">
                <a16:creationId xmlns:a16="http://schemas.microsoft.com/office/drawing/2014/main" id="{F1365FF2-22A1-3741-83E0-9E3963E95DF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33" name="TextBox 32">
            <a:extLst>
              <a:ext uri="{FF2B5EF4-FFF2-40B4-BE49-F238E27FC236}">
                <a16:creationId xmlns:a16="http://schemas.microsoft.com/office/drawing/2014/main" id="{7E90F869-A00F-C54E-8E49-718581374540}"/>
              </a:ext>
            </a:extLst>
          </p:cNvPr>
          <p:cNvSpPr txBox="1"/>
          <p:nvPr/>
        </p:nvSpPr>
        <p:spPr>
          <a:xfrm>
            <a:off x="4821627" y="429358"/>
            <a:ext cx="2555508" cy="338554"/>
          </a:xfrm>
          <a:prstGeom prst="rect">
            <a:avLst/>
          </a:prstGeom>
          <a:noFill/>
        </p:spPr>
        <p:txBody>
          <a:bodyPr wrap="none" rtlCol="0">
            <a:spAutoFit/>
          </a:bodyPr>
          <a:lstStyle/>
          <a:p>
            <a:r>
              <a:rPr lang="zh-CN" altLang="en-CN" sz="1600" dirty="0"/>
              <a:t>文件系统</a:t>
            </a:r>
            <a:r>
              <a:rPr lang="en-US" altLang="zh-CN" sz="1600" dirty="0"/>
              <a:t>2</a:t>
            </a:r>
            <a:r>
              <a:rPr lang="zh-CN" altLang="en-US" sz="1600" dirty="0"/>
              <a:t>作为根文件系统</a:t>
            </a:r>
            <a:endParaRPr lang="en-CN" sz="1600" dirty="0"/>
          </a:p>
        </p:txBody>
      </p:sp>
      <p:sp>
        <p:nvSpPr>
          <p:cNvPr id="61" name="TextBox 60">
            <a:extLst>
              <a:ext uri="{FF2B5EF4-FFF2-40B4-BE49-F238E27FC236}">
                <a16:creationId xmlns:a16="http://schemas.microsoft.com/office/drawing/2014/main" id="{836EB661-69CD-4140-B7B3-C0B17CD672B2}"/>
              </a:ext>
            </a:extLst>
          </p:cNvPr>
          <p:cNvSpPr txBox="1"/>
          <p:nvPr/>
        </p:nvSpPr>
        <p:spPr>
          <a:xfrm>
            <a:off x="4876772" y="3201279"/>
            <a:ext cx="1119217" cy="338554"/>
          </a:xfrm>
          <a:prstGeom prst="rect">
            <a:avLst/>
          </a:prstGeom>
          <a:noFill/>
        </p:spPr>
        <p:txBody>
          <a:bodyPr wrap="none" rtlCol="0">
            <a:spAutoFit/>
          </a:bodyPr>
          <a:lstStyle/>
          <a:p>
            <a:r>
              <a:rPr lang="zh-CN" altLang="en-CN" sz="1600" dirty="0"/>
              <a:t>文件系统</a:t>
            </a:r>
            <a:r>
              <a:rPr lang="en-US" altLang="zh-CN" sz="1600" dirty="0"/>
              <a:t>1</a:t>
            </a:r>
            <a:endParaRPr lang="en-CN" sz="1600" dirty="0"/>
          </a:p>
        </p:txBody>
      </p:sp>
      <p:grpSp>
        <p:nvGrpSpPr>
          <p:cNvPr id="62" name="Group 61">
            <a:extLst>
              <a:ext uri="{FF2B5EF4-FFF2-40B4-BE49-F238E27FC236}">
                <a16:creationId xmlns:a16="http://schemas.microsoft.com/office/drawing/2014/main" id="{E1C7DE0F-ED64-AD4C-8465-2DC0DA3FB6C1}"/>
              </a:ext>
            </a:extLst>
          </p:cNvPr>
          <p:cNvGrpSpPr/>
          <p:nvPr/>
        </p:nvGrpSpPr>
        <p:grpSpPr>
          <a:xfrm>
            <a:off x="5162229" y="2929223"/>
            <a:ext cx="2614748" cy="2015554"/>
            <a:chOff x="4218630" y="898053"/>
            <a:chExt cx="4841503" cy="3732028"/>
          </a:xfrm>
        </p:grpSpPr>
        <p:sp>
          <p:nvSpPr>
            <p:cNvPr id="63" name="Oval 62">
              <a:extLst>
                <a:ext uri="{FF2B5EF4-FFF2-40B4-BE49-F238E27FC236}">
                  <a16:creationId xmlns:a16="http://schemas.microsoft.com/office/drawing/2014/main" id="{422490A0-B2BF-324F-8DAB-2CF6ECD85F9C}"/>
                </a:ext>
              </a:extLst>
            </p:cNvPr>
            <p:cNvSpPr/>
            <p:nvPr/>
          </p:nvSpPr>
          <p:spPr>
            <a:xfrm>
              <a:off x="4218630" y="412597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64" name="Oval 63">
              <a:extLst>
                <a:ext uri="{FF2B5EF4-FFF2-40B4-BE49-F238E27FC236}">
                  <a16:creationId xmlns:a16="http://schemas.microsoft.com/office/drawing/2014/main" id="{8AFC18B9-9A9D-9C4E-A2E2-C4346865223B}"/>
                </a:ext>
              </a:extLst>
            </p:cNvPr>
            <p:cNvSpPr/>
            <p:nvPr/>
          </p:nvSpPr>
          <p:spPr>
            <a:xfrm>
              <a:off x="7729955" y="4080602"/>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65" name="Oval 64">
              <a:extLst>
                <a:ext uri="{FF2B5EF4-FFF2-40B4-BE49-F238E27FC236}">
                  <a16:creationId xmlns:a16="http://schemas.microsoft.com/office/drawing/2014/main" id="{308BA0DF-C211-9241-80B5-4C59E2B7B40F}"/>
                </a:ext>
              </a:extLst>
            </p:cNvPr>
            <p:cNvSpPr/>
            <p:nvPr/>
          </p:nvSpPr>
          <p:spPr>
            <a:xfrm>
              <a:off x="8539206" y="303362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66" name="Straight Arrow Connector 65">
              <a:extLst>
                <a:ext uri="{FF2B5EF4-FFF2-40B4-BE49-F238E27FC236}">
                  <a16:creationId xmlns:a16="http://schemas.microsoft.com/office/drawing/2014/main" id="{315E1CE2-51F6-1145-9EFA-F443A3C494F4}"/>
                </a:ext>
              </a:extLst>
            </p:cNvPr>
            <p:cNvCxnSpPr>
              <a:cxnSpLocks/>
              <a:stCxn id="87" idx="3"/>
              <a:endCxn id="63" idx="0"/>
            </p:cNvCxnSpPr>
            <p:nvPr/>
          </p:nvCxnSpPr>
          <p:spPr>
            <a:xfrm flipH="1">
              <a:off x="4467877" y="3351408"/>
              <a:ext cx="1184581" cy="77457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7" name="Straight Arrow Connector 66">
              <a:extLst>
                <a:ext uri="{FF2B5EF4-FFF2-40B4-BE49-F238E27FC236}">
                  <a16:creationId xmlns:a16="http://schemas.microsoft.com/office/drawing/2014/main" id="{1FE5EEFF-92F2-BF4E-89B4-36A81C41E055}"/>
                </a:ext>
              </a:extLst>
            </p:cNvPr>
            <p:cNvCxnSpPr>
              <a:cxnSpLocks/>
              <a:stCxn id="88" idx="4"/>
              <a:endCxn id="64" idx="0"/>
            </p:cNvCxnSpPr>
            <p:nvPr/>
          </p:nvCxnSpPr>
          <p:spPr>
            <a:xfrm>
              <a:off x="7480113" y="3442502"/>
              <a:ext cx="499089" cy="6381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8" name="Straight Arrow Connector 67">
              <a:extLst>
                <a:ext uri="{FF2B5EF4-FFF2-40B4-BE49-F238E27FC236}">
                  <a16:creationId xmlns:a16="http://schemas.microsoft.com/office/drawing/2014/main" id="{B2EEAC8C-F9B2-9C4A-B72F-336C8BBB2729}"/>
                </a:ext>
              </a:extLst>
            </p:cNvPr>
            <p:cNvCxnSpPr>
              <a:cxnSpLocks/>
              <a:stCxn id="86" idx="5"/>
              <a:endCxn id="65" idx="0"/>
            </p:cNvCxnSpPr>
            <p:nvPr/>
          </p:nvCxnSpPr>
          <p:spPr>
            <a:xfrm>
              <a:off x="7275961" y="1776066"/>
              <a:ext cx="1512492" cy="125756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69" name="TextBox 68">
              <a:extLst>
                <a:ext uri="{FF2B5EF4-FFF2-40B4-BE49-F238E27FC236}">
                  <a16:creationId xmlns:a16="http://schemas.microsoft.com/office/drawing/2014/main" id="{DEED37BE-4530-A148-B8B6-06ED967DC1B5}"/>
                </a:ext>
              </a:extLst>
            </p:cNvPr>
            <p:cNvSpPr txBox="1"/>
            <p:nvPr/>
          </p:nvSpPr>
          <p:spPr>
            <a:xfrm>
              <a:off x="7081504" y="3543788"/>
              <a:ext cx="1191237" cy="416117"/>
            </a:xfrm>
            <a:prstGeom prst="rect">
              <a:avLst/>
            </a:prstGeom>
            <a:noFill/>
          </p:spPr>
          <p:txBody>
            <a:bodyPr wrap="none" rtlCol="0">
              <a:spAutoFit/>
            </a:bodyPr>
            <a:lstStyle/>
            <a:p>
              <a:r>
                <a:rPr lang="zh-CN" altLang="en-CN" sz="1100" dirty="0"/>
                <a:t>算法</a:t>
              </a:r>
              <a:r>
                <a:rPr lang="zh-CN" altLang="en-US" sz="1100" dirty="0"/>
                <a:t>笔记</a:t>
              </a:r>
              <a:endParaRPr lang="en-CN" sz="1100" dirty="0"/>
            </a:p>
          </p:txBody>
        </p:sp>
        <p:sp>
          <p:nvSpPr>
            <p:cNvPr id="70" name="TextBox 69">
              <a:extLst>
                <a:ext uri="{FF2B5EF4-FFF2-40B4-BE49-F238E27FC236}">
                  <a16:creationId xmlns:a16="http://schemas.microsoft.com/office/drawing/2014/main" id="{E8BEC1F0-F0E5-BA4F-A035-EBBBBB24D8AE}"/>
                </a:ext>
              </a:extLst>
            </p:cNvPr>
            <p:cNvSpPr txBox="1"/>
            <p:nvPr/>
          </p:nvSpPr>
          <p:spPr>
            <a:xfrm>
              <a:off x="7554774" y="1886026"/>
              <a:ext cx="1191237" cy="416117"/>
            </a:xfrm>
            <a:prstGeom prst="rect">
              <a:avLst/>
            </a:prstGeom>
            <a:noFill/>
          </p:spPr>
          <p:txBody>
            <a:bodyPr wrap="none" rtlCol="0">
              <a:spAutoFit/>
            </a:bodyPr>
            <a:lstStyle/>
            <a:p>
              <a:r>
                <a:rPr lang="zh-CN" altLang="en-US" sz="1100" dirty="0"/>
                <a:t>数据结构</a:t>
              </a:r>
              <a:endParaRPr lang="en-CN" sz="1100" dirty="0"/>
            </a:p>
          </p:txBody>
        </p:sp>
        <p:sp>
          <p:nvSpPr>
            <p:cNvPr id="72" name="Oval 71">
              <a:extLst>
                <a:ext uri="{FF2B5EF4-FFF2-40B4-BE49-F238E27FC236}">
                  <a16:creationId xmlns:a16="http://schemas.microsoft.com/office/drawing/2014/main" id="{43BFC1DD-E093-D144-BF78-7722E75E7120}"/>
                </a:ext>
              </a:extLst>
            </p:cNvPr>
            <p:cNvSpPr/>
            <p:nvPr/>
          </p:nvSpPr>
          <p:spPr>
            <a:xfrm>
              <a:off x="5320272" y="413158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7</a:t>
              </a:r>
              <a:endParaRPr lang="en-CN" sz="1100" dirty="0"/>
            </a:p>
          </p:txBody>
        </p:sp>
        <p:sp>
          <p:nvSpPr>
            <p:cNvPr id="73" name="Oval 72">
              <a:extLst>
                <a:ext uri="{FF2B5EF4-FFF2-40B4-BE49-F238E27FC236}">
                  <a16:creationId xmlns:a16="http://schemas.microsoft.com/office/drawing/2014/main" id="{7D331D8E-AA35-624B-AFF5-A4C256951C5E}"/>
                </a:ext>
              </a:extLst>
            </p:cNvPr>
            <p:cNvSpPr/>
            <p:nvPr/>
          </p:nvSpPr>
          <p:spPr>
            <a:xfrm>
              <a:off x="6530203" y="4106987"/>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4</a:t>
              </a:r>
              <a:endParaRPr lang="en-CN" sz="1100" dirty="0"/>
            </a:p>
          </p:txBody>
        </p:sp>
        <p:cxnSp>
          <p:nvCxnSpPr>
            <p:cNvPr id="74" name="Straight Arrow Connector 73">
              <a:extLst>
                <a:ext uri="{FF2B5EF4-FFF2-40B4-BE49-F238E27FC236}">
                  <a16:creationId xmlns:a16="http://schemas.microsoft.com/office/drawing/2014/main" id="{7A3B609E-6C39-8945-832C-BB79397A50D7}"/>
                </a:ext>
              </a:extLst>
            </p:cNvPr>
            <p:cNvCxnSpPr>
              <a:cxnSpLocks/>
              <a:stCxn id="87" idx="4"/>
              <a:endCxn id="72" idx="0"/>
            </p:cNvCxnSpPr>
            <p:nvPr/>
          </p:nvCxnSpPr>
          <p:spPr>
            <a:xfrm flipH="1">
              <a:off x="5569519" y="3424411"/>
              <a:ext cx="259183" cy="70717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75" name="Straight Arrow Connector 74">
              <a:extLst>
                <a:ext uri="{FF2B5EF4-FFF2-40B4-BE49-F238E27FC236}">
                  <a16:creationId xmlns:a16="http://schemas.microsoft.com/office/drawing/2014/main" id="{C8BFA3C8-0547-C443-9E1E-0C4AF6905382}"/>
                </a:ext>
              </a:extLst>
            </p:cNvPr>
            <p:cNvCxnSpPr>
              <a:cxnSpLocks/>
              <a:stCxn id="87" idx="5"/>
              <a:endCxn id="73" idx="0"/>
            </p:cNvCxnSpPr>
            <p:nvPr/>
          </p:nvCxnSpPr>
          <p:spPr>
            <a:xfrm>
              <a:off x="6004945" y="3351408"/>
              <a:ext cx="774505" cy="75557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76" name="Rectangle 75">
              <a:extLst>
                <a:ext uri="{FF2B5EF4-FFF2-40B4-BE49-F238E27FC236}">
                  <a16:creationId xmlns:a16="http://schemas.microsoft.com/office/drawing/2014/main" id="{126A4478-9796-4C4D-86A9-2CB30898A5F3}"/>
                </a:ext>
              </a:extLst>
            </p:cNvPr>
            <p:cNvSpPr/>
            <p:nvPr/>
          </p:nvSpPr>
          <p:spPr>
            <a:xfrm>
              <a:off x="4336045" y="2789178"/>
              <a:ext cx="2641136" cy="1138936"/>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7" name="TextBox 76">
              <a:extLst>
                <a:ext uri="{FF2B5EF4-FFF2-40B4-BE49-F238E27FC236}">
                  <a16:creationId xmlns:a16="http://schemas.microsoft.com/office/drawing/2014/main" id="{24630B91-7CAC-AB42-8E5E-B3AE6F478918}"/>
                </a:ext>
              </a:extLst>
            </p:cNvPr>
            <p:cNvSpPr txBox="1"/>
            <p:nvPr/>
          </p:nvSpPr>
          <p:spPr>
            <a:xfrm>
              <a:off x="5953873" y="1882738"/>
              <a:ext cx="617547" cy="416117"/>
            </a:xfrm>
            <a:prstGeom prst="rect">
              <a:avLst/>
            </a:prstGeom>
            <a:noFill/>
          </p:spPr>
          <p:txBody>
            <a:bodyPr wrap="none" rtlCol="0">
              <a:spAutoFit/>
            </a:bodyPr>
            <a:lstStyle/>
            <a:p>
              <a:r>
                <a:rPr lang="en-US" altLang="zh-CN" sz="1100" dirty="0"/>
                <a:t>OS</a:t>
              </a:r>
              <a:endParaRPr lang="en-CN" sz="1100" dirty="0"/>
            </a:p>
          </p:txBody>
        </p:sp>
        <p:sp>
          <p:nvSpPr>
            <p:cNvPr id="78" name="TextBox 77">
              <a:extLst>
                <a:ext uri="{FF2B5EF4-FFF2-40B4-BE49-F238E27FC236}">
                  <a16:creationId xmlns:a16="http://schemas.microsoft.com/office/drawing/2014/main" id="{E327F7BF-9FC4-CF49-AAFA-AB90873DCD70}"/>
                </a:ext>
              </a:extLst>
            </p:cNvPr>
            <p:cNvSpPr txBox="1"/>
            <p:nvPr/>
          </p:nvSpPr>
          <p:spPr>
            <a:xfrm>
              <a:off x="4336043" y="3282872"/>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1</a:t>
              </a:r>
              <a:endParaRPr lang="en-CN" sz="1100" dirty="0"/>
            </a:p>
          </p:txBody>
        </p:sp>
        <p:sp>
          <p:nvSpPr>
            <p:cNvPr id="79" name="TextBox 78">
              <a:extLst>
                <a:ext uri="{FF2B5EF4-FFF2-40B4-BE49-F238E27FC236}">
                  <a16:creationId xmlns:a16="http://schemas.microsoft.com/office/drawing/2014/main" id="{AE45740E-D400-4542-A81B-FD8A5567C21B}"/>
                </a:ext>
              </a:extLst>
            </p:cNvPr>
            <p:cNvSpPr txBox="1"/>
            <p:nvPr/>
          </p:nvSpPr>
          <p:spPr>
            <a:xfrm>
              <a:off x="5093993" y="3596254"/>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2</a:t>
              </a:r>
              <a:endParaRPr lang="en-CN" sz="1100" dirty="0"/>
            </a:p>
          </p:txBody>
        </p:sp>
        <p:sp>
          <p:nvSpPr>
            <p:cNvPr id="80" name="Rectangle 79">
              <a:extLst>
                <a:ext uri="{FF2B5EF4-FFF2-40B4-BE49-F238E27FC236}">
                  <a16:creationId xmlns:a16="http://schemas.microsoft.com/office/drawing/2014/main" id="{6AC10C6C-F4B5-3842-A779-0E762FC67805}"/>
                </a:ext>
              </a:extLst>
            </p:cNvPr>
            <p:cNvSpPr/>
            <p:nvPr/>
          </p:nvSpPr>
          <p:spPr>
            <a:xfrm>
              <a:off x="7059771" y="2789178"/>
              <a:ext cx="1167809" cy="1144709"/>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81" name="Rectangle 80">
              <a:extLst>
                <a:ext uri="{FF2B5EF4-FFF2-40B4-BE49-F238E27FC236}">
                  <a16:creationId xmlns:a16="http://schemas.microsoft.com/office/drawing/2014/main" id="{0ABDFFD1-6DFD-E545-A640-EA5C290853F8}"/>
                </a:ext>
              </a:extLst>
            </p:cNvPr>
            <p:cNvSpPr/>
            <p:nvPr/>
          </p:nvSpPr>
          <p:spPr>
            <a:xfrm>
              <a:off x="5984366" y="898053"/>
              <a:ext cx="3075767" cy="1608914"/>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82" name="Straight Arrow Connector 81">
              <a:extLst>
                <a:ext uri="{FF2B5EF4-FFF2-40B4-BE49-F238E27FC236}">
                  <a16:creationId xmlns:a16="http://schemas.microsoft.com/office/drawing/2014/main" id="{E20B6772-03A8-E748-B74C-281608B06071}"/>
                </a:ext>
              </a:extLst>
            </p:cNvPr>
            <p:cNvCxnSpPr>
              <a:cxnSpLocks/>
              <a:stCxn id="86" idx="4"/>
              <a:endCxn id="88" idx="0"/>
            </p:cNvCxnSpPr>
            <p:nvPr/>
          </p:nvCxnSpPr>
          <p:spPr>
            <a:xfrm>
              <a:off x="7099718" y="1849069"/>
              <a:ext cx="380395" cy="109494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83" name="Straight Arrow Connector 82">
              <a:extLst>
                <a:ext uri="{FF2B5EF4-FFF2-40B4-BE49-F238E27FC236}">
                  <a16:creationId xmlns:a16="http://schemas.microsoft.com/office/drawing/2014/main" id="{8FABE4A6-2ABF-9641-A2E2-C04D3AB00D32}"/>
                </a:ext>
              </a:extLst>
            </p:cNvPr>
            <p:cNvCxnSpPr>
              <a:cxnSpLocks/>
              <a:stCxn id="86" idx="3"/>
              <a:endCxn id="87" idx="0"/>
            </p:cNvCxnSpPr>
            <p:nvPr/>
          </p:nvCxnSpPr>
          <p:spPr>
            <a:xfrm flipH="1">
              <a:off x="5828702" y="1776066"/>
              <a:ext cx="1094772" cy="114985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4" name="TextBox 83">
              <a:extLst>
                <a:ext uri="{FF2B5EF4-FFF2-40B4-BE49-F238E27FC236}">
                  <a16:creationId xmlns:a16="http://schemas.microsoft.com/office/drawing/2014/main" id="{64B55F17-3E1E-7D49-B419-EE0D888B207A}"/>
                </a:ext>
              </a:extLst>
            </p:cNvPr>
            <p:cNvSpPr txBox="1"/>
            <p:nvPr/>
          </p:nvSpPr>
          <p:spPr>
            <a:xfrm>
              <a:off x="6732202" y="1909082"/>
              <a:ext cx="742483" cy="416117"/>
            </a:xfrm>
            <a:prstGeom prst="rect">
              <a:avLst/>
            </a:prstGeom>
            <a:noFill/>
          </p:spPr>
          <p:txBody>
            <a:bodyPr wrap="none" rtlCol="0">
              <a:spAutoFit/>
            </a:bodyPr>
            <a:lstStyle/>
            <a:p>
              <a:r>
                <a:rPr lang="zh-CN" altLang="en-CN" sz="1100" dirty="0"/>
                <a:t>算法</a:t>
              </a:r>
              <a:endParaRPr lang="en-CN" sz="1100" dirty="0"/>
            </a:p>
          </p:txBody>
        </p:sp>
        <p:sp>
          <p:nvSpPr>
            <p:cNvPr id="85" name="TextBox 84">
              <a:extLst>
                <a:ext uri="{FF2B5EF4-FFF2-40B4-BE49-F238E27FC236}">
                  <a16:creationId xmlns:a16="http://schemas.microsoft.com/office/drawing/2014/main" id="{AA0F355C-95C3-B642-99C5-2510228A9149}"/>
                </a:ext>
              </a:extLst>
            </p:cNvPr>
            <p:cNvSpPr txBox="1"/>
            <p:nvPr/>
          </p:nvSpPr>
          <p:spPr>
            <a:xfrm>
              <a:off x="6326886" y="3424410"/>
              <a:ext cx="742483" cy="416117"/>
            </a:xfrm>
            <a:prstGeom prst="rect">
              <a:avLst/>
            </a:prstGeom>
            <a:noFill/>
          </p:spPr>
          <p:txBody>
            <a:bodyPr wrap="none" rtlCol="0">
              <a:spAutoFit/>
            </a:bodyPr>
            <a:lstStyle/>
            <a:p>
              <a:r>
                <a:rPr lang="zh-CN" altLang="en-US" sz="1100" dirty="0"/>
                <a:t>其他</a:t>
              </a:r>
              <a:endParaRPr lang="en-CN" sz="1100" dirty="0"/>
            </a:p>
          </p:txBody>
        </p:sp>
        <p:sp>
          <p:nvSpPr>
            <p:cNvPr id="86" name="Oval 85">
              <a:extLst>
                <a:ext uri="{FF2B5EF4-FFF2-40B4-BE49-F238E27FC236}">
                  <a16:creationId xmlns:a16="http://schemas.microsoft.com/office/drawing/2014/main" id="{3834C4B8-6A35-BF42-B7BD-949665101EB8}"/>
                </a:ext>
              </a:extLst>
            </p:cNvPr>
            <p:cNvSpPr/>
            <p:nvPr/>
          </p:nvSpPr>
          <p:spPr>
            <a:xfrm>
              <a:off x="6850471" y="135057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0</a:t>
              </a:r>
              <a:endParaRPr lang="en-CN" sz="1100" dirty="0"/>
            </a:p>
          </p:txBody>
        </p:sp>
        <p:sp>
          <p:nvSpPr>
            <p:cNvPr id="87" name="Oval 86">
              <a:extLst>
                <a:ext uri="{FF2B5EF4-FFF2-40B4-BE49-F238E27FC236}">
                  <a16:creationId xmlns:a16="http://schemas.microsoft.com/office/drawing/2014/main" id="{D1561B5D-DE59-8047-BF47-C54B11F52294}"/>
                </a:ext>
              </a:extLst>
            </p:cNvPr>
            <p:cNvSpPr/>
            <p:nvPr/>
          </p:nvSpPr>
          <p:spPr>
            <a:xfrm>
              <a:off x="5579455" y="2925918"/>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13</a:t>
              </a:r>
              <a:endParaRPr lang="en-CN" sz="1100" dirty="0"/>
            </a:p>
          </p:txBody>
        </p:sp>
        <p:sp>
          <p:nvSpPr>
            <p:cNvPr id="88" name="Oval 87">
              <a:extLst>
                <a:ext uri="{FF2B5EF4-FFF2-40B4-BE49-F238E27FC236}">
                  <a16:creationId xmlns:a16="http://schemas.microsoft.com/office/drawing/2014/main" id="{8DE57138-3CB8-E74B-B325-DB8C978C444C}"/>
                </a:ext>
              </a:extLst>
            </p:cNvPr>
            <p:cNvSpPr/>
            <p:nvPr/>
          </p:nvSpPr>
          <p:spPr>
            <a:xfrm>
              <a:off x="7230866" y="2944009"/>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14</a:t>
              </a:r>
              <a:endParaRPr lang="en-CN" sz="1100" dirty="0"/>
            </a:p>
          </p:txBody>
        </p:sp>
      </p:grpSp>
      <p:grpSp>
        <p:nvGrpSpPr>
          <p:cNvPr id="89" name="Group 88">
            <a:extLst>
              <a:ext uri="{FF2B5EF4-FFF2-40B4-BE49-F238E27FC236}">
                <a16:creationId xmlns:a16="http://schemas.microsoft.com/office/drawing/2014/main" id="{97CF5E01-AA30-B948-99FE-C9C579E111C4}"/>
              </a:ext>
            </a:extLst>
          </p:cNvPr>
          <p:cNvGrpSpPr/>
          <p:nvPr/>
        </p:nvGrpSpPr>
        <p:grpSpPr>
          <a:xfrm>
            <a:off x="5588616" y="571589"/>
            <a:ext cx="2867938" cy="2108666"/>
            <a:chOff x="3576270" y="3170153"/>
            <a:chExt cx="2867938" cy="2108666"/>
          </a:xfrm>
        </p:grpSpPr>
        <p:sp>
          <p:nvSpPr>
            <p:cNvPr id="90" name="Oval 89">
              <a:extLst>
                <a:ext uri="{FF2B5EF4-FFF2-40B4-BE49-F238E27FC236}">
                  <a16:creationId xmlns:a16="http://schemas.microsoft.com/office/drawing/2014/main" id="{00EBE677-3A2D-EC42-B33D-B914BA91F33D}"/>
                </a:ext>
              </a:extLst>
            </p:cNvPr>
            <p:cNvSpPr/>
            <p:nvPr/>
          </p:nvSpPr>
          <p:spPr>
            <a:xfrm>
              <a:off x="3576270" y="493320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sp>
          <p:nvSpPr>
            <p:cNvPr id="91" name="Oval 90">
              <a:extLst>
                <a:ext uri="{FF2B5EF4-FFF2-40B4-BE49-F238E27FC236}">
                  <a16:creationId xmlns:a16="http://schemas.microsoft.com/office/drawing/2014/main" id="{276EA3A8-1499-EB4B-8773-B63EB7CBA369}"/>
                </a:ext>
              </a:extLst>
            </p:cNvPr>
            <p:cNvSpPr/>
            <p:nvPr/>
          </p:nvSpPr>
          <p:spPr>
            <a:xfrm>
              <a:off x="5540483" y="4999342"/>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92" name="Oval 91">
              <a:extLst>
                <a:ext uri="{FF2B5EF4-FFF2-40B4-BE49-F238E27FC236}">
                  <a16:creationId xmlns:a16="http://schemas.microsoft.com/office/drawing/2014/main" id="{8BFD7F69-ED4D-364E-AC8E-C1D7FA845544}"/>
                </a:ext>
              </a:extLst>
            </p:cNvPr>
            <p:cNvSpPr/>
            <p:nvPr/>
          </p:nvSpPr>
          <p:spPr>
            <a:xfrm>
              <a:off x="6030387" y="4315619"/>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93" name="Straight Arrow Connector 92">
              <a:extLst>
                <a:ext uri="{FF2B5EF4-FFF2-40B4-BE49-F238E27FC236}">
                  <a16:creationId xmlns:a16="http://schemas.microsoft.com/office/drawing/2014/main" id="{1B22098B-B2EE-9D48-A48C-2380BBCDAE7C}"/>
                </a:ext>
              </a:extLst>
            </p:cNvPr>
            <p:cNvCxnSpPr>
              <a:cxnSpLocks/>
              <a:stCxn id="111" idx="3"/>
              <a:endCxn id="90" idx="0"/>
            </p:cNvCxnSpPr>
            <p:nvPr/>
          </p:nvCxnSpPr>
          <p:spPr>
            <a:xfrm flipH="1">
              <a:off x="3710881" y="4514882"/>
              <a:ext cx="639756" cy="41832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4" name="Straight Arrow Connector 93">
              <a:extLst>
                <a:ext uri="{FF2B5EF4-FFF2-40B4-BE49-F238E27FC236}">
                  <a16:creationId xmlns:a16="http://schemas.microsoft.com/office/drawing/2014/main" id="{DB954439-171D-0D44-A9C2-AD77FD858295}"/>
                </a:ext>
              </a:extLst>
            </p:cNvPr>
            <p:cNvCxnSpPr>
              <a:cxnSpLocks/>
              <a:stCxn id="112" idx="4"/>
              <a:endCxn id="91" idx="0"/>
            </p:cNvCxnSpPr>
            <p:nvPr/>
          </p:nvCxnSpPr>
          <p:spPr>
            <a:xfrm>
              <a:off x="5337697" y="4564079"/>
              <a:ext cx="337397" cy="43526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5" name="Straight Arrow Connector 94">
              <a:extLst>
                <a:ext uri="{FF2B5EF4-FFF2-40B4-BE49-F238E27FC236}">
                  <a16:creationId xmlns:a16="http://schemas.microsoft.com/office/drawing/2014/main" id="{C86FB571-B2F8-A043-B1BD-D2ED6600E4ED}"/>
                </a:ext>
              </a:extLst>
            </p:cNvPr>
            <p:cNvCxnSpPr>
              <a:cxnSpLocks/>
              <a:stCxn id="110" idx="5"/>
              <a:endCxn id="92" idx="0"/>
            </p:cNvCxnSpPr>
            <p:nvPr/>
          </p:nvCxnSpPr>
          <p:spPr>
            <a:xfrm>
              <a:off x="5227441" y="3664087"/>
              <a:ext cx="937557" cy="65153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96" name="TextBox 95">
              <a:extLst>
                <a:ext uri="{FF2B5EF4-FFF2-40B4-BE49-F238E27FC236}">
                  <a16:creationId xmlns:a16="http://schemas.microsoft.com/office/drawing/2014/main" id="{7C60019B-FE86-2944-8E8E-8799253C76F3}"/>
                </a:ext>
              </a:extLst>
            </p:cNvPr>
            <p:cNvSpPr txBox="1"/>
            <p:nvPr/>
          </p:nvSpPr>
          <p:spPr>
            <a:xfrm>
              <a:off x="5361807" y="4510104"/>
              <a:ext cx="466794" cy="261610"/>
            </a:xfrm>
            <a:prstGeom prst="rect">
              <a:avLst/>
            </a:prstGeom>
            <a:noFill/>
          </p:spPr>
          <p:txBody>
            <a:bodyPr wrap="none" rtlCol="0">
              <a:spAutoFit/>
            </a:bodyPr>
            <a:lstStyle/>
            <a:p>
              <a:r>
                <a:rPr lang="zh-CN" altLang="en-US" sz="1100" dirty="0"/>
                <a:t>小明</a:t>
              </a:r>
              <a:endParaRPr lang="en-CN" sz="1100" dirty="0"/>
            </a:p>
          </p:txBody>
        </p:sp>
        <p:sp>
          <p:nvSpPr>
            <p:cNvPr id="97" name="TextBox 96">
              <a:extLst>
                <a:ext uri="{FF2B5EF4-FFF2-40B4-BE49-F238E27FC236}">
                  <a16:creationId xmlns:a16="http://schemas.microsoft.com/office/drawing/2014/main" id="{202D474A-BAC5-DC46-B809-887B76610E85}"/>
                </a:ext>
              </a:extLst>
            </p:cNvPr>
            <p:cNvSpPr txBox="1"/>
            <p:nvPr/>
          </p:nvSpPr>
          <p:spPr>
            <a:xfrm>
              <a:off x="5461984" y="3729422"/>
              <a:ext cx="474810" cy="261610"/>
            </a:xfrm>
            <a:prstGeom prst="rect">
              <a:avLst/>
            </a:prstGeom>
            <a:noFill/>
          </p:spPr>
          <p:txBody>
            <a:bodyPr wrap="none" rtlCol="0">
              <a:spAutoFit/>
            </a:bodyPr>
            <a:lstStyle/>
            <a:p>
              <a:r>
                <a:rPr lang="en-US" altLang="zh-CN" sz="1100" dirty="0"/>
                <a:t>boot</a:t>
              </a:r>
            </a:p>
          </p:txBody>
        </p:sp>
        <p:sp>
          <p:nvSpPr>
            <p:cNvPr id="98" name="TextBox 97">
              <a:extLst>
                <a:ext uri="{FF2B5EF4-FFF2-40B4-BE49-F238E27FC236}">
                  <a16:creationId xmlns:a16="http://schemas.microsoft.com/office/drawing/2014/main" id="{20139A4C-54D0-2247-9AF7-D9321C5ACE0C}"/>
                </a:ext>
              </a:extLst>
            </p:cNvPr>
            <p:cNvSpPr txBox="1"/>
            <p:nvPr/>
          </p:nvSpPr>
          <p:spPr>
            <a:xfrm>
              <a:off x="5414008" y="3170153"/>
              <a:ext cx="522172" cy="224732"/>
            </a:xfrm>
            <a:prstGeom prst="rect">
              <a:avLst/>
            </a:prstGeom>
            <a:noFill/>
          </p:spPr>
          <p:txBody>
            <a:bodyPr wrap="none" rtlCol="0">
              <a:spAutoFit/>
            </a:bodyPr>
            <a:lstStyle/>
            <a:p>
              <a:r>
                <a:rPr lang="zh-CN" altLang="en-US" sz="1100" dirty="0"/>
                <a:t>根</a:t>
              </a:r>
              <a:r>
                <a:rPr lang="zh-CN" altLang="en-CN" sz="1100" dirty="0"/>
                <a:t>目录</a:t>
              </a:r>
              <a:endParaRPr lang="en-CN" sz="1100" dirty="0"/>
            </a:p>
          </p:txBody>
        </p:sp>
        <p:sp>
          <p:nvSpPr>
            <p:cNvPr id="99" name="Oval 98">
              <a:extLst>
                <a:ext uri="{FF2B5EF4-FFF2-40B4-BE49-F238E27FC236}">
                  <a16:creationId xmlns:a16="http://schemas.microsoft.com/office/drawing/2014/main" id="{50A008F6-519C-B949-B2C0-DA9E3D644676}"/>
                </a:ext>
              </a:extLst>
            </p:cNvPr>
            <p:cNvSpPr/>
            <p:nvPr/>
          </p:nvSpPr>
          <p:spPr>
            <a:xfrm>
              <a:off x="4171233" y="493623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9</a:t>
              </a:r>
              <a:endParaRPr lang="en-CN" sz="1100" dirty="0"/>
            </a:p>
          </p:txBody>
        </p:sp>
        <p:cxnSp>
          <p:nvCxnSpPr>
            <p:cNvPr id="100" name="Straight Arrow Connector 99">
              <a:extLst>
                <a:ext uri="{FF2B5EF4-FFF2-40B4-BE49-F238E27FC236}">
                  <a16:creationId xmlns:a16="http://schemas.microsoft.com/office/drawing/2014/main" id="{47BC46CF-5AC3-FC42-9707-7CCE5FA96E50}"/>
                </a:ext>
              </a:extLst>
            </p:cNvPr>
            <p:cNvCxnSpPr>
              <a:cxnSpLocks/>
              <a:stCxn id="111" idx="4"/>
              <a:endCxn id="99" idx="0"/>
            </p:cNvCxnSpPr>
            <p:nvPr/>
          </p:nvCxnSpPr>
          <p:spPr>
            <a:xfrm flipH="1">
              <a:off x="4305844" y="4554308"/>
              <a:ext cx="139977" cy="38192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1" name="Rectangle 100">
              <a:extLst>
                <a:ext uri="{FF2B5EF4-FFF2-40B4-BE49-F238E27FC236}">
                  <a16:creationId xmlns:a16="http://schemas.microsoft.com/office/drawing/2014/main" id="{D496B283-5661-3A4E-9E8A-B57AEACE12F1}"/>
                </a:ext>
              </a:extLst>
            </p:cNvPr>
            <p:cNvSpPr/>
            <p:nvPr/>
          </p:nvSpPr>
          <p:spPr>
            <a:xfrm>
              <a:off x="3639682" y="4211238"/>
              <a:ext cx="1153683" cy="61510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2" name="TextBox 101">
              <a:extLst>
                <a:ext uri="{FF2B5EF4-FFF2-40B4-BE49-F238E27FC236}">
                  <a16:creationId xmlns:a16="http://schemas.microsoft.com/office/drawing/2014/main" id="{03972B6C-E9BE-DF40-AC09-33795FB31F5A}"/>
                </a:ext>
              </a:extLst>
            </p:cNvPr>
            <p:cNvSpPr txBox="1"/>
            <p:nvPr/>
          </p:nvSpPr>
          <p:spPr>
            <a:xfrm>
              <a:off x="4457257" y="3723474"/>
              <a:ext cx="373820" cy="261610"/>
            </a:xfrm>
            <a:prstGeom prst="rect">
              <a:avLst/>
            </a:prstGeom>
            <a:noFill/>
          </p:spPr>
          <p:txBody>
            <a:bodyPr wrap="none" rtlCol="0">
              <a:spAutoFit/>
            </a:bodyPr>
            <a:lstStyle/>
            <a:p>
              <a:r>
                <a:rPr lang="en-US" altLang="zh-CN" sz="1100" dirty="0"/>
                <a:t>bin</a:t>
              </a:r>
              <a:endParaRPr lang="en-CN" sz="1100" dirty="0"/>
            </a:p>
          </p:txBody>
        </p:sp>
        <p:sp>
          <p:nvSpPr>
            <p:cNvPr id="103" name="TextBox 102">
              <a:extLst>
                <a:ext uri="{FF2B5EF4-FFF2-40B4-BE49-F238E27FC236}">
                  <a16:creationId xmlns:a16="http://schemas.microsoft.com/office/drawing/2014/main" id="{38B95B0F-9117-6949-B04C-C07498D4402C}"/>
                </a:ext>
              </a:extLst>
            </p:cNvPr>
            <p:cNvSpPr txBox="1"/>
            <p:nvPr/>
          </p:nvSpPr>
          <p:spPr>
            <a:xfrm>
              <a:off x="3639681" y="4477868"/>
              <a:ext cx="287258" cy="261610"/>
            </a:xfrm>
            <a:prstGeom prst="rect">
              <a:avLst/>
            </a:prstGeom>
            <a:noFill/>
          </p:spPr>
          <p:txBody>
            <a:bodyPr wrap="none" rtlCol="0">
              <a:spAutoFit/>
            </a:bodyPr>
            <a:lstStyle/>
            <a:p>
              <a:r>
                <a:rPr lang="en-CN" altLang="zh-CN" sz="1100" dirty="0"/>
                <a:t>ls</a:t>
              </a:r>
              <a:endParaRPr lang="en-CN" sz="1100" dirty="0"/>
            </a:p>
          </p:txBody>
        </p:sp>
        <p:sp>
          <p:nvSpPr>
            <p:cNvPr id="104" name="TextBox 103">
              <a:extLst>
                <a:ext uri="{FF2B5EF4-FFF2-40B4-BE49-F238E27FC236}">
                  <a16:creationId xmlns:a16="http://schemas.microsoft.com/office/drawing/2014/main" id="{A8DA8752-BAC7-FF4B-B515-8CE302ADC68A}"/>
                </a:ext>
              </a:extLst>
            </p:cNvPr>
            <p:cNvSpPr txBox="1"/>
            <p:nvPr/>
          </p:nvSpPr>
          <p:spPr>
            <a:xfrm>
              <a:off x="4079845" y="4578217"/>
              <a:ext cx="365806" cy="261610"/>
            </a:xfrm>
            <a:prstGeom prst="rect">
              <a:avLst/>
            </a:prstGeom>
            <a:noFill/>
          </p:spPr>
          <p:txBody>
            <a:bodyPr wrap="none" rtlCol="0">
              <a:spAutoFit/>
            </a:bodyPr>
            <a:lstStyle/>
            <a:p>
              <a:r>
                <a:rPr lang="en-US" altLang="zh-CN" sz="1100" dirty="0" err="1"/>
                <a:t>init</a:t>
              </a:r>
              <a:endParaRPr lang="en-CN" sz="1100" dirty="0"/>
            </a:p>
          </p:txBody>
        </p:sp>
        <p:sp>
          <p:nvSpPr>
            <p:cNvPr id="105" name="Rectangle 104">
              <a:extLst>
                <a:ext uri="{FF2B5EF4-FFF2-40B4-BE49-F238E27FC236}">
                  <a16:creationId xmlns:a16="http://schemas.microsoft.com/office/drawing/2014/main" id="{71C3C03B-E67D-9E43-9BB3-564430179185}"/>
                </a:ext>
              </a:extLst>
            </p:cNvPr>
            <p:cNvSpPr/>
            <p:nvPr/>
          </p:nvSpPr>
          <p:spPr>
            <a:xfrm>
              <a:off x="4944894" y="4211238"/>
              <a:ext cx="883707"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6" name="Rectangle 105">
              <a:extLst>
                <a:ext uri="{FF2B5EF4-FFF2-40B4-BE49-F238E27FC236}">
                  <a16:creationId xmlns:a16="http://schemas.microsoft.com/office/drawing/2014/main" id="{97D8A04B-69BC-0843-9BE0-9587C6BCE7C5}"/>
                </a:ext>
              </a:extLst>
            </p:cNvPr>
            <p:cNvSpPr/>
            <p:nvPr/>
          </p:nvSpPr>
          <p:spPr>
            <a:xfrm>
              <a:off x="4259759" y="3408136"/>
              <a:ext cx="2184449" cy="65068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107" name="Straight Arrow Connector 106">
              <a:extLst>
                <a:ext uri="{FF2B5EF4-FFF2-40B4-BE49-F238E27FC236}">
                  <a16:creationId xmlns:a16="http://schemas.microsoft.com/office/drawing/2014/main" id="{4E09EEA5-F729-714C-8DCD-8A3BF70D54BC}"/>
                </a:ext>
              </a:extLst>
            </p:cNvPr>
            <p:cNvCxnSpPr>
              <a:cxnSpLocks/>
              <a:stCxn id="110" idx="4"/>
              <a:endCxn id="112" idx="0"/>
            </p:cNvCxnSpPr>
            <p:nvPr/>
          </p:nvCxnSpPr>
          <p:spPr>
            <a:xfrm>
              <a:off x="5132257" y="3703514"/>
              <a:ext cx="205440" cy="591344"/>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08" name="Straight Arrow Connector 107">
              <a:extLst>
                <a:ext uri="{FF2B5EF4-FFF2-40B4-BE49-F238E27FC236}">
                  <a16:creationId xmlns:a16="http://schemas.microsoft.com/office/drawing/2014/main" id="{714B52C9-FE04-6241-BC05-0BF0577C5D2E}"/>
                </a:ext>
              </a:extLst>
            </p:cNvPr>
            <p:cNvCxnSpPr>
              <a:cxnSpLocks/>
              <a:stCxn id="110" idx="3"/>
              <a:endCxn id="111" idx="0"/>
            </p:cNvCxnSpPr>
            <p:nvPr/>
          </p:nvCxnSpPr>
          <p:spPr>
            <a:xfrm flipH="1">
              <a:off x="4445821" y="3664088"/>
              <a:ext cx="591253" cy="6210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9" name="TextBox 108">
              <a:extLst>
                <a:ext uri="{FF2B5EF4-FFF2-40B4-BE49-F238E27FC236}">
                  <a16:creationId xmlns:a16="http://schemas.microsoft.com/office/drawing/2014/main" id="{8FFD3829-E7C3-B247-A711-D416EE6C46C1}"/>
                </a:ext>
              </a:extLst>
            </p:cNvPr>
            <p:cNvSpPr txBox="1"/>
            <p:nvPr/>
          </p:nvSpPr>
          <p:spPr>
            <a:xfrm>
              <a:off x="4946601" y="3751225"/>
              <a:ext cx="537327" cy="261610"/>
            </a:xfrm>
            <a:prstGeom prst="rect">
              <a:avLst/>
            </a:prstGeom>
            <a:noFill/>
          </p:spPr>
          <p:txBody>
            <a:bodyPr wrap="none" rtlCol="0">
              <a:spAutoFit/>
            </a:bodyPr>
            <a:lstStyle/>
            <a:p>
              <a:r>
                <a:rPr lang="en-US" altLang="zh-CN" sz="1100" dirty="0"/>
                <a:t>home</a:t>
              </a:r>
              <a:endParaRPr lang="en-CN" sz="1100" dirty="0"/>
            </a:p>
          </p:txBody>
        </p:sp>
        <p:sp>
          <p:nvSpPr>
            <p:cNvPr id="110" name="Oval 109">
              <a:extLst>
                <a:ext uri="{FF2B5EF4-FFF2-40B4-BE49-F238E27FC236}">
                  <a16:creationId xmlns:a16="http://schemas.microsoft.com/office/drawing/2014/main" id="{3A462BF9-6C81-B946-95D1-E3A09B99A146}"/>
                </a:ext>
              </a:extLst>
            </p:cNvPr>
            <p:cNvSpPr/>
            <p:nvPr/>
          </p:nvSpPr>
          <p:spPr>
            <a:xfrm>
              <a:off x="4997647" y="343429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111" name="Oval 110">
              <a:extLst>
                <a:ext uri="{FF2B5EF4-FFF2-40B4-BE49-F238E27FC236}">
                  <a16:creationId xmlns:a16="http://schemas.microsoft.com/office/drawing/2014/main" id="{D3ECB57A-71FF-1A40-8944-23A0A73CD5E6}"/>
                </a:ext>
              </a:extLst>
            </p:cNvPr>
            <p:cNvSpPr/>
            <p:nvPr/>
          </p:nvSpPr>
          <p:spPr>
            <a:xfrm>
              <a:off x="4311210" y="428508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7</a:t>
              </a:r>
              <a:endParaRPr lang="en-CN" sz="1100" dirty="0"/>
            </a:p>
          </p:txBody>
        </p:sp>
        <p:sp>
          <p:nvSpPr>
            <p:cNvPr id="112" name="Oval 111">
              <a:extLst>
                <a:ext uri="{FF2B5EF4-FFF2-40B4-BE49-F238E27FC236}">
                  <a16:creationId xmlns:a16="http://schemas.microsoft.com/office/drawing/2014/main" id="{2BD918C4-A5B7-A94B-BBBC-276F31A0DFCB}"/>
                </a:ext>
              </a:extLst>
            </p:cNvPr>
            <p:cNvSpPr/>
            <p:nvPr/>
          </p:nvSpPr>
          <p:spPr>
            <a:xfrm>
              <a:off x="5203086" y="429485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4</a:t>
              </a:r>
              <a:endParaRPr lang="en-CN" sz="1100" dirty="0"/>
            </a:p>
          </p:txBody>
        </p:sp>
        <p:sp>
          <p:nvSpPr>
            <p:cNvPr id="113" name="Rectangle 112">
              <a:extLst>
                <a:ext uri="{FF2B5EF4-FFF2-40B4-BE49-F238E27FC236}">
                  <a16:creationId xmlns:a16="http://schemas.microsoft.com/office/drawing/2014/main" id="{67EB31D0-A346-9146-B66C-DBA3E117838B}"/>
                </a:ext>
              </a:extLst>
            </p:cNvPr>
            <p:cNvSpPr/>
            <p:nvPr/>
          </p:nvSpPr>
          <p:spPr>
            <a:xfrm>
              <a:off x="5878858" y="4211238"/>
              <a:ext cx="56535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14" name="Oval 113">
              <a:extLst>
                <a:ext uri="{FF2B5EF4-FFF2-40B4-BE49-F238E27FC236}">
                  <a16:creationId xmlns:a16="http://schemas.microsoft.com/office/drawing/2014/main" id="{68722E29-CDF6-0943-AB89-AC7F64834EC5}"/>
                </a:ext>
              </a:extLst>
            </p:cNvPr>
            <p:cNvSpPr/>
            <p:nvPr/>
          </p:nvSpPr>
          <p:spPr>
            <a:xfrm>
              <a:off x="4944423" y="5009598"/>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6</a:t>
              </a:r>
              <a:endParaRPr lang="en-CN" sz="1100" dirty="0"/>
            </a:p>
          </p:txBody>
        </p:sp>
        <p:cxnSp>
          <p:nvCxnSpPr>
            <p:cNvPr id="115" name="Straight Arrow Connector 114">
              <a:extLst>
                <a:ext uri="{FF2B5EF4-FFF2-40B4-BE49-F238E27FC236}">
                  <a16:creationId xmlns:a16="http://schemas.microsoft.com/office/drawing/2014/main" id="{70CD7112-02D4-164C-A7B6-6E0B76CE6B7F}"/>
                </a:ext>
              </a:extLst>
            </p:cNvPr>
            <p:cNvCxnSpPr>
              <a:cxnSpLocks/>
              <a:stCxn id="112" idx="4"/>
              <a:endCxn id="114" idx="7"/>
            </p:cNvCxnSpPr>
            <p:nvPr/>
          </p:nvCxnSpPr>
          <p:spPr>
            <a:xfrm flipH="1">
              <a:off x="5174217" y="4564079"/>
              <a:ext cx="163480" cy="484946"/>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16" name="TextBox 115">
              <a:extLst>
                <a:ext uri="{FF2B5EF4-FFF2-40B4-BE49-F238E27FC236}">
                  <a16:creationId xmlns:a16="http://schemas.microsoft.com/office/drawing/2014/main" id="{BCA33CCE-120C-B44D-AC1B-585559FE0F7F}"/>
                </a:ext>
              </a:extLst>
            </p:cNvPr>
            <p:cNvSpPr txBox="1"/>
            <p:nvPr/>
          </p:nvSpPr>
          <p:spPr>
            <a:xfrm>
              <a:off x="4882939" y="4510104"/>
              <a:ext cx="466794" cy="261610"/>
            </a:xfrm>
            <a:prstGeom prst="rect">
              <a:avLst/>
            </a:prstGeom>
            <a:noFill/>
          </p:spPr>
          <p:txBody>
            <a:bodyPr wrap="none" rtlCol="0">
              <a:spAutoFit/>
            </a:bodyPr>
            <a:lstStyle/>
            <a:p>
              <a:r>
                <a:rPr lang="zh-CN" altLang="en-US" sz="1100" dirty="0"/>
                <a:t>小红</a:t>
              </a:r>
              <a:endParaRPr lang="en-CN" sz="1100" dirty="0"/>
            </a:p>
          </p:txBody>
        </p:sp>
      </p:grpSp>
      <p:sp>
        <p:nvSpPr>
          <p:cNvPr id="117" name="Rectangle 116">
            <a:extLst>
              <a:ext uri="{FF2B5EF4-FFF2-40B4-BE49-F238E27FC236}">
                <a16:creationId xmlns:a16="http://schemas.microsoft.com/office/drawing/2014/main" id="{80768479-6635-5A46-B53D-E3BF95C585B7}"/>
              </a:ext>
            </a:extLst>
          </p:cNvPr>
          <p:cNvSpPr/>
          <p:nvPr/>
        </p:nvSpPr>
        <p:spPr>
          <a:xfrm>
            <a:off x="6904295" y="2291058"/>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18" name="Rectangle 117">
            <a:extLst>
              <a:ext uri="{FF2B5EF4-FFF2-40B4-BE49-F238E27FC236}">
                <a16:creationId xmlns:a16="http://schemas.microsoft.com/office/drawing/2014/main" id="{8510ED22-9CC1-2340-A7F8-EE63267CB61C}"/>
              </a:ext>
            </a:extLst>
          </p:cNvPr>
          <p:cNvSpPr/>
          <p:nvPr/>
        </p:nvSpPr>
        <p:spPr>
          <a:xfrm>
            <a:off x="7486404" y="2287098"/>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5" name="Slide Number Placeholder 4">
            <a:extLst>
              <a:ext uri="{FF2B5EF4-FFF2-40B4-BE49-F238E27FC236}">
                <a16:creationId xmlns:a16="http://schemas.microsoft.com/office/drawing/2014/main" id="{991BE9B7-E4A4-C049-8746-B6DDE0335831}"/>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Tree>
    <p:extLst>
      <p:ext uri="{BB962C8B-B14F-4D97-AF65-F5344CB8AC3E}">
        <p14:creationId xmlns:p14="http://schemas.microsoft.com/office/powerpoint/2010/main" val="3676953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6141-A05D-4549-B084-C66B2EC34F4C}"/>
              </a:ext>
            </a:extLst>
          </p:cNvPr>
          <p:cNvSpPr>
            <a:spLocks noGrp="1"/>
          </p:cNvSpPr>
          <p:nvPr>
            <p:ph type="title"/>
          </p:nvPr>
        </p:nvSpPr>
        <p:spPr/>
        <p:txBody>
          <a:bodyPr/>
          <a:lstStyle/>
          <a:p>
            <a:r>
              <a:rPr lang="zh-CN" altLang="en-US" dirty="0"/>
              <a:t>虚拟</a:t>
            </a:r>
            <a:r>
              <a:rPr lang="zh-CN" altLang="en-CN" dirty="0"/>
              <a:t>文件系统</a:t>
            </a:r>
            <a:r>
              <a:rPr lang="zh-CN" altLang="en-US" dirty="0"/>
              <a:t> </a:t>
            </a:r>
            <a:r>
              <a:rPr lang="en-US" altLang="zh-CN" dirty="0"/>
              <a:t>VFS</a:t>
            </a:r>
            <a:endParaRPr lang="en-CN" dirty="0"/>
          </a:p>
        </p:txBody>
      </p:sp>
      <p:sp>
        <p:nvSpPr>
          <p:cNvPr id="3" name="Content Placeholder 2">
            <a:extLst>
              <a:ext uri="{FF2B5EF4-FFF2-40B4-BE49-F238E27FC236}">
                <a16:creationId xmlns:a16="http://schemas.microsoft.com/office/drawing/2014/main" id="{E6A36AF6-D7C1-6E44-BE6C-D8CD5935711E}"/>
              </a:ext>
            </a:extLst>
          </p:cNvPr>
          <p:cNvSpPr>
            <a:spLocks noGrp="1"/>
          </p:cNvSpPr>
          <p:nvPr>
            <p:ph idx="1"/>
          </p:nvPr>
        </p:nvSpPr>
        <p:spPr/>
        <p:txBody>
          <a:bodyPr>
            <a:normAutofit/>
          </a:bodyPr>
          <a:lstStyle/>
          <a:p>
            <a:pPr marL="0" indent="0">
              <a:buNone/>
            </a:pPr>
            <a:r>
              <a:rPr lang="en-CN" altLang="zh-CN" sz="1800" b="0" dirty="0"/>
              <a:t>VFS</a:t>
            </a:r>
            <a:r>
              <a:rPr lang="zh-CN" altLang="en-US" sz="1800" b="0" dirty="0"/>
              <a:t>维护一个统一的文件系统树</a:t>
            </a:r>
            <a:endParaRPr lang="en-US" altLang="zh-CN" sz="1800" b="0" dirty="0"/>
          </a:p>
          <a:p>
            <a:pPr marL="0" indent="0">
              <a:buNone/>
            </a:pPr>
            <a:r>
              <a:rPr lang="zh-CN" altLang="en-US" sz="1800" b="0" dirty="0"/>
              <a:t>操作系统内核启动时会挂载一个根文件系统</a:t>
            </a:r>
            <a:endParaRPr lang="en-US" altLang="zh-CN" sz="1800" b="0" dirty="0"/>
          </a:p>
          <a:p>
            <a:pPr marL="0" indent="0">
              <a:buNone/>
            </a:pPr>
            <a:r>
              <a:rPr lang="zh-CN" altLang="en-US" sz="1800" b="0" dirty="0"/>
              <a:t>其他文件系统可以</a:t>
            </a:r>
            <a:r>
              <a:rPr lang="zh-CN" altLang="en-US" sz="1800" dirty="0"/>
              <a:t>挂载</a:t>
            </a:r>
            <a:r>
              <a:rPr lang="zh-CN" altLang="en-US" sz="1800" b="0" dirty="0"/>
              <a:t>在文件系统树的目录上</a:t>
            </a:r>
            <a:endParaRPr lang="en-US" altLang="zh-CN" sz="1800" b="0" dirty="0"/>
          </a:p>
          <a:p>
            <a:pPr marL="0" indent="0">
              <a:buNone/>
            </a:pPr>
            <a:endParaRPr lang="en-US" altLang="zh-CN" sz="1800" b="0" dirty="0"/>
          </a:p>
        </p:txBody>
      </p:sp>
      <p:sp>
        <p:nvSpPr>
          <p:cNvPr id="4" name="Footer Placeholder 3">
            <a:extLst>
              <a:ext uri="{FF2B5EF4-FFF2-40B4-BE49-F238E27FC236}">
                <a16:creationId xmlns:a16="http://schemas.microsoft.com/office/drawing/2014/main" id="{F1365FF2-22A1-3741-83E0-9E3963E95DF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1" name="TextBox 60">
            <a:extLst>
              <a:ext uri="{FF2B5EF4-FFF2-40B4-BE49-F238E27FC236}">
                <a16:creationId xmlns:a16="http://schemas.microsoft.com/office/drawing/2014/main" id="{836EB661-69CD-4140-B7B3-C0B17CD672B2}"/>
              </a:ext>
            </a:extLst>
          </p:cNvPr>
          <p:cNvSpPr txBox="1"/>
          <p:nvPr/>
        </p:nvSpPr>
        <p:spPr>
          <a:xfrm>
            <a:off x="4876772" y="3201279"/>
            <a:ext cx="1119217" cy="338554"/>
          </a:xfrm>
          <a:prstGeom prst="rect">
            <a:avLst/>
          </a:prstGeom>
          <a:noFill/>
        </p:spPr>
        <p:txBody>
          <a:bodyPr wrap="none" rtlCol="0">
            <a:spAutoFit/>
          </a:bodyPr>
          <a:lstStyle/>
          <a:p>
            <a:r>
              <a:rPr lang="zh-CN" altLang="en-CN" sz="1600" dirty="0"/>
              <a:t>文件系统</a:t>
            </a:r>
            <a:r>
              <a:rPr lang="en-US" altLang="zh-CN" sz="1600" dirty="0"/>
              <a:t>1</a:t>
            </a:r>
            <a:endParaRPr lang="en-CN" sz="1600" dirty="0"/>
          </a:p>
        </p:txBody>
      </p:sp>
      <p:grpSp>
        <p:nvGrpSpPr>
          <p:cNvPr id="62" name="Group 61">
            <a:extLst>
              <a:ext uri="{FF2B5EF4-FFF2-40B4-BE49-F238E27FC236}">
                <a16:creationId xmlns:a16="http://schemas.microsoft.com/office/drawing/2014/main" id="{E1C7DE0F-ED64-AD4C-8465-2DC0DA3FB6C1}"/>
              </a:ext>
            </a:extLst>
          </p:cNvPr>
          <p:cNvGrpSpPr/>
          <p:nvPr/>
        </p:nvGrpSpPr>
        <p:grpSpPr>
          <a:xfrm>
            <a:off x="5162229" y="2929223"/>
            <a:ext cx="2614748" cy="2015554"/>
            <a:chOff x="4218630" y="898053"/>
            <a:chExt cx="4841503" cy="3732028"/>
          </a:xfrm>
        </p:grpSpPr>
        <p:sp>
          <p:nvSpPr>
            <p:cNvPr id="63" name="Oval 62">
              <a:extLst>
                <a:ext uri="{FF2B5EF4-FFF2-40B4-BE49-F238E27FC236}">
                  <a16:creationId xmlns:a16="http://schemas.microsoft.com/office/drawing/2014/main" id="{422490A0-B2BF-324F-8DAB-2CF6ECD85F9C}"/>
                </a:ext>
              </a:extLst>
            </p:cNvPr>
            <p:cNvSpPr/>
            <p:nvPr/>
          </p:nvSpPr>
          <p:spPr>
            <a:xfrm>
              <a:off x="4218630" y="412597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64" name="Oval 63">
              <a:extLst>
                <a:ext uri="{FF2B5EF4-FFF2-40B4-BE49-F238E27FC236}">
                  <a16:creationId xmlns:a16="http://schemas.microsoft.com/office/drawing/2014/main" id="{8AFC18B9-9A9D-9C4E-A2E2-C4346865223B}"/>
                </a:ext>
              </a:extLst>
            </p:cNvPr>
            <p:cNvSpPr/>
            <p:nvPr/>
          </p:nvSpPr>
          <p:spPr>
            <a:xfrm>
              <a:off x="7729955" y="4080602"/>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65" name="Oval 64">
              <a:extLst>
                <a:ext uri="{FF2B5EF4-FFF2-40B4-BE49-F238E27FC236}">
                  <a16:creationId xmlns:a16="http://schemas.microsoft.com/office/drawing/2014/main" id="{308BA0DF-C211-9241-80B5-4C59E2B7B40F}"/>
                </a:ext>
              </a:extLst>
            </p:cNvPr>
            <p:cNvSpPr/>
            <p:nvPr/>
          </p:nvSpPr>
          <p:spPr>
            <a:xfrm>
              <a:off x="8539206" y="303362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66" name="Straight Arrow Connector 65">
              <a:extLst>
                <a:ext uri="{FF2B5EF4-FFF2-40B4-BE49-F238E27FC236}">
                  <a16:creationId xmlns:a16="http://schemas.microsoft.com/office/drawing/2014/main" id="{315E1CE2-51F6-1145-9EFA-F443A3C494F4}"/>
                </a:ext>
              </a:extLst>
            </p:cNvPr>
            <p:cNvCxnSpPr>
              <a:cxnSpLocks/>
              <a:stCxn id="87" idx="3"/>
              <a:endCxn id="63" idx="0"/>
            </p:cNvCxnSpPr>
            <p:nvPr/>
          </p:nvCxnSpPr>
          <p:spPr>
            <a:xfrm flipH="1">
              <a:off x="4467877" y="3351408"/>
              <a:ext cx="1184581" cy="77457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7" name="Straight Arrow Connector 66">
              <a:extLst>
                <a:ext uri="{FF2B5EF4-FFF2-40B4-BE49-F238E27FC236}">
                  <a16:creationId xmlns:a16="http://schemas.microsoft.com/office/drawing/2014/main" id="{1FE5EEFF-92F2-BF4E-89B4-36A81C41E055}"/>
                </a:ext>
              </a:extLst>
            </p:cNvPr>
            <p:cNvCxnSpPr>
              <a:cxnSpLocks/>
              <a:stCxn id="88" idx="4"/>
              <a:endCxn id="64" idx="0"/>
            </p:cNvCxnSpPr>
            <p:nvPr/>
          </p:nvCxnSpPr>
          <p:spPr>
            <a:xfrm>
              <a:off x="7480113" y="3442502"/>
              <a:ext cx="499089" cy="6381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8" name="Straight Arrow Connector 67">
              <a:extLst>
                <a:ext uri="{FF2B5EF4-FFF2-40B4-BE49-F238E27FC236}">
                  <a16:creationId xmlns:a16="http://schemas.microsoft.com/office/drawing/2014/main" id="{B2EEAC8C-F9B2-9C4A-B72F-336C8BBB2729}"/>
                </a:ext>
              </a:extLst>
            </p:cNvPr>
            <p:cNvCxnSpPr>
              <a:cxnSpLocks/>
              <a:stCxn id="86" idx="5"/>
              <a:endCxn id="65" idx="0"/>
            </p:cNvCxnSpPr>
            <p:nvPr/>
          </p:nvCxnSpPr>
          <p:spPr>
            <a:xfrm>
              <a:off x="7275961" y="1776066"/>
              <a:ext cx="1512492" cy="125756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69" name="TextBox 68">
              <a:extLst>
                <a:ext uri="{FF2B5EF4-FFF2-40B4-BE49-F238E27FC236}">
                  <a16:creationId xmlns:a16="http://schemas.microsoft.com/office/drawing/2014/main" id="{DEED37BE-4530-A148-B8B6-06ED967DC1B5}"/>
                </a:ext>
              </a:extLst>
            </p:cNvPr>
            <p:cNvSpPr txBox="1"/>
            <p:nvPr/>
          </p:nvSpPr>
          <p:spPr>
            <a:xfrm>
              <a:off x="7081504" y="3543788"/>
              <a:ext cx="1191237" cy="416117"/>
            </a:xfrm>
            <a:prstGeom prst="rect">
              <a:avLst/>
            </a:prstGeom>
            <a:noFill/>
          </p:spPr>
          <p:txBody>
            <a:bodyPr wrap="none" rtlCol="0">
              <a:spAutoFit/>
            </a:bodyPr>
            <a:lstStyle/>
            <a:p>
              <a:r>
                <a:rPr lang="zh-CN" altLang="en-CN" sz="1100" dirty="0"/>
                <a:t>算法</a:t>
              </a:r>
              <a:r>
                <a:rPr lang="zh-CN" altLang="en-US" sz="1100" dirty="0"/>
                <a:t>笔记</a:t>
              </a:r>
              <a:endParaRPr lang="en-CN" sz="1100" dirty="0"/>
            </a:p>
          </p:txBody>
        </p:sp>
        <p:sp>
          <p:nvSpPr>
            <p:cNvPr id="70" name="TextBox 69">
              <a:extLst>
                <a:ext uri="{FF2B5EF4-FFF2-40B4-BE49-F238E27FC236}">
                  <a16:creationId xmlns:a16="http://schemas.microsoft.com/office/drawing/2014/main" id="{E8BEC1F0-F0E5-BA4F-A035-EBBBBB24D8AE}"/>
                </a:ext>
              </a:extLst>
            </p:cNvPr>
            <p:cNvSpPr txBox="1"/>
            <p:nvPr/>
          </p:nvSpPr>
          <p:spPr>
            <a:xfrm>
              <a:off x="7554774" y="1886026"/>
              <a:ext cx="1191237" cy="416117"/>
            </a:xfrm>
            <a:prstGeom prst="rect">
              <a:avLst/>
            </a:prstGeom>
            <a:noFill/>
          </p:spPr>
          <p:txBody>
            <a:bodyPr wrap="none" rtlCol="0">
              <a:spAutoFit/>
            </a:bodyPr>
            <a:lstStyle/>
            <a:p>
              <a:r>
                <a:rPr lang="zh-CN" altLang="en-US" sz="1100" dirty="0"/>
                <a:t>数据结构</a:t>
              </a:r>
              <a:endParaRPr lang="en-CN" sz="1100" dirty="0"/>
            </a:p>
          </p:txBody>
        </p:sp>
        <p:sp>
          <p:nvSpPr>
            <p:cNvPr id="72" name="Oval 71">
              <a:extLst>
                <a:ext uri="{FF2B5EF4-FFF2-40B4-BE49-F238E27FC236}">
                  <a16:creationId xmlns:a16="http://schemas.microsoft.com/office/drawing/2014/main" id="{43BFC1DD-E093-D144-BF78-7722E75E7120}"/>
                </a:ext>
              </a:extLst>
            </p:cNvPr>
            <p:cNvSpPr/>
            <p:nvPr/>
          </p:nvSpPr>
          <p:spPr>
            <a:xfrm>
              <a:off x="5320272" y="413158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7</a:t>
              </a:r>
              <a:endParaRPr lang="en-CN" sz="1100" dirty="0"/>
            </a:p>
          </p:txBody>
        </p:sp>
        <p:sp>
          <p:nvSpPr>
            <p:cNvPr id="73" name="Oval 72">
              <a:extLst>
                <a:ext uri="{FF2B5EF4-FFF2-40B4-BE49-F238E27FC236}">
                  <a16:creationId xmlns:a16="http://schemas.microsoft.com/office/drawing/2014/main" id="{7D331D8E-AA35-624B-AFF5-A4C256951C5E}"/>
                </a:ext>
              </a:extLst>
            </p:cNvPr>
            <p:cNvSpPr/>
            <p:nvPr/>
          </p:nvSpPr>
          <p:spPr>
            <a:xfrm>
              <a:off x="6530203" y="4106987"/>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4</a:t>
              </a:r>
              <a:endParaRPr lang="en-CN" sz="1100" dirty="0"/>
            </a:p>
          </p:txBody>
        </p:sp>
        <p:cxnSp>
          <p:nvCxnSpPr>
            <p:cNvPr id="74" name="Straight Arrow Connector 73">
              <a:extLst>
                <a:ext uri="{FF2B5EF4-FFF2-40B4-BE49-F238E27FC236}">
                  <a16:creationId xmlns:a16="http://schemas.microsoft.com/office/drawing/2014/main" id="{7A3B609E-6C39-8945-832C-BB79397A50D7}"/>
                </a:ext>
              </a:extLst>
            </p:cNvPr>
            <p:cNvCxnSpPr>
              <a:cxnSpLocks/>
              <a:stCxn id="87" idx="4"/>
              <a:endCxn id="72" idx="0"/>
            </p:cNvCxnSpPr>
            <p:nvPr/>
          </p:nvCxnSpPr>
          <p:spPr>
            <a:xfrm flipH="1">
              <a:off x="5569519" y="3424411"/>
              <a:ext cx="259183" cy="70717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75" name="Straight Arrow Connector 74">
              <a:extLst>
                <a:ext uri="{FF2B5EF4-FFF2-40B4-BE49-F238E27FC236}">
                  <a16:creationId xmlns:a16="http://schemas.microsoft.com/office/drawing/2014/main" id="{C8BFA3C8-0547-C443-9E1E-0C4AF6905382}"/>
                </a:ext>
              </a:extLst>
            </p:cNvPr>
            <p:cNvCxnSpPr>
              <a:cxnSpLocks/>
              <a:stCxn id="87" idx="5"/>
              <a:endCxn id="73" idx="0"/>
            </p:cNvCxnSpPr>
            <p:nvPr/>
          </p:nvCxnSpPr>
          <p:spPr>
            <a:xfrm>
              <a:off x="6004945" y="3351408"/>
              <a:ext cx="774505" cy="75557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76" name="Rectangle 75">
              <a:extLst>
                <a:ext uri="{FF2B5EF4-FFF2-40B4-BE49-F238E27FC236}">
                  <a16:creationId xmlns:a16="http://schemas.microsoft.com/office/drawing/2014/main" id="{126A4478-9796-4C4D-86A9-2CB30898A5F3}"/>
                </a:ext>
              </a:extLst>
            </p:cNvPr>
            <p:cNvSpPr/>
            <p:nvPr/>
          </p:nvSpPr>
          <p:spPr>
            <a:xfrm>
              <a:off x="4336045" y="2789178"/>
              <a:ext cx="2641136" cy="1138936"/>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7" name="TextBox 76">
              <a:extLst>
                <a:ext uri="{FF2B5EF4-FFF2-40B4-BE49-F238E27FC236}">
                  <a16:creationId xmlns:a16="http://schemas.microsoft.com/office/drawing/2014/main" id="{24630B91-7CAC-AB42-8E5E-B3AE6F478918}"/>
                </a:ext>
              </a:extLst>
            </p:cNvPr>
            <p:cNvSpPr txBox="1"/>
            <p:nvPr/>
          </p:nvSpPr>
          <p:spPr>
            <a:xfrm>
              <a:off x="5953873" y="1882738"/>
              <a:ext cx="617547" cy="416117"/>
            </a:xfrm>
            <a:prstGeom prst="rect">
              <a:avLst/>
            </a:prstGeom>
            <a:noFill/>
          </p:spPr>
          <p:txBody>
            <a:bodyPr wrap="none" rtlCol="0">
              <a:spAutoFit/>
            </a:bodyPr>
            <a:lstStyle/>
            <a:p>
              <a:r>
                <a:rPr lang="en-US" altLang="zh-CN" sz="1100" dirty="0"/>
                <a:t>OS</a:t>
              </a:r>
              <a:endParaRPr lang="en-CN" sz="1100" dirty="0"/>
            </a:p>
          </p:txBody>
        </p:sp>
        <p:sp>
          <p:nvSpPr>
            <p:cNvPr id="78" name="TextBox 77">
              <a:extLst>
                <a:ext uri="{FF2B5EF4-FFF2-40B4-BE49-F238E27FC236}">
                  <a16:creationId xmlns:a16="http://schemas.microsoft.com/office/drawing/2014/main" id="{E327F7BF-9FC4-CF49-AAFA-AB90873DCD70}"/>
                </a:ext>
              </a:extLst>
            </p:cNvPr>
            <p:cNvSpPr txBox="1"/>
            <p:nvPr/>
          </p:nvSpPr>
          <p:spPr>
            <a:xfrm>
              <a:off x="4336043" y="3282872"/>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1</a:t>
              </a:r>
              <a:endParaRPr lang="en-CN" sz="1100" dirty="0"/>
            </a:p>
          </p:txBody>
        </p:sp>
        <p:sp>
          <p:nvSpPr>
            <p:cNvPr id="79" name="TextBox 78">
              <a:extLst>
                <a:ext uri="{FF2B5EF4-FFF2-40B4-BE49-F238E27FC236}">
                  <a16:creationId xmlns:a16="http://schemas.microsoft.com/office/drawing/2014/main" id="{AE45740E-D400-4542-A81B-FD8A5567C21B}"/>
                </a:ext>
              </a:extLst>
            </p:cNvPr>
            <p:cNvSpPr txBox="1"/>
            <p:nvPr/>
          </p:nvSpPr>
          <p:spPr>
            <a:xfrm>
              <a:off x="5093993" y="3596254"/>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2</a:t>
              </a:r>
              <a:endParaRPr lang="en-CN" sz="1100" dirty="0"/>
            </a:p>
          </p:txBody>
        </p:sp>
        <p:sp>
          <p:nvSpPr>
            <p:cNvPr id="80" name="Rectangle 79">
              <a:extLst>
                <a:ext uri="{FF2B5EF4-FFF2-40B4-BE49-F238E27FC236}">
                  <a16:creationId xmlns:a16="http://schemas.microsoft.com/office/drawing/2014/main" id="{6AC10C6C-F4B5-3842-A779-0E762FC67805}"/>
                </a:ext>
              </a:extLst>
            </p:cNvPr>
            <p:cNvSpPr/>
            <p:nvPr/>
          </p:nvSpPr>
          <p:spPr>
            <a:xfrm>
              <a:off x="7059771" y="2789178"/>
              <a:ext cx="1167809" cy="1144709"/>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81" name="Rectangle 80">
              <a:extLst>
                <a:ext uri="{FF2B5EF4-FFF2-40B4-BE49-F238E27FC236}">
                  <a16:creationId xmlns:a16="http://schemas.microsoft.com/office/drawing/2014/main" id="{0ABDFFD1-6DFD-E545-A640-EA5C290853F8}"/>
                </a:ext>
              </a:extLst>
            </p:cNvPr>
            <p:cNvSpPr/>
            <p:nvPr/>
          </p:nvSpPr>
          <p:spPr>
            <a:xfrm>
              <a:off x="5984366" y="898053"/>
              <a:ext cx="3075767" cy="1608914"/>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82" name="Straight Arrow Connector 81">
              <a:extLst>
                <a:ext uri="{FF2B5EF4-FFF2-40B4-BE49-F238E27FC236}">
                  <a16:creationId xmlns:a16="http://schemas.microsoft.com/office/drawing/2014/main" id="{E20B6772-03A8-E748-B74C-281608B06071}"/>
                </a:ext>
              </a:extLst>
            </p:cNvPr>
            <p:cNvCxnSpPr>
              <a:cxnSpLocks/>
              <a:stCxn id="86" idx="4"/>
              <a:endCxn id="88" idx="0"/>
            </p:cNvCxnSpPr>
            <p:nvPr/>
          </p:nvCxnSpPr>
          <p:spPr>
            <a:xfrm>
              <a:off x="7099718" y="1849069"/>
              <a:ext cx="380395" cy="109494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83" name="Straight Arrow Connector 82">
              <a:extLst>
                <a:ext uri="{FF2B5EF4-FFF2-40B4-BE49-F238E27FC236}">
                  <a16:creationId xmlns:a16="http://schemas.microsoft.com/office/drawing/2014/main" id="{8FABE4A6-2ABF-9641-A2E2-C04D3AB00D32}"/>
                </a:ext>
              </a:extLst>
            </p:cNvPr>
            <p:cNvCxnSpPr>
              <a:cxnSpLocks/>
              <a:stCxn id="86" idx="3"/>
              <a:endCxn id="87" idx="0"/>
            </p:cNvCxnSpPr>
            <p:nvPr/>
          </p:nvCxnSpPr>
          <p:spPr>
            <a:xfrm flipH="1">
              <a:off x="5828702" y="1776066"/>
              <a:ext cx="1094772" cy="114985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4" name="TextBox 83">
              <a:extLst>
                <a:ext uri="{FF2B5EF4-FFF2-40B4-BE49-F238E27FC236}">
                  <a16:creationId xmlns:a16="http://schemas.microsoft.com/office/drawing/2014/main" id="{64B55F17-3E1E-7D49-B419-EE0D888B207A}"/>
                </a:ext>
              </a:extLst>
            </p:cNvPr>
            <p:cNvSpPr txBox="1"/>
            <p:nvPr/>
          </p:nvSpPr>
          <p:spPr>
            <a:xfrm>
              <a:off x="6732202" y="1909082"/>
              <a:ext cx="742483" cy="416117"/>
            </a:xfrm>
            <a:prstGeom prst="rect">
              <a:avLst/>
            </a:prstGeom>
            <a:noFill/>
          </p:spPr>
          <p:txBody>
            <a:bodyPr wrap="none" rtlCol="0">
              <a:spAutoFit/>
            </a:bodyPr>
            <a:lstStyle/>
            <a:p>
              <a:r>
                <a:rPr lang="zh-CN" altLang="en-CN" sz="1100" dirty="0"/>
                <a:t>算法</a:t>
              </a:r>
              <a:endParaRPr lang="en-CN" sz="1100" dirty="0"/>
            </a:p>
          </p:txBody>
        </p:sp>
        <p:sp>
          <p:nvSpPr>
            <p:cNvPr id="85" name="TextBox 84">
              <a:extLst>
                <a:ext uri="{FF2B5EF4-FFF2-40B4-BE49-F238E27FC236}">
                  <a16:creationId xmlns:a16="http://schemas.microsoft.com/office/drawing/2014/main" id="{AA0F355C-95C3-B642-99C5-2510228A9149}"/>
                </a:ext>
              </a:extLst>
            </p:cNvPr>
            <p:cNvSpPr txBox="1"/>
            <p:nvPr/>
          </p:nvSpPr>
          <p:spPr>
            <a:xfrm>
              <a:off x="6326886" y="3424410"/>
              <a:ext cx="742483" cy="416117"/>
            </a:xfrm>
            <a:prstGeom prst="rect">
              <a:avLst/>
            </a:prstGeom>
            <a:noFill/>
          </p:spPr>
          <p:txBody>
            <a:bodyPr wrap="none" rtlCol="0">
              <a:spAutoFit/>
            </a:bodyPr>
            <a:lstStyle/>
            <a:p>
              <a:r>
                <a:rPr lang="zh-CN" altLang="en-US" sz="1100" dirty="0"/>
                <a:t>其他</a:t>
              </a:r>
              <a:endParaRPr lang="en-CN" sz="1100" dirty="0"/>
            </a:p>
          </p:txBody>
        </p:sp>
        <p:sp>
          <p:nvSpPr>
            <p:cNvPr id="86" name="Oval 85">
              <a:extLst>
                <a:ext uri="{FF2B5EF4-FFF2-40B4-BE49-F238E27FC236}">
                  <a16:creationId xmlns:a16="http://schemas.microsoft.com/office/drawing/2014/main" id="{3834C4B8-6A35-BF42-B7BD-949665101EB8}"/>
                </a:ext>
              </a:extLst>
            </p:cNvPr>
            <p:cNvSpPr/>
            <p:nvPr/>
          </p:nvSpPr>
          <p:spPr>
            <a:xfrm>
              <a:off x="6850471" y="135057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0</a:t>
              </a:r>
              <a:endParaRPr lang="en-CN" sz="1100" dirty="0"/>
            </a:p>
          </p:txBody>
        </p:sp>
        <p:sp>
          <p:nvSpPr>
            <p:cNvPr id="87" name="Oval 86">
              <a:extLst>
                <a:ext uri="{FF2B5EF4-FFF2-40B4-BE49-F238E27FC236}">
                  <a16:creationId xmlns:a16="http://schemas.microsoft.com/office/drawing/2014/main" id="{D1561B5D-DE59-8047-BF47-C54B11F52294}"/>
                </a:ext>
              </a:extLst>
            </p:cNvPr>
            <p:cNvSpPr/>
            <p:nvPr/>
          </p:nvSpPr>
          <p:spPr>
            <a:xfrm>
              <a:off x="5579455" y="2925918"/>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13</a:t>
              </a:r>
              <a:endParaRPr lang="en-CN" sz="1100" dirty="0"/>
            </a:p>
          </p:txBody>
        </p:sp>
        <p:sp>
          <p:nvSpPr>
            <p:cNvPr id="88" name="Oval 87">
              <a:extLst>
                <a:ext uri="{FF2B5EF4-FFF2-40B4-BE49-F238E27FC236}">
                  <a16:creationId xmlns:a16="http://schemas.microsoft.com/office/drawing/2014/main" id="{8DE57138-3CB8-E74B-B325-DB8C978C444C}"/>
                </a:ext>
              </a:extLst>
            </p:cNvPr>
            <p:cNvSpPr/>
            <p:nvPr/>
          </p:nvSpPr>
          <p:spPr>
            <a:xfrm>
              <a:off x="7230866" y="2944009"/>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14</a:t>
              </a:r>
              <a:endParaRPr lang="en-CN" sz="1100" dirty="0"/>
            </a:p>
          </p:txBody>
        </p:sp>
      </p:grpSp>
      <p:grpSp>
        <p:nvGrpSpPr>
          <p:cNvPr id="89" name="Group 88">
            <a:extLst>
              <a:ext uri="{FF2B5EF4-FFF2-40B4-BE49-F238E27FC236}">
                <a16:creationId xmlns:a16="http://schemas.microsoft.com/office/drawing/2014/main" id="{97CF5E01-AA30-B948-99FE-C9C579E111C4}"/>
              </a:ext>
            </a:extLst>
          </p:cNvPr>
          <p:cNvGrpSpPr/>
          <p:nvPr/>
        </p:nvGrpSpPr>
        <p:grpSpPr>
          <a:xfrm>
            <a:off x="5588616" y="571589"/>
            <a:ext cx="2867938" cy="2602028"/>
            <a:chOff x="3576270" y="3170153"/>
            <a:chExt cx="2867938" cy="2602028"/>
          </a:xfrm>
        </p:grpSpPr>
        <p:sp>
          <p:nvSpPr>
            <p:cNvPr id="90" name="Oval 89">
              <a:extLst>
                <a:ext uri="{FF2B5EF4-FFF2-40B4-BE49-F238E27FC236}">
                  <a16:creationId xmlns:a16="http://schemas.microsoft.com/office/drawing/2014/main" id="{00EBE677-3A2D-EC42-B33D-B914BA91F33D}"/>
                </a:ext>
              </a:extLst>
            </p:cNvPr>
            <p:cNvSpPr/>
            <p:nvPr/>
          </p:nvSpPr>
          <p:spPr>
            <a:xfrm>
              <a:off x="3576270" y="493320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sp>
          <p:nvSpPr>
            <p:cNvPr id="91" name="Oval 90">
              <a:extLst>
                <a:ext uri="{FF2B5EF4-FFF2-40B4-BE49-F238E27FC236}">
                  <a16:creationId xmlns:a16="http://schemas.microsoft.com/office/drawing/2014/main" id="{276EA3A8-1499-EB4B-8773-B63EB7CBA369}"/>
                </a:ext>
              </a:extLst>
            </p:cNvPr>
            <p:cNvSpPr/>
            <p:nvPr/>
          </p:nvSpPr>
          <p:spPr>
            <a:xfrm>
              <a:off x="5540483" y="4999342"/>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92" name="Oval 91">
              <a:extLst>
                <a:ext uri="{FF2B5EF4-FFF2-40B4-BE49-F238E27FC236}">
                  <a16:creationId xmlns:a16="http://schemas.microsoft.com/office/drawing/2014/main" id="{8BFD7F69-ED4D-364E-AC8E-C1D7FA845544}"/>
                </a:ext>
              </a:extLst>
            </p:cNvPr>
            <p:cNvSpPr/>
            <p:nvPr/>
          </p:nvSpPr>
          <p:spPr>
            <a:xfrm>
              <a:off x="6030387" y="4315619"/>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93" name="Straight Arrow Connector 92">
              <a:extLst>
                <a:ext uri="{FF2B5EF4-FFF2-40B4-BE49-F238E27FC236}">
                  <a16:creationId xmlns:a16="http://schemas.microsoft.com/office/drawing/2014/main" id="{1B22098B-B2EE-9D48-A48C-2380BBCDAE7C}"/>
                </a:ext>
              </a:extLst>
            </p:cNvPr>
            <p:cNvCxnSpPr>
              <a:cxnSpLocks/>
              <a:stCxn id="111" idx="3"/>
              <a:endCxn id="90" idx="0"/>
            </p:cNvCxnSpPr>
            <p:nvPr/>
          </p:nvCxnSpPr>
          <p:spPr>
            <a:xfrm flipH="1">
              <a:off x="3710881" y="4514882"/>
              <a:ext cx="639756" cy="41832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4" name="Straight Arrow Connector 93">
              <a:extLst>
                <a:ext uri="{FF2B5EF4-FFF2-40B4-BE49-F238E27FC236}">
                  <a16:creationId xmlns:a16="http://schemas.microsoft.com/office/drawing/2014/main" id="{DB954439-171D-0D44-A9C2-AD77FD858295}"/>
                </a:ext>
              </a:extLst>
            </p:cNvPr>
            <p:cNvCxnSpPr>
              <a:cxnSpLocks/>
              <a:stCxn id="112" idx="4"/>
              <a:endCxn id="91" idx="0"/>
            </p:cNvCxnSpPr>
            <p:nvPr/>
          </p:nvCxnSpPr>
          <p:spPr>
            <a:xfrm>
              <a:off x="5337697" y="4564079"/>
              <a:ext cx="337397" cy="43526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5" name="Straight Arrow Connector 94">
              <a:extLst>
                <a:ext uri="{FF2B5EF4-FFF2-40B4-BE49-F238E27FC236}">
                  <a16:creationId xmlns:a16="http://schemas.microsoft.com/office/drawing/2014/main" id="{C86FB571-B2F8-A043-B1BD-D2ED6600E4ED}"/>
                </a:ext>
              </a:extLst>
            </p:cNvPr>
            <p:cNvCxnSpPr>
              <a:cxnSpLocks/>
              <a:stCxn id="110" idx="5"/>
              <a:endCxn id="92" idx="0"/>
            </p:cNvCxnSpPr>
            <p:nvPr/>
          </p:nvCxnSpPr>
          <p:spPr>
            <a:xfrm>
              <a:off x="5227441" y="3664087"/>
              <a:ext cx="937557" cy="65153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96" name="TextBox 95">
              <a:extLst>
                <a:ext uri="{FF2B5EF4-FFF2-40B4-BE49-F238E27FC236}">
                  <a16:creationId xmlns:a16="http://schemas.microsoft.com/office/drawing/2014/main" id="{7C60019B-FE86-2944-8E8E-8799253C76F3}"/>
                </a:ext>
              </a:extLst>
            </p:cNvPr>
            <p:cNvSpPr txBox="1"/>
            <p:nvPr/>
          </p:nvSpPr>
          <p:spPr>
            <a:xfrm>
              <a:off x="5361807" y="4510104"/>
              <a:ext cx="466794" cy="261610"/>
            </a:xfrm>
            <a:prstGeom prst="rect">
              <a:avLst/>
            </a:prstGeom>
            <a:noFill/>
          </p:spPr>
          <p:txBody>
            <a:bodyPr wrap="none" rtlCol="0">
              <a:spAutoFit/>
            </a:bodyPr>
            <a:lstStyle/>
            <a:p>
              <a:r>
                <a:rPr lang="zh-CN" altLang="en-US" sz="1100" dirty="0"/>
                <a:t>小明</a:t>
              </a:r>
              <a:endParaRPr lang="en-CN" sz="1100" dirty="0"/>
            </a:p>
          </p:txBody>
        </p:sp>
        <p:sp>
          <p:nvSpPr>
            <p:cNvPr id="97" name="TextBox 96">
              <a:extLst>
                <a:ext uri="{FF2B5EF4-FFF2-40B4-BE49-F238E27FC236}">
                  <a16:creationId xmlns:a16="http://schemas.microsoft.com/office/drawing/2014/main" id="{202D474A-BAC5-DC46-B809-887B76610E85}"/>
                </a:ext>
              </a:extLst>
            </p:cNvPr>
            <p:cNvSpPr txBox="1"/>
            <p:nvPr/>
          </p:nvSpPr>
          <p:spPr>
            <a:xfrm>
              <a:off x="5461984" y="3729422"/>
              <a:ext cx="474810" cy="261610"/>
            </a:xfrm>
            <a:prstGeom prst="rect">
              <a:avLst/>
            </a:prstGeom>
            <a:noFill/>
          </p:spPr>
          <p:txBody>
            <a:bodyPr wrap="none" rtlCol="0">
              <a:spAutoFit/>
            </a:bodyPr>
            <a:lstStyle/>
            <a:p>
              <a:r>
                <a:rPr lang="en-US" altLang="zh-CN" sz="1100" dirty="0"/>
                <a:t>boot</a:t>
              </a:r>
            </a:p>
          </p:txBody>
        </p:sp>
        <p:sp>
          <p:nvSpPr>
            <p:cNvPr id="98" name="TextBox 97">
              <a:extLst>
                <a:ext uri="{FF2B5EF4-FFF2-40B4-BE49-F238E27FC236}">
                  <a16:creationId xmlns:a16="http://schemas.microsoft.com/office/drawing/2014/main" id="{20139A4C-54D0-2247-9AF7-D9321C5ACE0C}"/>
                </a:ext>
              </a:extLst>
            </p:cNvPr>
            <p:cNvSpPr txBox="1"/>
            <p:nvPr/>
          </p:nvSpPr>
          <p:spPr>
            <a:xfrm>
              <a:off x="5414008" y="3170153"/>
              <a:ext cx="522172" cy="224732"/>
            </a:xfrm>
            <a:prstGeom prst="rect">
              <a:avLst/>
            </a:prstGeom>
            <a:noFill/>
          </p:spPr>
          <p:txBody>
            <a:bodyPr wrap="none" rtlCol="0">
              <a:spAutoFit/>
            </a:bodyPr>
            <a:lstStyle/>
            <a:p>
              <a:r>
                <a:rPr lang="zh-CN" altLang="en-US" sz="1100" dirty="0"/>
                <a:t>根</a:t>
              </a:r>
              <a:r>
                <a:rPr lang="zh-CN" altLang="en-CN" sz="1100" dirty="0"/>
                <a:t>目录</a:t>
              </a:r>
              <a:endParaRPr lang="en-CN" sz="1100" dirty="0"/>
            </a:p>
          </p:txBody>
        </p:sp>
        <p:sp>
          <p:nvSpPr>
            <p:cNvPr id="99" name="Oval 98">
              <a:extLst>
                <a:ext uri="{FF2B5EF4-FFF2-40B4-BE49-F238E27FC236}">
                  <a16:creationId xmlns:a16="http://schemas.microsoft.com/office/drawing/2014/main" id="{50A008F6-519C-B949-B2C0-DA9E3D644676}"/>
                </a:ext>
              </a:extLst>
            </p:cNvPr>
            <p:cNvSpPr/>
            <p:nvPr/>
          </p:nvSpPr>
          <p:spPr>
            <a:xfrm>
              <a:off x="4171233" y="493623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9</a:t>
              </a:r>
              <a:endParaRPr lang="en-CN" sz="1100" dirty="0"/>
            </a:p>
          </p:txBody>
        </p:sp>
        <p:cxnSp>
          <p:nvCxnSpPr>
            <p:cNvPr id="100" name="Straight Arrow Connector 99">
              <a:extLst>
                <a:ext uri="{FF2B5EF4-FFF2-40B4-BE49-F238E27FC236}">
                  <a16:creationId xmlns:a16="http://schemas.microsoft.com/office/drawing/2014/main" id="{47BC46CF-5AC3-FC42-9707-7CCE5FA96E50}"/>
                </a:ext>
              </a:extLst>
            </p:cNvPr>
            <p:cNvCxnSpPr>
              <a:cxnSpLocks/>
              <a:stCxn id="111" idx="4"/>
              <a:endCxn id="99" idx="0"/>
            </p:cNvCxnSpPr>
            <p:nvPr/>
          </p:nvCxnSpPr>
          <p:spPr>
            <a:xfrm flipH="1">
              <a:off x="4305844" y="4554308"/>
              <a:ext cx="139977" cy="38192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1" name="Rectangle 100">
              <a:extLst>
                <a:ext uri="{FF2B5EF4-FFF2-40B4-BE49-F238E27FC236}">
                  <a16:creationId xmlns:a16="http://schemas.microsoft.com/office/drawing/2014/main" id="{D496B283-5661-3A4E-9E8A-B57AEACE12F1}"/>
                </a:ext>
              </a:extLst>
            </p:cNvPr>
            <p:cNvSpPr/>
            <p:nvPr/>
          </p:nvSpPr>
          <p:spPr>
            <a:xfrm>
              <a:off x="3639682" y="4211238"/>
              <a:ext cx="1153683" cy="61510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2" name="TextBox 101">
              <a:extLst>
                <a:ext uri="{FF2B5EF4-FFF2-40B4-BE49-F238E27FC236}">
                  <a16:creationId xmlns:a16="http://schemas.microsoft.com/office/drawing/2014/main" id="{03972B6C-E9BE-DF40-AC09-33795FB31F5A}"/>
                </a:ext>
              </a:extLst>
            </p:cNvPr>
            <p:cNvSpPr txBox="1"/>
            <p:nvPr/>
          </p:nvSpPr>
          <p:spPr>
            <a:xfrm>
              <a:off x="4457257" y="3723474"/>
              <a:ext cx="373820" cy="261610"/>
            </a:xfrm>
            <a:prstGeom prst="rect">
              <a:avLst/>
            </a:prstGeom>
            <a:noFill/>
          </p:spPr>
          <p:txBody>
            <a:bodyPr wrap="none" rtlCol="0">
              <a:spAutoFit/>
            </a:bodyPr>
            <a:lstStyle/>
            <a:p>
              <a:r>
                <a:rPr lang="en-US" altLang="zh-CN" sz="1100" dirty="0"/>
                <a:t>bin</a:t>
              </a:r>
              <a:endParaRPr lang="en-CN" sz="1100" dirty="0"/>
            </a:p>
          </p:txBody>
        </p:sp>
        <p:sp>
          <p:nvSpPr>
            <p:cNvPr id="103" name="TextBox 102">
              <a:extLst>
                <a:ext uri="{FF2B5EF4-FFF2-40B4-BE49-F238E27FC236}">
                  <a16:creationId xmlns:a16="http://schemas.microsoft.com/office/drawing/2014/main" id="{38B95B0F-9117-6949-B04C-C07498D4402C}"/>
                </a:ext>
              </a:extLst>
            </p:cNvPr>
            <p:cNvSpPr txBox="1"/>
            <p:nvPr/>
          </p:nvSpPr>
          <p:spPr>
            <a:xfrm>
              <a:off x="3639681" y="4477868"/>
              <a:ext cx="287258" cy="261610"/>
            </a:xfrm>
            <a:prstGeom prst="rect">
              <a:avLst/>
            </a:prstGeom>
            <a:noFill/>
          </p:spPr>
          <p:txBody>
            <a:bodyPr wrap="none" rtlCol="0">
              <a:spAutoFit/>
            </a:bodyPr>
            <a:lstStyle/>
            <a:p>
              <a:r>
                <a:rPr lang="en-CN" altLang="zh-CN" sz="1100" dirty="0"/>
                <a:t>ls</a:t>
              </a:r>
              <a:endParaRPr lang="en-CN" sz="1100" dirty="0"/>
            </a:p>
          </p:txBody>
        </p:sp>
        <p:sp>
          <p:nvSpPr>
            <p:cNvPr id="104" name="TextBox 103">
              <a:extLst>
                <a:ext uri="{FF2B5EF4-FFF2-40B4-BE49-F238E27FC236}">
                  <a16:creationId xmlns:a16="http://schemas.microsoft.com/office/drawing/2014/main" id="{A8DA8752-BAC7-FF4B-B515-8CE302ADC68A}"/>
                </a:ext>
              </a:extLst>
            </p:cNvPr>
            <p:cNvSpPr txBox="1"/>
            <p:nvPr/>
          </p:nvSpPr>
          <p:spPr>
            <a:xfrm>
              <a:off x="4079845" y="4578217"/>
              <a:ext cx="365806" cy="261610"/>
            </a:xfrm>
            <a:prstGeom prst="rect">
              <a:avLst/>
            </a:prstGeom>
            <a:noFill/>
          </p:spPr>
          <p:txBody>
            <a:bodyPr wrap="none" rtlCol="0">
              <a:spAutoFit/>
            </a:bodyPr>
            <a:lstStyle/>
            <a:p>
              <a:r>
                <a:rPr lang="en-US" altLang="zh-CN" sz="1100" dirty="0" err="1"/>
                <a:t>init</a:t>
              </a:r>
              <a:endParaRPr lang="en-CN" sz="1100" dirty="0"/>
            </a:p>
          </p:txBody>
        </p:sp>
        <p:sp>
          <p:nvSpPr>
            <p:cNvPr id="105" name="Rectangle 104">
              <a:extLst>
                <a:ext uri="{FF2B5EF4-FFF2-40B4-BE49-F238E27FC236}">
                  <a16:creationId xmlns:a16="http://schemas.microsoft.com/office/drawing/2014/main" id="{71C3C03B-E67D-9E43-9BB3-564430179185}"/>
                </a:ext>
              </a:extLst>
            </p:cNvPr>
            <p:cNvSpPr/>
            <p:nvPr/>
          </p:nvSpPr>
          <p:spPr>
            <a:xfrm>
              <a:off x="4944894" y="4211238"/>
              <a:ext cx="883707"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6" name="Rectangle 105">
              <a:extLst>
                <a:ext uri="{FF2B5EF4-FFF2-40B4-BE49-F238E27FC236}">
                  <a16:creationId xmlns:a16="http://schemas.microsoft.com/office/drawing/2014/main" id="{97D8A04B-69BC-0843-9BE0-9587C6BCE7C5}"/>
                </a:ext>
              </a:extLst>
            </p:cNvPr>
            <p:cNvSpPr/>
            <p:nvPr/>
          </p:nvSpPr>
          <p:spPr>
            <a:xfrm>
              <a:off x="4259759" y="3408136"/>
              <a:ext cx="2184449" cy="65068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107" name="Straight Arrow Connector 106">
              <a:extLst>
                <a:ext uri="{FF2B5EF4-FFF2-40B4-BE49-F238E27FC236}">
                  <a16:creationId xmlns:a16="http://schemas.microsoft.com/office/drawing/2014/main" id="{4E09EEA5-F729-714C-8DCD-8A3BF70D54BC}"/>
                </a:ext>
              </a:extLst>
            </p:cNvPr>
            <p:cNvCxnSpPr>
              <a:cxnSpLocks/>
              <a:stCxn id="110" idx="4"/>
              <a:endCxn id="112" idx="0"/>
            </p:cNvCxnSpPr>
            <p:nvPr/>
          </p:nvCxnSpPr>
          <p:spPr>
            <a:xfrm>
              <a:off x="5132257" y="3703514"/>
              <a:ext cx="205440" cy="591344"/>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08" name="Straight Arrow Connector 107">
              <a:extLst>
                <a:ext uri="{FF2B5EF4-FFF2-40B4-BE49-F238E27FC236}">
                  <a16:creationId xmlns:a16="http://schemas.microsoft.com/office/drawing/2014/main" id="{714B52C9-FE04-6241-BC05-0BF0577C5D2E}"/>
                </a:ext>
              </a:extLst>
            </p:cNvPr>
            <p:cNvCxnSpPr>
              <a:cxnSpLocks/>
              <a:stCxn id="110" idx="3"/>
              <a:endCxn id="111" idx="0"/>
            </p:cNvCxnSpPr>
            <p:nvPr/>
          </p:nvCxnSpPr>
          <p:spPr>
            <a:xfrm flipH="1">
              <a:off x="4445821" y="3664088"/>
              <a:ext cx="591253" cy="6210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9" name="TextBox 108">
              <a:extLst>
                <a:ext uri="{FF2B5EF4-FFF2-40B4-BE49-F238E27FC236}">
                  <a16:creationId xmlns:a16="http://schemas.microsoft.com/office/drawing/2014/main" id="{8FFD3829-E7C3-B247-A711-D416EE6C46C1}"/>
                </a:ext>
              </a:extLst>
            </p:cNvPr>
            <p:cNvSpPr txBox="1"/>
            <p:nvPr/>
          </p:nvSpPr>
          <p:spPr>
            <a:xfrm>
              <a:off x="4946601" y="3751225"/>
              <a:ext cx="537327" cy="261610"/>
            </a:xfrm>
            <a:prstGeom prst="rect">
              <a:avLst/>
            </a:prstGeom>
            <a:noFill/>
          </p:spPr>
          <p:txBody>
            <a:bodyPr wrap="none" rtlCol="0">
              <a:spAutoFit/>
            </a:bodyPr>
            <a:lstStyle/>
            <a:p>
              <a:r>
                <a:rPr lang="en-US" altLang="zh-CN" sz="1100" dirty="0"/>
                <a:t>home</a:t>
              </a:r>
              <a:endParaRPr lang="en-CN" sz="1100" dirty="0"/>
            </a:p>
          </p:txBody>
        </p:sp>
        <p:sp>
          <p:nvSpPr>
            <p:cNvPr id="110" name="Oval 109">
              <a:extLst>
                <a:ext uri="{FF2B5EF4-FFF2-40B4-BE49-F238E27FC236}">
                  <a16:creationId xmlns:a16="http://schemas.microsoft.com/office/drawing/2014/main" id="{3A462BF9-6C81-B946-95D1-E3A09B99A146}"/>
                </a:ext>
              </a:extLst>
            </p:cNvPr>
            <p:cNvSpPr/>
            <p:nvPr/>
          </p:nvSpPr>
          <p:spPr>
            <a:xfrm>
              <a:off x="4997647" y="343429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111" name="Oval 110">
              <a:extLst>
                <a:ext uri="{FF2B5EF4-FFF2-40B4-BE49-F238E27FC236}">
                  <a16:creationId xmlns:a16="http://schemas.microsoft.com/office/drawing/2014/main" id="{D3ECB57A-71FF-1A40-8944-23A0A73CD5E6}"/>
                </a:ext>
              </a:extLst>
            </p:cNvPr>
            <p:cNvSpPr/>
            <p:nvPr/>
          </p:nvSpPr>
          <p:spPr>
            <a:xfrm>
              <a:off x="4311210" y="428508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7</a:t>
              </a:r>
              <a:endParaRPr lang="en-CN" sz="1100" dirty="0"/>
            </a:p>
          </p:txBody>
        </p:sp>
        <p:sp>
          <p:nvSpPr>
            <p:cNvPr id="112" name="Oval 111">
              <a:extLst>
                <a:ext uri="{FF2B5EF4-FFF2-40B4-BE49-F238E27FC236}">
                  <a16:creationId xmlns:a16="http://schemas.microsoft.com/office/drawing/2014/main" id="{2BD918C4-A5B7-A94B-BBBC-276F31A0DFCB}"/>
                </a:ext>
              </a:extLst>
            </p:cNvPr>
            <p:cNvSpPr/>
            <p:nvPr/>
          </p:nvSpPr>
          <p:spPr>
            <a:xfrm>
              <a:off x="5203086" y="429485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4</a:t>
              </a:r>
              <a:endParaRPr lang="en-CN" sz="1100" dirty="0"/>
            </a:p>
          </p:txBody>
        </p:sp>
        <p:sp>
          <p:nvSpPr>
            <p:cNvPr id="113" name="Rectangle 112">
              <a:extLst>
                <a:ext uri="{FF2B5EF4-FFF2-40B4-BE49-F238E27FC236}">
                  <a16:creationId xmlns:a16="http://schemas.microsoft.com/office/drawing/2014/main" id="{67EB31D0-A346-9146-B66C-DBA3E117838B}"/>
                </a:ext>
              </a:extLst>
            </p:cNvPr>
            <p:cNvSpPr/>
            <p:nvPr/>
          </p:nvSpPr>
          <p:spPr>
            <a:xfrm>
              <a:off x="5878858" y="4211238"/>
              <a:ext cx="56535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cxnSp>
          <p:nvCxnSpPr>
            <p:cNvPr id="115" name="Straight Arrow Connector 114">
              <a:extLst>
                <a:ext uri="{FF2B5EF4-FFF2-40B4-BE49-F238E27FC236}">
                  <a16:creationId xmlns:a16="http://schemas.microsoft.com/office/drawing/2014/main" id="{70CD7112-02D4-164C-A7B6-6E0B76CE6B7F}"/>
                </a:ext>
              </a:extLst>
            </p:cNvPr>
            <p:cNvCxnSpPr>
              <a:cxnSpLocks/>
              <a:stCxn id="112" idx="4"/>
              <a:endCxn id="86" idx="0"/>
            </p:cNvCxnSpPr>
            <p:nvPr/>
          </p:nvCxnSpPr>
          <p:spPr>
            <a:xfrm flipH="1">
              <a:off x="4705871" y="4564079"/>
              <a:ext cx="631826" cy="120810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16" name="TextBox 115">
              <a:extLst>
                <a:ext uri="{FF2B5EF4-FFF2-40B4-BE49-F238E27FC236}">
                  <a16:creationId xmlns:a16="http://schemas.microsoft.com/office/drawing/2014/main" id="{BCA33CCE-120C-B44D-AC1B-585559FE0F7F}"/>
                </a:ext>
              </a:extLst>
            </p:cNvPr>
            <p:cNvSpPr txBox="1"/>
            <p:nvPr/>
          </p:nvSpPr>
          <p:spPr>
            <a:xfrm>
              <a:off x="4882939" y="4510104"/>
              <a:ext cx="466794" cy="261610"/>
            </a:xfrm>
            <a:prstGeom prst="rect">
              <a:avLst/>
            </a:prstGeom>
            <a:noFill/>
          </p:spPr>
          <p:txBody>
            <a:bodyPr wrap="none" rtlCol="0">
              <a:spAutoFit/>
            </a:bodyPr>
            <a:lstStyle/>
            <a:p>
              <a:r>
                <a:rPr lang="zh-CN" altLang="en-US" sz="1100" dirty="0"/>
                <a:t>小红</a:t>
              </a:r>
              <a:endParaRPr lang="en-CN" sz="1100" dirty="0"/>
            </a:p>
          </p:txBody>
        </p:sp>
      </p:grpSp>
      <p:sp>
        <p:nvSpPr>
          <p:cNvPr id="118" name="Rectangle 117">
            <a:extLst>
              <a:ext uri="{FF2B5EF4-FFF2-40B4-BE49-F238E27FC236}">
                <a16:creationId xmlns:a16="http://schemas.microsoft.com/office/drawing/2014/main" id="{8510ED22-9CC1-2340-A7F8-EE63267CB61C}"/>
              </a:ext>
            </a:extLst>
          </p:cNvPr>
          <p:cNvSpPr/>
          <p:nvPr/>
        </p:nvSpPr>
        <p:spPr>
          <a:xfrm>
            <a:off x="7486404" y="2287098"/>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1" name="TextBox 70">
            <a:extLst>
              <a:ext uri="{FF2B5EF4-FFF2-40B4-BE49-F238E27FC236}">
                <a16:creationId xmlns:a16="http://schemas.microsoft.com/office/drawing/2014/main" id="{C3B46665-B0E3-AD4A-8B3B-DA2E1CF0732B}"/>
              </a:ext>
            </a:extLst>
          </p:cNvPr>
          <p:cNvSpPr txBox="1"/>
          <p:nvPr/>
        </p:nvSpPr>
        <p:spPr>
          <a:xfrm>
            <a:off x="4821627" y="429358"/>
            <a:ext cx="2555508" cy="338554"/>
          </a:xfrm>
          <a:prstGeom prst="rect">
            <a:avLst/>
          </a:prstGeom>
          <a:noFill/>
        </p:spPr>
        <p:txBody>
          <a:bodyPr wrap="none" rtlCol="0">
            <a:spAutoFit/>
          </a:bodyPr>
          <a:lstStyle/>
          <a:p>
            <a:r>
              <a:rPr lang="zh-CN" altLang="en-CN" sz="1600" dirty="0"/>
              <a:t>文件系统</a:t>
            </a:r>
            <a:r>
              <a:rPr lang="en-US" altLang="zh-CN" sz="1600" dirty="0"/>
              <a:t>2</a:t>
            </a:r>
            <a:r>
              <a:rPr lang="zh-CN" altLang="en-US" sz="1600" dirty="0"/>
              <a:t>作为根文件系统</a:t>
            </a:r>
            <a:endParaRPr lang="en-CN" sz="1600" dirty="0"/>
          </a:p>
        </p:txBody>
      </p:sp>
      <p:sp>
        <p:nvSpPr>
          <p:cNvPr id="6" name="TextBox 5">
            <a:extLst>
              <a:ext uri="{FF2B5EF4-FFF2-40B4-BE49-F238E27FC236}">
                <a16:creationId xmlns:a16="http://schemas.microsoft.com/office/drawing/2014/main" id="{061E2A7B-BD4E-F249-9896-E7CF31355262}"/>
              </a:ext>
            </a:extLst>
          </p:cNvPr>
          <p:cNvSpPr txBox="1"/>
          <p:nvPr/>
        </p:nvSpPr>
        <p:spPr>
          <a:xfrm>
            <a:off x="4393941" y="3544332"/>
            <a:ext cx="1686680" cy="294824"/>
          </a:xfrm>
          <a:prstGeom prst="rect">
            <a:avLst/>
          </a:prstGeom>
          <a:noFill/>
        </p:spPr>
        <p:txBody>
          <a:bodyPr wrap="none" rtlCol="0">
            <a:spAutoFit/>
          </a:bodyPr>
          <a:lstStyle/>
          <a:p>
            <a:pPr lvl="0">
              <a:lnSpc>
                <a:spcPct val="120000"/>
              </a:lnSpc>
              <a:spcBef>
                <a:spcPts val="1200"/>
              </a:spcBef>
            </a:pPr>
            <a:r>
              <a:rPr lang="zh-CN" altLang="en-US" sz="1200" dirty="0">
                <a:solidFill>
                  <a:srgbClr val="000000">
                    <a:lumMod val="75000"/>
                    <a:lumOff val="25000"/>
                  </a:srgbClr>
                </a:solidFill>
                <a:ea typeface="微软雅黑" panose="020B0503020204020204" pitchFamily="34" charset="-122"/>
              </a:rPr>
              <a:t>挂载点：</a:t>
            </a:r>
            <a:r>
              <a:rPr lang="en-US" altLang="zh-CN" sz="1200" dirty="0">
                <a:solidFill>
                  <a:srgbClr val="000000">
                    <a:lumMod val="75000"/>
                    <a:lumOff val="25000"/>
                  </a:srgbClr>
                </a:solidFill>
                <a:ea typeface="微软雅黑" panose="020B0503020204020204" pitchFamily="34" charset="-122"/>
              </a:rPr>
              <a:t>"/home/</a:t>
            </a:r>
            <a:r>
              <a:rPr lang="zh-CN" altLang="en-US" sz="1200" dirty="0">
                <a:solidFill>
                  <a:srgbClr val="000000">
                    <a:lumMod val="75000"/>
                    <a:lumOff val="25000"/>
                  </a:srgbClr>
                </a:solidFill>
                <a:ea typeface="微软雅黑" panose="020B0503020204020204" pitchFamily="34" charset="-122"/>
              </a:rPr>
              <a:t>小红</a:t>
            </a:r>
            <a:r>
              <a:rPr lang="en-US" altLang="zh-CN" sz="1200" dirty="0">
                <a:solidFill>
                  <a:srgbClr val="000000">
                    <a:lumMod val="75000"/>
                    <a:lumOff val="25000"/>
                  </a:srgbClr>
                </a:solidFill>
                <a:ea typeface="微软雅黑" panose="020B0503020204020204" pitchFamily="34" charset="-122"/>
              </a:rPr>
              <a:t>"</a:t>
            </a:r>
          </a:p>
        </p:txBody>
      </p:sp>
      <p:sp>
        <p:nvSpPr>
          <p:cNvPr id="5" name="Slide Number Placeholder 4">
            <a:extLst>
              <a:ext uri="{FF2B5EF4-FFF2-40B4-BE49-F238E27FC236}">
                <a16:creationId xmlns:a16="http://schemas.microsoft.com/office/drawing/2014/main" id="{45C68210-5C7A-654D-95B1-4CDEE4C7AEEC}"/>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Tree>
    <p:extLst>
      <p:ext uri="{BB962C8B-B14F-4D97-AF65-F5344CB8AC3E}">
        <p14:creationId xmlns:p14="http://schemas.microsoft.com/office/powerpoint/2010/main" val="578967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6141-A05D-4549-B084-C66B2EC34F4C}"/>
              </a:ext>
            </a:extLst>
          </p:cNvPr>
          <p:cNvSpPr>
            <a:spLocks noGrp="1"/>
          </p:cNvSpPr>
          <p:nvPr>
            <p:ph type="title"/>
          </p:nvPr>
        </p:nvSpPr>
        <p:spPr/>
        <p:txBody>
          <a:bodyPr/>
          <a:lstStyle/>
          <a:p>
            <a:r>
              <a:rPr lang="zh-CN" altLang="en-US" dirty="0"/>
              <a:t>虚拟</a:t>
            </a:r>
            <a:r>
              <a:rPr lang="zh-CN" altLang="en-CN" dirty="0"/>
              <a:t>文件系统</a:t>
            </a:r>
            <a:r>
              <a:rPr lang="zh-CN" altLang="en-US" dirty="0"/>
              <a:t> </a:t>
            </a:r>
            <a:r>
              <a:rPr lang="en-US" altLang="zh-CN" dirty="0"/>
              <a:t>VFS</a:t>
            </a:r>
            <a:endParaRPr lang="en-CN" dirty="0"/>
          </a:p>
        </p:txBody>
      </p:sp>
      <p:sp>
        <p:nvSpPr>
          <p:cNvPr id="3" name="Content Placeholder 2">
            <a:extLst>
              <a:ext uri="{FF2B5EF4-FFF2-40B4-BE49-F238E27FC236}">
                <a16:creationId xmlns:a16="http://schemas.microsoft.com/office/drawing/2014/main" id="{E6A36AF6-D7C1-6E44-BE6C-D8CD5935711E}"/>
              </a:ext>
            </a:extLst>
          </p:cNvPr>
          <p:cNvSpPr>
            <a:spLocks noGrp="1"/>
          </p:cNvSpPr>
          <p:nvPr>
            <p:ph idx="1"/>
          </p:nvPr>
        </p:nvSpPr>
        <p:spPr/>
        <p:txBody>
          <a:bodyPr>
            <a:normAutofit/>
          </a:bodyPr>
          <a:lstStyle/>
          <a:p>
            <a:pPr marL="0" lvl="0" indent="0">
              <a:buNone/>
            </a:pPr>
            <a:r>
              <a:rPr lang="en-US" altLang="zh-CN" sz="1800" b="0" dirty="0">
                <a:solidFill>
                  <a:srgbClr val="000000">
                    <a:lumMod val="75000"/>
                    <a:lumOff val="25000"/>
                  </a:srgbClr>
                </a:solidFill>
              </a:rPr>
              <a:t>VFS</a:t>
            </a:r>
            <a:r>
              <a:rPr lang="zh-CN" altLang="en-US" sz="1800" b="0" dirty="0">
                <a:solidFill>
                  <a:srgbClr val="000000">
                    <a:lumMod val="75000"/>
                    <a:lumOff val="25000"/>
                  </a:srgbClr>
                </a:solidFill>
              </a:rPr>
              <a:t>维护所有的挂载信息</a:t>
            </a:r>
            <a:endParaRPr lang="en-US" altLang="zh-CN" sz="1600" b="0" dirty="0">
              <a:solidFill>
                <a:srgbClr val="000000">
                  <a:lumMod val="75000"/>
                  <a:lumOff val="25000"/>
                </a:srgbClr>
              </a:solidFill>
            </a:endParaRPr>
          </a:p>
          <a:p>
            <a:pPr lvl="0"/>
            <a:r>
              <a:rPr lang="zh-CN" altLang="en-US" sz="1600" b="0" dirty="0">
                <a:solidFill>
                  <a:srgbClr val="000000">
                    <a:lumMod val="75000"/>
                    <a:lumOff val="25000"/>
                  </a:srgbClr>
                </a:solidFill>
              </a:rPr>
              <a:t>查找文件时的每一步，检查当前目录是否为挂载点</a:t>
            </a:r>
            <a:endParaRPr lang="en-US" altLang="zh-CN" sz="1800" b="0" dirty="0">
              <a:solidFill>
                <a:srgbClr val="000000">
                  <a:lumMod val="75000"/>
                  <a:lumOff val="25000"/>
                </a:srgbClr>
              </a:solidFill>
            </a:endParaRPr>
          </a:p>
          <a:p>
            <a:pPr lvl="0"/>
            <a:r>
              <a:rPr lang="zh-CN" altLang="en-US" sz="1600" b="0" dirty="0">
                <a:solidFill>
                  <a:srgbClr val="000000">
                    <a:lumMod val="75000"/>
                    <a:lumOff val="25000"/>
                  </a:srgbClr>
                </a:solidFill>
              </a:rPr>
              <a:t>若是，则使用被挂载的文件系统继续进行访问</a:t>
            </a:r>
            <a:endParaRPr lang="en-US" altLang="zh-CN" sz="1600" b="0" dirty="0">
              <a:solidFill>
                <a:srgbClr val="000000">
                  <a:lumMod val="75000"/>
                  <a:lumOff val="25000"/>
                </a:srgbClr>
              </a:solidFill>
            </a:endParaRPr>
          </a:p>
          <a:p>
            <a:pPr lvl="0"/>
            <a:endParaRPr lang="en-US" altLang="zh-CN" sz="1600" b="0" dirty="0">
              <a:solidFill>
                <a:srgbClr val="000000">
                  <a:lumMod val="75000"/>
                  <a:lumOff val="25000"/>
                </a:srgbClr>
              </a:solidFill>
            </a:endParaRPr>
          </a:p>
          <a:p>
            <a:pPr lvl="0"/>
            <a:endParaRPr lang="en-US" altLang="zh-CN" sz="1600" b="0" dirty="0">
              <a:solidFill>
                <a:srgbClr val="000000">
                  <a:lumMod val="75000"/>
                  <a:lumOff val="25000"/>
                </a:srgbClr>
              </a:solidFill>
            </a:endParaRPr>
          </a:p>
          <a:p>
            <a:pPr lvl="0"/>
            <a:endParaRPr lang="en-US" altLang="zh-CN" sz="1600" b="0" dirty="0">
              <a:solidFill>
                <a:srgbClr val="000000">
                  <a:lumMod val="75000"/>
                  <a:lumOff val="25000"/>
                </a:srgbClr>
              </a:solidFill>
            </a:endParaRPr>
          </a:p>
          <a:p>
            <a:pPr marL="0" lvl="0" indent="0">
              <a:buNone/>
            </a:pPr>
            <a:r>
              <a:rPr lang="zh-CN" altLang="en-US" sz="1600" b="0" dirty="0">
                <a:solidFill>
                  <a:srgbClr val="000000">
                    <a:lumMod val="75000"/>
                    <a:lumOff val="25000"/>
                  </a:srgbClr>
                </a:solidFill>
              </a:rPr>
              <a:t>文件系统</a:t>
            </a:r>
            <a:r>
              <a:rPr lang="en-US" altLang="zh-CN" sz="1600" b="0" dirty="0">
                <a:solidFill>
                  <a:srgbClr val="000000">
                    <a:lumMod val="75000"/>
                    <a:lumOff val="25000"/>
                  </a:srgbClr>
                </a:solidFill>
              </a:rPr>
              <a:t>1</a:t>
            </a:r>
            <a:r>
              <a:rPr lang="zh-CN" altLang="en-US" sz="1600" b="0" dirty="0">
                <a:solidFill>
                  <a:srgbClr val="000000">
                    <a:lumMod val="75000"/>
                    <a:lumOff val="25000"/>
                  </a:srgbClr>
                </a:solidFill>
              </a:rPr>
              <a:t>中的</a:t>
            </a:r>
            <a:r>
              <a:rPr lang="en-US" altLang="zh-CN" sz="1600" b="0" dirty="0">
                <a:solidFill>
                  <a:srgbClr val="000000">
                    <a:lumMod val="75000"/>
                    <a:lumOff val="25000"/>
                  </a:srgbClr>
                </a:solidFill>
              </a:rPr>
              <a:t>"/OS/OS</a:t>
            </a:r>
            <a:r>
              <a:rPr lang="zh-CN" altLang="en-US" sz="1600" b="0" dirty="0">
                <a:solidFill>
                  <a:srgbClr val="000000">
                    <a:lumMod val="75000"/>
                    <a:lumOff val="25000"/>
                  </a:srgbClr>
                </a:solidFill>
              </a:rPr>
              <a:t>笔记</a:t>
            </a:r>
            <a:r>
              <a:rPr lang="en-US" altLang="zh-CN" sz="1600" b="0" dirty="0">
                <a:solidFill>
                  <a:srgbClr val="000000">
                    <a:lumMod val="75000"/>
                    <a:lumOff val="25000"/>
                  </a:srgbClr>
                </a:solidFill>
              </a:rPr>
              <a:t>1"</a:t>
            </a:r>
            <a:r>
              <a:rPr lang="zh-CN" altLang="en-US" sz="1600" b="0" dirty="0">
                <a:solidFill>
                  <a:srgbClr val="000000">
                    <a:lumMod val="75000"/>
                    <a:lumOff val="25000"/>
                  </a:srgbClr>
                </a:solidFill>
              </a:rPr>
              <a:t>通过操作系统中</a:t>
            </a:r>
            <a:br>
              <a:rPr lang="en-US" altLang="zh-CN" sz="1600" b="0" dirty="0">
                <a:solidFill>
                  <a:srgbClr val="000000">
                    <a:lumMod val="75000"/>
                    <a:lumOff val="25000"/>
                  </a:srgbClr>
                </a:solidFill>
              </a:rPr>
            </a:br>
            <a:r>
              <a:rPr lang="zh-CN" altLang="en-US" sz="1600" b="0" dirty="0">
                <a:solidFill>
                  <a:srgbClr val="000000">
                    <a:lumMod val="75000"/>
                    <a:lumOff val="25000"/>
                  </a:srgbClr>
                </a:solidFill>
              </a:rPr>
              <a:t>的</a:t>
            </a:r>
            <a:r>
              <a:rPr lang="en-US" altLang="zh-CN" sz="1600" b="0" dirty="0">
                <a:solidFill>
                  <a:srgbClr val="000000">
                    <a:lumMod val="75000"/>
                    <a:lumOff val="25000"/>
                  </a:srgbClr>
                </a:solidFill>
              </a:rPr>
              <a:t>"/home/</a:t>
            </a:r>
            <a:r>
              <a:rPr lang="zh-CN" altLang="en-US" sz="1600" b="0" dirty="0">
                <a:solidFill>
                  <a:srgbClr val="000000">
                    <a:lumMod val="75000"/>
                    <a:lumOff val="25000"/>
                  </a:srgbClr>
                </a:solidFill>
              </a:rPr>
              <a:t>小红</a:t>
            </a:r>
            <a:r>
              <a:rPr lang="en-US" altLang="zh-CN" sz="1600" b="0" dirty="0">
                <a:solidFill>
                  <a:srgbClr val="000000">
                    <a:lumMod val="75000"/>
                    <a:lumOff val="25000"/>
                  </a:srgbClr>
                </a:solidFill>
              </a:rPr>
              <a:t>/OS/OS</a:t>
            </a:r>
            <a:r>
              <a:rPr lang="zh-CN" altLang="en-US" sz="1600" b="0" dirty="0">
                <a:solidFill>
                  <a:srgbClr val="000000">
                    <a:lumMod val="75000"/>
                    <a:lumOff val="25000"/>
                  </a:srgbClr>
                </a:solidFill>
              </a:rPr>
              <a:t>笔记</a:t>
            </a:r>
            <a:r>
              <a:rPr lang="en-US" altLang="zh-CN" sz="1600" b="0" dirty="0">
                <a:solidFill>
                  <a:srgbClr val="000000">
                    <a:lumMod val="75000"/>
                    <a:lumOff val="25000"/>
                  </a:srgbClr>
                </a:solidFill>
              </a:rPr>
              <a:t>1"</a:t>
            </a:r>
            <a:r>
              <a:rPr lang="zh-CN" altLang="en-US" sz="1600" b="0" dirty="0">
                <a:solidFill>
                  <a:srgbClr val="000000">
                    <a:lumMod val="75000"/>
                    <a:lumOff val="25000"/>
                  </a:srgbClr>
                </a:solidFill>
              </a:rPr>
              <a:t>访问</a:t>
            </a:r>
            <a:endParaRPr lang="en-US" altLang="zh-CN" sz="1600" b="0" dirty="0">
              <a:solidFill>
                <a:srgbClr val="000000">
                  <a:lumMod val="75000"/>
                  <a:lumOff val="25000"/>
                </a:srgbClr>
              </a:solidFill>
            </a:endParaRPr>
          </a:p>
          <a:p>
            <a:pPr marL="0" indent="0">
              <a:buNone/>
            </a:pPr>
            <a:endParaRPr lang="en-US" altLang="zh-CN" sz="1800" b="0" dirty="0"/>
          </a:p>
        </p:txBody>
      </p:sp>
      <p:sp>
        <p:nvSpPr>
          <p:cNvPr id="4" name="Footer Placeholder 3">
            <a:extLst>
              <a:ext uri="{FF2B5EF4-FFF2-40B4-BE49-F238E27FC236}">
                <a16:creationId xmlns:a16="http://schemas.microsoft.com/office/drawing/2014/main" id="{F1365FF2-22A1-3741-83E0-9E3963E95DF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1" name="TextBox 60">
            <a:extLst>
              <a:ext uri="{FF2B5EF4-FFF2-40B4-BE49-F238E27FC236}">
                <a16:creationId xmlns:a16="http://schemas.microsoft.com/office/drawing/2014/main" id="{836EB661-69CD-4140-B7B3-C0B17CD672B2}"/>
              </a:ext>
            </a:extLst>
          </p:cNvPr>
          <p:cNvSpPr txBox="1"/>
          <p:nvPr/>
        </p:nvSpPr>
        <p:spPr>
          <a:xfrm>
            <a:off x="4876772" y="3201279"/>
            <a:ext cx="1119217" cy="338554"/>
          </a:xfrm>
          <a:prstGeom prst="rect">
            <a:avLst/>
          </a:prstGeom>
          <a:noFill/>
        </p:spPr>
        <p:txBody>
          <a:bodyPr wrap="none" rtlCol="0">
            <a:spAutoFit/>
          </a:bodyPr>
          <a:lstStyle/>
          <a:p>
            <a:r>
              <a:rPr lang="zh-CN" altLang="en-CN" sz="1600" dirty="0"/>
              <a:t>文件系统</a:t>
            </a:r>
            <a:r>
              <a:rPr lang="en-US" altLang="zh-CN" sz="1600" dirty="0"/>
              <a:t>1</a:t>
            </a:r>
            <a:endParaRPr lang="en-CN" sz="1600" dirty="0"/>
          </a:p>
        </p:txBody>
      </p:sp>
      <p:grpSp>
        <p:nvGrpSpPr>
          <p:cNvPr id="62" name="Group 61">
            <a:extLst>
              <a:ext uri="{FF2B5EF4-FFF2-40B4-BE49-F238E27FC236}">
                <a16:creationId xmlns:a16="http://schemas.microsoft.com/office/drawing/2014/main" id="{E1C7DE0F-ED64-AD4C-8465-2DC0DA3FB6C1}"/>
              </a:ext>
            </a:extLst>
          </p:cNvPr>
          <p:cNvGrpSpPr/>
          <p:nvPr/>
        </p:nvGrpSpPr>
        <p:grpSpPr>
          <a:xfrm>
            <a:off x="5162229" y="2929223"/>
            <a:ext cx="2614748" cy="2015554"/>
            <a:chOff x="4218630" y="898053"/>
            <a:chExt cx="4841503" cy="3732028"/>
          </a:xfrm>
        </p:grpSpPr>
        <p:sp>
          <p:nvSpPr>
            <p:cNvPr id="63" name="Oval 62">
              <a:extLst>
                <a:ext uri="{FF2B5EF4-FFF2-40B4-BE49-F238E27FC236}">
                  <a16:creationId xmlns:a16="http://schemas.microsoft.com/office/drawing/2014/main" id="{422490A0-B2BF-324F-8DAB-2CF6ECD85F9C}"/>
                </a:ext>
              </a:extLst>
            </p:cNvPr>
            <p:cNvSpPr/>
            <p:nvPr/>
          </p:nvSpPr>
          <p:spPr>
            <a:xfrm>
              <a:off x="4218630" y="412597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64" name="Oval 63">
              <a:extLst>
                <a:ext uri="{FF2B5EF4-FFF2-40B4-BE49-F238E27FC236}">
                  <a16:creationId xmlns:a16="http://schemas.microsoft.com/office/drawing/2014/main" id="{8AFC18B9-9A9D-9C4E-A2E2-C4346865223B}"/>
                </a:ext>
              </a:extLst>
            </p:cNvPr>
            <p:cNvSpPr/>
            <p:nvPr/>
          </p:nvSpPr>
          <p:spPr>
            <a:xfrm>
              <a:off x="7729955" y="4080602"/>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65" name="Oval 64">
              <a:extLst>
                <a:ext uri="{FF2B5EF4-FFF2-40B4-BE49-F238E27FC236}">
                  <a16:creationId xmlns:a16="http://schemas.microsoft.com/office/drawing/2014/main" id="{308BA0DF-C211-9241-80B5-4C59E2B7B40F}"/>
                </a:ext>
              </a:extLst>
            </p:cNvPr>
            <p:cNvSpPr/>
            <p:nvPr/>
          </p:nvSpPr>
          <p:spPr>
            <a:xfrm>
              <a:off x="8539206" y="303362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66" name="Straight Arrow Connector 65">
              <a:extLst>
                <a:ext uri="{FF2B5EF4-FFF2-40B4-BE49-F238E27FC236}">
                  <a16:creationId xmlns:a16="http://schemas.microsoft.com/office/drawing/2014/main" id="{315E1CE2-51F6-1145-9EFA-F443A3C494F4}"/>
                </a:ext>
              </a:extLst>
            </p:cNvPr>
            <p:cNvCxnSpPr>
              <a:cxnSpLocks/>
              <a:stCxn id="87" idx="3"/>
              <a:endCxn id="63" idx="0"/>
            </p:cNvCxnSpPr>
            <p:nvPr/>
          </p:nvCxnSpPr>
          <p:spPr>
            <a:xfrm flipH="1">
              <a:off x="4467877" y="3351408"/>
              <a:ext cx="1184581" cy="77457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7" name="Straight Arrow Connector 66">
              <a:extLst>
                <a:ext uri="{FF2B5EF4-FFF2-40B4-BE49-F238E27FC236}">
                  <a16:creationId xmlns:a16="http://schemas.microsoft.com/office/drawing/2014/main" id="{1FE5EEFF-92F2-BF4E-89B4-36A81C41E055}"/>
                </a:ext>
              </a:extLst>
            </p:cNvPr>
            <p:cNvCxnSpPr>
              <a:cxnSpLocks/>
              <a:stCxn id="88" idx="4"/>
              <a:endCxn id="64" idx="0"/>
            </p:cNvCxnSpPr>
            <p:nvPr/>
          </p:nvCxnSpPr>
          <p:spPr>
            <a:xfrm>
              <a:off x="7480113" y="3442502"/>
              <a:ext cx="499089" cy="6381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8" name="Straight Arrow Connector 67">
              <a:extLst>
                <a:ext uri="{FF2B5EF4-FFF2-40B4-BE49-F238E27FC236}">
                  <a16:creationId xmlns:a16="http://schemas.microsoft.com/office/drawing/2014/main" id="{B2EEAC8C-F9B2-9C4A-B72F-336C8BBB2729}"/>
                </a:ext>
              </a:extLst>
            </p:cNvPr>
            <p:cNvCxnSpPr>
              <a:cxnSpLocks/>
              <a:stCxn id="86" idx="5"/>
              <a:endCxn id="65" idx="0"/>
            </p:cNvCxnSpPr>
            <p:nvPr/>
          </p:nvCxnSpPr>
          <p:spPr>
            <a:xfrm>
              <a:off x="7275961" y="1776066"/>
              <a:ext cx="1512492" cy="125756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69" name="TextBox 68">
              <a:extLst>
                <a:ext uri="{FF2B5EF4-FFF2-40B4-BE49-F238E27FC236}">
                  <a16:creationId xmlns:a16="http://schemas.microsoft.com/office/drawing/2014/main" id="{DEED37BE-4530-A148-B8B6-06ED967DC1B5}"/>
                </a:ext>
              </a:extLst>
            </p:cNvPr>
            <p:cNvSpPr txBox="1"/>
            <p:nvPr/>
          </p:nvSpPr>
          <p:spPr>
            <a:xfrm>
              <a:off x="7081504" y="3543788"/>
              <a:ext cx="1191237" cy="416117"/>
            </a:xfrm>
            <a:prstGeom prst="rect">
              <a:avLst/>
            </a:prstGeom>
            <a:noFill/>
          </p:spPr>
          <p:txBody>
            <a:bodyPr wrap="none" rtlCol="0">
              <a:spAutoFit/>
            </a:bodyPr>
            <a:lstStyle/>
            <a:p>
              <a:r>
                <a:rPr lang="zh-CN" altLang="en-CN" sz="1100" dirty="0"/>
                <a:t>算法</a:t>
              </a:r>
              <a:r>
                <a:rPr lang="zh-CN" altLang="en-US" sz="1100" dirty="0"/>
                <a:t>笔记</a:t>
              </a:r>
              <a:endParaRPr lang="en-CN" sz="1100" dirty="0"/>
            </a:p>
          </p:txBody>
        </p:sp>
        <p:sp>
          <p:nvSpPr>
            <p:cNvPr id="70" name="TextBox 69">
              <a:extLst>
                <a:ext uri="{FF2B5EF4-FFF2-40B4-BE49-F238E27FC236}">
                  <a16:creationId xmlns:a16="http://schemas.microsoft.com/office/drawing/2014/main" id="{E8BEC1F0-F0E5-BA4F-A035-EBBBBB24D8AE}"/>
                </a:ext>
              </a:extLst>
            </p:cNvPr>
            <p:cNvSpPr txBox="1"/>
            <p:nvPr/>
          </p:nvSpPr>
          <p:spPr>
            <a:xfrm>
              <a:off x="7554774" y="1886026"/>
              <a:ext cx="1191237" cy="416117"/>
            </a:xfrm>
            <a:prstGeom prst="rect">
              <a:avLst/>
            </a:prstGeom>
            <a:noFill/>
          </p:spPr>
          <p:txBody>
            <a:bodyPr wrap="none" rtlCol="0">
              <a:spAutoFit/>
            </a:bodyPr>
            <a:lstStyle/>
            <a:p>
              <a:r>
                <a:rPr lang="zh-CN" altLang="en-US" sz="1100" dirty="0"/>
                <a:t>数据结构</a:t>
              </a:r>
              <a:endParaRPr lang="en-CN" sz="1100" dirty="0"/>
            </a:p>
          </p:txBody>
        </p:sp>
        <p:sp>
          <p:nvSpPr>
            <p:cNvPr id="72" name="Oval 71">
              <a:extLst>
                <a:ext uri="{FF2B5EF4-FFF2-40B4-BE49-F238E27FC236}">
                  <a16:creationId xmlns:a16="http://schemas.microsoft.com/office/drawing/2014/main" id="{43BFC1DD-E093-D144-BF78-7722E75E7120}"/>
                </a:ext>
              </a:extLst>
            </p:cNvPr>
            <p:cNvSpPr/>
            <p:nvPr/>
          </p:nvSpPr>
          <p:spPr>
            <a:xfrm>
              <a:off x="5320272" y="413158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7</a:t>
              </a:r>
              <a:endParaRPr lang="en-CN" sz="1100" dirty="0"/>
            </a:p>
          </p:txBody>
        </p:sp>
        <p:sp>
          <p:nvSpPr>
            <p:cNvPr id="73" name="Oval 72">
              <a:extLst>
                <a:ext uri="{FF2B5EF4-FFF2-40B4-BE49-F238E27FC236}">
                  <a16:creationId xmlns:a16="http://schemas.microsoft.com/office/drawing/2014/main" id="{7D331D8E-AA35-624B-AFF5-A4C256951C5E}"/>
                </a:ext>
              </a:extLst>
            </p:cNvPr>
            <p:cNvSpPr/>
            <p:nvPr/>
          </p:nvSpPr>
          <p:spPr>
            <a:xfrm>
              <a:off x="6530203" y="4106987"/>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4</a:t>
              </a:r>
              <a:endParaRPr lang="en-CN" sz="1100" dirty="0"/>
            </a:p>
          </p:txBody>
        </p:sp>
        <p:cxnSp>
          <p:nvCxnSpPr>
            <p:cNvPr id="74" name="Straight Arrow Connector 73">
              <a:extLst>
                <a:ext uri="{FF2B5EF4-FFF2-40B4-BE49-F238E27FC236}">
                  <a16:creationId xmlns:a16="http://schemas.microsoft.com/office/drawing/2014/main" id="{7A3B609E-6C39-8945-832C-BB79397A50D7}"/>
                </a:ext>
              </a:extLst>
            </p:cNvPr>
            <p:cNvCxnSpPr>
              <a:cxnSpLocks/>
              <a:stCxn id="87" idx="4"/>
              <a:endCxn id="72" idx="0"/>
            </p:cNvCxnSpPr>
            <p:nvPr/>
          </p:nvCxnSpPr>
          <p:spPr>
            <a:xfrm flipH="1">
              <a:off x="5569519" y="3424411"/>
              <a:ext cx="259183" cy="70717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75" name="Straight Arrow Connector 74">
              <a:extLst>
                <a:ext uri="{FF2B5EF4-FFF2-40B4-BE49-F238E27FC236}">
                  <a16:creationId xmlns:a16="http://schemas.microsoft.com/office/drawing/2014/main" id="{C8BFA3C8-0547-C443-9E1E-0C4AF6905382}"/>
                </a:ext>
              </a:extLst>
            </p:cNvPr>
            <p:cNvCxnSpPr>
              <a:cxnSpLocks/>
              <a:stCxn id="87" idx="5"/>
              <a:endCxn id="73" idx="0"/>
            </p:cNvCxnSpPr>
            <p:nvPr/>
          </p:nvCxnSpPr>
          <p:spPr>
            <a:xfrm>
              <a:off x="6004945" y="3351408"/>
              <a:ext cx="774505" cy="75557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76" name="Rectangle 75">
              <a:extLst>
                <a:ext uri="{FF2B5EF4-FFF2-40B4-BE49-F238E27FC236}">
                  <a16:creationId xmlns:a16="http://schemas.microsoft.com/office/drawing/2014/main" id="{126A4478-9796-4C4D-86A9-2CB30898A5F3}"/>
                </a:ext>
              </a:extLst>
            </p:cNvPr>
            <p:cNvSpPr/>
            <p:nvPr/>
          </p:nvSpPr>
          <p:spPr>
            <a:xfrm>
              <a:off x="4336045" y="2789178"/>
              <a:ext cx="2641136" cy="1138936"/>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7" name="TextBox 76">
              <a:extLst>
                <a:ext uri="{FF2B5EF4-FFF2-40B4-BE49-F238E27FC236}">
                  <a16:creationId xmlns:a16="http://schemas.microsoft.com/office/drawing/2014/main" id="{24630B91-7CAC-AB42-8E5E-B3AE6F478918}"/>
                </a:ext>
              </a:extLst>
            </p:cNvPr>
            <p:cNvSpPr txBox="1"/>
            <p:nvPr/>
          </p:nvSpPr>
          <p:spPr>
            <a:xfrm>
              <a:off x="5953873" y="1882738"/>
              <a:ext cx="617547" cy="416117"/>
            </a:xfrm>
            <a:prstGeom prst="rect">
              <a:avLst/>
            </a:prstGeom>
            <a:noFill/>
          </p:spPr>
          <p:txBody>
            <a:bodyPr wrap="none" rtlCol="0">
              <a:spAutoFit/>
            </a:bodyPr>
            <a:lstStyle/>
            <a:p>
              <a:r>
                <a:rPr lang="en-US" altLang="zh-CN" sz="1100" dirty="0"/>
                <a:t>OS</a:t>
              </a:r>
              <a:endParaRPr lang="en-CN" sz="1100" dirty="0"/>
            </a:p>
          </p:txBody>
        </p:sp>
        <p:sp>
          <p:nvSpPr>
            <p:cNvPr id="78" name="TextBox 77">
              <a:extLst>
                <a:ext uri="{FF2B5EF4-FFF2-40B4-BE49-F238E27FC236}">
                  <a16:creationId xmlns:a16="http://schemas.microsoft.com/office/drawing/2014/main" id="{E327F7BF-9FC4-CF49-AAFA-AB90873DCD70}"/>
                </a:ext>
              </a:extLst>
            </p:cNvPr>
            <p:cNvSpPr txBox="1"/>
            <p:nvPr/>
          </p:nvSpPr>
          <p:spPr>
            <a:xfrm>
              <a:off x="4336043" y="3282872"/>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1</a:t>
              </a:r>
              <a:endParaRPr lang="en-CN" sz="1100" dirty="0"/>
            </a:p>
          </p:txBody>
        </p:sp>
        <p:sp>
          <p:nvSpPr>
            <p:cNvPr id="79" name="TextBox 78">
              <a:extLst>
                <a:ext uri="{FF2B5EF4-FFF2-40B4-BE49-F238E27FC236}">
                  <a16:creationId xmlns:a16="http://schemas.microsoft.com/office/drawing/2014/main" id="{AE45740E-D400-4542-A81B-FD8A5567C21B}"/>
                </a:ext>
              </a:extLst>
            </p:cNvPr>
            <p:cNvSpPr txBox="1"/>
            <p:nvPr/>
          </p:nvSpPr>
          <p:spPr>
            <a:xfrm>
              <a:off x="5093993" y="3596254"/>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2</a:t>
              </a:r>
              <a:endParaRPr lang="en-CN" sz="1100" dirty="0"/>
            </a:p>
          </p:txBody>
        </p:sp>
        <p:sp>
          <p:nvSpPr>
            <p:cNvPr id="80" name="Rectangle 79">
              <a:extLst>
                <a:ext uri="{FF2B5EF4-FFF2-40B4-BE49-F238E27FC236}">
                  <a16:creationId xmlns:a16="http://schemas.microsoft.com/office/drawing/2014/main" id="{6AC10C6C-F4B5-3842-A779-0E762FC67805}"/>
                </a:ext>
              </a:extLst>
            </p:cNvPr>
            <p:cNvSpPr/>
            <p:nvPr/>
          </p:nvSpPr>
          <p:spPr>
            <a:xfrm>
              <a:off x="7059771" y="2789178"/>
              <a:ext cx="1167809" cy="1144709"/>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81" name="Rectangle 80">
              <a:extLst>
                <a:ext uri="{FF2B5EF4-FFF2-40B4-BE49-F238E27FC236}">
                  <a16:creationId xmlns:a16="http://schemas.microsoft.com/office/drawing/2014/main" id="{0ABDFFD1-6DFD-E545-A640-EA5C290853F8}"/>
                </a:ext>
              </a:extLst>
            </p:cNvPr>
            <p:cNvSpPr/>
            <p:nvPr/>
          </p:nvSpPr>
          <p:spPr>
            <a:xfrm>
              <a:off x="5984366" y="898053"/>
              <a:ext cx="3075767" cy="1608914"/>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82" name="Straight Arrow Connector 81">
              <a:extLst>
                <a:ext uri="{FF2B5EF4-FFF2-40B4-BE49-F238E27FC236}">
                  <a16:creationId xmlns:a16="http://schemas.microsoft.com/office/drawing/2014/main" id="{E20B6772-03A8-E748-B74C-281608B06071}"/>
                </a:ext>
              </a:extLst>
            </p:cNvPr>
            <p:cNvCxnSpPr>
              <a:cxnSpLocks/>
              <a:stCxn id="86" idx="4"/>
              <a:endCxn id="88" idx="0"/>
            </p:cNvCxnSpPr>
            <p:nvPr/>
          </p:nvCxnSpPr>
          <p:spPr>
            <a:xfrm>
              <a:off x="7099718" y="1849069"/>
              <a:ext cx="380395" cy="109494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83" name="Straight Arrow Connector 82">
              <a:extLst>
                <a:ext uri="{FF2B5EF4-FFF2-40B4-BE49-F238E27FC236}">
                  <a16:creationId xmlns:a16="http://schemas.microsoft.com/office/drawing/2014/main" id="{8FABE4A6-2ABF-9641-A2E2-C04D3AB00D32}"/>
                </a:ext>
              </a:extLst>
            </p:cNvPr>
            <p:cNvCxnSpPr>
              <a:cxnSpLocks/>
              <a:stCxn id="86" idx="3"/>
              <a:endCxn id="87" idx="0"/>
            </p:cNvCxnSpPr>
            <p:nvPr/>
          </p:nvCxnSpPr>
          <p:spPr>
            <a:xfrm flipH="1">
              <a:off x="5828702" y="1776066"/>
              <a:ext cx="1094772" cy="114985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4" name="TextBox 83">
              <a:extLst>
                <a:ext uri="{FF2B5EF4-FFF2-40B4-BE49-F238E27FC236}">
                  <a16:creationId xmlns:a16="http://schemas.microsoft.com/office/drawing/2014/main" id="{64B55F17-3E1E-7D49-B419-EE0D888B207A}"/>
                </a:ext>
              </a:extLst>
            </p:cNvPr>
            <p:cNvSpPr txBox="1"/>
            <p:nvPr/>
          </p:nvSpPr>
          <p:spPr>
            <a:xfrm>
              <a:off x="6732202" y="1909082"/>
              <a:ext cx="742483" cy="416117"/>
            </a:xfrm>
            <a:prstGeom prst="rect">
              <a:avLst/>
            </a:prstGeom>
            <a:noFill/>
          </p:spPr>
          <p:txBody>
            <a:bodyPr wrap="none" rtlCol="0">
              <a:spAutoFit/>
            </a:bodyPr>
            <a:lstStyle/>
            <a:p>
              <a:r>
                <a:rPr lang="zh-CN" altLang="en-CN" sz="1100" dirty="0"/>
                <a:t>算法</a:t>
              </a:r>
              <a:endParaRPr lang="en-CN" sz="1100" dirty="0"/>
            </a:p>
          </p:txBody>
        </p:sp>
        <p:sp>
          <p:nvSpPr>
            <p:cNvPr id="85" name="TextBox 84">
              <a:extLst>
                <a:ext uri="{FF2B5EF4-FFF2-40B4-BE49-F238E27FC236}">
                  <a16:creationId xmlns:a16="http://schemas.microsoft.com/office/drawing/2014/main" id="{AA0F355C-95C3-B642-99C5-2510228A9149}"/>
                </a:ext>
              </a:extLst>
            </p:cNvPr>
            <p:cNvSpPr txBox="1"/>
            <p:nvPr/>
          </p:nvSpPr>
          <p:spPr>
            <a:xfrm>
              <a:off x="6326886" y="3424410"/>
              <a:ext cx="742483" cy="416117"/>
            </a:xfrm>
            <a:prstGeom prst="rect">
              <a:avLst/>
            </a:prstGeom>
            <a:noFill/>
          </p:spPr>
          <p:txBody>
            <a:bodyPr wrap="none" rtlCol="0">
              <a:spAutoFit/>
            </a:bodyPr>
            <a:lstStyle/>
            <a:p>
              <a:r>
                <a:rPr lang="zh-CN" altLang="en-US" sz="1100" dirty="0"/>
                <a:t>其他</a:t>
              </a:r>
              <a:endParaRPr lang="en-CN" sz="1100" dirty="0"/>
            </a:p>
          </p:txBody>
        </p:sp>
        <p:sp>
          <p:nvSpPr>
            <p:cNvPr id="86" name="Oval 85">
              <a:extLst>
                <a:ext uri="{FF2B5EF4-FFF2-40B4-BE49-F238E27FC236}">
                  <a16:creationId xmlns:a16="http://schemas.microsoft.com/office/drawing/2014/main" id="{3834C4B8-6A35-BF42-B7BD-949665101EB8}"/>
                </a:ext>
              </a:extLst>
            </p:cNvPr>
            <p:cNvSpPr/>
            <p:nvPr/>
          </p:nvSpPr>
          <p:spPr>
            <a:xfrm>
              <a:off x="6850471" y="135057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0</a:t>
              </a:r>
              <a:endParaRPr lang="en-CN" sz="1100" dirty="0"/>
            </a:p>
          </p:txBody>
        </p:sp>
        <p:sp>
          <p:nvSpPr>
            <p:cNvPr id="87" name="Oval 86">
              <a:extLst>
                <a:ext uri="{FF2B5EF4-FFF2-40B4-BE49-F238E27FC236}">
                  <a16:creationId xmlns:a16="http://schemas.microsoft.com/office/drawing/2014/main" id="{D1561B5D-DE59-8047-BF47-C54B11F52294}"/>
                </a:ext>
              </a:extLst>
            </p:cNvPr>
            <p:cNvSpPr/>
            <p:nvPr/>
          </p:nvSpPr>
          <p:spPr>
            <a:xfrm>
              <a:off x="5579455" y="2925918"/>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13</a:t>
              </a:r>
              <a:endParaRPr lang="en-CN" sz="1100" dirty="0"/>
            </a:p>
          </p:txBody>
        </p:sp>
        <p:sp>
          <p:nvSpPr>
            <p:cNvPr id="88" name="Oval 87">
              <a:extLst>
                <a:ext uri="{FF2B5EF4-FFF2-40B4-BE49-F238E27FC236}">
                  <a16:creationId xmlns:a16="http://schemas.microsoft.com/office/drawing/2014/main" id="{8DE57138-3CB8-E74B-B325-DB8C978C444C}"/>
                </a:ext>
              </a:extLst>
            </p:cNvPr>
            <p:cNvSpPr/>
            <p:nvPr/>
          </p:nvSpPr>
          <p:spPr>
            <a:xfrm>
              <a:off x="7230866" y="2944009"/>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14</a:t>
              </a:r>
              <a:endParaRPr lang="en-CN" sz="1100" dirty="0"/>
            </a:p>
          </p:txBody>
        </p:sp>
      </p:grpSp>
      <p:grpSp>
        <p:nvGrpSpPr>
          <p:cNvPr id="89" name="Group 88">
            <a:extLst>
              <a:ext uri="{FF2B5EF4-FFF2-40B4-BE49-F238E27FC236}">
                <a16:creationId xmlns:a16="http://schemas.microsoft.com/office/drawing/2014/main" id="{97CF5E01-AA30-B948-99FE-C9C579E111C4}"/>
              </a:ext>
            </a:extLst>
          </p:cNvPr>
          <p:cNvGrpSpPr/>
          <p:nvPr/>
        </p:nvGrpSpPr>
        <p:grpSpPr>
          <a:xfrm>
            <a:off x="5588616" y="571589"/>
            <a:ext cx="2867938" cy="2602028"/>
            <a:chOff x="3576270" y="3170153"/>
            <a:chExt cx="2867938" cy="2602028"/>
          </a:xfrm>
        </p:grpSpPr>
        <p:sp>
          <p:nvSpPr>
            <p:cNvPr id="90" name="Oval 89">
              <a:extLst>
                <a:ext uri="{FF2B5EF4-FFF2-40B4-BE49-F238E27FC236}">
                  <a16:creationId xmlns:a16="http://schemas.microsoft.com/office/drawing/2014/main" id="{00EBE677-3A2D-EC42-B33D-B914BA91F33D}"/>
                </a:ext>
              </a:extLst>
            </p:cNvPr>
            <p:cNvSpPr/>
            <p:nvPr/>
          </p:nvSpPr>
          <p:spPr>
            <a:xfrm>
              <a:off x="3576270" y="493320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sp>
          <p:nvSpPr>
            <p:cNvPr id="91" name="Oval 90">
              <a:extLst>
                <a:ext uri="{FF2B5EF4-FFF2-40B4-BE49-F238E27FC236}">
                  <a16:creationId xmlns:a16="http://schemas.microsoft.com/office/drawing/2014/main" id="{276EA3A8-1499-EB4B-8773-B63EB7CBA369}"/>
                </a:ext>
              </a:extLst>
            </p:cNvPr>
            <p:cNvSpPr/>
            <p:nvPr/>
          </p:nvSpPr>
          <p:spPr>
            <a:xfrm>
              <a:off x="5540483" y="4999342"/>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92" name="Oval 91">
              <a:extLst>
                <a:ext uri="{FF2B5EF4-FFF2-40B4-BE49-F238E27FC236}">
                  <a16:creationId xmlns:a16="http://schemas.microsoft.com/office/drawing/2014/main" id="{8BFD7F69-ED4D-364E-AC8E-C1D7FA845544}"/>
                </a:ext>
              </a:extLst>
            </p:cNvPr>
            <p:cNvSpPr/>
            <p:nvPr/>
          </p:nvSpPr>
          <p:spPr>
            <a:xfrm>
              <a:off x="6030387" y="4315619"/>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93" name="Straight Arrow Connector 92">
              <a:extLst>
                <a:ext uri="{FF2B5EF4-FFF2-40B4-BE49-F238E27FC236}">
                  <a16:creationId xmlns:a16="http://schemas.microsoft.com/office/drawing/2014/main" id="{1B22098B-B2EE-9D48-A48C-2380BBCDAE7C}"/>
                </a:ext>
              </a:extLst>
            </p:cNvPr>
            <p:cNvCxnSpPr>
              <a:cxnSpLocks/>
              <a:stCxn id="111" idx="3"/>
              <a:endCxn id="90" idx="0"/>
            </p:cNvCxnSpPr>
            <p:nvPr/>
          </p:nvCxnSpPr>
          <p:spPr>
            <a:xfrm flipH="1">
              <a:off x="3710881" y="4514882"/>
              <a:ext cx="639756" cy="41832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4" name="Straight Arrow Connector 93">
              <a:extLst>
                <a:ext uri="{FF2B5EF4-FFF2-40B4-BE49-F238E27FC236}">
                  <a16:creationId xmlns:a16="http://schemas.microsoft.com/office/drawing/2014/main" id="{DB954439-171D-0D44-A9C2-AD77FD858295}"/>
                </a:ext>
              </a:extLst>
            </p:cNvPr>
            <p:cNvCxnSpPr>
              <a:cxnSpLocks/>
              <a:stCxn id="112" idx="4"/>
              <a:endCxn id="91" idx="0"/>
            </p:cNvCxnSpPr>
            <p:nvPr/>
          </p:nvCxnSpPr>
          <p:spPr>
            <a:xfrm>
              <a:off x="5337697" y="4564079"/>
              <a:ext cx="337397" cy="43526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5" name="Straight Arrow Connector 94">
              <a:extLst>
                <a:ext uri="{FF2B5EF4-FFF2-40B4-BE49-F238E27FC236}">
                  <a16:creationId xmlns:a16="http://schemas.microsoft.com/office/drawing/2014/main" id="{C86FB571-B2F8-A043-B1BD-D2ED6600E4ED}"/>
                </a:ext>
              </a:extLst>
            </p:cNvPr>
            <p:cNvCxnSpPr>
              <a:cxnSpLocks/>
              <a:stCxn id="110" idx="5"/>
              <a:endCxn id="92" idx="0"/>
            </p:cNvCxnSpPr>
            <p:nvPr/>
          </p:nvCxnSpPr>
          <p:spPr>
            <a:xfrm>
              <a:off x="5227441" y="3664087"/>
              <a:ext cx="937557" cy="65153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96" name="TextBox 95">
              <a:extLst>
                <a:ext uri="{FF2B5EF4-FFF2-40B4-BE49-F238E27FC236}">
                  <a16:creationId xmlns:a16="http://schemas.microsoft.com/office/drawing/2014/main" id="{7C60019B-FE86-2944-8E8E-8799253C76F3}"/>
                </a:ext>
              </a:extLst>
            </p:cNvPr>
            <p:cNvSpPr txBox="1"/>
            <p:nvPr/>
          </p:nvSpPr>
          <p:spPr>
            <a:xfrm>
              <a:off x="5361807" y="4510104"/>
              <a:ext cx="466794" cy="261610"/>
            </a:xfrm>
            <a:prstGeom prst="rect">
              <a:avLst/>
            </a:prstGeom>
            <a:noFill/>
          </p:spPr>
          <p:txBody>
            <a:bodyPr wrap="none" rtlCol="0">
              <a:spAutoFit/>
            </a:bodyPr>
            <a:lstStyle/>
            <a:p>
              <a:r>
                <a:rPr lang="zh-CN" altLang="en-US" sz="1100" dirty="0"/>
                <a:t>小明</a:t>
              </a:r>
              <a:endParaRPr lang="en-CN" sz="1100" dirty="0"/>
            </a:p>
          </p:txBody>
        </p:sp>
        <p:sp>
          <p:nvSpPr>
            <p:cNvPr id="97" name="TextBox 96">
              <a:extLst>
                <a:ext uri="{FF2B5EF4-FFF2-40B4-BE49-F238E27FC236}">
                  <a16:creationId xmlns:a16="http://schemas.microsoft.com/office/drawing/2014/main" id="{202D474A-BAC5-DC46-B809-887B76610E85}"/>
                </a:ext>
              </a:extLst>
            </p:cNvPr>
            <p:cNvSpPr txBox="1"/>
            <p:nvPr/>
          </p:nvSpPr>
          <p:spPr>
            <a:xfrm>
              <a:off x="5461984" y="3729422"/>
              <a:ext cx="474810" cy="261610"/>
            </a:xfrm>
            <a:prstGeom prst="rect">
              <a:avLst/>
            </a:prstGeom>
            <a:noFill/>
          </p:spPr>
          <p:txBody>
            <a:bodyPr wrap="none" rtlCol="0">
              <a:spAutoFit/>
            </a:bodyPr>
            <a:lstStyle/>
            <a:p>
              <a:r>
                <a:rPr lang="en-US" altLang="zh-CN" sz="1100" dirty="0"/>
                <a:t>boot</a:t>
              </a:r>
            </a:p>
          </p:txBody>
        </p:sp>
        <p:sp>
          <p:nvSpPr>
            <p:cNvPr id="98" name="TextBox 97">
              <a:extLst>
                <a:ext uri="{FF2B5EF4-FFF2-40B4-BE49-F238E27FC236}">
                  <a16:creationId xmlns:a16="http://schemas.microsoft.com/office/drawing/2014/main" id="{20139A4C-54D0-2247-9AF7-D9321C5ACE0C}"/>
                </a:ext>
              </a:extLst>
            </p:cNvPr>
            <p:cNvSpPr txBox="1"/>
            <p:nvPr/>
          </p:nvSpPr>
          <p:spPr>
            <a:xfrm>
              <a:off x="5414008" y="3170153"/>
              <a:ext cx="522172" cy="224732"/>
            </a:xfrm>
            <a:prstGeom prst="rect">
              <a:avLst/>
            </a:prstGeom>
            <a:noFill/>
          </p:spPr>
          <p:txBody>
            <a:bodyPr wrap="none" rtlCol="0">
              <a:spAutoFit/>
            </a:bodyPr>
            <a:lstStyle/>
            <a:p>
              <a:r>
                <a:rPr lang="zh-CN" altLang="en-US" sz="1100" dirty="0"/>
                <a:t>根</a:t>
              </a:r>
              <a:r>
                <a:rPr lang="zh-CN" altLang="en-CN" sz="1100" dirty="0"/>
                <a:t>目录</a:t>
              </a:r>
              <a:endParaRPr lang="en-CN" sz="1100" dirty="0"/>
            </a:p>
          </p:txBody>
        </p:sp>
        <p:sp>
          <p:nvSpPr>
            <p:cNvPr id="99" name="Oval 98">
              <a:extLst>
                <a:ext uri="{FF2B5EF4-FFF2-40B4-BE49-F238E27FC236}">
                  <a16:creationId xmlns:a16="http://schemas.microsoft.com/office/drawing/2014/main" id="{50A008F6-519C-B949-B2C0-DA9E3D644676}"/>
                </a:ext>
              </a:extLst>
            </p:cNvPr>
            <p:cNvSpPr/>
            <p:nvPr/>
          </p:nvSpPr>
          <p:spPr>
            <a:xfrm>
              <a:off x="4171233" y="493623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9</a:t>
              </a:r>
              <a:endParaRPr lang="en-CN" sz="1100" dirty="0"/>
            </a:p>
          </p:txBody>
        </p:sp>
        <p:cxnSp>
          <p:nvCxnSpPr>
            <p:cNvPr id="100" name="Straight Arrow Connector 99">
              <a:extLst>
                <a:ext uri="{FF2B5EF4-FFF2-40B4-BE49-F238E27FC236}">
                  <a16:creationId xmlns:a16="http://schemas.microsoft.com/office/drawing/2014/main" id="{47BC46CF-5AC3-FC42-9707-7CCE5FA96E50}"/>
                </a:ext>
              </a:extLst>
            </p:cNvPr>
            <p:cNvCxnSpPr>
              <a:cxnSpLocks/>
              <a:stCxn id="111" idx="4"/>
              <a:endCxn id="99" idx="0"/>
            </p:cNvCxnSpPr>
            <p:nvPr/>
          </p:nvCxnSpPr>
          <p:spPr>
            <a:xfrm flipH="1">
              <a:off x="4305844" y="4554308"/>
              <a:ext cx="139977" cy="38192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1" name="Rectangle 100">
              <a:extLst>
                <a:ext uri="{FF2B5EF4-FFF2-40B4-BE49-F238E27FC236}">
                  <a16:creationId xmlns:a16="http://schemas.microsoft.com/office/drawing/2014/main" id="{D496B283-5661-3A4E-9E8A-B57AEACE12F1}"/>
                </a:ext>
              </a:extLst>
            </p:cNvPr>
            <p:cNvSpPr/>
            <p:nvPr/>
          </p:nvSpPr>
          <p:spPr>
            <a:xfrm>
              <a:off x="3639682" y="4211238"/>
              <a:ext cx="1153683" cy="61510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2" name="TextBox 101">
              <a:extLst>
                <a:ext uri="{FF2B5EF4-FFF2-40B4-BE49-F238E27FC236}">
                  <a16:creationId xmlns:a16="http://schemas.microsoft.com/office/drawing/2014/main" id="{03972B6C-E9BE-DF40-AC09-33795FB31F5A}"/>
                </a:ext>
              </a:extLst>
            </p:cNvPr>
            <p:cNvSpPr txBox="1"/>
            <p:nvPr/>
          </p:nvSpPr>
          <p:spPr>
            <a:xfrm>
              <a:off x="4457257" y="3723474"/>
              <a:ext cx="373820" cy="261610"/>
            </a:xfrm>
            <a:prstGeom prst="rect">
              <a:avLst/>
            </a:prstGeom>
            <a:noFill/>
          </p:spPr>
          <p:txBody>
            <a:bodyPr wrap="none" rtlCol="0">
              <a:spAutoFit/>
            </a:bodyPr>
            <a:lstStyle/>
            <a:p>
              <a:r>
                <a:rPr lang="en-US" altLang="zh-CN" sz="1100" dirty="0"/>
                <a:t>bin</a:t>
              </a:r>
              <a:endParaRPr lang="en-CN" sz="1100" dirty="0"/>
            </a:p>
          </p:txBody>
        </p:sp>
        <p:sp>
          <p:nvSpPr>
            <p:cNvPr id="103" name="TextBox 102">
              <a:extLst>
                <a:ext uri="{FF2B5EF4-FFF2-40B4-BE49-F238E27FC236}">
                  <a16:creationId xmlns:a16="http://schemas.microsoft.com/office/drawing/2014/main" id="{38B95B0F-9117-6949-B04C-C07498D4402C}"/>
                </a:ext>
              </a:extLst>
            </p:cNvPr>
            <p:cNvSpPr txBox="1"/>
            <p:nvPr/>
          </p:nvSpPr>
          <p:spPr>
            <a:xfrm>
              <a:off x="3639681" y="4477868"/>
              <a:ext cx="287258" cy="261610"/>
            </a:xfrm>
            <a:prstGeom prst="rect">
              <a:avLst/>
            </a:prstGeom>
            <a:noFill/>
          </p:spPr>
          <p:txBody>
            <a:bodyPr wrap="none" rtlCol="0">
              <a:spAutoFit/>
            </a:bodyPr>
            <a:lstStyle/>
            <a:p>
              <a:r>
                <a:rPr lang="en-CN" altLang="zh-CN" sz="1100" dirty="0"/>
                <a:t>ls</a:t>
              </a:r>
              <a:endParaRPr lang="en-CN" sz="1100" dirty="0"/>
            </a:p>
          </p:txBody>
        </p:sp>
        <p:sp>
          <p:nvSpPr>
            <p:cNvPr id="104" name="TextBox 103">
              <a:extLst>
                <a:ext uri="{FF2B5EF4-FFF2-40B4-BE49-F238E27FC236}">
                  <a16:creationId xmlns:a16="http://schemas.microsoft.com/office/drawing/2014/main" id="{A8DA8752-BAC7-FF4B-B515-8CE302ADC68A}"/>
                </a:ext>
              </a:extLst>
            </p:cNvPr>
            <p:cNvSpPr txBox="1"/>
            <p:nvPr/>
          </p:nvSpPr>
          <p:spPr>
            <a:xfrm>
              <a:off x="4079845" y="4578217"/>
              <a:ext cx="365806" cy="261610"/>
            </a:xfrm>
            <a:prstGeom prst="rect">
              <a:avLst/>
            </a:prstGeom>
            <a:noFill/>
          </p:spPr>
          <p:txBody>
            <a:bodyPr wrap="none" rtlCol="0">
              <a:spAutoFit/>
            </a:bodyPr>
            <a:lstStyle/>
            <a:p>
              <a:r>
                <a:rPr lang="en-US" altLang="zh-CN" sz="1100" dirty="0" err="1"/>
                <a:t>init</a:t>
              </a:r>
              <a:endParaRPr lang="en-CN" sz="1100" dirty="0"/>
            </a:p>
          </p:txBody>
        </p:sp>
        <p:sp>
          <p:nvSpPr>
            <p:cNvPr id="105" name="Rectangle 104">
              <a:extLst>
                <a:ext uri="{FF2B5EF4-FFF2-40B4-BE49-F238E27FC236}">
                  <a16:creationId xmlns:a16="http://schemas.microsoft.com/office/drawing/2014/main" id="{71C3C03B-E67D-9E43-9BB3-564430179185}"/>
                </a:ext>
              </a:extLst>
            </p:cNvPr>
            <p:cNvSpPr/>
            <p:nvPr/>
          </p:nvSpPr>
          <p:spPr>
            <a:xfrm>
              <a:off x="4944894" y="4211238"/>
              <a:ext cx="883707"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6" name="Rectangle 105">
              <a:extLst>
                <a:ext uri="{FF2B5EF4-FFF2-40B4-BE49-F238E27FC236}">
                  <a16:creationId xmlns:a16="http://schemas.microsoft.com/office/drawing/2014/main" id="{97D8A04B-69BC-0843-9BE0-9587C6BCE7C5}"/>
                </a:ext>
              </a:extLst>
            </p:cNvPr>
            <p:cNvSpPr/>
            <p:nvPr/>
          </p:nvSpPr>
          <p:spPr>
            <a:xfrm>
              <a:off x="4259759" y="3408136"/>
              <a:ext cx="2184449" cy="65068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107" name="Straight Arrow Connector 106">
              <a:extLst>
                <a:ext uri="{FF2B5EF4-FFF2-40B4-BE49-F238E27FC236}">
                  <a16:creationId xmlns:a16="http://schemas.microsoft.com/office/drawing/2014/main" id="{4E09EEA5-F729-714C-8DCD-8A3BF70D54BC}"/>
                </a:ext>
              </a:extLst>
            </p:cNvPr>
            <p:cNvCxnSpPr>
              <a:cxnSpLocks/>
              <a:stCxn id="110" idx="4"/>
              <a:endCxn id="112" idx="0"/>
            </p:cNvCxnSpPr>
            <p:nvPr/>
          </p:nvCxnSpPr>
          <p:spPr>
            <a:xfrm>
              <a:off x="5132257" y="3703514"/>
              <a:ext cx="205440" cy="591344"/>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08" name="Straight Arrow Connector 107">
              <a:extLst>
                <a:ext uri="{FF2B5EF4-FFF2-40B4-BE49-F238E27FC236}">
                  <a16:creationId xmlns:a16="http://schemas.microsoft.com/office/drawing/2014/main" id="{714B52C9-FE04-6241-BC05-0BF0577C5D2E}"/>
                </a:ext>
              </a:extLst>
            </p:cNvPr>
            <p:cNvCxnSpPr>
              <a:cxnSpLocks/>
              <a:stCxn id="110" idx="3"/>
              <a:endCxn id="111" idx="0"/>
            </p:cNvCxnSpPr>
            <p:nvPr/>
          </p:nvCxnSpPr>
          <p:spPr>
            <a:xfrm flipH="1">
              <a:off x="4445821" y="3664088"/>
              <a:ext cx="591253" cy="6210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9" name="TextBox 108">
              <a:extLst>
                <a:ext uri="{FF2B5EF4-FFF2-40B4-BE49-F238E27FC236}">
                  <a16:creationId xmlns:a16="http://schemas.microsoft.com/office/drawing/2014/main" id="{8FFD3829-E7C3-B247-A711-D416EE6C46C1}"/>
                </a:ext>
              </a:extLst>
            </p:cNvPr>
            <p:cNvSpPr txBox="1"/>
            <p:nvPr/>
          </p:nvSpPr>
          <p:spPr>
            <a:xfrm>
              <a:off x="4946601" y="3751225"/>
              <a:ext cx="537327" cy="261610"/>
            </a:xfrm>
            <a:prstGeom prst="rect">
              <a:avLst/>
            </a:prstGeom>
            <a:noFill/>
          </p:spPr>
          <p:txBody>
            <a:bodyPr wrap="none" rtlCol="0">
              <a:spAutoFit/>
            </a:bodyPr>
            <a:lstStyle/>
            <a:p>
              <a:r>
                <a:rPr lang="en-US" altLang="zh-CN" sz="1100" dirty="0"/>
                <a:t>home</a:t>
              </a:r>
              <a:endParaRPr lang="en-CN" sz="1100" dirty="0"/>
            </a:p>
          </p:txBody>
        </p:sp>
        <p:sp>
          <p:nvSpPr>
            <p:cNvPr id="110" name="Oval 109">
              <a:extLst>
                <a:ext uri="{FF2B5EF4-FFF2-40B4-BE49-F238E27FC236}">
                  <a16:creationId xmlns:a16="http://schemas.microsoft.com/office/drawing/2014/main" id="{3A462BF9-6C81-B946-95D1-E3A09B99A146}"/>
                </a:ext>
              </a:extLst>
            </p:cNvPr>
            <p:cNvSpPr/>
            <p:nvPr/>
          </p:nvSpPr>
          <p:spPr>
            <a:xfrm>
              <a:off x="4997647" y="343429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111" name="Oval 110">
              <a:extLst>
                <a:ext uri="{FF2B5EF4-FFF2-40B4-BE49-F238E27FC236}">
                  <a16:creationId xmlns:a16="http://schemas.microsoft.com/office/drawing/2014/main" id="{D3ECB57A-71FF-1A40-8944-23A0A73CD5E6}"/>
                </a:ext>
              </a:extLst>
            </p:cNvPr>
            <p:cNvSpPr/>
            <p:nvPr/>
          </p:nvSpPr>
          <p:spPr>
            <a:xfrm>
              <a:off x="4311210" y="428508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7</a:t>
              </a:r>
              <a:endParaRPr lang="en-CN" sz="1100" dirty="0"/>
            </a:p>
          </p:txBody>
        </p:sp>
        <p:sp>
          <p:nvSpPr>
            <p:cNvPr id="112" name="Oval 111">
              <a:extLst>
                <a:ext uri="{FF2B5EF4-FFF2-40B4-BE49-F238E27FC236}">
                  <a16:creationId xmlns:a16="http://schemas.microsoft.com/office/drawing/2014/main" id="{2BD918C4-A5B7-A94B-BBBC-276F31A0DFCB}"/>
                </a:ext>
              </a:extLst>
            </p:cNvPr>
            <p:cNvSpPr/>
            <p:nvPr/>
          </p:nvSpPr>
          <p:spPr>
            <a:xfrm>
              <a:off x="5203086" y="429485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4</a:t>
              </a:r>
              <a:endParaRPr lang="en-CN" sz="1100" dirty="0"/>
            </a:p>
          </p:txBody>
        </p:sp>
        <p:sp>
          <p:nvSpPr>
            <p:cNvPr id="113" name="Rectangle 112">
              <a:extLst>
                <a:ext uri="{FF2B5EF4-FFF2-40B4-BE49-F238E27FC236}">
                  <a16:creationId xmlns:a16="http://schemas.microsoft.com/office/drawing/2014/main" id="{67EB31D0-A346-9146-B66C-DBA3E117838B}"/>
                </a:ext>
              </a:extLst>
            </p:cNvPr>
            <p:cNvSpPr/>
            <p:nvPr/>
          </p:nvSpPr>
          <p:spPr>
            <a:xfrm>
              <a:off x="5878858" y="4211238"/>
              <a:ext cx="56535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cxnSp>
          <p:nvCxnSpPr>
            <p:cNvPr id="115" name="Straight Arrow Connector 114">
              <a:extLst>
                <a:ext uri="{FF2B5EF4-FFF2-40B4-BE49-F238E27FC236}">
                  <a16:creationId xmlns:a16="http://schemas.microsoft.com/office/drawing/2014/main" id="{70CD7112-02D4-164C-A7B6-6E0B76CE6B7F}"/>
                </a:ext>
              </a:extLst>
            </p:cNvPr>
            <p:cNvCxnSpPr>
              <a:cxnSpLocks/>
              <a:stCxn id="112" idx="4"/>
              <a:endCxn id="86" idx="0"/>
            </p:cNvCxnSpPr>
            <p:nvPr/>
          </p:nvCxnSpPr>
          <p:spPr>
            <a:xfrm flipH="1">
              <a:off x="4705871" y="4564079"/>
              <a:ext cx="631826" cy="120810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16" name="TextBox 115">
              <a:extLst>
                <a:ext uri="{FF2B5EF4-FFF2-40B4-BE49-F238E27FC236}">
                  <a16:creationId xmlns:a16="http://schemas.microsoft.com/office/drawing/2014/main" id="{BCA33CCE-120C-B44D-AC1B-585559FE0F7F}"/>
                </a:ext>
              </a:extLst>
            </p:cNvPr>
            <p:cNvSpPr txBox="1"/>
            <p:nvPr/>
          </p:nvSpPr>
          <p:spPr>
            <a:xfrm>
              <a:off x="4882939" y="4510104"/>
              <a:ext cx="466794" cy="261610"/>
            </a:xfrm>
            <a:prstGeom prst="rect">
              <a:avLst/>
            </a:prstGeom>
            <a:noFill/>
          </p:spPr>
          <p:txBody>
            <a:bodyPr wrap="none" rtlCol="0">
              <a:spAutoFit/>
            </a:bodyPr>
            <a:lstStyle/>
            <a:p>
              <a:r>
                <a:rPr lang="zh-CN" altLang="en-US" sz="1100" dirty="0"/>
                <a:t>小红</a:t>
              </a:r>
              <a:endParaRPr lang="en-CN" sz="1100" dirty="0"/>
            </a:p>
          </p:txBody>
        </p:sp>
      </p:grpSp>
      <p:sp>
        <p:nvSpPr>
          <p:cNvPr id="118" name="Rectangle 117">
            <a:extLst>
              <a:ext uri="{FF2B5EF4-FFF2-40B4-BE49-F238E27FC236}">
                <a16:creationId xmlns:a16="http://schemas.microsoft.com/office/drawing/2014/main" id="{8510ED22-9CC1-2340-A7F8-EE63267CB61C}"/>
              </a:ext>
            </a:extLst>
          </p:cNvPr>
          <p:cNvSpPr/>
          <p:nvPr/>
        </p:nvSpPr>
        <p:spPr>
          <a:xfrm>
            <a:off x="7486404" y="2287098"/>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1" name="TextBox 70">
            <a:extLst>
              <a:ext uri="{FF2B5EF4-FFF2-40B4-BE49-F238E27FC236}">
                <a16:creationId xmlns:a16="http://schemas.microsoft.com/office/drawing/2014/main" id="{C3B46665-B0E3-AD4A-8B3B-DA2E1CF0732B}"/>
              </a:ext>
            </a:extLst>
          </p:cNvPr>
          <p:cNvSpPr txBox="1"/>
          <p:nvPr/>
        </p:nvSpPr>
        <p:spPr>
          <a:xfrm>
            <a:off x="4821627" y="429358"/>
            <a:ext cx="2555508" cy="338554"/>
          </a:xfrm>
          <a:prstGeom prst="rect">
            <a:avLst/>
          </a:prstGeom>
          <a:noFill/>
        </p:spPr>
        <p:txBody>
          <a:bodyPr wrap="none" rtlCol="0">
            <a:spAutoFit/>
          </a:bodyPr>
          <a:lstStyle/>
          <a:p>
            <a:r>
              <a:rPr lang="zh-CN" altLang="en-CN" sz="1600" dirty="0"/>
              <a:t>文件系统</a:t>
            </a:r>
            <a:r>
              <a:rPr lang="en-US" altLang="zh-CN" sz="1600" dirty="0"/>
              <a:t>2</a:t>
            </a:r>
            <a:r>
              <a:rPr lang="zh-CN" altLang="en-US" sz="1600" dirty="0"/>
              <a:t>作为根文件系统</a:t>
            </a:r>
            <a:endParaRPr lang="en-CN" sz="1600" dirty="0"/>
          </a:p>
        </p:txBody>
      </p:sp>
      <p:sp>
        <p:nvSpPr>
          <p:cNvPr id="6" name="TextBox 5">
            <a:extLst>
              <a:ext uri="{FF2B5EF4-FFF2-40B4-BE49-F238E27FC236}">
                <a16:creationId xmlns:a16="http://schemas.microsoft.com/office/drawing/2014/main" id="{061E2A7B-BD4E-F249-9896-E7CF31355262}"/>
              </a:ext>
            </a:extLst>
          </p:cNvPr>
          <p:cNvSpPr txBox="1"/>
          <p:nvPr/>
        </p:nvSpPr>
        <p:spPr>
          <a:xfrm>
            <a:off x="4393941" y="3544332"/>
            <a:ext cx="1686680" cy="294824"/>
          </a:xfrm>
          <a:prstGeom prst="rect">
            <a:avLst/>
          </a:prstGeom>
          <a:noFill/>
        </p:spPr>
        <p:txBody>
          <a:bodyPr wrap="none" rtlCol="0">
            <a:spAutoFit/>
          </a:bodyPr>
          <a:lstStyle/>
          <a:p>
            <a:pPr lvl="0">
              <a:lnSpc>
                <a:spcPct val="120000"/>
              </a:lnSpc>
              <a:spcBef>
                <a:spcPts val="1200"/>
              </a:spcBef>
            </a:pPr>
            <a:r>
              <a:rPr lang="zh-CN" altLang="en-US" sz="1200" dirty="0">
                <a:solidFill>
                  <a:srgbClr val="000000">
                    <a:lumMod val="75000"/>
                    <a:lumOff val="25000"/>
                  </a:srgbClr>
                </a:solidFill>
                <a:ea typeface="微软雅黑" panose="020B0503020204020204" pitchFamily="34" charset="-122"/>
              </a:rPr>
              <a:t>挂载点：</a:t>
            </a:r>
            <a:r>
              <a:rPr lang="en-US" altLang="zh-CN" sz="1200" dirty="0">
                <a:solidFill>
                  <a:srgbClr val="000000">
                    <a:lumMod val="75000"/>
                    <a:lumOff val="25000"/>
                  </a:srgbClr>
                </a:solidFill>
                <a:ea typeface="微软雅黑" panose="020B0503020204020204" pitchFamily="34" charset="-122"/>
              </a:rPr>
              <a:t>"/home/</a:t>
            </a:r>
            <a:r>
              <a:rPr lang="zh-CN" altLang="en-US" sz="1200" dirty="0">
                <a:solidFill>
                  <a:srgbClr val="000000">
                    <a:lumMod val="75000"/>
                    <a:lumOff val="25000"/>
                  </a:srgbClr>
                </a:solidFill>
                <a:ea typeface="微软雅黑" panose="020B0503020204020204" pitchFamily="34" charset="-122"/>
              </a:rPr>
              <a:t>小红</a:t>
            </a:r>
            <a:r>
              <a:rPr lang="en-US" altLang="zh-CN" sz="1200" dirty="0">
                <a:solidFill>
                  <a:srgbClr val="000000">
                    <a:lumMod val="75000"/>
                    <a:lumOff val="25000"/>
                  </a:srgbClr>
                </a:solidFill>
                <a:ea typeface="微软雅黑" panose="020B0503020204020204" pitchFamily="34" charset="-122"/>
              </a:rPr>
              <a:t>"</a:t>
            </a:r>
          </a:p>
        </p:txBody>
      </p:sp>
      <p:sp>
        <p:nvSpPr>
          <p:cNvPr id="5" name="Slide Number Placeholder 4">
            <a:extLst>
              <a:ext uri="{FF2B5EF4-FFF2-40B4-BE49-F238E27FC236}">
                <a16:creationId xmlns:a16="http://schemas.microsoft.com/office/drawing/2014/main" id="{B29F60D6-B974-274D-A1C5-2F88B8172E29}"/>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spTree>
    <p:extLst>
      <p:ext uri="{BB962C8B-B14F-4D97-AF65-F5344CB8AC3E}">
        <p14:creationId xmlns:p14="http://schemas.microsoft.com/office/powerpoint/2010/main" val="1925368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6141-A05D-4549-B084-C66B2EC34F4C}"/>
              </a:ext>
            </a:extLst>
          </p:cNvPr>
          <p:cNvSpPr>
            <a:spLocks noGrp="1"/>
          </p:cNvSpPr>
          <p:nvPr>
            <p:ph type="title"/>
          </p:nvPr>
        </p:nvSpPr>
        <p:spPr/>
        <p:txBody>
          <a:bodyPr/>
          <a:lstStyle/>
          <a:p>
            <a:r>
              <a:rPr lang="zh-CN" altLang="en-US" dirty="0"/>
              <a:t>虚拟</a:t>
            </a:r>
            <a:r>
              <a:rPr lang="zh-CN" altLang="en-CN" dirty="0"/>
              <a:t>文件系统</a:t>
            </a:r>
            <a:r>
              <a:rPr lang="zh-CN" altLang="en-US" dirty="0"/>
              <a:t> </a:t>
            </a:r>
            <a:r>
              <a:rPr lang="en-US" altLang="zh-CN" dirty="0"/>
              <a:t>VFS</a:t>
            </a:r>
            <a:endParaRPr lang="en-CN" dirty="0"/>
          </a:p>
        </p:txBody>
      </p:sp>
      <p:sp>
        <p:nvSpPr>
          <p:cNvPr id="3" name="Content Placeholder 2">
            <a:extLst>
              <a:ext uri="{FF2B5EF4-FFF2-40B4-BE49-F238E27FC236}">
                <a16:creationId xmlns:a16="http://schemas.microsoft.com/office/drawing/2014/main" id="{E6A36AF6-D7C1-6E44-BE6C-D8CD5935711E}"/>
              </a:ext>
            </a:extLst>
          </p:cNvPr>
          <p:cNvSpPr>
            <a:spLocks noGrp="1"/>
          </p:cNvSpPr>
          <p:nvPr>
            <p:ph idx="1"/>
          </p:nvPr>
        </p:nvSpPr>
        <p:spPr/>
        <p:txBody>
          <a:bodyPr>
            <a:normAutofit/>
          </a:bodyPr>
          <a:lstStyle/>
          <a:p>
            <a:pPr marL="0" lvl="0" indent="0">
              <a:buNone/>
            </a:pPr>
            <a:r>
              <a:rPr lang="zh-CN" altLang="en-CN" sz="1800" b="0" dirty="0">
                <a:solidFill>
                  <a:srgbClr val="000000">
                    <a:lumMod val="75000"/>
                    <a:lumOff val="25000"/>
                  </a:srgbClr>
                </a:solidFill>
              </a:rPr>
              <a:t>挂载</a:t>
            </a:r>
            <a:r>
              <a:rPr lang="zh-CN" altLang="en-US" sz="1800" b="0" dirty="0">
                <a:solidFill>
                  <a:srgbClr val="000000">
                    <a:lumMod val="75000"/>
                    <a:lumOff val="25000"/>
                  </a:srgbClr>
                </a:solidFill>
              </a:rPr>
              <a:t>在逻辑上覆盖挂载点原有的结构</a:t>
            </a:r>
            <a:endParaRPr lang="en-US" altLang="zh-CN" sz="1800" b="0" dirty="0">
              <a:solidFill>
                <a:srgbClr val="000000">
                  <a:lumMod val="75000"/>
                  <a:lumOff val="25000"/>
                </a:srgbClr>
              </a:solidFill>
            </a:endParaRPr>
          </a:p>
          <a:p>
            <a:r>
              <a:rPr lang="zh-CN" altLang="en-US" sz="1600" b="0" dirty="0">
                <a:solidFill>
                  <a:srgbClr val="000000">
                    <a:lumMod val="75000"/>
                    <a:lumOff val="25000"/>
                  </a:srgbClr>
                </a:solidFill>
              </a:rPr>
              <a:t>无法访问文件系统</a:t>
            </a:r>
            <a:r>
              <a:rPr lang="en-US" altLang="zh-CN" sz="1600" b="0" dirty="0">
                <a:solidFill>
                  <a:srgbClr val="000000">
                    <a:lumMod val="75000"/>
                    <a:lumOff val="25000"/>
                  </a:srgbClr>
                </a:solidFill>
              </a:rPr>
              <a:t>2</a:t>
            </a:r>
            <a:r>
              <a:rPr lang="zh-CN" altLang="en-US" sz="1600" b="0" dirty="0">
                <a:solidFill>
                  <a:srgbClr val="000000">
                    <a:lumMod val="75000"/>
                    <a:lumOff val="25000"/>
                  </a:srgbClr>
                </a:solidFill>
              </a:rPr>
              <a:t>中的</a:t>
            </a:r>
            <a:r>
              <a:rPr lang="en-US" altLang="zh-CN" sz="1600" b="0" dirty="0">
                <a:solidFill>
                  <a:srgbClr val="000000">
                    <a:lumMod val="75000"/>
                    <a:lumOff val="25000"/>
                  </a:srgbClr>
                </a:solidFill>
              </a:rPr>
              <a:t>"/home/</a:t>
            </a:r>
            <a:r>
              <a:rPr lang="zh-CN" altLang="en-US" sz="1600" b="0" dirty="0">
                <a:solidFill>
                  <a:srgbClr val="000000">
                    <a:lumMod val="75000"/>
                    <a:lumOff val="25000"/>
                  </a:srgbClr>
                </a:solidFill>
              </a:rPr>
              <a:t>小红</a:t>
            </a:r>
            <a:r>
              <a:rPr lang="en-US" altLang="zh-CN" sz="1600" b="0" dirty="0">
                <a:solidFill>
                  <a:srgbClr val="000000">
                    <a:lumMod val="75000"/>
                    <a:lumOff val="25000"/>
                  </a:srgbClr>
                </a:solidFill>
              </a:rPr>
              <a:t>"</a:t>
            </a:r>
            <a:endParaRPr lang="en-CN" sz="1800" b="0" dirty="0">
              <a:solidFill>
                <a:srgbClr val="000000">
                  <a:lumMod val="75000"/>
                  <a:lumOff val="25000"/>
                </a:srgbClr>
              </a:solidFill>
            </a:endParaRPr>
          </a:p>
          <a:p>
            <a:pPr marL="0" lvl="0" indent="0">
              <a:buNone/>
            </a:pPr>
            <a:endParaRPr lang="en-US" altLang="zh-CN" sz="1600" b="0" dirty="0">
              <a:solidFill>
                <a:srgbClr val="000000">
                  <a:lumMod val="75000"/>
                  <a:lumOff val="25000"/>
                </a:srgbClr>
              </a:solidFill>
            </a:endParaRPr>
          </a:p>
          <a:p>
            <a:pPr marL="0" indent="0">
              <a:buNone/>
            </a:pPr>
            <a:endParaRPr lang="en-US" altLang="zh-CN" sz="1800" b="0" dirty="0"/>
          </a:p>
        </p:txBody>
      </p:sp>
      <p:sp>
        <p:nvSpPr>
          <p:cNvPr id="4" name="Footer Placeholder 3">
            <a:extLst>
              <a:ext uri="{FF2B5EF4-FFF2-40B4-BE49-F238E27FC236}">
                <a16:creationId xmlns:a16="http://schemas.microsoft.com/office/drawing/2014/main" id="{F1365FF2-22A1-3741-83E0-9E3963E95DF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1" name="TextBox 60">
            <a:extLst>
              <a:ext uri="{FF2B5EF4-FFF2-40B4-BE49-F238E27FC236}">
                <a16:creationId xmlns:a16="http://schemas.microsoft.com/office/drawing/2014/main" id="{836EB661-69CD-4140-B7B3-C0B17CD672B2}"/>
              </a:ext>
            </a:extLst>
          </p:cNvPr>
          <p:cNvSpPr txBox="1"/>
          <p:nvPr/>
        </p:nvSpPr>
        <p:spPr>
          <a:xfrm>
            <a:off x="4876772" y="3201279"/>
            <a:ext cx="1119217" cy="338554"/>
          </a:xfrm>
          <a:prstGeom prst="rect">
            <a:avLst/>
          </a:prstGeom>
          <a:noFill/>
        </p:spPr>
        <p:txBody>
          <a:bodyPr wrap="none" rtlCol="0">
            <a:spAutoFit/>
          </a:bodyPr>
          <a:lstStyle/>
          <a:p>
            <a:r>
              <a:rPr lang="zh-CN" altLang="en-CN" sz="1600" dirty="0"/>
              <a:t>文件系统</a:t>
            </a:r>
            <a:r>
              <a:rPr lang="en-US" altLang="zh-CN" sz="1600" dirty="0"/>
              <a:t>1</a:t>
            </a:r>
            <a:endParaRPr lang="en-CN" sz="1600" dirty="0"/>
          </a:p>
        </p:txBody>
      </p:sp>
      <p:grpSp>
        <p:nvGrpSpPr>
          <p:cNvPr id="62" name="Group 61">
            <a:extLst>
              <a:ext uri="{FF2B5EF4-FFF2-40B4-BE49-F238E27FC236}">
                <a16:creationId xmlns:a16="http://schemas.microsoft.com/office/drawing/2014/main" id="{E1C7DE0F-ED64-AD4C-8465-2DC0DA3FB6C1}"/>
              </a:ext>
            </a:extLst>
          </p:cNvPr>
          <p:cNvGrpSpPr/>
          <p:nvPr/>
        </p:nvGrpSpPr>
        <p:grpSpPr>
          <a:xfrm>
            <a:off x="5162229" y="2929223"/>
            <a:ext cx="2614748" cy="2015554"/>
            <a:chOff x="4218630" y="898053"/>
            <a:chExt cx="4841503" cy="3732028"/>
          </a:xfrm>
        </p:grpSpPr>
        <p:sp>
          <p:nvSpPr>
            <p:cNvPr id="63" name="Oval 62">
              <a:extLst>
                <a:ext uri="{FF2B5EF4-FFF2-40B4-BE49-F238E27FC236}">
                  <a16:creationId xmlns:a16="http://schemas.microsoft.com/office/drawing/2014/main" id="{422490A0-B2BF-324F-8DAB-2CF6ECD85F9C}"/>
                </a:ext>
              </a:extLst>
            </p:cNvPr>
            <p:cNvSpPr/>
            <p:nvPr/>
          </p:nvSpPr>
          <p:spPr>
            <a:xfrm>
              <a:off x="4218630" y="412597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64" name="Oval 63">
              <a:extLst>
                <a:ext uri="{FF2B5EF4-FFF2-40B4-BE49-F238E27FC236}">
                  <a16:creationId xmlns:a16="http://schemas.microsoft.com/office/drawing/2014/main" id="{8AFC18B9-9A9D-9C4E-A2E2-C4346865223B}"/>
                </a:ext>
              </a:extLst>
            </p:cNvPr>
            <p:cNvSpPr/>
            <p:nvPr/>
          </p:nvSpPr>
          <p:spPr>
            <a:xfrm>
              <a:off x="7729955" y="4080602"/>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65" name="Oval 64">
              <a:extLst>
                <a:ext uri="{FF2B5EF4-FFF2-40B4-BE49-F238E27FC236}">
                  <a16:creationId xmlns:a16="http://schemas.microsoft.com/office/drawing/2014/main" id="{308BA0DF-C211-9241-80B5-4C59E2B7B40F}"/>
                </a:ext>
              </a:extLst>
            </p:cNvPr>
            <p:cNvSpPr/>
            <p:nvPr/>
          </p:nvSpPr>
          <p:spPr>
            <a:xfrm>
              <a:off x="8539206" y="303362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66" name="Straight Arrow Connector 65">
              <a:extLst>
                <a:ext uri="{FF2B5EF4-FFF2-40B4-BE49-F238E27FC236}">
                  <a16:creationId xmlns:a16="http://schemas.microsoft.com/office/drawing/2014/main" id="{315E1CE2-51F6-1145-9EFA-F443A3C494F4}"/>
                </a:ext>
              </a:extLst>
            </p:cNvPr>
            <p:cNvCxnSpPr>
              <a:cxnSpLocks/>
              <a:stCxn id="87" idx="3"/>
              <a:endCxn id="63" idx="0"/>
            </p:cNvCxnSpPr>
            <p:nvPr/>
          </p:nvCxnSpPr>
          <p:spPr>
            <a:xfrm flipH="1">
              <a:off x="4467877" y="3351408"/>
              <a:ext cx="1184581" cy="77457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7" name="Straight Arrow Connector 66">
              <a:extLst>
                <a:ext uri="{FF2B5EF4-FFF2-40B4-BE49-F238E27FC236}">
                  <a16:creationId xmlns:a16="http://schemas.microsoft.com/office/drawing/2014/main" id="{1FE5EEFF-92F2-BF4E-89B4-36A81C41E055}"/>
                </a:ext>
              </a:extLst>
            </p:cNvPr>
            <p:cNvCxnSpPr>
              <a:cxnSpLocks/>
              <a:stCxn id="88" idx="4"/>
              <a:endCxn id="64" idx="0"/>
            </p:cNvCxnSpPr>
            <p:nvPr/>
          </p:nvCxnSpPr>
          <p:spPr>
            <a:xfrm>
              <a:off x="7480113" y="3442502"/>
              <a:ext cx="499089" cy="6381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8" name="Straight Arrow Connector 67">
              <a:extLst>
                <a:ext uri="{FF2B5EF4-FFF2-40B4-BE49-F238E27FC236}">
                  <a16:creationId xmlns:a16="http://schemas.microsoft.com/office/drawing/2014/main" id="{B2EEAC8C-F9B2-9C4A-B72F-336C8BBB2729}"/>
                </a:ext>
              </a:extLst>
            </p:cNvPr>
            <p:cNvCxnSpPr>
              <a:cxnSpLocks/>
              <a:stCxn id="86" idx="5"/>
              <a:endCxn id="65" idx="0"/>
            </p:cNvCxnSpPr>
            <p:nvPr/>
          </p:nvCxnSpPr>
          <p:spPr>
            <a:xfrm>
              <a:off x="7275961" y="1776066"/>
              <a:ext cx="1512492" cy="125756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69" name="TextBox 68">
              <a:extLst>
                <a:ext uri="{FF2B5EF4-FFF2-40B4-BE49-F238E27FC236}">
                  <a16:creationId xmlns:a16="http://schemas.microsoft.com/office/drawing/2014/main" id="{DEED37BE-4530-A148-B8B6-06ED967DC1B5}"/>
                </a:ext>
              </a:extLst>
            </p:cNvPr>
            <p:cNvSpPr txBox="1"/>
            <p:nvPr/>
          </p:nvSpPr>
          <p:spPr>
            <a:xfrm>
              <a:off x="7081504" y="3543788"/>
              <a:ext cx="1191237" cy="416117"/>
            </a:xfrm>
            <a:prstGeom prst="rect">
              <a:avLst/>
            </a:prstGeom>
            <a:noFill/>
          </p:spPr>
          <p:txBody>
            <a:bodyPr wrap="none" rtlCol="0">
              <a:spAutoFit/>
            </a:bodyPr>
            <a:lstStyle/>
            <a:p>
              <a:r>
                <a:rPr lang="zh-CN" altLang="en-CN" sz="1100" dirty="0"/>
                <a:t>算法</a:t>
              </a:r>
              <a:r>
                <a:rPr lang="zh-CN" altLang="en-US" sz="1100" dirty="0"/>
                <a:t>笔记</a:t>
              </a:r>
              <a:endParaRPr lang="en-CN" sz="1100" dirty="0"/>
            </a:p>
          </p:txBody>
        </p:sp>
        <p:sp>
          <p:nvSpPr>
            <p:cNvPr id="70" name="TextBox 69">
              <a:extLst>
                <a:ext uri="{FF2B5EF4-FFF2-40B4-BE49-F238E27FC236}">
                  <a16:creationId xmlns:a16="http://schemas.microsoft.com/office/drawing/2014/main" id="{E8BEC1F0-F0E5-BA4F-A035-EBBBBB24D8AE}"/>
                </a:ext>
              </a:extLst>
            </p:cNvPr>
            <p:cNvSpPr txBox="1"/>
            <p:nvPr/>
          </p:nvSpPr>
          <p:spPr>
            <a:xfrm>
              <a:off x="7554774" y="1886026"/>
              <a:ext cx="1191237" cy="416117"/>
            </a:xfrm>
            <a:prstGeom prst="rect">
              <a:avLst/>
            </a:prstGeom>
            <a:noFill/>
          </p:spPr>
          <p:txBody>
            <a:bodyPr wrap="none" rtlCol="0">
              <a:spAutoFit/>
            </a:bodyPr>
            <a:lstStyle/>
            <a:p>
              <a:r>
                <a:rPr lang="zh-CN" altLang="en-US" sz="1100" dirty="0"/>
                <a:t>数据结构</a:t>
              </a:r>
              <a:endParaRPr lang="en-CN" sz="1100" dirty="0"/>
            </a:p>
          </p:txBody>
        </p:sp>
        <p:sp>
          <p:nvSpPr>
            <p:cNvPr id="72" name="Oval 71">
              <a:extLst>
                <a:ext uri="{FF2B5EF4-FFF2-40B4-BE49-F238E27FC236}">
                  <a16:creationId xmlns:a16="http://schemas.microsoft.com/office/drawing/2014/main" id="{43BFC1DD-E093-D144-BF78-7722E75E7120}"/>
                </a:ext>
              </a:extLst>
            </p:cNvPr>
            <p:cNvSpPr/>
            <p:nvPr/>
          </p:nvSpPr>
          <p:spPr>
            <a:xfrm>
              <a:off x="5320272" y="413158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7</a:t>
              </a:r>
              <a:endParaRPr lang="en-CN" sz="1100" dirty="0"/>
            </a:p>
          </p:txBody>
        </p:sp>
        <p:sp>
          <p:nvSpPr>
            <p:cNvPr id="73" name="Oval 72">
              <a:extLst>
                <a:ext uri="{FF2B5EF4-FFF2-40B4-BE49-F238E27FC236}">
                  <a16:creationId xmlns:a16="http://schemas.microsoft.com/office/drawing/2014/main" id="{7D331D8E-AA35-624B-AFF5-A4C256951C5E}"/>
                </a:ext>
              </a:extLst>
            </p:cNvPr>
            <p:cNvSpPr/>
            <p:nvPr/>
          </p:nvSpPr>
          <p:spPr>
            <a:xfrm>
              <a:off x="6530203" y="4106987"/>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4</a:t>
              </a:r>
              <a:endParaRPr lang="en-CN" sz="1100" dirty="0"/>
            </a:p>
          </p:txBody>
        </p:sp>
        <p:cxnSp>
          <p:nvCxnSpPr>
            <p:cNvPr id="74" name="Straight Arrow Connector 73">
              <a:extLst>
                <a:ext uri="{FF2B5EF4-FFF2-40B4-BE49-F238E27FC236}">
                  <a16:creationId xmlns:a16="http://schemas.microsoft.com/office/drawing/2014/main" id="{7A3B609E-6C39-8945-832C-BB79397A50D7}"/>
                </a:ext>
              </a:extLst>
            </p:cNvPr>
            <p:cNvCxnSpPr>
              <a:cxnSpLocks/>
              <a:stCxn id="87" idx="4"/>
              <a:endCxn id="72" idx="0"/>
            </p:cNvCxnSpPr>
            <p:nvPr/>
          </p:nvCxnSpPr>
          <p:spPr>
            <a:xfrm flipH="1">
              <a:off x="5569519" y="3424411"/>
              <a:ext cx="259183" cy="70717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75" name="Straight Arrow Connector 74">
              <a:extLst>
                <a:ext uri="{FF2B5EF4-FFF2-40B4-BE49-F238E27FC236}">
                  <a16:creationId xmlns:a16="http://schemas.microsoft.com/office/drawing/2014/main" id="{C8BFA3C8-0547-C443-9E1E-0C4AF6905382}"/>
                </a:ext>
              </a:extLst>
            </p:cNvPr>
            <p:cNvCxnSpPr>
              <a:cxnSpLocks/>
              <a:stCxn id="87" idx="5"/>
              <a:endCxn id="73" idx="0"/>
            </p:cNvCxnSpPr>
            <p:nvPr/>
          </p:nvCxnSpPr>
          <p:spPr>
            <a:xfrm>
              <a:off x="6004945" y="3351408"/>
              <a:ext cx="774505" cy="75557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76" name="Rectangle 75">
              <a:extLst>
                <a:ext uri="{FF2B5EF4-FFF2-40B4-BE49-F238E27FC236}">
                  <a16:creationId xmlns:a16="http://schemas.microsoft.com/office/drawing/2014/main" id="{126A4478-9796-4C4D-86A9-2CB30898A5F3}"/>
                </a:ext>
              </a:extLst>
            </p:cNvPr>
            <p:cNvSpPr/>
            <p:nvPr/>
          </p:nvSpPr>
          <p:spPr>
            <a:xfrm>
              <a:off x="4336045" y="2789178"/>
              <a:ext cx="2641136" cy="1138936"/>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7" name="TextBox 76">
              <a:extLst>
                <a:ext uri="{FF2B5EF4-FFF2-40B4-BE49-F238E27FC236}">
                  <a16:creationId xmlns:a16="http://schemas.microsoft.com/office/drawing/2014/main" id="{24630B91-7CAC-AB42-8E5E-B3AE6F478918}"/>
                </a:ext>
              </a:extLst>
            </p:cNvPr>
            <p:cNvSpPr txBox="1"/>
            <p:nvPr/>
          </p:nvSpPr>
          <p:spPr>
            <a:xfrm>
              <a:off x="5953873" y="1882738"/>
              <a:ext cx="617547" cy="416117"/>
            </a:xfrm>
            <a:prstGeom prst="rect">
              <a:avLst/>
            </a:prstGeom>
            <a:noFill/>
          </p:spPr>
          <p:txBody>
            <a:bodyPr wrap="none" rtlCol="0">
              <a:spAutoFit/>
            </a:bodyPr>
            <a:lstStyle/>
            <a:p>
              <a:r>
                <a:rPr lang="en-US" altLang="zh-CN" sz="1100" dirty="0"/>
                <a:t>OS</a:t>
              </a:r>
              <a:endParaRPr lang="en-CN" sz="1100" dirty="0"/>
            </a:p>
          </p:txBody>
        </p:sp>
        <p:sp>
          <p:nvSpPr>
            <p:cNvPr id="78" name="TextBox 77">
              <a:extLst>
                <a:ext uri="{FF2B5EF4-FFF2-40B4-BE49-F238E27FC236}">
                  <a16:creationId xmlns:a16="http://schemas.microsoft.com/office/drawing/2014/main" id="{E327F7BF-9FC4-CF49-AAFA-AB90873DCD70}"/>
                </a:ext>
              </a:extLst>
            </p:cNvPr>
            <p:cNvSpPr txBox="1"/>
            <p:nvPr/>
          </p:nvSpPr>
          <p:spPr>
            <a:xfrm>
              <a:off x="4336043" y="3282872"/>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1</a:t>
              </a:r>
              <a:endParaRPr lang="en-CN" sz="1100" dirty="0"/>
            </a:p>
          </p:txBody>
        </p:sp>
        <p:sp>
          <p:nvSpPr>
            <p:cNvPr id="79" name="TextBox 78">
              <a:extLst>
                <a:ext uri="{FF2B5EF4-FFF2-40B4-BE49-F238E27FC236}">
                  <a16:creationId xmlns:a16="http://schemas.microsoft.com/office/drawing/2014/main" id="{AE45740E-D400-4542-A81B-FD8A5567C21B}"/>
                </a:ext>
              </a:extLst>
            </p:cNvPr>
            <p:cNvSpPr txBox="1"/>
            <p:nvPr/>
          </p:nvSpPr>
          <p:spPr>
            <a:xfrm>
              <a:off x="5093993" y="3596254"/>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2</a:t>
              </a:r>
              <a:endParaRPr lang="en-CN" sz="1100" dirty="0"/>
            </a:p>
          </p:txBody>
        </p:sp>
        <p:sp>
          <p:nvSpPr>
            <p:cNvPr id="80" name="Rectangle 79">
              <a:extLst>
                <a:ext uri="{FF2B5EF4-FFF2-40B4-BE49-F238E27FC236}">
                  <a16:creationId xmlns:a16="http://schemas.microsoft.com/office/drawing/2014/main" id="{6AC10C6C-F4B5-3842-A779-0E762FC67805}"/>
                </a:ext>
              </a:extLst>
            </p:cNvPr>
            <p:cNvSpPr/>
            <p:nvPr/>
          </p:nvSpPr>
          <p:spPr>
            <a:xfrm>
              <a:off x="7059771" y="2789178"/>
              <a:ext cx="1167809" cy="1144709"/>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81" name="Rectangle 80">
              <a:extLst>
                <a:ext uri="{FF2B5EF4-FFF2-40B4-BE49-F238E27FC236}">
                  <a16:creationId xmlns:a16="http://schemas.microsoft.com/office/drawing/2014/main" id="{0ABDFFD1-6DFD-E545-A640-EA5C290853F8}"/>
                </a:ext>
              </a:extLst>
            </p:cNvPr>
            <p:cNvSpPr/>
            <p:nvPr/>
          </p:nvSpPr>
          <p:spPr>
            <a:xfrm>
              <a:off x="5984366" y="898053"/>
              <a:ext cx="3075767" cy="1608914"/>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82" name="Straight Arrow Connector 81">
              <a:extLst>
                <a:ext uri="{FF2B5EF4-FFF2-40B4-BE49-F238E27FC236}">
                  <a16:creationId xmlns:a16="http://schemas.microsoft.com/office/drawing/2014/main" id="{E20B6772-03A8-E748-B74C-281608B06071}"/>
                </a:ext>
              </a:extLst>
            </p:cNvPr>
            <p:cNvCxnSpPr>
              <a:cxnSpLocks/>
              <a:stCxn id="86" idx="4"/>
              <a:endCxn id="88" idx="0"/>
            </p:cNvCxnSpPr>
            <p:nvPr/>
          </p:nvCxnSpPr>
          <p:spPr>
            <a:xfrm>
              <a:off x="7099718" y="1849069"/>
              <a:ext cx="380395" cy="109494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83" name="Straight Arrow Connector 82">
              <a:extLst>
                <a:ext uri="{FF2B5EF4-FFF2-40B4-BE49-F238E27FC236}">
                  <a16:creationId xmlns:a16="http://schemas.microsoft.com/office/drawing/2014/main" id="{8FABE4A6-2ABF-9641-A2E2-C04D3AB00D32}"/>
                </a:ext>
              </a:extLst>
            </p:cNvPr>
            <p:cNvCxnSpPr>
              <a:cxnSpLocks/>
              <a:stCxn id="86" idx="3"/>
              <a:endCxn id="87" idx="0"/>
            </p:cNvCxnSpPr>
            <p:nvPr/>
          </p:nvCxnSpPr>
          <p:spPr>
            <a:xfrm flipH="1">
              <a:off x="5828702" y="1776066"/>
              <a:ext cx="1094772" cy="114985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4" name="TextBox 83">
              <a:extLst>
                <a:ext uri="{FF2B5EF4-FFF2-40B4-BE49-F238E27FC236}">
                  <a16:creationId xmlns:a16="http://schemas.microsoft.com/office/drawing/2014/main" id="{64B55F17-3E1E-7D49-B419-EE0D888B207A}"/>
                </a:ext>
              </a:extLst>
            </p:cNvPr>
            <p:cNvSpPr txBox="1"/>
            <p:nvPr/>
          </p:nvSpPr>
          <p:spPr>
            <a:xfrm>
              <a:off x="6732202" y="1909082"/>
              <a:ext cx="742483" cy="416117"/>
            </a:xfrm>
            <a:prstGeom prst="rect">
              <a:avLst/>
            </a:prstGeom>
            <a:noFill/>
          </p:spPr>
          <p:txBody>
            <a:bodyPr wrap="none" rtlCol="0">
              <a:spAutoFit/>
            </a:bodyPr>
            <a:lstStyle/>
            <a:p>
              <a:r>
                <a:rPr lang="zh-CN" altLang="en-CN" sz="1100" dirty="0"/>
                <a:t>算法</a:t>
              </a:r>
              <a:endParaRPr lang="en-CN" sz="1100" dirty="0"/>
            </a:p>
          </p:txBody>
        </p:sp>
        <p:sp>
          <p:nvSpPr>
            <p:cNvPr id="85" name="TextBox 84">
              <a:extLst>
                <a:ext uri="{FF2B5EF4-FFF2-40B4-BE49-F238E27FC236}">
                  <a16:creationId xmlns:a16="http://schemas.microsoft.com/office/drawing/2014/main" id="{AA0F355C-95C3-B642-99C5-2510228A9149}"/>
                </a:ext>
              </a:extLst>
            </p:cNvPr>
            <p:cNvSpPr txBox="1"/>
            <p:nvPr/>
          </p:nvSpPr>
          <p:spPr>
            <a:xfrm>
              <a:off x="6326886" y="3424410"/>
              <a:ext cx="742483" cy="416117"/>
            </a:xfrm>
            <a:prstGeom prst="rect">
              <a:avLst/>
            </a:prstGeom>
            <a:noFill/>
          </p:spPr>
          <p:txBody>
            <a:bodyPr wrap="none" rtlCol="0">
              <a:spAutoFit/>
            </a:bodyPr>
            <a:lstStyle/>
            <a:p>
              <a:r>
                <a:rPr lang="zh-CN" altLang="en-US" sz="1100" dirty="0"/>
                <a:t>其他</a:t>
              </a:r>
              <a:endParaRPr lang="en-CN" sz="1100" dirty="0"/>
            </a:p>
          </p:txBody>
        </p:sp>
        <p:sp>
          <p:nvSpPr>
            <p:cNvPr id="86" name="Oval 85">
              <a:extLst>
                <a:ext uri="{FF2B5EF4-FFF2-40B4-BE49-F238E27FC236}">
                  <a16:creationId xmlns:a16="http://schemas.microsoft.com/office/drawing/2014/main" id="{3834C4B8-6A35-BF42-B7BD-949665101EB8}"/>
                </a:ext>
              </a:extLst>
            </p:cNvPr>
            <p:cNvSpPr/>
            <p:nvPr/>
          </p:nvSpPr>
          <p:spPr>
            <a:xfrm>
              <a:off x="6850471" y="135057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0</a:t>
              </a:r>
              <a:endParaRPr lang="en-CN" sz="1100" dirty="0"/>
            </a:p>
          </p:txBody>
        </p:sp>
        <p:sp>
          <p:nvSpPr>
            <p:cNvPr id="87" name="Oval 86">
              <a:extLst>
                <a:ext uri="{FF2B5EF4-FFF2-40B4-BE49-F238E27FC236}">
                  <a16:creationId xmlns:a16="http://schemas.microsoft.com/office/drawing/2014/main" id="{D1561B5D-DE59-8047-BF47-C54B11F52294}"/>
                </a:ext>
              </a:extLst>
            </p:cNvPr>
            <p:cNvSpPr/>
            <p:nvPr/>
          </p:nvSpPr>
          <p:spPr>
            <a:xfrm>
              <a:off x="5579455" y="2925918"/>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13</a:t>
              </a:r>
              <a:endParaRPr lang="en-CN" sz="1100" dirty="0"/>
            </a:p>
          </p:txBody>
        </p:sp>
        <p:sp>
          <p:nvSpPr>
            <p:cNvPr id="88" name="Oval 87">
              <a:extLst>
                <a:ext uri="{FF2B5EF4-FFF2-40B4-BE49-F238E27FC236}">
                  <a16:creationId xmlns:a16="http://schemas.microsoft.com/office/drawing/2014/main" id="{8DE57138-3CB8-E74B-B325-DB8C978C444C}"/>
                </a:ext>
              </a:extLst>
            </p:cNvPr>
            <p:cNvSpPr/>
            <p:nvPr/>
          </p:nvSpPr>
          <p:spPr>
            <a:xfrm>
              <a:off x="7230866" y="2944009"/>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14</a:t>
              </a:r>
              <a:endParaRPr lang="en-CN" sz="1100" dirty="0"/>
            </a:p>
          </p:txBody>
        </p:sp>
      </p:grpSp>
      <p:grpSp>
        <p:nvGrpSpPr>
          <p:cNvPr id="89" name="Group 88">
            <a:extLst>
              <a:ext uri="{FF2B5EF4-FFF2-40B4-BE49-F238E27FC236}">
                <a16:creationId xmlns:a16="http://schemas.microsoft.com/office/drawing/2014/main" id="{97CF5E01-AA30-B948-99FE-C9C579E111C4}"/>
              </a:ext>
            </a:extLst>
          </p:cNvPr>
          <p:cNvGrpSpPr/>
          <p:nvPr/>
        </p:nvGrpSpPr>
        <p:grpSpPr>
          <a:xfrm>
            <a:off x="5588616" y="571589"/>
            <a:ext cx="2867938" cy="2602028"/>
            <a:chOff x="3576270" y="3170153"/>
            <a:chExt cx="2867938" cy="2602028"/>
          </a:xfrm>
        </p:grpSpPr>
        <p:sp>
          <p:nvSpPr>
            <p:cNvPr id="90" name="Oval 89">
              <a:extLst>
                <a:ext uri="{FF2B5EF4-FFF2-40B4-BE49-F238E27FC236}">
                  <a16:creationId xmlns:a16="http://schemas.microsoft.com/office/drawing/2014/main" id="{00EBE677-3A2D-EC42-B33D-B914BA91F33D}"/>
                </a:ext>
              </a:extLst>
            </p:cNvPr>
            <p:cNvSpPr/>
            <p:nvPr/>
          </p:nvSpPr>
          <p:spPr>
            <a:xfrm>
              <a:off x="3576270" y="493320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sp>
          <p:nvSpPr>
            <p:cNvPr id="91" name="Oval 90">
              <a:extLst>
                <a:ext uri="{FF2B5EF4-FFF2-40B4-BE49-F238E27FC236}">
                  <a16:creationId xmlns:a16="http://schemas.microsoft.com/office/drawing/2014/main" id="{276EA3A8-1499-EB4B-8773-B63EB7CBA369}"/>
                </a:ext>
              </a:extLst>
            </p:cNvPr>
            <p:cNvSpPr/>
            <p:nvPr/>
          </p:nvSpPr>
          <p:spPr>
            <a:xfrm>
              <a:off x="5540483" y="4999342"/>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92" name="Oval 91">
              <a:extLst>
                <a:ext uri="{FF2B5EF4-FFF2-40B4-BE49-F238E27FC236}">
                  <a16:creationId xmlns:a16="http://schemas.microsoft.com/office/drawing/2014/main" id="{8BFD7F69-ED4D-364E-AC8E-C1D7FA845544}"/>
                </a:ext>
              </a:extLst>
            </p:cNvPr>
            <p:cNvSpPr/>
            <p:nvPr/>
          </p:nvSpPr>
          <p:spPr>
            <a:xfrm>
              <a:off x="6030387" y="4315619"/>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93" name="Straight Arrow Connector 92">
              <a:extLst>
                <a:ext uri="{FF2B5EF4-FFF2-40B4-BE49-F238E27FC236}">
                  <a16:creationId xmlns:a16="http://schemas.microsoft.com/office/drawing/2014/main" id="{1B22098B-B2EE-9D48-A48C-2380BBCDAE7C}"/>
                </a:ext>
              </a:extLst>
            </p:cNvPr>
            <p:cNvCxnSpPr>
              <a:cxnSpLocks/>
              <a:stCxn id="111" idx="3"/>
              <a:endCxn id="90" idx="0"/>
            </p:cNvCxnSpPr>
            <p:nvPr/>
          </p:nvCxnSpPr>
          <p:spPr>
            <a:xfrm flipH="1">
              <a:off x="3710881" y="4514882"/>
              <a:ext cx="639756" cy="41832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4" name="Straight Arrow Connector 93">
              <a:extLst>
                <a:ext uri="{FF2B5EF4-FFF2-40B4-BE49-F238E27FC236}">
                  <a16:creationId xmlns:a16="http://schemas.microsoft.com/office/drawing/2014/main" id="{DB954439-171D-0D44-A9C2-AD77FD858295}"/>
                </a:ext>
              </a:extLst>
            </p:cNvPr>
            <p:cNvCxnSpPr>
              <a:cxnSpLocks/>
              <a:stCxn id="112" idx="4"/>
              <a:endCxn id="91" idx="0"/>
            </p:cNvCxnSpPr>
            <p:nvPr/>
          </p:nvCxnSpPr>
          <p:spPr>
            <a:xfrm>
              <a:off x="5337697" y="4564079"/>
              <a:ext cx="337397" cy="43526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5" name="Straight Arrow Connector 94">
              <a:extLst>
                <a:ext uri="{FF2B5EF4-FFF2-40B4-BE49-F238E27FC236}">
                  <a16:creationId xmlns:a16="http://schemas.microsoft.com/office/drawing/2014/main" id="{C86FB571-B2F8-A043-B1BD-D2ED6600E4ED}"/>
                </a:ext>
              </a:extLst>
            </p:cNvPr>
            <p:cNvCxnSpPr>
              <a:cxnSpLocks/>
              <a:stCxn id="110" idx="5"/>
              <a:endCxn id="92" idx="0"/>
            </p:cNvCxnSpPr>
            <p:nvPr/>
          </p:nvCxnSpPr>
          <p:spPr>
            <a:xfrm>
              <a:off x="5227441" y="3664087"/>
              <a:ext cx="937557" cy="65153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96" name="TextBox 95">
              <a:extLst>
                <a:ext uri="{FF2B5EF4-FFF2-40B4-BE49-F238E27FC236}">
                  <a16:creationId xmlns:a16="http://schemas.microsoft.com/office/drawing/2014/main" id="{7C60019B-FE86-2944-8E8E-8799253C76F3}"/>
                </a:ext>
              </a:extLst>
            </p:cNvPr>
            <p:cNvSpPr txBox="1"/>
            <p:nvPr/>
          </p:nvSpPr>
          <p:spPr>
            <a:xfrm>
              <a:off x="5361807" y="4510104"/>
              <a:ext cx="466794" cy="261610"/>
            </a:xfrm>
            <a:prstGeom prst="rect">
              <a:avLst/>
            </a:prstGeom>
            <a:noFill/>
          </p:spPr>
          <p:txBody>
            <a:bodyPr wrap="none" rtlCol="0">
              <a:spAutoFit/>
            </a:bodyPr>
            <a:lstStyle/>
            <a:p>
              <a:r>
                <a:rPr lang="zh-CN" altLang="en-US" sz="1100" dirty="0"/>
                <a:t>小明</a:t>
              </a:r>
              <a:endParaRPr lang="en-CN" sz="1100" dirty="0"/>
            </a:p>
          </p:txBody>
        </p:sp>
        <p:sp>
          <p:nvSpPr>
            <p:cNvPr id="97" name="TextBox 96">
              <a:extLst>
                <a:ext uri="{FF2B5EF4-FFF2-40B4-BE49-F238E27FC236}">
                  <a16:creationId xmlns:a16="http://schemas.microsoft.com/office/drawing/2014/main" id="{202D474A-BAC5-DC46-B809-887B76610E85}"/>
                </a:ext>
              </a:extLst>
            </p:cNvPr>
            <p:cNvSpPr txBox="1"/>
            <p:nvPr/>
          </p:nvSpPr>
          <p:spPr>
            <a:xfrm>
              <a:off x="5461984" y="3729422"/>
              <a:ext cx="474810" cy="261610"/>
            </a:xfrm>
            <a:prstGeom prst="rect">
              <a:avLst/>
            </a:prstGeom>
            <a:noFill/>
          </p:spPr>
          <p:txBody>
            <a:bodyPr wrap="none" rtlCol="0">
              <a:spAutoFit/>
            </a:bodyPr>
            <a:lstStyle/>
            <a:p>
              <a:r>
                <a:rPr lang="en-US" altLang="zh-CN" sz="1100" dirty="0"/>
                <a:t>boot</a:t>
              </a:r>
            </a:p>
          </p:txBody>
        </p:sp>
        <p:sp>
          <p:nvSpPr>
            <p:cNvPr id="98" name="TextBox 97">
              <a:extLst>
                <a:ext uri="{FF2B5EF4-FFF2-40B4-BE49-F238E27FC236}">
                  <a16:creationId xmlns:a16="http://schemas.microsoft.com/office/drawing/2014/main" id="{20139A4C-54D0-2247-9AF7-D9321C5ACE0C}"/>
                </a:ext>
              </a:extLst>
            </p:cNvPr>
            <p:cNvSpPr txBox="1"/>
            <p:nvPr/>
          </p:nvSpPr>
          <p:spPr>
            <a:xfrm>
              <a:off x="5414008" y="3170153"/>
              <a:ext cx="522172" cy="224732"/>
            </a:xfrm>
            <a:prstGeom prst="rect">
              <a:avLst/>
            </a:prstGeom>
            <a:noFill/>
          </p:spPr>
          <p:txBody>
            <a:bodyPr wrap="none" rtlCol="0">
              <a:spAutoFit/>
            </a:bodyPr>
            <a:lstStyle/>
            <a:p>
              <a:r>
                <a:rPr lang="zh-CN" altLang="en-US" sz="1100" dirty="0"/>
                <a:t>根</a:t>
              </a:r>
              <a:r>
                <a:rPr lang="zh-CN" altLang="en-CN" sz="1100" dirty="0"/>
                <a:t>目录</a:t>
              </a:r>
              <a:endParaRPr lang="en-CN" sz="1100" dirty="0"/>
            </a:p>
          </p:txBody>
        </p:sp>
        <p:sp>
          <p:nvSpPr>
            <p:cNvPr id="99" name="Oval 98">
              <a:extLst>
                <a:ext uri="{FF2B5EF4-FFF2-40B4-BE49-F238E27FC236}">
                  <a16:creationId xmlns:a16="http://schemas.microsoft.com/office/drawing/2014/main" id="{50A008F6-519C-B949-B2C0-DA9E3D644676}"/>
                </a:ext>
              </a:extLst>
            </p:cNvPr>
            <p:cNvSpPr/>
            <p:nvPr/>
          </p:nvSpPr>
          <p:spPr>
            <a:xfrm>
              <a:off x="4171233" y="493623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9</a:t>
              </a:r>
              <a:endParaRPr lang="en-CN" sz="1100" dirty="0"/>
            </a:p>
          </p:txBody>
        </p:sp>
        <p:cxnSp>
          <p:nvCxnSpPr>
            <p:cNvPr id="100" name="Straight Arrow Connector 99">
              <a:extLst>
                <a:ext uri="{FF2B5EF4-FFF2-40B4-BE49-F238E27FC236}">
                  <a16:creationId xmlns:a16="http://schemas.microsoft.com/office/drawing/2014/main" id="{47BC46CF-5AC3-FC42-9707-7CCE5FA96E50}"/>
                </a:ext>
              </a:extLst>
            </p:cNvPr>
            <p:cNvCxnSpPr>
              <a:cxnSpLocks/>
              <a:stCxn id="111" idx="4"/>
              <a:endCxn id="99" idx="0"/>
            </p:cNvCxnSpPr>
            <p:nvPr/>
          </p:nvCxnSpPr>
          <p:spPr>
            <a:xfrm flipH="1">
              <a:off x="4305844" y="4554308"/>
              <a:ext cx="139977" cy="38192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1" name="Rectangle 100">
              <a:extLst>
                <a:ext uri="{FF2B5EF4-FFF2-40B4-BE49-F238E27FC236}">
                  <a16:creationId xmlns:a16="http://schemas.microsoft.com/office/drawing/2014/main" id="{D496B283-5661-3A4E-9E8A-B57AEACE12F1}"/>
                </a:ext>
              </a:extLst>
            </p:cNvPr>
            <p:cNvSpPr/>
            <p:nvPr/>
          </p:nvSpPr>
          <p:spPr>
            <a:xfrm>
              <a:off x="3639682" y="4211238"/>
              <a:ext cx="1153683" cy="61510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2" name="TextBox 101">
              <a:extLst>
                <a:ext uri="{FF2B5EF4-FFF2-40B4-BE49-F238E27FC236}">
                  <a16:creationId xmlns:a16="http://schemas.microsoft.com/office/drawing/2014/main" id="{03972B6C-E9BE-DF40-AC09-33795FB31F5A}"/>
                </a:ext>
              </a:extLst>
            </p:cNvPr>
            <p:cNvSpPr txBox="1"/>
            <p:nvPr/>
          </p:nvSpPr>
          <p:spPr>
            <a:xfrm>
              <a:off x="4457257" y="3723474"/>
              <a:ext cx="373820" cy="261610"/>
            </a:xfrm>
            <a:prstGeom prst="rect">
              <a:avLst/>
            </a:prstGeom>
            <a:noFill/>
          </p:spPr>
          <p:txBody>
            <a:bodyPr wrap="none" rtlCol="0">
              <a:spAutoFit/>
            </a:bodyPr>
            <a:lstStyle/>
            <a:p>
              <a:r>
                <a:rPr lang="en-US" altLang="zh-CN" sz="1100" dirty="0"/>
                <a:t>bin</a:t>
              </a:r>
              <a:endParaRPr lang="en-CN" sz="1100" dirty="0"/>
            </a:p>
          </p:txBody>
        </p:sp>
        <p:sp>
          <p:nvSpPr>
            <p:cNvPr id="103" name="TextBox 102">
              <a:extLst>
                <a:ext uri="{FF2B5EF4-FFF2-40B4-BE49-F238E27FC236}">
                  <a16:creationId xmlns:a16="http://schemas.microsoft.com/office/drawing/2014/main" id="{38B95B0F-9117-6949-B04C-C07498D4402C}"/>
                </a:ext>
              </a:extLst>
            </p:cNvPr>
            <p:cNvSpPr txBox="1"/>
            <p:nvPr/>
          </p:nvSpPr>
          <p:spPr>
            <a:xfrm>
              <a:off x="3639681" y="4477868"/>
              <a:ext cx="287258" cy="261610"/>
            </a:xfrm>
            <a:prstGeom prst="rect">
              <a:avLst/>
            </a:prstGeom>
            <a:noFill/>
          </p:spPr>
          <p:txBody>
            <a:bodyPr wrap="none" rtlCol="0">
              <a:spAutoFit/>
            </a:bodyPr>
            <a:lstStyle/>
            <a:p>
              <a:r>
                <a:rPr lang="en-CN" altLang="zh-CN" sz="1100" dirty="0"/>
                <a:t>ls</a:t>
              </a:r>
              <a:endParaRPr lang="en-CN" sz="1100" dirty="0"/>
            </a:p>
          </p:txBody>
        </p:sp>
        <p:sp>
          <p:nvSpPr>
            <p:cNvPr id="104" name="TextBox 103">
              <a:extLst>
                <a:ext uri="{FF2B5EF4-FFF2-40B4-BE49-F238E27FC236}">
                  <a16:creationId xmlns:a16="http://schemas.microsoft.com/office/drawing/2014/main" id="{A8DA8752-BAC7-FF4B-B515-8CE302ADC68A}"/>
                </a:ext>
              </a:extLst>
            </p:cNvPr>
            <p:cNvSpPr txBox="1"/>
            <p:nvPr/>
          </p:nvSpPr>
          <p:spPr>
            <a:xfrm>
              <a:off x="4079845" y="4578217"/>
              <a:ext cx="365806" cy="261610"/>
            </a:xfrm>
            <a:prstGeom prst="rect">
              <a:avLst/>
            </a:prstGeom>
            <a:noFill/>
          </p:spPr>
          <p:txBody>
            <a:bodyPr wrap="none" rtlCol="0">
              <a:spAutoFit/>
            </a:bodyPr>
            <a:lstStyle/>
            <a:p>
              <a:r>
                <a:rPr lang="en-US" altLang="zh-CN" sz="1100" dirty="0" err="1"/>
                <a:t>init</a:t>
              </a:r>
              <a:endParaRPr lang="en-CN" sz="1100" dirty="0"/>
            </a:p>
          </p:txBody>
        </p:sp>
        <p:sp>
          <p:nvSpPr>
            <p:cNvPr id="105" name="Rectangle 104">
              <a:extLst>
                <a:ext uri="{FF2B5EF4-FFF2-40B4-BE49-F238E27FC236}">
                  <a16:creationId xmlns:a16="http://schemas.microsoft.com/office/drawing/2014/main" id="{71C3C03B-E67D-9E43-9BB3-564430179185}"/>
                </a:ext>
              </a:extLst>
            </p:cNvPr>
            <p:cNvSpPr/>
            <p:nvPr/>
          </p:nvSpPr>
          <p:spPr>
            <a:xfrm>
              <a:off x="4944894" y="4211238"/>
              <a:ext cx="883707"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6" name="Rectangle 105">
              <a:extLst>
                <a:ext uri="{FF2B5EF4-FFF2-40B4-BE49-F238E27FC236}">
                  <a16:creationId xmlns:a16="http://schemas.microsoft.com/office/drawing/2014/main" id="{97D8A04B-69BC-0843-9BE0-9587C6BCE7C5}"/>
                </a:ext>
              </a:extLst>
            </p:cNvPr>
            <p:cNvSpPr/>
            <p:nvPr/>
          </p:nvSpPr>
          <p:spPr>
            <a:xfrm>
              <a:off x="4259759" y="3408136"/>
              <a:ext cx="2184449" cy="65068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107" name="Straight Arrow Connector 106">
              <a:extLst>
                <a:ext uri="{FF2B5EF4-FFF2-40B4-BE49-F238E27FC236}">
                  <a16:creationId xmlns:a16="http://schemas.microsoft.com/office/drawing/2014/main" id="{4E09EEA5-F729-714C-8DCD-8A3BF70D54BC}"/>
                </a:ext>
              </a:extLst>
            </p:cNvPr>
            <p:cNvCxnSpPr>
              <a:cxnSpLocks/>
              <a:stCxn id="110" idx="4"/>
              <a:endCxn id="112" idx="0"/>
            </p:cNvCxnSpPr>
            <p:nvPr/>
          </p:nvCxnSpPr>
          <p:spPr>
            <a:xfrm>
              <a:off x="5132257" y="3703514"/>
              <a:ext cx="205440" cy="591344"/>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08" name="Straight Arrow Connector 107">
              <a:extLst>
                <a:ext uri="{FF2B5EF4-FFF2-40B4-BE49-F238E27FC236}">
                  <a16:creationId xmlns:a16="http://schemas.microsoft.com/office/drawing/2014/main" id="{714B52C9-FE04-6241-BC05-0BF0577C5D2E}"/>
                </a:ext>
              </a:extLst>
            </p:cNvPr>
            <p:cNvCxnSpPr>
              <a:cxnSpLocks/>
              <a:stCxn id="110" idx="3"/>
              <a:endCxn id="111" idx="0"/>
            </p:cNvCxnSpPr>
            <p:nvPr/>
          </p:nvCxnSpPr>
          <p:spPr>
            <a:xfrm flipH="1">
              <a:off x="4445821" y="3664088"/>
              <a:ext cx="591253" cy="6210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9" name="TextBox 108">
              <a:extLst>
                <a:ext uri="{FF2B5EF4-FFF2-40B4-BE49-F238E27FC236}">
                  <a16:creationId xmlns:a16="http://schemas.microsoft.com/office/drawing/2014/main" id="{8FFD3829-E7C3-B247-A711-D416EE6C46C1}"/>
                </a:ext>
              </a:extLst>
            </p:cNvPr>
            <p:cNvSpPr txBox="1"/>
            <p:nvPr/>
          </p:nvSpPr>
          <p:spPr>
            <a:xfrm>
              <a:off x="4946601" y="3751225"/>
              <a:ext cx="537327" cy="261610"/>
            </a:xfrm>
            <a:prstGeom prst="rect">
              <a:avLst/>
            </a:prstGeom>
            <a:noFill/>
          </p:spPr>
          <p:txBody>
            <a:bodyPr wrap="none" rtlCol="0">
              <a:spAutoFit/>
            </a:bodyPr>
            <a:lstStyle/>
            <a:p>
              <a:r>
                <a:rPr lang="en-US" altLang="zh-CN" sz="1100" dirty="0"/>
                <a:t>home</a:t>
              </a:r>
              <a:endParaRPr lang="en-CN" sz="1100" dirty="0"/>
            </a:p>
          </p:txBody>
        </p:sp>
        <p:sp>
          <p:nvSpPr>
            <p:cNvPr id="110" name="Oval 109">
              <a:extLst>
                <a:ext uri="{FF2B5EF4-FFF2-40B4-BE49-F238E27FC236}">
                  <a16:creationId xmlns:a16="http://schemas.microsoft.com/office/drawing/2014/main" id="{3A462BF9-6C81-B946-95D1-E3A09B99A146}"/>
                </a:ext>
              </a:extLst>
            </p:cNvPr>
            <p:cNvSpPr/>
            <p:nvPr/>
          </p:nvSpPr>
          <p:spPr>
            <a:xfrm>
              <a:off x="4997647" y="343429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111" name="Oval 110">
              <a:extLst>
                <a:ext uri="{FF2B5EF4-FFF2-40B4-BE49-F238E27FC236}">
                  <a16:creationId xmlns:a16="http://schemas.microsoft.com/office/drawing/2014/main" id="{D3ECB57A-71FF-1A40-8944-23A0A73CD5E6}"/>
                </a:ext>
              </a:extLst>
            </p:cNvPr>
            <p:cNvSpPr/>
            <p:nvPr/>
          </p:nvSpPr>
          <p:spPr>
            <a:xfrm>
              <a:off x="4311210" y="428508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7</a:t>
              </a:r>
              <a:endParaRPr lang="en-CN" sz="1100" dirty="0"/>
            </a:p>
          </p:txBody>
        </p:sp>
        <p:sp>
          <p:nvSpPr>
            <p:cNvPr id="112" name="Oval 111">
              <a:extLst>
                <a:ext uri="{FF2B5EF4-FFF2-40B4-BE49-F238E27FC236}">
                  <a16:creationId xmlns:a16="http://schemas.microsoft.com/office/drawing/2014/main" id="{2BD918C4-A5B7-A94B-BBBC-276F31A0DFCB}"/>
                </a:ext>
              </a:extLst>
            </p:cNvPr>
            <p:cNvSpPr/>
            <p:nvPr/>
          </p:nvSpPr>
          <p:spPr>
            <a:xfrm>
              <a:off x="5203086" y="429485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4</a:t>
              </a:r>
              <a:endParaRPr lang="en-CN" sz="1100" dirty="0"/>
            </a:p>
          </p:txBody>
        </p:sp>
        <p:sp>
          <p:nvSpPr>
            <p:cNvPr id="113" name="Rectangle 112">
              <a:extLst>
                <a:ext uri="{FF2B5EF4-FFF2-40B4-BE49-F238E27FC236}">
                  <a16:creationId xmlns:a16="http://schemas.microsoft.com/office/drawing/2014/main" id="{67EB31D0-A346-9146-B66C-DBA3E117838B}"/>
                </a:ext>
              </a:extLst>
            </p:cNvPr>
            <p:cNvSpPr/>
            <p:nvPr/>
          </p:nvSpPr>
          <p:spPr>
            <a:xfrm>
              <a:off x="5878858" y="4211238"/>
              <a:ext cx="56535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cxnSp>
          <p:nvCxnSpPr>
            <p:cNvPr id="115" name="Straight Arrow Connector 114">
              <a:extLst>
                <a:ext uri="{FF2B5EF4-FFF2-40B4-BE49-F238E27FC236}">
                  <a16:creationId xmlns:a16="http://schemas.microsoft.com/office/drawing/2014/main" id="{70CD7112-02D4-164C-A7B6-6E0B76CE6B7F}"/>
                </a:ext>
              </a:extLst>
            </p:cNvPr>
            <p:cNvCxnSpPr>
              <a:cxnSpLocks/>
              <a:stCxn id="112" idx="4"/>
              <a:endCxn id="86" idx="0"/>
            </p:cNvCxnSpPr>
            <p:nvPr/>
          </p:nvCxnSpPr>
          <p:spPr>
            <a:xfrm flipH="1">
              <a:off x="4705871" y="4564079"/>
              <a:ext cx="631826" cy="120810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16" name="TextBox 115">
              <a:extLst>
                <a:ext uri="{FF2B5EF4-FFF2-40B4-BE49-F238E27FC236}">
                  <a16:creationId xmlns:a16="http://schemas.microsoft.com/office/drawing/2014/main" id="{BCA33CCE-120C-B44D-AC1B-585559FE0F7F}"/>
                </a:ext>
              </a:extLst>
            </p:cNvPr>
            <p:cNvSpPr txBox="1"/>
            <p:nvPr/>
          </p:nvSpPr>
          <p:spPr>
            <a:xfrm>
              <a:off x="4882939" y="4510104"/>
              <a:ext cx="466794" cy="261610"/>
            </a:xfrm>
            <a:prstGeom prst="rect">
              <a:avLst/>
            </a:prstGeom>
            <a:noFill/>
          </p:spPr>
          <p:txBody>
            <a:bodyPr wrap="none" rtlCol="0">
              <a:spAutoFit/>
            </a:bodyPr>
            <a:lstStyle/>
            <a:p>
              <a:r>
                <a:rPr lang="zh-CN" altLang="en-US" sz="1100" dirty="0"/>
                <a:t>小红</a:t>
              </a:r>
              <a:endParaRPr lang="en-CN" sz="1100" dirty="0"/>
            </a:p>
          </p:txBody>
        </p:sp>
      </p:grpSp>
      <p:sp>
        <p:nvSpPr>
          <p:cNvPr id="118" name="Rectangle 117">
            <a:extLst>
              <a:ext uri="{FF2B5EF4-FFF2-40B4-BE49-F238E27FC236}">
                <a16:creationId xmlns:a16="http://schemas.microsoft.com/office/drawing/2014/main" id="{8510ED22-9CC1-2340-A7F8-EE63267CB61C}"/>
              </a:ext>
            </a:extLst>
          </p:cNvPr>
          <p:cNvSpPr/>
          <p:nvPr/>
        </p:nvSpPr>
        <p:spPr>
          <a:xfrm>
            <a:off x="7486404" y="2287098"/>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1" name="TextBox 70">
            <a:extLst>
              <a:ext uri="{FF2B5EF4-FFF2-40B4-BE49-F238E27FC236}">
                <a16:creationId xmlns:a16="http://schemas.microsoft.com/office/drawing/2014/main" id="{C3B46665-B0E3-AD4A-8B3B-DA2E1CF0732B}"/>
              </a:ext>
            </a:extLst>
          </p:cNvPr>
          <p:cNvSpPr txBox="1"/>
          <p:nvPr/>
        </p:nvSpPr>
        <p:spPr>
          <a:xfrm>
            <a:off x="4821627" y="429358"/>
            <a:ext cx="2555508" cy="338554"/>
          </a:xfrm>
          <a:prstGeom prst="rect">
            <a:avLst/>
          </a:prstGeom>
          <a:noFill/>
        </p:spPr>
        <p:txBody>
          <a:bodyPr wrap="none" rtlCol="0">
            <a:spAutoFit/>
          </a:bodyPr>
          <a:lstStyle/>
          <a:p>
            <a:r>
              <a:rPr lang="zh-CN" altLang="en-CN" sz="1600" dirty="0"/>
              <a:t>文件系统</a:t>
            </a:r>
            <a:r>
              <a:rPr lang="en-US" altLang="zh-CN" sz="1600" dirty="0"/>
              <a:t>2</a:t>
            </a:r>
            <a:r>
              <a:rPr lang="zh-CN" altLang="en-US" sz="1600" dirty="0"/>
              <a:t>作为根文件系统</a:t>
            </a:r>
            <a:endParaRPr lang="en-CN" sz="1600" dirty="0"/>
          </a:p>
        </p:txBody>
      </p:sp>
      <p:sp>
        <p:nvSpPr>
          <p:cNvPr id="6" name="TextBox 5">
            <a:extLst>
              <a:ext uri="{FF2B5EF4-FFF2-40B4-BE49-F238E27FC236}">
                <a16:creationId xmlns:a16="http://schemas.microsoft.com/office/drawing/2014/main" id="{061E2A7B-BD4E-F249-9896-E7CF31355262}"/>
              </a:ext>
            </a:extLst>
          </p:cNvPr>
          <p:cNvSpPr txBox="1"/>
          <p:nvPr/>
        </p:nvSpPr>
        <p:spPr>
          <a:xfrm>
            <a:off x="4393941" y="3544332"/>
            <a:ext cx="1686680" cy="294824"/>
          </a:xfrm>
          <a:prstGeom prst="rect">
            <a:avLst/>
          </a:prstGeom>
          <a:noFill/>
        </p:spPr>
        <p:txBody>
          <a:bodyPr wrap="none" rtlCol="0">
            <a:spAutoFit/>
          </a:bodyPr>
          <a:lstStyle/>
          <a:p>
            <a:pPr lvl="0">
              <a:lnSpc>
                <a:spcPct val="120000"/>
              </a:lnSpc>
              <a:spcBef>
                <a:spcPts val="1200"/>
              </a:spcBef>
            </a:pPr>
            <a:r>
              <a:rPr lang="zh-CN" altLang="en-US" sz="1200" dirty="0">
                <a:solidFill>
                  <a:srgbClr val="000000">
                    <a:lumMod val="75000"/>
                    <a:lumOff val="25000"/>
                  </a:srgbClr>
                </a:solidFill>
                <a:ea typeface="微软雅黑" panose="020B0503020204020204" pitchFamily="34" charset="-122"/>
              </a:rPr>
              <a:t>挂载点：</a:t>
            </a:r>
            <a:r>
              <a:rPr lang="en-US" altLang="zh-CN" sz="1200" dirty="0">
                <a:solidFill>
                  <a:srgbClr val="000000">
                    <a:lumMod val="75000"/>
                    <a:lumOff val="25000"/>
                  </a:srgbClr>
                </a:solidFill>
                <a:ea typeface="微软雅黑" panose="020B0503020204020204" pitchFamily="34" charset="-122"/>
              </a:rPr>
              <a:t>"/home/</a:t>
            </a:r>
            <a:r>
              <a:rPr lang="zh-CN" altLang="en-US" sz="1200" dirty="0">
                <a:solidFill>
                  <a:srgbClr val="000000">
                    <a:lumMod val="75000"/>
                    <a:lumOff val="25000"/>
                  </a:srgbClr>
                </a:solidFill>
                <a:ea typeface="微软雅黑" panose="020B0503020204020204" pitchFamily="34" charset="-122"/>
              </a:rPr>
              <a:t>小红</a:t>
            </a:r>
            <a:r>
              <a:rPr lang="en-US" altLang="zh-CN" sz="1200" dirty="0">
                <a:solidFill>
                  <a:srgbClr val="000000">
                    <a:lumMod val="75000"/>
                    <a:lumOff val="25000"/>
                  </a:srgbClr>
                </a:solidFill>
                <a:ea typeface="微软雅黑" panose="020B0503020204020204" pitchFamily="34" charset="-122"/>
              </a:rPr>
              <a:t>"</a:t>
            </a:r>
          </a:p>
        </p:txBody>
      </p:sp>
      <p:sp>
        <p:nvSpPr>
          <p:cNvPr id="5" name="Slide Number Placeholder 4">
            <a:extLst>
              <a:ext uri="{FF2B5EF4-FFF2-40B4-BE49-F238E27FC236}">
                <a16:creationId xmlns:a16="http://schemas.microsoft.com/office/drawing/2014/main" id="{5927D0D6-6C25-794F-BD6C-5FE49B0D14FF}"/>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Tree>
    <p:extLst>
      <p:ext uri="{BB962C8B-B14F-4D97-AF65-F5344CB8AC3E}">
        <p14:creationId xmlns:p14="http://schemas.microsoft.com/office/powerpoint/2010/main" val="2815370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6141-A05D-4549-B084-C66B2EC34F4C}"/>
              </a:ext>
            </a:extLst>
          </p:cNvPr>
          <p:cNvSpPr>
            <a:spLocks noGrp="1"/>
          </p:cNvSpPr>
          <p:nvPr>
            <p:ph type="title"/>
          </p:nvPr>
        </p:nvSpPr>
        <p:spPr/>
        <p:txBody>
          <a:bodyPr/>
          <a:lstStyle/>
          <a:p>
            <a:r>
              <a:rPr lang="zh-CN" altLang="en-US" dirty="0"/>
              <a:t>虚拟</a:t>
            </a:r>
            <a:r>
              <a:rPr lang="zh-CN" altLang="en-CN" dirty="0"/>
              <a:t>文件系统</a:t>
            </a:r>
            <a:r>
              <a:rPr lang="zh-CN" altLang="en-US" dirty="0"/>
              <a:t> </a:t>
            </a:r>
            <a:r>
              <a:rPr lang="en-US" altLang="zh-CN" dirty="0"/>
              <a:t>VFS</a:t>
            </a:r>
            <a:endParaRPr lang="en-CN" dirty="0"/>
          </a:p>
        </p:txBody>
      </p:sp>
      <p:sp>
        <p:nvSpPr>
          <p:cNvPr id="3" name="Content Placeholder 2">
            <a:extLst>
              <a:ext uri="{FF2B5EF4-FFF2-40B4-BE49-F238E27FC236}">
                <a16:creationId xmlns:a16="http://schemas.microsoft.com/office/drawing/2014/main" id="{E6A36AF6-D7C1-6E44-BE6C-D8CD5935711E}"/>
              </a:ext>
            </a:extLst>
          </p:cNvPr>
          <p:cNvSpPr>
            <a:spLocks noGrp="1"/>
          </p:cNvSpPr>
          <p:nvPr>
            <p:ph idx="1"/>
          </p:nvPr>
        </p:nvSpPr>
        <p:spPr/>
        <p:txBody>
          <a:bodyPr>
            <a:normAutofit/>
          </a:bodyPr>
          <a:lstStyle/>
          <a:p>
            <a:pPr marL="0" lvl="0" indent="0">
              <a:buNone/>
            </a:pPr>
            <a:r>
              <a:rPr lang="zh-CN" altLang="en-CN" sz="1800" b="0" dirty="0">
                <a:solidFill>
                  <a:srgbClr val="000000">
                    <a:lumMod val="75000"/>
                    <a:lumOff val="25000"/>
                  </a:srgbClr>
                </a:solidFill>
              </a:rPr>
              <a:t>挂载</a:t>
            </a:r>
            <a:r>
              <a:rPr lang="zh-CN" altLang="en-US" sz="1800" b="0" dirty="0">
                <a:solidFill>
                  <a:srgbClr val="000000">
                    <a:lumMod val="75000"/>
                    <a:lumOff val="25000"/>
                  </a:srgbClr>
                </a:solidFill>
              </a:rPr>
              <a:t>在逻辑上覆盖挂载点原有的结构</a:t>
            </a:r>
            <a:endParaRPr lang="en-US" altLang="zh-CN" sz="1800" b="0" dirty="0">
              <a:solidFill>
                <a:srgbClr val="000000">
                  <a:lumMod val="75000"/>
                  <a:lumOff val="25000"/>
                </a:srgbClr>
              </a:solidFill>
            </a:endParaRPr>
          </a:p>
          <a:p>
            <a:pPr lvl="0"/>
            <a:r>
              <a:rPr lang="zh-CN" altLang="en-US" sz="1600" b="0" dirty="0">
                <a:solidFill>
                  <a:srgbClr val="000000">
                    <a:lumMod val="75000"/>
                    <a:lumOff val="25000"/>
                  </a:srgbClr>
                </a:solidFill>
              </a:rPr>
              <a:t>无法访问文件系统</a:t>
            </a:r>
            <a:r>
              <a:rPr lang="en-US" altLang="zh-CN" sz="1600" b="0" dirty="0">
                <a:solidFill>
                  <a:srgbClr val="000000">
                    <a:lumMod val="75000"/>
                    <a:lumOff val="25000"/>
                  </a:srgbClr>
                </a:solidFill>
              </a:rPr>
              <a:t>2</a:t>
            </a:r>
            <a:r>
              <a:rPr lang="zh-CN" altLang="en-US" sz="1600" b="0" dirty="0">
                <a:solidFill>
                  <a:srgbClr val="000000">
                    <a:lumMod val="75000"/>
                    <a:lumOff val="25000"/>
                  </a:srgbClr>
                </a:solidFill>
              </a:rPr>
              <a:t>中的</a:t>
            </a:r>
            <a:r>
              <a:rPr lang="en-US" altLang="zh-CN" sz="1600" b="0" dirty="0">
                <a:solidFill>
                  <a:srgbClr val="000000">
                    <a:lumMod val="75000"/>
                    <a:lumOff val="25000"/>
                  </a:srgbClr>
                </a:solidFill>
              </a:rPr>
              <a:t>"/home/</a:t>
            </a:r>
            <a:r>
              <a:rPr lang="zh-CN" altLang="en-US" sz="1600" b="0" dirty="0">
                <a:solidFill>
                  <a:srgbClr val="000000">
                    <a:lumMod val="75000"/>
                    <a:lumOff val="25000"/>
                  </a:srgbClr>
                </a:solidFill>
              </a:rPr>
              <a:t>小红</a:t>
            </a:r>
            <a:r>
              <a:rPr lang="en-US" altLang="zh-CN" sz="1600" b="0" dirty="0">
                <a:solidFill>
                  <a:srgbClr val="000000">
                    <a:lumMod val="75000"/>
                    <a:lumOff val="25000"/>
                  </a:srgbClr>
                </a:solidFill>
              </a:rPr>
              <a:t>"</a:t>
            </a:r>
            <a:endParaRPr lang="en-CN" sz="1800" b="0" dirty="0">
              <a:solidFill>
                <a:srgbClr val="000000">
                  <a:lumMod val="75000"/>
                  <a:lumOff val="25000"/>
                </a:srgbClr>
              </a:solidFill>
            </a:endParaRPr>
          </a:p>
          <a:p>
            <a:pPr marL="0" indent="0">
              <a:buNone/>
            </a:pPr>
            <a:r>
              <a:rPr lang="zh-CN" altLang="en-US" sz="1800" b="0" dirty="0"/>
              <a:t>挂载点下的数据在卸载后依然可以访问</a:t>
            </a:r>
            <a:endParaRPr lang="en-US" altLang="zh-CN" sz="1800" b="0" dirty="0"/>
          </a:p>
        </p:txBody>
      </p:sp>
      <p:sp>
        <p:nvSpPr>
          <p:cNvPr id="4" name="Footer Placeholder 3">
            <a:extLst>
              <a:ext uri="{FF2B5EF4-FFF2-40B4-BE49-F238E27FC236}">
                <a16:creationId xmlns:a16="http://schemas.microsoft.com/office/drawing/2014/main" id="{F1365FF2-22A1-3741-83E0-9E3963E95DF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1" name="TextBox 60">
            <a:extLst>
              <a:ext uri="{FF2B5EF4-FFF2-40B4-BE49-F238E27FC236}">
                <a16:creationId xmlns:a16="http://schemas.microsoft.com/office/drawing/2014/main" id="{836EB661-69CD-4140-B7B3-C0B17CD672B2}"/>
              </a:ext>
            </a:extLst>
          </p:cNvPr>
          <p:cNvSpPr txBox="1"/>
          <p:nvPr/>
        </p:nvSpPr>
        <p:spPr>
          <a:xfrm>
            <a:off x="4876772" y="3201279"/>
            <a:ext cx="1119217" cy="338554"/>
          </a:xfrm>
          <a:prstGeom prst="rect">
            <a:avLst/>
          </a:prstGeom>
          <a:noFill/>
        </p:spPr>
        <p:txBody>
          <a:bodyPr wrap="none" rtlCol="0">
            <a:spAutoFit/>
          </a:bodyPr>
          <a:lstStyle/>
          <a:p>
            <a:r>
              <a:rPr lang="zh-CN" altLang="en-CN" sz="1600" dirty="0"/>
              <a:t>文件系统</a:t>
            </a:r>
            <a:r>
              <a:rPr lang="en-US" altLang="zh-CN" sz="1600" dirty="0"/>
              <a:t>1</a:t>
            </a:r>
            <a:endParaRPr lang="en-CN" sz="1600" dirty="0"/>
          </a:p>
        </p:txBody>
      </p:sp>
      <p:grpSp>
        <p:nvGrpSpPr>
          <p:cNvPr id="62" name="Group 61">
            <a:extLst>
              <a:ext uri="{FF2B5EF4-FFF2-40B4-BE49-F238E27FC236}">
                <a16:creationId xmlns:a16="http://schemas.microsoft.com/office/drawing/2014/main" id="{E1C7DE0F-ED64-AD4C-8465-2DC0DA3FB6C1}"/>
              </a:ext>
            </a:extLst>
          </p:cNvPr>
          <p:cNvGrpSpPr/>
          <p:nvPr/>
        </p:nvGrpSpPr>
        <p:grpSpPr>
          <a:xfrm>
            <a:off x="5162229" y="2929223"/>
            <a:ext cx="2614748" cy="2015554"/>
            <a:chOff x="4218630" y="898053"/>
            <a:chExt cx="4841503" cy="3732028"/>
          </a:xfrm>
        </p:grpSpPr>
        <p:sp>
          <p:nvSpPr>
            <p:cNvPr id="63" name="Oval 62">
              <a:extLst>
                <a:ext uri="{FF2B5EF4-FFF2-40B4-BE49-F238E27FC236}">
                  <a16:creationId xmlns:a16="http://schemas.microsoft.com/office/drawing/2014/main" id="{422490A0-B2BF-324F-8DAB-2CF6ECD85F9C}"/>
                </a:ext>
              </a:extLst>
            </p:cNvPr>
            <p:cNvSpPr/>
            <p:nvPr/>
          </p:nvSpPr>
          <p:spPr>
            <a:xfrm>
              <a:off x="4218630" y="412597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64" name="Oval 63">
              <a:extLst>
                <a:ext uri="{FF2B5EF4-FFF2-40B4-BE49-F238E27FC236}">
                  <a16:creationId xmlns:a16="http://schemas.microsoft.com/office/drawing/2014/main" id="{8AFC18B9-9A9D-9C4E-A2E2-C4346865223B}"/>
                </a:ext>
              </a:extLst>
            </p:cNvPr>
            <p:cNvSpPr/>
            <p:nvPr/>
          </p:nvSpPr>
          <p:spPr>
            <a:xfrm>
              <a:off x="7729955" y="4080602"/>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65" name="Oval 64">
              <a:extLst>
                <a:ext uri="{FF2B5EF4-FFF2-40B4-BE49-F238E27FC236}">
                  <a16:creationId xmlns:a16="http://schemas.microsoft.com/office/drawing/2014/main" id="{308BA0DF-C211-9241-80B5-4C59E2B7B40F}"/>
                </a:ext>
              </a:extLst>
            </p:cNvPr>
            <p:cNvSpPr/>
            <p:nvPr/>
          </p:nvSpPr>
          <p:spPr>
            <a:xfrm>
              <a:off x="8539206" y="303362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66" name="Straight Arrow Connector 65">
              <a:extLst>
                <a:ext uri="{FF2B5EF4-FFF2-40B4-BE49-F238E27FC236}">
                  <a16:creationId xmlns:a16="http://schemas.microsoft.com/office/drawing/2014/main" id="{315E1CE2-51F6-1145-9EFA-F443A3C494F4}"/>
                </a:ext>
              </a:extLst>
            </p:cNvPr>
            <p:cNvCxnSpPr>
              <a:cxnSpLocks/>
              <a:stCxn id="87" idx="3"/>
              <a:endCxn id="63" idx="0"/>
            </p:cNvCxnSpPr>
            <p:nvPr/>
          </p:nvCxnSpPr>
          <p:spPr>
            <a:xfrm flipH="1">
              <a:off x="4467877" y="3351408"/>
              <a:ext cx="1184581" cy="77457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7" name="Straight Arrow Connector 66">
              <a:extLst>
                <a:ext uri="{FF2B5EF4-FFF2-40B4-BE49-F238E27FC236}">
                  <a16:creationId xmlns:a16="http://schemas.microsoft.com/office/drawing/2014/main" id="{1FE5EEFF-92F2-BF4E-89B4-36A81C41E055}"/>
                </a:ext>
              </a:extLst>
            </p:cNvPr>
            <p:cNvCxnSpPr>
              <a:cxnSpLocks/>
              <a:stCxn id="88" idx="4"/>
              <a:endCxn id="64" idx="0"/>
            </p:cNvCxnSpPr>
            <p:nvPr/>
          </p:nvCxnSpPr>
          <p:spPr>
            <a:xfrm>
              <a:off x="7480113" y="3442502"/>
              <a:ext cx="499089" cy="6381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68" name="Straight Arrow Connector 67">
              <a:extLst>
                <a:ext uri="{FF2B5EF4-FFF2-40B4-BE49-F238E27FC236}">
                  <a16:creationId xmlns:a16="http://schemas.microsoft.com/office/drawing/2014/main" id="{B2EEAC8C-F9B2-9C4A-B72F-336C8BBB2729}"/>
                </a:ext>
              </a:extLst>
            </p:cNvPr>
            <p:cNvCxnSpPr>
              <a:cxnSpLocks/>
              <a:stCxn id="86" idx="5"/>
              <a:endCxn id="65" idx="0"/>
            </p:cNvCxnSpPr>
            <p:nvPr/>
          </p:nvCxnSpPr>
          <p:spPr>
            <a:xfrm>
              <a:off x="7275961" y="1776066"/>
              <a:ext cx="1512492" cy="125756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69" name="TextBox 68">
              <a:extLst>
                <a:ext uri="{FF2B5EF4-FFF2-40B4-BE49-F238E27FC236}">
                  <a16:creationId xmlns:a16="http://schemas.microsoft.com/office/drawing/2014/main" id="{DEED37BE-4530-A148-B8B6-06ED967DC1B5}"/>
                </a:ext>
              </a:extLst>
            </p:cNvPr>
            <p:cNvSpPr txBox="1"/>
            <p:nvPr/>
          </p:nvSpPr>
          <p:spPr>
            <a:xfrm>
              <a:off x="7081504" y="3543788"/>
              <a:ext cx="1191237" cy="416117"/>
            </a:xfrm>
            <a:prstGeom prst="rect">
              <a:avLst/>
            </a:prstGeom>
            <a:noFill/>
          </p:spPr>
          <p:txBody>
            <a:bodyPr wrap="none" rtlCol="0">
              <a:spAutoFit/>
            </a:bodyPr>
            <a:lstStyle/>
            <a:p>
              <a:r>
                <a:rPr lang="zh-CN" altLang="en-CN" sz="1100" dirty="0"/>
                <a:t>算法</a:t>
              </a:r>
              <a:r>
                <a:rPr lang="zh-CN" altLang="en-US" sz="1100" dirty="0"/>
                <a:t>笔记</a:t>
              </a:r>
              <a:endParaRPr lang="en-CN" sz="1100" dirty="0"/>
            </a:p>
          </p:txBody>
        </p:sp>
        <p:sp>
          <p:nvSpPr>
            <p:cNvPr id="70" name="TextBox 69">
              <a:extLst>
                <a:ext uri="{FF2B5EF4-FFF2-40B4-BE49-F238E27FC236}">
                  <a16:creationId xmlns:a16="http://schemas.microsoft.com/office/drawing/2014/main" id="{E8BEC1F0-F0E5-BA4F-A035-EBBBBB24D8AE}"/>
                </a:ext>
              </a:extLst>
            </p:cNvPr>
            <p:cNvSpPr txBox="1"/>
            <p:nvPr/>
          </p:nvSpPr>
          <p:spPr>
            <a:xfrm>
              <a:off x="7554774" y="1886026"/>
              <a:ext cx="1191237" cy="416117"/>
            </a:xfrm>
            <a:prstGeom prst="rect">
              <a:avLst/>
            </a:prstGeom>
            <a:noFill/>
          </p:spPr>
          <p:txBody>
            <a:bodyPr wrap="none" rtlCol="0">
              <a:spAutoFit/>
            </a:bodyPr>
            <a:lstStyle/>
            <a:p>
              <a:r>
                <a:rPr lang="zh-CN" altLang="en-US" sz="1100" dirty="0"/>
                <a:t>数据结构</a:t>
              </a:r>
              <a:endParaRPr lang="en-CN" sz="1100" dirty="0"/>
            </a:p>
          </p:txBody>
        </p:sp>
        <p:sp>
          <p:nvSpPr>
            <p:cNvPr id="72" name="Oval 71">
              <a:extLst>
                <a:ext uri="{FF2B5EF4-FFF2-40B4-BE49-F238E27FC236}">
                  <a16:creationId xmlns:a16="http://schemas.microsoft.com/office/drawing/2014/main" id="{43BFC1DD-E093-D144-BF78-7722E75E7120}"/>
                </a:ext>
              </a:extLst>
            </p:cNvPr>
            <p:cNvSpPr/>
            <p:nvPr/>
          </p:nvSpPr>
          <p:spPr>
            <a:xfrm>
              <a:off x="5320272" y="4131588"/>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7</a:t>
              </a:r>
              <a:endParaRPr lang="en-CN" sz="1100" dirty="0"/>
            </a:p>
          </p:txBody>
        </p:sp>
        <p:sp>
          <p:nvSpPr>
            <p:cNvPr id="73" name="Oval 72">
              <a:extLst>
                <a:ext uri="{FF2B5EF4-FFF2-40B4-BE49-F238E27FC236}">
                  <a16:creationId xmlns:a16="http://schemas.microsoft.com/office/drawing/2014/main" id="{7D331D8E-AA35-624B-AFF5-A4C256951C5E}"/>
                </a:ext>
              </a:extLst>
            </p:cNvPr>
            <p:cNvSpPr/>
            <p:nvPr/>
          </p:nvSpPr>
          <p:spPr>
            <a:xfrm>
              <a:off x="6530203" y="4106987"/>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4</a:t>
              </a:r>
              <a:endParaRPr lang="en-CN" sz="1100" dirty="0"/>
            </a:p>
          </p:txBody>
        </p:sp>
        <p:cxnSp>
          <p:nvCxnSpPr>
            <p:cNvPr id="74" name="Straight Arrow Connector 73">
              <a:extLst>
                <a:ext uri="{FF2B5EF4-FFF2-40B4-BE49-F238E27FC236}">
                  <a16:creationId xmlns:a16="http://schemas.microsoft.com/office/drawing/2014/main" id="{7A3B609E-6C39-8945-832C-BB79397A50D7}"/>
                </a:ext>
              </a:extLst>
            </p:cNvPr>
            <p:cNvCxnSpPr>
              <a:cxnSpLocks/>
              <a:stCxn id="87" idx="4"/>
              <a:endCxn id="72" idx="0"/>
            </p:cNvCxnSpPr>
            <p:nvPr/>
          </p:nvCxnSpPr>
          <p:spPr>
            <a:xfrm flipH="1">
              <a:off x="5569519" y="3424411"/>
              <a:ext cx="259183" cy="707177"/>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75" name="Straight Arrow Connector 74">
              <a:extLst>
                <a:ext uri="{FF2B5EF4-FFF2-40B4-BE49-F238E27FC236}">
                  <a16:creationId xmlns:a16="http://schemas.microsoft.com/office/drawing/2014/main" id="{C8BFA3C8-0547-C443-9E1E-0C4AF6905382}"/>
                </a:ext>
              </a:extLst>
            </p:cNvPr>
            <p:cNvCxnSpPr>
              <a:cxnSpLocks/>
              <a:stCxn id="87" idx="5"/>
              <a:endCxn id="73" idx="0"/>
            </p:cNvCxnSpPr>
            <p:nvPr/>
          </p:nvCxnSpPr>
          <p:spPr>
            <a:xfrm>
              <a:off x="6004945" y="3351408"/>
              <a:ext cx="774505" cy="75557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76" name="Rectangle 75">
              <a:extLst>
                <a:ext uri="{FF2B5EF4-FFF2-40B4-BE49-F238E27FC236}">
                  <a16:creationId xmlns:a16="http://schemas.microsoft.com/office/drawing/2014/main" id="{126A4478-9796-4C4D-86A9-2CB30898A5F3}"/>
                </a:ext>
              </a:extLst>
            </p:cNvPr>
            <p:cNvSpPr/>
            <p:nvPr/>
          </p:nvSpPr>
          <p:spPr>
            <a:xfrm>
              <a:off x="4336045" y="2789178"/>
              <a:ext cx="2641136" cy="1138936"/>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7" name="TextBox 76">
              <a:extLst>
                <a:ext uri="{FF2B5EF4-FFF2-40B4-BE49-F238E27FC236}">
                  <a16:creationId xmlns:a16="http://schemas.microsoft.com/office/drawing/2014/main" id="{24630B91-7CAC-AB42-8E5E-B3AE6F478918}"/>
                </a:ext>
              </a:extLst>
            </p:cNvPr>
            <p:cNvSpPr txBox="1"/>
            <p:nvPr/>
          </p:nvSpPr>
          <p:spPr>
            <a:xfrm>
              <a:off x="5953873" y="1882738"/>
              <a:ext cx="617547" cy="416117"/>
            </a:xfrm>
            <a:prstGeom prst="rect">
              <a:avLst/>
            </a:prstGeom>
            <a:noFill/>
          </p:spPr>
          <p:txBody>
            <a:bodyPr wrap="none" rtlCol="0">
              <a:spAutoFit/>
            </a:bodyPr>
            <a:lstStyle/>
            <a:p>
              <a:r>
                <a:rPr lang="en-US" altLang="zh-CN" sz="1100" dirty="0"/>
                <a:t>OS</a:t>
              </a:r>
              <a:endParaRPr lang="en-CN" sz="1100" dirty="0"/>
            </a:p>
          </p:txBody>
        </p:sp>
        <p:sp>
          <p:nvSpPr>
            <p:cNvPr id="78" name="TextBox 77">
              <a:extLst>
                <a:ext uri="{FF2B5EF4-FFF2-40B4-BE49-F238E27FC236}">
                  <a16:creationId xmlns:a16="http://schemas.microsoft.com/office/drawing/2014/main" id="{E327F7BF-9FC4-CF49-AAFA-AB90873DCD70}"/>
                </a:ext>
              </a:extLst>
            </p:cNvPr>
            <p:cNvSpPr txBox="1"/>
            <p:nvPr/>
          </p:nvSpPr>
          <p:spPr>
            <a:xfrm>
              <a:off x="4336043" y="3282872"/>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1</a:t>
              </a:r>
              <a:endParaRPr lang="en-CN" sz="1100" dirty="0"/>
            </a:p>
          </p:txBody>
        </p:sp>
        <p:sp>
          <p:nvSpPr>
            <p:cNvPr id="79" name="TextBox 78">
              <a:extLst>
                <a:ext uri="{FF2B5EF4-FFF2-40B4-BE49-F238E27FC236}">
                  <a16:creationId xmlns:a16="http://schemas.microsoft.com/office/drawing/2014/main" id="{AE45740E-D400-4542-A81B-FD8A5567C21B}"/>
                </a:ext>
              </a:extLst>
            </p:cNvPr>
            <p:cNvSpPr txBox="1"/>
            <p:nvPr/>
          </p:nvSpPr>
          <p:spPr>
            <a:xfrm>
              <a:off x="5093993" y="3596254"/>
              <a:ext cx="1191237" cy="416117"/>
            </a:xfrm>
            <a:prstGeom prst="rect">
              <a:avLst/>
            </a:prstGeom>
            <a:noFill/>
          </p:spPr>
          <p:txBody>
            <a:bodyPr wrap="none" rtlCol="0">
              <a:spAutoFit/>
            </a:bodyPr>
            <a:lstStyle/>
            <a:p>
              <a:r>
                <a:rPr lang="en-US" altLang="zh-CN" sz="1100" dirty="0"/>
                <a:t>OS</a:t>
              </a:r>
              <a:r>
                <a:rPr lang="zh-CN" altLang="en-US" sz="1100" dirty="0"/>
                <a:t>笔记</a:t>
              </a:r>
              <a:r>
                <a:rPr lang="en-US" altLang="zh-CN" sz="1100" dirty="0"/>
                <a:t>2</a:t>
              </a:r>
              <a:endParaRPr lang="en-CN" sz="1100" dirty="0"/>
            </a:p>
          </p:txBody>
        </p:sp>
        <p:sp>
          <p:nvSpPr>
            <p:cNvPr id="80" name="Rectangle 79">
              <a:extLst>
                <a:ext uri="{FF2B5EF4-FFF2-40B4-BE49-F238E27FC236}">
                  <a16:creationId xmlns:a16="http://schemas.microsoft.com/office/drawing/2014/main" id="{6AC10C6C-F4B5-3842-A779-0E762FC67805}"/>
                </a:ext>
              </a:extLst>
            </p:cNvPr>
            <p:cNvSpPr/>
            <p:nvPr/>
          </p:nvSpPr>
          <p:spPr>
            <a:xfrm>
              <a:off x="7059771" y="2789178"/>
              <a:ext cx="1167809" cy="1144709"/>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81" name="Rectangle 80">
              <a:extLst>
                <a:ext uri="{FF2B5EF4-FFF2-40B4-BE49-F238E27FC236}">
                  <a16:creationId xmlns:a16="http://schemas.microsoft.com/office/drawing/2014/main" id="{0ABDFFD1-6DFD-E545-A640-EA5C290853F8}"/>
                </a:ext>
              </a:extLst>
            </p:cNvPr>
            <p:cNvSpPr/>
            <p:nvPr/>
          </p:nvSpPr>
          <p:spPr>
            <a:xfrm>
              <a:off x="5984366" y="898053"/>
              <a:ext cx="3075767" cy="1608914"/>
            </a:xfrm>
            <a:prstGeom prst="rect">
              <a:avLst/>
            </a:prstGeom>
            <a:noFill/>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82" name="Straight Arrow Connector 81">
              <a:extLst>
                <a:ext uri="{FF2B5EF4-FFF2-40B4-BE49-F238E27FC236}">
                  <a16:creationId xmlns:a16="http://schemas.microsoft.com/office/drawing/2014/main" id="{E20B6772-03A8-E748-B74C-281608B06071}"/>
                </a:ext>
              </a:extLst>
            </p:cNvPr>
            <p:cNvCxnSpPr>
              <a:cxnSpLocks/>
              <a:stCxn id="86" idx="4"/>
              <a:endCxn id="88" idx="0"/>
            </p:cNvCxnSpPr>
            <p:nvPr/>
          </p:nvCxnSpPr>
          <p:spPr>
            <a:xfrm>
              <a:off x="7099718" y="1849069"/>
              <a:ext cx="380395" cy="109494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83" name="Straight Arrow Connector 82">
              <a:extLst>
                <a:ext uri="{FF2B5EF4-FFF2-40B4-BE49-F238E27FC236}">
                  <a16:creationId xmlns:a16="http://schemas.microsoft.com/office/drawing/2014/main" id="{8FABE4A6-2ABF-9641-A2E2-C04D3AB00D32}"/>
                </a:ext>
              </a:extLst>
            </p:cNvPr>
            <p:cNvCxnSpPr>
              <a:cxnSpLocks/>
              <a:stCxn id="86" idx="3"/>
              <a:endCxn id="87" idx="0"/>
            </p:cNvCxnSpPr>
            <p:nvPr/>
          </p:nvCxnSpPr>
          <p:spPr>
            <a:xfrm flipH="1">
              <a:off x="5828702" y="1776066"/>
              <a:ext cx="1094772" cy="114985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84" name="TextBox 83">
              <a:extLst>
                <a:ext uri="{FF2B5EF4-FFF2-40B4-BE49-F238E27FC236}">
                  <a16:creationId xmlns:a16="http://schemas.microsoft.com/office/drawing/2014/main" id="{64B55F17-3E1E-7D49-B419-EE0D888B207A}"/>
                </a:ext>
              </a:extLst>
            </p:cNvPr>
            <p:cNvSpPr txBox="1"/>
            <p:nvPr/>
          </p:nvSpPr>
          <p:spPr>
            <a:xfrm>
              <a:off x="6732202" y="1909082"/>
              <a:ext cx="742483" cy="416117"/>
            </a:xfrm>
            <a:prstGeom prst="rect">
              <a:avLst/>
            </a:prstGeom>
            <a:noFill/>
          </p:spPr>
          <p:txBody>
            <a:bodyPr wrap="none" rtlCol="0">
              <a:spAutoFit/>
            </a:bodyPr>
            <a:lstStyle/>
            <a:p>
              <a:r>
                <a:rPr lang="zh-CN" altLang="en-CN" sz="1100" dirty="0"/>
                <a:t>算法</a:t>
              </a:r>
              <a:endParaRPr lang="en-CN" sz="1100" dirty="0"/>
            </a:p>
          </p:txBody>
        </p:sp>
        <p:sp>
          <p:nvSpPr>
            <p:cNvPr id="85" name="TextBox 84">
              <a:extLst>
                <a:ext uri="{FF2B5EF4-FFF2-40B4-BE49-F238E27FC236}">
                  <a16:creationId xmlns:a16="http://schemas.microsoft.com/office/drawing/2014/main" id="{AA0F355C-95C3-B642-99C5-2510228A9149}"/>
                </a:ext>
              </a:extLst>
            </p:cNvPr>
            <p:cNvSpPr txBox="1"/>
            <p:nvPr/>
          </p:nvSpPr>
          <p:spPr>
            <a:xfrm>
              <a:off x="6326886" y="3424410"/>
              <a:ext cx="742483" cy="416117"/>
            </a:xfrm>
            <a:prstGeom prst="rect">
              <a:avLst/>
            </a:prstGeom>
            <a:noFill/>
          </p:spPr>
          <p:txBody>
            <a:bodyPr wrap="none" rtlCol="0">
              <a:spAutoFit/>
            </a:bodyPr>
            <a:lstStyle/>
            <a:p>
              <a:r>
                <a:rPr lang="zh-CN" altLang="en-US" sz="1100" dirty="0"/>
                <a:t>其他</a:t>
              </a:r>
              <a:endParaRPr lang="en-CN" sz="1100" dirty="0"/>
            </a:p>
          </p:txBody>
        </p:sp>
        <p:sp>
          <p:nvSpPr>
            <p:cNvPr id="86" name="Oval 85">
              <a:extLst>
                <a:ext uri="{FF2B5EF4-FFF2-40B4-BE49-F238E27FC236}">
                  <a16:creationId xmlns:a16="http://schemas.microsoft.com/office/drawing/2014/main" id="{3834C4B8-6A35-BF42-B7BD-949665101EB8}"/>
                </a:ext>
              </a:extLst>
            </p:cNvPr>
            <p:cNvSpPr/>
            <p:nvPr/>
          </p:nvSpPr>
          <p:spPr>
            <a:xfrm>
              <a:off x="6850471" y="1350576"/>
              <a:ext cx="498493" cy="4984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0</a:t>
              </a:r>
              <a:endParaRPr lang="en-CN" sz="1100" dirty="0"/>
            </a:p>
          </p:txBody>
        </p:sp>
        <p:sp>
          <p:nvSpPr>
            <p:cNvPr id="87" name="Oval 86">
              <a:extLst>
                <a:ext uri="{FF2B5EF4-FFF2-40B4-BE49-F238E27FC236}">
                  <a16:creationId xmlns:a16="http://schemas.microsoft.com/office/drawing/2014/main" id="{D1561B5D-DE59-8047-BF47-C54B11F52294}"/>
                </a:ext>
              </a:extLst>
            </p:cNvPr>
            <p:cNvSpPr/>
            <p:nvPr/>
          </p:nvSpPr>
          <p:spPr>
            <a:xfrm>
              <a:off x="5579455" y="2925918"/>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13</a:t>
              </a:r>
              <a:endParaRPr lang="en-CN" sz="1100" dirty="0"/>
            </a:p>
          </p:txBody>
        </p:sp>
        <p:sp>
          <p:nvSpPr>
            <p:cNvPr id="88" name="Oval 87">
              <a:extLst>
                <a:ext uri="{FF2B5EF4-FFF2-40B4-BE49-F238E27FC236}">
                  <a16:creationId xmlns:a16="http://schemas.microsoft.com/office/drawing/2014/main" id="{8DE57138-3CB8-E74B-B325-DB8C978C444C}"/>
                </a:ext>
              </a:extLst>
            </p:cNvPr>
            <p:cNvSpPr/>
            <p:nvPr/>
          </p:nvSpPr>
          <p:spPr>
            <a:xfrm>
              <a:off x="7230866" y="2944009"/>
              <a:ext cx="498493" cy="498493"/>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14</a:t>
              </a:r>
              <a:endParaRPr lang="en-CN" sz="1100" dirty="0"/>
            </a:p>
          </p:txBody>
        </p:sp>
      </p:grpSp>
      <p:grpSp>
        <p:nvGrpSpPr>
          <p:cNvPr id="89" name="Group 88">
            <a:extLst>
              <a:ext uri="{FF2B5EF4-FFF2-40B4-BE49-F238E27FC236}">
                <a16:creationId xmlns:a16="http://schemas.microsoft.com/office/drawing/2014/main" id="{97CF5E01-AA30-B948-99FE-C9C579E111C4}"/>
              </a:ext>
            </a:extLst>
          </p:cNvPr>
          <p:cNvGrpSpPr/>
          <p:nvPr/>
        </p:nvGrpSpPr>
        <p:grpSpPr>
          <a:xfrm>
            <a:off x="5588616" y="571589"/>
            <a:ext cx="2867938" cy="2108666"/>
            <a:chOff x="3576270" y="3170153"/>
            <a:chExt cx="2867938" cy="2108666"/>
          </a:xfrm>
        </p:grpSpPr>
        <p:sp>
          <p:nvSpPr>
            <p:cNvPr id="90" name="Oval 89">
              <a:extLst>
                <a:ext uri="{FF2B5EF4-FFF2-40B4-BE49-F238E27FC236}">
                  <a16:creationId xmlns:a16="http://schemas.microsoft.com/office/drawing/2014/main" id="{00EBE677-3A2D-EC42-B33D-B914BA91F33D}"/>
                </a:ext>
              </a:extLst>
            </p:cNvPr>
            <p:cNvSpPr/>
            <p:nvPr/>
          </p:nvSpPr>
          <p:spPr>
            <a:xfrm>
              <a:off x="3576270" y="493320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sp>
          <p:nvSpPr>
            <p:cNvPr id="91" name="Oval 90">
              <a:extLst>
                <a:ext uri="{FF2B5EF4-FFF2-40B4-BE49-F238E27FC236}">
                  <a16:creationId xmlns:a16="http://schemas.microsoft.com/office/drawing/2014/main" id="{276EA3A8-1499-EB4B-8773-B63EB7CBA369}"/>
                </a:ext>
              </a:extLst>
            </p:cNvPr>
            <p:cNvSpPr/>
            <p:nvPr/>
          </p:nvSpPr>
          <p:spPr>
            <a:xfrm>
              <a:off x="5540483" y="4999342"/>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2</a:t>
              </a:r>
              <a:endParaRPr lang="en-CN" sz="1100" dirty="0"/>
            </a:p>
          </p:txBody>
        </p:sp>
        <p:sp>
          <p:nvSpPr>
            <p:cNvPr id="92" name="Oval 91">
              <a:extLst>
                <a:ext uri="{FF2B5EF4-FFF2-40B4-BE49-F238E27FC236}">
                  <a16:creationId xmlns:a16="http://schemas.microsoft.com/office/drawing/2014/main" id="{8BFD7F69-ED4D-364E-AC8E-C1D7FA845544}"/>
                </a:ext>
              </a:extLst>
            </p:cNvPr>
            <p:cNvSpPr/>
            <p:nvPr/>
          </p:nvSpPr>
          <p:spPr>
            <a:xfrm>
              <a:off x="6030387" y="4315619"/>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3</a:t>
              </a:r>
              <a:endParaRPr lang="en-CN" sz="1100" dirty="0"/>
            </a:p>
          </p:txBody>
        </p:sp>
        <p:cxnSp>
          <p:nvCxnSpPr>
            <p:cNvPr id="93" name="Straight Arrow Connector 92">
              <a:extLst>
                <a:ext uri="{FF2B5EF4-FFF2-40B4-BE49-F238E27FC236}">
                  <a16:creationId xmlns:a16="http://schemas.microsoft.com/office/drawing/2014/main" id="{1B22098B-B2EE-9D48-A48C-2380BBCDAE7C}"/>
                </a:ext>
              </a:extLst>
            </p:cNvPr>
            <p:cNvCxnSpPr>
              <a:cxnSpLocks/>
              <a:stCxn id="111" idx="3"/>
              <a:endCxn id="90" idx="0"/>
            </p:cNvCxnSpPr>
            <p:nvPr/>
          </p:nvCxnSpPr>
          <p:spPr>
            <a:xfrm flipH="1">
              <a:off x="3710881" y="4514882"/>
              <a:ext cx="639756" cy="41832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4" name="Straight Arrow Connector 93">
              <a:extLst>
                <a:ext uri="{FF2B5EF4-FFF2-40B4-BE49-F238E27FC236}">
                  <a16:creationId xmlns:a16="http://schemas.microsoft.com/office/drawing/2014/main" id="{DB954439-171D-0D44-A9C2-AD77FD858295}"/>
                </a:ext>
              </a:extLst>
            </p:cNvPr>
            <p:cNvCxnSpPr>
              <a:cxnSpLocks/>
              <a:stCxn id="112" idx="4"/>
              <a:endCxn id="91" idx="0"/>
            </p:cNvCxnSpPr>
            <p:nvPr/>
          </p:nvCxnSpPr>
          <p:spPr>
            <a:xfrm>
              <a:off x="5337697" y="4564079"/>
              <a:ext cx="337397" cy="435263"/>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95" name="Straight Arrow Connector 94">
              <a:extLst>
                <a:ext uri="{FF2B5EF4-FFF2-40B4-BE49-F238E27FC236}">
                  <a16:creationId xmlns:a16="http://schemas.microsoft.com/office/drawing/2014/main" id="{C86FB571-B2F8-A043-B1BD-D2ED6600E4ED}"/>
                </a:ext>
              </a:extLst>
            </p:cNvPr>
            <p:cNvCxnSpPr>
              <a:cxnSpLocks/>
              <a:stCxn id="110" idx="5"/>
              <a:endCxn id="92" idx="0"/>
            </p:cNvCxnSpPr>
            <p:nvPr/>
          </p:nvCxnSpPr>
          <p:spPr>
            <a:xfrm>
              <a:off x="5227441" y="3664087"/>
              <a:ext cx="937557" cy="65153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96" name="TextBox 95">
              <a:extLst>
                <a:ext uri="{FF2B5EF4-FFF2-40B4-BE49-F238E27FC236}">
                  <a16:creationId xmlns:a16="http://schemas.microsoft.com/office/drawing/2014/main" id="{7C60019B-FE86-2944-8E8E-8799253C76F3}"/>
                </a:ext>
              </a:extLst>
            </p:cNvPr>
            <p:cNvSpPr txBox="1"/>
            <p:nvPr/>
          </p:nvSpPr>
          <p:spPr>
            <a:xfrm>
              <a:off x="5361807" y="4510104"/>
              <a:ext cx="466794" cy="261610"/>
            </a:xfrm>
            <a:prstGeom prst="rect">
              <a:avLst/>
            </a:prstGeom>
            <a:noFill/>
          </p:spPr>
          <p:txBody>
            <a:bodyPr wrap="none" rtlCol="0">
              <a:spAutoFit/>
            </a:bodyPr>
            <a:lstStyle/>
            <a:p>
              <a:r>
                <a:rPr lang="zh-CN" altLang="en-US" sz="1100" dirty="0"/>
                <a:t>小明</a:t>
              </a:r>
              <a:endParaRPr lang="en-CN" sz="1100" dirty="0"/>
            </a:p>
          </p:txBody>
        </p:sp>
        <p:sp>
          <p:nvSpPr>
            <p:cNvPr id="97" name="TextBox 96">
              <a:extLst>
                <a:ext uri="{FF2B5EF4-FFF2-40B4-BE49-F238E27FC236}">
                  <a16:creationId xmlns:a16="http://schemas.microsoft.com/office/drawing/2014/main" id="{202D474A-BAC5-DC46-B809-887B76610E85}"/>
                </a:ext>
              </a:extLst>
            </p:cNvPr>
            <p:cNvSpPr txBox="1"/>
            <p:nvPr/>
          </p:nvSpPr>
          <p:spPr>
            <a:xfrm>
              <a:off x="5461984" y="3729422"/>
              <a:ext cx="474810" cy="261610"/>
            </a:xfrm>
            <a:prstGeom prst="rect">
              <a:avLst/>
            </a:prstGeom>
            <a:noFill/>
          </p:spPr>
          <p:txBody>
            <a:bodyPr wrap="none" rtlCol="0">
              <a:spAutoFit/>
            </a:bodyPr>
            <a:lstStyle/>
            <a:p>
              <a:r>
                <a:rPr lang="en-US" altLang="zh-CN" sz="1100" dirty="0"/>
                <a:t>boot</a:t>
              </a:r>
            </a:p>
          </p:txBody>
        </p:sp>
        <p:sp>
          <p:nvSpPr>
            <p:cNvPr id="98" name="TextBox 97">
              <a:extLst>
                <a:ext uri="{FF2B5EF4-FFF2-40B4-BE49-F238E27FC236}">
                  <a16:creationId xmlns:a16="http://schemas.microsoft.com/office/drawing/2014/main" id="{20139A4C-54D0-2247-9AF7-D9321C5ACE0C}"/>
                </a:ext>
              </a:extLst>
            </p:cNvPr>
            <p:cNvSpPr txBox="1"/>
            <p:nvPr/>
          </p:nvSpPr>
          <p:spPr>
            <a:xfrm>
              <a:off x="5414008" y="3170153"/>
              <a:ext cx="522172" cy="224732"/>
            </a:xfrm>
            <a:prstGeom prst="rect">
              <a:avLst/>
            </a:prstGeom>
            <a:noFill/>
          </p:spPr>
          <p:txBody>
            <a:bodyPr wrap="none" rtlCol="0">
              <a:spAutoFit/>
            </a:bodyPr>
            <a:lstStyle/>
            <a:p>
              <a:r>
                <a:rPr lang="zh-CN" altLang="en-US" sz="1100" dirty="0"/>
                <a:t>根</a:t>
              </a:r>
              <a:r>
                <a:rPr lang="zh-CN" altLang="en-CN" sz="1100" dirty="0"/>
                <a:t>目录</a:t>
              </a:r>
              <a:endParaRPr lang="en-CN" sz="1100" dirty="0"/>
            </a:p>
          </p:txBody>
        </p:sp>
        <p:sp>
          <p:nvSpPr>
            <p:cNvPr id="99" name="Oval 98">
              <a:extLst>
                <a:ext uri="{FF2B5EF4-FFF2-40B4-BE49-F238E27FC236}">
                  <a16:creationId xmlns:a16="http://schemas.microsoft.com/office/drawing/2014/main" id="{50A008F6-519C-B949-B2C0-DA9E3D644676}"/>
                </a:ext>
              </a:extLst>
            </p:cNvPr>
            <p:cNvSpPr/>
            <p:nvPr/>
          </p:nvSpPr>
          <p:spPr>
            <a:xfrm>
              <a:off x="4171233" y="493623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9</a:t>
              </a:r>
              <a:endParaRPr lang="en-CN" sz="1100" dirty="0"/>
            </a:p>
          </p:txBody>
        </p:sp>
        <p:cxnSp>
          <p:nvCxnSpPr>
            <p:cNvPr id="100" name="Straight Arrow Connector 99">
              <a:extLst>
                <a:ext uri="{FF2B5EF4-FFF2-40B4-BE49-F238E27FC236}">
                  <a16:creationId xmlns:a16="http://schemas.microsoft.com/office/drawing/2014/main" id="{47BC46CF-5AC3-FC42-9707-7CCE5FA96E50}"/>
                </a:ext>
              </a:extLst>
            </p:cNvPr>
            <p:cNvCxnSpPr>
              <a:cxnSpLocks/>
              <a:stCxn id="111" idx="4"/>
              <a:endCxn id="99" idx="0"/>
            </p:cNvCxnSpPr>
            <p:nvPr/>
          </p:nvCxnSpPr>
          <p:spPr>
            <a:xfrm flipH="1">
              <a:off x="4305844" y="4554308"/>
              <a:ext cx="139977" cy="38192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1" name="Rectangle 100">
              <a:extLst>
                <a:ext uri="{FF2B5EF4-FFF2-40B4-BE49-F238E27FC236}">
                  <a16:creationId xmlns:a16="http://schemas.microsoft.com/office/drawing/2014/main" id="{D496B283-5661-3A4E-9E8A-B57AEACE12F1}"/>
                </a:ext>
              </a:extLst>
            </p:cNvPr>
            <p:cNvSpPr/>
            <p:nvPr/>
          </p:nvSpPr>
          <p:spPr>
            <a:xfrm>
              <a:off x="3639682" y="4211238"/>
              <a:ext cx="1153683" cy="615105"/>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2" name="TextBox 101">
              <a:extLst>
                <a:ext uri="{FF2B5EF4-FFF2-40B4-BE49-F238E27FC236}">
                  <a16:creationId xmlns:a16="http://schemas.microsoft.com/office/drawing/2014/main" id="{03972B6C-E9BE-DF40-AC09-33795FB31F5A}"/>
                </a:ext>
              </a:extLst>
            </p:cNvPr>
            <p:cNvSpPr txBox="1"/>
            <p:nvPr/>
          </p:nvSpPr>
          <p:spPr>
            <a:xfrm>
              <a:off x="4457257" y="3723474"/>
              <a:ext cx="373820" cy="261610"/>
            </a:xfrm>
            <a:prstGeom prst="rect">
              <a:avLst/>
            </a:prstGeom>
            <a:noFill/>
          </p:spPr>
          <p:txBody>
            <a:bodyPr wrap="none" rtlCol="0">
              <a:spAutoFit/>
            </a:bodyPr>
            <a:lstStyle/>
            <a:p>
              <a:r>
                <a:rPr lang="en-US" altLang="zh-CN" sz="1100" dirty="0"/>
                <a:t>bin</a:t>
              </a:r>
              <a:endParaRPr lang="en-CN" sz="1100" dirty="0"/>
            </a:p>
          </p:txBody>
        </p:sp>
        <p:sp>
          <p:nvSpPr>
            <p:cNvPr id="103" name="TextBox 102">
              <a:extLst>
                <a:ext uri="{FF2B5EF4-FFF2-40B4-BE49-F238E27FC236}">
                  <a16:creationId xmlns:a16="http://schemas.microsoft.com/office/drawing/2014/main" id="{38B95B0F-9117-6949-B04C-C07498D4402C}"/>
                </a:ext>
              </a:extLst>
            </p:cNvPr>
            <p:cNvSpPr txBox="1"/>
            <p:nvPr/>
          </p:nvSpPr>
          <p:spPr>
            <a:xfrm>
              <a:off x="3639681" y="4477868"/>
              <a:ext cx="287258" cy="261610"/>
            </a:xfrm>
            <a:prstGeom prst="rect">
              <a:avLst/>
            </a:prstGeom>
            <a:noFill/>
          </p:spPr>
          <p:txBody>
            <a:bodyPr wrap="none" rtlCol="0">
              <a:spAutoFit/>
            </a:bodyPr>
            <a:lstStyle/>
            <a:p>
              <a:r>
                <a:rPr lang="en-CN" altLang="zh-CN" sz="1100" dirty="0"/>
                <a:t>ls</a:t>
              </a:r>
              <a:endParaRPr lang="en-CN" sz="1100" dirty="0"/>
            </a:p>
          </p:txBody>
        </p:sp>
        <p:sp>
          <p:nvSpPr>
            <p:cNvPr id="104" name="TextBox 103">
              <a:extLst>
                <a:ext uri="{FF2B5EF4-FFF2-40B4-BE49-F238E27FC236}">
                  <a16:creationId xmlns:a16="http://schemas.microsoft.com/office/drawing/2014/main" id="{A8DA8752-BAC7-FF4B-B515-8CE302ADC68A}"/>
                </a:ext>
              </a:extLst>
            </p:cNvPr>
            <p:cNvSpPr txBox="1"/>
            <p:nvPr/>
          </p:nvSpPr>
          <p:spPr>
            <a:xfrm>
              <a:off x="4079845" y="4578217"/>
              <a:ext cx="365806" cy="261610"/>
            </a:xfrm>
            <a:prstGeom prst="rect">
              <a:avLst/>
            </a:prstGeom>
            <a:noFill/>
          </p:spPr>
          <p:txBody>
            <a:bodyPr wrap="none" rtlCol="0">
              <a:spAutoFit/>
            </a:bodyPr>
            <a:lstStyle/>
            <a:p>
              <a:r>
                <a:rPr lang="en-US" altLang="zh-CN" sz="1100" dirty="0" err="1"/>
                <a:t>init</a:t>
              </a:r>
              <a:endParaRPr lang="en-CN" sz="1100" dirty="0"/>
            </a:p>
          </p:txBody>
        </p:sp>
        <p:sp>
          <p:nvSpPr>
            <p:cNvPr id="105" name="Rectangle 104">
              <a:extLst>
                <a:ext uri="{FF2B5EF4-FFF2-40B4-BE49-F238E27FC236}">
                  <a16:creationId xmlns:a16="http://schemas.microsoft.com/office/drawing/2014/main" id="{71C3C03B-E67D-9E43-9BB3-564430179185}"/>
                </a:ext>
              </a:extLst>
            </p:cNvPr>
            <p:cNvSpPr/>
            <p:nvPr/>
          </p:nvSpPr>
          <p:spPr>
            <a:xfrm>
              <a:off x="4944894" y="4211238"/>
              <a:ext cx="883707"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06" name="Rectangle 105">
              <a:extLst>
                <a:ext uri="{FF2B5EF4-FFF2-40B4-BE49-F238E27FC236}">
                  <a16:creationId xmlns:a16="http://schemas.microsoft.com/office/drawing/2014/main" id="{97D8A04B-69BC-0843-9BE0-9587C6BCE7C5}"/>
                </a:ext>
              </a:extLst>
            </p:cNvPr>
            <p:cNvSpPr/>
            <p:nvPr/>
          </p:nvSpPr>
          <p:spPr>
            <a:xfrm>
              <a:off x="4259759" y="3408136"/>
              <a:ext cx="2184449" cy="650689"/>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dirty="0"/>
            </a:p>
          </p:txBody>
        </p:sp>
        <p:cxnSp>
          <p:nvCxnSpPr>
            <p:cNvPr id="107" name="Straight Arrow Connector 106">
              <a:extLst>
                <a:ext uri="{FF2B5EF4-FFF2-40B4-BE49-F238E27FC236}">
                  <a16:creationId xmlns:a16="http://schemas.microsoft.com/office/drawing/2014/main" id="{4E09EEA5-F729-714C-8DCD-8A3BF70D54BC}"/>
                </a:ext>
              </a:extLst>
            </p:cNvPr>
            <p:cNvCxnSpPr>
              <a:cxnSpLocks/>
              <a:stCxn id="110" idx="4"/>
              <a:endCxn id="112" idx="0"/>
            </p:cNvCxnSpPr>
            <p:nvPr/>
          </p:nvCxnSpPr>
          <p:spPr>
            <a:xfrm>
              <a:off x="5132257" y="3703514"/>
              <a:ext cx="205440" cy="591344"/>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08" name="Straight Arrow Connector 107">
              <a:extLst>
                <a:ext uri="{FF2B5EF4-FFF2-40B4-BE49-F238E27FC236}">
                  <a16:creationId xmlns:a16="http://schemas.microsoft.com/office/drawing/2014/main" id="{714B52C9-FE04-6241-BC05-0BF0577C5D2E}"/>
                </a:ext>
              </a:extLst>
            </p:cNvPr>
            <p:cNvCxnSpPr>
              <a:cxnSpLocks/>
              <a:stCxn id="110" idx="3"/>
              <a:endCxn id="111" idx="0"/>
            </p:cNvCxnSpPr>
            <p:nvPr/>
          </p:nvCxnSpPr>
          <p:spPr>
            <a:xfrm flipH="1">
              <a:off x="4445821" y="3664088"/>
              <a:ext cx="591253" cy="62100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09" name="TextBox 108">
              <a:extLst>
                <a:ext uri="{FF2B5EF4-FFF2-40B4-BE49-F238E27FC236}">
                  <a16:creationId xmlns:a16="http://schemas.microsoft.com/office/drawing/2014/main" id="{8FFD3829-E7C3-B247-A711-D416EE6C46C1}"/>
                </a:ext>
              </a:extLst>
            </p:cNvPr>
            <p:cNvSpPr txBox="1"/>
            <p:nvPr/>
          </p:nvSpPr>
          <p:spPr>
            <a:xfrm>
              <a:off x="4946601" y="3751225"/>
              <a:ext cx="537327" cy="261610"/>
            </a:xfrm>
            <a:prstGeom prst="rect">
              <a:avLst/>
            </a:prstGeom>
            <a:noFill/>
          </p:spPr>
          <p:txBody>
            <a:bodyPr wrap="none" rtlCol="0">
              <a:spAutoFit/>
            </a:bodyPr>
            <a:lstStyle/>
            <a:p>
              <a:r>
                <a:rPr lang="en-US" altLang="zh-CN" sz="1100" dirty="0"/>
                <a:t>home</a:t>
              </a:r>
              <a:endParaRPr lang="en-CN" sz="1100" dirty="0"/>
            </a:p>
          </p:txBody>
        </p:sp>
        <p:sp>
          <p:nvSpPr>
            <p:cNvPr id="110" name="Oval 109">
              <a:extLst>
                <a:ext uri="{FF2B5EF4-FFF2-40B4-BE49-F238E27FC236}">
                  <a16:creationId xmlns:a16="http://schemas.microsoft.com/office/drawing/2014/main" id="{3A462BF9-6C81-B946-95D1-E3A09B99A146}"/>
                </a:ext>
              </a:extLst>
            </p:cNvPr>
            <p:cNvSpPr/>
            <p:nvPr/>
          </p:nvSpPr>
          <p:spPr>
            <a:xfrm>
              <a:off x="4997647" y="3434293"/>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1</a:t>
              </a:r>
              <a:endParaRPr lang="en-CN" sz="1100" dirty="0"/>
            </a:p>
          </p:txBody>
        </p:sp>
        <p:sp>
          <p:nvSpPr>
            <p:cNvPr id="111" name="Oval 110">
              <a:extLst>
                <a:ext uri="{FF2B5EF4-FFF2-40B4-BE49-F238E27FC236}">
                  <a16:creationId xmlns:a16="http://schemas.microsoft.com/office/drawing/2014/main" id="{D3ECB57A-71FF-1A40-8944-23A0A73CD5E6}"/>
                </a:ext>
              </a:extLst>
            </p:cNvPr>
            <p:cNvSpPr/>
            <p:nvPr/>
          </p:nvSpPr>
          <p:spPr>
            <a:xfrm>
              <a:off x="4311210" y="428508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7</a:t>
              </a:r>
              <a:endParaRPr lang="en-CN" sz="1100" dirty="0"/>
            </a:p>
          </p:txBody>
        </p:sp>
        <p:sp>
          <p:nvSpPr>
            <p:cNvPr id="112" name="Oval 111">
              <a:extLst>
                <a:ext uri="{FF2B5EF4-FFF2-40B4-BE49-F238E27FC236}">
                  <a16:creationId xmlns:a16="http://schemas.microsoft.com/office/drawing/2014/main" id="{2BD918C4-A5B7-A94B-BBBC-276F31A0DFCB}"/>
                </a:ext>
              </a:extLst>
            </p:cNvPr>
            <p:cNvSpPr/>
            <p:nvPr/>
          </p:nvSpPr>
          <p:spPr>
            <a:xfrm>
              <a:off x="5203086" y="4294858"/>
              <a:ext cx="269221" cy="269221"/>
            </a:xfrm>
            <a:prstGeom prst="ellipse">
              <a:avLst/>
            </a:prstGeom>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4</a:t>
              </a:r>
              <a:endParaRPr lang="en-CN" sz="1100" dirty="0"/>
            </a:p>
          </p:txBody>
        </p:sp>
        <p:sp>
          <p:nvSpPr>
            <p:cNvPr id="113" name="Rectangle 112">
              <a:extLst>
                <a:ext uri="{FF2B5EF4-FFF2-40B4-BE49-F238E27FC236}">
                  <a16:creationId xmlns:a16="http://schemas.microsoft.com/office/drawing/2014/main" id="{67EB31D0-A346-9146-B66C-DBA3E117838B}"/>
                </a:ext>
              </a:extLst>
            </p:cNvPr>
            <p:cNvSpPr/>
            <p:nvPr/>
          </p:nvSpPr>
          <p:spPr>
            <a:xfrm>
              <a:off x="5878858" y="4211238"/>
              <a:ext cx="56535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14" name="Oval 113">
              <a:extLst>
                <a:ext uri="{FF2B5EF4-FFF2-40B4-BE49-F238E27FC236}">
                  <a16:creationId xmlns:a16="http://schemas.microsoft.com/office/drawing/2014/main" id="{68722E29-CDF6-0943-AB89-AC7F64834EC5}"/>
                </a:ext>
              </a:extLst>
            </p:cNvPr>
            <p:cNvSpPr/>
            <p:nvPr/>
          </p:nvSpPr>
          <p:spPr>
            <a:xfrm>
              <a:off x="4944423" y="5009598"/>
              <a:ext cx="269221" cy="26922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100" dirty="0"/>
                <a:t>6</a:t>
              </a:r>
              <a:endParaRPr lang="en-CN" sz="1100" dirty="0"/>
            </a:p>
          </p:txBody>
        </p:sp>
        <p:cxnSp>
          <p:nvCxnSpPr>
            <p:cNvPr id="115" name="Straight Arrow Connector 114">
              <a:extLst>
                <a:ext uri="{FF2B5EF4-FFF2-40B4-BE49-F238E27FC236}">
                  <a16:creationId xmlns:a16="http://schemas.microsoft.com/office/drawing/2014/main" id="{70CD7112-02D4-164C-A7B6-6E0B76CE6B7F}"/>
                </a:ext>
              </a:extLst>
            </p:cNvPr>
            <p:cNvCxnSpPr>
              <a:cxnSpLocks/>
              <a:stCxn id="112" idx="4"/>
              <a:endCxn id="114" idx="7"/>
            </p:cNvCxnSpPr>
            <p:nvPr/>
          </p:nvCxnSpPr>
          <p:spPr>
            <a:xfrm flipH="1">
              <a:off x="5174217" y="4564079"/>
              <a:ext cx="163480" cy="484946"/>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16" name="TextBox 115">
              <a:extLst>
                <a:ext uri="{FF2B5EF4-FFF2-40B4-BE49-F238E27FC236}">
                  <a16:creationId xmlns:a16="http://schemas.microsoft.com/office/drawing/2014/main" id="{BCA33CCE-120C-B44D-AC1B-585559FE0F7F}"/>
                </a:ext>
              </a:extLst>
            </p:cNvPr>
            <p:cNvSpPr txBox="1"/>
            <p:nvPr/>
          </p:nvSpPr>
          <p:spPr>
            <a:xfrm>
              <a:off x="4882939" y="4510104"/>
              <a:ext cx="466794" cy="261610"/>
            </a:xfrm>
            <a:prstGeom prst="rect">
              <a:avLst/>
            </a:prstGeom>
            <a:noFill/>
          </p:spPr>
          <p:txBody>
            <a:bodyPr wrap="none" rtlCol="0">
              <a:spAutoFit/>
            </a:bodyPr>
            <a:lstStyle/>
            <a:p>
              <a:r>
                <a:rPr lang="zh-CN" altLang="en-US" sz="1100" dirty="0"/>
                <a:t>小红</a:t>
              </a:r>
              <a:endParaRPr lang="en-CN" sz="1100" dirty="0"/>
            </a:p>
          </p:txBody>
        </p:sp>
      </p:grpSp>
      <p:sp>
        <p:nvSpPr>
          <p:cNvPr id="117" name="Rectangle 116">
            <a:extLst>
              <a:ext uri="{FF2B5EF4-FFF2-40B4-BE49-F238E27FC236}">
                <a16:creationId xmlns:a16="http://schemas.microsoft.com/office/drawing/2014/main" id="{80768479-6635-5A46-B53D-E3BF95C585B7}"/>
              </a:ext>
            </a:extLst>
          </p:cNvPr>
          <p:cNvSpPr/>
          <p:nvPr/>
        </p:nvSpPr>
        <p:spPr>
          <a:xfrm>
            <a:off x="6904295" y="2291058"/>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118" name="Rectangle 117">
            <a:extLst>
              <a:ext uri="{FF2B5EF4-FFF2-40B4-BE49-F238E27FC236}">
                <a16:creationId xmlns:a16="http://schemas.microsoft.com/office/drawing/2014/main" id="{8510ED22-9CC1-2340-A7F8-EE63267CB61C}"/>
              </a:ext>
            </a:extLst>
          </p:cNvPr>
          <p:cNvSpPr/>
          <p:nvPr/>
        </p:nvSpPr>
        <p:spPr>
          <a:xfrm>
            <a:off x="7486404" y="2287098"/>
            <a:ext cx="374920" cy="560476"/>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100"/>
          </a:p>
        </p:txBody>
      </p:sp>
      <p:sp>
        <p:nvSpPr>
          <p:cNvPr id="71" name="TextBox 70">
            <a:extLst>
              <a:ext uri="{FF2B5EF4-FFF2-40B4-BE49-F238E27FC236}">
                <a16:creationId xmlns:a16="http://schemas.microsoft.com/office/drawing/2014/main" id="{EACF6B9C-9BF5-5F44-8EEF-64D561AA0080}"/>
              </a:ext>
            </a:extLst>
          </p:cNvPr>
          <p:cNvSpPr txBox="1"/>
          <p:nvPr/>
        </p:nvSpPr>
        <p:spPr>
          <a:xfrm>
            <a:off x="4821627" y="429358"/>
            <a:ext cx="2555508" cy="338554"/>
          </a:xfrm>
          <a:prstGeom prst="rect">
            <a:avLst/>
          </a:prstGeom>
          <a:noFill/>
        </p:spPr>
        <p:txBody>
          <a:bodyPr wrap="none" rtlCol="0">
            <a:spAutoFit/>
          </a:bodyPr>
          <a:lstStyle/>
          <a:p>
            <a:r>
              <a:rPr lang="zh-CN" altLang="en-CN" sz="1600" dirty="0"/>
              <a:t>文件系统</a:t>
            </a:r>
            <a:r>
              <a:rPr lang="en-US" altLang="zh-CN" sz="1600" dirty="0"/>
              <a:t>2</a:t>
            </a:r>
            <a:r>
              <a:rPr lang="zh-CN" altLang="en-US" sz="1600" dirty="0"/>
              <a:t>作为根文件系统</a:t>
            </a:r>
            <a:endParaRPr lang="en-CN" sz="1600" dirty="0"/>
          </a:p>
        </p:txBody>
      </p:sp>
      <p:sp>
        <p:nvSpPr>
          <p:cNvPr id="5" name="Slide Number Placeholder 4">
            <a:extLst>
              <a:ext uri="{FF2B5EF4-FFF2-40B4-BE49-F238E27FC236}">
                <a16:creationId xmlns:a16="http://schemas.microsoft.com/office/drawing/2014/main" id="{CB746A4E-62CE-2E4B-8196-BF56A1E6AD30}"/>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spTree>
    <p:extLst>
      <p:ext uri="{BB962C8B-B14F-4D97-AF65-F5344CB8AC3E}">
        <p14:creationId xmlns:p14="http://schemas.microsoft.com/office/powerpoint/2010/main" val="2925776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28375-E15A-FD46-87E7-0E1A0B91358A}"/>
              </a:ext>
            </a:extLst>
          </p:cNvPr>
          <p:cNvSpPr>
            <a:spLocks noGrp="1"/>
          </p:cNvSpPr>
          <p:nvPr>
            <p:ph type="title"/>
          </p:nvPr>
        </p:nvSpPr>
        <p:spPr/>
        <p:txBody>
          <a:bodyPr/>
          <a:lstStyle/>
          <a:p>
            <a:r>
              <a:rPr lang="en-US" altLang="zh-CN" dirty="0"/>
              <a:t>Linux</a:t>
            </a:r>
            <a:r>
              <a:rPr lang="zh-CN" altLang="en-US" dirty="0"/>
              <a:t>中的虚拟文件系统</a:t>
            </a:r>
            <a:r>
              <a:rPr lang="en-US" altLang="zh-CN" dirty="0"/>
              <a:t>VFS</a:t>
            </a:r>
            <a:endParaRPr lang="en-CN" dirty="0"/>
          </a:p>
        </p:txBody>
      </p:sp>
      <p:sp>
        <p:nvSpPr>
          <p:cNvPr id="3" name="Content Placeholder 2">
            <a:extLst>
              <a:ext uri="{FF2B5EF4-FFF2-40B4-BE49-F238E27FC236}">
                <a16:creationId xmlns:a16="http://schemas.microsoft.com/office/drawing/2014/main" id="{EEFAB39C-D790-BA42-81EE-F1E5D6B6DD3A}"/>
              </a:ext>
            </a:extLst>
          </p:cNvPr>
          <p:cNvSpPr>
            <a:spLocks noGrp="1"/>
          </p:cNvSpPr>
          <p:nvPr>
            <p:ph idx="1"/>
          </p:nvPr>
        </p:nvSpPr>
        <p:spPr>
          <a:xfrm>
            <a:off x="420216" y="1159396"/>
            <a:ext cx="8229600" cy="803919"/>
          </a:xfrm>
        </p:spPr>
        <p:txBody>
          <a:bodyPr>
            <a:normAutofit/>
          </a:bodyPr>
          <a:lstStyle/>
          <a:p>
            <a:pPr marL="0" indent="0">
              <a:buNone/>
            </a:pPr>
            <a:r>
              <a:rPr lang="en-US" altLang="zh-CN" sz="1400" b="0" dirty="0"/>
              <a:t>Linux</a:t>
            </a:r>
            <a:r>
              <a:rPr lang="zh-CN" altLang="en-US" sz="1400" b="0" dirty="0"/>
              <a:t>的</a:t>
            </a:r>
            <a:r>
              <a:rPr lang="en-US" altLang="zh-CN" sz="1400" b="0" dirty="0"/>
              <a:t>VFS</a:t>
            </a:r>
            <a:r>
              <a:rPr lang="zh-CN" altLang="en-US" sz="1400" b="0" dirty="0"/>
              <a:t>定义的一些</a:t>
            </a:r>
            <a:r>
              <a:rPr lang="en-US" altLang="zh-CN" sz="1400" b="0" dirty="0" err="1"/>
              <a:t>inode</a:t>
            </a:r>
            <a:r>
              <a:rPr lang="zh-CN" altLang="en-US" sz="1400" b="0" dirty="0"/>
              <a:t>上的操作接口</a:t>
            </a:r>
            <a:endParaRPr lang="en-US" altLang="zh-CN" sz="1400" b="0" dirty="0"/>
          </a:p>
        </p:txBody>
      </p:sp>
      <p:sp>
        <p:nvSpPr>
          <p:cNvPr id="4" name="Footer Placeholder 3">
            <a:extLst>
              <a:ext uri="{FF2B5EF4-FFF2-40B4-BE49-F238E27FC236}">
                <a16:creationId xmlns:a16="http://schemas.microsoft.com/office/drawing/2014/main" id="{D405289A-17DF-A749-8B3A-2B352B9FC54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TextBox 8">
            <a:extLst>
              <a:ext uri="{FF2B5EF4-FFF2-40B4-BE49-F238E27FC236}">
                <a16:creationId xmlns:a16="http://schemas.microsoft.com/office/drawing/2014/main" id="{838773BE-987C-9A4D-BB09-2B220F01FC21}"/>
              </a:ext>
            </a:extLst>
          </p:cNvPr>
          <p:cNvSpPr txBox="1"/>
          <p:nvPr/>
        </p:nvSpPr>
        <p:spPr>
          <a:xfrm>
            <a:off x="1557278" y="1504444"/>
            <a:ext cx="5955476" cy="1785104"/>
          </a:xfrm>
          <a:prstGeom prst="rect">
            <a:avLst/>
          </a:prstGeom>
          <a:solidFill>
            <a:schemeClr val="accent6">
              <a:lumMod val="20000"/>
              <a:lumOff val="80000"/>
            </a:schemeClr>
          </a:solidFill>
          <a:ln>
            <a:solidFill>
              <a:schemeClr val="bg2"/>
            </a:solidFill>
          </a:ln>
        </p:spPr>
        <p:txBody>
          <a:bodyPr wrap="none" rtlCol="0">
            <a:spAutoFit/>
          </a:bodyPr>
          <a:lstStyle/>
          <a:p>
            <a:r>
              <a:rPr lang="en-US" sz="1000" dirty="0">
                <a:latin typeface="Courier" pitchFamily="2" charset="0"/>
              </a:rPr>
              <a:t>struct </a:t>
            </a:r>
            <a:r>
              <a:rPr lang="en-US" sz="1000" dirty="0" err="1">
                <a:latin typeface="Courier" pitchFamily="2" charset="0"/>
              </a:rPr>
              <a:t>inode_operations</a:t>
            </a:r>
            <a:r>
              <a:rPr lang="en-US" sz="1000" dirty="0">
                <a:latin typeface="Courier" pitchFamily="2" charset="0"/>
              </a:rPr>
              <a:t> {</a:t>
            </a:r>
          </a:p>
          <a:p>
            <a:r>
              <a:rPr lang="en-US" sz="1000" dirty="0">
                <a:latin typeface="Courier" pitchFamily="2" charset="0"/>
              </a:rPr>
              <a:t>  struct </a:t>
            </a:r>
            <a:r>
              <a:rPr lang="en-US" sz="1000" dirty="0" err="1">
                <a:latin typeface="Courier" pitchFamily="2" charset="0"/>
              </a:rPr>
              <a:t>dentry</a:t>
            </a:r>
            <a:r>
              <a:rPr lang="en-US" sz="1000" dirty="0">
                <a:latin typeface="Courier" pitchFamily="2" charset="0"/>
              </a:rPr>
              <a:t> * (*lookup) (struct </a:t>
            </a:r>
            <a:r>
              <a:rPr lang="en-US" sz="1000" dirty="0" err="1">
                <a:latin typeface="Courier" pitchFamily="2" charset="0"/>
              </a:rPr>
              <a:t>inode</a:t>
            </a:r>
            <a:r>
              <a:rPr lang="en-US" sz="1000" dirty="0">
                <a:latin typeface="Courier" pitchFamily="2" charset="0"/>
              </a:rPr>
              <a:t> *,struct </a:t>
            </a:r>
            <a:r>
              <a:rPr lang="en-US" sz="1000" dirty="0" err="1">
                <a:latin typeface="Courier" pitchFamily="2" charset="0"/>
              </a:rPr>
              <a:t>dentry</a:t>
            </a:r>
            <a:r>
              <a:rPr lang="en-US" sz="1000" dirty="0">
                <a:latin typeface="Courier" pitchFamily="2" charset="0"/>
              </a:rPr>
              <a:t> *, unsigned int);</a:t>
            </a:r>
          </a:p>
          <a:p>
            <a:r>
              <a:rPr lang="en-US" sz="1000" dirty="0">
                <a:latin typeface="Courier" pitchFamily="2" charset="0"/>
              </a:rPr>
              <a:t>  </a:t>
            </a:r>
            <a:r>
              <a:rPr lang="en-US" altLang="zh-CN" sz="1000" dirty="0">
                <a:latin typeface="Courier" pitchFamily="2" charset="0"/>
              </a:rPr>
              <a:t>...</a:t>
            </a:r>
            <a:endParaRPr lang="en-US" sz="1000" dirty="0">
              <a:latin typeface="Courier" pitchFamily="2" charset="0"/>
            </a:endParaRPr>
          </a:p>
          <a:p>
            <a:r>
              <a:rPr lang="en-US" sz="1000" dirty="0">
                <a:latin typeface="Courier" pitchFamily="2" charset="0"/>
              </a:rPr>
              <a:t>  int (*create) (struct </a:t>
            </a:r>
            <a:r>
              <a:rPr lang="en-US" sz="1000" dirty="0" err="1">
                <a:latin typeface="Courier" pitchFamily="2" charset="0"/>
              </a:rPr>
              <a:t>inode</a:t>
            </a:r>
            <a:r>
              <a:rPr lang="en-US" sz="1000" dirty="0">
                <a:latin typeface="Courier" pitchFamily="2" charset="0"/>
              </a:rPr>
              <a:t> *,struct </a:t>
            </a:r>
            <a:r>
              <a:rPr lang="en-US" sz="1000" dirty="0" err="1">
                <a:latin typeface="Courier" pitchFamily="2" charset="0"/>
              </a:rPr>
              <a:t>dentry</a:t>
            </a:r>
            <a:r>
              <a:rPr lang="en-US" sz="1000" dirty="0">
                <a:latin typeface="Courier" pitchFamily="2" charset="0"/>
              </a:rPr>
              <a:t> *, </a:t>
            </a:r>
            <a:r>
              <a:rPr lang="en-US" sz="1000" dirty="0" err="1">
                <a:latin typeface="Courier" pitchFamily="2" charset="0"/>
              </a:rPr>
              <a:t>umode_t</a:t>
            </a:r>
            <a:r>
              <a:rPr lang="en-US" sz="1000" dirty="0">
                <a:latin typeface="Courier" pitchFamily="2" charset="0"/>
              </a:rPr>
              <a:t>, bool);</a:t>
            </a:r>
          </a:p>
          <a:p>
            <a:r>
              <a:rPr lang="en-US" sz="1000" dirty="0">
                <a:latin typeface="Courier" pitchFamily="2" charset="0"/>
              </a:rPr>
              <a:t>  int (*link) (struct </a:t>
            </a:r>
            <a:r>
              <a:rPr lang="en-US" sz="1000" dirty="0" err="1">
                <a:latin typeface="Courier" pitchFamily="2" charset="0"/>
              </a:rPr>
              <a:t>dentry</a:t>
            </a:r>
            <a:r>
              <a:rPr lang="en-US" sz="1000" dirty="0">
                <a:latin typeface="Courier" pitchFamily="2" charset="0"/>
              </a:rPr>
              <a:t> *,struct </a:t>
            </a:r>
            <a:r>
              <a:rPr lang="en-US" sz="1000" dirty="0" err="1">
                <a:latin typeface="Courier" pitchFamily="2" charset="0"/>
              </a:rPr>
              <a:t>inode</a:t>
            </a:r>
            <a:r>
              <a:rPr lang="en-US" sz="1000" dirty="0">
                <a:latin typeface="Courier" pitchFamily="2" charset="0"/>
              </a:rPr>
              <a:t> *,struct </a:t>
            </a:r>
            <a:r>
              <a:rPr lang="en-US" sz="1000" dirty="0" err="1">
                <a:latin typeface="Courier" pitchFamily="2" charset="0"/>
              </a:rPr>
              <a:t>dentry</a:t>
            </a:r>
            <a:r>
              <a:rPr lang="en-US" sz="1000" dirty="0">
                <a:latin typeface="Courier" pitchFamily="2" charset="0"/>
              </a:rPr>
              <a:t> *);</a:t>
            </a:r>
          </a:p>
          <a:p>
            <a:r>
              <a:rPr lang="en-US" sz="1000" dirty="0">
                <a:latin typeface="Courier" pitchFamily="2" charset="0"/>
              </a:rPr>
              <a:t>  int (*unlink) (struct </a:t>
            </a:r>
            <a:r>
              <a:rPr lang="en-US" sz="1000" dirty="0" err="1">
                <a:latin typeface="Courier" pitchFamily="2" charset="0"/>
              </a:rPr>
              <a:t>inode</a:t>
            </a:r>
            <a:r>
              <a:rPr lang="en-US" sz="1000" dirty="0">
                <a:latin typeface="Courier" pitchFamily="2" charset="0"/>
              </a:rPr>
              <a:t> *,struct </a:t>
            </a:r>
            <a:r>
              <a:rPr lang="en-US" sz="1000" dirty="0" err="1">
                <a:latin typeface="Courier" pitchFamily="2" charset="0"/>
              </a:rPr>
              <a:t>dentry</a:t>
            </a:r>
            <a:r>
              <a:rPr lang="en-US" sz="1000" dirty="0">
                <a:latin typeface="Courier" pitchFamily="2" charset="0"/>
              </a:rPr>
              <a:t> *);</a:t>
            </a:r>
          </a:p>
          <a:p>
            <a:r>
              <a:rPr lang="en-US" sz="1000" dirty="0">
                <a:latin typeface="Courier" pitchFamily="2" charset="0"/>
              </a:rPr>
              <a:t>  int (*</a:t>
            </a:r>
            <a:r>
              <a:rPr lang="en-US" sz="1000" dirty="0" err="1">
                <a:latin typeface="Courier" pitchFamily="2" charset="0"/>
              </a:rPr>
              <a:t>symlink</a:t>
            </a:r>
            <a:r>
              <a:rPr lang="en-US" sz="1000" dirty="0">
                <a:latin typeface="Courier" pitchFamily="2" charset="0"/>
              </a:rPr>
              <a:t>) (struct </a:t>
            </a:r>
            <a:r>
              <a:rPr lang="en-US" sz="1000" dirty="0" err="1">
                <a:latin typeface="Courier" pitchFamily="2" charset="0"/>
              </a:rPr>
              <a:t>inode</a:t>
            </a:r>
            <a:r>
              <a:rPr lang="en-US" sz="1000" dirty="0">
                <a:latin typeface="Courier" pitchFamily="2" charset="0"/>
              </a:rPr>
              <a:t> *,struct </a:t>
            </a:r>
            <a:r>
              <a:rPr lang="en-US" sz="1000" dirty="0" err="1">
                <a:latin typeface="Courier" pitchFamily="2" charset="0"/>
              </a:rPr>
              <a:t>dentry</a:t>
            </a:r>
            <a:r>
              <a:rPr lang="en-US" sz="1000" dirty="0">
                <a:latin typeface="Courier" pitchFamily="2" charset="0"/>
              </a:rPr>
              <a:t> *,const char *);</a:t>
            </a:r>
          </a:p>
          <a:p>
            <a:r>
              <a:rPr lang="en-US" sz="1000" dirty="0">
                <a:latin typeface="Courier" pitchFamily="2" charset="0"/>
              </a:rPr>
              <a:t>  int (*</a:t>
            </a:r>
            <a:r>
              <a:rPr lang="en-US" sz="1000" dirty="0" err="1">
                <a:latin typeface="Courier" pitchFamily="2" charset="0"/>
              </a:rPr>
              <a:t>mkdir</a:t>
            </a:r>
            <a:r>
              <a:rPr lang="en-US" sz="1000" dirty="0">
                <a:latin typeface="Courier" pitchFamily="2" charset="0"/>
              </a:rPr>
              <a:t>) (struct </a:t>
            </a:r>
            <a:r>
              <a:rPr lang="en-US" sz="1000" dirty="0" err="1">
                <a:latin typeface="Courier" pitchFamily="2" charset="0"/>
              </a:rPr>
              <a:t>inode</a:t>
            </a:r>
            <a:r>
              <a:rPr lang="en-US" sz="1000" dirty="0">
                <a:latin typeface="Courier" pitchFamily="2" charset="0"/>
              </a:rPr>
              <a:t> *,struct </a:t>
            </a:r>
            <a:r>
              <a:rPr lang="en-US" sz="1000" dirty="0" err="1">
                <a:latin typeface="Courier" pitchFamily="2" charset="0"/>
              </a:rPr>
              <a:t>dentry</a:t>
            </a:r>
            <a:r>
              <a:rPr lang="en-US" sz="1000" dirty="0">
                <a:latin typeface="Courier" pitchFamily="2" charset="0"/>
              </a:rPr>
              <a:t> *,</a:t>
            </a:r>
            <a:r>
              <a:rPr lang="en-US" sz="1000" dirty="0" err="1">
                <a:latin typeface="Courier" pitchFamily="2" charset="0"/>
              </a:rPr>
              <a:t>umode_t</a:t>
            </a:r>
            <a:r>
              <a:rPr lang="en-US" sz="1000" dirty="0">
                <a:latin typeface="Courier" pitchFamily="2" charset="0"/>
              </a:rPr>
              <a:t>);</a:t>
            </a:r>
          </a:p>
          <a:p>
            <a:r>
              <a:rPr lang="en-US" sz="1000" dirty="0">
                <a:latin typeface="Courier" pitchFamily="2" charset="0"/>
              </a:rPr>
              <a:t>  int (*</a:t>
            </a:r>
            <a:r>
              <a:rPr lang="en-US" sz="1000" dirty="0" err="1">
                <a:latin typeface="Courier" pitchFamily="2" charset="0"/>
              </a:rPr>
              <a:t>rmdir</a:t>
            </a:r>
            <a:r>
              <a:rPr lang="en-US" sz="1000" dirty="0">
                <a:latin typeface="Courier" pitchFamily="2" charset="0"/>
              </a:rPr>
              <a:t>) (struct </a:t>
            </a:r>
            <a:r>
              <a:rPr lang="en-US" sz="1000" dirty="0" err="1">
                <a:latin typeface="Courier" pitchFamily="2" charset="0"/>
              </a:rPr>
              <a:t>inode</a:t>
            </a:r>
            <a:r>
              <a:rPr lang="en-US" sz="1000" dirty="0">
                <a:latin typeface="Courier" pitchFamily="2" charset="0"/>
              </a:rPr>
              <a:t> *,struct </a:t>
            </a:r>
            <a:r>
              <a:rPr lang="en-US" sz="1000" dirty="0" err="1">
                <a:latin typeface="Courier" pitchFamily="2" charset="0"/>
              </a:rPr>
              <a:t>dentry</a:t>
            </a:r>
            <a:r>
              <a:rPr lang="en-US" sz="1000" dirty="0">
                <a:latin typeface="Courier" pitchFamily="2" charset="0"/>
              </a:rPr>
              <a:t> *);</a:t>
            </a:r>
          </a:p>
          <a:p>
            <a:r>
              <a:rPr lang="zh-CN" altLang="en-US" sz="1000" dirty="0">
                <a:latin typeface="Courier" pitchFamily="2" charset="0"/>
              </a:rPr>
              <a:t>  </a:t>
            </a:r>
            <a:r>
              <a:rPr lang="en-US" altLang="zh-CN" sz="1000" dirty="0">
                <a:latin typeface="Courier" pitchFamily="2" charset="0"/>
              </a:rPr>
              <a:t>...</a:t>
            </a:r>
            <a:br>
              <a:rPr lang="en-US" sz="1000" dirty="0">
                <a:latin typeface="Courier" pitchFamily="2" charset="0"/>
              </a:rPr>
            </a:br>
            <a:r>
              <a:rPr lang="en-US" sz="1000" dirty="0">
                <a:latin typeface="Courier" pitchFamily="2" charset="0"/>
              </a:rPr>
              <a:t>};</a:t>
            </a:r>
          </a:p>
        </p:txBody>
      </p:sp>
      <p:sp>
        <p:nvSpPr>
          <p:cNvPr id="13" name="TextBox 12">
            <a:extLst>
              <a:ext uri="{FF2B5EF4-FFF2-40B4-BE49-F238E27FC236}">
                <a16:creationId xmlns:a16="http://schemas.microsoft.com/office/drawing/2014/main" id="{75D58A2E-9DBC-BF4E-BCE7-9FA038710BBF}"/>
              </a:ext>
            </a:extLst>
          </p:cNvPr>
          <p:cNvSpPr txBox="1"/>
          <p:nvPr/>
        </p:nvSpPr>
        <p:spPr>
          <a:xfrm>
            <a:off x="2172831" y="3674556"/>
            <a:ext cx="4724370" cy="1631216"/>
          </a:xfrm>
          <a:prstGeom prst="rect">
            <a:avLst/>
          </a:prstGeom>
          <a:solidFill>
            <a:schemeClr val="accent6">
              <a:lumMod val="20000"/>
              <a:lumOff val="80000"/>
            </a:schemeClr>
          </a:solidFill>
          <a:ln>
            <a:solidFill>
              <a:schemeClr val="bg2"/>
            </a:solidFill>
          </a:ln>
        </p:spPr>
        <p:txBody>
          <a:bodyPr wrap="none" rtlCol="0">
            <a:spAutoFit/>
          </a:bodyPr>
          <a:lstStyle/>
          <a:p>
            <a:r>
              <a:rPr lang="en-US" sz="1000" dirty="0">
                <a:latin typeface="Courier" pitchFamily="2" charset="0"/>
              </a:rPr>
              <a:t>const struct </a:t>
            </a:r>
            <a:r>
              <a:rPr lang="en-US" sz="1000" dirty="0" err="1">
                <a:latin typeface="Courier" pitchFamily="2" charset="0"/>
              </a:rPr>
              <a:t>inode_operations</a:t>
            </a:r>
            <a:r>
              <a:rPr lang="en-US" sz="1000" dirty="0">
                <a:latin typeface="Courier" pitchFamily="2" charset="0"/>
              </a:rPr>
              <a:t> ext2_dir_inode_operations = {</a:t>
            </a:r>
          </a:p>
          <a:p>
            <a:r>
              <a:rPr lang="en-US" sz="1000" dirty="0">
                <a:latin typeface="Courier" pitchFamily="2" charset="0"/>
              </a:rPr>
              <a:t>  .create   = ext2_create,</a:t>
            </a:r>
          </a:p>
          <a:p>
            <a:r>
              <a:rPr lang="en-US" sz="1000" dirty="0">
                <a:latin typeface="Courier" pitchFamily="2" charset="0"/>
              </a:rPr>
              <a:t>  .lookup   = ext2_lookup,</a:t>
            </a:r>
          </a:p>
          <a:p>
            <a:r>
              <a:rPr lang="en-US" sz="1000" dirty="0">
                <a:latin typeface="Courier" pitchFamily="2" charset="0"/>
              </a:rPr>
              <a:t>  .link	= ext2_link,</a:t>
            </a:r>
          </a:p>
          <a:p>
            <a:r>
              <a:rPr lang="en-US" sz="1000" dirty="0">
                <a:latin typeface="Courier" pitchFamily="2" charset="0"/>
              </a:rPr>
              <a:t>  .unlink	= ext2_unlink,</a:t>
            </a:r>
          </a:p>
          <a:p>
            <a:r>
              <a:rPr lang="en-US" sz="1000" dirty="0">
                <a:latin typeface="Courier" pitchFamily="2" charset="0"/>
              </a:rPr>
              <a:t>  .</a:t>
            </a:r>
            <a:r>
              <a:rPr lang="en-US" sz="1000" dirty="0" err="1">
                <a:latin typeface="Courier" pitchFamily="2" charset="0"/>
              </a:rPr>
              <a:t>symlink</a:t>
            </a:r>
            <a:r>
              <a:rPr lang="en-US" sz="1000" dirty="0">
                <a:latin typeface="Courier" pitchFamily="2" charset="0"/>
              </a:rPr>
              <a:t>	= ext2_symlink,</a:t>
            </a:r>
          </a:p>
          <a:p>
            <a:r>
              <a:rPr lang="en-US" sz="1000" dirty="0">
                <a:latin typeface="Courier" pitchFamily="2" charset="0"/>
              </a:rPr>
              <a:t>  .</a:t>
            </a:r>
            <a:r>
              <a:rPr lang="en-US" sz="1000" dirty="0" err="1">
                <a:latin typeface="Courier" pitchFamily="2" charset="0"/>
              </a:rPr>
              <a:t>mkdir</a:t>
            </a:r>
            <a:r>
              <a:rPr lang="en-US" sz="1000" dirty="0">
                <a:latin typeface="Courier" pitchFamily="2" charset="0"/>
              </a:rPr>
              <a:t>	= ext2_mkdir,</a:t>
            </a:r>
          </a:p>
          <a:p>
            <a:r>
              <a:rPr lang="en-US" sz="1000" dirty="0">
                <a:latin typeface="Courier" pitchFamily="2" charset="0"/>
              </a:rPr>
              <a:t>  .</a:t>
            </a:r>
            <a:r>
              <a:rPr lang="en-US" sz="1000" dirty="0" err="1">
                <a:latin typeface="Courier" pitchFamily="2" charset="0"/>
              </a:rPr>
              <a:t>rmdir</a:t>
            </a:r>
            <a:r>
              <a:rPr lang="en-US" sz="1000" dirty="0">
                <a:latin typeface="Courier" pitchFamily="2" charset="0"/>
              </a:rPr>
              <a:t>	= ext2_rmdir,</a:t>
            </a:r>
          </a:p>
          <a:p>
            <a:r>
              <a:rPr lang="zh-CN" altLang="en-US" sz="1000" dirty="0">
                <a:latin typeface="Courier" pitchFamily="2" charset="0"/>
              </a:rPr>
              <a:t>  </a:t>
            </a:r>
            <a:r>
              <a:rPr lang="en-US" altLang="zh-CN" sz="1000" dirty="0">
                <a:latin typeface="Courier" pitchFamily="2" charset="0"/>
              </a:rPr>
              <a:t>...</a:t>
            </a:r>
            <a:endParaRPr lang="en-US" sz="1000" dirty="0">
              <a:latin typeface="Courier" pitchFamily="2" charset="0"/>
            </a:endParaRPr>
          </a:p>
          <a:p>
            <a:r>
              <a:rPr lang="en-US" sz="1000" dirty="0">
                <a:latin typeface="Courier" pitchFamily="2" charset="0"/>
              </a:rPr>
              <a:t>};</a:t>
            </a:r>
          </a:p>
        </p:txBody>
      </p:sp>
      <p:sp>
        <p:nvSpPr>
          <p:cNvPr id="14" name="Content Placeholder 2">
            <a:extLst>
              <a:ext uri="{FF2B5EF4-FFF2-40B4-BE49-F238E27FC236}">
                <a16:creationId xmlns:a16="http://schemas.microsoft.com/office/drawing/2014/main" id="{3C9B5481-42F4-FD4F-B557-93CD18DB693B}"/>
              </a:ext>
            </a:extLst>
          </p:cNvPr>
          <p:cNvSpPr txBox="1">
            <a:spLocks/>
          </p:cNvSpPr>
          <p:nvPr/>
        </p:nvSpPr>
        <p:spPr>
          <a:xfrm>
            <a:off x="457200" y="3408596"/>
            <a:ext cx="8229600" cy="385008"/>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CN" altLang="zh-CN" sz="1400" b="0" dirty="0"/>
              <a:t>Ext</a:t>
            </a:r>
            <a:r>
              <a:rPr lang="en-US" altLang="zh-CN" sz="1400" b="0" dirty="0"/>
              <a:t>2</a:t>
            </a:r>
            <a:r>
              <a:rPr lang="zh-CN" altLang="en-US" sz="1400" b="0" dirty="0"/>
              <a:t>对这些接口的实现</a:t>
            </a:r>
            <a:endParaRPr lang="en-US" altLang="zh-CN" sz="1400" b="0" dirty="0"/>
          </a:p>
        </p:txBody>
      </p:sp>
      <p:sp>
        <p:nvSpPr>
          <p:cNvPr id="5" name="Slide Number Placeholder 4">
            <a:extLst>
              <a:ext uri="{FF2B5EF4-FFF2-40B4-BE49-F238E27FC236}">
                <a16:creationId xmlns:a16="http://schemas.microsoft.com/office/drawing/2014/main" id="{7644EBE8-2404-3748-8C6D-CA0B67DF5FFF}"/>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Tree>
    <p:extLst>
      <p:ext uri="{BB962C8B-B14F-4D97-AF65-F5344CB8AC3E}">
        <p14:creationId xmlns:p14="http://schemas.microsoft.com/office/powerpoint/2010/main" val="380557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619127-24F1-944D-A81E-FA352EBE2AE1}"/>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E61696BC-BAE8-724C-B3CA-B54309C2A83B}"/>
              </a:ext>
            </a:extLst>
          </p:cNvPr>
          <p:cNvSpPr>
            <a:spLocks noGrp="1"/>
          </p:cNvSpPr>
          <p:nvPr>
            <p:ph idx="1"/>
          </p:nvPr>
        </p:nvSpPr>
        <p:spPr/>
        <p:txBody>
          <a:bodyPr/>
          <a:lstStyle/>
          <a:p>
            <a:r>
              <a:rPr kumimoji="1" lang="en-US" altLang="zh-CN" dirty="0"/>
              <a:t>FAT</a:t>
            </a:r>
            <a:r>
              <a:rPr kumimoji="1" lang="zh-CN" altLang="en-US" dirty="0"/>
              <a:t>没有</a:t>
            </a:r>
            <a:r>
              <a:rPr kumimoji="1" lang="en-US" altLang="zh-CN" dirty="0" err="1"/>
              <a:t>inode</a:t>
            </a:r>
            <a:r>
              <a:rPr kumimoji="1" lang="zh-CN" altLang="en-US" dirty="0"/>
              <a:t>，如何挂载到</a:t>
            </a:r>
            <a:r>
              <a:rPr kumimoji="1" lang="en-US" altLang="zh-CN" dirty="0"/>
              <a:t>VFS</a:t>
            </a:r>
            <a:r>
              <a:rPr kumimoji="1" lang="zh-CN" altLang="en-US" dirty="0"/>
              <a:t>？</a:t>
            </a:r>
            <a:endParaRPr kumimoji="1" lang="en-US" altLang="zh-CN" dirty="0"/>
          </a:p>
          <a:p>
            <a:pPr lvl="1"/>
            <a:r>
              <a:rPr kumimoji="1" lang="en-US" altLang="zh-CN" dirty="0"/>
              <a:t>VFS</a:t>
            </a:r>
            <a:r>
              <a:rPr kumimoji="1" lang="zh-CN" altLang="en-US" dirty="0"/>
              <a:t>层对上提供的接口，每个文件都有一个</a:t>
            </a:r>
            <a:r>
              <a:rPr kumimoji="1" lang="en-US" altLang="zh-CN" dirty="0" err="1"/>
              <a:t>inode</a:t>
            </a:r>
            <a:endParaRPr kumimoji="1" lang="en-US" altLang="zh-CN" dirty="0"/>
          </a:p>
          <a:p>
            <a:pPr lvl="1"/>
            <a:r>
              <a:rPr kumimoji="1" lang="en-US" altLang="zh-CN" dirty="0"/>
              <a:t>FAT</a:t>
            </a:r>
            <a:r>
              <a:rPr kumimoji="1" lang="zh-CN" altLang="en-US" dirty="0"/>
              <a:t>的</a:t>
            </a:r>
            <a:r>
              <a:rPr kumimoji="1" lang="en-US" altLang="zh-CN" dirty="0" err="1"/>
              <a:t>inode</a:t>
            </a:r>
            <a:r>
              <a:rPr kumimoji="1" lang="zh-CN" altLang="en-US" dirty="0"/>
              <a:t>从哪里来？</a:t>
            </a:r>
            <a:endParaRPr kumimoji="1" lang="en-US" altLang="zh-CN" dirty="0"/>
          </a:p>
          <a:p>
            <a:pPr lvl="1"/>
            <a:endParaRPr kumimoji="1" lang="en-US" altLang="zh-CN" dirty="0"/>
          </a:p>
          <a:p>
            <a:r>
              <a:rPr kumimoji="1" lang="en-US" altLang="zh-CN" dirty="0"/>
              <a:t>FAT</a:t>
            </a:r>
            <a:r>
              <a:rPr kumimoji="1" lang="zh-CN" altLang="en-US" dirty="0"/>
              <a:t>的驱动需要提供</a:t>
            </a:r>
            <a:r>
              <a:rPr kumimoji="1" lang="en-US" altLang="zh-CN" dirty="0" err="1"/>
              <a:t>inode</a:t>
            </a:r>
            <a:endParaRPr kumimoji="1" lang="en-US" altLang="zh-CN" dirty="0"/>
          </a:p>
          <a:p>
            <a:pPr lvl="1"/>
            <a:r>
              <a:rPr kumimoji="1" lang="zh-CN" altLang="en-US" dirty="0"/>
              <a:t>磁盘上的</a:t>
            </a:r>
            <a:r>
              <a:rPr kumimoji="1" lang="en-US" altLang="zh-CN" dirty="0"/>
              <a:t>FAT</a:t>
            </a:r>
            <a:r>
              <a:rPr kumimoji="1" lang="zh-CN" altLang="en-US" dirty="0"/>
              <a:t>并没有</a:t>
            </a:r>
            <a:r>
              <a:rPr kumimoji="1" lang="en-US" altLang="zh-CN" dirty="0" err="1"/>
              <a:t>inode</a:t>
            </a:r>
            <a:r>
              <a:rPr kumimoji="1" lang="zh-CN" altLang="en-US" dirty="0"/>
              <a:t>：硬盘上的数据结构</a:t>
            </a:r>
            <a:endParaRPr kumimoji="1" lang="en-US" altLang="zh-CN" dirty="0"/>
          </a:p>
          <a:p>
            <a:pPr lvl="1"/>
            <a:r>
              <a:rPr kumimoji="1" lang="zh-CN" altLang="en-US" dirty="0"/>
              <a:t>内存中的</a:t>
            </a:r>
            <a:r>
              <a:rPr kumimoji="1" lang="en-US" altLang="zh-CN" dirty="0"/>
              <a:t>VFS</a:t>
            </a:r>
            <a:r>
              <a:rPr kumimoji="1" lang="zh-CN" altLang="en-US" dirty="0"/>
              <a:t>需要</a:t>
            </a:r>
            <a:r>
              <a:rPr kumimoji="1" lang="en-US" altLang="zh-CN" dirty="0" err="1"/>
              <a:t>inode</a:t>
            </a:r>
            <a:r>
              <a:rPr kumimoji="1" lang="zh-CN" altLang="en-US" dirty="0"/>
              <a:t>：只在内存中的数据结构</a:t>
            </a:r>
            <a:endParaRPr kumimoji="1" lang="en-US" altLang="zh-CN" dirty="0"/>
          </a:p>
        </p:txBody>
      </p:sp>
      <p:sp>
        <p:nvSpPr>
          <p:cNvPr id="4" name="灯片编号占位符 3">
            <a:extLst>
              <a:ext uri="{FF2B5EF4-FFF2-40B4-BE49-F238E27FC236}">
                <a16:creationId xmlns:a16="http://schemas.microsoft.com/office/drawing/2014/main" id="{33138F6D-5F39-E645-BBD6-0AEDED3B89B9}"/>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页脚占位符 4">
            <a:extLst>
              <a:ext uri="{FF2B5EF4-FFF2-40B4-BE49-F238E27FC236}">
                <a16:creationId xmlns:a16="http://schemas.microsoft.com/office/drawing/2014/main" id="{D7BA2DDC-3442-BD46-AD1E-9CDDB648158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055689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2A09B11-384A-6B4E-A5FB-C70A6B2F95B8}"/>
              </a:ext>
            </a:extLst>
          </p:cNvPr>
          <p:cNvSpPr>
            <a:spLocks noGrp="1"/>
          </p:cNvSpPr>
          <p:nvPr>
            <p:ph type="title"/>
          </p:nvPr>
        </p:nvSpPr>
        <p:spPr/>
        <p:txBody>
          <a:bodyPr/>
          <a:lstStyle/>
          <a:p>
            <a:r>
              <a:rPr kumimoji="1" lang="zh-CN" altLang="en-US" dirty="0"/>
              <a:t>存储结构与缓存</a:t>
            </a:r>
          </a:p>
        </p:txBody>
      </p:sp>
      <p:sp>
        <p:nvSpPr>
          <p:cNvPr id="7" name="文本占位符 6">
            <a:extLst>
              <a:ext uri="{FF2B5EF4-FFF2-40B4-BE49-F238E27FC236}">
                <a16:creationId xmlns:a16="http://schemas.microsoft.com/office/drawing/2014/main" id="{BE3E83D4-7116-DA44-A1F5-E7BE53CDF815}"/>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1C272811-93B4-2947-9AE9-58C2F811D698}"/>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页脚占位符 4">
            <a:extLst>
              <a:ext uri="{FF2B5EF4-FFF2-40B4-BE49-F238E27FC236}">
                <a16:creationId xmlns:a16="http://schemas.microsoft.com/office/drawing/2014/main" id="{D2D72FFA-1FE3-C345-BA4B-162CCA44117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599538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95E9049-C54D-6E41-8752-7F40A98ADF0F}"/>
              </a:ext>
            </a:extLst>
          </p:cNvPr>
          <p:cNvPicPr>
            <a:picLocks noChangeAspect="1"/>
          </p:cNvPicPr>
          <p:nvPr/>
        </p:nvPicPr>
        <p:blipFill>
          <a:blip r:embed="rId2"/>
          <a:stretch>
            <a:fillRect/>
          </a:stretch>
        </p:blipFill>
        <p:spPr>
          <a:xfrm>
            <a:off x="3203848" y="1129308"/>
            <a:ext cx="4885476" cy="3294528"/>
          </a:xfrm>
          <a:prstGeom prst="rect">
            <a:avLst/>
          </a:prstGeom>
        </p:spPr>
      </p:pic>
      <p:sp>
        <p:nvSpPr>
          <p:cNvPr id="2" name="Title 1">
            <a:extLst>
              <a:ext uri="{FF2B5EF4-FFF2-40B4-BE49-F238E27FC236}">
                <a16:creationId xmlns:a16="http://schemas.microsoft.com/office/drawing/2014/main" id="{C81851F1-F032-7141-B079-A34FD92D3FE3}"/>
              </a:ext>
            </a:extLst>
          </p:cNvPr>
          <p:cNvSpPr>
            <a:spLocks noGrp="1"/>
          </p:cNvSpPr>
          <p:nvPr>
            <p:ph type="title"/>
          </p:nvPr>
        </p:nvSpPr>
        <p:spPr/>
        <p:txBody>
          <a:bodyPr/>
          <a:lstStyle/>
          <a:p>
            <a:r>
              <a:rPr lang="zh-CN" altLang="en-US" dirty="0"/>
              <a:t>页</a:t>
            </a:r>
            <a:r>
              <a:rPr lang="zh-CN" altLang="en-CN" dirty="0"/>
              <a:t>缓存</a:t>
            </a:r>
            <a:r>
              <a:rPr lang="zh-CN" altLang="en-US" dirty="0"/>
              <a:t>（</a:t>
            </a:r>
            <a:r>
              <a:rPr lang="en-US" altLang="zh-CN" dirty="0"/>
              <a:t>Page</a:t>
            </a:r>
            <a:r>
              <a:rPr lang="zh-CN" altLang="en-US" dirty="0"/>
              <a:t> </a:t>
            </a:r>
            <a:r>
              <a:rPr lang="en-US" altLang="zh-CN" dirty="0"/>
              <a:t>Cache</a:t>
            </a:r>
            <a:r>
              <a:rPr lang="zh-CN" altLang="en-US" dirty="0"/>
              <a:t>）</a:t>
            </a:r>
            <a:endParaRPr lang="en-CN" dirty="0"/>
          </a:p>
        </p:txBody>
      </p:sp>
      <p:sp>
        <p:nvSpPr>
          <p:cNvPr id="3" name="Content Placeholder 2">
            <a:extLst>
              <a:ext uri="{FF2B5EF4-FFF2-40B4-BE49-F238E27FC236}">
                <a16:creationId xmlns:a16="http://schemas.microsoft.com/office/drawing/2014/main" id="{1382988B-33FD-F341-9677-9776F2E52755}"/>
              </a:ext>
            </a:extLst>
          </p:cNvPr>
          <p:cNvSpPr>
            <a:spLocks noGrp="1"/>
          </p:cNvSpPr>
          <p:nvPr>
            <p:ph idx="1"/>
          </p:nvPr>
        </p:nvSpPr>
        <p:spPr/>
        <p:txBody>
          <a:bodyPr>
            <a:normAutofit/>
          </a:bodyPr>
          <a:lstStyle/>
          <a:p>
            <a:endParaRPr lang="en-US" altLang="zh-CN" sz="2000" b="0" dirty="0"/>
          </a:p>
          <a:p>
            <a:r>
              <a:rPr lang="zh-CN" altLang="en-US" sz="2000" b="0" dirty="0"/>
              <a:t>存储访问非常耗时</a:t>
            </a:r>
            <a:endParaRPr lang="en-US" altLang="zh-CN" sz="2000" b="0" dirty="0"/>
          </a:p>
          <a:p>
            <a:pPr marL="0" indent="0">
              <a:buNone/>
            </a:pPr>
            <a:endParaRPr lang="en-US" altLang="zh-CN" sz="2000" b="0" dirty="0"/>
          </a:p>
          <a:p>
            <a:endParaRPr lang="en-US" altLang="zh-CN" sz="2000" b="0" dirty="0"/>
          </a:p>
          <a:p>
            <a:pPr marL="0" indent="0">
              <a:buNone/>
            </a:pPr>
            <a:endParaRPr lang="en-US" altLang="zh-CN" sz="2000" b="0" dirty="0"/>
          </a:p>
          <a:p>
            <a:r>
              <a:rPr lang="zh-CN" altLang="en-US" sz="2000" b="0" dirty="0"/>
              <a:t>文件访问具有时间局部性</a:t>
            </a:r>
            <a:endParaRPr lang="en-US" altLang="zh-CN" sz="2000" b="0" dirty="0"/>
          </a:p>
          <a:p>
            <a:pPr lvl="1"/>
            <a:r>
              <a:rPr lang="zh-CN" altLang="en-US" sz="1600" dirty="0"/>
              <a:t>一些目录</a:t>
            </a:r>
            <a:r>
              <a:rPr lang="en-US" altLang="zh-CN" sz="1600" dirty="0"/>
              <a:t>/</a:t>
            </a:r>
            <a:r>
              <a:rPr lang="zh-CN" altLang="en-US" sz="1600" dirty="0"/>
              <a:t>文件的数据块会被频繁的读取或写入</a:t>
            </a:r>
            <a:endParaRPr lang="en-US" altLang="zh-CN" sz="1600" dirty="0"/>
          </a:p>
        </p:txBody>
      </p:sp>
      <p:sp>
        <p:nvSpPr>
          <p:cNvPr id="4" name="Footer Placeholder 3">
            <a:extLst>
              <a:ext uri="{FF2B5EF4-FFF2-40B4-BE49-F238E27FC236}">
                <a16:creationId xmlns:a16="http://schemas.microsoft.com/office/drawing/2014/main" id="{2D875407-ED19-EB46-AF7F-74B81D84D2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77E9B99-39E9-3E4E-9C3D-E2946C7C3FB0}"/>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19" name="TextBox 18">
            <a:extLst>
              <a:ext uri="{FF2B5EF4-FFF2-40B4-BE49-F238E27FC236}">
                <a16:creationId xmlns:a16="http://schemas.microsoft.com/office/drawing/2014/main" id="{2E70EFAF-B8A1-AE42-AD9D-382171E8B6A0}"/>
              </a:ext>
            </a:extLst>
          </p:cNvPr>
          <p:cNvSpPr txBox="1"/>
          <p:nvPr/>
        </p:nvSpPr>
        <p:spPr>
          <a:xfrm>
            <a:off x="29728" y="5482225"/>
            <a:ext cx="5048177" cy="261610"/>
          </a:xfrm>
          <a:prstGeom prst="rect">
            <a:avLst/>
          </a:prstGeom>
          <a:noFill/>
        </p:spPr>
        <p:txBody>
          <a:bodyPr wrap="none" rtlCol="0">
            <a:spAutoFit/>
          </a:bodyPr>
          <a:lstStyle/>
          <a:p>
            <a:r>
              <a:rPr lang="en-US" sz="1100" dirty="0"/>
              <a:t>https://</a:t>
            </a:r>
            <a:r>
              <a:rPr lang="en-US" sz="1100" dirty="0" err="1"/>
              <a:t>colin-scott.github.io</a:t>
            </a:r>
            <a:r>
              <a:rPr lang="en-US" sz="1100" dirty="0"/>
              <a:t>/</a:t>
            </a:r>
            <a:r>
              <a:rPr lang="en-US" sz="1100" dirty="0" err="1"/>
              <a:t>personal_website</a:t>
            </a:r>
            <a:r>
              <a:rPr lang="en-US" sz="1100" dirty="0"/>
              <a:t>/research/</a:t>
            </a:r>
            <a:r>
              <a:rPr lang="en-US" sz="1100" dirty="0" err="1"/>
              <a:t>interactive_latency.html</a:t>
            </a:r>
            <a:endParaRPr lang="en-CN" sz="1100" dirty="0"/>
          </a:p>
        </p:txBody>
      </p:sp>
      <p:sp>
        <p:nvSpPr>
          <p:cNvPr id="20" name="Rounded Rectangle 19">
            <a:extLst>
              <a:ext uri="{FF2B5EF4-FFF2-40B4-BE49-F238E27FC236}">
                <a16:creationId xmlns:a16="http://schemas.microsoft.com/office/drawing/2014/main" id="{56407D27-40F3-6A4B-A52B-B30045648104}"/>
              </a:ext>
            </a:extLst>
          </p:cNvPr>
          <p:cNvSpPr/>
          <p:nvPr/>
        </p:nvSpPr>
        <p:spPr>
          <a:xfrm>
            <a:off x="3923928" y="1129308"/>
            <a:ext cx="1584176" cy="432048"/>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21" name="Rounded Rectangle 20">
            <a:extLst>
              <a:ext uri="{FF2B5EF4-FFF2-40B4-BE49-F238E27FC236}">
                <a16:creationId xmlns:a16="http://schemas.microsoft.com/office/drawing/2014/main" id="{9D83C5D6-F840-F445-8C60-0F9E6C55FFFE}"/>
              </a:ext>
            </a:extLst>
          </p:cNvPr>
          <p:cNvSpPr/>
          <p:nvPr/>
        </p:nvSpPr>
        <p:spPr>
          <a:xfrm>
            <a:off x="6300192" y="1602127"/>
            <a:ext cx="1584176" cy="432048"/>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Tree>
    <p:extLst>
      <p:ext uri="{BB962C8B-B14F-4D97-AF65-F5344CB8AC3E}">
        <p14:creationId xmlns:p14="http://schemas.microsoft.com/office/powerpoint/2010/main" val="4172533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851F1-F032-7141-B079-A34FD92D3FE3}"/>
              </a:ext>
            </a:extLst>
          </p:cNvPr>
          <p:cNvSpPr>
            <a:spLocks noGrp="1"/>
          </p:cNvSpPr>
          <p:nvPr>
            <p:ph type="title"/>
          </p:nvPr>
        </p:nvSpPr>
        <p:spPr/>
        <p:txBody>
          <a:bodyPr/>
          <a:lstStyle/>
          <a:p>
            <a:r>
              <a:rPr lang="zh-CN" altLang="en-US" dirty="0"/>
              <a:t>页</a:t>
            </a:r>
            <a:r>
              <a:rPr lang="zh-CN" altLang="en-CN" dirty="0"/>
              <a:t>缓存</a:t>
            </a:r>
            <a:endParaRPr lang="en-CN" dirty="0"/>
          </a:p>
        </p:txBody>
      </p:sp>
      <p:sp>
        <p:nvSpPr>
          <p:cNvPr id="3" name="Content Placeholder 2">
            <a:extLst>
              <a:ext uri="{FF2B5EF4-FFF2-40B4-BE49-F238E27FC236}">
                <a16:creationId xmlns:a16="http://schemas.microsoft.com/office/drawing/2014/main" id="{1382988B-33FD-F341-9677-9776F2E52755}"/>
              </a:ext>
            </a:extLst>
          </p:cNvPr>
          <p:cNvSpPr>
            <a:spLocks noGrp="1"/>
          </p:cNvSpPr>
          <p:nvPr>
            <p:ph idx="1"/>
          </p:nvPr>
        </p:nvSpPr>
        <p:spPr/>
        <p:txBody>
          <a:bodyPr>
            <a:normAutofit/>
          </a:bodyPr>
          <a:lstStyle/>
          <a:p>
            <a:r>
              <a:rPr lang="zh-CN" altLang="en-US" sz="2000" b="0" dirty="0"/>
              <a:t>通过</a:t>
            </a:r>
            <a:r>
              <a:rPr lang="zh-CN" altLang="en-US" sz="2000" dirty="0"/>
              <a:t>缓存</a:t>
            </a:r>
            <a:r>
              <a:rPr lang="zh-CN" altLang="en-US" sz="2000" b="0" dirty="0"/>
              <a:t>提升文件系统性能</a:t>
            </a:r>
            <a:endParaRPr lang="en-US" altLang="zh-CN" sz="2000" b="0" dirty="0"/>
          </a:p>
          <a:p>
            <a:pPr lvl="1"/>
            <a:r>
              <a:rPr lang="zh-CN" altLang="en-US" sz="1600" dirty="0"/>
              <a:t>在一个块被读入内存并被访问完成后，并不立即回收内存</a:t>
            </a:r>
            <a:endParaRPr lang="en-US" altLang="zh-CN" sz="1600" dirty="0"/>
          </a:p>
          <a:p>
            <a:pPr lvl="2"/>
            <a:r>
              <a:rPr lang="zh-CN" altLang="en-US" sz="1600" b="0" dirty="0"/>
              <a:t>将块数据暂时缓存在内存中，下一次被访问时可以避免磁盘读取</a:t>
            </a:r>
            <a:endParaRPr lang="en-US" altLang="zh-CN" sz="1600" b="0" dirty="0"/>
          </a:p>
          <a:p>
            <a:pPr lvl="1"/>
            <a:r>
              <a:rPr lang="zh-CN" altLang="en-US" sz="1600" dirty="0"/>
              <a:t>在一个块被修改后，并不立即</a:t>
            </a:r>
            <a:r>
              <a:rPr lang="zh-CN" altLang="en-CN" sz="1600" dirty="0"/>
              <a:t>将</a:t>
            </a:r>
            <a:r>
              <a:rPr lang="zh-CN" altLang="en-US" sz="1600" dirty="0"/>
              <a:t>其写回设备</a:t>
            </a:r>
            <a:endParaRPr lang="en-US" altLang="zh-CN" sz="1600" dirty="0"/>
          </a:p>
          <a:p>
            <a:pPr lvl="2"/>
            <a:r>
              <a:rPr lang="zh-CN" altLang="en-US" sz="1600" dirty="0"/>
              <a:t>将块数据暂时留在内存中，此后对于该数据块的写可直接修改在此内存中</a:t>
            </a:r>
            <a:endParaRPr lang="en-US" altLang="zh-CN" sz="1600" dirty="0"/>
          </a:p>
          <a:p>
            <a:pPr lvl="1"/>
            <a:r>
              <a:rPr lang="zh-CN" altLang="en-US" sz="1600" dirty="0"/>
              <a:t>定期或在用户要求时才将数据写回设备</a:t>
            </a:r>
            <a:endParaRPr lang="en-CN" sz="1600" b="0" dirty="0"/>
          </a:p>
        </p:txBody>
      </p:sp>
      <p:sp>
        <p:nvSpPr>
          <p:cNvPr id="4" name="Footer Placeholder 3">
            <a:extLst>
              <a:ext uri="{FF2B5EF4-FFF2-40B4-BE49-F238E27FC236}">
                <a16:creationId xmlns:a16="http://schemas.microsoft.com/office/drawing/2014/main" id="{2D875407-ED19-EB46-AF7F-74B81D84D2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77E9B99-39E9-3E4E-9C3D-E2946C7C3FB0}"/>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grpSp>
        <p:nvGrpSpPr>
          <p:cNvPr id="16" name="Group 15">
            <a:extLst>
              <a:ext uri="{FF2B5EF4-FFF2-40B4-BE49-F238E27FC236}">
                <a16:creationId xmlns:a16="http://schemas.microsoft.com/office/drawing/2014/main" id="{4BBAC7C0-8D91-9C44-A2CB-3739F13221A4}"/>
              </a:ext>
            </a:extLst>
          </p:cNvPr>
          <p:cNvGrpSpPr/>
          <p:nvPr/>
        </p:nvGrpSpPr>
        <p:grpSpPr>
          <a:xfrm>
            <a:off x="4258033" y="3528487"/>
            <a:ext cx="4394447" cy="1706023"/>
            <a:chOff x="3601849" y="3096037"/>
            <a:chExt cx="5218623" cy="2025987"/>
          </a:xfrm>
        </p:grpSpPr>
        <p:sp>
          <p:nvSpPr>
            <p:cNvPr id="6" name="Oval 5">
              <a:extLst>
                <a:ext uri="{FF2B5EF4-FFF2-40B4-BE49-F238E27FC236}">
                  <a16:creationId xmlns:a16="http://schemas.microsoft.com/office/drawing/2014/main" id="{E6615266-BD78-E04D-B222-23A3FACBAE75}"/>
                </a:ext>
              </a:extLst>
            </p:cNvPr>
            <p:cNvSpPr/>
            <p:nvPr/>
          </p:nvSpPr>
          <p:spPr>
            <a:xfrm>
              <a:off x="5364088" y="3687490"/>
              <a:ext cx="1296144" cy="79208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400" dirty="0"/>
                <a:t>干净</a:t>
              </a:r>
              <a:r>
                <a:rPr lang="zh-CN" altLang="en-US" sz="1400" dirty="0"/>
                <a:t>页</a:t>
              </a:r>
              <a:endParaRPr lang="en-CN" sz="1400" dirty="0"/>
            </a:p>
          </p:txBody>
        </p:sp>
        <p:sp>
          <p:nvSpPr>
            <p:cNvPr id="7" name="Oval 6">
              <a:extLst>
                <a:ext uri="{FF2B5EF4-FFF2-40B4-BE49-F238E27FC236}">
                  <a16:creationId xmlns:a16="http://schemas.microsoft.com/office/drawing/2014/main" id="{AAE586D8-CD66-4E42-A107-9BAB13A3665B}"/>
                </a:ext>
              </a:extLst>
            </p:cNvPr>
            <p:cNvSpPr/>
            <p:nvPr/>
          </p:nvSpPr>
          <p:spPr>
            <a:xfrm>
              <a:off x="7524328" y="3687490"/>
              <a:ext cx="1296144" cy="792088"/>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400" dirty="0"/>
                <a:t>脏</a:t>
              </a:r>
              <a:r>
                <a:rPr lang="zh-CN" altLang="en-US" sz="1400" dirty="0"/>
                <a:t>页</a:t>
              </a:r>
              <a:endParaRPr lang="en-CN" sz="1400" dirty="0"/>
            </a:p>
          </p:txBody>
        </p:sp>
        <p:cxnSp>
          <p:nvCxnSpPr>
            <p:cNvPr id="8" name="Straight Arrow Connector 7">
              <a:extLst>
                <a:ext uri="{FF2B5EF4-FFF2-40B4-BE49-F238E27FC236}">
                  <a16:creationId xmlns:a16="http://schemas.microsoft.com/office/drawing/2014/main" id="{95E7C82A-6D3B-3243-9B10-4CAA5486AFA1}"/>
                </a:ext>
              </a:extLst>
            </p:cNvPr>
            <p:cNvCxnSpPr>
              <a:cxnSpLocks/>
              <a:endCxn id="6" idx="1"/>
            </p:cNvCxnSpPr>
            <p:nvPr/>
          </p:nvCxnSpPr>
          <p:spPr>
            <a:xfrm>
              <a:off x="4442068" y="3527394"/>
              <a:ext cx="1111836" cy="27609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39F4D41-2840-6E41-B977-BD32D14BD37D}"/>
                </a:ext>
              </a:extLst>
            </p:cNvPr>
            <p:cNvSpPr txBox="1"/>
            <p:nvPr/>
          </p:nvSpPr>
          <p:spPr>
            <a:xfrm>
              <a:off x="3601849" y="3105963"/>
              <a:ext cx="2351382" cy="365500"/>
            </a:xfrm>
            <a:prstGeom prst="rect">
              <a:avLst/>
            </a:prstGeom>
            <a:noFill/>
          </p:spPr>
          <p:txBody>
            <a:bodyPr wrap="none" rtlCol="0">
              <a:spAutoFit/>
            </a:bodyPr>
            <a:lstStyle/>
            <a:p>
              <a:r>
                <a:rPr lang="zh-CN" altLang="en-CN" sz="1400" dirty="0"/>
                <a:t>块</a:t>
              </a:r>
              <a:r>
                <a:rPr lang="zh-CN" altLang="en-US" sz="1400" dirty="0"/>
                <a:t>数据被从设备中读取</a:t>
              </a:r>
              <a:endParaRPr lang="en-CN" sz="1400" dirty="0"/>
            </a:p>
          </p:txBody>
        </p:sp>
        <p:cxnSp>
          <p:nvCxnSpPr>
            <p:cNvPr id="10" name="Straight Arrow Connector 14">
              <a:extLst>
                <a:ext uri="{FF2B5EF4-FFF2-40B4-BE49-F238E27FC236}">
                  <a16:creationId xmlns:a16="http://schemas.microsoft.com/office/drawing/2014/main" id="{9921ACA9-11B6-CE46-BF79-023D1042FE29}"/>
                </a:ext>
              </a:extLst>
            </p:cNvPr>
            <p:cNvCxnSpPr>
              <a:cxnSpLocks/>
              <a:stCxn id="6" idx="7"/>
              <a:endCxn id="7" idx="1"/>
            </p:cNvCxnSpPr>
            <p:nvPr/>
          </p:nvCxnSpPr>
          <p:spPr>
            <a:xfrm rot="5400000" flipH="1" flipV="1">
              <a:off x="7092280" y="3181625"/>
              <a:ext cx="12700" cy="1243728"/>
            </a:xfrm>
            <a:prstGeom prst="curvedConnector3">
              <a:avLst>
                <a:gd name="adj1" fmla="val 2713378"/>
              </a:avLst>
            </a:prstGeom>
            <a:ln w="317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5D3204B-1E80-9242-A20E-FAFD66E57B2F}"/>
                </a:ext>
              </a:extLst>
            </p:cNvPr>
            <p:cNvSpPr txBox="1"/>
            <p:nvPr/>
          </p:nvSpPr>
          <p:spPr>
            <a:xfrm>
              <a:off x="6429217" y="3096037"/>
              <a:ext cx="1285342" cy="365500"/>
            </a:xfrm>
            <a:prstGeom prst="rect">
              <a:avLst/>
            </a:prstGeom>
            <a:noFill/>
          </p:spPr>
          <p:txBody>
            <a:bodyPr wrap="none" rtlCol="0">
              <a:spAutoFit/>
            </a:bodyPr>
            <a:lstStyle/>
            <a:p>
              <a:r>
                <a:rPr lang="zh-CN" altLang="en-US" sz="1400" dirty="0"/>
                <a:t>数据被修改</a:t>
              </a:r>
              <a:endParaRPr lang="en-CN" sz="1400" dirty="0"/>
            </a:p>
          </p:txBody>
        </p:sp>
        <p:sp>
          <p:nvSpPr>
            <p:cNvPr id="12" name="TextBox 11">
              <a:extLst>
                <a:ext uri="{FF2B5EF4-FFF2-40B4-BE49-F238E27FC236}">
                  <a16:creationId xmlns:a16="http://schemas.microsoft.com/office/drawing/2014/main" id="{323F7414-517E-F24F-898D-939D0170CF50}"/>
                </a:ext>
              </a:extLst>
            </p:cNvPr>
            <p:cNvSpPr txBox="1"/>
            <p:nvPr/>
          </p:nvSpPr>
          <p:spPr>
            <a:xfrm>
              <a:off x="6377955" y="4756524"/>
              <a:ext cx="1711757" cy="365500"/>
            </a:xfrm>
            <a:prstGeom prst="rect">
              <a:avLst/>
            </a:prstGeom>
            <a:noFill/>
          </p:spPr>
          <p:txBody>
            <a:bodyPr wrap="none" rtlCol="0">
              <a:spAutoFit/>
            </a:bodyPr>
            <a:lstStyle/>
            <a:p>
              <a:r>
                <a:rPr lang="zh-CN" altLang="en-CN" sz="1400" dirty="0"/>
                <a:t>数据</a:t>
              </a:r>
              <a:r>
                <a:rPr lang="zh-CN" altLang="en-US" sz="1400" dirty="0"/>
                <a:t>被写回设备</a:t>
              </a:r>
              <a:endParaRPr lang="en-CN" sz="1400" dirty="0"/>
            </a:p>
          </p:txBody>
        </p:sp>
        <p:sp>
          <p:nvSpPr>
            <p:cNvPr id="13" name="TextBox 12">
              <a:extLst>
                <a:ext uri="{FF2B5EF4-FFF2-40B4-BE49-F238E27FC236}">
                  <a16:creationId xmlns:a16="http://schemas.microsoft.com/office/drawing/2014/main" id="{A7CDB204-BAD6-544E-8582-3594C0F88952}"/>
                </a:ext>
              </a:extLst>
            </p:cNvPr>
            <p:cNvSpPr txBox="1"/>
            <p:nvPr/>
          </p:nvSpPr>
          <p:spPr>
            <a:xfrm>
              <a:off x="3832681" y="4720953"/>
              <a:ext cx="2138174" cy="365500"/>
            </a:xfrm>
            <a:prstGeom prst="rect">
              <a:avLst/>
            </a:prstGeom>
            <a:noFill/>
          </p:spPr>
          <p:txBody>
            <a:bodyPr wrap="none" rtlCol="0">
              <a:spAutoFit/>
            </a:bodyPr>
            <a:lstStyle/>
            <a:p>
              <a:r>
                <a:rPr lang="zh-CN" altLang="en-US" sz="1400" dirty="0"/>
                <a:t>页被回收，空间释放</a:t>
              </a:r>
              <a:endParaRPr lang="en-CN" sz="1400" dirty="0"/>
            </a:p>
          </p:txBody>
        </p:sp>
        <p:cxnSp>
          <p:nvCxnSpPr>
            <p:cNvPr id="14" name="Straight Arrow Connector 14">
              <a:extLst>
                <a:ext uri="{FF2B5EF4-FFF2-40B4-BE49-F238E27FC236}">
                  <a16:creationId xmlns:a16="http://schemas.microsoft.com/office/drawing/2014/main" id="{A07E89DF-FD66-4D40-B33C-BB79E07032CE}"/>
                </a:ext>
              </a:extLst>
            </p:cNvPr>
            <p:cNvCxnSpPr>
              <a:cxnSpLocks/>
              <a:stCxn id="7" idx="3"/>
              <a:endCxn id="6" idx="5"/>
            </p:cNvCxnSpPr>
            <p:nvPr/>
          </p:nvCxnSpPr>
          <p:spPr>
            <a:xfrm rot="5400000">
              <a:off x="7092280" y="3741715"/>
              <a:ext cx="12700" cy="1243728"/>
            </a:xfrm>
            <a:prstGeom prst="curvedConnector3">
              <a:avLst>
                <a:gd name="adj1" fmla="val 2713378"/>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92B83E7-D445-E648-AC10-7E808BE0B4F4}"/>
                </a:ext>
              </a:extLst>
            </p:cNvPr>
            <p:cNvCxnSpPr>
              <a:cxnSpLocks/>
              <a:stCxn id="6" idx="3"/>
            </p:cNvCxnSpPr>
            <p:nvPr/>
          </p:nvCxnSpPr>
          <p:spPr>
            <a:xfrm flipH="1">
              <a:off x="4499992" y="4363579"/>
              <a:ext cx="1053912" cy="28329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CA054561-8C37-374F-A61B-CADDE16407C7}"/>
              </a:ext>
            </a:extLst>
          </p:cNvPr>
          <p:cNvSpPr txBox="1"/>
          <p:nvPr/>
        </p:nvSpPr>
        <p:spPr>
          <a:xfrm>
            <a:off x="443850" y="4195324"/>
            <a:ext cx="4570482" cy="369332"/>
          </a:xfrm>
          <a:prstGeom prst="rect">
            <a:avLst/>
          </a:prstGeom>
          <a:noFill/>
        </p:spPr>
        <p:txBody>
          <a:bodyPr wrap="none" rtlCol="0">
            <a:spAutoFit/>
          </a:bodyPr>
          <a:lstStyle/>
          <a:p>
            <a:r>
              <a:rPr lang="zh-CN" altLang="en-US" dirty="0">
                <a:solidFill>
                  <a:srgbClr val="C00000"/>
                </a:solidFill>
              </a:rPr>
              <a:t>问题：数据不及时写回，会造成什么问题？</a:t>
            </a:r>
          </a:p>
        </p:txBody>
      </p:sp>
    </p:spTree>
    <p:extLst>
      <p:ext uri="{BB962C8B-B14F-4D97-AF65-F5344CB8AC3E}">
        <p14:creationId xmlns:p14="http://schemas.microsoft.com/office/powerpoint/2010/main" val="3043976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4903-B09F-9A4B-828F-F712498C7617}"/>
              </a:ext>
            </a:extLst>
          </p:cNvPr>
          <p:cNvSpPr>
            <a:spLocks noGrp="1"/>
          </p:cNvSpPr>
          <p:nvPr>
            <p:ph type="title"/>
          </p:nvPr>
        </p:nvSpPr>
        <p:spPr/>
        <p:txBody>
          <a:bodyPr/>
          <a:lstStyle/>
          <a:p>
            <a:r>
              <a:rPr lang="zh-CN" altLang="en-US" dirty="0"/>
              <a:t>页缓存之外</a:t>
            </a:r>
            <a:endParaRPr lang="en-CN" dirty="0"/>
          </a:p>
        </p:txBody>
      </p:sp>
      <p:sp>
        <p:nvSpPr>
          <p:cNvPr id="4" name="Footer Placeholder 3">
            <a:extLst>
              <a:ext uri="{FF2B5EF4-FFF2-40B4-BE49-F238E27FC236}">
                <a16:creationId xmlns:a16="http://schemas.microsoft.com/office/drawing/2014/main" id="{6E42ECD1-9ECE-D849-BC22-DBE71319585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108" name="Content Placeholder 2">
            <a:extLst>
              <a:ext uri="{FF2B5EF4-FFF2-40B4-BE49-F238E27FC236}">
                <a16:creationId xmlns:a16="http://schemas.microsoft.com/office/drawing/2014/main" id="{7549AB39-4036-1743-8C24-082300C9512C}"/>
              </a:ext>
            </a:extLst>
          </p:cNvPr>
          <p:cNvSpPr>
            <a:spLocks noGrp="1"/>
          </p:cNvSpPr>
          <p:nvPr>
            <p:ph idx="1"/>
          </p:nvPr>
        </p:nvSpPr>
        <p:spPr>
          <a:xfrm>
            <a:off x="457200" y="1333501"/>
            <a:ext cx="8229600" cy="3771636"/>
          </a:xfrm>
        </p:spPr>
        <p:txBody>
          <a:bodyPr>
            <a:normAutofit/>
          </a:bodyPr>
          <a:lstStyle/>
          <a:p>
            <a:pPr marL="0" indent="0">
              <a:buNone/>
            </a:pPr>
            <a:r>
              <a:rPr lang="zh-CN" altLang="en-US" sz="2000" b="0" dirty="0"/>
              <a:t>存储中的每个数据结构，在内存中均有对应的结构</a:t>
            </a:r>
            <a:endParaRPr lang="en-US" altLang="zh-CN" sz="2000" b="0" dirty="0"/>
          </a:p>
          <a:p>
            <a:r>
              <a:rPr lang="zh-CN" altLang="en-US" sz="1800" b="0" dirty="0"/>
              <a:t>存储的数据页：页缓存中的内存页</a:t>
            </a:r>
            <a:endParaRPr lang="en-US" altLang="zh-CN" sz="1800" b="0" dirty="0"/>
          </a:p>
          <a:p>
            <a:r>
              <a:rPr lang="zh-CN" altLang="en-US" sz="1800" b="0" dirty="0"/>
              <a:t>存储中的</a:t>
            </a:r>
            <a:r>
              <a:rPr lang="en-US" altLang="zh-CN" sz="1800" b="0" dirty="0" err="1"/>
              <a:t>inode</a:t>
            </a:r>
            <a:r>
              <a:rPr lang="zh-CN" altLang="en-US" sz="1800" b="0" dirty="0"/>
              <a:t>：</a:t>
            </a:r>
            <a:r>
              <a:rPr lang="en-US" altLang="zh-CN" sz="1800" b="0" dirty="0" err="1"/>
              <a:t>icache</a:t>
            </a:r>
            <a:r>
              <a:rPr lang="zh-CN" altLang="en-US" sz="1800" b="0" dirty="0"/>
              <a:t>中的</a:t>
            </a:r>
            <a:r>
              <a:rPr lang="en-US" altLang="zh-CN" sz="1800" b="0" dirty="0" err="1"/>
              <a:t>inode</a:t>
            </a:r>
            <a:endParaRPr lang="en-US" altLang="zh-CN" sz="1800" b="0" dirty="0"/>
          </a:p>
          <a:p>
            <a:r>
              <a:rPr lang="zh-CN" altLang="en-US" sz="1800" b="0" dirty="0"/>
              <a:t>存储中的目录项：</a:t>
            </a:r>
            <a:r>
              <a:rPr lang="en-US" altLang="zh-CN" sz="1800" b="0" dirty="0" err="1"/>
              <a:t>dcache</a:t>
            </a:r>
            <a:r>
              <a:rPr lang="zh-CN" altLang="en-US" sz="1800" b="0" dirty="0"/>
              <a:t>中的目录项</a:t>
            </a:r>
            <a:endParaRPr lang="en-US" altLang="zh-CN" sz="1800" b="0" dirty="0"/>
          </a:p>
          <a:p>
            <a:r>
              <a:rPr lang="zh-CN" altLang="en-US" sz="1800" b="0" dirty="0"/>
              <a:t>存储中的超级块：内存中的超级块结构</a:t>
            </a:r>
            <a:endParaRPr lang="en-US" altLang="zh-CN" sz="1800" b="0" dirty="0"/>
          </a:p>
          <a:p>
            <a:r>
              <a:rPr lang="zh-CN" altLang="en-US" sz="1800" b="0" dirty="0"/>
              <a:t>存储中的分配表：内存中的分配器</a:t>
            </a:r>
            <a:endParaRPr lang="en-US" altLang="zh-CN" sz="1800" b="0" dirty="0"/>
          </a:p>
        </p:txBody>
      </p:sp>
      <p:sp>
        <p:nvSpPr>
          <p:cNvPr id="3" name="Slide Number Placeholder 2">
            <a:extLst>
              <a:ext uri="{FF2B5EF4-FFF2-40B4-BE49-F238E27FC236}">
                <a16:creationId xmlns:a16="http://schemas.microsoft.com/office/drawing/2014/main" id="{52C017DA-30A8-1A4C-9F58-656DF29F870F}"/>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6" name="TextBox 5">
            <a:extLst>
              <a:ext uri="{FF2B5EF4-FFF2-40B4-BE49-F238E27FC236}">
                <a16:creationId xmlns:a16="http://schemas.microsoft.com/office/drawing/2014/main" id="{5762B771-52A5-DA42-AE1F-77966DDDE6CF}"/>
              </a:ext>
            </a:extLst>
          </p:cNvPr>
          <p:cNvSpPr txBox="1"/>
          <p:nvPr/>
        </p:nvSpPr>
        <p:spPr>
          <a:xfrm>
            <a:off x="3885486" y="4212315"/>
            <a:ext cx="4801314" cy="646331"/>
          </a:xfrm>
          <a:prstGeom prst="rect">
            <a:avLst/>
          </a:prstGeom>
          <a:noFill/>
        </p:spPr>
        <p:txBody>
          <a:bodyPr wrap="none" rtlCol="0">
            <a:spAutoFit/>
          </a:bodyPr>
          <a:lstStyle/>
          <a:p>
            <a:r>
              <a:rPr lang="zh-CN" altLang="en-US" dirty="0">
                <a:solidFill>
                  <a:srgbClr val="C00000"/>
                </a:solidFill>
              </a:rPr>
              <a:t>问题：为什么要为每个结构设计单独的缓存？</a:t>
            </a:r>
            <a:endParaRPr lang="en-US" altLang="zh-CN" dirty="0">
              <a:solidFill>
                <a:srgbClr val="C00000"/>
              </a:solidFill>
            </a:endParaRPr>
          </a:p>
          <a:p>
            <a:r>
              <a:rPr lang="zh-CN" altLang="en-US" dirty="0">
                <a:solidFill>
                  <a:srgbClr val="C00000"/>
                </a:solidFill>
              </a:rPr>
              <a:t>能否只使用页缓存？</a:t>
            </a:r>
          </a:p>
        </p:txBody>
      </p:sp>
    </p:spTree>
    <p:extLst>
      <p:ext uri="{BB962C8B-B14F-4D97-AF65-F5344CB8AC3E}">
        <p14:creationId xmlns:p14="http://schemas.microsoft.com/office/powerpoint/2010/main" val="75981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4903-B09F-9A4B-828F-F712498C7617}"/>
              </a:ext>
            </a:extLst>
          </p:cNvPr>
          <p:cNvSpPr>
            <a:spLocks noGrp="1"/>
          </p:cNvSpPr>
          <p:nvPr>
            <p:ph type="title"/>
          </p:nvPr>
        </p:nvSpPr>
        <p:spPr/>
        <p:txBody>
          <a:bodyPr/>
          <a:lstStyle/>
          <a:p>
            <a:r>
              <a:rPr lang="zh-CN" altLang="en-CN" dirty="0"/>
              <a:t>内存</a:t>
            </a:r>
            <a:r>
              <a:rPr lang="zh-CN" altLang="en-US" dirty="0"/>
              <a:t>与存储结构</a:t>
            </a:r>
            <a:endParaRPr lang="en-CN" dirty="0"/>
          </a:p>
        </p:txBody>
      </p:sp>
      <p:sp>
        <p:nvSpPr>
          <p:cNvPr id="4" name="Footer Placeholder 3">
            <a:extLst>
              <a:ext uri="{FF2B5EF4-FFF2-40B4-BE49-F238E27FC236}">
                <a16:creationId xmlns:a16="http://schemas.microsoft.com/office/drawing/2014/main" id="{6E42ECD1-9ECE-D849-BC22-DBE71319585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5" name="Group 4">
            <a:extLst>
              <a:ext uri="{FF2B5EF4-FFF2-40B4-BE49-F238E27FC236}">
                <a16:creationId xmlns:a16="http://schemas.microsoft.com/office/drawing/2014/main" id="{76131F82-7D59-DD4A-8AE4-3EB28D943546}"/>
              </a:ext>
            </a:extLst>
          </p:cNvPr>
          <p:cNvGrpSpPr/>
          <p:nvPr/>
        </p:nvGrpSpPr>
        <p:grpSpPr>
          <a:xfrm>
            <a:off x="1820924" y="3694099"/>
            <a:ext cx="6208325" cy="1611671"/>
            <a:chOff x="1571562" y="3379096"/>
            <a:chExt cx="7104198" cy="1844240"/>
          </a:xfrm>
        </p:grpSpPr>
        <p:sp>
          <p:nvSpPr>
            <p:cNvPr id="6" name="Rectangle 5">
              <a:extLst>
                <a:ext uri="{FF2B5EF4-FFF2-40B4-BE49-F238E27FC236}">
                  <a16:creationId xmlns:a16="http://schemas.microsoft.com/office/drawing/2014/main" id="{03FA417D-A5E7-E247-A747-7AA3E729C18A}"/>
                </a:ext>
              </a:extLst>
            </p:cNvPr>
            <p:cNvSpPr/>
            <p:nvPr/>
          </p:nvSpPr>
          <p:spPr>
            <a:xfrm>
              <a:off x="3601631"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zh-CN" sz="600" dirty="0"/>
            </a:p>
          </p:txBody>
        </p:sp>
        <p:sp>
          <p:nvSpPr>
            <p:cNvPr id="7" name="Rectangle 6">
              <a:extLst>
                <a:ext uri="{FF2B5EF4-FFF2-40B4-BE49-F238E27FC236}">
                  <a16:creationId xmlns:a16="http://schemas.microsoft.com/office/drawing/2014/main" id="{2DAAEDC6-FB89-704C-AB91-5FC3E976DBB5}"/>
                </a:ext>
              </a:extLst>
            </p:cNvPr>
            <p:cNvSpPr/>
            <p:nvPr/>
          </p:nvSpPr>
          <p:spPr>
            <a:xfrm>
              <a:off x="4026233"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endParaRPr lang="en-US" altLang="zh-CN" sz="600" dirty="0">
                <a:solidFill>
                  <a:srgbClr val="000000"/>
                </a:solidFill>
              </a:endParaRPr>
            </a:p>
          </p:txBody>
        </p:sp>
        <p:sp>
          <p:nvSpPr>
            <p:cNvPr id="8" name="Rectangle 7">
              <a:extLst>
                <a:ext uri="{FF2B5EF4-FFF2-40B4-BE49-F238E27FC236}">
                  <a16:creationId xmlns:a16="http://schemas.microsoft.com/office/drawing/2014/main" id="{DDE896F4-93B6-4A4F-A562-6381047D9052}"/>
                </a:ext>
              </a:extLst>
            </p:cNvPr>
            <p:cNvSpPr/>
            <p:nvPr/>
          </p:nvSpPr>
          <p:spPr>
            <a:xfrm>
              <a:off x="4450835"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endParaRPr lang="en-US" altLang="zh-CN" sz="600" dirty="0">
                <a:solidFill>
                  <a:srgbClr val="000000"/>
                </a:solidFill>
              </a:endParaRPr>
            </a:p>
          </p:txBody>
        </p:sp>
        <p:sp>
          <p:nvSpPr>
            <p:cNvPr id="9" name="Rectangle 8">
              <a:extLst>
                <a:ext uri="{FF2B5EF4-FFF2-40B4-BE49-F238E27FC236}">
                  <a16:creationId xmlns:a16="http://schemas.microsoft.com/office/drawing/2014/main" id="{E720D690-6856-3E40-9EC0-0A42588BC1E1}"/>
                </a:ext>
              </a:extLst>
            </p:cNvPr>
            <p:cNvSpPr/>
            <p:nvPr/>
          </p:nvSpPr>
          <p:spPr>
            <a:xfrm>
              <a:off x="2332280"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0" name="Rectangle 9">
              <a:extLst>
                <a:ext uri="{FF2B5EF4-FFF2-40B4-BE49-F238E27FC236}">
                  <a16:creationId xmlns:a16="http://schemas.microsoft.com/office/drawing/2014/main" id="{0D9F936B-FECC-3649-84AF-42450451AC23}"/>
                </a:ext>
              </a:extLst>
            </p:cNvPr>
            <p:cNvSpPr/>
            <p:nvPr/>
          </p:nvSpPr>
          <p:spPr>
            <a:xfrm>
              <a:off x="2756882"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 name="Rectangle 10">
              <a:extLst>
                <a:ext uri="{FF2B5EF4-FFF2-40B4-BE49-F238E27FC236}">
                  <a16:creationId xmlns:a16="http://schemas.microsoft.com/office/drawing/2014/main" id="{C4CBD544-333A-074F-AA3D-8D3A1927A060}"/>
                </a:ext>
              </a:extLst>
            </p:cNvPr>
            <p:cNvSpPr/>
            <p:nvPr/>
          </p:nvSpPr>
          <p:spPr>
            <a:xfrm>
              <a:off x="3181484"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2" name="Rectangle 11">
              <a:extLst>
                <a:ext uri="{FF2B5EF4-FFF2-40B4-BE49-F238E27FC236}">
                  <a16:creationId xmlns:a16="http://schemas.microsoft.com/office/drawing/2014/main" id="{7C91257A-6B36-684B-9F2A-30ED28216C3A}"/>
                </a:ext>
              </a:extLst>
            </p:cNvPr>
            <p:cNvSpPr/>
            <p:nvPr/>
          </p:nvSpPr>
          <p:spPr>
            <a:xfrm>
              <a:off x="1912133" y="4024896"/>
              <a:ext cx="424602" cy="4857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200"/>
            </a:p>
          </p:txBody>
        </p:sp>
        <p:sp>
          <p:nvSpPr>
            <p:cNvPr id="13" name="Rectangle 12">
              <a:extLst>
                <a:ext uri="{FF2B5EF4-FFF2-40B4-BE49-F238E27FC236}">
                  <a16:creationId xmlns:a16="http://schemas.microsoft.com/office/drawing/2014/main" id="{5B734A67-BF23-E940-9759-E69237581315}"/>
                </a:ext>
              </a:extLst>
            </p:cNvPr>
            <p:cNvSpPr/>
            <p:nvPr/>
          </p:nvSpPr>
          <p:spPr>
            <a:xfrm>
              <a:off x="6157160"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4" name="Rectangle 13">
              <a:extLst>
                <a:ext uri="{FF2B5EF4-FFF2-40B4-BE49-F238E27FC236}">
                  <a16:creationId xmlns:a16="http://schemas.microsoft.com/office/drawing/2014/main" id="{9BBE8CA2-A056-2943-B0B0-745CCC1AD660}"/>
                </a:ext>
              </a:extLst>
            </p:cNvPr>
            <p:cNvSpPr/>
            <p:nvPr/>
          </p:nvSpPr>
          <p:spPr>
            <a:xfrm>
              <a:off x="7401954"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5" name="Rectangle 14">
              <a:extLst>
                <a:ext uri="{FF2B5EF4-FFF2-40B4-BE49-F238E27FC236}">
                  <a16:creationId xmlns:a16="http://schemas.microsoft.com/office/drawing/2014/main" id="{BD55FCB7-73F5-C94E-8263-32B919E4FEBC}"/>
                </a:ext>
              </a:extLst>
            </p:cNvPr>
            <p:cNvSpPr/>
            <p:nvPr/>
          </p:nvSpPr>
          <p:spPr>
            <a:xfrm>
              <a:off x="7826556"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6" name="Rectangle 15">
              <a:extLst>
                <a:ext uri="{FF2B5EF4-FFF2-40B4-BE49-F238E27FC236}">
                  <a16:creationId xmlns:a16="http://schemas.microsoft.com/office/drawing/2014/main" id="{695948A0-05FB-1146-BE60-F3D7CDD91880}"/>
                </a:ext>
              </a:extLst>
            </p:cNvPr>
            <p:cNvSpPr/>
            <p:nvPr/>
          </p:nvSpPr>
          <p:spPr>
            <a:xfrm>
              <a:off x="8251158"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7" name="Rectangle 16">
              <a:extLst>
                <a:ext uri="{FF2B5EF4-FFF2-40B4-BE49-F238E27FC236}">
                  <a16:creationId xmlns:a16="http://schemas.microsoft.com/office/drawing/2014/main" id="{4484B6E2-AFBB-F340-BC46-EC78CFAD850C}"/>
                </a:ext>
              </a:extLst>
            </p:cNvPr>
            <p:cNvSpPr/>
            <p:nvPr/>
          </p:nvSpPr>
          <p:spPr>
            <a:xfrm>
              <a:off x="4879378"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8" name="Rectangle 17">
              <a:extLst>
                <a:ext uri="{FF2B5EF4-FFF2-40B4-BE49-F238E27FC236}">
                  <a16:creationId xmlns:a16="http://schemas.microsoft.com/office/drawing/2014/main" id="{A7FD8DC9-2297-DD4C-A7A5-FD1996915DF4}"/>
                </a:ext>
              </a:extLst>
            </p:cNvPr>
            <p:cNvSpPr/>
            <p:nvPr/>
          </p:nvSpPr>
          <p:spPr>
            <a:xfrm>
              <a:off x="5728582"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9" name="TextBox 18">
              <a:extLst>
                <a:ext uri="{FF2B5EF4-FFF2-40B4-BE49-F238E27FC236}">
                  <a16:creationId xmlns:a16="http://schemas.microsoft.com/office/drawing/2014/main" id="{3A5B879B-A8BD-F04B-ADB8-5B3BAA53A995}"/>
                </a:ext>
              </a:extLst>
            </p:cNvPr>
            <p:cNvSpPr txBox="1"/>
            <p:nvPr/>
          </p:nvSpPr>
          <p:spPr>
            <a:xfrm>
              <a:off x="6741237" y="4018081"/>
              <a:ext cx="504804" cy="457847"/>
            </a:xfrm>
            <a:prstGeom prst="rect">
              <a:avLst/>
            </a:prstGeom>
            <a:noFill/>
          </p:spPr>
          <p:txBody>
            <a:bodyPr wrap="none" rtlCol="0">
              <a:spAutoFit/>
            </a:bodyPr>
            <a:lstStyle/>
            <a:p>
              <a:r>
                <a:rPr lang="en-US" altLang="zh-CN" sz="2000" b="1" dirty="0"/>
                <a:t>…</a:t>
              </a:r>
              <a:endParaRPr lang="en-CN" sz="2000" b="1" dirty="0"/>
            </a:p>
          </p:txBody>
        </p:sp>
        <p:sp>
          <p:nvSpPr>
            <p:cNvPr id="20" name="Right Brace 19">
              <a:extLst>
                <a:ext uri="{FF2B5EF4-FFF2-40B4-BE49-F238E27FC236}">
                  <a16:creationId xmlns:a16="http://schemas.microsoft.com/office/drawing/2014/main" id="{00D644A9-A1A5-2B47-8078-1D202792BAA8}"/>
                </a:ext>
              </a:extLst>
            </p:cNvPr>
            <p:cNvSpPr/>
            <p:nvPr/>
          </p:nvSpPr>
          <p:spPr>
            <a:xfrm rot="5400000">
              <a:off x="4716599" y="3457517"/>
              <a:ext cx="311115" cy="253875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1" name="Right Brace 20">
              <a:extLst>
                <a:ext uri="{FF2B5EF4-FFF2-40B4-BE49-F238E27FC236}">
                  <a16:creationId xmlns:a16="http://schemas.microsoft.com/office/drawing/2014/main" id="{D1FF28BF-F60B-BD4C-B9F3-C8B8D7B3AD80}"/>
                </a:ext>
              </a:extLst>
            </p:cNvPr>
            <p:cNvSpPr/>
            <p:nvPr/>
          </p:nvSpPr>
          <p:spPr>
            <a:xfrm rot="5400000">
              <a:off x="7258407" y="3470091"/>
              <a:ext cx="311115" cy="2513612"/>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2" name="TextBox 21">
              <a:extLst>
                <a:ext uri="{FF2B5EF4-FFF2-40B4-BE49-F238E27FC236}">
                  <a16:creationId xmlns:a16="http://schemas.microsoft.com/office/drawing/2014/main" id="{77A9BFB7-F494-D543-990A-B9927C571990}"/>
                </a:ext>
              </a:extLst>
            </p:cNvPr>
            <p:cNvSpPr txBox="1"/>
            <p:nvPr/>
          </p:nvSpPr>
          <p:spPr>
            <a:xfrm>
              <a:off x="4513645" y="4879512"/>
              <a:ext cx="814805" cy="316971"/>
            </a:xfrm>
            <a:prstGeom prst="rect">
              <a:avLst/>
            </a:prstGeom>
            <a:noFill/>
          </p:spPr>
          <p:txBody>
            <a:bodyPr wrap="none" rtlCol="0">
              <a:spAutoFit/>
            </a:bodyPr>
            <a:lstStyle/>
            <a:p>
              <a:r>
                <a:rPr lang="en-US" altLang="zh-CN" sz="1200" dirty="0" err="1"/>
                <a:t>inode</a:t>
              </a:r>
              <a:r>
                <a:rPr lang="zh-CN" altLang="en-US" sz="1200" dirty="0"/>
                <a:t>表</a:t>
              </a:r>
              <a:endParaRPr lang="en-CN" sz="1200" dirty="0"/>
            </a:p>
          </p:txBody>
        </p:sp>
        <p:sp>
          <p:nvSpPr>
            <p:cNvPr id="24" name="TextBox 23">
              <a:extLst>
                <a:ext uri="{FF2B5EF4-FFF2-40B4-BE49-F238E27FC236}">
                  <a16:creationId xmlns:a16="http://schemas.microsoft.com/office/drawing/2014/main" id="{810E7FA6-FBB0-A74A-9381-81071EAA0D80}"/>
                </a:ext>
              </a:extLst>
            </p:cNvPr>
            <p:cNvSpPr txBox="1"/>
            <p:nvPr/>
          </p:nvSpPr>
          <p:spPr>
            <a:xfrm>
              <a:off x="1571562" y="4906365"/>
              <a:ext cx="1166995" cy="316971"/>
            </a:xfrm>
            <a:prstGeom prst="rect">
              <a:avLst/>
            </a:prstGeom>
            <a:noFill/>
          </p:spPr>
          <p:txBody>
            <a:bodyPr wrap="none" rtlCol="0">
              <a:spAutoFit/>
            </a:bodyPr>
            <a:lstStyle/>
            <a:p>
              <a:r>
                <a:rPr lang="en-US" altLang="zh-CN" sz="1200" dirty="0" err="1"/>
                <a:t>inode</a:t>
              </a:r>
              <a:r>
                <a:rPr lang="zh-CN" altLang="en-US" sz="1200" dirty="0"/>
                <a:t>分配表</a:t>
              </a:r>
              <a:endParaRPr lang="en-CN" sz="1200" dirty="0"/>
            </a:p>
          </p:txBody>
        </p:sp>
        <p:sp>
          <p:nvSpPr>
            <p:cNvPr id="25" name="TextBox 24">
              <a:extLst>
                <a:ext uri="{FF2B5EF4-FFF2-40B4-BE49-F238E27FC236}">
                  <a16:creationId xmlns:a16="http://schemas.microsoft.com/office/drawing/2014/main" id="{B72A9424-A12F-B349-916C-EE54A72413D2}"/>
                </a:ext>
              </a:extLst>
            </p:cNvPr>
            <p:cNvSpPr txBox="1"/>
            <p:nvPr/>
          </p:nvSpPr>
          <p:spPr>
            <a:xfrm>
              <a:off x="2812815" y="4902439"/>
              <a:ext cx="915692" cy="316971"/>
            </a:xfrm>
            <a:prstGeom prst="rect">
              <a:avLst/>
            </a:prstGeom>
            <a:noFill/>
          </p:spPr>
          <p:txBody>
            <a:bodyPr wrap="none" rtlCol="0">
              <a:spAutoFit/>
            </a:bodyPr>
            <a:lstStyle/>
            <a:p>
              <a:r>
                <a:rPr lang="zh-CN" altLang="en-US" sz="1200" dirty="0"/>
                <a:t>块分配表</a:t>
              </a:r>
              <a:endParaRPr lang="en-CN" sz="1200" dirty="0"/>
            </a:p>
          </p:txBody>
        </p:sp>
        <p:sp>
          <p:nvSpPr>
            <p:cNvPr id="26" name="Right Brace 25">
              <a:extLst>
                <a:ext uri="{FF2B5EF4-FFF2-40B4-BE49-F238E27FC236}">
                  <a16:creationId xmlns:a16="http://schemas.microsoft.com/office/drawing/2014/main" id="{02ADD920-2F31-A845-B20E-CFA8B31CCD25}"/>
                </a:ext>
              </a:extLst>
            </p:cNvPr>
            <p:cNvSpPr/>
            <p:nvPr/>
          </p:nvSpPr>
          <p:spPr>
            <a:xfrm rot="5400000">
              <a:off x="3023698" y="4314434"/>
              <a:ext cx="311115" cy="844749"/>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7" name="Right Brace 26">
              <a:extLst>
                <a:ext uri="{FF2B5EF4-FFF2-40B4-BE49-F238E27FC236}">
                  <a16:creationId xmlns:a16="http://schemas.microsoft.com/office/drawing/2014/main" id="{42170C4B-A7F9-7644-AFEA-7A74426C2792}"/>
                </a:ext>
              </a:extLst>
            </p:cNvPr>
            <p:cNvSpPr/>
            <p:nvPr/>
          </p:nvSpPr>
          <p:spPr>
            <a:xfrm rot="5400000">
              <a:off x="2385081" y="4521450"/>
              <a:ext cx="311115" cy="424603"/>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8" name="TextBox 27">
              <a:extLst>
                <a:ext uri="{FF2B5EF4-FFF2-40B4-BE49-F238E27FC236}">
                  <a16:creationId xmlns:a16="http://schemas.microsoft.com/office/drawing/2014/main" id="{1D9D78A7-A1B1-994F-918A-6478D76209D1}"/>
                </a:ext>
              </a:extLst>
            </p:cNvPr>
            <p:cNvSpPr txBox="1"/>
            <p:nvPr/>
          </p:nvSpPr>
          <p:spPr>
            <a:xfrm>
              <a:off x="7045171" y="4880710"/>
              <a:ext cx="739598" cy="316971"/>
            </a:xfrm>
            <a:prstGeom prst="rect">
              <a:avLst/>
            </a:prstGeom>
            <a:noFill/>
          </p:spPr>
          <p:txBody>
            <a:bodyPr wrap="none" rtlCol="0">
              <a:spAutoFit/>
            </a:bodyPr>
            <a:lstStyle/>
            <a:p>
              <a:r>
                <a:rPr lang="zh-CN" altLang="en-US" sz="1200" dirty="0"/>
                <a:t>数据区</a:t>
              </a:r>
              <a:endParaRPr lang="en-CN" sz="1200" dirty="0"/>
            </a:p>
          </p:txBody>
        </p:sp>
        <p:sp>
          <p:nvSpPr>
            <p:cNvPr id="29" name="Right Brace 28">
              <a:extLst>
                <a:ext uri="{FF2B5EF4-FFF2-40B4-BE49-F238E27FC236}">
                  <a16:creationId xmlns:a16="http://schemas.microsoft.com/office/drawing/2014/main" id="{96AD9D6A-8D90-3543-877B-EED2E6268611}"/>
                </a:ext>
              </a:extLst>
            </p:cNvPr>
            <p:cNvSpPr/>
            <p:nvPr/>
          </p:nvSpPr>
          <p:spPr>
            <a:xfrm rot="5400000" flipH="1">
              <a:off x="1980015" y="3661361"/>
              <a:ext cx="302764" cy="410675"/>
            </a:xfrm>
            <a:prstGeom prst="rightBrace">
              <a:avLst>
                <a:gd name="adj1" fmla="val 34720"/>
                <a:gd name="adj2" fmla="val 4490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30" name="TextBox 29">
              <a:extLst>
                <a:ext uri="{FF2B5EF4-FFF2-40B4-BE49-F238E27FC236}">
                  <a16:creationId xmlns:a16="http://schemas.microsoft.com/office/drawing/2014/main" id="{6A090BF7-0548-C745-817C-5469BEC9F78B}"/>
                </a:ext>
              </a:extLst>
            </p:cNvPr>
            <p:cNvSpPr txBox="1"/>
            <p:nvPr/>
          </p:nvSpPr>
          <p:spPr>
            <a:xfrm>
              <a:off x="1938049" y="3379096"/>
              <a:ext cx="739598" cy="316971"/>
            </a:xfrm>
            <a:prstGeom prst="rect">
              <a:avLst/>
            </a:prstGeom>
            <a:noFill/>
          </p:spPr>
          <p:txBody>
            <a:bodyPr wrap="none" rtlCol="0">
              <a:spAutoFit/>
            </a:bodyPr>
            <a:lstStyle/>
            <a:p>
              <a:r>
                <a:rPr lang="zh-CN" altLang="en-US" sz="1200" dirty="0"/>
                <a:t>超级块</a:t>
              </a:r>
              <a:endParaRPr lang="en-CN" sz="1200" dirty="0"/>
            </a:p>
          </p:txBody>
        </p:sp>
      </p:grpSp>
      <p:sp>
        <p:nvSpPr>
          <p:cNvPr id="32" name="TextBox 31">
            <a:extLst>
              <a:ext uri="{FF2B5EF4-FFF2-40B4-BE49-F238E27FC236}">
                <a16:creationId xmlns:a16="http://schemas.microsoft.com/office/drawing/2014/main" id="{4B27FA58-91EC-124B-A804-76599B8E23B2}"/>
              </a:ext>
            </a:extLst>
          </p:cNvPr>
          <p:cNvSpPr txBox="1"/>
          <p:nvPr/>
        </p:nvSpPr>
        <p:spPr>
          <a:xfrm>
            <a:off x="5093765" y="4252505"/>
            <a:ext cx="441146" cy="400110"/>
          </a:xfrm>
          <a:prstGeom prst="rect">
            <a:avLst/>
          </a:prstGeom>
          <a:noFill/>
        </p:spPr>
        <p:txBody>
          <a:bodyPr wrap="none" rtlCol="0">
            <a:spAutoFit/>
          </a:bodyPr>
          <a:lstStyle/>
          <a:p>
            <a:r>
              <a:rPr lang="en-US" altLang="zh-CN" sz="2000" b="1" dirty="0"/>
              <a:t>…</a:t>
            </a:r>
            <a:endParaRPr lang="en-CN" sz="2000" b="1" dirty="0"/>
          </a:p>
        </p:txBody>
      </p:sp>
      <p:sp>
        <p:nvSpPr>
          <p:cNvPr id="34" name="TextBox 33">
            <a:extLst>
              <a:ext uri="{FF2B5EF4-FFF2-40B4-BE49-F238E27FC236}">
                <a16:creationId xmlns:a16="http://schemas.microsoft.com/office/drawing/2014/main" id="{214F7D1F-082B-AF41-BF3F-34CBF65EC5FC}"/>
              </a:ext>
            </a:extLst>
          </p:cNvPr>
          <p:cNvSpPr txBox="1"/>
          <p:nvPr/>
        </p:nvSpPr>
        <p:spPr>
          <a:xfrm>
            <a:off x="795647" y="2636575"/>
            <a:ext cx="646331" cy="369332"/>
          </a:xfrm>
          <a:prstGeom prst="rect">
            <a:avLst/>
          </a:prstGeom>
          <a:noFill/>
        </p:spPr>
        <p:txBody>
          <a:bodyPr wrap="none" rtlCol="0">
            <a:spAutoFit/>
          </a:bodyPr>
          <a:lstStyle/>
          <a:p>
            <a:r>
              <a:rPr lang="zh-CN" altLang="en-CN" dirty="0"/>
              <a:t>内存</a:t>
            </a:r>
            <a:endParaRPr lang="en-CN" dirty="0"/>
          </a:p>
        </p:txBody>
      </p:sp>
      <p:cxnSp>
        <p:nvCxnSpPr>
          <p:cNvPr id="36" name="Straight Connector 35">
            <a:extLst>
              <a:ext uri="{FF2B5EF4-FFF2-40B4-BE49-F238E27FC236}">
                <a16:creationId xmlns:a16="http://schemas.microsoft.com/office/drawing/2014/main" id="{2508C517-EA7D-F74B-83F4-76492BA5D24C}"/>
              </a:ext>
            </a:extLst>
          </p:cNvPr>
          <p:cNvCxnSpPr/>
          <p:nvPr/>
        </p:nvCxnSpPr>
        <p:spPr>
          <a:xfrm>
            <a:off x="557639" y="3658983"/>
            <a:ext cx="814705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E721E4C-65E8-F945-ACA5-721EAFDE0707}"/>
              </a:ext>
            </a:extLst>
          </p:cNvPr>
          <p:cNvSpPr txBox="1"/>
          <p:nvPr/>
        </p:nvSpPr>
        <p:spPr>
          <a:xfrm>
            <a:off x="1534444" y="2185419"/>
            <a:ext cx="877163" cy="369332"/>
          </a:xfrm>
          <a:prstGeom prst="rect">
            <a:avLst/>
          </a:prstGeom>
          <a:noFill/>
        </p:spPr>
        <p:txBody>
          <a:bodyPr wrap="none" rtlCol="0">
            <a:spAutoFit/>
          </a:bodyPr>
          <a:lstStyle/>
          <a:p>
            <a:r>
              <a:rPr lang="zh-CN" altLang="en-CN" dirty="0"/>
              <a:t>超级块</a:t>
            </a:r>
            <a:endParaRPr lang="en-CN" dirty="0"/>
          </a:p>
        </p:txBody>
      </p:sp>
      <p:sp>
        <p:nvSpPr>
          <p:cNvPr id="38" name="TextBox 37">
            <a:extLst>
              <a:ext uri="{FF2B5EF4-FFF2-40B4-BE49-F238E27FC236}">
                <a16:creationId xmlns:a16="http://schemas.microsoft.com/office/drawing/2014/main" id="{BF7EB638-2BB3-1146-8F79-71FDB93F0091}"/>
              </a:ext>
            </a:extLst>
          </p:cNvPr>
          <p:cNvSpPr txBox="1"/>
          <p:nvPr/>
        </p:nvSpPr>
        <p:spPr>
          <a:xfrm>
            <a:off x="2410936" y="2258350"/>
            <a:ext cx="877163" cy="369332"/>
          </a:xfrm>
          <a:prstGeom prst="rect">
            <a:avLst/>
          </a:prstGeom>
          <a:noFill/>
        </p:spPr>
        <p:txBody>
          <a:bodyPr wrap="none" rtlCol="0">
            <a:spAutoFit/>
          </a:bodyPr>
          <a:lstStyle/>
          <a:p>
            <a:r>
              <a:rPr lang="zh-CN" altLang="en-US" dirty="0"/>
              <a:t>分配器</a:t>
            </a:r>
            <a:endParaRPr lang="en-CN" dirty="0"/>
          </a:p>
        </p:txBody>
      </p:sp>
      <p:sp>
        <p:nvSpPr>
          <p:cNvPr id="39" name="TextBox 38">
            <a:extLst>
              <a:ext uri="{FF2B5EF4-FFF2-40B4-BE49-F238E27FC236}">
                <a16:creationId xmlns:a16="http://schemas.microsoft.com/office/drawing/2014/main" id="{8E8C324C-CD45-374A-9B03-A3004A7ABA72}"/>
              </a:ext>
            </a:extLst>
          </p:cNvPr>
          <p:cNvSpPr txBox="1"/>
          <p:nvPr/>
        </p:nvSpPr>
        <p:spPr>
          <a:xfrm>
            <a:off x="5265079" y="2143427"/>
            <a:ext cx="748923" cy="369332"/>
          </a:xfrm>
          <a:prstGeom prst="rect">
            <a:avLst/>
          </a:prstGeom>
          <a:noFill/>
        </p:spPr>
        <p:txBody>
          <a:bodyPr wrap="none" rtlCol="0">
            <a:spAutoFit/>
          </a:bodyPr>
          <a:lstStyle/>
          <a:p>
            <a:r>
              <a:rPr lang="en-US" altLang="zh-CN" dirty="0" err="1"/>
              <a:t>inode</a:t>
            </a:r>
            <a:endParaRPr lang="en-CN" dirty="0"/>
          </a:p>
        </p:txBody>
      </p:sp>
      <p:sp>
        <p:nvSpPr>
          <p:cNvPr id="40" name="TextBox 39">
            <a:extLst>
              <a:ext uri="{FF2B5EF4-FFF2-40B4-BE49-F238E27FC236}">
                <a16:creationId xmlns:a16="http://schemas.microsoft.com/office/drawing/2014/main" id="{DCF0D350-D76A-7947-8BFA-37FE7AEA7712}"/>
              </a:ext>
            </a:extLst>
          </p:cNvPr>
          <p:cNvSpPr txBox="1"/>
          <p:nvPr/>
        </p:nvSpPr>
        <p:spPr>
          <a:xfrm>
            <a:off x="3805796" y="1364676"/>
            <a:ext cx="886781" cy="369332"/>
          </a:xfrm>
          <a:prstGeom prst="rect">
            <a:avLst/>
          </a:prstGeom>
          <a:noFill/>
        </p:spPr>
        <p:txBody>
          <a:bodyPr wrap="none" rtlCol="0">
            <a:spAutoFit/>
          </a:bodyPr>
          <a:lstStyle/>
          <a:p>
            <a:r>
              <a:rPr lang="zh-CN" altLang="en-US" dirty="0"/>
              <a:t>目录项</a:t>
            </a:r>
            <a:endParaRPr lang="en-CN" dirty="0"/>
          </a:p>
        </p:txBody>
      </p:sp>
      <p:sp>
        <p:nvSpPr>
          <p:cNvPr id="41" name="Rectangle 40">
            <a:extLst>
              <a:ext uri="{FF2B5EF4-FFF2-40B4-BE49-F238E27FC236}">
                <a16:creationId xmlns:a16="http://schemas.microsoft.com/office/drawing/2014/main" id="{BA0776DC-5AE5-9844-B413-3288129952A1}"/>
              </a:ext>
            </a:extLst>
          </p:cNvPr>
          <p:cNvSpPr/>
          <p:nvPr/>
        </p:nvSpPr>
        <p:spPr>
          <a:xfrm>
            <a:off x="1852687" y="2679581"/>
            <a:ext cx="371058" cy="3318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2" name="Rectangle 41">
            <a:extLst>
              <a:ext uri="{FF2B5EF4-FFF2-40B4-BE49-F238E27FC236}">
                <a16:creationId xmlns:a16="http://schemas.microsoft.com/office/drawing/2014/main" id="{7A9E6583-964C-F945-B5AD-11B26A092B9B}"/>
              </a:ext>
            </a:extLst>
          </p:cNvPr>
          <p:cNvSpPr/>
          <p:nvPr/>
        </p:nvSpPr>
        <p:spPr>
          <a:xfrm>
            <a:off x="2687470" y="2764630"/>
            <a:ext cx="483353" cy="5528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3" name="Rectangle 42">
            <a:extLst>
              <a:ext uri="{FF2B5EF4-FFF2-40B4-BE49-F238E27FC236}">
                <a16:creationId xmlns:a16="http://schemas.microsoft.com/office/drawing/2014/main" id="{281E531A-D3C4-6742-AA51-5E576500DA5D}"/>
              </a:ext>
            </a:extLst>
          </p:cNvPr>
          <p:cNvSpPr/>
          <p:nvPr/>
        </p:nvSpPr>
        <p:spPr>
          <a:xfrm>
            <a:off x="4248033" y="3083379"/>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4" name="Rectangle 43">
            <a:extLst>
              <a:ext uri="{FF2B5EF4-FFF2-40B4-BE49-F238E27FC236}">
                <a16:creationId xmlns:a16="http://schemas.microsoft.com/office/drawing/2014/main" id="{B2942EAF-E025-0E46-9DDD-460252D83576}"/>
              </a:ext>
            </a:extLst>
          </p:cNvPr>
          <p:cNvSpPr/>
          <p:nvPr/>
        </p:nvSpPr>
        <p:spPr>
          <a:xfrm>
            <a:off x="5295346" y="2548225"/>
            <a:ext cx="492457" cy="88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nvGrpSpPr>
          <p:cNvPr id="51" name="Group 50">
            <a:extLst>
              <a:ext uri="{FF2B5EF4-FFF2-40B4-BE49-F238E27FC236}">
                <a16:creationId xmlns:a16="http://schemas.microsoft.com/office/drawing/2014/main" id="{8B971AFB-87D3-CC43-8E4C-93D60D3DB275}"/>
              </a:ext>
            </a:extLst>
          </p:cNvPr>
          <p:cNvGrpSpPr/>
          <p:nvPr/>
        </p:nvGrpSpPr>
        <p:grpSpPr>
          <a:xfrm>
            <a:off x="6169416" y="2857045"/>
            <a:ext cx="408273" cy="550295"/>
            <a:chOff x="5930406" y="2352287"/>
            <a:chExt cx="585810" cy="789591"/>
          </a:xfrm>
        </p:grpSpPr>
        <p:sp>
          <p:nvSpPr>
            <p:cNvPr id="45" name="Rectangle 44">
              <a:extLst>
                <a:ext uri="{FF2B5EF4-FFF2-40B4-BE49-F238E27FC236}">
                  <a16:creationId xmlns:a16="http://schemas.microsoft.com/office/drawing/2014/main" id="{759644E6-2C5E-6241-8CAD-865CAAF8860E}"/>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6" name="Rectangle 45">
              <a:extLst>
                <a:ext uri="{FF2B5EF4-FFF2-40B4-BE49-F238E27FC236}">
                  <a16:creationId xmlns:a16="http://schemas.microsoft.com/office/drawing/2014/main" id="{941964A8-441D-8C41-B224-D88882FD438B}"/>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7" name="Rectangle 46">
              <a:extLst>
                <a:ext uri="{FF2B5EF4-FFF2-40B4-BE49-F238E27FC236}">
                  <a16:creationId xmlns:a16="http://schemas.microsoft.com/office/drawing/2014/main" id="{E2BE0D5F-3EEA-924F-82EB-A6AC46FEFEF0}"/>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8" name="Rectangle 47">
              <a:extLst>
                <a:ext uri="{FF2B5EF4-FFF2-40B4-BE49-F238E27FC236}">
                  <a16:creationId xmlns:a16="http://schemas.microsoft.com/office/drawing/2014/main" id="{6DD18F05-9B6A-E249-93BD-0FF7C31F8745}"/>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9" name="Rectangle 48">
              <a:extLst>
                <a:ext uri="{FF2B5EF4-FFF2-40B4-BE49-F238E27FC236}">
                  <a16:creationId xmlns:a16="http://schemas.microsoft.com/office/drawing/2014/main" id="{E7A36BA6-BCD5-4643-B992-1A66BE6204F3}"/>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grpSp>
        <p:nvGrpSpPr>
          <p:cNvPr id="52" name="Group 51">
            <a:extLst>
              <a:ext uri="{FF2B5EF4-FFF2-40B4-BE49-F238E27FC236}">
                <a16:creationId xmlns:a16="http://schemas.microsoft.com/office/drawing/2014/main" id="{762250EE-A820-0F4A-BD00-4B0C5BE69533}"/>
              </a:ext>
            </a:extLst>
          </p:cNvPr>
          <p:cNvGrpSpPr/>
          <p:nvPr/>
        </p:nvGrpSpPr>
        <p:grpSpPr>
          <a:xfrm>
            <a:off x="6878066" y="3045431"/>
            <a:ext cx="408273" cy="550295"/>
            <a:chOff x="5930406" y="2352287"/>
            <a:chExt cx="585810" cy="789591"/>
          </a:xfrm>
        </p:grpSpPr>
        <p:sp>
          <p:nvSpPr>
            <p:cNvPr id="53" name="Rectangle 52">
              <a:extLst>
                <a:ext uri="{FF2B5EF4-FFF2-40B4-BE49-F238E27FC236}">
                  <a16:creationId xmlns:a16="http://schemas.microsoft.com/office/drawing/2014/main" id="{D3AC2A2B-748A-6848-9B8E-49342CC65A4B}"/>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4" name="Rectangle 53">
              <a:extLst>
                <a:ext uri="{FF2B5EF4-FFF2-40B4-BE49-F238E27FC236}">
                  <a16:creationId xmlns:a16="http://schemas.microsoft.com/office/drawing/2014/main" id="{1AFF230A-A44E-7E4D-BCA1-FBA702A9B9CE}"/>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5" name="Rectangle 54">
              <a:extLst>
                <a:ext uri="{FF2B5EF4-FFF2-40B4-BE49-F238E27FC236}">
                  <a16:creationId xmlns:a16="http://schemas.microsoft.com/office/drawing/2014/main" id="{C1F7C33B-BA39-F34C-B885-EEFA0AEFEB1E}"/>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6" name="Rectangle 55">
              <a:extLst>
                <a:ext uri="{FF2B5EF4-FFF2-40B4-BE49-F238E27FC236}">
                  <a16:creationId xmlns:a16="http://schemas.microsoft.com/office/drawing/2014/main" id="{146251DB-A3CB-3A4A-B908-843E625D5A4D}"/>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7" name="Rectangle 56">
              <a:extLst>
                <a:ext uri="{FF2B5EF4-FFF2-40B4-BE49-F238E27FC236}">
                  <a16:creationId xmlns:a16="http://schemas.microsoft.com/office/drawing/2014/main" id="{DD441771-933A-504F-84D8-7530C2A8BAFC}"/>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sp>
        <p:nvSpPr>
          <p:cNvPr id="58" name="Rectangle 57">
            <a:extLst>
              <a:ext uri="{FF2B5EF4-FFF2-40B4-BE49-F238E27FC236}">
                <a16:creationId xmlns:a16="http://schemas.microsoft.com/office/drawing/2014/main" id="{A642D420-9FEE-D243-85D6-09B57E3C789F}"/>
              </a:ext>
            </a:extLst>
          </p:cNvPr>
          <p:cNvSpPr/>
          <p:nvPr/>
        </p:nvSpPr>
        <p:spPr>
          <a:xfrm>
            <a:off x="5300291" y="3158729"/>
            <a:ext cx="492457" cy="11131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nvGrpSpPr>
          <p:cNvPr id="59" name="Group 58">
            <a:extLst>
              <a:ext uri="{FF2B5EF4-FFF2-40B4-BE49-F238E27FC236}">
                <a16:creationId xmlns:a16="http://schemas.microsoft.com/office/drawing/2014/main" id="{A63D726F-3553-A342-B70D-095AFEB27A93}"/>
              </a:ext>
            </a:extLst>
          </p:cNvPr>
          <p:cNvGrpSpPr/>
          <p:nvPr/>
        </p:nvGrpSpPr>
        <p:grpSpPr>
          <a:xfrm>
            <a:off x="6867570" y="2335804"/>
            <a:ext cx="408273" cy="550295"/>
            <a:chOff x="5930406" y="2352287"/>
            <a:chExt cx="585810" cy="789591"/>
          </a:xfrm>
        </p:grpSpPr>
        <p:sp>
          <p:nvSpPr>
            <p:cNvPr id="60" name="Rectangle 59">
              <a:extLst>
                <a:ext uri="{FF2B5EF4-FFF2-40B4-BE49-F238E27FC236}">
                  <a16:creationId xmlns:a16="http://schemas.microsoft.com/office/drawing/2014/main" id="{C2AD7656-A12B-474C-9C6F-72D38BB271EA}"/>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1" name="Rectangle 60">
              <a:extLst>
                <a:ext uri="{FF2B5EF4-FFF2-40B4-BE49-F238E27FC236}">
                  <a16:creationId xmlns:a16="http://schemas.microsoft.com/office/drawing/2014/main" id="{60383222-FAF1-3F4A-B7CB-D63AD6197891}"/>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2" name="Rectangle 61">
              <a:extLst>
                <a:ext uri="{FF2B5EF4-FFF2-40B4-BE49-F238E27FC236}">
                  <a16:creationId xmlns:a16="http://schemas.microsoft.com/office/drawing/2014/main" id="{E956416C-0655-0545-8677-E8F7C4E79E43}"/>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3" name="Rectangle 62">
              <a:extLst>
                <a:ext uri="{FF2B5EF4-FFF2-40B4-BE49-F238E27FC236}">
                  <a16:creationId xmlns:a16="http://schemas.microsoft.com/office/drawing/2014/main" id="{B0876EC3-4FDA-244F-B42F-E5F11ECB6DAF}"/>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4" name="Rectangle 63">
              <a:extLst>
                <a:ext uri="{FF2B5EF4-FFF2-40B4-BE49-F238E27FC236}">
                  <a16:creationId xmlns:a16="http://schemas.microsoft.com/office/drawing/2014/main" id="{2B4C028A-F441-F947-A0C5-CA3612983299}"/>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cxnSp>
        <p:nvCxnSpPr>
          <p:cNvPr id="66" name="Straight Arrow Connector 65">
            <a:extLst>
              <a:ext uri="{FF2B5EF4-FFF2-40B4-BE49-F238E27FC236}">
                <a16:creationId xmlns:a16="http://schemas.microsoft.com/office/drawing/2014/main" id="{948CD127-E2DC-864F-8036-C91D41654F64}"/>
              </a:ext>
            </a:extLst>
          </p:cNvPr>
          <p:cNvCxnSpPr>
            <a:stCxn id="58" idx="3"/>
            <a:endCxn id="45" idx="1"/>
          </p:cNvCxnSpPr>
          <p:nvPr/>
        </p:nvCxnSpPr>
        <p:spPr>
          <a:xfrm flipV="1">
            <a:off x="5792748" y="2912702"/>
            <a:ext cx="376668" cy="301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DB9FA54-E710-DB46-B392-43DDA2E419F7}"/>
              </a:ext>
            </a:extLst>
          </p:cNvPr>
          <p:cNvCxnSpPr>
            <a:cxnSpLocks/>
            <a:stCxn id="45" idx="3"/>
            <a:endCxn id="60" idx="1"/>
          </p:cNvCxnSpPr>
          <p:nvPr/>
        </p:nvCxnSpPr>
        <p:spPr>
          <a:xfrm flipV="1">
            <a:off x="6577689" y="2391461"/>
            <a:ext cx="289881" cy="521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4132820-73F5-F547-A227-AA748DECF172}"/>
              </a:ext>
            </a:extLst>
          </p:cNvPr>
          <p:cNvCxnSpPr>
            <a:cxnSpLocks/>
            <a:stCxn id="46" idx="3"/>
            <a:endCxn id="53" idx="1"/>
          </p:cNvCxnSpPr>
          <p:nvPr/>
        </p:nvCxnSpPr>
        <p:spPr>
          <a:xfrm>
            <a:off x="6577689" y="3026468"/>
            <a:ext cx="300377" cy="74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CE1A650F-8C8D-F045-BCA4-93683ED6EC8F}"/>
              </a:ext>
            </a:extLst>
          </p:cNvPr>
          <p:cNvSpPr/>
          <p:nvPr/>
        </p:nvSpPr>
        <p:spPr>
          <a:xfrm>
            <a:off x="7610780" y="1764384"/>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75" name="Rectangle 74">
            <a:extLst>
              <a:ext uri="{FF2B5EF4-FFF2-40B4-BE49-F238E27FC236}">
                <a16:creationId xmlns:a16="http://schemas.microsoft.com/office/drawing/2014/main" id="{5047FBA5-8C8D-7F4D-B06F-38AF8C81D016}"/>
              </a:ext>
            </a:extLst>
          </p:cNvPr>
          <p:cNvSpPr/>
          <p:nvPr/>
        </p:nvSpPr>
        <p:spPr>
          <a:xfrm>
            <a:off x="7958864" y="2285150"/>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76" name="Rectangle 75">
            <a:extLst>
              <a:ext uri="{FF2B5EF4-FFF2-40B4-BE49-F238E27FC236}">
                <a16:creationId xmlns:a16="http://schemas.microsoft.com/office/drawing/2014/main" id="{26B7C9F7-DE25-2B4A-9CAF-1EC839D58B38}"/>
              </a:ext>
            </a:extLst>
          </p:cNvPr>
          <p:cNvSpPr/>
          <p:nvPr/>
        </p:nvSpPr>
        <p:spPr>
          <a:xfrm>
            <a:off x="8259231" y="2897316"/>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77" name="Straight Arrow Connector 76">
            <a:extLst>
              <a:ext uri="{FF2B5EF4-FFF2-40B4-BE49-F238E27FC236}">
                <a16:creationId xmlns:a16="http://schemas.microsoft.com/office/drawing/2014/main" id="{DAF4DEA7-CF68-D440-9131-2CC4DC3402CD}"/>
              </a:ext>
            </a:extLst>
          </p:cNvPr>
          <p:cNvCxnSpPr>
            <a:cxnSpLocks/>
            <a:stCxn id="60" idx="3"/>
            <a:endCxn id="74" idx="1"/>
          </p:cNvCxnSpPr>
          <p:nvPr/>
        </p:nvCxnSpPr>
        <p:spPr>
          <a:xfrm flipV="1">
            <a:off x="7275843" y="1976645"/>
            <a:ext cx="334937" cy="414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42BB9FE-3526-644C-A794-547205060042}"/>
              </a:ext>
            </a:extLst>
          </p:cNvPr>
          <p:cNvCxnSpPr>
            <a:cxnSpLocks/>
            <a:stCxn id="61" idx="3"/>
            <a:endCxn id="75" idx="1"/>
          </p:cNvCxnSpPr>
          <p:nvPr/>
        </p:nvCxnSpPr>
        <p:spPr>
          <a:xfrm flipV="1">
            <a:off x="7275843" y="2497411"/>
            <a:ext cx="683021" cy="7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5D59BFB-4499-5449-9589-5922C529E850}"/>
              </a:ext>
            </a:extLst>
          </p:cNvPr>
          <p:cNvCxnSpPr>
            <a:cxnSpLocks/>
            <a:stCxn id="62" idx="3"/>
            <a:endCxn id="76" idx="1"/>
          </p:cNvCxnSpPr>
          <p:nvPr/>
        </p:nvCxnSpPr>
        <p:spPr>
          <a:xfrm>
            <a:off x="7275843" y="2616540"/>
            <a:ext cx="983388" cy="493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AE7BFD1C-C0CD-CE41-90A2-EA0B08283319}"/>
              </a:ext>
            </a:extLst>
          </p:cNvPr>
          <p:cNvSpPr txBox="1"/>
          <p:nvPr/>
        </p:nvSpPr>
        <p:spPr>
          <a:xfrm>
            <a:off x="7112113" y="1236279"/>
            <a:ext cx="889987" cy="369332"/>
          </a:xfrm>
          <a:prstGeom prst="rect">
            <a:avLst/>
          </a:prstGeom>
          <a:noFill/>
        </p:spPr>
        <p:txBody>
          <a:bodyPr wrap="none" rtlCol="0">
            <a:spAutoFit/>
          </a:bodyPr>
          <a:lstStyle/>
          <a:p>
            <a:r>
              <a:rPr lang="zh-CN" altLang="en-US" dirty="0">
                <a:solidFill>
                  <a:srgbClr val="C00000"/>
                </a:solidFill>
              </a:rPr>
              <a:t>页缓存</a:t>
            </a:r>
            <a:endParaRPr lang="en-CN" dirty="0">
              <a:solidFill>
                <a:srgbClr val="C00000"/>
              </a:solidFill>
            </a:endParaRPr>
          </a:p>
        </p:txBody>
      </p:sp>
      <p:cxnSp>
        <p:nvCxnSpPr>
          <p:cNvPr id="87" name="Straight Arrow Connector 86">
            <a:extLst>
              <a:ext uri="{FF2B5EF4-FFF2-40B4-BE49-F238E27FC236}">
                <a16:creationId xmlns:a16="http://schemas.microsoft.com/office/drawing/2014/main" id="{093ECBAF-888D-E843-8273-657450D01F05}"/>
              </a:ext>
            </a:extLst>
          </p:cNvPr>
          <p:cNvCxnSpPr>
            <a:cxnSpLocks/>
            <a:stCxn id="42" idx="2"/>
            <a:endCxn id="9" idx="0"/>
          </p:cNvCxnSpPr>
          <p:nvPr/>
        </p:nvCxnSpPr>
        <p:spPr>
          <a:xfrm flipH="1">
            <a:off x="2671241" y="3317486"/>
            <a:ext cx="257906" cy="94097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88B511A3-30B0-CF49-BB0D-B5405E5C6FA3}"/>
              </a:ext>
            </a:extLst>
          </p:cNvPr>
          <p:cNvCxnSpPr>
            <a:cxnSpLocks/>
            <a:stCxn id="44" idx="2"/>
            <a:endCxn id="7" idx="0"/>
          </p:cNvCxnSpPr>
          <p:nvPr/>
        </p:nvCxnSpPr>
        <p:spPr>
          <a:xfrm flipH="1">
            <a:off x="4151579" y="3429756"/>
            <a:ext cx="1389996" cy="82870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37FFE852-5510-3A42-AE59-6C4B9ED28264}"/>
              </a:ext>
            </a:extLst>
          </p:cNvPr>
          <p:cNvCxnSpPr>
            <a:cxnSpLocks/>
            <a:stCxn id="74" idx="2"/>
            <a:endCxn id="14" idx="0"/>
          </p:cNvCxnSpPr>
          <p:nvPr/>
        </p:nvCxnSpPr>
        <p:spPr>
          <a:xfrm flipH="1">
            <a:off x="7101605" y="2188906"/>
            <a:ext cx="694704" cy="206955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74D5ADE7-5CEE-884E-A8F3-7FFFEF63D567}"/>
              </a:ext>
            </a:extLst>
          </p:cNvPr>
          <p:cNvCxnSpPr>
            <a:cxnSpLocks/>
            <a:stCxn id="75" idx="2"/>
            <a:endCxn id="15" idx="0"/>
          </p:cNvCxnSpPr>
          <p:nvPr/>
        </p:nvCxnSpPr>
        <p:spPr>
          <a:xfrm flipH="1">
            <a:off x="7472663" y="2709672"/>
            <a:ext cx="671730" cy="1548789"/>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4DBCB81C-63F9-A04A-AEB6-3F4CBA2FAC76}"/>
              </a:ext>
            </a:extLst>
          </p:cNvPr>
          <p:cNvCxnSpPr>
            <a:cxnSpLocks/>
            <a:stCxn id="76" idx="2"/>
            <a:endCxn id="16" idx="0"/>
          </p:cNvCxnSpPr>
          <p:nvPr/>
        </p:nvCxnSpPr>
        <p:spPr>
          <a:xfrm flipH="1">
            <a:off x="7843720" y="3321838"/>
            <a:ext cx="601040" cy="936623"/>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8C21176C-5182-A14D-A0EA-0F871BA11D79}"/>
              </a:ext>
            </a:extLst>
          </p:cNvPr>
          <p:cNvCxnSpPr>
            <a:cxnSpLocks/>
            <a:stCxn id="41" idx="2"/>
            <a:endCxn id="12" idx="0"/>
          </p:cNvCxnSpPr>
          <p:nvPr/>
        </p:nvCxnSpPr>
        <p:spPr>
          <a:xfrm>
            <a:off x="2038216" y="3011460"/>
            <a:ext cx="265861" cy="1247001"/>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47F16F56-9BB9-CA43-898E-AAEC532977CD}"/>
              </a:ext>
            </a:extLst>
          </p:cNvPr>
          <p:cNvCxnSpPr>
            <a:cxnSpLocks/>
            <a:stCxn id="43" idx="3"/>
          </p:cNvCxnSpPr>
          <p:nvPr/>
        </p:nvCxnSpPr>
        <p:spPr>
          <a:xfrm flipV="1">
            <a:off x="4853983" y="2679581"/>
            <a:ext cx="446308" cy="499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206E43D5-FE1F-1C4E-B716-A031C7E6CEE3}"/>
              </a:ext>
            </a:extLst>
          </p:cNvPr>
          <p:cNvSpPr/>
          <p:nvPr/>
        </p:nvSpPr>
        <p:spPr>
          <a:xfrm>
            <a:off x="3812472" y="1869882"/>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5" name="Rectangle 114">
            <a:extLst>
              <a:ext uri="{FF2B5EF4-FFF2-40B4-BE49-F238E27FC236}">
                <a16:creationId xmlns:a16="http://schemas.microsoft.com/office/drawing/2014/main" id="{46A9B613-7BDE-B64C-9878-084C66B0A8CA}"/>
              </a:ext>
            </a:extLst>
          </p:cNvPr>
          <p:cNvSpPr/>
          <p:nvPr/>
        </p:nvSpPr>
        <p:spPr>
          <a:xfrm>
            <a:off x="3643236" y="2299179"/>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6" name="Rectangle 115">
            <a:extLst>
              <a:ext uri="{FF2B5EF4-FFF2-40B4-BE49-F238E27FC236}">
                <a16:creationId xmlns:a16="http://schemas.microsoft.com/office/drawing/2014/main" id="{8ECB0CBC-4BBE-D44A-A5B7-525FFEF63483}"/>
              </a:ext>
            </a:extLst>
          </p:cNvPr>
          <p:cNvSpPr/>
          <p:nvPr/>
        </p:nvSpPr>
        <p:spPr>
          <a:xfrm>
            <a:off x="4354614" y="2293310"/>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117" name="Straight Arrow Connector 116">
            <a:extLst>
              <a:ext uri="{FF2B5EF4-FFF2-40B4-BE49-F238E27FC236}">
                <a16:creationId xmlns:a16="http://schemas.microsoft.com/office/drawing/2014/main" id="{E28A98DA-B365-FB43-8E97-A532C368AAA7}"/>
              </a:ext>
            </a:extLst>
          </p:cNvPr>
          <p:cNvCxnSpPr>
            <a:cxnSpLocks/>
            <a:stCxn id="114" idx="2"/>
            <a:endCxn id="115" idx="0"/>
          </p:cNvCxnSpPr>
          <p:nvPr/>
        </p:nvCxnSpPr>
        <p:spPr>
          <a:xfrm flipH="1">
            <a:off x="3946211" y="2060561"/>
            <a:ext cx="169236" cy="238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BEBFBC1-D0F9-A842-8BED-12C95184B5C2}"/>
              </a:ext>
            </a:extLst>
          </p:cNvPr>
          <p:cNvCxnSpPr>
            <a:cxnSpLocks/>
            <a:stCxn id="114" idx="2"/>
            <a:endCxn id="116" idx="0"/>
          </p:cNvCxnSpPr>
          <p:nvPr/>
        </p:nvCxnSpPr>
        <p:spPr>
          <a:xfrm>
            <a:off x="4115447" y="2060561"/>
            <a:ext cx="542142" cy="232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CE91487-D725-9F4C-B2A0-9F021DF477FA}"/>
              </a:ext>
            </a:extLst>
          </p:cNvPr>
          <p:cNvCxnSpPr>
            <a:cxnSpLocks/>
            <a:stCxn id="115" idx="2"/>
            <a:endCxn id="43" idx="0"/>
          </p:cNvCxnSpPr>
          <p:nvPr/>
        </p:nvCxnSpPr>
        <p:spPr>
          <a:xfrm>
            <a:off x="3946211" y="2489858"/>
            <a:ext cx="604797" cy="593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Rectangle 128">
            <a:extLst>
              <a:ext uri="{FF2B5EF4-FFF2-40B4-BE49-F238E27FC236}">
                <a16:creationId xmlns:a16="http://schemas.microsoft.com/office/drawing/2014/main" id="{38239619-4F89-DE43-881D-18325BE82668}"/>
              </a:ext>
            </a:extLst>
          </p:cNvPr>
          <p:cNvSpPr/>
          <p:nvPr/>
        </p:nvSpPr>
        <p:spPr>
          <a:xfrm>
            <a:off x="5365425" y="1028363"/>
            <a:ext cx="492457" cy="88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30" name="Rectangle 129">
            <a:extLst>
              <a:ext uri="{FF2B5EF4-FFF2-40B4-BE49-F238E27FC236}">
                <a16:creationId xmlns:a16="http://schemas.microsoft.com/office/drawing/2014/main" id="{2AC5D921-CE8C-5C4D-A8F1-8D10DDA5A907}"/>
              </a:ext>
            </a:extLst>
          </p:cNvPr>
          <p:cNvSpPr/>
          <p:nvPr/>
        </p:nvSpPr>
        <p:spPr>
          <a:xfrm>
            <a:off x="5370370" y="1638867"/>
            <a:ext cx="492457" cy="11131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131" name="Straight Arrow Connector 130">
            <a:extLst>
              <a:ext uri="{FF2B5EF4-FFF2-40B4-BE49-F238E27FC236}">
                <a16:creationId xmlns:a16="http://schemas.microsoft.com/office/drawing/2014/main" id="{A38D656E-53F5-8143-B990-5D1232214977}"/>
              </a:ext>
            </a:extLst>
          </p:cNvPr>
          <p:cNvCxnSpPr>
            <a:cxnSpLocks/>
            <a:stCxn id="114" idx="3"/>
          </p:cNvCxnSpPr>
          <p:nvPr/>
        </p:nvCxnSpPr>
        <p:spPr>
          <a:xfrm flipV="1">
            <a:off x="4418422" y="1114158"/>
            <a:ext cx="951948" cy="851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744FEB97-28F0-3F4A-AFCD-87929C6E7EDD}"/>
              </a:ext>
            </a:extLst>
          </p:cNvPr>
          <p:cNvSpPr txBox="1"/>
          <p:nvPr/>
        </p:nvSpPr>
        <p:spPr>
          <a:xfrm>
            <a:off x="5257818" y="625407"/>
            <a:ext cx="748923" cy="369332"/>
          </a:xfrm>
          <a:prstGeom prst="rect">
            <a:avLst/>
          </a:prstGeom>
          <a:noFill/>
        </p:spPr>
        <p:txBody>
          <a:bodyPr wrap="none" rtlCol="0">
            <a:spAutoFit/>
          </a:bodyPr>
          <a:lstStyle/>
          <a:p>
            <a:r>
              <a:rPr lang="en-US" altLang="zh-CN" dirty="0" err="1"/>
              <a:t>inode</a:t>
            </a:r>
            <a:endParaRPr lang="en-CN" dirty="0"/>
          </a:p>
        </p:txBody>
      </p:sp>
      <p:cxnSp>
        <p:nvCxnSpPr>
          <p:cNvPr id="135" name="Straight Arrow Connector 134">
            <a:extLst>
              <a:ext uri="{FF2B5EF4-FFF2-40B4-BE49-F238E27FC236}">
                <a16:creationId xmlns:a16="http://schemas.microsoft.com/office/drawing/2014/main" id="{6C083C0C-8960-3E4D-A5D2-7D3E5614E0E4}"/>
              </a:ext>
            </a:extLst>
          </p:cNvPr>
          <p:cNvCxnSpPr>
            <a:cxnSpLocks/>
            <a:stCxn id="130" idx="3"/>
            <a:endCxn id="138" idx="2"/>
          </p:cNvCxnSpPr>
          <p:nvPr/>
        </p:nvCxnSpPr>
        <p:spPr>
          <a:xfrm flipV="1">
            <a:off x="5862827" y="1313974"/>
            <a:ext cx="488676" cy="380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82897B2C-9828-284C-878B-2992F5BEEEF4}"/>
              </a:ext>
            </a:extLst>
          </p:cNvPr>
          <p:cNvSpPr txBox="1"/>
          <p:nvPr/>
        </p:nvSpPr>
        <p:spPr>
          <a:xfrm>
            <a:off x="6143754" y="944642"/>
            <a:ext cx="415498" cy="369332"/>
          </a:xfrm>
          <a:prstGeom prst="rect">
            <a:avLst/>
          </a:prstGeom>
          <a:noFill/>
        </p:spPr>
        <p:txBody>
          <a:bodyPr wrap="none" rtlCol="0">
            <a:spAutoFit/>
          </a:bodyPr>
          <a:lstStyle/>
          <a:p>
            <a:r>
              <a:rPr lang="en-US" altLang="zh-CN" dirty="0"/>
              <a:t>…</a:t>
            </a:r>
            <a:endParaRPr lang="en-CN" dirty="0"/>
          </a:p>
        </p:txBody>
      </p:sp>
      <p:sp>
        <p:nvSpPr>
          <p:cNvPr id="140" name="TextBox 139">
            <a:extLst>
              <a:ext uri="{FF2B5EF4-FFF2-40B4-BE49-F238E27FC236}">
                <a16:creationId xmlns:a16="http://schemas.microsoft.com/office/drawing/2014/main" id="{004FAA54-4923-8F4E-AC89-3DB7480F5CDD}"/>
              </a:ext>
            </a:extLst>
          </p:cNvPr>
          <p:cNvSpPr txBox="1"/>
          <p:nvPr/>
        </p:nvSpPr>
        <p:spPr>
          <a:xfrm>
            <a:off x="3657131" y="887217"/>
            <a:ext cx="928459" cy="369332"/>
          </a:xfrm>
          <a:prstGeom prst="rect">
            <a:avLst/>
          </a:prstGeom>
          <a:noFill/>
        </p:spPr>
        <p:txBody>
          <a:bodyPr wrap="none" rtlCol="0">
            <a:spAutoFit/>
          </a:bodyPr>
          <a:lstStyle/>
          <a:p>
            <a:r>
              <a:rPr lang="en-US" altLang="zh-CN" dirty="0" err="1">
                <a:solidFill>
                  <a:srgbClr val="C00000"/>
                </a:solidFill>
              </a:rPr>
              <a:t>dcache</a:t>
            </a:r>
            <a:endParaRPr lang="en-CN" dirty="0">
              <a:solidFill>
                <a:srgbClr val="C00000"/>
              </a:solidFill>
            </a:endParaRPr>
          </a:p>
        </p:txBody>
      </p:sp>
      <p:sp>
        <p:nvSpPr>
          <p:cNvPr id="141" name="TextBox 140">
            <a:extLst>
              <a:ext uri="{FF2B5EF4-FFF2-40B4-BE49-F238E27FC236}">
                <a16:creationId xmlns:a16="http://schemas.microsoft.com/office/drawing/2014/main" id="{AAF4F0D0-4A0E-BB42-A832-6FF448230381}"/>
              </a:ext>
            </a:extLst>
          </p:cNvPr>
          <p:cNvSpPr txBox="1"/>
          <p:nvPr/>
        </p:nvSpPr>
        <p:spPr>
          <a:xfrm>
            <a:off x="5357776" y="185585"/>
            <a:ext cx="851515" cy="369332"/>
          </a:xfrm>
          <a:prstGeom prst="rect">
            <a:avLst/>
          </a:prstGeom>
          <a:noFill/>
        </p:spPr>
        <p:txBody>
          <a:bodyPr wrap="none" rtlCol="0">
            <a:spAutoFit/>
          </a:bodyPr>
          <a:lstStyle/>
          <a:p>
            <a:r>
              <a:rPr lang="en-US" altLang="zh-CN" dirty="0" err="1">
                <a:solidFill>
                  <a:srgbClr val="C00000"/>
                </a:solidFill>
              </a:rPr>
              <a:t>icache</a:t>
            </a:r>
            <a:endParaRPr lang="en-US" altLang="zh-CN" dirty="0">
              <a:solidFill>
                <a:srgbClr val="C00000"/>
              </a:solidFill>
            </a:endParaRPr>
          </a:p>
        </p:txBody>
      </p:sp>
      <p:sp>
        <p:nvSpPr>
          <p:cNvPr id="3" name="Slide Number Placeholder 2">
            <a:extLst>
              <a:ext uri="{FF2B5EF4-FFF2-40B4-BE49-F238E27FC236}">
                <a16:creationId xmlns:a16="http://schemas.microsoft.com/office/drawing/2014/main" id="{E66AF4CE-69AF-B04E-A7D1-CBB97A82E68E}"/>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31" name="TextBox 30">
            <a:extLst>
              <a:ext uri="{FF2B5EF4-FFF2-40B4-BE49-F238E27FC236}">
                <a16:creationId xmlns:a16="http://schemas.microsoft.com/office/drawing/2014/main" id="{606E8026-1307-0C48-9290-0874726A4C14}"/>
              </a:ext>
            </a:extLst>
          </p:cNvPr>
          <p:cNvSpPr txBox="1"/>
          <p:nvPr/>
        </p:nvSpPr>
        <p:spPr>
          <a:xfrm>
            <a:off x="6332420" y="1980294"/>
            <a:ext cx="684803" cy="369332"/>
          </a:xfrm>
          <a:prstGeom prst="rect">
            <a:avLst/>
          </a:prstGeom>
          <a:noFill/>
        </p:spPr>
        <p:txBody>
          <a:bodyPr wrap="none" rtlCol="0">
            <a:spAutoFit/>
          </a:bodyPr>
          <a:lstStyle/>
          <a:p>
            <a:r>
              <a:rPr lang="en-CN" dirty="0"/>
              <a:t>radix</a:t>
            </a:r>
          </a:p>
        </p:txBody>
      </p:sp>
      <p:sp>
        <p:nvSpPr>
          <p:cNvPr id="94" name="TextBox 93">
            <a:extLst>
              <a:ext uri="{FF2B5EF4-FFF2-40B4-BE49-F238E27FC236}">
                <a16:creationId xmlns:a16="http://schemas.microsoft.com/office/drawing/2014/main" id="{8CADA2BD-BAC2-5A42-9C7D-51489DFEF9A7}"/>
              </a:ext>
            </a:extLst>
          </p:cNvPr>
          <p:cNvSpPr txBox="1"/>
          <p:nvPr/>
        </p:nvSpPr>
        <p:spPr>
          <a:xfrm>
            <a:off x="503373" y="4375695"/>
            <a:ext cx="1338828" cy="369332"/>
          </a:xfrm>
          <a:prstGeom prst="rect">
            <a:avLst/>
          </a:prstGeom>
          <a:noFill/>
        </p:spPr>
        <p:txBody>
          <a:bodyPr wrap="none" rtlCol="0">
            <a:spAutoFit/>
          </a:bodyPr>
          <a:lstStyle/>
          <a:p>
            <a:r>
              <a:rPr lang="zh-CN" altLang="en-US" dirty="0"/>
              <a:t>块存储设备</a:t>
            </a:r>
            <a:endParaRPr lang="en-CN" dirty="0"/>
          </a:p>
        </p:txBody>
      </p:sp>
    </p:spTree>
    <p:extLst>
      <p:ext uri="{BB962C8B-B14F-4D97-AF65-F5344CB8AC3E}">
        <p14:creationId xmlns:p14="http://schemas.microsoft.com/office/powerpoint/2010/main" val="1480101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3FBBA-9524-314B-BDAE-CA8BD60A5D8D}"/>
              </a:ext>
            </a:extLst>
          </p:cNvPr>
          <p:cNvSpPr>
            <a:spLocks noGrp="1"/>
          </p:cNvSpPr>
          <p:nvPr>
            <p:ph type="title"/>
          </p:nvPr>
        </p:nvSpPr>
        <p:spPr/>
        <p:txBody>
          <a:bodyPr/>
          <a:lstStyle/>
          <a:p>
            <a:r>
              <a:rPr lang="zh-CN" altLang="en-CN" dirty="0"/>
              <a:t>缓存</a:t>
            </a:r>
            <a:r>
              <a:rPr lang="zh-CN" altLang="en-US" dirty="0"/>
              <a:t>情况下的文件查找</a:t>
            </a:r>
            <a:endParaRPr lang="en-CN" dirty="0"/>
          </a:p>
        </p:txBody>
      </p:sp>
      <p:sp>
        <p:nvSpPr>
          <p:cNvPr id="3" name="Content Placeholder 2">
            <a:extLst>
              <a:ext uri="{FF2B5EF4-FFF2-40B4-BE49-F238E27FC236}">
                <a16:creationId xmlns:a16="http://schemas.microsoft.com/office/drawing/2014/main" id="{CB7855E7-4CED-A84B-AB08-76A919A79A80}"/>
              </a:ext>
            </a:extLst>
          </p:cNvPr>
          <p:cNvSpPr>
            <a:spLocks noGrp="1"/>
          </p:cNvSpPr>
          <p:nvPr>
            <p:ph idx="1"/>
          </p:nvPr>
        </p:nvSpPr>
        <p:spPr/>
        <p:txBody>
          <a:bodyPr/>
          <a:lstStyle/>
          <a:p>
            <a:pPr marL="0" lvl="0" indent="0">
              <a:buNone/>
            </a:pPr>
            <a:r>
              <a:rPr lang="zh-CN" altLang="en-US" sz="1800" b="0" dirty="0">
                <a:solidFill>
                  <a:srgbClr val="000000">
                    <a:lumMod val="75000"/>
                    <a:lumOff val="25000"/>
                  </a:srgbClr>
                </a:solidFill>
              </a:rPr>
              <a:t>由于内存大小限制，内存中缓存的数据是存储中数据的子集</a:t>
            </a:r>
            <a:endParaRPr lang="en-US" altLang="zh-CN" sz="1800" b="0" dirty="0">
              <a:solidFill>
                <a:srgbClr val="000000">
                  <a:lumMod val="75000"/>
                  <a:lumOff val="25000"/>
                </a:srgbClr>
              </a:solidFill>
            </a:endParaRPr>
          </a:p>
          <a:p>
            <a:pPr marL="0" lvl="0" indent="0">
              <a:buNone/>
            </a:pPr>
            <a:r>
              <a:rPr lang="zh-CN" altLang="en-US" sz="1800" b="0" dirty="0">
                <a:solidFill>
                  <a:srgbClr val="000000">
                    <a:lumMod val="75000"/>
                    <a:lumOff val="25000"/>
                  </a:srgbClr>
                </a:solidFill>
              </a:rPr>
              <a:t>当要访问的数据不在内存中时，会从存储中读取并构造内存中相应的对象</a:t>
            </a:r>
            <a:endParaRPr lang="en-US" altLang="zh-CN" sz="1800" b="0" dirty="0">
              <a:solidFill>
                <a:srgbClr val="000000">
                  <a:lumMod val="75000"/>
                  <a:lumOff val="25000"/>
                </a:srgbClr>
              </a:solidFill>
            </a:endParaRPr>
          </a:p>
        </p:txBody>
      </p:sp>
      <p:sp>
        <p:nvSpPr>
          <p:cNvPr id="4" name="Footer Placeholder 3">
            <a:extLst>
              <a:ext uri="{FF2B5EF4-FFF2-40B4-BE49-F238E27FC236}">
                <a16:creationId xmlns:a16="http://schemas.microsoft.com/office/drawing/2014/main" id="{689889EF-196C-D84E-BA80-0AFC24846C4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CB74779F-0DF5-2744-B76C-CB15FDCDF9EF}"/>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grpSp>
        <p:nvGrpSpPr>
          <p:cNvPr id="57" name="Group 56">
            <a:extLst>
              <a:ext uri="{FF2B5EF4-FFF2-40B4-BE49-F238E27FC236}">
                <a16:creationId xmlns:a16="http://schemas.microsoft.com/office/drawing/2014/main" id="{D5250515-5FEC-2247-BEB8-74F73316E3FF}"/>
              </a:ext>
            </a:extLst>
          </p:cNvPr>
          <p:cNvGrpSpPr/>
          <p:nvPr/>
        </p:nvGrpSpPr>
        <p:grpSpPr>
          <a:xfrm>
            <a:off x="1259632" y="2466378"/>
            <a:ext cx="5717675" cy="2638759"/>
            <a:chOff x="1345004" y="2477268"/>
            <a:chExt cx="5717675" cy="2638759"/>
          </a:xfrm>
        </p:grpSpPr>
        <p:sp>
          <p:nvSpPr>
            <p:cNvPr id="6" name="Diamond 5">
              <a:extLst>
                <a:ext uri="{FF2B5EF4-FFF2-40B4-BE49-F238E27FC236}">
                  <a16:creationId xmlns:a16="http://schemas.microsoft.com/office/drawing/2014/main" id="{D50BFBBF-7ECA-344D-85B1-F7B4F744E5EA}"/>
                </a:ext>
              </a:extLst>
            </p:cNvPr>
            <p:cNvSpPr/>
            <p:nvPr/>
          </p:nvSpPr>
          <p:spPr>
            <a:xfrm>
              <a:off x="2727379" y="2477268"/>
              <a:ext cx="1463459" cy="679463"/>
            </a:xfrm>
            <a:prstGeom prst="diamond">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1200" dirty="0"/>
                <a:t>在</a:t>
              </a:r>
              <a:r>
                <a:rPr lang="zh-CN" altLang="en-US" sz="1200" dirty="0"/>
                <a:t>内存缓存中？</a:t>
              </a:r>
              <a:endParaRPr lang="en-CN" sz="1200" dirty="0"/>
            </a:p>
          </p:txBody>
        </p:sp>
        <p:sp>
          <p:nvSpPr>
            <p:cNvPr id="7" name="Diamond 6">
              <a:extLst>
                <a:ext uri="{FF2B5EF4-FFF2-40B4-BE49-F238E27FC236}">
                  <a16:creationId xmlns:a16="http://schemas.microsoft.com/office/drawing/2014/main" id="{6D4B5B18-F279-B34B-AC1B-88F9AAF18A5D}"/>
                </a:ext>
              </a:extLst>
            </p:cNvPr>
            <p:cNvSpPr/>
            <p:nvPr/>
          </p:nvSpPr>
          <p:spPr>
            <a:xfrm>
              <a:off x="4215854" y="3032930"/>
              <a:ext cx="1463459" cy="679463"/>
            </a:xfrm>
            <a:prstGeom prst="diamond">
              <a:avLst/>
            </a:prstGeom>
          </p:spPr>
          <p:style>
            <a:lnRef idx="2">
              <a:schemeClr val="accent1"/>
            </a:lnRef>
            <a:fillRef idx="1">
              <a:schemeClr val="lt1"/>
            </a:fillRef>
            <a:effectRef idx="0">
              <a:schemeClr val="accent1"/>
            </a:effectRef>
            <a:fontRef idx="minor">
              <a:schemeClr val="dk1"/>
            </a:fontRef>
          </p:style>
          <p:txBody>
            <a:bodyPr wrap="none" rtlCol="0" anchor="ctr"/>
            <a:lstStyle/>
            <a:p>
              <a:pPr algn="ctr"/>
              <a:r>
                <a:rPr lang="zh-CN" altLang="en-CN" sz="1200" dirty="0"/>
                <a:t>在</a:t>
              </a:r>
              <a:r>
                <a:rPr lang="zh-CN" altLang="en-US" sz="1200" dirty="0"/>
                <a:t>存储设备中？</a:t>
              </a:r>
              <a:endParaRPr lang="en-CN" sz="1200" dirty="0"/>
            </a:p>
          </p:txBody>
        </p:sp>
        <p:cxnSp>
          <p:nvCxnSpPr>
            <p:cNvPr id="13" name="Straight Arrow Connector 12">
              <a:extLst>
                <a:ext uri="{FF2B5EF4-FFF2-40B4-BE49-F238E27FC236}">
                  <a16:creationId xmlns:a16="http://schemas.microsoft.com/office/drawing/2014/main" id="{2E311021-962D-4540-B579-DC06EFD4633C}"/>
                </a:ext>
              </a:extLst>
            </p:cNvPr>
            <p:cNvCxnSpPr>
              <a:cxnSpLocks/>
              <a:stCxn id="6" idx="2"/>
              <a:endCxn id="35" idx="0"/>
            </p:cNvCxnSpPr>
            <p:nvPr/>
          </p:nvCxnSpPr>
          <p:spPr>
            <a:xfrm flipH="1">
              <a:off x="3459108" y="3156731"/>
              <a:ext cx="1" cy="136522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84F2349-9AE9-044A-9EE2-330EA9ED4AB0}"/>
                </a:ext>
              </a:extLst>
            </p:cNvPr>
            <p:cNvSpPr txBox="1"/>
            <p:nvPr/>
          </p:nvSpPr>
          <p:spPr>
            <a:xfrm>
              <a:off x="3120554" y="3299728"/>
              <a:ext cx="338554" cy="276999"/>
            </a:xfrm>
            <a:prstGeom prst="rect">
              <a:avLst/>
            </a:prstGeom>
            <a:noFill/>
          </p:spPr>
          <p:txBody>
            <a:bodyPr wrap="none" rtlCol="0">
              <a:spAutoFit/>
            </a:bodyPr>
            <a:lstStyle/>
            <a:p>
              <a:r>
                <a:rPr lang="zh-CN" altLang="en-CN" sz="1200" dirty="0"/>
                <a:t>在</a:t>
              </a:r>
              <a:endParaRPr lang="en-CN" sz="1200" dirty="0"/>
            </a:p>
          </p:txBody>
        </p:sp>
        <p:sp>
          <p:nvSpPr>
            <p:cNvPr id="16" name="TextBox 15">
              <a:extLst>
                <a:ext uri="{FF2B5EF4-FFF2-40B4-BE49-F238E27FC236}">
                  <a16:creationId xmlns:a16="http://schemas.microsoft.com/office/drawing/2014/main" id="{30CD25E2-6B88-DF43-857B-DE7AE044BB47}"/>
                </a:ext>
              </a:extLst>
            </p:cNvPr>
            <p:cNvSpPr txBox="1"/>
            <p:nvPr/>
          </p:nvSpPr>
          <p:spPr>
            <a:xfrm>
              <a:off x="4306228" y="2576945"/>
              <a:ext cx="492443" cy="276999"/>
            </a:xfrm>
            <a:prstGeom prst="rect">
              <a:avLst/>
            </a:prstGeom>
            <a:noFill/>
          </p:spPr>
          <p:txBody>
            <a:bodyPr wrap="none" rtlCol="0">
              <a:spAutoFit/>
            </a:bodyPr>
            <a:lstStyle/>
            <a:p>
              <a:r>
                <a:rPr lang="zh-CN" altLang="en-US" sz="1200" dirty="0"/>
                <a:t>不</a:t>
              </a:r>
              <a:r>
                <a:rPr lang="zh-CN" altLang="en-CN" sz="1200" dirty="0"/>
                <a:t>在</a:t>
              </a:r>
              <a:endParaRPr lang="en-CN" sz="1200" dirty="0"/>
            </a:p>
          </p:txBody>
        </p:sp>
        <p:cxnSp>
          <p:nvCxnSpPr>
            <p:cNvPr id="17" name="Straight Arrow Connector 16">
              <a:extLst>
                <a:ext uri="{FF2B5EF4-FFF2-40B4-BE49-F238E27FC236}">
                  <a16:creationId xmlns:a16="http://schemas.microsoft.com/office/drawing/2014/main" id="{478BC328-3E6D-D142-8BB0-29B9046F912F}"/>
                </a:ext>
              </a:extLst>
            </p:cNvPr>
            <p:cNvCxnSpPr>
              <a:cxnSpLocks/>
              <a:stCxn id="6" idx="3"/>
              <a:endCxn id="7" idx="0"/>
            </p:cNvCxnSpPr>
            <p:nvPr/>
          </p:nvCxnSpPr>
          <p:spPr>
            <a:xfrm>
              <a:off x="4190838" y="2817000"/>
              <a:ext cx="756746" cy="215930"/>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16">
              <a:extLst>
                <a:ext uri="{FF2B5EF4-FFF2-40B4-BE49-F238E27FC236}">
                  <a16:creationId xmlns:a16="http://schemas.microsoft.com/office/drawing/2014/main" id="{AD5D3EEC-21C4-7445-AA94-EEDF518ED882}"/>
                </a:ext>
              </a:extLst>
            </p:cNvPr>
            <p:cNvCxnSpPr>
              <a:cxnSpLocks/>
              <a:stCxn id="7" idx="3"/>
              <a:endCxn id="33" idx="0"/>
            </p:cNvCxnSpPr>
            <p:nvPr/>
          </p:nvCxnSpPr>
          <p:spPr>
            <a:xfrm>
              <a:off x="5679313" y="3372662"/>
              <a:ext cx="873887" cy="1008837"/>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273E1EF-ACC7-C040-87DA-8B7675341459}"/>
                </a:ext>
              </a:extLst>
            </p:cNvPr>
            <p:cNvSpPr txBox="1"/>
            <p:nvPr/>
          </p:nvSpPr>
          <p:spPr>
            <a:xfrm>
              <a:off x="5722986" y="3130205"/>
              <a:ext cx="492443" cy="276999"/>
            </a:xfrm>
            <a:prstGeom prst="rect">
              <a:avLst/>
            </a:prstGeom>
            <a:noFill/>
          </p:spPr>
          <p:txBody>
            <a:bodyPr wrap="none" rtlCol="0">
              <a:spAutoFit/>
            </a:bodyPr>
            <a:lstStyle/>
            <a:p>
              <a:r>
                <a:rPr lang="zh-CN" altLang="en-US" sz="1200" dirty="0"/>
                <a:t>不</a:t>
              </a:r>
              <a:r>
                <a:rPr lang="zh-CN" altLang="en-CN" sz="1200" dirty="0"/>
                <a:t>在</a:t>
              </a:r>
              <a:endParaRPr lang="en-CN" sz="1200" dirty="0"/>
            </a:p>
          </p:txBody>
        </p:sp>
        <p:sp>
          <p:nvSpPr>
            <p:cNvPr id="32" name="Rectangle 31">
              <a:extLst>
                <a:ext uri="{FF2B5EF4-FFF2-40B4-BE49-F238E27FC236}">
                  <a16:creationId xmlns:a16="http://schemas.microsoft.com/office/drawing/2014/main" id="{E516B282-8AEC-0346-80E3-A39CE602E075}"/>
                </a:ext>
              </a:extLst>
            </p:cNvPr>
            <p:cNvSpPr/>
            <p:nvPr/>
          </p:nvSpPr>
          <p:spPr>
            <a:xfrm>
              <a:off x="4308762" y="3981423"/>
              <a:ext cx="1277641" cy="417245"/>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dk1"/>
                  </a:solidFill>
                </a:rPr>
                <a:t>读取到内存缓存中</a:t>
              </a:r>
              <a:endParaRPr lang="en-CN" sz="1200" dirty="0">
                <a:solidFill>
                  <a:schemeClr val="dk1"/>
                </a:solidFill>
              </a:endParaRPr>
            </a:p>
          </p:txBody>
        </p:sp>
        <p:sp>
          <p:nvSpPr>
            <p:cNvPr id="33" name="Oval 32">
              <a:extLst>
                <a:ext uri="{FF2B5EF4-FFF2-40B4-BE49-F238E27FC236}">
                  <a16:creationId xmlns:a16="http://schemas.microsoft.com/office/drawing/2014/main" id="{A273F300-F95B-D846-A061-B38444894E5D}"/>
                </a:ext>
              </a:extLst>
            </p:cNvPr>
            <p:cNvSpPr/>
            <p:nvPr/>
          </p:nvSpPr>
          <p:spPr>
            <a:xfrm>
              <a:off x="6043721" y="4381499"/>
              <a:ext cx="1018958" cy="594076"/>
            </a:xfrm>
            <a:prstGeom prst="ellipse">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zh-CN" altLang="en-CN" sz="1200" dirty="0">
                  <a:solidFill>
                    <a:schemeClr val="dk1"/>
                  </a:solidFill>
                </a:rPr>
                <a:t>文件</a:t>
              </a:r>
              <a:r>
                <a:rPr lang="zh-CN" altLang="en-US" sz="1200" dirty="0">
                  <a:solidFill>
                    <a:schemeClr val="dk1"/>
                  </a:solidFill>
                </a:rPr>
                <a:t>不存在</a:t>
              </a:r>
              <a:endParaRPr lang="en-CN" sz="1200" dirty="0">
                <a:solidFill>
                  <a:schemeClr val="dk1"/>
                </a:solidFill>
              </a:endParaRPr>
            </a:p>
          </p:txBody>
        </p:sp>
        <p:sp>
          <p:nvSpPr>
            <p:cNvPr id="35" name="Oval 34">
              <a:extLst>
                <a:ext uri="{FF2B5EF4-FFF2-40B4-BE49-F238E27FC236}">
                  <a16:creationId xmlns:a16="http://schemas.microsoft.com/office/drawing/2014/main" id="{205F1942-BF36-4243-9ACF-02E12DC510BE}"/>
                </a:ext>
              </a:extLst>
            </p:cNvPr>
            <p:cNvSpPr/>
            <p:nvPr/>
          </p:nvSpPr>
          <p:spPr>
            <a:xfrm>
              <a:off x="2949629" y="4521951"/>
              <a:ext cx="1018958" cy="594076"/>
            </a:xfrm>
            <a:prstGeom prst="ellipse">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zh-CN" altLang="en-US" sz="1200" dirty="0">
                  <a:solidFill>
                    <a:schemeClr val="dk1"/>
                  </a:solidFill>
                </a:rPr>
                <a:t>找到文件</a:t>
              </a:r>
              <a:endParaRPr lang="en-CN" sz="1200" dirty="0">
                <a:solidFill>
                  <a:schemeClr val="dk1"/>
                </a:solidFill>
              </a:endParaRPr>
            </a:p>
          </p:txBody>
        </p:sp>
        <p:sp>
          <p:nvSpPr>
            <p:cNvPr id="43" name="TextBox 42">
              <a:extLst>
                <a:ext uri="{FF2B5EF4-FFF2-40B4-BE49-F238E27FC236}">
                  <a16:creationId xmlns:a16="http://schemas.microsoft.com/office/drawing/2014/main" id="{B7329434-A5CA-724E-BFC0-6E2E06BA0AB6}"/>
                </a:ext>
              </a:extLst>
            </p:cNvPr>
            <p:cNvSpPr txBox="1"/>
            <p:nvPr/>
          </p:nvSpPr>
          <p:spPr>
            <a:xfrm>
              <a:off x="4569211" y="3673342"/>
              <a:ext cx="338554" cy="276999"/>
            </a:xfrm>
            <a:prstGeom prst="rect">
              <a:avLst/>
            </a:prstGeom>
            <a:noFill/>
          </p:spPr>
          <p:txBody>
            <a:bodyPr wrap="none" rtlCol="0">
              <a:spAutoFit/>
            </a:bodyPr>
            <a:lstStyle/>
            <a:p>
              <a:r>
                <a:rPr lang="zh-CN" altLang="en-CN" sz="1200" dirty="0"/>
                <a:t>在</a:t>
              </a:r>
              <a:endParaRPr lang="en-CN" sz="1200" dirty="0"/>
            </a:p>
          </p:txBody>
        </p:sp>
        <p:cxnSp>
          <p:nvCxnSpPr>
            <p:cNvPr id="44" name="Straight Arrow Connector 43">
              <a:extLst>
                <a:ext uri="{FF2B5EF4-FFF2-40B4-BE49-F238E27FC236}">
                  <a16:creationId xmlns:a16="http://schemas.microsoft.com/office/drawing/2014/main" id="{CEDE177B-B2D5-EF48-A5C1-628E46E706DD}"/>
                </a:ext>
              </a:extLst>
            </p:cNvPr>
            <p:cNvCxnSpPr>
              <a:cxnSpLocks/>
              <a:stCxn id="7" idx="2"/>
              <a:endCxn id="32" idx="0"/>
            </p:cNvCxnSpPr>
            <p:nvPr/>
          </p:nvCxnSpPr>
          <p:spPr>
            <a:xfrm flipH="1">
              <a:off x="4947583" y="3712393"/>
              <a:ext cx="1" cy="26903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69D7EFD-51C9-B842-8CD9-4B97A9BA909B}"/>
                </a:ext>
              </a:extLst>
            </p:cNvPr>
            <p:cNvCxnSpPr>
              <a:cxnSpLocks/>
              <a:stCxn id="32" idx="2"/>
              <a:endCxn id="35" idx="6"/>
            </p:cNvCxnSpPr>
            <p:nvPr/>
          </p:nvCxnSpPr>
          <p:spPr>
            <a:xfrm rot="5400000">
              <a:off x="4247925" y="4119330"/>
              <a:ext cx="420321" cy="978996"/>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2CFAE45-FE82-0F49-87B9-CE5B882FA963}"/>
                </a:ext>
              </a:extLst>
            </p:cNvPr>
            <p:cNvSpPr txBox="1"/>
            <p:nvPr/>
          </p:nvSpPr>
          <p:spPr>
            <a:xfrm>
              <a:off x="1345004" y="2647722"/>
              <a:ext cx="1005403" cy="338554"/>
            </a:xfrm>
            <a:prstGeom prst="rect">
              <a:avLst/>
            </a:prstGeom>
            <a:noFill/>
          </p:spPr>
          <p:txBody>
            <a:bodyPr wrap="none" rtlCol="0">
              <a:spAutoFit/>
            </a:bodyPr>
            <a:lstStyle/>
            <a:p>
              <a:r>
                <a:rPr lang="zh-CN" altLang="en-US" sz="1600" dirty="0">
                  <a:solidFill>
                    <a:srgbClr val="000000">
                      <a:lumMod val="75000"/>
                      <a:lumOff val="25000"/>
                    </a:srgbClr>
                  </a:solidFill>
                </a:rPr>
                <a:t>查找文件</a:t>
              </a:r>
              <a:endParaRPr lang="en-CN" sz="1600" dirty="0"/>
            </a:p>
          </p:txBody>
        </p:sp>
        <p:cxnSp>
          <p:nvCxnSpPr>
            <p:cNvPr id="53" name="Straight Arrow Connector 52">
              <a:extLst>
                <a:ext uri="{FF2B5EF4-FFF2-40B4-BE49-F238E27FC236}">
                  <a16:creationId xmlns:a16="http://schemas.microsoft.com/office/drawing/2014/main" id="{92779A41-8F51-D645-B663-698741816AB0}"/>
                </a:ext>
              </a:extLst>
            </p:cNvPr>
            <p:cNvCxnSpPr>
              <a:cxnSpLocks/>
              <a:stCxn id="52" idx="3"/>
              <a:endCxn id="6" idx="1"/>
            </p:cNvCxnSpPr>
            <p:nvPr/>
          </p:nvCxnSpPr>
          <p:spPr>
            <a:xfrm>
              <a:off x="2350407" y="2816999"/>
              <a:ext cx="376972"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476477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8E4F7-68B0-E64E-A9CB-F14E73C83446}"/>
              </a:ext>
            </a:extLst>
          </p:cNvPr>
          <p:cNvSpPr>
            <a:spLocks noGrp="1"/>
          </p:cNvSpPr>
          <p:nvPr>
            <p:ph type="title"/>
          </p:nvPr>
        </p:nvSpPr>
        <p:spPr/>
        <p:txBody>
          <a:bodyPr/>
          <a:lstStyle/>
          <a:p>
            <a:r>
              <a:rPr lang="zh-CN" altLang="en-CN" dirty="0"/>
              <a:t>宏内核</a:t>
            </a:r>
            <a:r>
              <a:rPr lang="en-US" altLang="zh-CN" dirty="0"/>
              <a:t>(Linux)</a:t>
            </a:r>
            <a:r>
              <a:rPr lang="zh-CN" altLang="en-US" dirty="0"/>
              <a:t>中的存储栈</a:t>
            </a:r>
            <a:endParaRPr lang="en-CN" dirty="0"/>
          </a:p>
        </p:txBody>
      </p:sp>
      <p:sp>
        <p:nvSpPr>
          <p:cNvPr id="4" name="Footer Placeholder 3">
            <a:extLst>
              <a:ext uri="{FF2B5EF4-FFF2-40B4-BE49-F238E27FC236}">
                <a16:creationId xmlns:a16="http://schemas.microsoft.com/office/drawing/2014/main" id="{EB81679D-0569-8447-ACC9-2C7967C519C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Rectangle 4">
            <a:extLst>
              <a:ext uri="{FF2B5EF4-FFF2-40B4-BE49-F238E27FC236}">
                <a16:creationId xmlns:a16="http://schemas.microsoft.com/office/drawing/2014/main" id="{2F022CE3-EB4E-4F4E-AA3A-663FAC670BD7}"/>
              </a:ext>
            </a:extLst>
          </p:cNvPr>
          <p:cNvSpPr/>
          <p:nvPr/>
        </p:nvSpPr>
        <p:spPr>
          <a:xfrm>
            <a:off x="1547664" y="1197175"/>
            <a:ext cx="2808312"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dirty="0"/>
              <a:t>应用</a:t>
            </a:r>
            <a:r>
              <a:rPr lang="zh-CN" altLang="en-US" dirty="0"/>
              <a:t>程序</a:t>
            </a:r>
            <a:endParaRPr lang="en-CN" dirty="0"/>
          </a:p>
        </p:txBody>
      </p:sp>
      <p:sp>
        <p:nvSpPr>
          <p:cNvPr id="7" name="Rectangle 6">
            <a:extLst>
              <a:ext uri="{FF2B5EF4-FFF2-40B4-BE49-F238E27FC236}">
                <a16:creationId xmlns:a16="http://schemas.microsoft.com/office/drawing/2014/main" id="{40C71F31-20C7-EB43-AD3D-E045E2AE33D3}"/>
              </a:ext>
            </a:extLst>
          </p:cNvPr>
          <p:cNvSpPr/>
          <p:nvPr/>
        </p:nvSpPr>
        <p:spPr>
          <a:xfrm>
            <a:off x="1547664" y="4231911"/>
            <a:ext cx="2808312"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设备驱动</a:t>
            </a:r>
            <a:endParaRPr lang="en-CN" dirty="0"/>
          </a:p>
        </p:txBody>
      </p:sp>
      <p:cxnSp>
        <p:nvCxnSpPr>
          <p:cNvPr id="9" name="Straight Connector 8">
            <a:extLst>
              <a:ext uri="{FF2B5EF4-FFF2-40B4-BE49-F238E27FC236}">
                <a16:creationId xmlns:a16="http://schemas.microsoft.com/office/drawing/2014/main" id="{ABEE3542-1315-864E-BA6F-A899AA2C257E}"/>
              </a:ext>
            </a:extLst>
          </p:cNvPr>
          <p:cNvCxnSpPr>
            <a:cxnSpLocks/>
          </p:cNvCxnSpPr>
          <p:nvPr/>
        </p:nvCxnSpPr>
        <p:spPr>
          <a:xfrm>
            <a:off x="858587" y="1791155"/>
            <a:ext cx="377944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18CD26B5-E541-FE40-94C9-531BAC999971}"/>
              </a:ext>
            </a:extLst>
          </p:cNvPr>
          <p:cNvSpPr/>
          <p:nvPr/>
        </p:nvSpPr>
        <p:spPr>
          <a:xfrm>
            <a:off x="1550355" y="2572638"/>
            <a:ext cx="783360" cy="413960"/>
          </a:xfrm>
          <a:prstGeom prst="rect">
            <a:avLst/>
          </a:prstGeom>
          <a:solidFill>
            <a:schemeClr val="bg1">
              <a:lumMod val="9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Ext4</a:t>
            </a:r>
            <a:endParaRPr lang="en-CN" dirty="0"/>
          </a:p>
        </p:txBody>
      </p:sp>
      <p:sp>
        <p:nvSpPr>
          <p:cNvPr id="16" name="Rectangle 15">
            <a:extLst>
              <a:ext uri="{FF2B5EF4-FFF2-40B4-BE49-F238E27FC236}">
                <a16:creationId xmlns:a16="http://schemas.microsoft.com/office/drawing/2014/main" id="{DBCCBA9E-688F-F946-8352-6003E1F5E291}"/>
              </a:ext>
            </a:extLst>
          </p:cNvPr>
          <p:cNvSpPr/>
          <p:nvPr/>
        </p:nvSpPr>
        <p:spPr>
          <a:xfrm>
            <a:off x="2464011" y="2572638"/>
            <a:ext cx="783360"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XFS</a:t>
            </a:r>
            <a:endParaRPr lang="en-CN" dirty="0"/>
          </a:p>
        </p:txBody>
      </p:sp>
      <p:sp>
        <p:nvSpPr>
          <p:cNvPr id="17" name="Rectangle 16">
            <a:extLst>
              <a:ext uri="{FF2B5EF4-FFF2-40B4-BE49-F238E27FC236}">
                <a16:creationId xmlns:a16="http://schemas.microsoft.com/office/drawing/2014/main" id="{E2E44587-E1D2-C24B-97EC-EE5E90B061DE}"/>
              </a:ext>
            </a:extLst>
          </p:cNvPr>
          <p:cNvSpPr/>
          <p:nvPr/>
        </p:nvSpPr>
        <p:spPr>
          <a:xfrm>
            <a:off x="3377667" y="2572638"/>
            <a:ext cx="783360"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F2FS</a:t>
            </a:r>
            <a:endParaRPr lang="en-CN" dirty="0"/>
          </a:p>
        </p:txBody>
      </p:sp>
      <p:sp>
        <p:nvSpPr>
          <p:cNvPr id="18" name="Rectangle 17">
            <a:extLst>
              <a:ext uri="{FF2B5EF4-FFF2-40B4-BE49-F238E27FC236}">
                <a16:creationId xmlns:a16="http://schemas.microsoft.com/office/drawing/2014/main" id="{82610BD7-7A18-594B-9972-C835CA6DAC24}"/>
              </a:ext>
            </a:extLst>
          </p:cNvPr>
          <p:cNvSpPr/>
          <p:nvPr/>
        </p:nvSpPr>
        <p:spPr>
          <a:xfrm>
            <a:off x="1547664" y="3223755"/>
            <a:ext cx="2808312"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块抽象</a:t>
            </a:r>
            <a:endParaRPr lang="en-CN" dirty="0"/>
          </a:p>
        </p:txBody>
      </p:sp>
      <p:sp>
        <p:nvSpPr>
          <p:cNvPr id="19" name="Rectangle 18">
            <a:extLst>
              <a:ext uri="{FF2B5EF4-FFF2-40B4-BE49-F238E27FC236}">
                <a16:creationId xmlns:a16="http://schemas.microsoft.com/office/drawing/2014/main" id="{9ED0489F-B37B-064E-AB6B-51658D096981}"/>
              </a:ext>
            </a:extLst>
          </p:cNvPr>
          <p:cNvSpPr/>
          <p:nvPr/>
        </p:nvSpPr>
        <p:spPr>
          <a:xfrm>
            <a:off x="1547664" y="3739583"/>
            <a:ext cx="2808312"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I/O</a:t>
            </a:r>
            <a:r>
              <a:rPr lang="zh-CN" altLang="en-US" dirty="0"/>
              <a:t>调度</a:t>
            </a:r>
            <a:endParaRPr lang="en-CN" dirty="0"/>
          </a:p>
        </p:txBody>
      </p:sp>
      <p:sp>
        <p:nvSpPr>
          <p:cNvPr id="20" name="Rectangle 19">
            <a:extLst>
              <a:ext uri="{FF2B5EF4-FFF2-40B4-BE49-F238E27FC236}">
                <a16:creationId xmlns:a16="http://schemas.microsoft.com/office/drawing/2014/main" id="{985376AD-3E78-5441-BA4D-2C57C747854C}"/>
              </a:ext>
            </a:extLst>
          </p:cNvPr>
          <p:cNvSpPr/>
          <p:nvPr/>
        </p:nvSpPr>
        <p:spPr>
          <a:xfrm>
            <a:off x="1547664" y="1985713"/>
            <a:ext cx="2808312" cy="413960"/>
          </a:xfrm>
          <a:prstGeom prst="rect">
            <a:avLst/>
          </a:prstGeom>
          <a:solidFill>
            <a:schemeClr val="bg1">
              <a:lumMod val="95000"/>
            </a:schemeClr>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虚拟文件系统</a:t>
            </a:r>
            <a:endParaRPr lang="en-CN" dirty="0"/>
          </a:p>
        </p:txBody>
      </p:sp>
      <p:cxnSp>
        <p:nvCxnSpPr>
          <p:cNvPr id="21" name="Straight Connector 20">
            <a:extLst>
              <a:ext uri="{FF2B5EF4-FFF2-40B4-BE49-F238E27FC236}">
                <a16:creationId xmlns:a16="http://schemas.microsoft.com/office/drawing/2014/main" id="{5B30FC87-468D-D24B-A270-5382044B82E2}"/>
              </a:ext>
            </a:extLst>
          </p:cNvPr>
          <p:cNvCxnSpPr>
            <a:cxnSpLocks/>
          </p:cNvCxnSpPr>
          <p:nvPr/>
        </p:nvCxnSpPr>
        <p:spPr>
          <a:xfrm>
            <a:off x="858587" y="4801716"/>
            <a:ext cx="377944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A85CF9C-E81F-A044-A251-2C5183E9899C}"/>
              </a:ext>
            </a:extLst>
          </p:cNvPr>
          <p:cNvSpPr txBox="1"/>
          <p:nvPr/>
        </p:nvSpPr>
        <p:spPr>
          <a:xfrm>
            <a:off x="720566" y="4936440"/>
            <a:ext cx="646331" cy="369332"/>
          </a:xfrm>
          <a:prstGeom prst="rect">
            <a:avLst/>
          </a:prstGeom>
          <a:noFill/>
        </p:spPr>
        <p:txBody>
          <a:bodyPr wrap="none" rtlCol="0">
            <a:spAutoFit/>
          </a:bodyPr>
          <a:lstStyle/>
          <a:p>
            <a:r>
              <a:rPr lang="zh-CN" altLang="en-CN" dirty="0"/>
              <a:t>硬件</a:t>
            </a:r>
            <a:endParaRPr lang="en-CN" dirty="0"/>
          </a:p>
        </p:txBody>
      </p:sp>
      <p:sp>
        <p:nvSpPr>
          <p:cNvPr id="24" name="TextBox 23">
            <a:extLst>
              <a:ext uri="{FF2B5EF4-FFF2-40B4-BE49-F238E27FC236}">
                <a16:creationId xmlns:a16="http://schemas.microsoft.com/office/drawing/2014/main" id="{21BA5F5E-329C-3F4A-8958-0A49A69C752B}"/>
              </a:ext>
            </a:extLst>
          </p:cNvPr>
          <p:cNvSpPr txBox="1"/>
          <p:nvPr/>
        </p:nvSpPr>
        <p:spPr>
          <a:xfrm>
            <a:off x="743088" y="3020032"/>
            <a:ext cx="646331" cy="369332"/>
          </a:xfrm>
          <a:prstGeom prst="rect">
            <a:avLst/>
          </a:prstGeom>
          <a:noFill/>
        </p:spPr>
        <p:txBody>
          <a:bodyPr wrap="none" rtlCol="0">
            <a:spAutoFit/>
          </a:bodyPr>
          <a:lstStyle/>
          <a:p>
            <a:r>
              <a:rPr lang="zh-CN" altLang="en-US" dirty="0"/>
              <a:t>内核</a:t>
            </a:r>
            <a:endParaRPr lang="en-CN" dirty="0"/>
          </a:p>
        </p:txBody>
      </p:sp>
      <p:sp>
        <p:nvSpPr>
          <p:cNvPr id="25" name="TextBox 24">
            <a:extLst>
              <a:ext uri="{FF2B5EF4-FFF2-40B4-BE49-F238E27FC236}">
                <a16:creationId xmlns:a16="http://schemas.microsoft.com/office/drawing/2014/main" id="{9210E90B-3301-2043-814A-501640B9740F}"/>
              </a:ext>
            </a:extLst>
          </p:cNvPr>
          <p:cNvSpPr txBox="1"/>
          <p:nvPr/>
        </p:nvSpPr>
        <p:spPr>
          <a:xfrm>
            <a:off x="754239" y="1149130"/>
            <a:ext cx="646331" cy="369332"/>
          </a:xfrm>
          <a:prstGeom prst="rect">
            <a:avLst/>
          </a:prstGeom>
          <a:noFill/>
        </p:spPr>
        <p:txBody>
          <a:bodyPr wrap="none" rtlCol="0">
            <a:spAutoFit/>
          </a:bodyPr>
          <a:lstStyle/>
          <a:p>
            <a:r>
              <a:rPr lang="zh-CN" altLang="en-CN" dirty="0"/>
              <a:t>应用</a:t>
            </a:r>
            <a:endParaRPr lang="en-CN" dirty="0"/>
          </a:p>
        </p:txBody>
      </p:sp>
      <p:sp>
        <p:nvSpPr>
          <p:cNvPr id="27" name="TextBox 26">
            <a:extLst>
              <a:ext uri="{FF2B5EF4-FFF2-40B4-BE49-F238E27FC236}">
                <a16:creationId xmlns:a16="http://schemas.microsoft.com/office/drawing/2014/main" id="{4E779C85-C6B6-A74D-BA04-334F6B4F9051}"/>
              </a:ext>
            </a:extLst>
          </p:cNvPr>
          <p:cNvSpPr txBox="1"/>
          <p:nvPr/>
        </p:nvSpPr>
        <p:spPr>
          <a:xfrm>
            <a:off x="4821306" y="4278270"/>
            <a:ext cx="2031325" cy="338554"/>
          </a:xfrm>
          <a:prstGeom prst="rect">
            <a:avLst/>
          </a:prstGeom>
          <a:noFill/>
        </p:spPr>
        <p:txBody>
          <a:bodyPr wrap="none" rtlCol="0">
            <a:spAutoFit/>
          </a:bodyPr>
          <a:lstStyle/>
          <a:p>
            <a:r>
              <a:rPr lang="zh-CN" altLang="en-CN" sz="1600" dirty="0"/>
              <a:t>负责</a:t>
            </a:r>
            <a:r>
              <a:rPr lang="zh-CN" altLang="en-US" sz="1600" dirty="0"/>
              <a:t>与设备进行通讯</a:t>
            </a:r>
            <a:endParaRPr lang="en-CN" sz="1600" dirty="0"/>
          </a:p>
        </p:txBody>
      </p:sp>
      <p:sp>
        <p:nvSpPr>
          <p:cNvPr id="28" name="TextBox 27">
            <a:extLst>
              <a:ext uri="{FF2B5EF4-FFF2-40B4-BE49-F238E27FC236}">
                <a16:creationId xmlns:a16="http://schemas.microsoft.com/office/drawing/2014/main" id="{717246FC-F2AD-D041-9CF9-3529D7406E14}"/>
              </a:ext>
            </a:extLst>
          </p:cNvPr>
          <p:cNvSpPr txBox="1"/>
          <p:nvPr/>
        </p:nvSpPr>
        <p:spPr>
          <a:xfrm>
            <a:off x="4821306" y="3781395"/>
            <a:ext cx="2512226" cy="338554"/>
          </a:xfrm>
          <a:prstGeom prst="rect">
            <a:avLst/>
          </a:prstGeom>
          <a:noFill/>
        </p:spPr>
        <p:txBody>
          <a:bodyPr wrap="none" rtlCol="0">
            <a:spAutoFit/>
          </a:bodyPr>
          <a:lstStyle/>
          <a:p>
            <a:r>
              <a:rPr lang="zh-CN" altLang="en-US" sz="1600" dirty="0"/>
              <a:t>将</a:t>
            </a:r>
            <a:r>
              <a:rPr lang="en-US" altLang="zh-CN" sz="1600" dirty="0"/>
              <a:t>I/O</a:t>
            </a:r>
            <a:r>
              <a:rPr lang="zh-CN" altLang="en-US" sz="1600" dirty="0"/>
              <a:t>请求进行合并和调度</a:t>
            </a:r>
            <a:endParaRPr lang="en-CN" sz="1600" dirty="0"/>
          </a:p>
        </p:txBody>
      </p:sp>
      <p:sp>
        <p:nvSpPr>
          <p:cNvPr id="29" name="TextBox 28">
            <a:extLst>
              <a:ext uri="{FF2B5EF4-FFF2-40B4-BE49-F238E27FC236}">
                <a16:creationId xmlns:a16="http://schemas.microsoft.com/office/drawing/2014/main" id="{F7CFE13A-1E3A-E34E-9687-74EE67EB4BDE}"/>
              </a:ext>
            </a:extLst>
          </p:cNvPr>
          <p:cNvSpPr txBox="1"/>
          <p:nvPr/>
        </p:nvSpPr>
        <p:spPr>
          <a:xfrm>
            <a:off x="4821306" y="3251301"/>
            <a:ext cx="1826141" cy="338554"/>
          </a:xfrm>
          <a:prstGeom prst="rect">
            <a:avLst/>
          </a:prstGeom>
          <a:noFill/>
        </p:spPr>
        <p:txBody>
          <a:bodyPr wrap="none" rtlCol="0">
            <a:spAutoFit/>
          </a:bodyPr>
          <a:lstStyle/>
          <a:p>
            <a:r>
              <a:rPr lang="zh-CN" altLang="en-CN" sz="1600" dirty="0"/>
              <a:t>提供</a:t>
            </a:r>
            <a:r>
              <a:rPr lang="zh-CN" altLang="en-US" sz="1600" dirty="0"/>
              <a:t>和管理块抽象</a:t>
            </a:r>
            <a:endParaRPr lang="en-CN" sz="1600" dirty="0"/>
          </a:p>
        </p:txBody>
      </p:sp>
      <p:sp>
        <p:nvSpPr>
          <p:cNvPr id="30" name="TextBox 29">
            <a:extLst>
              <a:ext uri="{FF2B5EF4-FFF2-40B4-BE49-F238E27FC236}">
                <a16:creationId xmlns:a16="http://schemas.microsoft.com/office/drawing/2014/main" id="{C6F507E8-3862-B14A-9061-FE6B36456AF2}"/>
              </a:ext>
            </a:extLst>
          </p:cNvPr>
          <p:cNvSpPr txBox="1"/>
          <p:nvPr/>
        </p:nvSpPr>
        <p:spPr>
          <a:xfrm>
            <a:off x="4821306" y="2617362"/>
            <a:ext cx="3574788" cy="584775"/>
          </a:xfrm>
          <a:prstGeom prst="rect">
            <a:avLst/>
          </a:prstGeom>
          <a:noFill/>
        </p:spPr>
        <p:txBody>
          <a:bodyPr wrap="square" rtlCol="0">
            <a:spAutoFit/>
          </a:bodyPr>
          <a:lstStyle/>
          <a:p>
            <a:r>
              <a:rPr lang="zh-CN" altLang="en-US" sz="1600" dirty="0"/>
              <a:t>具体的文件系统实现，管理存储上的文件系统格式和数据</a:t>
            </a:r>
            <a:endParaRPr lang="en-CN" sz="1600" dirty="0"/>
          </a:p>
        </p:txBody>
      </p:sp>
      <p:sp>
        <p:nvSpPr>
          <p:cNvPr id="31" name="TextBox 30">
            <a:extLst>
              <a:ext uri="{FF2B5EF4-FFF2-40B4-BE49-F238E27FC236}">
                <a16:creationId xmlns:a16="http://schemas.microsoft.com/office/drawing/2014/main" id="{7F05386F-39CA-C143-AA1D-DBC3B19F3FD1}"/>
              </a:ext>
            </a:extLst>
          </p:cNvPr>
          <p:cNvSpPr txBox="1"/>
          <p:nvPr/>
        </p:nvSpPr>
        <p:spPr>
          <a:xfrm>
            <a:off x="4821306" y="1970589"/>
            <a:ext cx="3574788" cy="584775"/>
          </a:xfrm>
          <a:prstGeom prst="rect">
            <a:avLst/>
          </a:prstGeom>
          <a:noFill/>
        </p:spPr>
        <p:txBody>
          <a:bodyPr wrap="square" rtlCol="0">
            <a:spAutoFit/>
          </a:bodyPr>
          <a:lstStyle/>
          <a:p>
            <a:r>
              <a:rPr lang="zh-CN" altLang="en-US" sz="1600" dirty="0"/>
              <a:t>管理多个文件系统，提供统一抽象、</a:t>
            </a:r>
            <a:r>
              <a:rPr lang="en-US" altLang="zh-CN" sz="1600" dirty="0" err="1"/>
              <a:t>icache</a:t>
            </a:r>
            <a:r>
              <a:rPr lang="zh-CN" altLang="en-US" sz="1600" dirty="0"/>
              <a:t>、</a:t>
            </a:r>
            <a:r>
              <a:rPr lang="en-US" altLang="zh-CN" sz="1600" dirty="0" err="1"/>
              <a:t>dcache</a:t>
            </a:r>
            <a:r>
              <a:rPr lang="zh-CN" altLang="en-US" sz="1600" dirty="0"/>
              <a:t>、页缓存等</a:t>
            </a:r>
            <a:endParaRPr lang="en-CN" sz="1600" dirty="0"/>
          </a:p>
        </p:txBody>
      </p:sp>
      <p:sp>
        <p:nvSpPr>
          <p:cNvPr id="3" name="Slide Number Placeholder 2">
            <a:extLst>
              <a:ext uri="{FF2B5EF4-FFF2-40B4-BE49-F238E27FC236}">
                <a16:creationId xmlns:a16="http://schemas.microsoft.com/office/drawing/2014/main" id="{EFEE112C-40F2-104D-BDE5-397112224620}"/>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26" name="Rectangle 25">
            <a:extLst>
              <a:ext uri="{FF2B5EF4-FFF2-40B4-BE49-F238E27FC236}">
                <a16:creationId xmlns:a16="http://schemas.microsoft.com/office/drawing/2014/main" id="{EB0D4CF6-88AF-1348-A835-FDDB64C31CCD}"/>
              </a:ext>
            </a:extLst>
          </p:cNvPr>
          <p:cNvSpPr/>
          <p:nvPr/>
        </p:nvSpPr>
        <p:spPr>
          <a:xfrm>
            <a:off x="1547664" y="4931715"/>
            <a:ext cx="1152128"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机械硬盘</a:t>
            </a:r>
            <a:endParaRPr lang="en-CN" dirty="0"/>
          </a:p>
        </p:txBody>
      </p:sp>
      <p:sp>
        <p:nvSpPr>
          <p:cNvPr id="32" name="Rectangle 31">
            <a:extLst>
              <a:ext uri="{FF2B5EF4-FFF2-40B4-BE49-F238E27FC236}">
                <a16:creationId xmlns:a16="http://schemas.microsoft.com/office/drawing/2014/main" id="{58CCBE13-E109-AF45-8C53-3F1D7AD51B2A}"/>
              </a:ext>
            </a:extLst>
          </p:cNvPr>
          <p:cNvSpPr/>
          <p:nvPr/>
        </p:nvSpPr>
        <p:spPr>
          <a:xfrm>
            <a:off x="2887719" y="4920859"/>
            <a:ext cx="1152128"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固态硬盘</a:t>
            </a:r>
            <a:endParaRPr lang="en-CN" dirty="0"/>
          </a:p>
        </p:txBody>
      </p:sp>
      <p:sp>
        <p:nvSpPr>
          <p:cNvPr id="6" name="TextBox 5">
            <a:extLst>
              <a:ext uri="{FF2B5EF4-FFF2-40B4-BE49-F238E27FC236}">
                <a16:creationId xmlns:a16="http://schemas.microsoft.com/office/drawing/2014/main" id="{8291F3DB-A005-654C-AF64-92EABA56635E}"/>
              </a:ext>
            </a:extLst>
          </p:cNvPr>
          <p:cNvSpPr txBox="1"/>
          <p:nvPr/>
        </p:nvSpPr>
        <p:spPr>
          <a:xfrm>
            <a:off x="4108367" y="4877392"/>
            <a:ext cx="432262" cy="369332"/>
          </a:xfrm>
          <a:prstGeom prst="rect">
            <a:avLst/>
          </a:prstGeom>
          <a:noFill/>
        </p:spPr>
        <p:txBody>
          <a:bodyPr wrap="square" rtlCol="0">
            <a:spAutoFit/>
          </a:bodyPr>
          <a:lstStyle/>
          <a:p>
            <a:r>
              <a:rPr lang="en-US" altLang="zh-CN" dirty="0"/>
              <a:t>…</a:t>
            </a:r>
            <a:endParaRPr lang="en-CN" dirty="0"/>
          </a:p>
        </p:txBody>
      </p:sp>
    </p:spTree>
    <p:extLst>
      <p:ext uri="{BB962C8B-B14F-4D97-AF65-F5344CB8AC3E}">
        <p14:creationId xmlns:p14="http://schemas.microsoft.com/office/powerpoint/2010/main" val="789103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0FBBE-4277-D24A-9C9D-98DBAF33329D}"/>
              </a:ext>
            </a:extLst>
          </p:cNvPr>
          <p:cNvSpPr>
            <a:spLocks noGrp="1"/>
          </p:cNvSpPr>
          <p:nvPr>
            <p:ph type="title"/>
          </p:nvPr>
        </p:nvSpPr>
        <p:spPr/>
        <p:txBody>
          <a:bodyPr/>
          <a:lstStyle/>
          <a:p>
            <a:r>
              <a:rPr lang="en-US" altLang="zh-CN" dirty="0" err="1"/>
              <a:t>ChCore</a:t>
            </a:r>
            <a:r>
              <a:rPr lang="zh-CN" altLang="en-US" dirty="0"/>
              <a:t>中的文件与存储结构</a:t>
            </a:r>
            <a:endParaRPr lang="en-CN" dirty="0"/>
          </a:p>
        </p:txBody>
      </p:sp>
      <p:sp>
        <p:nvSpPr>
          <p:cNvPr id="4" name="Footer Placeholder 3">
            <a:extLst>
              <a:ext uri="{FF2B5EF4-FFF2-40B4-BE49-F238E27FC236}">
                <a16:creationId xmlns:a16="http://schemas.microsoft.com/office/drawing/2014/main" id="{2621ECDA-46A8-EF46-831E-4B116FD4EDE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cxnSp>
        <p:nvCxnSpPr>
          <p:cNvPr id="5" name="Straight Connector 4">
            <a:extLst>
              <a:ext uri="{FF2B5EF4-FFF2-40B4-BE49-F238E27FC236}">
                <a16:creationId xmlns:a16="http://schemas.microsoft.com/office/drawing/2014/main" id="{A55B046B-8634-DE48-9F47-CD1DAFA28512}"/>
              </a:ext>
            </a:extLst>
          </p:cNvPr>
          <p:cNvCxnSpPr>
            <a:cxnSpLocks/>
          </p:cNvCxnSpPr>
          <p:nvPr/>
        </p:nvCxnSpPr>
        <p:spPr>
          <a:xfrm>
            <a:off x="899592" y="3433564"/>
            <a:ext cx="756084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F1ADF58-39BC-6C47-81AB-E4D7961893BC}"/>
              </a:ext>
            </a:extLst>
          </p:cNvPr>
          <p:cNvSpPr/>
          <p:nvPr/>
        </p:nvSpPr>
        <p:spPr>
          <a:xfrm>
            <a:off x="1385156" y="3667056"/>
            <a:ext cx="2808312"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err="1"/>
              <a:t>ChCore</a:t>
            </a:r>
            <a:r>
              <a:rPr lang="zh-CN" altLang="en-US" dirty="0"/>
              <a:t> 微内核</a:t>
            </a:r>
            <a:endParaRPr lang="en-CN" dirty="0"/>
          </a:p>
        </p:txBody>
      </p:sp>
      <p:sp>
        <p:nvSpPr>
          <p:cNvPr id="7" name="Rectangle 6">
            <a:extLst>
              <a:ext uri="{FF2B5EF4-FFF2-40B4-BE49-F238E27FC236}">
                <a16:creationId xmlns:a16="http://schemas.microsoft.com/office/drawing/2014/main" id="{52E9A099-12F2-9646-AB9A-E5257886EAC4}"/>
              </a:ext>
            </a:extLst>
          </p:cNvPr>
          <p:cNvSpPr/>
          <p:nvPr/>
        </p:nvSpPr>
        <p:spPr>
          <a:xfrm>
            <a:off x="2627784" y="2290497"/>
            <a:ext cx="1349660" cy="7110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CN" altLang="zh-CN" dirty="0"/>
              <a:t>FS</a:t>
            </a:r>
            <a:r>
              <a:rPr lang="zh-CN" altLang="en-CN" dirty="0"/>
              <a:t>管理器</a:t>
            </a:r>
            <a:endParaRPr lang="en-CN" dirty="0"/>
          </a:p>
        </p:txBody>
      </p:sp>
      <p:sp>
        <p:nvSpPr>
          <p:cNvPr id="8" name="Rectangle 7">
            <a:extLst>
              <a:ext uri="{FF2B5EF4-FFF2-40B4-BE49-F238E27FC236}">
                <a16:creationId xmlns:a16="http://schemas.microsoft.com/office/drawing/2014/main" id="{2A50D109-A548-CB4F-BC64-3FD0BA04B843}"/>
              </a:ext>
            </a:extLst>
          </p:cNvPr>
          <p:cNvSpPr/>
          <p:nvPr/>
        </p:nvSpPr>
        <p:spPr>
          <a:xfrm>
            <a:off x="861629" y="1849392"/>
            <a:ext cx="1190091" cy="63902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dirty="0"/>
              <a:t>应用</a:t>
            </a:r>
            <a:r>
              <a:rPr lang="zh-CN" altLang="en-US" dirty="0"/>
              <a:t>程序</a:t>
            </a:r>
            <a:endParaRPr lang="en-CN" dirty="0"/>
          </a:p>
        </p:txBody>
      </p:sp>
      <p:sp>
        <p:nvSpPr>
          <p:cNvPr id="9" name="Rectangle 8">
            <a:extLst>
              <a:ext uri="{FF2B5EF4-FFF2-40B4-BE49-F238E27FC236}">
                <a16:creationId xmlns:a16="http://schemas.microsoft.com/office/drawing/2014/main" id="{B8FB8F03-8A77-F041-85F2-19EBB03C56A0}"/>
              </a:ext>
            </a:extLst>
          </p:cNvPr>
          <p:cNvSpPr/>
          <p:nvPr/>
        </p:nvSpPr>
        <p:spPr>
          <a:xfrm>
            <a:off x="4908167" y="1633948"/>
            <a:ext cx="1190091" cy="551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dirty="0"/>
              <a:t>文件系统</a:t>
            </a:r>
            <a:r>
              <a:rPr lang="en-US" altLang="zh-CN" dirty="0"/>
              <a:t>1</a:t>
            </a:r>
            <a:endParaRPr lang="en-CN" dirty="0"/>
          </a:p>
        </p:txBody>
      </p:sp>
      <p:sp>
        <p:nvSpPr>
          <p:cNvPr id="10" name="Rectangle 9">
            <a:extLst>
              <a:ext uri="{FF2B5EF4-FFF2-40B4-BE49-F238E27FC236}">
                <a16:creationId xmlns:a16="http://schemas.microsoft.com/office/drawing/2014/main" id="{B7888CDA-DB26-0940-953E-A3D35C11619E}"/>
              </a:ext>
            </a:extLst>
          </p:cNvPr>
          <p:cNvSpPr/>
          <p:nvPr/>
        </p:nvSpPr>
        <p:spPr>
          <a:xfrm>
            <a:off x="6850596" y="2126937"/>
            <a:ext cx="1548172"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设备驱动</a:t>
            </a:r>
            <a:endParaRPr lang="en-CN" dirty="0"/>
          </a:p>
        </p:txBody>
      </p:sp>
      <p:cxnSp>
        <p:nvCxnSpPr>
          <p:cNvPr id="12" name="Straight Connector 11">
            <a:extLst>
              <a:ext uri="{FF2B5EF4-FFF2-40B4-BE49-F238E27FC236}">
                <a16:creationId xmlns:a16="http://schemas.microsoft.com/office/drawing/2014/main" id="{442D2741-EE1A-7F44-8CC1-1A00CCF3F805}"/>
              </a:ext>
            </a:extLst>
          </p:cNvPr>
          <p:cNvCxnSpPr>
            <a:cxnSpLocks/>
          </p:cNvCxnSpPr>
          <p:nvPr/>
        </p:nvCxnSpPr>
        <p:spPr>
          <a:xfrm>
            <a:off x="899592" y="4369668"/>
            <a:ext cx="756084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032FF26C-145F-D542-9542-9FBECB764AB8}"/>
              </a:ext>
            </a:extLst>
          </p:cNvPr>
          <p:cNvSpPr/>
          <p:nvPr/>
        </p:nvSpPr>
        <p:spPr>
          <a:xfrm>
            <a:off x="5038093" y="2442174"/>
            <a:ext cx="1190091" cy="551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dirty="0"/>
              <a:t>文件系统</a:t>
            </a:r>
            <a:r>
              <a:rPr lang="en-US" altLang="zh-CN" dirty="0"/>
              <a:t>2</a:t>
            </a:r>
            <a:endParaRPr lang="en-CN" dirty="0"/>
          </a:p>
        </p:txBody>
      </p:sp>
      <p:cxnSp>
        <p:nvCxnSpPr>
          <p:cNvPr id="15" name="Straight Arrow Connector 14">
            <a:extLst>
              <a:ext uri="{FF2B5EF4-FFF2-40B4-BE49-F238E27FC236}">
                <a16:creationId xmlns:a16="http://schemas.microsoft.com/office/drawing/2014/main" id="{8A66D2FA-BB29-4C49-9E0F-191DA0D46C3D}"/>
              </a:ext>
            </a:extLst>
          </p:cNvPr>
          <p:cNvCxnSpPr>
            <a:stCxn id="8" idx="3"/>
            <a:endCxn id="7" idx="1"/>
          </p:cNvCxnSpPr>
          <p:nvPr/>
        </p:nvCxnSpPr>
        <p:spPr>
          <a:xfrm>
            <a:off x="2051720" y="2168904"/>
            <a:ext cx="576064" cy="4771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2EE9249-0C39-9E4F-9EF7-4985A85AC44C}"/>
              </a:ext>
            </a:extLst>
          </p:cNvPr>
          <p:cNvCxnSpPr>
            <a:cxnSpLocks/>
            <a:stCxn id="7" idx="3"/>
            <a:endCxn id="13" idx="1"/>
          </p:cNvCxnSpPr>
          <p:nvPr/>
        </p:nvCxnSpPr>
        <p:spPr>
          <a:xfrm>
            <a:off x="3977444" y="2646007"/>
            <a:ext cx="1060649" cy="720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81389F6-0937-5F4B-85A5-5962D5CA525D}"/>
              </a:ext>
            </a:extLst>
          </p:cNvPr>
          <p:cNvCxnSpPr>
            <a:cxnSpLocks/>
            <a:stCxn id="7" idx="3"/>
            <a:endCxn id="9" idx="1"/>
          </p:cNvCxnSpPr>
          <p:nvPr/>
        </p:nvCxnSpPr>
        <p:spPr>
          <a:xfrm flipV="1">
            <a:off x="3977444" y="1909788"/>
            <a:ext cx="930723" cy="73621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0677880-2CA5-D44A-B4D3-BBE30BE3607C}"/>
              </a:ext>
            </a:extLst>
          </p:cNvPr>
          <p:cNvCxnSpPr>
            <a:cxnSpLocks/>
            <a:stCxn id="10" idx="2"/>
            <a:endCxn id="31" idx="0"/>
          </p:cNvCxnSpPr>
          <p:nvPr/>
        </p:nvCxnSpPr>
        <p:spPr>
          <a:xfrm flipH="1">
            <a:off x="7620000" y="2540897"/>
            <a:ext cx="4682" cy="221001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C09A2D2-3306-FF49-BBD9-6B9EC08A6378}"/>
              </a:ext>
            </a:extLst>
          </p:cNvPr>
          <p:cNvCxnSpPr>
            <a:cxnSpLocks/>
            <a:stCxn id="13" idx="3"/>
            <a:endCxn id="10" idx="1"/>
          </p:cNvCxnSpPr>
          <p:nvPr/>
        </p:nvCxnSpPr>
        <p:spPr>
          <a:xfrm flipV="1">
            <a:off x="6228184" y="2333917"/>
            <a:ext cx="622412" cy="38409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A2CBB711-9DD4-A042-9F79-F4F79F8DA006}"/>
              </a:ext>
            </a:extLst>
          </p:cNvPr>
          <p:cNvCxnSpPr>
            <a:cxnSpLocks/>
            <a:stCxn id="9" idx="3"/>
            <a:endCxn id="10" idx="1"/>
          </p:cNvCxnSpPr>
          <p:nvPr/>
        </p:nvCxnSpPr>
        <p:spPr>
          <a:xfrm>
            <a:off x="6098258" y="1909788"/>
            <a:ext cx="752338" cy="4241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06DCF4D-8727-3F41-88C8-8F4FB08F054F}"/>
              </a:ext>
            </a:extLst>
          </p:cNvPr>
          <p:cNvSpPr txBox="1"/>
          <p:nvPr/>
        </p:nvSpPr>
        <p:spPr>
          <a:xfrm>
            <a:off x="2144578" y="2013543"/>
            <a:ext cx="569387" cy="369332"/>
          </a:xfrm>
          <a:prstGeom prst="rect">
            <a:avLst/>
          </a:prstGeom>
          <a:noFill/>
        </p:spPr>
        <p:txBody>
          <a:bodyPr wrap="none" rtlCol="0">
            <a:spAutoFit/>
          </a:bodyPr>
          <a:lstStyle/>
          <a:p>
            <a:r>
              <a:rPr lang="en-CN" dirty="0"/>
              <a:t>IPC</a:t>
            </a:r>
          </a:p>
        </p:txBody>
      </p:sp>
      <p:sp>
        <p:nvSpPr>
          <p:cNvPr id="33" name="TextBox 32">
            <a:extLst>
              <a:ext uri="{FF2B5EF4-FFF2-40B4-BE49-F238E27FC236}">
                <a16:creationId xmlns:a16="http://schemas.microsoft.com/office/drawing/2014/main" id="{C0EF59C3-C844-E241-B54E-7090C8905FF5}"/>
              </a:ext>
            </a:extLst>
          </p:cNvPr>
          <p:cNvSpPr txBox="1"/>
          <p:nvPr/>
        </p:nvSpPr>
        <p:spPr>
          <a:xfrm>
            <a:off x="3960854" y="1907594"/>
            <a:ext cx="569387" cy="369332"/>
          </a:xfrm>
          <a:prstGeom prst="rect">
            <a:avLst/>
          </a:prstGeom>
          <a:noFill/>
        </p:spPr>
        <p:txBody>
          <a:bodyPr wrap="none" rtlCol="0">
            <a:spAutoFit/>
          </a:bodyPr>
          <a:lstStyle/>
          <a:p>
            <a:r>
              <a:rPr lang="en-CN" dirty="0"/>
              <a:t>IPC</a:t>
            </a:r>
          </a:p>
        </p:txBody>
      </p:sp>
      <p:sp>
        <p:nvSpPr>
          <p:cNvPr id="34" name="TextBox 33">
            <a:extLst>
              <a:ext uri="{FF2B5EF4-FFF2-40B4-BE49-F238E27FC236}">
                <a16:creationId xmlns:a16="http://schemas.microsoft.com/office/drawing/2014/main" id="{3EF66A0D-8A6E-0948-8184-8FA0037ACDE5}"/>
              </a:ext>
            </a:extLst>
          </p:cNvPr>
          <p:cNvSpPr txBox="1"/>
          <p:nvPr/>
        </p:nvSpPr>
        <p:spPr>
          <a:xfrm>
            <a:off x="4232934" y="2642311"/>
            <a:ext cx="569387" cy="369332"/>
          </a:xfrm>
          <a:prstGeom prst="rect">
            <a:avLst/>
          </a:prstGeom>
          <a:noFill/>
        </p:spPr>
        <p:txBody>
          <a:bodyPr wrap="none" rtlCol="0">
            <a:spAutoFit/>
          </a:bodyPr>
          <a:lstStyle/>
          <a:p>
            <a:r>
              <a:rPr lang="en-CN" dirty="0"/>
              <a:t>IPC</a:t>
            </a:r>
          </a:p>
        </p:txBody>
      </p:sp>
      <p:sp>
        <p:nvSpPr>
          <p:cNvPr id="35" name="TextBox 34">
            <a:extLst>
              <a:ext uri="{FF2B5EF4-FFF2-40B4-BE49-F238E27FC236}">
                <a16:creationId xmlns:a16="http://schemas.microsoft.com/office/drawing/2014/main" id="{E617A4D8-E822-F147-A104-980C1A820935}"/>
              </a:ext>
            </a:extLst>
          </p:cNvPr>
          <p:cNvSpPr txBox="1"/>
          <p:nvPr/>
        </p:nvSpPr>
        <p:spPr>
          <a:xfrm>
            <a:off x="6159401" y="1669198"/>
            <a:ext cx="569387" cy="369332"/>
          </a:xfrm>
          <a:prstGeom prst="rect">
            <a:avLst/>
          </a:prstGeom>
          <a:noFill/>
        </p:spPr>
        <p:txBody>
          <a:bodyPr wrap="none" rtlCol="0">
            <a:spAutoFit/>
          </a:bodyPr>
          <a:lstStyle/>
          <a:p>
            <a:r>
              <a:rPr lang="en-CN" dirty="0"/>
              <a:t>IPC</a:t>
            </a:r>
          </a:p>
        </p:txBody>
      </p:sp>
      <p:sp>
        <p:nvSpPr>
          <p:cNvPr id="36" name="TextBox 35">
            <a:extLst>
              <a:ext uri="{FF2B5EF4-FFF2-40B4-BE49-F238E27FC236}">
                <a16:creationId xmlns:a16="http://schemas.microsoft.com/office/drawing/2014/main" id="{AB85B2A8-6D30-D24A-881A-D17591E65D8E}"/>
              </a:ext>
            </a:extLst>
          </p:cNvPr>
          <p:cNvSpPr txBox="1"/>
          <p:nvPr/>
        </p:nvSpPr>
        <p:spPr>
          <a:xfrm>
            <a:off x="6336057" y="2526218"/>
            <a:ext cx="569387" cy="369332"/>
          </a:xfrm>
          <a:prstGeom prst="rect">
            <a:avLst/>
          </a:prstGeom>
          <a:noFill/>
        </p:spPr>
        <p:txBody>
          <a:bodyPr wrap="none" rtlCol="0">
            <a:spAutoFit/>
          </a:bodyPr>
          <a:lstStyle/>
          <a:p>
            <a:r>
              <a:rPr lang="en-CN" dirty="0"/>
              <a:t>IPC</a:t>
            </a:r>
          </a:p>
        </p:txBody>
      </p:sp>
      <p:sp>
        <p:nvSpPr>
          <p:cNvPr id="37" name="TextBox 36">
            <a:extLst>
              <a:ext uri="{FF2B5EF4-FFF2-40B4-BE49-F238E27FC236}">
                <a16:creationId xmlns:a16="http://schemas.microsoft.com/office/drawing/2014/main" id="{BEC5270D-4E82-2F42-9063-728C777A1AD0}"/>
              </a:ext>
            </a:extLst>
          </p:cNvPr>
          <p:cNvSpPr txBox="1"/>
          <p:nvPr/>
        </p:nvSpPr>
        <p:spPr>
          <a:xfrm>
            <a:off x="7595479" y="2895550"/>
            <a:ext cx="813043" cy="369332"/>
          </a:xfrm>
          <a:prstGeom prst="rect">
            <a:avLst/>
          </a:prstGeom>
          <a:noFill/>
        </p:spPr>
        <p:txBody>
          <a:bodyPr wrap="none" rtlCol="0">
            <a:spAutoFit/>
          </a:bodyPr>
          <a:lstStyle/>
          <a:p>
            <a:r>
              <a:rPr lang="en-US" dirty="0"/>
              <a:t>MMIO</a:t>
            </a:r>
            <a:endParaRPr lang="en-CN" dirty="0"/>
          </a:p>
        </p:txBody>
      </p:sp>
      <p:sp>
        <p:nvSpPr>
          <p:cNvPr id="3" name="Slide Number Placeholder 2">
            <a:extLst>
              <a:ext uri="{FF2B5EF4-FFF2-40B4-BE49-F238E27FC236}">
                <a16:creationId xmlns:a16="http://schemas.microsoft.com/office/drawing/2014/main" id="{374B849C-9EC6-CA47-8AB9-22E01C647E5D}"/>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11" name="TextBox 10">
            <a:extLst>
              <a:ext uri="{FF2B5EF4-FFF2-40B4-BE49-F238E27FC236}">
                <a16:creationId xmlns:a16="http://schemas.microsoft.com/office/drawing/2014/main" id="{1074314F-4A1A-5646-BB4A-4DDD372E44BA}"/>
              </a:ext>
            </a:extLst>
          </p:cNvPr>
          <p:cNvSpPr txBox="1"/>
          <p:nvPr/>
        </p:nvSpPr>
        <p:spPr>
          <a:xfrm>
            <a:off x="2307435" y="1168086"/>
            <a:ext cx="1868751" cy="738664"/>
          </a:xfrm>
          <a:prstGeom prst="rect">
            <a:avLst/>
          </a:prstGeom>
          <a:noFill/>
        </p:spPr>
        <p:txBody>
          <a:bodyPr wrap="square" rtlCol="0">
            <a:spAutoFit/>
          </a:bodyPr>
          <a:lstStyle/>
          <a:p>
            <a:r>
              <a:rPr lang="zh-CN" altLang="en-CN" sz="1400" dirty="0"/>
              <a:t>负责</a:t>
            </a:r>
            <a:r>
              <a:rPr lang="zh-CN" altLang="en-US" sz="1400" dirty="0"/>
              <a:t>管理多文件系统</a:t>
            </a:r>
            <a:endParaRPr lang="en-CN" altLang="zh-CN" sz="1400" dirty="0"/>
          </a:p>
          <a:p>
            <a:r>
              <a:rPr lang="zh-CN" altLang="en-CN" sz="1400" dirty="0"/>
              <a:t>挂载</a:t>
            </a:r>
            <a:r>
              <a:rPr lang="zh-CN" altLang="en-US" sz="1400" dirty="0"/>
              <a:t>、文件系统树、请求转发等</a:t>
            </a:r>
            <a:endParaRPr lang="en-US" altLang="zh-CN" sz="1400" dirty="0"/>
          </a:p>
        </p:txBody>
      </p:sp>
      <p:sp>
        <p:nvSpPr>
          <p:cNvPr id="27" name="TextBox 26">
            <a:extLst>
              <a:ext uri="{FF2B5EF4-FFF2-40B4-BE49-F238E27FC236}">
                <a16:creationId xmlns:a16="http://schemas.microsoft.com/office/drawing/2014/main" id="{049CCBF0-D3D9-FB4E-8242-C5D5A5667BDC}"/>
              </a:ext>
            </a:extLst>
          </p:cNvPr>
          <p:cNvSpPr txBox="1"/>
          <p:nvPr/>
        </p:nvSpPr>
        <p:spPr>
          <a:xfrm>
            <a:off x="4572000" y="975169"/>
            <a:ext cx="2529305" cy="523220"/>
          </a:xfrm>
          <a:prstGeom prst="rect">
            <a:avLst/>
          </a:prstGeom>
          <a:noFill/>
        </p:spPr>
        <p:txBody>
          <a:bodyPr wrap="square" rtlCol="0">
            <a:spAutoFit/>
          </a:bodyPr>
          <a:lstStyle/>
          <a:p>
            <a:r>
              <a:rPr lang="zh-CN" altLang="en-CN" sz="1400" dirty="0"/>
              <a:t>负责</a:t>
            </a:r>
            <a:r>
              <a:rPr lang="zh-CN" altLang="en-US" sz="1400" dirty="0"/>
              <a:t>管理页缓存、</a:t>
            </a:r>
            <a:r>
              <a:rPr lang="en-US" altLang="zh-CN" sz="1400" dirty="0" err="1"/>
              <a:t>icache</a:t>
            </a:r>
            <a:r>
              <a:rPr lang="zh-CN" altLang="en-US" sz="1400" dirty="0"/>
              <a:t>、</a:t>
            </a:r>
            <a:r>
              <a:rPr lang="en-US" altLang="zh-CN" sz="1400" dirty="0" err="1"/>
              <a:t>dcache</a:t>
            </a:r>
            <a:r>
              <a:rPr lang="zh-CN" altLang="en-US" sz="1400" dirty="0"/>
              <a:t>、文件系统数据管理</a:t>
            </a:r>
            <a:endParaRPr lang="en-US" altLang="zh-CN" sz="1400" dirty="0"/>
          </a:p>
        </p:txBody>
      </p:sp>
      <p:sp>
        <p:nvSpPr>
          <p:cNvPr id="30" name="TextBox 29">
            <a:extLst>
              <a:ext uri="{FF2B5EF4-FFF2-40B4-BE49-F238E27FC236}">
                <a16:creationId xmlns:a16="http://schemas.microsoft.com/office/drawing/2014/main" id="{D58A3F9F-2A56-814F-98C3-F62B83413043}"/>
              </a:ext>
            </a:extLst>
          </p:cNvPr>
          <p:cNvSpPr txBox="1"/>
          <p:nvPr/>
        </p:nvSpPr>
        <p:spPr>
          <a:xfrm>
            <a:off x="6877642" y="1680427"/>
            <a:ext cx="2266358" cy="307777"/>
          </a:xfrm>
          <a:prstGeom prst="rect">
            <a:avLst/>
          </a:prstGeom>
          <a:noFill/>
        </p:spPr>
        <p:txBody>
          <a:bodyPr wrap="square" rtlCol="0">
            <a:spAutoFit/>
          </a:bodyPr>
          <a:lstStyle/>
          <a:p>
            <a:r>
              <a:rPr lang="zh-CN" altLang="en-CN" sz="1400" dirty="0"/>
              <a:t>负责块</a:t>
            </a:r>
            <a:r>
              <a:rPr lang="zh-CN" altLang="en-US" sz="1400" dirty="0"/>
              <a:t>抽象、调度、驱动</a:t>
            </a:r>
            <a:endParaRPr lang="en-US" altLang="zh-CN" sz="1400" dirty="0"/>
          </a:p>
        </p:txBody>
      </p:sp>
      <p:sp>
        <p:nvSpPr>
          <p:cNvPr id="31" name="Rectangle 30">
            <a:extLst>
              <a:ext uri="{FF2B5EF4-FFF2-40B4-BE49-F238E27FC236}">
                <a16:creationId xmlns:a16="http://schemas.microsoft.com/office/drawing/2014/main" id="{51500629-3BA5-C141-9EA4-811013AA18CF}"/>
              </a:ext>
            </a:extLst>
          </p:cNvPr>
          <p:cNvSpPr/>
          <p:nvPr/>
        </p:nvSpPr>
        <p:spPr>
          <a:xfrm>
            <a:off x="7043936" y="4750907"/>
            <a:ext cx="1152128"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存储设备</a:t>
            </a:r>
            <a:endParaRPr lang="en-CN" dirty="0"/>
          </a:p>
        </p:txBody>
      </p:sp>
    </p:spTree>
    <p:extLst>
      <p:ext uri="{BB962C8B-B14F-4D97-AF65-F5344CB8AC3E}">
        <p14:creationId xmlns:p14="http://schemas.microsoft.com/office/powerpoint/2010/main" val="3739789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64E6-2D9B-7E47-9511-5560B0272E0A}"/>
              </a:ext>
            </a:extLst>
          </p:cNvPr>
          <p:cNvSpPr>
            <a:spLocks noGrp="1"/>
          </p:cNvSpPr>
          <p:nvPr>
            <p:ph type="title"/>
          </p:nvPr>
        </p:nvSpPr>
        <p:spPr/>
        <p:txBody>
          <a:bodyPr/>
          <a:lstStyle/>
          <a:p>
            <a:r>
              <a:rPr lang="zh-CN" altLang="en-CN" dirty="0"/>
              <a:t>文件系统</a:t>
            </a:r>
            <a:r>
              <a:rPr lang="zh-CN" altLang="en-US" dirty="0"/>
              <a:t>高级功能</a:t>
            </a:r>
            <a:endParaRPr lang="en-CN" dirty="0"/>
          </a:p>
        </p:txBody>
      </p:sp>
      <p:sp>
        <p:nvSpPr>
          <p:cNvPr id="3" name="Text Placeholder 2">
            <a:extLst>
              <a:ext uri="{FF2B5EF4-FFF2-40B4-BE49-F238E27FC236}">
                <a16:creationId xmlns:a16="http://schemas.microsoft.com/office/drawing/2014/main" id="{135AD6D4-E74B-2340-A1EF-C8265E8AEC92}"/>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6E746379-B30A-034A-B76D-83321BB3833F}"/>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Footer Placeholder 4">
            <a:extLst>
              <a:ext uri="{FF2B5EF4-FFF2-40B4-BE49-F238E27FC236}">
                <a16:creationId xmlns:a16="http://schemas.microsoft.com/office/drawing/2014/main" id="{8BEFEB32-4F62-B84C-8692-B5D5F2D81B6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07029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03BE-310C-9F4C-B81B-C8B219928D14}"/>
              </a:ext>
            </a:extLst>
          </p:cNvPr>
          <p:cNvSpPr>
            <a:spLocks noGrp="1"/>
          </p:cNvSpPr>
          <p:nvPr>
            <p:ph type="title"/>
          </p:nvPr>
        </p:nvSpPr>
        <p:spPr/>
        <p:txBody>
          <a:bodyPr/>
          <a:lstStyle/>
          <a:p>
            <a:r>
              <a:rPr lang="zh-CN" altLang="en-US" dirty="0"/>
              <a:t>文件复制</a:t>
            </a:r>
            <a:endParaRPr lang="en-CN" dirty="0"/>
          </a:p>
        </p:txBody>
      </p:sp>
      <p:sp>
        <p:nvSpPr>
          <p:cNvPr id="4" name="Slide Number Placeholder 3">
            <a:extLst>
              <a:ext uri="{FF2B5EF4-FFF2-40B4-BE49-F238E27FC236}">
                <a16:creationId xmlns:a16="http://schemas.microsoft.com/office/drawing/2014/main" id="{F1DD5ED7-4727-BB42-B1F8-69DC5786A87E}"/>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Footer Placeholder 4">
            <a:extLst>
              <a:ext uri="{FF2B5EF4-FFF2-40B4-BE49-F238E27FC236}">
                <a16:creationId xmlns:a16="http://schemas.microsoft.com/office/drawing/2014/main" id="{05FAE70D-C6E0-884F-8113-EC1AC7D4A65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9" name="Picture 8">
            <a:extLst>
              <a:ext uri="{FF2B5EF4-FFF2-40B4-BE49-F238E27FC236}">
                <a16:creationId xmlns:a16="http://schemas.microsoft.com/office/drawing/2014/main" id="{91EC3432-BB9B-1A46-B8AD-34EFFB8BA2DF}"/>
              </a:ext>
            </a:extLst>
          </p:cNvPr>
          <p:cNvPicPr>
            <a:picLocks noChangeAspect="1"/>
          </p:cNvPicPr>
          <p:nvPr/>
        </p:nvPicPr>
        <p:blipFill>
          <a:blip r:embed="rId3"/>
          <a:stretch>
            <a:fillRect/>
          </a:stretch>
        </p:blipFill>
        <p:spPr>
          <a:xfrm>
            <a:off x="0" y="1084126"/>
            <a:ext cx="9144000" cy="1890272"/>
          </a:xfrm>
          <a:prstGeom prst="rect">
            <a:avLst/>
          </a:prstGeom>
        </p:spPr>
      </p:pic>
      <p:sp>
        <p:nvSpPr>
          <p:cNvPr id="10" name="TextBox 9">
            <a:extLst>
              <a:ext uri="{FF2B5EF4-FFF2-40B4-BE49-F238E27FC236}">
                <a16:creationId xmlns:a16="http://schemas.microsoft.com/office/drawing/2014/main" id="{1163B0B1-62AE-D547-BE8F-04E792C3C081}"/>
              </a:ext>
            </a:extLst>
          </p:cNvPr>
          <p:cNvSpPr txBox="1"/>
          <p:nvPr/>
        </p:nvSpPr>
        <p:spPr>
          <a:xfrm>
            <a:off x="0" y="5471543"/>
            <a:ext cx="4540730" cy="276999"/>
          </a:xfrm>
          <a:prstGeom prst="rect">
            <a:avLst/>
          </a:prstGeom>
          <a:noFill/>
        </p:spPr>
        <p:txBody>
          <a:bodyPr wrap="none" rtlCol="0">
            <a:spAutoFit/>
          </a:bodyPr>
          <a:lstStyle/>
          <a:p>
            <a:r>
              <a:rPr lang="en-US" sz="1200" dirty="0"/>
              <a:t>http://</a:t>
            </a:r>
            <a:r>
              <a:rPr lang="en-US" sz="1200" dirty="0" err="1"/>
              <a:t>www.audiobar.cn</a:t>
            </a:r>
            <a:r>
              <a:rPr lang="en-US" sz="1200" dirty="0"/>
              <a:t>/</a:t>
            </a:r>
            <a:r>
              <a:rPr lang="en-US" sz="1200" dirty="0" err="1"/>
              <a:t>forum.php?mod</a:t>
            </a:r>
            <a:r>
              <a:rPr lang="en-US" sz="1200" dirty="0"/>
              <a:t>=</a:t>
            </a:r>
            <a:r>
              <a:rPr lang="en-US" sz="1200" dirty="0" err="1"/>
              <a:t>viewthread&amp;tid</a:t>
            </a:r>
            <a:r>
              <a:rPr lang="en-US" sz="1200" dirty="0"/>
              <a:t>=523830</a:t>
            </a:r>
            <a:endParaRPr lang="en-CN" sz="1200" dirty="0"/>
          </a:p>
        </p:txBody>
      </p:sp>
      <p:sp>
        <p:nvSpPr>
          <p:cNvPr id="3" name="Rounded Rectangle 2">
            <a:extLst>
              <a:ext uri="{FF2B5EF4-FFF2-40B4-BE49-F238E27FC236}">
                <a16:creationId xmlns:a16="http://schemas.microsoft.com/office/drawing/2014/main" id="{F4F6FC45-0BF4-DC40-938C-836A4C70663F}"/>
              </a:ext>
            </a:extLst>
          </p:cNvPr>
          <p:cNvSpPr/>
          <p:nvPr/>
        </p:nvSpPr>
        <p:spPr>
          <a:xfrm>
            <a:off x="1691680" y="1777380"/>
            <a:ext cx="7452320" cy="648072"/>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Tree>
    <p:extLst>
      <p:ext uri="{BB962C8B-B14F-4D97-AF65-F5344CB8AC3E}">
        <p14:creationId xmlns:p14="http://schemas.microsoft.com/office/powerpoint/2010/main" val="1967881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03BE-310C-9F4C-B81B-C8B219928D14}"/>
              </a:ext>
            </a:extLst>
          </p:cNvPr>
          <p:cNvSpPr>
            <a:spLocks noGrp="1"/>
          </p:cNvSpPr>
          <p:nvPr>
            <p:ph type="title"/>
          </p:nvPr>
        </p:nvSpPr>
        <p:spPr/>
        <p:txBody>
          <a:bodyPr/>
          <a:lstStyle/>
          <a:p>
            <a:r>
              <a:rPr lang="zh-CN" altLang="en-US" dirty="0"/>
              <a:t>文件复制</a:t>
            </a:r>
            <a:endParaRPr lang="en-CN" dirty="0"/>
          </a:p>
        </p:txBody>
      </p:sp>
      <p:sp>
        <p:nvSpPr>
          <p:cNvPr id="4" name="Slide Number Placeholder 3">
            <a:extLst>
              <a:ext uri="{FF2B5EF4-FFF2-40B4-BE49-F238E27FC236}">
                <a16:creationId xmlns:a16="http://schemas.microsoft.com/office/drawing/2014/main" id="{F1DD5ED7-4727-BB42-B1F8-69DC5786A87E}"/>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Footer Placeholder 4">
            <a:extLst>
              <a:ext uri="{FF2B5EF4-FFF2-40B4-BE49-F238E27FC236}">
                <a16:creationId xmlns:a16="http://schemas.microsoft.com/office/drawing/2014/main" id="{05FAE70D-C6E0-884F-8113-EC1AC7D4A65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TextBox 7">
            <a:extLst>
              <a:ext uri="{FF2B5EF4-FFF2-40B4-BE49-F238E27FC236}">
                <a16:creationId xmlns:a16="http://schemas.microsoft.com/office/drawing/2014/main" id="{32CF503B-4E5A-154D-842C-FBDD00842544}"/>
              </a:ext>
            </a:extLst>
          </p:cNvPr>
          <p:cNvSpPr txBox="1"/>
          <p:nvPr/>
        </p:nvSpPr>
        <p:spPr>
          <a:xfrm>
            <a:off x="2063244" y="3066377"/>
            <a:ext cx="2372011" cy="1384995"/>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200" dirty="0">
                <a:latin typeface="Courier" pitchFamily="2" charset="0"/>
              </a:rPr>
              <a:t>$</a:t>
            </a:r>
            <a:r>
              <a:rPr lang="zh-CN" altLang="en-US" sz="1200" dirty="0">
                <a:latin typeface="Courier" pitchFamily="2" charset="0"/>
              </a:rPr>
              <a:t> </a:t>
            </a:r>
            <a:r>
              <a:rPr lang="en-US" altLang="zh-CN" sz="1200" dirty="0">
                <a:latin typeface="Courier" pitchFamily="2" charset="0"/>
              </a:rPr>
              <a:t>cp</a:t>
            </a:r>
            <a:r>
              <a:rPr lang="zh-CN" altLang="en-US" sz="1200" dirty="0">
                <a:latin typeface="Courier" pitchFamily="2" charset="0"/>
              </a:rPr>
              <a:t> </a:t>
            </a:r>
            <a:r>
              <a:rPr lang="en-US" altLang="zh-CN" sz="1200" dirty="0">
                <a:latin typeface="Courier" pitchFamily="2" charset="0"/>
              </a:rPr>
              <a:t>A</a:t>
            </a:r>
            <a:r>
              <a:rPr lang="zh-CN" altLang="en-US" sz="1200" dirty="0">
                <a:latin typeface="Courier" pitchFamily="2" charset="0"/>
              </a:rPr>
              <a:t> </a:t>
            </a:r>
            <a:r>
              <a:rPr lang="en-US" altLang="zh-CN" sz="1200" dirty="0">
                <a:latin typeface="Courier" pitchFamily="2" charset="0"/>
              </a:rPr>
              <a:t>B</a:t>
            </a:r>
          </a:p>
          <a:p>
            <a:endParaRPr lang="en-US" altLang="zh-CN" sz="1200" dirty="0">
              <a:latin typeface="Courier" pitchFamily="2" charset="0"/>
            </a:endParaRPr>
          </a:p>
          <a:p>
            <a:r>
              <a:rPr lang="en-US" altLang="zh-CN" sz="1200" dirty="0">
                <a:latin typeface="Courier" pitchFamily="2" charset="0"/>
              </a:rPr>
              <a:t>1.</a:t>
            </a:r>
            <a:r>
              <a:rPr lang="zh-CN" altLang="en-US" sz="1200" dirty="0">
                <a:latin typeface="Courier" pitchFamily="2" charset="0"/>
              </a:rPr>
              <a:t> 打开文件</a:t>
            </a:r>
            <a:r>
              <a:rPr lang="en-US" altLang="zh-CN" sz="1200" dirty="0">
                <a:latin typeface="Courier" pitchFamily="2" charset="0"/>
              </a:rPr>
              <a:t>A</a:t>
            </a:r>
          </a:p>
          <a:p>
            <a:r>
              <a:rPr lang="en-US" altLang="zh-CN" sz="1200" dirty="0">
                <a:latin typeface="Courier" pitchFamily="2" charset="0"/>
              </a:rPr>
              <a:t>2.</a:t>
            </a:r>
            <a:r>
              <a:rPr lang="zh-CN" altLang="en-US" sz="1200" dirty="0">
                <a:latin typeface="Courier" pitchFamily="2" charset="0"/>
              </a:rPr>
              <a:t> 创建并打开文件</a:t>
            </a:r>
            <a:r>
              <a:rPr lang="en-US" altLang="zh-CN" sz="1200" dirty="0">
                <a:latin typeface="Courier" pitchFamily="2" charset="0"/>
              </a:rPr>
              <a:t>B</a:t>
            </a:r>
          </a:p>
          <a:p>
            <a:r>
              <a:rPr lang="en-US" altLang="zh-CN" sz="1200" dirty="0">
                <a:latin typeface="Courier" pitchFamily="2" charset="0"/>
              </a:rPr>
              <a:t>3.</a:t>
            </a:r>
            <a:r>
              <a:rPr lang="zh-CN" altLang="en-US" sz="1200" dirty="0">
                <a:latin typeface="Courier" pitchFamily="2" charset="0"/>
              </a:rPr>
              <a:t> 从</a:t>
            </a:r>
            <a:r>
              <a:rPr lang="en-US" altLang="zh-CN" sz="1200" dirty="0">
                <a:latin typeface="Courier" pitchFamily="2" charset="0"/>
              </a:rPr>
              <a:t>A</a:t>
            </a:r>
            <a:r>
              <a:rPr lang="zh-CN" altLang="en-US" sz="1200" dirty="0">
                <a:latin typeface="Courier" pitchFamily="2" charset="0"/>
              </a:rPr>
              <a:t>中读出数据到</a:t>
            </a:r>
            <a:r>
              <a:rPr lang="en-US" altLang="zh-CN" sz="1200" dirty="0">
                <a:latin typeface="Courier" pitchFamily="2" charset="0"/>
              </a:rPr>
              <a:t>buffer</a:t>
            </a:r>
          </a:p>
          <a:p>
            <a:r>
              <a:rPr lang="en-US" altLang="zh-CN" sz="1200" dirty="0">
                <a:latin typeface="Courier" pitchFamily="2" charset="0"/>
              </a:rPr>
              <a:t>4.</a:t>
            </a:r>
            <a:r>
              <a:rPr lang="zh-CN" altLang="en-US" sz="1200" dirty="0">
                <a:latin typeface="Courier" pitchFamily="2" charset="0"/>
              </a:rPr>
              <a:t> 将</a:t>
            </a:r>
            <a:r>
              <a:rPr lang="en-US" altLang="zh-CN" sz="1200" dirty="0">
                <a:latin typeface="Courier" pitchFamily="2" charset="0"/>
              </a:rPr>
              <a:t>buffer</a:t>
            </a:r>
            <a:r>
              <a:rPr lang="zh-CN" altLang="en-US" sz="1200" dirty="0">
                <a:latin typeface="Courier" pitchFamily="2" charset="0"/>
              </a:rPr>
              <a:t>中的数据写入</a:t>
            </a:r>
            <a:r>
              <a:rPr lang="en-US" altLang="zh-CN" sz="1200" dirty="0">
                <a:latin typeface="Courier" pitchFamily="2" charset="0"/>
              </a:rPr>
              <a:t>B</a:t>
            </a:r>
          </a:p>
          <a:p>
            <a:r>
              <a:rPr lang="en-US" altLang="zh-CN" sz="1200" dirty="0">
                <a:latin typeface="Courier" pitchFamily="2" charset="0"/>
              </a:rPr>
              <a:t>5.</a:t>
            </a:r>
            <a:r>
              <a:rPr lang="zh-CN" altLang="en-US" sz="1200" dirty="0">
                <a:latin typeface="Courier" pitchFamily="2" charset="0"/>
              </a:rPr>
              <a:t> 重复</a:t>
            </a:r>
            <a:r>
              <a:rPr lang="en-US" altLang="zh-CN" sz="1200" dirty="0">
                <a:latin typeface="Courier" pitchFamily="2" charset="0"/>
              </a:rPr>
              <a:t>3</a:t>
            </a:r>
            <a:r>
              <a:rPr lang="zh-CN" altLang="en-US" sz="1200" dirty="0">
                <a:latin typeface="Courier" pitchFamily="2" charset="0"/>
              </a:rPr>
              <a:t>、</a:t>
            </a:r>
            <a:r>
              <a:rPr lang="en-US" altLang="zh-CN" sz="1200" dirty="0">
                <a:latin typeface="Courier" pitchFamily="2" charset="0"/>
              </a:rPr>
              <a:t>4</a:t>
            </a:r>
            <a:r>
              <a:rPr lang="zh-CN" altLang="en-US" sz="1200" dirty="0">
                <a:latin typeface="Courier" pitchFamily="2" charset="0"/>
              </a:rPr>
              <a:t>直到文件</a:t>
            </a:r>
            <a:r>
              <a:rPr lang="en-US" altLang="zh-CN" sz="1200" dirty="0">
                <a:latin typeface="Courier" pitchFamily="2" charset="0"/>
              </a:rPr>
              <a:t>A</a:t>
            </a:r>
            <a:r>
              <a:rPr lang="zh-CN" altLang="en-US" sz="1200" dirty="0">
                <a:latin typeface="Courier" pitchFamily="2" charset="0"/>
              </a:rPr>
              <a:t>被读完</a:t>
            </a:r>
            <a:endParaRPr lang="en-US" altLang="zh-CN" sz="1200" dirty="0">
              <a:latin typeface="Courier" pitchFamily="2" charset="0"/>
            </a:endParaRPr>
          </a:p>
        </p:txBody>
      </p:sp>
      <p:pic>
        <p:nvPicPr>
          <p:cNvPr id="9" name="Picture 8">
            <a:extLst>
              <a:ext uri="{FF2B5EF4-FFF2-40B4-BE49-F238E27FC236}">
                <a16:creationId xmlns:a16="http://schemas.microsoft.com/office/drawing/2014/main" id="{91EC3432-BB9B-1A46-B8AD-34EFFB8BA2DF}"/>
              </a:ext>
            </a:extLst>
          </p:cNvPr>
          <p:cNvPicPr>
            <a:picLocks noChangeAspect="1"/>
          </p:cNvPicPr>
          <p:nvPr/>
        </p:nvPicPr>
        <p:blipFill>
          <a:blip r:embed="rId3"/>
          <a:stretch>
            <a:fillRect/>
          </a:stretch>
        </p:blipFill>
        <p:spPr>
          <a:xfrm>
            <a:off x="0" y="1084126"/>
            <a:ext cx="9144000" cy="1890272"/>
          </a:xfrm>
          <a:prstGeom prst="rect">
            <a:avLst/>
          </a:prstGeom>
        </p:spPr>
      </p:pic>
      <p:sp>
        <p:nvSpPr>
          <p:cNvPr id="10" name="TextBox 9">
            <a:extLst>
              <a:ext uri="{FF2B5EF4-FFF2-40B4-BE49-F238E27FC236}">
                <a16:creationId xmlns:a16="http://schemas.microsoft.com/office/drawing/2014/main" id="{1163B0B1-62AE-D547-BE8F-04E792C3C081}"/>
              </a:ext>
            </a:extLst>
          </p:cNvPr>
          <p:cNvSpPr txBox="1"/>
          <p:nvPr/>
        </p:nvSpPr>
        <p:spPr>
          <a:xfrm>
            <a:off x="0" y="5299502"/>
            <a:ext cx="2276585" cy="415498"/>
          </a:xfrm>
          <a:prstGeom prst="rect">
            <a:avLst/>
          </a:prstGeom>
          <a:noFill/>
        </p:spPr>
        <p:txBody>
          <a:bodyPr wrap="none" rtlCol="0">
            <a:spAutoFit/>
          </a:bodyPr>
          <a:lstStyle/>
          <a:p>
            <a:r>
              <a:rPr lang="en-US" sz="1050" dirty="0">
                <a:solidFill>
                  <a:schemeClr val="tx1">
                    <a:lumMod val="50000"/>
                    <a:lumOff val="50000"/>
                  </a:schemeClr>
                </a:solidFill>
              </a:rPr>
              <a:t>http://</a:t>
            </a:r>
            <a:r>
              <a:rPr lang="en-US" sz="1050" dirty="0" err="1">
                <a:solidFill>
                  <a:schemeClr val="tx1">
                    <a:lumMod val="50000"/>
                    <a:lumOff val="50000"/>
                  </a:schemeClr>
                </a:solidFill>
              </a:rPr>
              <a:t>www.audiobar.cn</a:t>
            </a:r>
            <a:r>
              <a:rPr lang="en-US" sz="1050" dirty="0">
                <a:solidFill>
                  <a:schemeClr val="tx1">
                    <a:lumMod val="50000"/>
                    <a:lumOff val="50000"/>
                  </a:schemeClr>
                </a:solidFill>
              </a:rPr>
              <a:t>/</a:t>
            </a:r>
            <a:r>
              <a:rPr lang="en-US" sz="1050" dirty="0" err="1">
                <a:solidFill>
                  <a:schemeClr val="tx1">
                    <a:lumMod val="50000"/>
                    <a:lumOff val="50000"/>
                  </a:schemeClr>
                </a:solidFill>
              </a:rPr>
              <a:t>forum.php</a:t>
            </a:r>
            <a:r>
              <a:rPr lang="en-US" sz="1050" dirty="0">
                <a:solidFill>
                  <a:schemeClr val="tx1">
                    <a:lumMod val="50000"/>
                    <a:lumOff val="50000"/>
                  </a:schemeClr>
                </a:solidFill>
              </a:rPr>
              <a:t>?</a:t>
            </a:r>
            <a:br>
              <a:rPr lang="en-US" sz="1050" dirty="0">
                <a:solidFill>
                  <a:schemeClr val="tx1">
                    <a:lumMod val="50000"/>
                    <a:lumOff val="50000"/>
                  </a:schemeClr>
                </a:solidFill>
              </a:rPr>
            </a:br>
            <a:r>
              <a:rPr lang="en-US" sz="1050" dirty="0">
                <a:solidFill>
                  <a:schemeClr val="tx1">
                    <a:lumMod val="50000"/>
                    <a:lumOff val="50000"/>
                  </a:schemeClr>
                </a:solidFill>
              </a:rPr>
              <a:t>mod=</a:t>
            </a:r>
            <a:r>
              <a:rPr lang="en-US" sz="1050" dirty="0" err="1">
                <a:solidFill>
                  <a:schemeClr val="tx1">
                    <a:lumMod val="50000"/>
                    <a:lumOff val="50000"/>
                  </a:schemeClr>
                </a:solidFill>
              </a:rPr>
              <a:t>viewthread&amp;tid</a:t>
            </a:r>
            <a:r>
              <a:rPr lang="en-US" sz="1050" dirty="0">
                <a:solidFill>
                  <a:schemeClr val="tx1">
                    <a:lumMod val="50000"/>
                    <a:lumOff val="50000"/>
                  </a:schemeClr>
                </a:solidFill>
              </a:rPr>
              <a:t>=523830</a:t>
            </a:r>
            <a:endParaRPr lang="en-CN" sz="1050" dirty="0">
              <a:solidFill>
                <a:schemeClr val="tx1">
                  <a:lumMod val="50000"/>
                  <a:lumOff val="50000"/>
                </a:schemeClr>
              </a:solidFill>
            </a:endParaRPr>
          </a:p>
        </p:txBody>
      </p:sp>
      <p:sp>
        <p:nvSpPr>
          <p:cNvPr id="11" name="TextBox 10">
            <a:extLst>
              <a:ext uri="{FF2B5EF4-FFF2-40B4-BE49-F238E27FC236}">
                <a16:creationId xmlns:a16="http://schemas.microsoft.com/office/drawing/2014/main" id="{C976D1F3-655D-8846-9717-D808C28EF749}"/>
              </a:ext>
            </a:extLst>
          </p:cNvPr>
          <p:cNvSpPr txBox="1"/>
          <p:nvPr/>
        </p:nvSpPr>
        <p:spPr>
          <a:xfrm>
            <a:off x="4779888" y="3072140"/>
            <a:ext cx="3472656" cy="1569660"/>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200" dirty="0">
                <a:latin typeface="Courier" pitchFamily="2" charset="0"/>
              </a:rPr>
              <a:t>$</a:t>
            </a:r>
            <a:r>
              <a:rPr lang="zh-CN" altLang="en-US" sz="1200" dirty="0">
                <a:latin typeface="Courier" pitchFamily="2" charset="0"/>
              </a:rPr>
              <a:t> </a:t>
            </a:r>
            <a:r>
              <a:rPr lang="en-US" altLang="zh-CN" sz="1200" dirty="0">
                <a:latin typeface="Courier" pitchFamily="2" charset="0"/>
              </a:rPr>
              <a:t>cp</a:t>
            </a:r>
            <a:r>
              <a:rPr lang="zh-CN" altLang="en-US" sz="1200" dirty="0">
                <a:latin typeface="Courier" pitchFamily="2" charset="0"/>
              </a:rPr>
              <a:t> </a:t>
            </a:r>
            <a:r>
              <a:rPr lang="en-US" altLang="zh-CN" sz="1200" dirty="0">
                <a:latin typeface="Courier" pitchFamily="2" charset="0"/>
              </a:rPr>
              <a:t>A</a:t>
            </a:r>
            <a:r>
              <a:rPr lang="zh-CN" altLang="en-US" sz="1200" dirty="0">
                <a:latin typeface="Courier" pitchFamily="2" charset="0"/>
              </a:rPr>
              <a:t> </a:t>
            </a:r>
            <a:r>
              <a:rPr lang="en-US" altLang="zh-CN" sz="1200" dirty="0">
                <a:latin typeface="Courier" pitchFamily="2" charset="0"/>
              </a:rPr>
              <a:t>B</a:t>
            </a:r>
          </a:p>
          <a:p>
            <a:endParaRPr lang="en-US" altLang="zh-CN" sz="1200" dirty="0">
              <a:latin typeface="Courier" pitchFamily="2" charset="0"/>
            </a:endParaRPr>
          </a:p>
          <a:p>
            <a:r>
              <a:rPr lang="en-US" altLang="zh-CN" sz="1200" dirty="0">
                <a:latin typeface="Courier" pitchFamily="2" charset="0"/>
              </a:rPr>
              <a:t>1.</a:t>
            </a:r>
            <a:r>
              <a:rPr lang="zh-CN" altLang="en-US" sz="1200" dirty="0">
                <a:latin typeface="Courier" pitchFamily="2" charset="0"/>
              </a:rPr>
              <a:t> 打开文件</a:t>
            </a:r>
            <a:r>
              <a:rPr lang="en-US" altLang="zh-CN" sz="1200" dirty="0">
                <a:latin typeface="Courier" pitchFamily="2" charset="0"/>
              </a:rPr>
              <a:t>A</a:t>
            </a:r>
          </a:p>
          <a:p>
            <a:r>
              <a:rPr lang="en-US" altLang="zh-CN" sz="1200" dirty="0">
                <a:latin typeface="Courier" pitchFamily="2" charset="0"/>
              </a:rPr>
              <a:t>2.</a:t>
            </a:r>
            <a:r>
              <a:rPr lang="zh-CN" altLang="en-US" sz="1200" dirty="0">
                <a:latin typeface="Courier" pitchFamily="2" charset="0"/>
              </a:rPr>
              <a:t> 获取</a:t>
            </a:r>
            <a:r>
              <a:rPr lang="en-US" altLang="zh-CN" sz="1200" dirty="0">
                <a:latin typeface="Courier" pitchFamily="2" charset="0"/>
              </a:rPr>
              <a:t>A</a:t>
            </a:r>
            <a:r>
              <a:rPr lang="zh-CN" altLang="en-US" sz="1200" dirty="0">
                <a:latin typeface="Courier" pitchFamily="2" charset="0"/>
              </a:rPr>
              <a:t>的大小为</a:t>
            </a:r>
            <a:r>
              <a:rPr lang="en-US" altLang="zh-CN" sz="1200" dirty="0">
                <a:latin typeface="Courier" pitchFamily="2" charset="0"/>
              </a:rPr>
              <a:t>X</a:t>
            </a:r>
          </a:p>
          <a:p>
            <a:r>
              <a:rPr lang="en-US" altLang="zh-CN" sz="1200" dirty="0">
                <a:latin typeface="Courier" pitchFamily="2" charset="0"/>
              </a:rPr>
              <a:t>3.</a:t>
            </a:r>
            <a:r>
              <a:rPr lang="zh-CN" altLang="en-US" sz="1200" dirty="0">
                <a:latin typeface="Courier" pitchFamily="2" charset="0"/>
              </a:rPr>
              <a:t> 创建并打开文件</a:t>
            </a:r>
            <a:r>
              <a:rPr lang="en-US" altLang="zh-CN" sz="1200" dirty="0">
                <a:latin typeface="Courier" pitchFamily="2" charset="0"/>
              </a:rPr>
              <a:t>B</a:t>
            </a:r>
          </a:p>
          <a:p>
            <a:r>
              <a:rPr lang="en-US" altLang="zh-CN" sz="1200" dirty="0">
                <a:latin typeface="Courier" pitchFamily="2" charset="0"/>
              </a:rPr>
              <a:t>4.</a:t>
            </a:r>
            <a:r>
              <a:rPr lang="zh-CN" altLang="en-US" sz="1200" dirty="0">
                <a:latin typeface="Courier" pitchFamily="2" charset="0"/>
              </a:rPr>
              <a:t> 改变</a:t>
            </a:r>
            <a:r>
              <a:rPr lang="en-US" altLang="zh-CN" sz="1200" dirty="0">
                <a:latin typeface="Courier" pitchFamily="2" charset="0"/>
              </a:rPr>
              <a:t>B</a:t>
            </a:r>
            <a:r>
              <a:rPr lang="zh-CN" altLang="en-US" sz="1200" dirty="0">
                <a:latin typeface="Courier" pitchFamily="2" charset="0"/>
              </a:rPr>
              <a:t>的大小为</a:t>
            </a:r>
            <a:r>
              <a:rPr lang="en-US" altLang="zh-CN" sz="1200" dirty="0">
                <a:latin typeface="Courier" pitchFamily="2" charset="0"/>
              </a:rPr>
              <a:t>X(</a:t>
            </a:r>
            <a:r>
              <a:rPr lang="en-US" altLang="zh-CN" sz="1200" dirty="0" err="1">
                <a:latin typeface="Courier" pitchFamily="2" charset="0"/>
              </a:rPr>
              <a:t>fallocate</a:t>
            </a:r>
            <a:r>
              <a:rPr lang="en-US" altLang="zh-CN" sz="1200" dirty="0">
                <a:latin typeface="Courier" pitchFamily="2" charset="0"/>
              </a:rPr>
              <a:t>/</a:t>
            </a:r>
            <a:r>
              <a:rPr lang="en-US" altLang="zh-CN" sz="1200" dirty="0" err="1">
                <a:latin typeface="Courier" pitchFamily="2" charset="0"/>
              </a:rPr>
              <a:t>ftruncate</a:t>
            </a:r>
            <a:r>
              <a:rPr lang="en-US" altLang="zh-CN" sz="1200" dirty="0">
                <a:latin typeface="Courier" pitchFamily="2" charset="0"/>
              </a:rPr>
              <a:t>)</a:t>
            </a:r>
          </a:p>
          <a:p>
            <a:r>
              <a:rPr lang="en-US" altLang="zh-CN" sz="1200" dirty="0">
                <a:latin typeface="Courier" pitchFamily="2" charset="0"/>
              </a:rPr>
              <a:t>5.</a:t>
            </a:r>
            <a:r>
              <a:rPr lang="zh-CN" altLang="en-US" sz="1200" dirty="0">
                <a:latin typeface="Courier" pitchFamily="2" charset="0"/>
              </a:rPr>
              <a:t> </a:t>
            </a:r>
            <a:r>
              <a:rPr lang="zh-CN" altLang="en-CN" sz="1200" dirty="0">
                <a:latin typeface="Courier" pitchFamily="2" charset="0"/>
              </a:rPr>
              <a:t>将</a:t>
            </a:r>
            <a:r>
              <a:rPr lang="en-US" altLang="zh-CN" sz="1200" dirty="0">
                <a:latin typeface="Courier" pitchFamily="2" charset="0"/>
              </a:rPr>
              <a:t>A</a:t>
            </a:r>
            <a:r>
              <a:rPr lang="zh-CN" altLang="en-US" sz="1200" dirty="0">
                <a:latin typeface="Courier" pitchFamily="2" charset="0"/>
              </a:rPr>
              <a:t>和</a:t>
            </a:r>
            <a:r>
              <a:rPr lang="en-US" altLang="zh-CN" sz="1200" dirty="0">
                <a:latin typeface="Courier" pitchFamily="2" charset="0"/>
              </a:rPr>
              <a:t>B</a:t>
            </a:r>
            <a:r>
              <a:rPr lang="zh-CN" altLang="en-US" sz="1200" dirty="0">
                <a:latin typeface="Courier" pitchFamily="2" charset="0"/>
              </a:rPr>
              <a:t>分别</a:t>
            </a:r>
            <a:r>
              <a:rPr lang="en-US" altLang="zh-CN" sz="1200" dirty="0" err="1">
                <a:latin typeface="Courier" pitchFamily="2" charset="0"/>
              </a:rPr>
              <a:t>mmap</a:t>
            </a:r>
            <a:r>
              <a:rPr lang="zh-CN" altLang="en-US" sz="1200" dirty="0">
                <a:latin typeface="Courier" pitchFamily="2" charset="0"/>
              </a:rPr>
              <a:t>到内存空间</a:t>
            </a:r>
            <a:endParaRPr lang="en-US" altLang="zh-CN" sz="1200" dirty="0">
              <a:latin typeface="Courier" pitchFamily="2" charset="0"/>
            </a:endParaRPr>
          </a:p>
          <a:p>
            <a:r>
              <a:rPr lang="en-US" altLang="zh-CN" sz="1200" dirty="0">
                <a:latin typeface="Courier" pitchFamily="2" charset="0"/>
              </a:rPr>
              <a:t>6.</a:t>
            </a:r>
            <a:r>
              <a:rPr lang="zh-CN" altLang="en-US" sz="1200" dirty="0">
                <a:latin typeface="Courier" pitchFamily="2" charset="0"/>
              </a:rPr>
              <a:t> </a:t>
            </a:r>
            <a:r>
              <a:rPr lang="en-US" altLang="zh-CN" sz="1200" dirty="0" err="1">
                <a:latin typeface="Courier" pitchFamily="2" charset="0"/>
              </a:rPr>
              <a:t>memcpy</a:t>
            </a:r>
            <a:endParaRPr lang="en-US" altLang="zh-CN" sz="1200" dirty="0">
              <a:latin typeface="Courier" pitchFamily="2" charset="0"/>
            </a:endParaRPr>
          </a:p>
        </p:txBody>
      </p:sp>
      <p:sp>
        <p:nvSpPr>
          <p:cNvPr id="14" name="TextBox 13">
            <a:extLst>
              <a:ext uri="{FF2B5EF4-FFF2-40B4-BE49-F238E27FC236}">
                <a16:creationId xmlns:a16="http://schemas.microsoft.com/office/drawing/2014/main" id="{9B201D39-13CD-634C-817D-66DE107FE424}"/>
              </a:ext>
            </a:extLst>
          </p:cNvPr>
          <p:cNvSpPr txBox="1"/>
          <p:nvPr/>
        </p:nvSpPr>
        <p:spPr>
          <a:xfrm>
            <a:off x="2063244" y="2720688"/>
            <a:ext cx="1309974" cy="400110"/>
          </a:xfrm>
          <a:prstGeom prst="rect">
            <a:avLst/>
          </a:prstGeom>
          <a:noFill/>
        </p:spPr>
        <p:txBody>
          <a:bodyPr wrap="none" rtlCol="0">
            <a:spAutoFit/>
          </a:bodyPr>
          <a:lstStyle/>
          <a:p>
            <a:r>
              <a:rPr lang="en-US" altLang="zh-CN" sz="2000" dirty="0"/>
              <a:t>read/write</a:t>
            </a:r>
            <a:endParaRPr lang="en-CN" sz="2000" dirty="0"/>
          </a:p>
        </p:txBody>
      </p:sp>
      <p:sp>
        <p:nvSpPr>
          <p:cNvPr id="15" name="TextBox 14">
            <a:extLst>
              <a:ext uri="{FF2B5EF4-FFF2-40B4-BE49-F238E27FC236}">
                <a16:creationId xmlns:a16="http://schemas.microsoft.com/office/drawing/2014/main" id="{40BEDAC7-6292-2A41-8A6E-03B221D171FE}"/>
              </a:ext>
            </a:extLst>
          </p:cNvPr>
          <p:cNvSpPr txBox="1"/>
          <p:nvPr/>
        </p:nvSpPr>
        <p:spPr>
          <a:xfrm>
            <a:off x="4731864" y="2671680"/>
            <a:ext cx="896399" cy="400110"/>
          </a:xfrm>
          <a:prstGeom prst="rect">
            <a:avLst/>
          </a:prstGeom>
          <a:noFill/>
        </p:spPr>
        <p:txBody>
          <a:bodyPr wrap="none" rtlCol="0">
            <a:spAutoFit/>
          </a:bodyPr>
          <a:lstStyle/>
          <a:p>
            <a:r>
              <a:rPr lang="en-US" altLang="zh-CN" sz="2000" dirty="0" err="1"/>
              <a:t>mmap</a:t>
            </a:r>
            <a:endParaRPr lang="en-CN" sz="2000" dirty="0"/>
          </a:p>
        </p:txBody>
      </p:sp>
      <p:sp>
        <p:nvSpPr>
          <p:cNvPr id="12" name="Rounded Rectangle 11">
            <a:extLst>
              <a:ext uri="{FF2B5EF4-FFF2-40B4-BE49-F238E27FC236}">
                <a16:creationId xmlns:a16="http://schemas.microsoft.com/office/drawing/2014/main" id="{C5BEF1C5-35FB-A146-B151-6688A517867A}"/>
              </a:ext>
            </a:extLst>
          </p:cNvPr>
          <p:cNvSpPr/>
          <p:nvPr/>
        </p:nvSpPr>
        <p:spPr>
          <a:xfrm>
            <a:off x="1691680" y="1777380"/>
            <a:ext cx="7452320" cy="648072"/>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Tree>
    <p:extLst>
      <p:ext uri="{BB962C8B-B14F-4D97-AF65-F5344CB8AC3E}">
        <p14:creationId xmlns:p14="http://schemas.microsoft.com/office/powerpoint/2010/main" val="332366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03BE-310C-9F4C-B81B-C8B219928D14}"/>
              </a:ext>
            </a:extLst>
          </p:cNvPr>
          <p:cNvSpPr>
            <a:spLocks noGrp="1"/>
          </p:cNvSpPr>
          <p:nvPr>
            <p:ph type="title"/>
          </p:nvPr>
        </p:nvSpPr>
        <p:spPr/>
        <p:txBody>
          <a:bodyPr/>
          <a:lstStyle/>
          <a:p>
            <a:r>
              <a:rPr lang="zh-CN" altLang="en-US" dirty="0"/>
              <a:t>文件复制</a:t>
            </a:r>
            <a:endParaRPr lang="en-CN" dirty="0"/>
          </a:p>
        </p:txBody>
      </p:sp>
      <p:sp>
        <p:nvSpPr>
          <p:cNvPr id="4" name="Slide Number Placeholder 3">
            <a:extLst>
              <a:ext uri="{FF2B5EF4-FFF2-40B4-BE49-F238E27FC236}">
                <a16:creationId xmlns:a16="http://schemas.microsoft.com/office/drawing/2014/main" id="{F1DD5ED7-4727-BB42-B1F8-69DC5786A87E}"/>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Footer Placeholder 4">
            <a:extLst>
              <a:ext uri="{FF2B5EF4-FFF2-40B4-BE49-F238E27FC236}">
                <a16:creationId xmlns:a16="http://schemas.microsoft.com/office/drawing/2014/main" id="{05FAE70D-C6E0-884F-8113-EC1AC7D4A65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TextBox 7">
            <a:extLst>
              <a:ext uri="{FF2B5EF4-FFF2-40B4-BE49-F238E27FC236}">
                <a16:creationId xmlns:a16="http://schemas.microsoft.com/office/drawing/2014/main" id="{32CF503B-4E5A-154D-842C-FBDD00842544}"/>
              </a:ext>
            </a:extLst>
          </p:cNvPr>
          <p:cNvSpPr txBox="1"/>
          <p:nvPr/>
        </p:nvSpPr>
        <p:spPr>
          <a:xfrm>
            <a:off x="2063244" y="3066377"/>
            <a:ext cx="2372011" cy="1384995"/>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200" dirty="0">
                <a:latin typeface="Courier" pitchFamily="2" charset="0"/>
              </a:rPr>
              <a:t>$</a:t>
            </a:r>
            <a:r>
              <a:rPr lang="zh-CN" altLang="en-US" sz="1200" dirty="0">
                <a:latin typeface="Courier" pitchFamily="2" charset="0"/>
              </a:rPr>
              <a:t> </a:t>
            </a:r>
            <a:r>
              <a:rPr lang="en-US" altLang="zh-CN" sz="1200" dirty="0">
                <a:latin typeface="Courier" pitchFamily="2" charset="0"/>
              </a:rPr>
              <a:t>cp</a:t>
            </a:r>
            <a:r>
              <a:rPr lang="zh-CN" altLang="en-US" sz="1200" dirty="0">
                <a:latin typeface="Courier" pitchFamily="2" charset="0"/>
              </a:rPr>
              <a:t> </a:t>
            </a:r>
            <a:r>
              <a:rPr lang="en-US" altLang="zh-CN" sz="1200" dirty="0">
                <a:latin typeface="Courier" pitchFamily="2" charset="0"/>
              </a:rPr>
              <a:t>A</a:t>
            </a:r>
            <a:r>
              <a:rPr lang="zh-CN" altLang="en-US" sz="1200" dirty="0">
                <a:latin typeface="Courier" pitchFamily="2" charset="0"/>
              </a:rPr>
              <a:t> </a:t>
            </a:r>
            <a:r>
              <a:rPr lang="en-US" altLang="zh-CN" sz="1200" dirty="0">
                <a:latin typeface="Courier" pitchFamily="2" charset="0"/>
              </a:rPr>
              <a:t>B</a:t>
            </a:r>
          </a:p>
          <a:p>
            <a:endParaRPr lang="en-US" altLang="zh-CN" sz="1200" dirty="0">
              <a:latin typeface="Courier" pitchFamily="2" charset="0"/>
            </a:endParaRPr>
          </a:p>
          <a:p>
            <a:r>
              <a:rPr lang="en-US" altLang="zh-CN" sz="1200" dirty="0">
                <a:latin typeface="Courier" pitchFamily="2" charset="0"/>
              </a:rPr>
              <a:t>1.</a:t>
            </a:r>
            <a:r>
              <a:rPr lang="zh-CN" altLang="en-US" sz="1200" dirty="0">
                <a:latin typeface="Courier" pitchFamily="2" charset="0"/>
              </a:rPr>
              <a:t> 打开文件</a:t>
            </a:r>
            <a:r>
              <a:rPr lang="en-US" altLang="zh-CN" sz="1200" dirty="0">
                <a:latin typeface="Courier" pitchFamily="2" charset="0"/>
              </a:rPr>
              <a:t>A</a:t>
            </a:r>
          </a:p>
          <a:p>
            <a:r>
              <a:rPr lang="en-US" altLang="zh-CN" sz="1200" dirty="0">
                <a:latin typeface="Courier" pitchFamily="2" charset="0"/>
              </a:rPr>
              <a:t>2.</a:t>
            </a:r>
            <a:r>
              <a:rPr lang="zh-CN" altLang="en-US" sz="1200" dirty="0">
                <a:latin typeface="Courier" pitchFamily="2" charset="0"/>
              </a:rPr>
              <a:t> 创建并打开文件</a:t>
            </a:r>
            <a:r>
              <a:rPr lang="en-US" altLang="zh-CN" sz="1200" dirty="0">
                <a:latin typeface="Courier" pitchFamily="2" charset="0"/>
              </a:rPr>
              <a:t>B</a:t>
            </a:r>
          </a:p>
          <a:p>
            <a:r>
              <a:rPr lang="en-US" altLang="zh-CN" sz="1200" dirty="0">
                <a:latin typeface="Courier" pitchFamily="2" charset="0"/>
              </a:rPr>
              <a:t>3.</a:t>
            </a:r>
            <a:r>
              <a:rPr lang="zh-CN" altLang="en-US" sz="1200" dirty="0">
                <a:latin typeface="Courier" pitchFamily="2" charset="0"/>
              </a:rPr>
              <a:t> 从</a:t>
            </a:r>
            <a:r>
              <a:rPr lang="en-US" altLang="zh-CN" sz="1200" dirty="0">
                <a:latin typeface="Courier" pitchFamily="2" charset="0"/>
              </a:rPr>
              <a:t>A</a:t>
            </a:r>
            <a:r>
              <a:rPr lang="zh-CN" altLang="en-US" sz="1200" dirty="0">
                <a:latin typeface="Courier" pitchFamily="2" charset="0"/>
              </a:rPr>
              <a:t>中读出数据到</a:t>
            </a:r>
            <a:r>
              <a:rPr lang="en-US" altLang="zh-CN" sz="1200" dirty="0">
                <a:latin typeface="Courier" pitchFamily="2" charset="0"/>
              </a:rPr>
              <a:t>buffer</a:t>
            </a:r>
          </a:p>
          <a:p>
            <a:r>
              <a:rPr lang="en-US" altLang="zh-CN" sz="1200" dirty="0">
                <a:latin typeface="Courier" pitchFamily="2" charset="0"/>
              </a:rPr>
              <a:t>4.</a:t>
            </a:r>
            <a:r>
              <a:rPr lang="zh-CN" altLang="en-US" sz="1200" dirty="0">
                <a:latin typeface="Courier" pitchFamily="2" charset="0"/>
              </a:rPr>
              <a:t> 将</a:t>
            </a:r>
            <a:r>
              <a:rPr lang="en-US" altLang="zh-CN" sz="1200" dirty="0">
                <a:latin typeface="Courier" pitchFamily="2" charset="0"/>
              </a:rPr>
              <a:t>buffer</a:t>
            </a:r>
            <a:r>
              <a:rPr lang="zh-CN" altLang="en-US" sz="1200" dirty="0">
                <a:latin typeface="Courier" pitchFamily="2" charset="0"/>
              </a:rPr>
              <a:t>中的数据写入</a:t>
            </a:r>
            <a:r>
              <a:rPr lang="en-US" altLang="zh-CN" sz="1200" dirty="0">
                <a:latin typeface="Courier" pitchFamily="2" charset="0"/>
              </a:rPr>
              <a:t>B</a:t>
            </a:r>
          </a:p>
          <a:p>
            <a:r>
              <a:rPr lang="en-US" altLang="zh-CN" sz="1200" dirty="0">
                <a:latin typeface="Courier" pitchFamily="2" charset="0"/>
              </a:rPr>
              <a:t>5.</a:t>
            </a:r>
            <a:r>
              <a:rPr lang="zh-CN" altLang="en-US" sz="1200" dirty="0">
                <a:latin typeface="Courier" pitchFamily="2" charset="0"/>
              </a:rPr>
              <a:t> 重复</a:t>
            </a:r>
            <a:r>
              <a:rPr lang="en-US" altLang="zh-CN" sz="1200" dirty="0">
                <a:latin typeface="Courier" pitchFamily="2" charset="0"/>
              </a:rPr>
              <a:t>3</a:t>
            </a:r>
            <a:r>
              <a:rPr lang="zh-CN" altLang="en-US" sz="1200" dirty="0">
                <a:latin typeface="Courier" pitchFamily="2" charset="0"/>
              </a:rPr>
              <a:t>、</a:t>
            </a:r>
            <a:r>
              <a:rPr lang="en-US" altLang="zh-CN" sz="1200" dirty="0">
                <a:latin typeface="Courier" pitchFamily="2" charset="0"/>
              </a:rPr>
              <a:t>4</a:t>
            </a:r>
            <a:r>
              <a:rPr lang="zh-CN" altLang="en-US" sz="1200" dirty="0">
                <a:latin typeface="Courier" pitchFamily="2" charset="0"/>
              </a:rPr>
              <a:t>直到文件</a:t>
            </a:r>
            <a:r>
              <a:rPr lang="en-US" altLang="zh-CN" sz="1200" dirty="0">
                <a:latin typeface="Courier" pitchFamily="2" charset="0"/>
              </a:rPr>
              <a:t>A</a:t>
            </a:r>
            <a:r>
              <a:rPr lang="zh-CN" altLang="en-US" sz="1200" dirty="0">
                <a:latin typeface="Courier" pitchFamily="2" charset="0"/>
              </a:rPr>
              <a:t>被读完</a:t>
            </a:r>
            <a:endParaRPr lang="en-US" altLang="zh-CN" sz="1200" dirty="0">
              <a:latin typeface="Courier" pitchFamily="2" charset="0"/>
            </a:endParaRPr>
          </a:p>
        </p:txBody>
      </p:sp>
      <p:pic>
        <p:nvPicPr>
          <p:cNvPr id="9" name="Picture 8">
            <a:extLst>
              <a:ext uri="{FF2B5EF4-FFF2-40B4-BE49-F238E27FC236}">
                <a16:creationId xmlns:a16="http://schemas.microsoft.com/office/drawing/2014/main" id="{91EC3432-BB9B-1A46-B8AD-34EFFB8BA2DF}"/>
              </a:ext>
            </a:extLst>
          </p:cNvPr>
          <p:cNvPicPr>
            <a:picLocks noChangeAspect="1"/>
          </p:cNvPicPr>
          <p:nvPr/>
        </p:nvPicPr>
        <p:blipFill>
          <a:blip r:embed="rId3"/>
          <a:stretch>
            <a:fillRect/>
          </a:stretch>
        </p:blipFill>
        <p:spPr>
          <a:xfrm>
            <a:off x="0" y="1084126"/>
            <a:ext cx="9144000" cy="1890272"/>
          </a:xfrm>
          <a:prstGeom prst="rect">
            <a:avLst/>
          </a:prstGeom>
        </p:spPr>
      </p:pic>
      <p:sp>
        <p:nvSpPr>
          <p:cNvPr id="11" name="TextBox 10">
            <a:extLst>
              <a:ext uri="{FF2B5EF4-FFF2-40B4-BE49-F238E27FC236}">
                <a16:creationId xmlns:a16="http://schemas.microsoft.com/office/drawing/2014/main" id="{C976D1F3-655D-8846-9717-D808C28EF749}"/>
              </a:ext>
            </a:extLst>
          </p:cNvPr>
          <p:cNvSpPr txBox="1"/>
          <p:nvPr/>
        </p:nvSpPr>
        <p:spPr>
          <a:xfrm>
            <a:off x="4779888" y="3072140"/>
            <a:ext cx="3472656" cy="1569660"/>
          </a:xfrm>
          <a:prstGeom prst="rect">
            <a:avLst/>
          </a:prstGeom>
          <a:solidFill>
            <a:schemeClr val="accent6">
              <a:lumMod val="20000"/>
              <a:lumOff val="80000"/>
            </a:schemeClr>
          </a:solidFill>
          <a:ln>
            <a:solidFill>
              <a:schemeClr val="bg2"/>
            </a:solidFill>
          </a:ln>
        </p:spPr>
        <p:txBody>
          <a:bodyPr wrap="square" rtlCol="0">
            <a:spAutoFit/>
          </a:bodyPr>
          <a:lstStyle/>
          <a:p>
            <a:r>
              <a:rPr lang="en-US" altLang="zh-CN" sz="1200" dirty="0">
                <a:latin typeface="Courier" pitchFamily="2" charset="0"/>
              </a:rPr>
              <a:t>$</a:t>
            </a:r>
            <a:r>
              <a:rPr lang="zh-CN" altLang="en-US" sz="1200" dirty="0">
                <a:latin typeface="Courier" pitchFamily="2" charset="0"/>
              </a:rPr>
              <a:t> </a:t>
            </a:r>
            <a:r>
              <a:rPr lang="en-US" altLang="zh-CN" sz="1200" dirty="0">
                <a:latin typeface="Courier" pitchFamily="2" charset="0"/>
              </a:rPr>
              <a:t>cp</a:t>
            </a:r>
            <a:r>
              <a:rPr lang="zh-CN" altLang="en-US" sz="1200" dirty="0">
                <a:latin typeface="Courier" pitchFamily="2" charset="0"/>
              </a:rPr>
              <a:t> </a:t>
            </a:r>
            <a:r>
              <a:rPr lang="en-US" altLang="zh-CN" sz="1200" dirty="0">
                <a:latin typeface="Courier" pitchFamily="2" charset="0"/>
              </a:rPr>
              <a:t>A</a:t>
            </a:r>
            <a:r>
              <a:rPr lang="zh-CN" altLang="en-US" sz="1200" dirty="0">
                <a:latin typeface="Courier" pitchFamily="2" charset="0"/>
              </a:rPr>
              <a:t> </a:t>
            </a:r>
            <a:r>
              <a:rPr lang="en-US" altLang="zh-CN" sz="1200" dirty="0">
                <a:latin typeface="Courier" pitchFamily="2" charset="0"/>
              </a:rPr>
              <a:t>B</a:t>
            </a:r>
          </a:p>
          <a:p>
            <a:endParaRPr lang="en-US" altLang="zh-CN" sz="1200" dirty="0">
              <a:latin typeface="Courier" pitchFamily="2" charset="0"/>
            </a:endParaRPr>
          </a:p>
          <a:p>
            <a:r>
              <a:rPr lang="en-US" altLang="zh-CN" sz="1200" dirty="0">
                <a:latin typeface="Courier" pitchFamily="2" charset="0"/>
              </a:rPr>
              <a:t>1.</a:t>
            </a:r>
            <a:r>
              <a:rPr lang="zh-CN" altLang="en-US" sz="1200" dirty="0">
                <a:latin typeface="Courier" pitchFamily="2" charset="0"/>
              </a:rPr>
              <a:t> 打开文件</a:t>
            </a:r>
            <a:r>
              <a:rPr lang="en-US" altLang="zh-CN" sz="1200" dirty="0">
                <a:latin typeface="Courier" pitchFamily="2" charset="0"/>
              </a:rPr>
              <a:t>A</a:t>
            </a:r>
          </a:p>
          <a:p>
            <a:r>
              <a:rPr lang="en-US" altLang="zh-CN" sz="1200" dirty="0">
                <a:latin typeface="Courier" pitchFamily="2" charset="0"/>
              </a:rPr>
              <a:t>2.</a:t>
            </a:r>
            <a:r>
              <a:rPr lang="zh-CN" altLang="en-US" sz="1200" dirty="0">
                <a:latin typeface="Courier" pitchFamily="2" charset="0"/>
              </a:rPr>
              <a:t> 获取</a:t>
            </a:r>
            <a:r>
              <a:rPr lang="en-US" altLang="zh-CN" sz="1200" dirty="0">
                <a:latin typeface="Courier" pitchFamily="2" charset="0"/>
              </a:rPr>
              <a:t>A</a:t>
            </a:r>
            <a:r>
              <a:rPr lang="zh-CN" altLang="en-US" sz="1200" dirty="0">
                <a:latin typeface="Courier" pitchFamily="2" charset="0"/>
              </a:rPr>
              <a:t>的大小为</a:t>
            </a:r>
            <a:r>
              <a:rPr lang="en-US" altLang="zh-CN" sz="1200" dirty="0">
                <a:latin typeface="Courier" pitchFamily="2" charset="0"/>
              </a:rPr>
              <a:t>X</a:t>
            </a:r>
          </a:p>
          <a:p>
            <a:r>
              <a:rPr lang="en-US" altLang="zh-CN" sz="1200" dirty="0">
                <a:latin typeface="Courier" pitchFamily="2" charset="0"/>
              </a:rPr>
              <a:t>3.</a:t>
            </a:r>
            <a:r>
              <a:rPr lang="zh-CN" altLang="en-US" sz="1200" dirty="0">
                <a:latin typeface="Courier" pitchFamily="2" charset="0"/>
              </a:rPr>
              <a:t> 创建并打开文件</a:t>
            </a:r>
            <a:r>
              <a:rPr lang="en-US" altLang="zh-CN" sz="1200" dirty="0">
                <a:latin typeface="Courier" pitchFamily="2" charset="0"/>
              </a:rPr>
              <a:t>B</a:t>
            </a:r>
          </a:p>
          <a:p>
            <a:r>
              <a:rPr lang="en-US" altLang="zh-CN" sz="1200" dirty="0">
                <a:latin typeface="Courier" pitchFamily="2" charset="0"/>
              </a:rPr>
              <a:t>4.</a:t>
            </a:r>
            <a:r>
              <a:rPr lang="zh-CN" altLang="en-US" sz="1200" dirty="0">
                <a:latin typeface="Courier" pitchFamily="2" charset="0"/>
              </a:rPr>
              <a:t> 改变</a:t>
            </a:r>
            <a:r>
              <a:rPr lang="en-US" altLang="zh-CN" sz="1200" dirty="0">
                <a:latin typeface="Courier" pitchFamily="2" charset="0"/>
              </a:rPr>
              <a:t>B</a:t>
            </a:r>
            <a:r>
              <a:rPr lang="zh-CN" altLang="en-US" sz="1200" dirty="0">
                <a:latin typeface="Courier" pitchFamily="2" charset="0"/>
              </a:rPr>
              <a:t>的大小为</a:t>
            </a:r>
            <a:r>
              <a:rPr lang="en-US" altLang="zh-CN" sz="1200" dirty="0">
                <a:latin typeface="Courier" pitchFamily="2" charset="0"/>
              </a:rPr>
              <a:t>X(</a:t>
            </a:r>
            <a:r>
              <a:rPr lang="en-US" altLang="zh-CN" sz="1200" dirty="0" err="1">
                <a:latin typeface="Courier" pitchFamily="2" charset="0"/>
              </a:rPr>
              <a:t>fallocate</a:t>
            </a:r>
            <a:r>
              <a:rPr lang="en-US" altLang="zh-CN" sz="1200" dirty="0">
                <a:latin typeface="Courier" pitchFamily="2" charset="0"/>
              </a:rPr>
              <a:t>/</a:t>
            </a:r>
            <a:r>
              <a:rPr lang="en-US" altLang="zh-CN" sz="1200" dirty="0" err="1">
                <a:latin typeface="Courier" pitchFamily="2" charset="0"/>
              </a:rPr>
              <a:t>ftruncate</a:t>
            </a:r>
            <a:r>
              <a:rPr lang="en-US" altLang="zh-CN" sz="1200" dirty="0">
                <a:latin typeface="Courier" pitchFamily="2" charset="0"/>
              </a:rPr>
              <a:t>)</a:t>
            </a:r>
          </a:p>
          <a:p>
            <a:r>
              <a:rPr lang="en-US" altLang="zh-CN" sz="1200" dirty="0">
                <a:latin typeface="Courier" pitchFamily="2" charset="0"/>
              </a:rPr>
              <a:t>5.</a:t>
            </a:r>
            <a:r>
              <a:rPr lang="zh-CN" altLang="en-US" sz="1200" dirty="0">
                <a:latin typeface="Courier" pitchFamily="2" charset="0"/>
              </a:rPr>
              <a:t> </a:t>
            </a:r>
            <a:r>
              <a:rPr lang="zh-CN" altLang="en-CN" sz="1200" dirty="0">
                <a:latin typeface="Courier" pitchFamily="2" charset="0"/>
              </a:rPr>
              <a:t>将</a:t>
            </a:r>
            <a:r>
              <a:rPr lang="en-US" altLang="zh-CN" sz="1200" dirty="0">
                <a:latin typeface="Courier" pitchFamily="2" charset="0"/>
              </a:rPr>
              <a:t>A</a:t>
            </a:r>
            <a:r>
              <a:rPr lang="zh-CN" altLang="en-US" sz="1200" dirty="0">
                <a:latin typeface="Courier" pitchFamily="2" charset="0"/>
              </a:rPr>
              <a:t>和</a:t>
            </a:r>
            <a:r>
              <a:rPr lang="en-US" altLang="zh-CN" sz="1200" dirty="0">
                <a:latin typeface="Courier" pitchFamily="2" charset="0"/>
              </a:rPr>
              <a:t>B</a:t>
            </a:r>
            <a:r>
              <a:rPr lang="zh-CN" altLang="en-US" sz="1200" dirty="0">
                <a:latin typeface="Courier" pitchFamily="2" charset="0"/>
              </a:rPr>
              <a:t>分别</a:t>
            </a:r>
            <a:r>
              <a:rPr lang="en-US" altLang="zh-CN" sz="1200" dirty="0" err="1">
                <a:latin typeface="Courier" pitchFamily="2" charset="0"/>
              </a:rPr>
              <a:t>mmap</a:t>
            </a:r>
            <a:r>
              <a:rPr lang="zh-CN" altLang="en-US" sz="1200" dirty="0">
                <a:latin typeface="Courier" pitchFamily="2" charset="0"/>
              </a:rPr>
              <a:t>到内存空间</a:t>
            </a:r>
            <a:endParaRPr lang="en-US" altLang="zh-CN" sz="1200" dirty="0">
              <a:latin typeface="Courier" pitchFamily="2" charset="0"/>
            </a:endParaRPr>
          </a:p>
          <a:p>
            <a:r>
              <a:rPr lang="en-US" altLang="zh-CN" sz="1200" dirty="0">
                <a:latin typeface="Courier" pitchFamily="2" charset="0"/>
              </a:rPr>
              <a:t>6.</a:t>
            </a:r>
            <a:r>
              <a:rPr lang="zh-CN" altLang="en-US" sz="1200" dirty="0">
                <a:latin typeface="Courier" pitchFamily="2" charset="0"/>
              </a:rPr>
              <a:t> </a:t>
            </a:r>
            <a:r>
              <a:rPr lang="en-US" altLang="zh-CN" sz="1200" dirty="0" err="1">
                <a:latin typeface="Courier" pitchFamily="2" charset="0"/>
              </a:rPr>
              <a:t>memcpy</a:t>
            </a:r>
            <a:endParaRPr lang="en-US" altLang="zh-CN" sz="1200" dirty="0">
              <a:latin typeface="Courier" pitchFamily="2" charset="0"/>
            </a:endParaRPr>
          </a:p>
        </p:txBody>
      </p:sp>
      <p:sp>
        <p:nvSpPr>
          <p:cNvPr id="12" name="TextBox 11">
            <a:extLst>
              <a:ext uri="{FF2B5EF4-FFF2-40B4-BE49-F238E27FC236}">
                <a16:creationId xmlns:a16="http://schemas.microsoft.com/office/drawing/2014/main" id="{716C1D84-36BD-E943-9C57-2C467E69601D}"/>
              </a:ext>
            </a:extLst>
          </p:cNvPr>
          <p:cNvSpPr txBox="1"/>
          <p:nvPr/>
        </p:nvSpPr>
        <p:spPr>
          <a:xfrm>
            <a:off x="1551496" y="4725301"/>
            <a:ext cx="6360735" cy="461665"/>
          </a:xfrm>
          <a:prstGeom prst="rect">
            <a:avLst/>
          </a:prstGeom>
          <a:noFill/>
        </p:spPr>
        <p:txBody>
          <a:bodyPr wrap="square" rtlCol="0">
            <a:spAutoFit/>
          </a:bodyPr>
          <a:lstStyle/>
          <a:p>
            <a:r>
              <a:rPr lang="zh-CN" altLang="en-CN" sz="2400" dirty="0">
                <a:solidFill>
                  <a:srgbClr val="C00000"/>
                </a:solidFill>
              </a:rPr>
              <a:t>文件越慢</a:t>
            </a:r>
            <a:r>
              <a:rPr lang="zh-CN" altLang="en-US" sz="2400" dirty="0">
                <a:solidFill>
                  <a:srgbClr val="C00000"/>
                </a:solidFill>
              </a:rPr>
              <a:t>，耗时越长！如何做到秒复制？</a:t>
            </a:r>
            <a:endParaRPr lang="en-CN" sz="2400" dirty="0">
              <a:solidFill>
                <a:srgbClr val="C00000"/>
              </a:solidFill>
            </a:endParaRPr>
          </a:p>
        </p:txBody>
      </p:sp>
      <p:sp>
        <p:nvSpPr>
          <p:cNvPr id="14" name="TextBox 13">
            <a:extLst>
              <a:ext uri="{FF2B5EF4-FFF2-40B4-BE49-F238E27FC236}">
                <a16:creationId xmlns:a16="http://schemas.microsoft.com/office/drawing/2014/main" id="{9B201D39-13CD-634C-817D-66DE107FE424}"/>
              </a:ext>
            </a:extLst>
          </p:cNvPr>
          <p:cNvSpPr txBox="1"/>
          <p:nvPr/>
        </p:nvSpPr>
        <p:spPr>
          <a:xfrm>
            <a:off x="2063244" y="2720688"/>
            <a:ext cx="1309974" cy="400110"/>
          </a:xfrm>
          <a:prstGeom prst="rect">
            <a:avLst/>
          </a:prstGeom>
          <a:noFill/>
        </p:spPr>
        <p:txBody>
          <a:bodyPr wrap="none" rtlCol="0">
            <a:spAutoFit/>
          </a:bodyPr>
          <a:lstStyle/>
          <a:p>
            <a:r>
              <a:rPr lang="en-US" altLang="zh-CN" sz="2000" dirty="0"/>
              <a:t>read/write</a:t>
            </a:r>
            <a:endParaRPr lang="en-CN" sz="2000" dirty="0"/>
          </a:p>
        </p:txBody>
      </p:sp>
      <p:sp>
        <p:nvSpPr>
          <p:cNvPr id="15" name="TextBox 14">
            <a:extLst>
              <a:ext uri="{FF2B5EF4-FFF2-40B4-BE49-F238E27FC236}">
                <a16:creationId xmlns:a16="http://schemas.microsoft.com/office/drawing/2014/main" id="{40BEDAC7-6292-2A41-8A6E-03B221D171FE}"/>
              </a:ext>
            </a:extLst>
          </p:cNvPr>
          <p:cNvSpPr txBox="1"/>
          <p:nvPr/>
        </p:nvSpPr>
        <p:spPr>
          <a:xfrm>
            <a:off x="4731864" y="2671680"/>
            <a:ext cx="896399" cy="400110"/>
          </a:xfrm>
          <a:prstGeom prst="rect">
            <a:avLst/>
          </a:prstGeom>
          <a:noFill/>
        </p:spPr>
        <p:txBody>
          <a:bodyPr wrap="none" rtlCol="0">
            <a:spAutoFit/>
          </a:bodyPr>
          <a:lstStyle/>
          <a:p>
            <a:r>
              <a:rPr lang="en-US" altLang="zh-CN" sz="2000" dirty="0" err="1"/>
              <a:t>mmap</a:t>
            </a:r>
            <a:endParaRPr lang="en-CN" sz="2000" dirty="0"/>
          </a:p>
        </p:txBody>
      </p:sp>
      <p:sp>
        <p:nvSpPr>
          <p:cNvPr id="13" name="Rounded Rectangle 12">
            <a:extLst>
              <a:ext uri="{FF2B5EF4-FFF2-40B4-BE49-F238E27FC236}">
                <a16:creationId xmlns:a16="http://schemas.microsoft.com/office/drawing/2014/main" id="{33309220-E1B1-AB42-9A80-01C61EF622E1}"/>
              </a:ext>
            </a:extLst>
          </p:cNvPr>
          <p:cNvSpPr/>
          <p:nvPr/>
        </p:nvSpPr>
        <p:spPr>
          <a:xfrm>
            <a:off x="1691680" y="1777380"/>
            <a:ext cx="7452320" cy="648072"/>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16" name="TextBox 9">
            <a:extLst>
              <a:ext uri="{FF2B5EF4-FFF2-40B4-BE49-F238E27FC236}">
                <a16:creationId xmlns:a16="http://schemas.microsoft.com/office/drawing/2014/main" id="{544F14A3-4806-2B44-9333-FA9A2694A8A8}"/>
              </a:ext>
            </a:extLst>
          </p:cNvPr>
          <p:cNvSpPr txBox="1"/>
          <p:nvPr/>
        </p:nvSpPr>
        <p:spPr>
          <a:xfrm>
            <a:off x="0" y="5299502"/>
            <a:ext cx="2276585" cy="415498"/>
          </a:xfrm>
          <a:prstGeom prst="rect">
            <a:avLst/>
          </a:prstGeom>
          <a:noFill/>
        </p:spPr>
        <p:txBody>
          <a:bodyPr wrap="none" rtlCol="0">
            <a:spAutoFit/>
          </a:bodyPr>
          <a:lstStyle/>
          <a:p>
            <a:r>
              <a:rPr lang="en-US" sz="1050" dirty="0">
                <a:solidFill>
                  <a:schemeClr val="tx1">
                    <a:lumMod val="50000"/>
                    <a:lumOff val="50000"/>
                  </a:schemeClr>
                </a:solidFill>
              </a:rPr>
              <a:t>http://</a:t>
            </a:r>
            <a:r>
              <a:rPr lang="en-US" sz="1050" dirty="0" err="1">
                <a:solidFill>
                  <a:schemeClr val="tx1">
                    <a:lumMod val="50000"/>
                    <a:lumOff val="50000"/>
                  </a:schemeClr>
                </a:solidFill>
              </a:rPr>
              <a:t>www.audiobar.cn</a:t>
            </a:r>
            <a:r>
              <a:rPr lang="en-US" sz="1050" dirty="0">
                <a:solidFill>
                  <a:schemeClr val="tx1">
                    <a:lumMod val="50000"/>
                    <a:lumOff val="50000"/>
                  </a:schemeClr>
                </a:solidFill>
              </a:rPr>
              <a:t>/</a:t>
            </a:r>
            <a:r>
              <a:rPr lang="en-US" sz="1050" dirty="0" err="1">
                <a:solidFill>
                  <a:schemeClr val="tx1">
                    <a:lumMod val="50000"/>
                    <a:lumOff val="50000"/>
                  </a:schemeClr>
                </a:solidFill>
              </a:rPr>
              <a:t>forum.php</a:t>
            </a:r>
            <a:r>
              <a:rPr lang="en-US" sz="1050" dirty="0">
                <a:solidFill>
                  <a:schemeClr val="tx1">
                    <a:lumMod val="50000"/>
                    <a:lumOff val="50000"/>
                  </a:schemeClr>
                </a:solidFill>
              </a:rPr>
              <a:t>?</a:t>
            </a:r>
            <a:br>
              <a:rPr lang="en-US" sz="1050" dirty="0">
                <a:solidFill>
                  <a:schemeClr val="tx1">
                    <a:lumMod val="50000"/>
                    <a:lumOff val="50000"/>
                  </a:schemeClr>
                </a:solidFill>
              </a:rPr>
            </a:br>
            <a:r>
              <a:rPr lang="en-US" sz="1050" dirty="0">
                <a:solidFill>
                  <a:schemeClr val="tx1">
                    <a:lumMod val="50000"/>
                    <a:lumOff val="50000"/>
                  </a:schemeClr>
                </a:solidFill>
              </a:rPr>
              <a:t>mod=</a:t>
            </a:r>
            <a:r>
              <a:rPr lang="en-US" sz="1050" dirty="0" err="1">
                <a:solidFill>
                  <a:schemeClr val="tx1">
                    <a:lumMod val="50000"/>
                    <a:lumOff val="50000"/>
                  </a:schemeClr>
                </a:solidFill>
              </a:rPr>
              <a:t>viewthread&amp;tid</a:t>
            </a:r>
            <a:r>
              <a:rPr lang="en-US" sz="1050" dirty="0">
                <a:solidFill>
                  <a:schemeClr val="tx1">
                    <a:lumMod val="50000"/>
                    <a:lumOff val="50000"/>
                  </a:schemeClr>
                </a:solidFill>
              </a:rPr>
              <a:t>=523830</a:t>
            </a:r>
            <a:endParaRPr lang="en-CN" sz="1050" dirty="0">
              <a:solidFill>
                <a:schemeClr val="tx1">
                  <a:lumMod val="50000"/>
                  <a:lumOff val="50000"/>
                </a:schemeClr>
              </a:solidFill>
            </a:endParaRPr>
          </a:p>
        </p:txBody>
      </p:sp>
    </p:spTree>
    <p:extLst>
      <p:ext uri="{BB962C8B-B14F-4D97-AF65-F5344CB8AC3E}">
        <p14:creationId xmlns:p14="http://schemas.microsoft.com/office/powerpoint/2010/main" val="28714687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03BE-310C-9F4C-B81B-C8B219928D14}"/>
              </a:ext>
            </a:extLst>
          </p:cNvPr>
          <p:cNvSpPr>
            <a:spLocks noGrp="1"/>
          </p:cNvSpPr>
          <p:nvPr>
            <p:ph type="title"/>
          </p:nvPr>
        </p:nvSpPr>
        <p:spPr/>
        <p:txBody>
          <a:bodyPr/>
          <a:lstStyle/>
          <a:p>
            <a:r>
              <a:rPr lang="zh-CN" altLang="en-US" dirty="0"/>
              <a:t>克隆</a:t>
            </a:r>
            <a:endParaRPr lang="en-CN" dirty="0"/>
          </a:p>
        </p:txBody>
      </p:sp>
      <p:sp>
        <p:nvSpPr>
          <p:cNvPr id="4" name="Slide Number Placeholder 3">
            <a:extLst>
              <a:ext uri="{FF2B5EF4-FFF2-40B4-BE49-F238E27FC236}">
                <a16:creationId xmlns:a16="http://schemas.microsoft.com/office/drawing/2014/main" id="{F1DD5ED7-4727-BB42-B1F8-69DC5786A87E}"/>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Footer Placeholder 4">
            <a:extLst>
              <a:ext uri="{FF2B5EF4-FFF2-40B4-BE49-F238E27FC236}">
                <a16:creationId xmlns:a16="http://schemas.microsoft.com/office/drawing/2014/main" id="{05FAE70D-C6E0-884F-8113-EC1AC7D4A65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2" name="Content Placeholder 2">
            <a:extLst>
              <a:ext uri="{FF2B5EF4-FFF2-40B4-BE49-F238E27FC236}">
                <a16:creationId xmlns:a16="http://schemas.microsoft.com/office/drawing/2014/main" id="{903EBB36-4250-AD40-929C-845BC24CCACB}"/>
              </a:ext>
            </a:extLst>
          </p:cNvPr>
          <p:cNvSpPr>
            <a:spLocks noGrp="1"/>
          </p:cNvSpPr>
          <p:nvPr>
            <p:ph idx="1"/>
          </p:nvPr>
        </p:nvSpPr>
        <p:spPr>
          <a:xfrm>
            <a:off x="457200" y="1333501"/>
            <a:ext cx="8229600" cy="3771636"/>
          </a:xfrm>
        </p:spPr>
        <p:txBody>
          <a:bodyPr/>
          <a:lstStyle/>
          <a:p>
            <a:r>
              <a:rPr lang="zh-CN" altLang="en-US" b="0" dirty="0"/>
              <a:t>文件系统层面上的复制</a:t>
            </a:r>
            <a:endParaRPr lang="en-US" altLang="zh-CN" b="0" dirty="0"/>
          </a:p>
          <a:p>
            <a:r>
              <a:rPr lang="zh-CN" altLang="en-CN" b="0" dirty="0"/>
              <a:t>只</a:t>
            </a:r>
            <a:r>
              <a:rPr lang="zh-CN" altLang="en-US" b="0" dirty="0"/>
              <a:t>复制关键元数据</a:t>
            </a:r>
            <a:endParaRPr lang="en-US" altLang="zh-CN" b="0" dirty="0"/>
          </a:p>
          <a:p>
            <a:r>
              <a:rPr lang="zh-CN" altLang="en-CN" b="0" dirty="0"/>
              <a:t>其他部分</a:t>
            </a:r>
            <a:r>
              <a:rPr lang="en-US" altLang="zh-CN" b="0" dirty="0" err="1"/>
              <a:t>CoW</a:t>
            </a:r>
            <a:r>
              <a:rPr lang="zh-CN" altLang="en-US" b="0" dirty="0"/>
              <a:t>共享</a:t>
            </a:r>
            <a:endParaRPr lang="en-CN" b="0" dirty="0"/>
          </a:p>
        </p:txBody>
      </p:sp>
      <p:grpSp>
        <p:nvGrpSpPr>
          <p:cNvPr id="113" name="Group 112">
            <a:extLst>
              <a:ext uri="{FF2B5EF4-FFF2-40B4-BE49-F238E27FC236}">
                <a16:creationId xmlns:a16="http://schemas.microsoft.com/office/drawing/2014/main" id="{5799E982-97AE-6C40-A0A1-868C5501B6BB}"/>
              </a:ext>
            </a:extLst>
          </p:cNvPr>
          <p:cNvGrpSpPr/>
          <p:nvPr/>
        </p:nvGrpSpPr>
        <p:grpSpPr>
          <a:xfrm>
            <a:off x="3832096" y="803797"/>
            <a:ext cx="4717130" cy="4419090"/>
            <a:chOff x="3832096" y="803797"/>
            <a:chExt cx="4717130" cy="4419090"/>
          </a:xfrm>
        </p:grpSpPr>
        <p:sp>
          <p:nvSpPr>
            <p:cNvPr id="16" name="Rectangle 15">
              <a:extLst>
                <a:ext uri="{FF2B5EF4-FFF2-40B4-BE49-F238E27FC236}">
                  <a16:creationId xmlns:a16="http://schemas.microsoft.com/office/drawing/2014/main" id="{CAB5557E-E853-9A4C-A3A9-3FD62FA6E4D8}"/>
                </a:ext>
              </a:extLst>
            </p:cNvPr>
            <p:cNvSpPr/>
            <p:nvPr/>
          </p:nvSpPr>
          <p:spPr>
            <a:xfrm>
              <a:off x="4590325" y="1192577"/>
              <a:ext cx="584732" cy="6333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00" dirty="0"/>
                <a:t>常用</a:t>
              </a:r>
              <a:r>
                <a:rPr lang="zh-CN" altLang="en-US" sz="1000" dirty="0"/>
                <a:t>元数据</a:t>
              </a:r>
              <a:endParaRPr lang="en-CN" sz="1000" dirty="0"/>
            </a:p>
          </p:txBody>
        </p:sp>
        <p:sp>
          <p:nvSpPr>
            <p:cNvPr id="17" name="Rectangle 16">
              <a:extLst>
                <a:ext uri="{FF2B5EF4-FFF2-40B4-BE49-F238E27FC236}">
                  <a16:creationId xmlns:a16="http://schemas.microsoft.com/office/drawing/2014/main" id="{4EC16F64-ADBA-3540-9857-F135102F443F}"/>
                </a:ext>
              </a:extLst>
            </p:cNvPr>
            <p:cNvSpPr/>
            <p:nvPr/>
          </p:nvSpPr>
          <p:spPr>
            <a:xfrm>
              <a:off x="4590325" y="1825937"/>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18" name="Rectangle 17">
              <a:extLst>
                <a:ext uri="{FF2B5EF4-FFF2-40B4-BE49-F238E27FC236}">
                  <a16:creationId xmlns:a16="http://schemas.microsoft.com/office/drawing/2014/main" id="{A020236D-FC90-7D43-8BF5-8D0FA122BFA2}"/>
                </a:ext>
              </a:extLst>
            </p:cNvPr>
            <p:cNvSpPr/>
            <p:nvPr/>
          </p:nvSpPr>
          <p:spPr>
            <a:xfrm>
              <a:off x="4590325" y="1986141"/>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19" name="Rectangle 18">
              <a:extLst>
                <a:ext uri="{FF2B5EF4-FFF2-40B4-BE49-F238E27FC236}">
                  <a16:creationId xmlns:a16="http://schemas.microsoft.com/office/drawing/2014/main" id="{BFAF219C-B018-8F44-8495-90C7E953A090}"/>
                </a:ext>
              </a:extLst>
            </p:cNvPr>
            <p:cNvSpPr/>
            <p:nvPr/>
          </p:nvSpPr>
          <p:spPr>
            <a:xfrm>
              <a:off x="4590325" y="2146344"/>
              <a:ext cx="584732" cy="2903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20" name="Rectangle 19">
              <a:extLst>
                <a:ext uri="{FF2B5EF4-FFF2-40B4-BE49-F238E27FC236}">
                  <a16:creationId xmlns:a16="http://schemas.microsoft.com/office/drawing/2014/main" id="{E3F13AA1-B6B3-5D4B-B9E9-17B34037A343}"/>
                </a:ext>
              </a:extLst>
            </p:cNvPr>
            <p:cNvSpPr/>
            <p:nvPr/>
          </p:nvSpPr>
          <p:spPr>
            <a:xfrm>
              <a:off x="4590324" y="2436654"/>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a:t>
              </a:r>
              <a:endParaRPr lang="en-CN" sz="1000" dirty="0"/>
            </a:p>
          </p:txBody>
        </p:sp>
        <p:cxnSp>
          <p:nvCxnSpPr>
            <p:cNvPr id="21" name="Curved Connector 15">
              <a:extLst>
                <a:ext uri="{FF2B5EF4-FFF2-40B4-BE49-F238E27FC236}">
                  <a16:creationId xmlns:a16="http://schemas.microsoft.com/office/drawing/2014/main" id="{DC4720F8-F164-774D-959E-E9CF84E89645}"/>
                </a:ext>
              </a:extLst>
            </p:cNvPr>
            <p:cNvCxnSpPr>
              <a:cxnSpLocks/>
              <a:stCxn id="17" idx="3"/>
              <a:endCxn id="27" idx="1"/>
            </p:cNvCxnSpPr>
            <p:nvPr/>
          </p:nvCxnSpPr>
          <p:spPr>
            <a:xfrm flipV="1">
              <a:off x="5175057" y="993400"/>
              <a:ext cx="553197" cy="9126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16">
              <a:extLst>
                <a:ext uri="{FF2B5EF4-FFF2-40B4-BE49-F238E27FC236}">
                  <a16:creationId xmlns:a16="http://schemas.microsoft.com/office/drawing/2014/main" id="{71FA5ED1-C235-A54C-A3D5-3ECFB6A6F943}"/>
                </a:ext>
              </a:extLst>
            </p:cNvPr>
            <p:cNvCxnSpPr>
              <a:cxnSpLocks/>
              <a:stCxn id="18" idx="3"/>
              <a:endCxn id="28" idx="1"/>
            </p:cNvCxnSpPr>
            <p:nvPr/>
          </p:nvCxnSpPr>
          <p:spPr>
            <a:xfrm flipV="1">
              <a:off x="5175057" y="1457441"/>
              <a:ext cx="545504" cy="6088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0214E3FD-F959-734C-A424-39239C70A3C5}"/>
                </a:ext>
              </a:extLst>
            </p:cNvPr>
            <p:cNvCxnSpPr>
              <a:cxnSpLocks/>
              <a:stCxn id="25" idx="3"/>
              <a:endCxn id="32" idx="1"/>
            </p:cNvCxnSpPr>
            <p:nvPr/>
          </p:nvCxnSpPr>
          <p:spPr>
            <a:xfrm>
              <a:off x="5175057" y="2832351"/>
              <a:ext cx="586083" cy="447924"/>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FDA27593-4D8F-1A4E-BEB4-847DA9818EB1}"/>
                </a:ext>
              </a:extLst>
            </p:cNvPr>
            <p:cNvSpPr/>
            <p:nvPr/>
          </p:nvSpPr>
          <p:spPr>
            <a:xfrm>
              <a:off x="4590325" y="2590965"/>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13</a:t>
              </a:r>
              <a:endParaRPr lang="en-CN" sz="1000" dirty="0"/>
            </a:p>
          </p:txBody>
        </p:sp>
        <p:sp>
          <p:nvSpPr>
            <p:cNvPr id="25" name="Rectangle 24">
              <a:extLst>
                <a:ext uri="{FF2B5EF4-FFF2-40B4-BE49-F238E27FC236}">
                  <a16:creationId xmlns:a16="http://schemas.microsoft.com/office/drawing/2014/main" id="{99A3132D-868B-4147-BD7B-C34C930ABECD}"/>
                </a:ext>
              </a:extLst>
            </p:cNvPr>
            <p:cNvSpPr/>
            <p:nvPr/>
          </p:nvSpPr>
          <p:spPr>
            <a:xfrm>
              <a:off x="4590325" y="2752249"/>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14</a:t>
              </a:r>
              <a:endParaRPr lang="en-CN" sz="1000" dirty="0"/>
            </a:p>
          </p:txBody>
        </p:sp>
        <p:sp>
          <p:nvSpPr>
            <p:cNvPr id="26" name="Rectangle 25">
              <a:extLst>
                <a:ext uri="{FF2B5EF4-FFF2-40B4-BE49-F238E27FC236}">
                  <a16:creationId xmlns:a16="http://schemas.microsoft.com/office/drawing/2014/main" id="{A9557CAE-2BE5-EF42-A303-FB08D0498658}"/>
                </a:ext>
              </a:extLst>
            </p:cNvPr>
            <p:cNvSpPr/>
            <p:nvPr/>
          </p:nvSpPr>
          <p:spPr>
            <a:xfrm>
              <a:off x="4590324" y="2911684"/>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15</a:t>
              </a:r>
              <a:endParaRPr lang="en-CN" sz="1000" dirty="0"/>
            </a:p>
          </p:txBody>
        </p:sp>
        <p:sp>
          <p:nvSpPr>
            <p:cNvPr id="27" name="Rectangle 26">
              <a:extLst>
                <a:ext uri="{FF2B5EF4-FFF2-40B4-BE49-F238E27FC236}">
                  <a16:creationId xmlns:a16="http://schemas.microsoft.com/office/drawing/2014/main" id="{4EEDAD63-F1E6-0A4A-B1D0-B9306BB2619A}"/>
                </a:ext>
              </a:extLst>
            </p:cNvPr>
            <p:cNvSpPr/>
            <p:nvPr/>
          </p:nvSpPr>
          <p:spPr>
            <a:xfrm>
              <a:off x="5728254" y="803797"/>
              <a:ext cx="489698" cy="379205"/>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28" name="Rectangle 27">
              <a:extLst>
                <a:ext uri="{FF2B5EF4-FFF2-40B4-BE49-F238E27FC236}">
                  <a16:creationId xmlns:a16="http://schemas.microsoft.com/office/drawing/2014/main" id="{A02F3336-6597-0C45-9E54-EACEDE16F622}"/>
                </a:ext>
              </a:extLst>
            </p:cNvPr>
            <p:cNvSpPr/>
            <p:nvPr/>
          </p:nvSpPr>
          <p:spPr>
            <a:xfrm>
              <a:off x="5720561" y="1267838"/>
              <a:ext cx="489698" cy="379205"/>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29" name="Rectangle 28">
              <a:extLst>
                <a:ext uri="{FF2B5EF4-FFF2-40B4-BE49-F238E27FC236}">
                  <a16:creationId xmlns:a16="http://schemas.microsoft.com/office/drawing/2014/main" id="{84BED18E-4EBC-F947-BAEC-65803749AE47}"/>
                </a:ext>
              </a:extLst>
            </p:cNvPr>
            <p:cNvSpPr/>
            <p:nvPr/>
          </p:nvSpPr>
          <p:spPr>
            <a:xfrm>
              <a:off x="8059528" y="1688295"/>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30" name="TextBox 29">
              <a:extLst>
                <a:ext uri="{FF2B5EF4-FFF2-40B4-BE49-F238E27FC236}">
                  <a16:creationId xmlns:a16="http://schemas.microsoft.com/office/drawing/2014/main" id="{59D382E7-D778-9F46-9683-0FEDD7A94036}"/>
                </a:ext>
              </a:extLst>
            </p:cNvPr>
            <p:cNvSpPr txBox="1"/>
            <p:nvPr/>
          </p:nvSpPr>
          <p:spPr>
            <a:xfrm>
              <a:off x="7130951" y="3813483"/>
              <a:ext cx="247432" cy="198724"/>
            </a:xfrm>
            <a:prstGeom prst="rect">
              <a:avLst/>
            </a:prstGeom>
            <a:noFill/>
          </p:spPr>
          <p:txBody>
            <a:bodyPr wrap="none" rtlCol="0">
              <a:spAutoFit/>
            </a:bodyPr>
            <a:lstStyle/>
            <a:p>
              <a:r>
                <a:rPr lang="en-US" altLang="zh-CN" sz="1100" dirty="0"/>
                <a:t>…</a:t>
              </a:r>
              <a:endParaRPr lang="en-CN" sz="1100" dirty="0"/>
            </a:p>
          </p:txBody>
        </p:sp>
        <p:sp>
          <p:nvSpPr>
            <p:cNvPr id="31" name="TextBox 30">
              <a:extLst>
                <a:ext uri="{FF2B5EF4-FFF2-40B4-BE49-F238E27FC236}">
                  <a16:creationId xmlns:a16="http://schemas.microsoft.com/office/drawing/2014/main" id="{ADDB3DB3-CB24-2D41-AE13-721C06292AC5}"/>
                </a:ext>
              </a:extLst>
            </p:cNvPr>
            <p:cNvSpPr txBox="1"/>
            <p:nvPr/>
          </p:nvSpPr>
          <p:spPr>
            <a:xfrm>
              <a:off x="5535979" y="3802137"/>
              <a:ext cx="1172116" cy="261610"/>
            </a:xfrm>
            <a:prstGeom prst="rect">
              <a:avLst/>
            </a:prstGeom>
            <a:noFill/>
          </p:spPr>
          <p:txBody>
            <a:bodyPr wrap="none" rtlCol="0">
              <a:spAutoFit/>
            </a:bodyPr>
            <a:lstStyle/>
            <a:p>
              <a:r>
                <a:rPr lang="zh-CN" altLang="en-US" sz="1100" dirty="0"/>
                <a:t>二级间接索引块</a:t>
              </a:r>
              <a:endParaRPr lang="en-CN" sz="1100" dirty="0"/>
            </a:p>
          </p:txBody>
        </p:sp>
        <p:sp>
          <p:nvSpPr>
            <p:cNvPr id="32" name="Rectangle 31">
              <a:extLst>
                <a:ext uri="{FF2B5EF4-FFF2-40B4-BE49-F238E27FC236}">
                  <a16:creationId xmlns:a16="http://schemas.microsoft.com/office/drawing/2014/main" id="{FE15FA92-EE55-C248-930C-6CDAA50A05B3}"/>
                </a:ext>
              </a:extLst>
            </p:cNvPr>
            <p:cNvSpPr/>
            <p:nvPr/>
          </p:nvSpPr>
          <p:spPr>
            <a:xfrm>
              <a:off x="5761140" y="3213191"/>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33" name="Rectangle 32">
              <a:extLst>
                <a:ext uri="{FF2B5EF4-FFF2-40B4-BE49-F238E27FC236}">
                  <a16:creationId xmlns:a16="http://schemas.microsoft.com/office/drawing/2014/main" id="{D45B67A1-9A3E-4B4E-8C2B-581F4B08D6CC}"/>
                </a:ext>
              </a:extLst>
            </p:cNvPr>
            <p:cNvSpPr/>
            <p:nvPr/>
          </p:nvSpPr>
          <p:spPr>
            <a:xfrm>
              <a:off x="5761140" y="3347358"/>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34" name="Rectangle 33">
              <a:extLst>
                <a:ext uri="{FF2B5EF4-FFF2-40B4-BE49-F238E27FC236}">
                  <a16:creationId xmlns:a16="http://schemas.microsoft.com/office/drawing/2014/main" id="{FE878F16-21B6-BA44-9B17-46288E6E259D}"/>
                </a:ext>
              </a:extLst>
            </p:cNvPr>
            <p:cNvSpPr/>
            <p:nvPr/>
          </p:nvSpPr>
          <p:spPr>
            <a:xfrm>
              <a:off x="5761140" y="3481525"/>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35" name="Rectangle 34">
              <a:extLst>
                <a:ext uri="{FF2B5EF4-FFF2-40B4-BE49-F238E27FC236}">
                  <a16:creationId xmlns:a16="http://schemas.microsoft.com/office/drawing/2014/main" id="{70B52478-0E85-504E-9664-C4EFB5B5D292}"/>
                </a:ext>
              </a:extLst>
            </p:cNvPr>
            <p:cNvSpPr/>
            <p:nvPr/>
          </p:nvSpPr>
          <p:spPr>
            <a:xfrm>
              <a:off x="5761140" y="3616596"/>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cxnSp>
          <p:nvCxnSpPr>
            <p:cNvPr id="36" name="Curved Connector 35">
              <a:extLst>
                <a:ext uri="{FF2B5EF4-FFF2-40B4-BE49-F238E27FC236}">
                  <a16:creationId xmlns:a16="http://schemas.microsoft.com/office/drawing/2014/main" id="{B1EBBE68-B7E5-174B-895D-0C6C81EEBF7A}"/>
                </a:ext>
              </a:extLst>
            </p:cNvPr>
            <p:cNvCxnSpPr>
              <a:cxnSpLocks/>
              <a:stCxn id="32" idx="3"/>
              <a:endCxn id="78" idx="1"/>
            </p:cNvCxnSpPr>
            <p:nvPr/>
          </p:nvCxnSpPr>
          <p:spPr>
            <a:xfrm flipV="1">
              <a:off x="6250838" y="2727247"/>
              <a:ext cx="805975" cy="553028"/>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36">
              <a:extLst>
                <a:ext uri="{FF2B5EF4-FFF2-40B4-BE49-F238E27FC236}">
                  <a16:creationId xmlns:a16="http://schemas.microsoft.com/office/drawing/2014/main" id="{5A568260-71D3-3D46-9FEB-971C77ABF0B2}"/>
                </a:ext>
              </a:extLst>
            </p:cNvPr>
            <p:cNvCxnSpPr>
              <a:cxnSpLocks/>
              <a:stCxn id="33" idx="3"/>
              <a:endCxn id="74" idx="1"/>
            </p:cNvCxnSpPr>
            <p:nvPr/>
          </p:nvCxnSpPr>
          <p:spPr>
            <a:xfrm flipV="1">
              <a:off x="6250838" y="3380403"/>
              <a:ext cx="805975" cy="34039"/>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37">
              <a:extLst>
                <a:ext uri="{FF2B5EF4-FFF2-40B4-BE49-F238E27FC236}">
                  <a16:creationId xmlns:a16="http://schemas.microsoft.com/office/drawing/2014/main" id="{07B8F7C0-CDC8-544E-A5B4-A28575E8CE8F}"/>
                </a:ext>
              </a:extLst>
            </p:cNvPr>
            <p:cNvCxnSpPr>
              <a:cxnSpLocks/>
              <a:stCxn id="35" idx="3"/>
              <a:endCxn id="70" idx="1"/>
            </p:cNvCxnSpPr>
            <p:nvPr/>
          </p:nvCxnSpPr>
          <p:spPr>
            <a:xfrm>
              <a:off x="6250838" y="3683680"/>
              <a:ext cx="805975" cy="462694"/>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2E55330E-EF7D-B143-83F9-59361C27ED12}"/>
                </a:ext>
              </a:extLst>
            </p:cNvPr>
            <p:cNvGrpSpPr/>
            <p:nvPr/>
          </p:nvGrpSpPr>
          <p:grpSpPr>
            <a:xfrm>
              <a:off x="7056813" y="2660163"/>
              <a:ext cx="489698" cy="537572"/>
              <a:chOff x="7298430" y="2380870"/>
              <a:chExt cx="489698" cy="537572"/>
            </a:xfrm>
          </p:grpSpPr>
          <p:sp>
            <p:nvSpPr>
              <p:cNvPr id="78" name="Rectangle 77">
                <a:extLst>
                  <a:ext uri="{FF2B5EF4-FFF2-40B4-BE49-F238E27FC236}">
                    <a16:creationId xmlns:a16="http://schemas.microsoft.com/office/drawing/2014/main" id="{8CF03C11-29D0-174D-82CB-45EEDFFCD1B8}"/>
                  </a:ext>
                </a:extLst>
              </p:cNvPr>
              <p:cNvSpPr/>
              <p:nvPr/>
            </p:nvSpPr>
            <p:spPr>
              <a:xfrm>
                <a:off x="7298430" y="2380870"/>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79" name="Rectangle 78">
                <a:extLst>
                  <a:ext uri="{FF2B5EF4-FFF2-40B4-BE49-F238E27FC236}">
                    <a16:creationId xmlns:a16="http://schemas.microsoft.com/office/drawing/2014/main" id="{51949A09-D415-564E-99E3-11A14DEFBB4D}"/>
                  </a:ext>
                </a:extLst>
              </p:cNvPr>
              <p:cNvSpPr/>
              <p:nvPr/>
            </p:nvSpPr>
            <p:spPr>
              <a:xfrm>
                <a:off x="7298430" y="2515037"/>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80" name="Rectangle 79">
                <a:extLst>
                  <a:ext uri="{FF2B5EF4-FFF2-40B4-BE49-F238E27FC236}">
                    <a16:creationId xmlns:a16="http://schemas.microsoft.com/office/drawing/2014/main" id="{059FB557-B4C4-7B49-A23B-0064AFC32EFC}"/>
                  </a:ext>
                </a:extLst>
              </p:cNvPr>
              <p:cNvSpPr/>
              <p:nvPr/>
            </p:nvSpPr>
            <p:spPr>
              <a:xfrm>
                <a:off x="7298430" y="2649204"/>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81" name="Rectangle 80">
                <a:extLst>
                  <a:ext uri="{FF2B5EF4-FFF2-40B4-BE49-F238E27FC236}">
                    <a16:creationId xmlns:a16="http://schemas.microsoft.com/office/drawing/2014/main" id="{4F5BE4D1-2F6B-0549-8B55-4F4ED93C2463}"/>
                  </a:ext>
                </a:extLst>
              </p:cNvPr>
              <p:cNvSpPr/>
              <p:nvPr/>
            </p:nvSpPr>
            <p:spPr>
              <a:xfrm>
                <a:off x="7298430" y="2784275"/>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grpSp>
        <p:cxnSp>
          <p:nvCxnSpPr>
            <p:cNvPr id="40" name="Curved Connector 35">
              <a:extLst>
                <a:ext uri="{FF2B5EF4-FFF2-40B4-BE49-F238E27FC236}">
                  <a16:creationId xmlns:a16="http://schemas.microsoft.com/office/drawing/2014/main" id="{95FBE216-615D-2B4A-9F33-6493B341E6C2}"/>
                </a:ext>
              </a:extLst>
            </p:cNvPr>
            <p:cNvCxnSpPr>
              <a:cxnSpLocks/>
              <a:stCxn id="78" idx="3"/>
              <a:endCxn id="29" idx="1"/>
            </p:cNvCxnSpPr>
            <p:nvPr/>
          </p:nvCxnSpPr>
          <p:spPr>
            <a:xfrm flipV="1">
              <a:off x="7546511" y="1877898"/>
              <a:ext cx="513017" cy="8493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465F2FF8-DBAB-ED43-BA92-B9CF08608055}"/>
                </a:ext>
              </a:extLst>
            </p:cNvPr>
            <p:cNvSpPr/>
            <p:nvPr/>
          </p:nvSpPr>
          <p:spPr>
            <a:xfrm>
              <a:off x="8058193" y="2231784"/>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42" name="Rectangle 41">
              <a:extLst>
                <a:ext uri="{FF2B5EF4-FFF2-40B4-BE49-F238E27FC236}">
                  <a16:creationId xmlns:a16="http://schemas.microsoft.com/office/drawing/2014/main" id="{BB4D2A12-EEA6-284A-A3C9-34853041A600}"/>
                </a:ext>
              </a:extLst>
            </p:cNvPr>
            <p:cNvSpPr/>
            <p:nvPr/>
          </p:nvSpPr>
          <p:spPr>
            <a:xfrm>
              <a:off x="8058193" y="2901069"/>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43" name="TextBox 42">
              <a:extLst>
                <a:ext uri="{FF2B5EF4-FFF2-40B4-BE49-F238E27FC236}">
                  <a16:creationId xmlns:a16="http://schemas.microsoft.com/office/drawing/2014/main" id="{385F0883-0B7A-D148-A0A9-B4FBB7335E4D}"/>
                </a:ext>
              </a:extLst>
            </p:cNvPr>
            <p:cNvSpPr txBox="1"/>
            <p:nvPr/>
          </p:nvSpPr>
          <p:spPr>
            <a:xfrm>
              <a:off x="8172974" y="2632737"/>
              <a:ext cx="247432" cy="198724"/>
            </a:xfrm>
            <a:prstGeom prst="rect">
              <a:avLst/>
            </a:prstGeom>
            <a:noFill/>
          </p:spPr>
          <p:txBody>
            <a:bodyPr wrap="none" rtlCol="0">
              <a:spAutoFit/>
            </a:bodyPr>
            <a:lstStyle/>
            <a:p>
              <a:r>
                <a:rPr lang="en-US" altLang="zh-CN" sz="1100" dirty="0"/>
                <a:t>…</a:t>
              </a:r>
              <a:endParaRPr lang="en-CN" sz="1100" dirty="0"/>
            </a:p>
          </p:txBody>
        </p:sp>
        <p:cxnSp>
          <p:nvCxnSpPr>
            <p:cNvPr id="44" name="Curved Connector 39">
              <a:extLst>
                <a:ext uri="{FF2B5EF4-FFF2-40B4-BE49-F238E27FC236}">
                  <a16:creationId xmlns:a16="http://schemas.microsoft.com/office/drawing/2014/main" id="{081E6004-2C94-B145-8DFF-D288E3074DBD}"/>
                </a:ext>
              </a:extLst>
            </p:cNvPr>
            <p:cNvCxnSpPr>
              <a:cxnSpLocks/>
              <a:stCxn id="79" idx="3"/>
              <a:endCxn id="41" idx="1"/>
            </p:cNvCxnSpPr>
            <p:nvPr/>
          </p:nvCxnSpPr>
          <p:spPr>
            <a:xfrm flipV="1">
              <a:off x="7546511" y="2421387"/>
              <a:ext cx="511682" cy="4400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urved Connector 40">
              <a:extLst>
                <a:ext uri="{FF2B5EF4-FFF2-40B4-BE49-F238E27FC236}">
                  <a16:creationId xmlns:a16="http://schemas.microsoft.com/office/drawing/2014/main" id="{E8BFAB72-F80E-0547-B432-4B4E7DEB7EC6}"/>
                </a:ext>
              </a:extLst>
            </p:cNvPr>
            <p:cNvCxnSpPr>
              <a:cxnSpLocks/>
              <a:stCxn id="81" idx="3"/>
              <a:endCxn id="42" idx="1"/>
            </p:cNvCxnSpPr>
            <p:nvPr/>
          </p:nvCxnSpPr>
          <p:spPr>
            <a:xfrm flipV="1">
              <a:off x="7546511" y="3090672"/>
              <a:ext cx="511682" cy="399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472E152B-5948-0443-A651-7A0820B3969E}"/>
                </a:ext>
              </a:extLst>
            </p:cNvPr>
            <p:cNvSpPr txBox="1"/>
            <p:nvPr/>
          </p:nvSpPr>
          <p:spPr>
            <a:xfrm>
              <a:off x="6856668" y="4623623"/>
              <a:ext cx="889987" cy="261610"/>
            </a:xfrm>
            <a:prstGeom prst="rect">
              <a:avLst/>
            </a:prstGeom>
            <a:noFill/>
          </p:spPr>
          <p:txBody>
            <a:bodyPr wrap="none" rtlCol="0">
              <a:spAutoFit/>
            </a:bodyPr>
            <a:lstStyle/>
            <a:p>
              <a:r>
                <a:rPr lang="zh-CN" altLang="en-US" sz="1100" dirty="0"/>
                <a:t>间接索引块</a:t>
              </a:r>
              <a:endParaRPr lang="en-CN" sz="1100" dirty="0"/>
            </a:p>
          </p:txBody>
        </p:sp>
        <p:sp>
          <p:nvSpPr>
            <p:cNvPr id="47" name="Rectangle 46">
              <a:extLst>
                <a:ext uri="{FF2B5EF4-FFF2-40B4-BE49-F238E27FC236}">
                  <a16:creationId xmlns:a16="http://schemas.microsoft.com/office/drawing/2014/main" id="{4FFFAB66-3BB7-D343-B258-4E52807062E4}"/>
                </a:ext>
              </a:extLst>
            </p:cNvPr>
            <p:cNvSpPr/>
            <p:nvPr/>
          </p:nvSpPr>
          <p:spPr>
            <a:xfrm>
              <a:off x="6539380" y="1143009"/>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48" name="Rectangle 47">
              <a:extLst>
                <a:ext uri="{FF2B5EF4-FFF2-40B4-BE49-F238E27FC236}">
                  <a16:creationId xmlns:a16="http://schemas.microsoft.com/office/drawing/2014/main" id="{BF828DD5-943B-7F49-AA8A-8E2690F12821}"/>
                </a:ext>
              </a:extLst>
            </p:cNvPr>
            <p:cNvSpPr/>
            <p:nvPr/>
          </p:nvSpPr>
          <p:spPr>
            <a:xfrm>
              <a:off x="5736124" y="1986490"/>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49" name="Rectangle 48">
              <a:extLst>
                <a:ext uri="{FF2B5EF4-FFF2-40B4-BE49-F238E27FC236}">
                  <a16:creationId xmlns:a16="http://schemas.microsoft.com/office/drawing/2014/main" id="{773BE036-E7EB-8448-AF28-78EE6F0838B9}"/>
                </a:ext>
              </a:extLst>
            </p:cNvPr>
            <p:cNvSpPr/>
            <p:nvPr/>
          </p:nvSpPr>
          <p:spPr>
            <a:xfrm>
              <a:off x="5736124" y="2120657"/>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50" name="Rectangle 49">
              <a:extLst>
                <a:ext uri="{FF2B5EF4-FFF2-40B4-BE49-F238E27FC236}">
                  <a16:creationId xmlns:a16="http://schemas.microsoft.com/office/drawing/2014/main" id="{5347CBBB-EB22-D440-8307-3D1CCB452D88}"/>
                </a:ext>
              </a:extLst>
            </p:cNvPr>
            <p:cNvSpPr/>
            <p:nvPr/>
          </p:nvSpPr>
          <p:spPr>
            <a:xfrm>
              <a:off x="5736124" y="2254824"/>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51" name="Rectangle 50">
              <a:extLst>
                <a:ext uri="{FF2B5EF4-FFF2-40B4-BE49-F238E27FC236}">
                  <a16:creationId xmlns:a16="http://schemas.microsoft.com/office/drawing/2014/main" id="{FAD292A2-FD9E-7944-87F3-58F64C18DEB8}"/>
                </a:ext>
              </a:extLst>
            </p:cNvPr>
            <p:cNvSpPr/>
            <p:nvPr/>
          </p:nvSpPr>
          <p:spPr>
            <a:xfrm>
              <a:off x="5736124" y="2389895"/>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cxnSp>
          <p:nvCxnSpPr>
            <p:cNvPr id="52" name="Curved Connector 59">
              <a:extLst>
                <a:ext uri="{FF2B5EF4-FFF2-40B4-BE49-F238E27FC236}">
                  <a16:creationId xmlns:a16="http://schemas.microsoft.com/office/drawing/2014/main" id="{6FAF9EB9-978E-D94A-A1B8-7482D46781EA}"/>
                </a:ext>
              </a:extLst>
            </p:cNvPr>
            <p:cNvCxnSpPr>
              <a:cxnSpLocks/>
              <a:stCxn id="48" idx="3"/>
              <a:endCxn id="47" idx="1"/>
            </p:cNvCxnSpPr>
            <p:nvPr/>
          </p:nvCxnSpPr>
          <p:spPr>
            <a:xfrm flipV="1">
              <a:off x="6225822" y="1332612"/>
              <a:ext cx="313558" cy="7209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5015473D-918A-4446-AB28-17B1E3ACEAFA}"/>
                </a:ext>
              </a:extLst>
            </p:cNvPr>
            <p:cNvSpPr/>
            <p:nvPr/>
          </p:nvSpPr>
          <p:spPr>
            <a:xfrm>
              <a:off x="6547250" y="1613648"/>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cxnSp>
          <p:nvCxnSpPr>
            <p:cNvPr id="54" name="Curved Connector 62">
              <a:extLst>
                <a:ext uri="{FF2B5EF4-FFF2-40B4-BE49-F238E27FC236}">
                  <a16:creationId xmlns:a16="http://schemas.microsoft.com/office/drawing/2014/main" id="{D6A1CD45-C0AF-9045-BB69-124558283607}"/>
                </a:ext>
              </a:extLst>
            </p:cNvPr>
            <p:cNvCxnSpPr>
              <a:cxnSpLocks/>
              <a:stCxn id="49" idx="3"/>
              <a:endCxn id="53" idx="1"/>
            </p:cNvCxnSpPr>
            <p:nvPr/>
          </p:nvCxnSpPr>
          <p:spPr>
            <a:xfrm flipV="1">
              <a:off x="6225822" y="1803251"/>
              <a:ext cx="321428" cy="3844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urved Connector 54">
              <a:extLst>
                <a:ext uri="{FF2B5EF4-FFF2-40B4-BE49-F238E27FC236}">
                  <a16:creationId xmlns:a16="http://schemas.microsoft.com/office/drawing/2014/main" id="{2C13C706-F624-8848-89A3-FDAB057A52E7}"/>
                </a:ext>
              </a:extLst>
            </p:cNvPr>
            <p:cNvCxnSpPr>
              <a:cxnSpLocks/>
              <a:stCxn id="24" idx="3"/>
              <a:endCxn id="48" idx="1"/>
            </p:cNvCxnSpPr>
            <p:nvPr/>
          </p:nvCxnSpPr>
          <p:spPr>
            <a:xfrm flipV="1">
              <a:off x="5175057" y="2053574"/>
              <a:ext cx="561067" cy="617493"/>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2D96F8D-876F-954D-9895-74ABB3BC0A04}"/>
                </a:ext>
              </a:extLst>
            </p:cNvPr>
            <p:cNvSpPr txBox="1"/>
            <p:nvPr/>
          </p:nvSpPr>
          <p:spPr>
            <a:xfrm>
              <a:off x="5528109" y="2535034"/>
              <a:ext cx="889987" cy="261610"/>
            </a:xfrm>
            <a:prstGeom prst="rect">
              <a:avLst/>
            </a:prstGeom>
            <a:noFill/>
          </p:spPr>
          <p:txBody>
            <a:bodyPr wrap="none" rtlCol="0">
              <a:spAutoFit/>
            </a:bodyPr>
            <a:lstStyle/>
            <a:p>
              <a:r>
                <a:rPr lang="zh-CN" altLang="en-US" sz="1100" dirty="0"/>
                <a:t>间接索引块</a:t>
              </a:r>
              <a:endParaRPr lang="en-CN" sz="1100" dirty="0"/>
            </a:p>
          </p:txBody>
        </p:sp>
        <p:sp>
          <p:nvSpPr>
            <p:cNvPr id="57" name="Rectangle 56">
              <a:extLst>
                <a:ext uri="{FF2B5EF4-FFF2-40B4-BE49-F238E27FC236}">
                  <a16:creationId xmlns:a16="http://schemas.microsoft.com/office/drawing/2014/main" id="{A974F11C-D1D0-BD4E-8CF6-A8D2BE096378}"/>
                </a:ext>
              </a:extLst>
            </p:cNvPr>
            <p:cNvSpPr/>
            <p:nvPr/>
          </p:nvSpPr>
          <p:spPr>
            <a:xfrm>
              <a:off x="6547250" y="2170223"/>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cxnSp>
          <p:nvCxnSpPr>
            <p:cNvPr id="58" name="Curved Connector 62">
              <a:extLst>
                <a:ext uri="{FF2B5EF4-FFF2-40B4-BE49-F238E27FC236}">
                  <a16:creationId xmlns:a16="http://schemas.microsoft.com/office/drawing/2014/main" id="{A56D60C1-68A0-EF49-8A6D-02ECAB533A5E}"/>
                </a:ext>
              </a:extLst>
            </p:cNvPr>
            <p:cNvCxnSpPr>
              <a:cxnSpLocks/>
              <a:stCxn id="51" idx="3"/>
              <a:endCxn id="57" idx="1"/>
            </p:cNvCxnSpPr>
            <p:nvPr/>
          </p:nvCxnSpPr>
          <p:spPr>
            <a:xfrm flipV="1">
              <a:off x="6225822" y="2359826"/>
              <a:ext cx="321428" cy="9715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DCB55123-33B7-6749-A04C-B449EA105976}"/>
                </a:ext>
              </a:extLst>
            </p:cNvPr>
            <p:cNvSpPr txBox="1"/>
            <p:nvPr/>
          </p:nvSpPr>
          <p:spPr>
            <a:xfrm>
              <a:off x="5563694" y="4961277"/>
              <a:ext cx="1172116" cy="261610"/>
            </a:xfrm>
            <a:prstGeom prst="rect">
              <a:avLst/>
            </a:prstGeom>
            <a:noFill/>
          </p:spPr>
          <p:txBody>
            <a:bodyPr wrap="none" rtlCol="0">
              <a:spAutoFit/>
            </a:bodyPr>
            <a:lstStyle/>
            <a:p>
              <a:r>
                <a:rPr lang="zh-CN" altLang="en-US" sz="1100" dirty="0"/>
                <a:t>三级间接索引块</a:t>
              </a:r>
              <a:endParaRPr lang="en-CN" sz="1100" dirty="0"/>
            </a:p>
          </p:txBody>
        </p:sp>
        <p:sp>
          <p:nvSpPr>
            <p:cNvPr id="60" name="Rectangle 59">
              <a:extLst>
                <a:ext uri="{FF2B5EF4-FFF2-40B4-BE49-F238E27FC236}">
                  <a16:creationId xmlns:a16="http://schemas.microsoft.com/office/drawing/2014/main" id="{F8C28018-70DA-D249-83A7-1485A96B9451}"/>
                </a:ext>
              </a:extLst>
            </p:cNvPr>
            <p:cNvSpPr/>
            <p:nvPr/>
          </p:nvSpPr>
          <p:spPr>
            <a:xfrm>
              <a:off x="5788855" y="4372331"/>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61" name="Rectangle 60">
              <a:extLst>
                <a:ext uri="{FF2B5EF4-FFF2-40B4-BE49-F238E27FC236}">
                  <a16:creationId xmlns:a16="http://schemas.microsoft.com/office/drawing/2014/main" id="{D4A1B9B3-CEE5-3848-8A4F-2467935408F7}"/>
                </a:ext>
              </a:extLst>
            </p:cNvPr>
            <p:cNvSpPr/>
            <p:nvPr/>
          </p:nvSpPr>
          <p:spPr>
            <a:xfrm>
              <a:off x="5788855" y="4506498"/>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62" name="Rectangle 61">
              <a:extLst>
                <a:ext uri="{FF2B5EF4-FFF2-40B4-BE49-F238E27FC236}">
                  <a16:creationId xmlns:a16="http://schemas.microsoft.com/office/drawing/2014/main" id="{538CB433-B39C-3D4A-8AFB-DE03EC71FBC0}"/>
                </a:ext>
              </a:extLst>
            </p:cNvPr>
            <p:cNvSpPr/>
            <p:nvPr/>
          </p:nvSpPr>
          <p:spPr>
            <a:xfrm>
              <a:off x="5788855" y="4640665"/>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63" name="Rectangle 62">
              <a:extLst>
                <a:ext uri="{FF2B5EF4-FFF2-40B4-BE49-F238E27FC236}">
                  <a16:creationId xmlns:a16="http://schemas.microsoft.com/office/drawing/2014/main" id="{841CFDA9-11E2-834F-84A6-4797190C50E1}"/>
                </a:ext>
              </a:extLst>
            </p:cNvPr>
            <p:cNvSpPr/>
            <p:nvPr/>
          </p:nvSpPr>
          <p:spPr>
            <a:xfrm>
              <a:off x="5788855" y="4775736"/>
              <a:ext cx="489698" cy="134167"/>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cxnSp>
          <p:nvCxnSpPr>
            <p:cNvPr id="64" name="Curved Connector 63">
              <a:extLst>
                <a:ext uri="{FF2B5EF4-FFF2-40B4-BE49-F238E27FC236}">
                  <a16:creationId xmlns:a16="http://schemas.microsoft.com/office/drawing/2014/main" id="{39C34116-A6F0-4948-9B9A-5B9793425895}"/>
                </a:ext>
              </a:extLst>
            </p:cNvPr>
            <p:cNvCxnSpPr>
              <a:cxnSpLocks/>
              <a:stCxn id="26" idx="3"/>
              <a:endCxn id="60" idx="1"/>
            </p:cNvCxnSpPr>
            <p:nvPr/>
          </p:nvCxnSpPr>
          <p:spPr>
            <a:xfrm>
              <a:off x="5175056" y="2991786"/>
              <a:ext cx="613799" cy="1447629"/>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7DE0899-452B-694D-A5D4-E77377C2EEB3}"/>
                </a:ext>
              </a:extLst>
            </p:cNvPr>
            <p:cNvSpPr txBox="1"/>
            <p:nvPr/>
          </p:nvSpPr>
          <p:spPr>
            <a:xfrm>
              <a:off x="6653825" y="1939732"/>
              <a:ext cx="247432" cy="198724"/>
            </a:xfrm>
            <a:prstGeom prst="rect">
              <a:avLst/>
            </a:prstGeom>
            <a:noFill/>
          </p:spPr>
          <p:txBody>
            <a:bodyPr wrap="none" rtlCol="0">
              <a:spAutoFit/>
            </a:bodyPr>
            <a:lstStyle/>
            <a:p>
              <a:r>
                <a:rPr lang="en-US" altLang="zh-CN" sz="1100" dirty="0"/>
                <a:t>…</a:t>
              </a:r>
              <a:endParaRPr lang="en-CN" sz="1100" dirty="0"/>
            </a:p>
          </p:txBody>
        </p:sp>
        <p:grpSp>
          <p:nvGrpSpPr>
            <p:cNvPr id="66" name="Group 65">
              <a:extLst>
                <a:ext uri="{FF2B5EF4-FFF2-40B4-BE49-F238E27FC236}">
                  <a16:creationId xmlns:a16="http://schemas.microsoft.com/office/drawing/2014/main" id="{9A5CA6A1-F7C9-764F-BA8C-D6A2C8EB4EB6}"/>
                </a:ext>
              </a:extLst>
            </p:cNvPr>
            <p:cNvGrpSpPr/>
            <p:nvPr/>
          </p:nvGrpSpPr>
          <p:grpSpPr>
            <a:xfrm>
              <a:off x="7056813" y="3313319"/>
              <a:ext cx="489698" cy="537572"/>
              <a:chOff x="7298430" y="2380870"/>
              <a:chExt cx="489698" cy="537572"/>
            </a:xfrm>
          </p:grpSpPr>
          <p:sp>
            <p:nvSpPr>
              <p:cNvPr id="74" name="Rectangle 73">
                <a:extLst>
                  <a:ext uri="{FF2B5EF4-FFF2-40B4-BE49-F238E27FC236}">
                    <a16:creationId xmlns:a16="http://schemas.microsoft.com/office/drawing/2014/main" id="{075F1F13-0216-5B47-8D4A-A7365B4ABC43}"/>
                  </a:ext>
                </a:extLst>
              </p:cNvPr>
              <p:cNvSpPr/>
              <p:nvPr/>
            </p:nvSpPr>
            <p:spPr>
              <a:xfrm>
                <a:off x="7298430" y="2380870"/>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75" name="Rectangle 74">
                <a:extLst>
                  <a:ext uri="{FF2B5EF4-FFF2-40B4-BE49-F238E27FC236}">
                    <a16:creationId xmlns:a16="http://schemas.microsoft.com/office/drawing/2014/main" id="{9991A007-C17F-C945-8B56-1FB992A6CF9A}"/>
                  </a:ext>
                </a:extLst>
              </p:cNvPr>
              <p:cNvSpPr/>
              <p:nvPr/>
            </p:nvSpPr>
            <p:spPr>
              <a:xfrm>
                <a:off x="7298430" y="2515037"/>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76" name="Rectangle 75">
                <a:extLst>
                  <a:ext uri="{FF2B5EF4-FFF2-40B4-BE49-F238E27FC236}">
                    <a16:creationId xmlns:a16="http://schemas.microsoft.com/office/drawing/2014/main" id="{A150D156-B43C-9D45-8CEA-9FE0E9306D27}"/>
                  </a:ext>
                </a:extLst>
              </p:cNvPr>
              <p:cNvSpPr/>
              <p:nvPr/>
            </p:nvSpPr>
            <p:spPr>
              <a:xfrm>
                <a:off x="7298430" y="2649204"/>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77" name="Rectangle 76">
                <a:extLst>
                  <a:ext uri="{FF2B5EF4-FFF2-40B4-BE49-F238E27FC236}">
                    <a16:creationId xmlns:a16="http://schemas.microsoft.com/office/drawing/2014/main" id="{EC06671F-98E8-8A49-A915-9C1E6395C6B5}"/>
                  </a:ext>
                </a:extLst>
              </p:cNvPr>
              <p:cNvSpPr/>
              <p:nvPr/>
            </p:nvSpPr>
            <p:spPr>
              <a:xfrm>
                <a:off x="7298430" y="2784275"/>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grpSp>
        <p:grpSp>
          <p:nvGrpSpPr>
            <p:cNvPr id="67" name="Group 66">
              <a:extLst>
                <a:ext uri="{FF2B5EF4-FFF2-40B4-BE49-F238E27FC236}">
                  <a16:creationId xmlns:a16="http://schemas.microsoft.com/office/drawing/2014/main" id="{19E6C485-8F82-3A4B-9001-30255A0FD5E5}"/>
                </a:ext>
              </a:extLst>
            </p:cNvPr>
            <p:cNvGrpSpPr/>
            <p:nvPr/>
          </p:nvGrpSpPr>
          <p:grpSpPr>
            <a:xfrm>
              <a:off x="7056813" y="4079290"/>
              <a:ext cx="489698" cy="537572"/>
              <a:chOff x="7298430" y="2380870"/>
              <a:chExt cx="489698" cy="537572"/>
            </a:xfrm>
          </p:grpSpPr>
          <p:sp>
            <p:nvSpPr>
              <p:cNvPr id="70" name="Rectangle 69">
                <a:extLst>
                  <a:ext uri="{FF2B5EF4-FFF2-40B4-BE49-F238E27FC236}">
                    <a16:creationId xmlns:a16="http://schemas.microsoft.com/office/drawing/2014/main" id="{C5B35D0D-08D3-6F43-9B44-02C1FC1D222C}"/>
                  </a:ext>
                </a:extLst>
              </p:cNvPr>
              <p:cNvSpPr/>
              <p:nvPr/>
            </p:nvSpPr>
            <p:spPr>
              <a:xfrm>
                <a:off x="7298430" y="2380870"/>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71" name="Rectangle 70">
                <a:extLst>
                  <a:ext uri="{FF2B5EF4-FFF2-40B4-BE49-F238E27FC236}">
                    <a16:creationId xmlns:a16="http://schemas.microsoft.com/office/drawing/2014/main" id="{9666DBE5-AD5F-DA41-AFEC-D5C4ADCEFDF7}"/>
                  </a:ext>
                </a:extLst>
              </p:cNvPr>
              <p:cNvSpPr/>
              <p:nvPr/>
            </p:nvSpPr>
            <p:spPr>
              <a:xfrm>
                <a:off x="7298430" y="2515037"/>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72" name="Rectangle 71">
                <a:extLst>
                  <a:ext uri="{FF2B5EF4-FFF2-40B4-BE49-F238E27FC236}">
                    <a16:creationId xmlns:a16="http://schemas.microsoft.com/office/drawing/2014/main" id="{C235FB92-DF25-5D45-88EF-4EB251E50394}"/>
                  </a:ext>
                </a:extLst>
              </p:cNvPr>
              <p:cNvSpPr/>
              <p:nvPr/>
            </p:nvSpPr>
            <p:spPr>
              <a:xfrm>
                <a:off x="7298430" y="2649204"/>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73" name="Rectangle 72">
                <a:extLst>
                  <a:ext uri="{FF2B5EF4-FFF2-40B4-BE49-F238E27FC236}">
                    <a16:creationId xmlns:a16="http://schemas.microsoft.com/office/drawing/2014/main" id="{8A385CDA-FEB8-6440-91FE-D51282EE7350}"/>
                  </a:ext>
                </a:extLst>
              </p:cNvPr>
              <p:cNvSpPr/>
              <p:nvPr/>
            </p:nvSpPr>
            <p:spPr>
              <a:xfrm>
                <a:off x="7298430" y="2784275"/>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grpSp>
        <p:cxnSp>
          <p:nvCxnSpPr>
            <p:cNvPr id="68" name="Curved Connector 40">
              <a:extLst>
                <a:ext uri="{FF2B5EF4-FFF2-40B4-BE49-F238E27FC236}">
                  <a16:creationId xmlns:a16="http://schemas.microsoft.com/office/drawing/2014/main" id="{931A429F-74B7-CA48-9A84-2514438416D2}"/>
                </a:ext>
              </a:extLst>
            </p:cNvPr>
            <p:cNvCxnSpPr>
              <a:cxnSpLocks/>
              <a:stCxn id="74" idx="3"/>
            </p:cNvCxnSpPr>
            <p:nvPr/>
          </p:nvCxnSpPr>
          <p:spPr>
            <a:xfrm>
              <a:off x="7546511" y="3380403"/>
              <a:ext cx="511682" cy="1079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D6CECB08-088F-C64D-87CF-CA3106FC9E5F}"/>
                </a:ext>
              </a:extLst>
            </p:cNvPr>
            <p:cNvSpPr/>
            <p:nvPr/>
          </p:nvSpPr>
          <p:spPr>
            <a:xfrm>
              <a:off x="8051841" y="3416702"/>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111" name="TextBox 110">
              <a:extLst>
                <a:ext uri="{FF2B5EF4-FFF2-40B4-BE49-F238E27FC236}">
                  <a16:creationId xmlns:a16="http://schemas.microsoft.com/office/drawing/2014/main" id="{B12DF936-3BBC-854D-AEB9-B2A115925727}"/>
                </a:ext>
              </a:extLst>
            </p:cNvPr>
            <p:cNvSpPr txBox="1"/>
            <p:nvPr/>
          </p:nvSpPr>
          <p:spPr>
            <a:xfrm>
              <a:off x="3832096" y="1038357"/>
              <a:ext cx="800219" cy="369332"/>
            </a:xfrm>
            <a:prstGeom prst="rect">
              <a:avLst/>
            </a:prstGeom>
            <a:noFill/>
          </p:spPr>
          <p:txBody>
            <a:bodyPr wrap="none" rtlCol="0">
              <a:spAutoFit/>
            </a:bodyPr>
            <a:lstStyle/>
            <a:p>
              <a:r>
                <a:rPr lang="zh-CN" altLang="en-CN" dirty="0"/>
                <a:t>文件</a:t>
              </a:r>
              <a:r>
                <a:rPr lang="en-US" altLang="zh-CN" dirty="0"/>
                <a:t>A</a:t>
              </a:r>
              <a:endParaRPr lang="en-CN" dirty="0"/>
            </a:p>
          </p:txBody>
        </p:sp>
      </p:grpSp>
    </p:spTree>
    <p:extLst>
      <p:ext uri="{BB962C8B-B14F-4D97-AF65-F5344CB8AC3E}">
        <p14:creationId xmlns:p14="http://schemas.microsoft.com/office/powerpoint/2010/main" val="897161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303BE-310C-9F4C-B81B-C8B219928D14}"/>
              </a:ext>
            </a:extLst>
          </p:cNvPr>
          <p:cNvSpPr>
            <a:spLocks noGrp="1"/>
          </p:cNvSpPr>
          <p:nvPr>
            <p:ph type="title"/>
          </p:nvPr>
        </p:nvSpPr>
        <p:spPr/>
        <p:txBody>
          <a:bodyPr/>
          <a:lstStyle/>
          <a:p>
            <a:r>
              <a:rPr lang="zh-CN" altLang="en-US" dirty="0"/>
              <a:t>克隆（</a:t>
            </a:r>
            <a:r>
              <a:rPr lang="en-US" altLang="zh-CN" dirty="0"/>
              <a:t>Clone</a:t>
            </a:r>
            <a:r>
              <a:rPr lang="zh-CN" altLang="en-US" dirty="0"/>
              <a:t>）</a:t>
            </a:r>
            <a:endParaRPr lang="en-CN" dirty="0"/>
          </a:p>
        </p:txBody>
      </p:sp>
      <p:sp>
        <p:nvSpPr>
          <p:cNvPr id="4" name="Slide Number Placeholder 3">
            <a:extLst>
              <a:ext uri="{FF2B5EF4-FFF2-40B4-BE49-F238E27FC236}">
                <a16:creationId xmlns:a16="http://schemas.microsoft.com/office/drawing/2014/main" id="{F1DD5ED7-4727-BB42-B1F8-69DC5786A87E}"/>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Footer Placeholder 4">
            <a:extLst>
              <a:ext uri="{FF2B5EF4-FFF2-40B4-BE49-F238E27FC236}">
                <a16:creationId xmlns:a16="http://schemas.microsoft.com/office/drawing/2014/main" id="{05FAE70D-C6E0-884F-8113-EC1AC7D4A65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6" name="Rectangle 15">
            <a:extLst>
              <a:ext uri="{FF2B5EF4-FFF2-40B4-BE49-F238E27FC236}">
                <a16:creationId xmlns:a16="http://schemas.microsoft.com/office/drawing/2014/main" id="{CAB5557E-E853-9A4C-A3A9-3FD62FA6E4D8}"/>
              </a:ext>
            </a:extLst>
          </p:cNvPr>
          <p:cNvSpPr/>
          <p:nvPr/>
        </p:nvSpPr>
        <p:spPr>
          <a:xfrm>
            <a:off x="4590325" y="1192577"/>
            <a:ext cx="584732" cy="6333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00" dirty="0"/>
              <a:t>常用</a:t>
            </a:r>
            <a:r>
              <a:rPr lang="zh-CN" altLang="en-US" sz="1000" dirty="0"/>
              <a:t>元数据</a:t>
            </a:r>
            <a:endParaRPr lang="en-CN" sz="1000" dirty="0"/>
          </a:p>
        </p:txBody>
      </p:sp>
      <p:sp>
        <p:nvSpPr>
          <p:cNvPr id="17" name="Rectangle 16">
            <a:extLst>
              <a:ext uri="{FF2B5EF4-FFF2-40B4-BE49-F238E27FC236}">
                <a16:creationId xmlns:a16="http://schemas.microsoft.com/office/drawing/2014/main" id="{4EC16F64-ADBA-3540-9857-F135102F443F}"/>
              </a:ext>
            </a:extLst>
          </p:cNvPr>
          <p:cNvSpPr/>
          <p:nvPr/>
        </p:nvSpPr>
        <p:spPr>
          <a:xfrm>
            <a:off x="4590325" y="1825937"/>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18" name="Rectangle 17">
            <a:extLst>
              <a:ext uri="{FF2B5EF4-FFF2-40B4-BE49-F238E27FC236}">
                <a16:creationId xmlns:a16="http://schemas.microsoft.com/office/drawing/2014/main" id="{A020236D-FC90-7D43-8BF5-8D0FA122BFA2}"/>
              </a:ext>
            </a:extLst>
          </p:cNvPr>
          <p:cNvSpPr/>
          <p:nvPr/>
        </p:nvSpPr>
        <p:spPr>
          <a:xfrm>
            <a:off x="4590325" y="1986141"/>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19" name="Rectangle 18">
            <a:extLst>
              <a:ext uri="{FF2B5EF4-FFF2-40B4-BE49-F238E27FC236}">
                <a16:creationId xmlns:a16="http://schemas.microsoft.com/office/drawing/2014/main" id="{BFAF219C-B018-8F44-8495-90C7E953A090}"/>
              </a:ext>
            </a:extLst>
          </p:cNvPr>
          <p:cNvSpPr/>
          <p:nvPr/>
        </p:nvSpPr>
        <p:spPr>
          <a:xfrm>
            <a:off x="4590325" y="2146344"/>
            <a:ext cx="584732" cy="2903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20" name="Rectangle 19">
            <a:extLst>
              <a:ext uri="{FF2B5EF4-FFF2-40B4-BE49-F238E27FC236}">
                <a16:creationId xmlns:a16="http://schemas.microsoft.com/office/drawing/2014/main" id="{E3F13AA1-B6B3-5D4B-B9E9-17B34037A343}"/>
              </a:ext>
            </a:extLst>
          </p:cNvPr>
          <p:cNvSpPr/>
          <p:nvPr/>
        </p:nvSpPr>
        <p:spPr>
          <a:xfrm>
            <a:off x="4590324" y="2436654"/>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a:t>
            </a:r>
            <a:endParaRPr lang="en-CN" sz="1000" dirty="0"/>
          </a:p>
        </p:txBody>
      </p:sp>
      <p:cxnSp>
        <p:nvCxnSpPr>
          <p:cNvPr id="21" name="Curved Connector 15">
            <a:extLst>
              <a:ext uri="{FF2B5EF4-FFF2-40B4-BE49-F238E27FC236}">
                <a16:creationId xmlns:a16="http://schemas.microsoft.com/office/drawing/2014/main" id="{DC4720F8-F164-774D-959E-E9CF84E89645}"/>
              </a:ext>
            </a:extLst>
          </p:cNvPr>
          <p:cNvCxnSpPr>
            <a:cxnSpLocks/>
            <a:stCxn id="17" idx="3"/>
            <a:endCxn id="27" idx="1"/>
          </p:cNvCxnSpPr>
          <p:nvPr/>
        </p:nvCxnSpPr>
        <p:spPr>
          <a:xfrm flipV="1">
            <a:off x="5175057" y="993400"/>
            <a:ext cx="553197" cy="91263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urved Connector 16">
            <a:extLst>
              <a:ext uri="{FF2B5EF4-FFF2-40B4-BE49-F238E27FC236}">
                <a16:creationId xmlns:a16="http://schemas.microsoft.com/office/drawing/2014/main" id="{71FA5ED1-C235-A54C-A3D5-3ECFB6A6F943}"/>
              </a:ext>
            </a:extLst>
          </p:cNvPr>
          <p:cNvCxnSpPr>
            <a:cxnSpLocks/>
            <a:stCxn id="18" idx="3"/>
            <a:endCxn id="28" idx="1"/>
          </p:cNvCxnSpPr>
          <p:nvPr/>
        </p:nvCxnSpPr>
        <p:spPr>
          <a:xfrm flipV="1">
            <a:off x="5175057" y="1457441"/>
            <a:ext cx="545504" cy="60880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urved Connector 22">
            <a:extLst>
              <a:ext uri="{FF2B5EF4-FFF2-40B4-BE49-F238E27FC236}">
                <a16:creationId xmlns:a16="http://schemas.microsoft.com/office/drawing/2014/main" id="{0214E3FD-F959-734C-A424-39239C70A3C5}"/>
              </a:ext>
            </a:extLst>
          </p:cNvPr>
          <p:cNvCxnSpPr>
            <a:cxnSpLocks/>
            <a:stCxn id="25" idx="3"/>
            <a:endCxn id="32" idx="1"/>
          </p:cNvCxnSpPr>
          <p:nvPr/>
        </p:nvCxnSpPr>
        <p:spPr>
          <a:xfrm>
            <a:off x="5175057" y="2832351"/>
            <a:ext cx="586083" cy="447924"/>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FDA27593-4D8F-1A4E-BEB4-847DA9818EB1}"/>
              </a:ext>
            </a:extLst>
          </p:cNvPr>
          <p:cNvSpPr/>
          <p:nvPr/>
        </p:nvSpPr>
        <p:spPr>
          <a:xfrm>
            <a:off x="4590325" y="2590965"/>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13</a:t>
            </a:r>
            <a:endParaRPr lang="en-CN" sz="1000" dirty="0"/>
          </a:p>
        </p:txBody>
      </p:sp>
      <p:sp>
        <p:nvSpPr>
          <p:cNvPr id="25" name="Rectangle 24">
            <a:extLst>
              <a:ext uri="{FF2B5EF4-FFF2-40B4-BE49-F238E27FC236}">
                <a16:creationId xmlns:a16="http://schemas.microsoft.com/office/drawing/2014/main" id="{99A3132D-868B-4147-BD7B-C34C930ABECD}"/>
              </a:ext>
            </a:extLst>
          </p:cNvPr>
          <p:cNvSpPr/>
          <p:nvPr/>
        </p:nvSpPr>
        <p:spPr>
          <a:xfrm>
            <a:off x="4590325" y="2752249"/>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14</a:t>
            </a:r>
            <a:endParaRPr lang="en-CN" sz="1000" dirty="0"/>
          </a:p>
        </p:txBody>
      </p:sp>
      <p:sp>
        <p:nvSpPr>
          <p:cNvPr id="26" name="Rectangle 25">
            <a:extLst>
              <a:ext uri="{FF2B5EF4-FFF2-40B4-BE49-F238E27FC236}">
                <a16:creationId xmlns:a16="http://schemas.microsoft.com/office/drawing/2014/main" id="{A9557CAE-2BE5-EF42-A303-FB08D0498658}"/>
              </a:ext>
            </a:extLst>
          </p:cNvPr>
          <p:cNvSpPr/>
          <p:nvPr/>
        </p:nvSpPr>
        <p:spPr>
          <a:xfrm>
            <a:off x="4590324" y="2911684"/>
            <a:ext cx="584732" cy="1602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15</a:t>
            </a:r>
            <a:endParaRPr lang="en-CN" sz="1000" dirty="0"/>
          </a:p>
        </p:txBody>
      </p:sp>
      <p:sp>
        <p:nvSpPr>
          <p:cNvPr id="27" name="Rectangle 26">
            <a:extLst>
              <a:ext uri="{FF2B5EF4-FFF2-40B4-BE49-F238E27FC236}">
                <a16:creationId xmlns:a16="http://schemas.microsoft.com/office/drawing/2014/main" id="{4EEDAD63-F1E6-0A4A-B1D0-B9306BB2619A}"/>
              </a:ext>
            </a:extLst>
          </p:cNvPr>
          <p:cNvSpPr/>
          <p:nvPr/>
        </p:nvSpPr>
        <p:spPr>
          <a:xfrm>
            <a:off x="5728254" y="803797"/>
            <a:ext cx="489698" cy="379205"/>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28" name="Rectangle 27">
            <a:extLst>
              <a:ext uri="{FF2B5EF4-FFF2-40B4-BE49-F238E27FC236}">
                <a16:creationId xmlns:a16="http://schemas.microsoft.com/office/drawing/2014/main" id="{A02F3336-6597-0C45-9E54-EACEDE16F622}"/>
              </a:ext>
            </a:extLst>
          </p:cNvPr>
          <p:cNvSpPr/>
          <p:nvPr/>
        </p:nvSpPr>
        <p:spPr>
          <a:xfrm>
            <a:off x="5720561" y="1267838"/>
            <a:ext cx="489698" cy="379205"/>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29" name="Rectangle 28">
            <a:extLst>
              <a:ext uri="{FF2B5EF4-FFF2-40B4-BE49-F238E27FC236}">
                <a16:creationId xmlns:a16="http://schemas.microsoft.com/office/drawing/2014/main" id="{84BED18E-4EBC-F947-BAEC-65803749AE47}"/>
              </a:ext>
            </a:extLst>
          </p:cNvPr>
          <p:cNvSpPr/>
          <p:nvPr/>
        </p:nvSpPr>
        <p:spPr>
          <a:xfrm>
            <a:off x="8059528" y="1688295"/>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30" name="TextBox 29">
            <a:extLst>
              <a:ext uri="{FF2B5EF4-FFF2-40B4-BE49-F238E27FC236}">
                <a16:creationId xmlns:a16="http://schemas.microsoft.com/office/drawing/2014/main" id="{59D382E7-D778-9F46-9683-0FEDD7A94036}"/>
              </a:ext>
            </a:extLst>
          </p:cNvPr>
          <p:cNvSpPr txBox="1"/>
          <p:nvPr/>
        </p:nvSpPr>
        <p:spPr>
          <a:xfrm>
            <a:off x="7130951" y="3813483"/>
            <a:ext cx="247432" cy="198724"/>
          </a:xfrm>
          <a:prstGeom prst="rect">
            <a:avLst/>
          </a:prstGeom>
          <a:noFill/>
        </p:spPr>
        <p:txBody>
          <a:bodyPr wrap="none" rtlCol="0">
            <a:spAutoFit/>
          </a:bodyPr>
          <a:lstStyle/>
          <a:p>
            <a:r>
              <a:rPr lang="en-US" altLang="zh-CN" sz="1100" dirty="0"/>
              <a:t>…</a:t>
            </a:r>
            <a:endParaRPr lang="en-CN" sz="1100" dirty="0"/>
          </a:p>
        </p:txBody>
      </p:sp>
      <p:sp>
        <p:nvSpPr>
          <p:cNvPr id="31" name="TextBox 30">
            <a:extLst>
              <a:ext uri="{FF2B5EF4-FFF2-40B4-BE49-F238E27FC236}">
                <a16:creationId xmlns:a16="http://schemas.microsoft.com/office/drawing/2014/main" id="{ADDB3DB3-CB24-2D41-AE13-721C06292AC5}"/>
              </a:ext>
            </a:extLst>
          </p:cNvPr>
          <p:cNvSpPr txBox="1"/>
          <p:nvPr/>
        </p:nvSpPr>
        <p:spPr>
          <a:xfrm>
            <a:off x="5535979" y="3802137"/>
            <a:ext cx="1172116" cy="261610"/>
          </a:xfrm>
          <a:prstGeom prst="rect">
            <a:avLst/>
          </a:prstGeom>
          <a:noFill/>
        </p:spPr>
        <p:txBody>
          <a:bodyPr wrap="none" rtlCol="0">
            <a:spAutoFit/>
          </a:bodyPr>
          <a:lstStyle/>
          <a:p>
            <a:r>
              <a:rPr lang="zh-CN" altLang="en-US" sz="1100" dirty="0"/>
              <a:t>二级间接索引块</a:t>
            </a:r>
            <a:endParaRPr lang="en-CN" sz="1100" dirty="0"/>
          </a:p>
        </p:txBody>
      </p:sp>
      <p:sp>
        <p:nvSpPr>
          <p:cNvPr id="32" name="Rectangle 31">
            <a:extLst>
              <a:ext uri="{FF2B5EF4-FFF2-40B4-BE49-F238E27FC236}">
                <a16:creationId xmlns:a16="http://schemas.microsoft.com/office/drawing/2014/main" id="{FE15FA92-EE55-C248-930C-6CDAA50A05B3}"/>
              </a:ext>
            </a:extLst>
          </p:cNvPr>
          <p:cNvSpPr/>
          <p:nvPr/>
        </p:nvSpPr>
        <p:spPr>
          <a:xfrm>
            <a:off x="5761140" y="3213191"/>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33" name="Rectangle 32">
            <a:extLst>
              <a:ext uri="{FF2B5EF4-FFF2-40B4-BE49-F238E27FC236}">
                <a16:creationId xmlns:a16="http://schemas.microsoft.com/office/drawing/2014/main" id="{D45B67A1-9A3E-4B4E-8C2B-581F4B08D6CC}"/>
              </a:ext>
            </a:extLst>
          </p:cNvPr>
          <p:cNvSpPr/>
          <p:nvPr/>
        </p:nvSpPr>
        <p:spPr>
          <a:xfrm>
            <a:off x="5761140" y="3347358"/>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34" name="Rectangle 33">
            <a:extLst>
              <a:ext uri="{FF2B5EF4-FFF2-40B4-BE49-F238E27FC236}">
                <a16:creationId xmlns:a16="http://schemas.microsoft.com/office/drawing/2014/main" id="{FE878F16-21B6-BA44-9B17-46288E6E259D}"/>
              </a:ext>
            </a:extLst>
          </p:cNvPr>
          <p:cNvSpPr/>
          <p:nvPr/>
        </p:nvSpPr>
        <p:spPr>
          <a:xfrm>
            <a:off x="5761140" y="3481525"/>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35" name="Rectangle 34">
            <a:extLst>
              <a:ext uri="{FF2B5EF4-FFF2-40B4-BE49-F238E27FC236}">
                <a16:creationId xmlns:a16="http://schemas.microsoft.com/office/drawing/2014/main" id="{70B52478-0E85-504E-9664-C4EFB5B5D292}"/>
              </a:ext>
            </a:extLst>
          </p:cNvPr>
          <p:cNvSpPr/>
          <p:nvPr/>
        </p:nvSpPr>
        <p:spPr>
          <a:xfrm>
            <a:off x="5761140" y="3616596"/>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cxnSp>
        <p:nvCxnSpPr>
          <p:cNvPr id="36" name="Curved Connector 35">
            <a:extLst>
              <a:ext uri="{FF2B5EF4-FFF2-40B4-BE49-F238E27FC236}">
                <a16:creationId xmlns:a16="http://schemas.microsoft.com/office/drawing/2014/main" id="{B1EBBE68-B7E5-174B-895D-0C6C81EEBF7A}"/>
              </a:ext>
            </a:extLst>
          </p:cNvPr>
          <p:cNvCxnSpPr>
            <a:cxnSpLocks/>
            <a:stCxn id="32" idx="3"/>
            <a:endCxn id="78" idx="1"/>
          </p:cNvCxnSpPr>
          <p:nvPr/>
        </p:nvCxnSpPr>
        <p:spPr>
          <a:xfrm flipV="1">
            <a:off x="6250838" y="2727247"/>
            <a:ext cx="805975" cy="553028"/>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urved Connector 36">
            <a:extLst>
              <a:ext uri="{FF2B5EF4-FFF2-40B4-BE49-F238E27FC236}">
                <a16:creationId xmlns:a16="http://schemas.microsoft.com/office/drawing/2014/main" id="{5A568260-71D3-3D46-9FEB-971C77ABF0B2}"/>
              </a:ext>
            </a:extLst>
          </p:cNvPr>
          <p:cNvCxnSpPr>
            <a:cxnSpLocks/>
            <a:stCxn id="33" idx="3"/>
            <a:endCxn id="74" idx="1"/>
          </p:cNvCxnSpPr>
          <p:nvPr/>
        </p:nvCxnSpPr>
        <p:spPr>
          <a:xfrm flipV="1">
            <a:off x="6250838" y="3380403"/>
            <a:ext cx="805975" cy="34039"/>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urved Connector 37">
            <a:extLst>
              <a:ext uri="{FF2B5EF4-FFF2-40B4-BE49-F238E27FC236}">
                <a16:creationId xmlns:a16="http://schemas.microsoft.com/office/drawing/2014/main" id="{07B8F7C0-CDC8-544E-A5B4-A28575E8CE8F}"/>
              </a:ext>
            </a:extLst>
          </p:cNvPr>
          <p:cNvCxnSpPr>
            <a:cxnSpLocks/>
            <a:stCxn id="35" idx="3"/>
            <a:endCxn id="70" idx="1"/>
          </p:cNvCxnSpPr>
          <p:nvPr/>
        </p:nvCxnSpPr>
        <p:spPr>
          <a:xfrm>
            <a:off x="6250838" y="3683680"/>
            <a:ext cx="805975" cy="462694"/>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2E55330E-EF7D-B143-83F9-59361C27ED12}"/>
              </a:ext>
            </a:extLst>
          </p:cNvPr>
          <p:cNvGrpSpPr/>
          <p:nvPr/>
        </p:nvGrpSpPr>
        <p:grpSpPr>
          <a:xfrm>
            <a:off x="7056813" y="2660163"/>
            <a:ext cx="489698" cy="537572"/>
            <a:chOff x="7298430" y="2380870"/>
            <a:chExt cx="489698" cy="537572"/>
          </a:xfrm>
        </p:grpSpPr>
        <p:sp>
          <p:nvSpPr>
            <p:cNvPr id="78" name="Rectangle 77">
              <a:extLst>
                <a:ext uri="{FF2B5EF4-FFF2-40B4-BE49-F238E27FC236}">
                  <a16:creationId xmlns:a16="http://schemas.microsoft.com/office/drawing/2014/main" id="{8CF03C11-29D0-174D-82CB-45EEDFFCD1B8}"/>
                </a:ext>
              </a:extLst>
            </p:cNvPr>
            <p:cNvSpPr/>
            <p:nvPr/>
          </p:nvSpPr>
          <p:spPr>
            <a:xfrm>
              <a:off x="7298430" y="2380870"/>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79" name="Rectangle 78">
              <a:extLst>
                <a:ext uri="{FF2B5EF4-FFF2-40B4-BE49-F238E27FC236}">
                  <a16:creationId xmlns:a16="http://schemas.microsoft.com/office/drawing/2014/main" id="{51949A09-D415-564E-99E3-11A14DEFBB4D}"/>
                </a:ext>
              </a:extLst>
            </p:cNvPr>
            <p:cNvSpPr/>
            <p:nvPr/>
          </p:nvSpPr>
          <p:spPr>
            <a:xfrm>
              <a:off x="7298430" y="2515037"/>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80" name="Rectangle 79">
              <a:extLst>
                <a:ext uri="{FF2B5EF4-FFF2-40B4-BE49-F238E27FC236}">
                  <a16:creationId xmlns:a16="http://schemas.microsoft.com/office/drawing/2014/main" id="{059FB557-B4C4-7B49-A23B-0064AFC32EFC}"/>
                </a:ext>
              </a:extLst>
            </p:cNvPr>
            <p:cNvSpPr/>
            <p:nvPr/>
          </p:nvSpPr>
          <p:spPr>
            <a:xfrm>
              <a:off x="7298430" y="2649204"/>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81" name="Rectangle 80">
              <a:extLst>
                <a:ext uri="{FF2B5EF4-FFF2-40B4-BE49-F238E27FC236}">
                  <a16:creationId xmlns:a16="http://schemas.microsoft.com/office/drawing/2014/main" id="{4F5BE4D1-2F6B-0549-8B55-4F4ED93C2463}"/>
                </a:ext>
              </a:extLst>
            </p:cNvPr>
            <p:cNvSpPr/>
            <p:nvPr/>
          </p:nvSpPr>
          <p:spPr>
            <a:xfrm>
              <a:off x="7298430" y="2784275"/>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grpSp>
      <p:cxnSp>
        <p:nvCxnSpPr>
          <p:cNvPr id="40" name="Curved Connector 35">
            <a:extLst>
              <a:ext uri="{FF2B5EF4-FFF2-40B4-BE49-F238E27FC236}">
                <a16:creationId xmlns:a16="http://schemas.microsoft.com/office/drawing/2014/main" id="{95FBE216-615D-2B4A-9F33-6493B341E6C2}"/>
              </a:ext>
            </a:extLst>
          </p:cNvPr>
          <p:cNvCxnSpPr>
            <a:cxnSpLocks/>
            <a:stCxn id="78" idx="3"/>
            <a:endCxn id="29" idx="1"/>
          </p:cNvCxnSpPr>
          <p:nvPr/>
        </p:nvCxnSpPr>
        <p:spPr>
          <a:xfrm flipV="1">
            <a:off x="7546511" y="1877898"/>
            <a:ext cx="513017" cy="84934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465F2FF8-DBAB-ED43-BA92-B9CF08608055}"/>
              </a:ext>
            </a:extLst>
          </p:cNvPr>
          <p:cNvSpPr/>
          <p:nvPr/>
        </p:nvSpPr>
        <p:spPr>
          <a:xfrm>
            <a:off x="8058193" y="2231784"/>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42" name="Rectangle 41">
            <a:extLst>
              <a:ext uri="{FF2B5EF4-FFF2-40B4-BE49-F238E27FC236}">
                <a16:creationId xmlns:a16="http://schemas.microsoft.com/office/drawing/2014/main" id="{BB4D2A12-EEA6-284A-A3C9-34853041A600}"/>
              </a:ext>
            </a:extLst>
          </p:cNvPr>
          <p:cNvSpPr/>
          <p:nvPr/>
        </p:nvSpPr>
        <p:spPr>
          <a:xfrm>
            <a:off x="8058193" y="2901069"/>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43" name="TextBox 42">
            <a:extLst>
              <a:ext uri="{FF2B5EF4-FFF2-40B4-BE49-F238E27FC236}">
                <a16:creationId xmlns:a16="http://schemas.microsoft.com/office/drawing/2014/main" id="{385F0883-0B7A-D148-A0A9-B4FBB7335E4D}"/>
              </a:ext>
            </a:extLst>
          </p:cNvPr>
          <p:cNvSpPr txBox="1"/>
          <p:nvPr/>
        </p:nvSpPr>
        <p:spPr>
          <a:xfrm>
            <a:off x="8172974" y="2632737"/>
            <a:ext cx="247432" cy="198724"/>
          </a:xfrm>
          <a:prstGeom prst="rect">
            <a:avLst/>
          </a:prstGeom>
          <a:noFill/>
        </p:spPr>
        <p:txBody>
          <a:bodyPr wrap="none" rtlCol="0">
            <a:spAutoFit/>
          </a:bodyPr>
          <a:lstStyle/>
          <a:p>
            <a:r>
              <a:rPr lang="en-US" altLang="zh-CN" sz="1100" dirty="0"/>
              <a:t>…</a:t>
            </a:r>
            <a:endParaRPr lang="en-CN" sz="1100" dirty="0"/>
          </a:p>
        </p:txBody>
      </p:sp>
      <p:cxnSp>
        <p:nvCxnSpPr>
          <p:cNvPr id="44" name="Curved Connector 39">
            <a:extLst>
              <a:ext uri="{FF2B5EF4-FFF2-40B4-BE49-F238E27FC236}">
                <a16:creationId xmlns:a16="http://schemas.microsoft.com/office/drawing/2014/main" id="{081E6004-2C94-B145-8DFF-D288E3074DBD}"/>
              </a:ext>
            </a:extLst>
          </p:cNvPr>
          <p:cNvCxnSpPr>
            <a:cxnSpLocks/>
            <a:stCxn id="79" idx="3"/>
            <a:endCxn id="41" idx="1"/>
          </p:cNvCxnSpPr>
          <p:nvPr/>
        </p:nvCxnSpPr>
        <p:spPr>
          <a:xfrm flipV="1">
            <a:off x="7546511" y="2421387"/>
            <a:ext cx="511682" cy="4400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urved Connector 40">
            <a:extLst>
              <a:ext uri="{FF2B5EF4-FFF2-40B4-BE49-F238E27FC236}">
                <a16:creationId xmlns:a16="http://schemas.microsoft.com/office/drawing/2014/main" id="{E8BFAB72-F80E-0547-B432-4B4E7DEB7EC6}"/>
              </a:ext>
            </a:extLst>
          </p:cNvPr>
          <p:cNvCxnSpPr>
            <a:cxnSpLocks/>
            <a:stCxn id="81" idx="3"/>
            <a:endCxn id="42" idx="1"/>
          </p:cNvCxnSpPr>
          <p:nvPr/>
        </p:nvCxnSpPr>
        <p:spPr>
          <a:xfrm flipV="1">
            <a:off x="7546511" y="3090672"/>
            <a:ext cx="511682" cy="399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472E152B-5948-0443-A651-7A0820B3969E}"/>
              </a:ext>
            </a:extLst>
          </p:cNvPr>
          <p:cNvSpPr txBox="1"/>
          <p:nvPr/>
        </p:nvSpPr>
        <p:spPr>
          <a:xfrm>
            <a:off x="6856668" y="4623623"/>
            <a:ext cx="889987" cy="261610"/>
          </a:xfrm>
          <a:prstGeom prst="rect">
            <a:avLst/>
          </a:prstGeom>
          <a:noFill/>
        </p:spPr>
        <p:txBody>
          <a:bodyPr wrap="none" rtlCol="0">
            <a:spAutoFit/>
          </a:bodyPr>
          <a:lstStyle/>
          <a:p>
            <a:r>
              <a:rPr lang="zh-CN" altLang="en-US" sz="1100" dirty="0"/>
              <a:t>间接索引块</a:t>
            </a:r>
            <a:endParaRPr lang="en-CN" sz="1100" dirty="0"/>
          </a:p>
        </p:txBody>
      </p:sp>
      <p:sp>
        <p:nvSpPr>
          <p:cNvPr id="47" name="Rectangle 46">
            <a:extLst>
              <a:ext uri="{FF2B5EF4-FFF2-40B4-BE49-F238E27FC236}">
                <a16:creationId xmlns:a16="http://schemas.microsoft.com/office/drawing/2014/main" id="{4FFFAB66-3BB7-D343-B258-4E52807062E4}"/>
              </a:ext>
            </a:extLst>
          </p:cNvPr>
          <p:cNvSpPr/>
          <p:nvPr/>
        </p:nvSpPr>
        <p:spPr>
          <a:xfrm>
            <a:off x="6539380" y="1143009"/>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48" name="Rectangle 47">
            <a:extLst>
              <a:ext uri="{FF2B5EF4-FFF2-40B4-BE49-F238E27FC236}">
                <a16:creationId xmlns:a16="http://schemas.microsoft.com/office/drawing/2014/main" id="{BF828DD5-943B-7F49-AA8A-8E2690F12821}"/>
              </a:ext>
            </a:extLst>
          </p:cNvPr>
          <p:cNvSpPr/>
          <p:nvPr/>
        </p:nvSpPr>
        <p:spPr>
          <a:xfrm>
            <a:off x="5736124" y="1986490"/>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49" name="Rectangle 48">
            <a:extLst>
              <a:ext uri="{FF2B5EF4-FFF2-40B4-BE49-F238E27FC236}">
                <a16:creationId xmlns:a16="http://schemas.microsoft.com/office/drawing/2014/main" id="{773BE036-E7EB-8448-AF28-78EE6F0838B9}"/>
              </a:ext>
            </a:extLst>
          </p:cNvPr>
          <p:cNvSpPr/>
          <p:nvPr/>
        </p:nvSpPr>
        <p:spPr>
          <a:xfrm>
            <a:off x="5736124" y="2120657"/>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50" name="Rectangle 49">
            <a:extLst>
              <a:ext uri="{FF2B5EF4-FFF2-40B4-BE49-F238E27FC236}">
                <a16:creationId xmlns:a16="http://schemas.microsoft.com/office/drawing/2014/main" id="{5347CBBB-EB22-D440-8307-3D1CCB452D88}"/>
              </a:ext>
            </a:extLst>
          </p:cNvPr>
          <p:cNvSpPr/>
          <p:nvPr/>
        </p:nvSpPr>
        <p:spPr>
          <a:xfrm>
            <a:off x="5736124" y="2254824"/>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51" name="Rectangle 50">
            <a:extLst>
              <a:ext uri="{FF2B5EF4-FFF2-40B4-BE49-F238E27FC236}">
                <a16:creationId xmlns:a16="http://schemas.microsoft.com/office/drawing/2014/main" id="{FAD292A2-FD9E-7944-87F3-58F64C18DEB8}"/>
              </a:ext>
            </a:extLst>
          </p:cNvPr>
          <p:cNvSpPr/>
          <p:nvPr/>
        </p:nvSpPr>
        <p:spPr>
          <a:xfrm>
            <a:off x="5736124" y="2389895"/>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cxnSp>
        <p:nvCxnSpPr>
          <p:cNvPr id="52" name="Curved Connector 59">
            <a:extLst>
              <a:ext uri="{FF2B5EF4-FFF2-40B4-BE49-F238E27FC236}">
                <a16:creationId xmlns:a16="http://schemas.microsoft.com/office/drawing/2014/main" id="{6FAF9EB9-978E-D94A-A1B8-7482D46781EA}"/>
              </a:ext>
            </a:extLst>
          </p:cNvPr>
          <p:cNvCxnSpPr>
            <a:cxnSpLocks/>
            <a:stCxn id="48" idx="3"/>
            <a:endCxn id="47" idx="1"/>
          </p:cNvCxnSpPr>
          <p:nvPr/>
        </p:nvCxnSpPr>
        <p:spPr>
          <a:xfrm flipV="1">
            <a:off x="6225822" y="1332612"/>
            <a:ext cx="313558" cy="7209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5015473D-918A-4446-AB28-17B1E3ACEAFA}"/>
              </a:ext>
            </a:extLst>
          </p:cNvPr>
          <p:cNvSpPr/>
          <p:nvPr/>
        </p:nvSpPr>
        <p:spPr>
          <a:xfrm>
            <a:off x="6547250" y="1613648"/>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cxnSp>
        <p:nvCxnSpPr>
          <p:cNvPr id="54" name="Curved Connector 62">
            <a:extLst>
              <a:ext uri="{FF2B5EF4-FFF2-40B4-BE49-F238E27FC236}">
                <a16:creationId xmlns:a16="http://schemas.microsoft.com/office/drawing/2014/main" id="{D6A1CD45-C0AF-9045-BB69-124558283607}"/>
              </a:ext>
            </a:extLst>
          </p:cNvPr>
          <p:cNvCxnSpPr>
            <a:cxnSpLocks/>
            <a:stCxn id="49" idx="3"/>
            <a:endCxn id="53" idx="1"/>
          </p:cNvCxnSpPr>
          <p:nvPr/>
        </p:nvCxnSpPr>
        <p:spPr>
          <a:xfrm flipV="1">
            <a:off x="6225822" y="1803251"/>
            <a:ext cx="321428" cy="3844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urved Connector 54">
            <a:extLst>
              <a:ext uri="{FF2B5EF4-FFF2-40B4-BE49-F238E27FC236}">
                <a16:creationId xmlns:a16="http://schemas.microsoft.com/office/drawing/2014/main" id="{2C13C706-F624-8848-89A3-FDAB057A52E7}"/>
              </a:ext>
            </a:extLst>
          </p:cNvPr>
          <p:cNvCxnSpPr>
            <a:cxnSpLocks/>
            <a:stCxn id="24" idx="3"/>
            <a:endCxn id="48" idx="1"/>
          </p:cNvCxnSpPr>
          <p:nvPr/>
        </p:nvCxnSpPr>
        <p:spPr>
          <a:xfrm flipV="1">
            <a:off x="5175057" y="2053574"/>
            <a:ext cx="561067" cy="617493"/>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2D96F8D-876F-954D-9895-74ABB3BC0A04}"/>
              </a:ext>
            </a:extLst>
          </p:cNvPr>
          <p:cNvSpPr txBox="1"/>
          <p:nvPr/>
        </p:nvSpPr>
        <p:spPr>
          <a:xfrm>
            <a:off x="5528109" y="2535034"/>
            <a:ext cx="889987" cy="261610"/>
          </a:xfrm>
          <a:prstGeom prst="rect">
            <a:avLst/>
          </a:prstGeom>
          <a:noFill/>
        </p:spPr>
        <p:txBody>
          <a:bodyPr wrap="none" rtlCol="0">
            <a:spAutoFit/>
          </a:bodyPr>
          <a:lstStyle/>
          <a:p>
            <a:r>
              <a:rPr lang="zh-CN" altLang="en-US" sz="1100" dirty="0"/>
              <a:t>间接索引块</a:t>
            </a:r>
            <a:endParaRPr lang="en-CN" sz="1100" dirty="0"/>
          </a:p>
        </p:txBody>
      </p:sp>
      <p:sp>
        <p:nvSpPr>
          <p:cNvPr id="57" name="Rectangle 56">
            <a:extLst>
              <a:ext uri="{FF2B5EF4-FFF2-40B4-BE49-F238E27FC236}">
                <a16:creationId xmlns:a16="http://schemas.microsoft.com/office/drawing/2014/main" id="{A974F11C-D1D0-BD4E-8CF6-A8D2BE096378}"/>
              </a:ext>
            </a:extLst>
          </p:cNvPr>
          <p:cNvSpPr/>
          <p:nvPr/>
        </p:nvSpPr>
        <p:spPr>
          <a:xfrm>
            <a:off x="6547250" y="2170223"/>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cxnSp>
        <p:nvCxnSpPr>
          <p:cNvPr id="58" name="Curved Connector 62">
            <a:extLst>
              <a:ext uri="{FF2B5EF4-FFF2-40B4-BE49-F238E27FC236}">
                <a16:creationId xmlns:a16="http://schemas.microsoft.com/office/drawing/2014/main" id="{A56D60C1-68A0-EF49-8A6D-02ECAB533A5E}"/>
              </a:ext>
            </a:extLst>
          </p:cNvPr>
          <p:cNvCxnSpPr>
            <a:cxnSpLocks/>
            <a:stCxn id="51" idx="3"/>
            <a:endCxn id="57" idx="1"/>
          </p:cNvCxnSpPr>
          <p:nvPr/>
        </p:nvCxnSpPr>
        <p:spPr>
          <a:xfrm flipV="1">
            <a:off x="6225822" y="2359826"/>
            <a:ext cx="321428" cy="9715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DCB55123-33B7-6749-A04C-B449EA105976}"/>
              </a:ext>
            </a:extLst>
          </p:cNvPr>
          <p:cNvSpPr txBox="1"/>
          <p:nvPr/>
        </p:nvSpPr>
        <p:spPr>
          <a:xfrm>
            <a:off x="5563694" y="4961277"/>
            <a:ext cx="1172116" cy="261610"/>
          </a:xfrm>
          <a:prstGeom prst="rect">
            <a:avLst/>
          </a:prstGeom>
          <a:noFill/>
        </p:spPr>
        <p:txBody>
          <a:bodyPr wrap="none" rtlCol="0">
            <a:spAutoFit/>
          </a:bodyPr>
          <a:lstStyle/>
          <a:p>
            <a:r>
              <a:rPr lang="zh-CN" altLang="en-US" sz="1100" dirty="0"/>
              <a:t>三级间接索引块</a:t>
            </a:r>
            <a:endParaRPr lang="en-CN" sz="1100" dirty="0"/>
          </a:p>
        </p:txBody>
      </p:sp>
      <p:sp>
        <p:nvSpPr>
          <p:cNvPr id="60" name="Rectangle 59">
            <a:extLst>
              <a:ext uri="{FF2B5EF4-FFF2-40B4-BE49-F238E27FC236}">
                <a16:creationId xmlns:a16="http://schemas.microsoft.com/office/drawing/2014/main" id="{F8C28018-70DA-D249-83A7-1485A96B9451}"/>
              </a:ext>
            </a:extLst>
          </p:cNvPr>
          <p:cNvSpPr/>
          <p:nvPr/>
        </p:nvSpPr>
        <p:spPr>
          <a:xfrm>
            <a:off x="5788855" y="4372331"/>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61" name="Rectangle 60">
            <a:extLst>
              <a:ext uri="{FF2B5EF4-FFF2-40B4-BE49-F238E27FC236}">
                <a16:creationId xmlns:a16="http://schemas.microsoft.com/office/drawing/2014/main" id="{D4A1B9B3-CEE5-3848-8A4F-2467935408F7}"/>
              </a:ext>
            </a:extLst>
          </p:cNvPr>
          <p:cNvSpPr/>
          <p:nvPr/>
        </p:nvSpPr>
        <p:spPr>
          <a:xfrm>
            <a:off x="5788855" y="4506498"/>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62" name="Rectangle 61">
            <a:extLst>
              <a:ext uri="{FF2B5EF4-FFF2-40B4-BE49-F238E27FC236}">
                <a16:creationId xmlns:a16="http://schemas.microsoft.com/office/drawing/2014/main" id="{538CB433-B39C-3D4A-8AFB-DE03EC71FBC0}"/>
              </a:ext>
            </a:extLst>
          </p:cNvPr>
          <p:cNvSpPr/>
          <p:nvPr/>
        </p:nvSpPr>
        <p:spPr>
          <a:xfrm>
            <a:off x="5788855" y="4640665"/>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63" name="Rectangle 62">
            <a:extLst>
              <a:ext uri="{FF2B5EF4-FFF2-40B4-BE49-F238E27FC236}">
                <a16:creationId xmlns:a16="http://schemas.microsoft.com/office/drawing/2014/main" id="{841CFDA9-11E2-834F-84A6-4797190C50E1}"/>
              </a:ext>
            </a:extLst>
          </p:cNvPr>
          <p:cNvSpPr/>
          <p:nvPr/>
        </p:nvSpPr>
        <p:spPr>
          <a:xfrm>
            <a:off x="5788855" y="4775736"/>
            <a:ext cx="489698" cy="134167"/>
          </a:xfrm>
          <a:prstGeom prst="rect">
            <a:avLst/>
          </a:prstGeom>
          <a:ln>
            <a:solidFill>
              <a:srgbClr val="FF93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cxnSp>
        <p:nvCxnSpPr>
          <p:cNvPr id="64" name="Curved Connector 63">
            <a:extLst>
              <a:ext uri="{FF2B5EF4-FFF2-40B4-BE49-F238E27FC236}">
                <a16:creationId xmlns:a16="http://schemas.microsoft.com/office/drawing/2014/main" id="{39C34116-A6F0-4948-9B9A-5B9793425895}"/>
              </a:ext>
            </a:extLst>
          </p:cNvPr>
          <p:cNvCxnSpPr>
            <a:cxnSpLocks/>
            <a:stCxn id="26" idx="3"/>
            <a:endCxn id="60" idx="1"/>
          </p:cNvCxnSpPr>
          <p:nvPr/>
        </p:nvCxnSpPr>
        <p:spPr>
          <a:xfrm>
            <a:off x="5175056" y="2991786"/>
            <a:ext cx="613799" cy="1447629"/>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7DE0899-452B-694D-A5D4-E77377C2EEB3}"/>
              </a:ext>
            </a:extLst>
          </p:cNvPr>
          <p:cNvSpPr txBox="1"/>
          <p:nvPr/>
        </p:nvSpPr>
        <p:spPr>
          <a:xfrm>
            <a:off x="6653825" y="1939732"/>
            <a:ext cx="247432" cy="198724"/>
          </a:xfrm>
          <a:prstGeom prst="rect">
            <a:avLst/>
          </a:prstGeom>
          <a:noFill/>
        </p:spPr>
        <p:txBody>
          <a:bodyPr wrap="none" rtlCol="0">
            <a:spAutoFit/>
          </a:bodyPr>
          <a:lstStyle/>
          <a:p>
            <a:r>
              <a:rPr lang="en-US" altLang="zh-CN" sz="1100" dirty="0"/>
              <a:t>…</a:t>
            </a:r>
            <a:endParaRPr lang="en-CN" sz="1100" dirty="0"/>
          </a:p>
        </p:txBody>
      </p:sp>
      <p:grpSp>
        <p:nvGrpSpPr>
          <p:cNvPr id="66" name="Group 65">
            <a:extLst>
              <a:ext uri="{FF2B5EF4-FFF2-40B4-BE49-F238E27FC236}">
                <a16:creationId xmlns:a16="http://schemas.microsoft.com/office/drawing/2014/main" id="{9A5CA6A1-F7C9-764F-BA8C-D6A2C8EB4EB6}"/>
              </a:ext>
            </a:extLst>
          </p:cNvPr>
          <p:cNvGrpSpPr/>
          <p:nvPr/>
        </p:nvGrpSpPr>
        <p:grpSpPr>
          <a:xfrm>
            <a:off x="7056813" y="3313319"/>
            <a:ext cx="489698" cy="537572"/>
            <a:chOff x="7298430" y="2380870"/>
            <a:chExt cx="489698" cy="537572"/>
          </a:xfrm>
        </p:grpSpPr>
        <p:sp>
          <p:nvSpPr>
            <p:cNvPr id="74" name="Rectangle 73">
              <a:extLst>
                <a:ext uri="{FF2B5EF4-FFF2-40B4-BE49-F238E27FC236}">
                  <a16:creationId xmlns:a16="http://schemas.microsoft.com/office/drawing/2014/main" id="{075F1F13-0216-5B47-8D4A-A7365B4ABC43}"/>
                </a:ext>
              </a:extLst>
            </p:cNvPr>
            <p:cNvSpPr/>
            <p:nvPr/>
          </p:nvSpPr>
          <p:spPr>
            <a:xfrm>
              <a:off x="7298430" y="2380870"/>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75" name="Rectangle 74">
              <a:extLst>
                <a:ext uri="{FF2B5EF4-FFF2-40B4-BE49-F238E27FC236}">
                  <a16:creationId xmlns:a16="http://schemas.microsoft.com/office/drawing/2014/main" id="{9991A007-C17F-C945-8B56-1FB992A6CF9A}"/>
                </a:ext>
              </a:extLst>
            </p:cNvPr>
            <p:cNvSpPr/>
            <p:nvPr/>
          </p:nvSpPr>
          <p:spPr>
            <a:xfrm>
              <a:off x="7298430" y="2515037"/>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76" name="Rectangle 75">
              <a:extLst>
                <a:ext uri="{FF2B5EF4-FFF2-40B4-BE49-F238E27FC236}">
                  <a16:creationId xmlns:a16="http://schemas.microsoft.com/office/drawing/2014/main" id="{A150D156-B43C-9D45-8CEA-9FE0E9306D27}"/>
                </a:ext>
              </a:extLst>
            </p:cNvPr>
            <p:cNvSpPr/>
            <p:nvPr/>
          </p:nvSpPr>
          <p:spPr>
            <a:xfrm>
              <a:off x="7298430" y="2649204"/>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77" name="Rectangle 76">
              <a:extLst>
                <a:ext uri="{FF2B5EF4-FFF2-40B4-BE49-F238E27FC236}">
                  <a16:creationId xmlns:a16="http://schemas.microsoft.com/office/drawing/2014/main" id="{EC06671F-98E8-8A49-A915-9C1E6395C6B5}"/>
                </a:ext>
              </a:extLst>
            </p:cNvPr>
            <p:cNvSpPr/>
            <p:nvPr/>
          </p:nvSpPr>
          <p:spPr>
            <a:xfrm>
              <a:off x="7298430" y="2784275"/>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grpSp>
      <p:grpSp>
        <p:nvGrpSpPr>
          <p:cNvPr id="67" name="Group 66">
            <a:extLst>
              <a:ext uri="{FF2B5EF4-FFF2-40B4-BE49-F238E27FC236}">
                <a16:creationId xmlns:a16="http://schemas.microsoft.com/office/drawing/2014/main" id="{19E6C485-8F82-3A4B-9001-30255A0FD5E5}"/>
              </a:ext>
            </a:extLst>
          </p:cNvPr>
          <p:cNvGrpSpPr/>
          <p:nvPr/>
        </p:nvGrpSpPr>
        <p:grpSpPr>
          <a:xfrm>
            <a:off x="7056813" y="4079290"/>
            <a:ext cx="489698" cy="537572"/>
            <a:chOff x="7298430" y="2380870"/>
            <a:chExt cx="489698" cy="537572"/>
          </a:xfrm>
        </p:grpSpPr>
        <p:sp>
          <p:nvSpPr>
            <p:cNvPr id="70" name="Rectangle 69">
              <a:extLst>
                <a:ext uri="{FF2B5EF4-FFF2-40B4-BE49-F238E27FC236}">
                  <a16:creationId xmlns:a16="http://schemas.microsoft.com/office/drawing/2014/main" id="{C5B35D0D-08D3-6F43-9B44-02C1FC1D222C}"/>
                </a:ext>
              </a:extLst>
            </p:cNvPr>
            <p:cNvSpPr/>
            <p:nvPr/>
          </p:nvSpPr>
          <p:spPr>
            <a:xfrm>
              <a:off x="7298430" y="2380870"/>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71" name="Rectangle 70">
              <a:extLst>
                <a:ext uri="{FF2B5EF4-FFF2-40B4-BE49-F238E27FC236}">
                  <a16:creationId xmlns:a16="http://schemas.microsoft.com/office/drawing/2014/main" id="{9666DBE5-AD5F-DA41-AFEC-D5C4ADCEFDF7}"/>
                </a:ext>
              </a:extLst>
            </p:cNvPr>
            <p:cNvSpPr/>
            <p:nvPr/>
          </p:nvSpPr>
          <p:spPr>
            <a:xfrm>
              <a:off x="7298430" y="2515037"/>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72" name="Rectangle 71">
              <a:extLst>
                <a:ext uri="{FF2B5EF4-FFF2-40B4-BE49-F238E27FC236}">
                  <a16:creationId xmlns:a16="http://schemas.microsoft.com/office/drawing/2014/main" id="{C235FB92-DF25-5D45-88EF-4EB251E50394}"/>
                </a:ext>
              </a:extLst>
            </p:cNvPr>
            <p:cNvSpPr/>
            <p:nvPr/>
          </p:nvSpPr>
          <p:spPr>
            <a:xfrm>
              <a:off x="7298430" y="2649204"/>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73" name="Rectangle 72">
              <a:extLst>
                <a:ext uri="{FF2B5EF4-FFF2-40B4-BE49-F238E27FC236}">
                  <a16:creationId xmlns:a16="http://schemas.microsoft.com/office/drawing/2014/main" id="{8A385CDA-FEB8-6440-91FE-D51282EE7350}"/>
                </a:ext>
              </a:extLst>
            </p:cNvPr>
            <p:cNvSpPr/>
            <p:nvPr/>
          </p:nvSpPr>
          <p:spPr>
            <a:xfrm>
              <a:off x="7298430" y="2784275"/>
              <a:ext cx="489698" cy="1341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128</a:t>
              </a:r>
              <a:endParaRPr lang="en-CN" sz="1000" dirty="0"/>
            </a:p>
          </p:txBody>
        </p:sp>
      </p:grpSp>
      <p:cxnSp>
        <p:nvCxnSpPr>
          <p:cNvPr id="68" name="Curved Connector 40">
            <a:extLst>
              <a:ext uri="{FF2B5EF4-FFF2-40B4-BE49-F238E27FC236}">
                <a16:creationId xmlns:a16="http://schemas.microsoft.com/office/drawing/2014/main" id="{931A429F-74B7-CA48-9A84-2514438416D2}"/>
              </a:ext>
            </a:extLst>
          </p:cNvPr>
          <p:cNvCxnSpPr>
            <a:cxnSpLocks/>
            <a:stCxn id="74" idx="3"/>
          </p:cNvCxnSpPr>
          <p:nvPr/>
        </p:nvCxnSpPr>
        <p:spPr>
          <a:xfrm>
            <a:off x="7546511" y="3380403"/>
            <a:ext cx="511682" cy="1079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D6CECB08-088F-C64D-87CF-CA3106FC9E5F}"/>
              </a:ext>
            </a:extLst>
          </p:cNvPr>
          <p:cNvSpPr/>
          <p:nvPr/>
        </p:nvSpPr>
        <p:spPr>
          <a:xfrm>
            <a:off x="8051841" y="3416702"/>
            <a:ext cx="489698" cy="3792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00" dirty="0"/>
              <a:t>数据块</a:t>
            </a:r>
            <a:endParaRPr lang="en-CN" sz="1000" dirty="0"/>
          </a:p>
        </p:txBody>
      </p:sp>
      <p:sp>
        <p:nvSpPr>
          <p:cNvPr id="82" name="Content Placeholder 2">
            <a:extLst>
              <a:ext uri="{FF2B5EF4-FFF2-40B4-BE49-F238E27FC236}">
                <a16:creationId xmlns:a16="http://schemas.microsoft.com/office/drawing/2014/main" id="{903EBB36-4250-AD40-929C-845BC24CCACB}"/>
              </a:ext>
            </a:extLst>
          </p:cNvPr>
          <p:cNvSpPr>
            <a:spLocks noGrp="1"/>
          </p:cNvSpPr>
          <p:nvPr>
            <p:ph idx="1"/>
          </p:nvPr>
        </p:nvSpPr>
        <p:spPr>
          <a:xfrm>
            <a:off x="457200" y="1333501"/>
            <a:ext cx="8229600" cy="3771636"/>
          </a:xfrm>
        </p:spPr>
        <p:txBody>
          <a:bodyPr/>
          <a:lstStyle/>
          <a:p>
            <a:r>
              <a:rPr lang="zh-CN" altLang="en-US" b="0" dirty="0"/>
              <a:t>文件系统层面上的复制</a:t>
            </a:r>
            <a:endParaRPr lang="en-US" altLang="zh-CN" b="0" dirty="0"/>
          </a:p>
          <a:p>
            <a:r>
              <a:rPr lang="zh-CN" altLang="en-CN" b="0" dirty="0"/>
              <a:t>只</a:t>
            </a:r>
            <a:r>
              <a:rPr lang="zh-CN" altLang="en-US" b="0" dirty="0"/>
              <a:t>复制关键元数据</a:t>
            </a:r>
            <a:endParaRPr lang="en-US" altLang="zh-CN" b="0" dirty="0"/>
          </a:p>
          <a:p>
            <a:r>
              <a:rPr lang="zh-CN" altLang="en-CN" b="0" dirty="0"/>
              <a:t>其他部分</a:t>
            </a:r>
            <a:r>
              <a:rPr lang="en-US" altLang="zh-CN" b="0" dirty="0" err="1"/>
              <a:t>CoW</a:t>
            </a:r>
            <a:r>
              <a:rPr lang="zh-CN" altLang="en-US" b="0" dirty="0"/>
              <a:t>共享</a:t>
            </a:r>
            <a:endParaRPr lang="en-CN" b="0" dirty="0"/>
          </a:p>
        </p:txBody>
      </p:sp>
      <p:grpSp>
        <p:nvGrpSpPr>
          <p:cNvPr id="105" name="Group 104">
            <a:extLst>
              <a:ext uri="{FF2B5EF4-FFF2-40B4-BE49-F238E27FC236}">
                <a16:creationId xmlns:a16="http://schemas.microsoft.com/office/drawing/2014/main" id="{2BE226F5-4286-874B-A485-6754E8CD0034}"/>
              </a:ext>
            </a:extLst>
          </p:cNvPr>
          <p:cNvGrpSpPr/>
          <p:nvPr/>
        </p:nvGrpSpPr>
        <p:grpSpPr>
          <a:xfrm>
            <a:off x="3295581" y="3285510"/>
            <a:ext cx="584733" cy="1879311"/>
            <a:chOff x="3642830" y="2940428"/>
            <a:chExt cx="584733" cy="1879311"/>
          </a:xfrm>
        </p:grpSpPr>
        <p:sp>
          <p:nvSpPr>
            <p:cNvPr id="83" name="Rectangle 82">
              <a:extLst>
                <a:ext uri="{FF2B5EF4-FFF2-40B4-BE49-F238E27FC236}">
                  <a16:creationId xmlns:a16="http://schemas.microsoft.com/office/drawing/2014/main" id="{71DD23EE-F85B-D245-A9D0-00A785B28BF6}"/>
                </a:ext>
              </a:extLst>
            </p:cNvPr>
            <p:cNvSpPr/>
            <p:nvPr/>
          </p:nvSpPr>
          <p:spPr>
            <a:xfrm>
              <a:off x="3642831" y="2940428"/>
              <a:ext cx="584732" cy="633360"/>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00" dirty="0"/>
                <a:t>常用</a:t>
              </a:r>
              <a:r>
                <a:rPr lang="zh-CN" altLang="en-US" sz="1000" dirty="0"/>
                <a:t>元数据</a:t>
              </a:r>
              <a:endParaRPr lang="en-CN" sz="1000" dirty="0"/>
            </a:p>
          </p:txBody>
        </p:sp>
        <p:sp>
          <p:nvSpPr>
            <p:cNvPr id="84" name="Rectangle 83">
              <a:extLst>
                <a:ext uri="{FF2B5EF4-FFF2-40B4-BE49-F238E27FC236}">
                  <a16:creationId xmlns:a16="http://schemas.microsoft.com/office/drawing/2014/main" id="{F3C55F3B-9374-6548-BF2D-D3B72EC9ED69}"/>
                </a:ext>
              </a:extLst>
            </p:cNvPr>
            <p:cNvSpPr/>
            <p:nvPr/>
          </p:nvSpPr>
          <p:spPr>
            <a:xfrm>
              <a:off x="3642831" y="3573788"/>
              <a:ext cx="584732" cy="160204"/>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a:t>
              </a:r>
              <a:endParaRPr lang="en-CN" sz="1000" dirty="0"/>
            </a:p>
          </p:txBody>
        </p:sp>
        <p:sp>
          <p:nvSpPr>
            <p:cNvPr id="85" name="Rectangle 84">
              <a:extLst>
                <a:ext uri="{FF2B5EF4-FFF2-40B4-BE49-F238E27FC236}">
                  <a16:creationId xmlns:a16="http://schemas.microsoft.com/office/drawing/2014/main" id="{C7A600AD-AA50-AE42-B16C-258A78A89350}"/>
                </a:ext>
              </a:extLst>
            </p:cNvPr>
            <p:cNvSpPr/>
            <p:nvPr/>
          </p:nvSpPr>
          <p:spPr>
            <a:xfrm>
              <a:off x="3642831" y="3733992"/>
              <a:ext cx="584732" cy="160204"/>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2</a:t>
              </a:r>
              <a:endParaRPr lang="en-CN" sz="1000" dirty="0"/>
            </a:p>
          </p:txBody>
        </p:sp>
        <p:sp>
          <p:nvSpPr>
            <p:cNvPr id="86" name="Rectangle 85">
              <a:extLst>
                <a:ext uri="{FF2B5EF4-FFF2-40B4-BE49-F238E27FC236}">
                  <a16:creationId xmlns:a16="http://schemas.microsoft.com/office/drawing/2014/main" id="{D755C321-7118-094E-8391-8C185A09FA1E}"/>
                </a:ext>
              </a:extLst>
            </p:cNvPr>
            <p:cNvSpPr/>
            <p:nvPr/>
          </p:nvSpPr>
          <p:spPr>
            <a:xfrm>
              <a:off x="3642831" y="3894195"/>
              <a:ext cx="584732" cy="290309"/>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a:t>
              </a:r>
              <a:endParaRPr lang="en-CN" sz="1000" dirty="0"/>
            </a:p>
          </p:txBody>
        </p:sp>
        <p:sp>
          <p:nvSpPr>
            <p:cNvPr id="87" name="Rectangle 86">
              <a:extLst>
                <a:ext uri="{FF2B5EF4-FFF2-40B4-BE49-F238E27FC236}">
                  <a16:creationId xmlns:a16="http://schemas.microsoft.com/office/drawing/2014/main" id="{3EC282EF-C429-094C-9017-08B51B5829BA}"/>
                </a:ext>
              </a:extLst>
            </p:cNvPr>
            <p:cNvSpPr/>
            <p:nvPr/>
          </p:nvSpPr>
          <p:spPr>
            <a:xfrm>
              <a:off x="3642830" y="4184505"/>
              <a:ext cx="584732" cy="160204"/>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12</a:t>
              </a:r>
              <a:endParaRPr lang="en-CN" sz="1000" dirty="0"/>
            </a:p>
          </p:txBody>
        </p:sp>
        <p:sp>
          <p:nvSpPr>
            <p:cNvPr id="88" name="Rectangle 87">
              <a:extLst>
                <a:ext uri="{FF2B5EF4-FFF2-40B4-BE49-F238E27FC236}">
                  <a16:creationId xmlns:a16="http://schemas.microsoft.com/office/drawing/2014/main" id="{D48F8871-D7D1-F545-A5CA-3D113CBFEF46}"/>
                </a:ext>
              </a:extLst>
            </p:cNvPr>
            <p:cNvSpPr/>
            <p:nvPr/>
          </p:nvSpPr>
          <p:spPr>
            <a:xfrm>
              <a:off x="3642831" y="4338816"/>
              <a:ext cx="584732" cy="160204"/>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13</a:t>
              </a:r>
              <a:endParaRPr lang="en-CN" sz="1000" dirty="0"/>
            </a:p>
          </p:txBody>
        </p:sp>
        <p:sp>
          <p:nvSpPr>
            <p:cNvPr id="89" name="Rectangle 88">
              <a:extLst>
                <a:ext uri="{FF2B5EF4-FFF2-40B4-BE49-F238E27FC236}">
                  <a16:creationId xmlns:a16="http://schemas.microsoft.com/office/drawing/2014/main" id="{827F0BE7-87A0-654A-B677-ED57E86370E6}"/>
                </a:ext>
              </a:extLst>
            </p:cNvPr>
            <p:cNvSpPr/>
            <p:nvPr/>
          </p:nvSpPr>
          <p:spPr>
            <a:xfrm>
              <a:off x="3642831" y="4500100"/>
              <a:ext cx="584732" cy="160204"/>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14</a:t>
              </a:r>
              <a:endParaRPr lang="en-CN" sz="1000" dirty="0"/>
            </a:p>
          </p:txBody>
        </p:sp>
        <p:sp>
          <p:nvSpPr>
            <p:cNvPr id="90" name="Rectangle 89">
              <a:extLst>
                <a:ext uri="{FF2B5EF4-FFF2-40B4-BE49-F238E27FC236}">
                  <a16:creationId xmlns:a16="http://schemas.microsoft.com/office/drawing/2014/main" id="{4A4E02D3-1FDE-2F4C-931A-E8470684B02A}"/>
                </a:ext>
              </a:extLst>
            </p:cNvPr>
            <p:cNvSpPr/>
            <p:nvPr/>
          </p:nvSpPr>
          <p:spPr>
            <a:xfrm>
              <a:off x="3642830" y="4659535"/>
              <a:ext cx="584732" cy="160204"/>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000" dirty="0"/>
                <a:t>15</a:t>
              </a:r>
              <a:endParaRPr lang="en-CN" sz="1000" dirty="0"/>
            </a:p>
          </p:txBody>
        </p:sp>
      </p:grpSp>
      <p:cxnSp>
        <p:nvCxnSpPr>
          <p:cNvPr id="91" name="Curved Connector 15">
            <a:extLst>
              <a:ext uri="{FF2B5EF4-FFF2-40B4-BE49-F238E27FC236}">
                <a16:creationId xmlns:a16="http://schemas.microsoft.com/office/drawing/2014/main" id="{801D0514-2D9C-4047-9330-7B0C0EF617AA}"/>
              </a:ext>
            </a:extLst>
          </p:cNvPr>
          <p:cNvCxnSpPr>
            <a:cxnSpLocks/>
            <a:stCxn id="84" idx="3"/>
            <a:endCxn id="27" idx="1"/>
          </p:cNvCxnSpPr>
          <p:nvPr/>
        </p:nvCxnSpPr>
        <p:spPr>
          <a:xfrm flipV="1">
            <a:off x="3880314" y="993400"/>
            <a:ext cx="1847940" cy="300557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Curved Connector 16">
            <a:extLst>
              <a:ext uri="{FF2B5EF4-FFF2-40B4-BE49-F238E27FC236}">
                <a16:creationId xmlns:a16="http://schemas.microsoft.com/office/drawing/2014/main" id="{EAF703EF-0C41-7F4F-B837-5E9E531455EC}"/>
              </a:ext>
            </a:extLst>
          </p:cNvPr>
          <p:cNvCxnSpPr>
            <a:cxnSpLocks/>
            <a:stCxn id="85" idx="3"/>
            <a:endCxn id="28" idx="1"/>
          </p:cNvCxnSpPr>
          <p:nvPr/>
        </p:nvCxnSpPr>
        <p:spPr>
          <a:xfrm flipV="1">
            <a:off x="3880314" y="1457441"/>
            <a:ext cx="1840247" cy="270173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Curved Connector 92">
            <a:extLst>
              <a:ext uri="{FF2B5EF4-FFF2-40B4-BE49-F238E27FC236}">
                <a16:creationId xmlns:a16="http://schemas.microsoft.com/office/drawing/2014/main" id="{29846FB0-4A04-1B44-BCB8-38F3A9D5CA41}"/>
              </a:ext>
            </a:extLst>
          </p:cNvPr>
          <p:cNvCxnSpPr>
            <a:cxnSpLocks/>
            <a:stCxn id="89" idx="3"/>
            <a:endCxn id="32" idx="1"/>
          </p:cNvCxnSpPr>
          <p:nvPr/>
        </p:nvCxnSpPr>
        <p:spPr>
          <a:xfrm flipV="1">
            <a:off x="3880314" y="3280275"/>
            <a:ext cx="1880826" cy="1645009"/>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urved Connector 93">
            <a:extLst>
              <a:ext uri="{FF2B5EF4-FFF2-40B4-BE49-F238E27FC236}">
                <a16:creationId xmlns:a16="http://schemas.microsoft.com/office/drawing/2014/main" id="{F3567589-89D5-E04C-8D02-A505BB276DA5}"/>
              </a:ext>
            </a:extLst>
          </p:cNvPr>
          <p:cNvCxnSpPr>
            <a:cxnSpLocks/>
            <a:stCxn id="88" idx="3"/>
            <a:endCxn id="48" idx="1"/>
          </p:cNvCxnSpPr>
          <p:nvPr/>
        </p:nvCxnSpPr>
        <p:spPr>
          <a:xfrm flipV="1">
            <a:off x="3880314" y="2053574"/>
            <a:ext cx="1855810" cy="2710426"/>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Curved Connector 94">
            <a:extLst>
              <a:ext uri="{FF2B5EF4-FFF2-40B4-BE49-F238E27FC236}">
                <a16:creationId xmlns:a16="http://schemas.microsoft.com/office/drawing/2014/main" id="{E00EE86E-8B45-6C4A-A5A1-7E73B57E6796}"/>
              </a:ext>
            </a:extLst>
          </p:cNvPr>
          <p:cNvCxnSpPr>
            <a:cxnSpLocks/>
            <a:stCxn id="90" idx="3"/>
            <a:endCxn id="60" idx="1"/>
          </p:cNvCxnSpPr>
          <p:nvPr/>
        </p:nvCxnSpPr>
        <p:spPr>
          <a:xfrm flipV="1">
            <a:off x="3880313" y="4439415"/>
            <a:ext cx="1908542" cy="645304"/>
          </a:xfrm>
          <a:prstGeom prst="curvedConnector3">
            <a:avLst>
              <a:gd name="adj1" fmla="val 50000"/>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6FBBCBA7-28BE-7E47-A278-BC5A24259F87}"/>
              </a:ext>
            </a:extLst>
          </p:cNvPr>
          <p:cNvSpPr txBox="1"/>
          <p:nvPr/>
        </p:nvSpPr>
        <p:spPr>
          <a:xfrm>
            <a:off x="5965410" y="600766"/>
            <a:ext cx="710451" cy="369332"/>
          </a:xfrm>
          <a:prstGeom prst="rect">
            <a:avLst/>
          </a:prstGeom>
          <a:noFill/>
        </p:spPr>
        <p:txBody>
          <a:bodyPr wrap="none" rtlCol="0">
            <a:spAutoFit/>
          </a:bodyPr>
          <a:lstStyle/>
          <a:p>
            <a:r>
              <a:rPr lang="en-CN" b="1" dirty="0">
                <a:solidFill>
                  <a:srgbClr val="FF9300"/>
                </a:solidFill>
              </a:rPr>
              <a:t>CoW</a:t>
            </a:r>
          </a:p>
        </p:txBody>
      </p:sp>
      <p:sp>
        <p:nvSpPr>
          <p:cNvPr id="107" name="TextBox 106">
            <a:extLst>
              <a:ext uri="{FF2B5EF4-FFF2-40B4-BE49-F238E27FC236}">
                <a16:creationId xmlns:a16="http://schemas.microsoft.com/office/drawing/2014/main" id="{27A00CAA-B215-634A-A08E-68C6B83024EF}"/>
              </a:ext>
            </a:extLst>
          </p:cNvPr>
          <p:cNvSpPr txBox="1"/>
          <p:nvPr/>
        </p:nvSpPr>
        <p:spPr>
          <a:xfrm>
            <a:off x="5870596" y="1135437"/>
            <a:ext cx="710451" cy="369332"/>
          </a:xfrm>
          <a:prstGeom prst="rect">
            <a:avLst/>
          </a:prstGeom>
          <a:noFill/>
        </p:spPr>
        <p:txBody>
          <a:bodyPr wrap="none" rtlCol="0">
            <a:spAutoFit/>
          </a:bodyPr>
          <a:lstStyle/>
          <a:p>
            <a:r>
              <a:rPr lang="en-CN" b="1" dirty="0">
                <a:solidFill>
                  <a:srgbClr val="FF9300"/>
                </a:solidFill>
              </a:rPr>
              <a:t>CoW</a:t>
            </a:r>
          </a:p>
        </p:txBody>
      </p:sp>
      <p:sp>
        <p:nvSpPr>
          <p:cNvPr id="108" name="TextBox 107">
            <a:extLst>
              <a:ext uri="{FF2B5EF4-FFF2-40B4-BE49-F238E27FC236}">
                <a16:creationId xmlns:a16="http://schemas.microsoft.com/office/drawing/2014/main" id="{C48605C2-0826-E24D-9200-EDEB591E5926}"/>
              </a:ext>
            </a:extLst>
          </p:cNvPr>
          <p:cNvSpPr txBox="1"/>
          <p:nvPr/>
        </p:nvSpPr>
        <p:spPr>
          <a:xfrm>
            <a:off x="5724918" y="1778739"/>
            <a:ext cx="710451" cy="369332"/>
          </a:xfrm>
          <a:prstGeom prst="rect">
            <a:avLst/>
          </a:prstGeom>
          <a:noFill/>
        </p:spPr>
        <p:txBody>
          <a:bodyPr wrap="none" rtlCol="0">
            <a:spAutoFit/>
          </a:bodyPr>
          <a:lstStyle/>
          <a:p>
            <a:r>
              <a:rPr lang="en-CN" b="1" dirty="0">
                <a:solidFill>
                  <a:srgbClr val="FF9300"/>
                </a:solidFill>
              </a:rPr>
              <a:t>CoW</a:t>
            </a:r>
          </a:p>
        </p:txBody>
      </p:sp>
      <p:sp>
        <p:nvSpPr>
          <p:cNvPr id="109" name="TextBox 108">
            <a:extLst>
              <a:ext uri="{FF2B5EF4-FFF2-40B4-BE49-F238E27FC236}">
                <a16:creationId xmlns:a16="http://schemas.microsoft.com/office/drawing/2014/main" id="{2AE5C5B2-5502-2842-9295-1BDD7B6DAA55}"/>
              </a:ext>
            </a:extLst>
          </p:cNvPr>
          <p:cNvSpPr txBox="1"/>
          <p:nvPr/>
        </p:nvSpPr>
        <p:spPr>
          <a:xfrm>
            <a:off x="5821724" y="2980821"/>
            <a:ext cx="710451" cy="369332"/>
          </a:xfrm>
          <a:prstGeom prst="rect">
            <a:avLst/>
          </a:prstGeom>
          <a:noFill/>
        </p:spPr>
        <p:txBody>
          <a:bodyPr wrap="none" rtlCol="0">
            <a:spAutoFit/>
          </a:bodyPr>
          <a:lstStyle/>
          <a:p>
            <a:r>
              <a:rPr lang="en-CN" b="1" dirty="0">
                <a:solidFill>
                  <a:srgbClr val="FF9300"/>
                </a:solidFill>
              </a:rPr>
              <a:t>CoW</a:t>
            </a:r>
          </a:p>
        </p:txBody>
      </p:sp>
      <p:sp>
        <p:nvSpPr>
          <p:cNvPr id="110" name="TextBox 109">
            <a:extLst>
              <a:ext uri="{FF2B5EF4-FFF2-40B4-BE49-F238E27FC236}">
                <a16:creationId xmlns:a16="http://schemas.microsoft.com/office/drawing/2014/main" id="{437BBE66-C0F3-D34B-AB3E-B266603ED2A7}"/>
              </a:ext>
            </a:extLst>
          </p:cNvPr>
          <p:cNvSpPr txBox="1"/>
          <p:nvPr/>
        </p:nvSpPr>
        <p:spPr>
          <a:xfrm>
            <a:off x="5878892" y="4158776"/>
            <a:ext cx="710451" cy="369332"/>
          </a:xfrm>
          <a:prstGeom prst="rect">
            <a:avLst/>
          </a:prstGeom>
          <a:noFill/>
        </p:spPr>
        <p:txBody>
          <a:bodyPr wrap="none" rtlCol="0">
            <a:spAutoFit/>
          </a:bodyPr>
          <a:lstStyle/>
          <a:p>
            <a:r>
              <a:rPr lang="en-CN" b="1" dirty="0">
                <a:solidFill>
                  <a:srgbClr val="FF9300"/>
                </a:solidFill>
              </a:rPr>
              <a:t>CoW</a:t>
            </a:r>
          </a:p>
        </p:txBody>
      </p:sp>
      <p:sp>
        <p:nvSpPr>
          <p:cNvPr id="111" name="TextBox 110">
            <a:extLst>
              <a:ext uri="{FF2B5EF4-FFF2-40B4-BE49-F238E27FC236}">
                <a16:creationId xmlns:a16="http://schemas.microsoft.com/office/drawing/2014/main" id="{B12DF936-3BBC-854D-AEB9-B2A115925727}"/>
              </a:ext>
            </a:extLst>
          </p:cNvPr>
          <p:cNvSpPr txBox="1"/>
          <p:nvPr/>
        </p:nvSpPr>
        <p:spPr>
          <a:xfrm>
            <a:off x="3832096" y="1038357"/>
            <a:ext cx="800219" cy="369332"/>
          </a:xfrm>
          <a:prstGeom prst="rect">
            <a:avLst/>
          </a:prstGeom>
          <a:noFill/>
        </p:spPr>
        <p:txBody>
          <a:bodyPr wrap="none" rtlCol="0">
            <a:spAutoFit/>
          </a:bodyPr>
          <a:lstStyle/>
          <a:p>
            <a:r>
              <a:rPr lang="zh-CN" altLang="en-CN" dirty="0"/>
              <a:t>文件</a:t>
            </a:r>
            <a:r>
              <a:rPr lang="en-US" altLang="zh-CN" dirty="0"/>
              <a:t>A</a:t>
            </a:r>
            <a:endParaRPr lang="en-CN" dirty="0"/>
          </a:p>
        </p:txBody>
      </p:sp>
      <p:sp>
        <p:nvSpPr>
          <p:cNvPr id="112" name="TextBox 111">
            <a:extLst>
              <a:ext uri="{FF2B5EF4-FFF2-40B4-BE49-F238E27FC236}">
                <a16:creationId xmlns:a16="http://schemas.microsoft.com/office/drawing/2014/main" id="{52499E6B-E4F1-0D4A-BC1A-1C911B83541D}"/>
              </a:ext>
            </a:extLst>
          </p:cNvPr>
          <p:cNvSpPr txBox="1"/>
          <p:nvPr/>
        </p:nvSpPr>
        <p:spPr>
          <a:xfrm>
            <a:off x="2898801" y="2909019"/>
            <a:ext cx="800219" cy="369332"/>
          </a:xfrm>
          <a:prstGeom prst="rect">
            <a:avLst/>
          </a:prstGeom>
          <a:noFill/>
        </p:spPr>
        <p:txBody>
          <a:bodyPr wrap="none" rtlCol="0">
            <a:spAutoFit/>
          </a:bodyPr>
          <a:lstStyle/>
          <a:p>
            <a:r>
              <a:rPr lang="zh-CN" altLang="en-CN" dirty="0">
                <a:solidFill>
                  <a:srgbClr val="C00000"/>
                </a:solidFill>
              </a:rPr>
              <a:t>文件</a:t>
            </a:r>
            <a:r>
              <a:rPr lang="en-US" altLang="zh-CN" dirty="0">
                <a:solidFill>
                  <a:srgbClr val="C00000"/>
                </a:solidFill>
              </a:rPr>
              <a:t>B</a:t>
            </a:r>
            <a:endParaRPr lang="en-CN" dirty="0">
              <a:solidFill>
                <a:srgbClr val="C00000"/>
              </a:solidFill>
            </a:endParaRPr>
          </a:p>
        </p:txBody>
      </p:sp>
    </p:spTree>
    <p:extLst>
      <p:ext uri="{BB962C8B-B14F-4D97-AF65-F5344CB8AC3E}">
        <p14:creationId xmlns:p14="http://schemas.microsoft.com/office/powerpoint/2010/main" val="3434650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971FF-7C20-CD43-B96C-8F50183D70E0}"/>
              </a:ext>
            </a:extLst>
          </p:cNvPr>
          <p:cNvSpPr>
            <a:spLocks noGrp="1"/>
          </p:cNvSpPr>
          <p:nvPr>
            <p:ph type="title"/>
          </p:nvPr>
        </p:nvSpPr>
        <p:spPr/>
        <p:txBody>
          <a:bodyPr/>
          <a:lstStyle/>
          <a:p>
            <a:r>
              <a:rPr lang="zh-CN" altLang="en-CN" dirty="0"/>
              <a:t>快照</a:t>
            </a:r>
            <a:r>
              <a:rPr lang="zh-CN" altLang="en-US" dirty="0"/>
              <a:t>（</a:t>
            </a:r>
            <a:r>
              <a:rPr lang="en-US" altLang="zh-CN" dirty="0"/>
              <a:t>Snapshot</a:t>
            </a:r>
            <a:r>
              <a:rPr lang="zh-CN" altLang="en-US" dirty="0"/>
              <a:t>）</a:t>
            </a:r>
            <a:endParaRPr lang="en-CN" dirty="0"/>
          </a:p>
        </p:txBody>
      </p:sp>
      <p:sp>
        <p:nvSpPr>
          <p:cNvPr id="3" name="Content Placeholder 2">
            <a:extLst>
              <a:ext uri="{FF2B5EF4-FFF2-40B4-BE49-F238E27FC236}">
                <a16:creationId xmlns:a16="http://schemas.microsoft.com/office/drawing/2014/main" id="{99974159-A6EE-4D4F-A7B7-43A97D7B0564}"/>
              </a:ext>
            </a:extLst>
          </p:cNvPr>
          <p:cNvSpPr>
            <a:spLocks noGrp="1"/>
          </p:cNvSpPr>
          <p:nvPr>
            <p:ph idx="1"/>
          </p:nvPr>
        </p:nvSpPr>
        <p:spPr/>
        <p:txBody>
          <a:bodyPr/>
          <a:lstStyle/>
          <a:p>
            <a:r>
              <a:rPr lang="zh-CN" altLang="en-US" b="0" dirty="0"/>
              <a:t>同样使用</a:t>
            </a:r>
            <a:r>
              <a:rPr lang="en-US" altLang="zh-CN" b="0" dirty="0" err="1"/>
              <a:t>CoW</a:t>
            </a:r>
            <a:endParaRPr lang="en-US" altLang="zh-CN" b="0" dirty="0"/>
          </a:p>
          <a:p>
            <a:r>
              <a:rPr lang="zh-CN" altLang="en-US" b="0" dirty="0"/>
              <a:t>对于基于</a:t>
            </a:r>
            <a:r>
              <a:rPr lang="en-US" altLang="zh-CN" b="0" dirty="0" err="1"/>
              <a:t>inode</a:t>
            </a:r>
            <a:r>
              <a:rPr lang="zh-CN" altLang="en-US" b="0" dirty="0"/>
              <a:t>表的文件系统</a:t>
            </a:r>
            <a:endParaRPr lang="en-US" altLang="zh-CN" b="0" dirty="0"/>
          </a:p>
          <a:p>
            <a:pPr lvl="1"/>
            <a:r>
              <a:rPr lang="zh-CN" altLang="en-CN" b="0" dirty="0"/>
              <a:t>将</a:t>
            </a:r>
            <a:r>
              <a:rPr lang="en-US" altLang="zh-CN" b="0" dirty="0" err="1"/>
              <a:t>inode</a:t>
            </a:r>
            <a:r>
              <a:rPr lang="zh-CN" altLang="en-US" b="0" dirty="0"/>
              <a:t>表拷贝一份作为快照保存</a:t>
            </a:r>
            <a:endParaRPr lang="en-US" altLang="zh-CN" b="0" dirty="0"/>
          </a:p>
          <a:p>
            <a:pPr lvl="1"/>
            <a:r>
              <a:rPr lang="zh-CN" altLang="en-US" dirty="0"/>
              <a:t>标记已用数据区为</a:t>
            </a:r>
            <a:r>
              <a:rPr lang="en-US" altLang="zh-CN" dirty="0" err="1"/>
              <a:t>CoW</a:t>
            </a:r>
            <a:endParaRPr lang="en-US" altLang="zh-CN" b="0" dirty="0"/>
          </a:p>
          <a:p>
            <a:r>
              <a:rPr lang="zh-CN" altLang="en-US" b="0" dirty="0"/>
              <a:t>对于树状结构的文件系统</a:t>
            </a:r>
            <a:endParaRPr lang="en-US" altLang="zh-CN" b="0" dirty="0"/>
          </a:p>
          <a:p>
            <a:pPr lvl="1"/>
            <a:r>
              <a:rPr lang="zh-CN" altLang="en-US" dirty="0"/>
              <a:t>将树根拷贝一份作为快照保存</a:t>
            </a:r>
            <a:endParaRPr lang="en-US" altLang="zh-CN" dirty="0"/>
          </a:p>
          <a:p>
            <a:pPr lvl="1"/>
            <a:r>
              <a:rPr lang="zh-CN" altLang="en-US" b="0" dirty="0"/>
              <a:t>树根以下的节点标记为</a:t>
            </a:r>
            <a:r>
              <a:rPr lang="en-US" altLang="zh-CN" b="0" dirty="0" err="1"/>
              <a:t>CoW</a:t>
            </a:r>
            <a:endParaRPr lang="en-CN" b="0" dirty="0"/>
          </a:p>
        </p:txBody>
      </p:sp>
      <p:sp>
        <p:nvSpPr>
          <p:cNvPr id="4" name="Slide Number Placeholder 3">
            <a:extLst>
              <a:ext uri="{FF2B5EF4-FFF2-40B4-BE49-F238E27FC236}">
                <a16:creationId xmlns:a16="http://schemas.microsoft.com/office/drawing/2014/main" id="{E691B455-F051-E445-A2CB-CD28645F8DBC}"/>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Footer Placeholder 4">
            <a:extLst>
              <a:ext uri="{FF2B5EF4-FFF2-40B4-BE49-F238E27FC236}">
                <a16:creationId xmlns:a16="http://schemas.microsoft.com/office/drawing/2014/main" id="{9C16BF15-6590-6846-9099-DEF983E3C8C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491113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8672-F932-1146-BD22-85662463669F}"/>
              </a:ext>
            </a:extLst>
          </p:cNvPr>
          <p:cNvSpPr>
            <a:spLocks noGrp="1"/>
          </p:cNvSpPr>
          <p:nvPr>
            <p:ph type="title"/>
          </p:nvPr>
        </p:nvSpPr>
        <p:spPr/>
        <p:txBody>
          <a:bodyPr/>
          <a:lstStyle/>
          <a:p>
            <a:r>
              <a:rPr lang="zh-CN" altLang="en-US" dirty="0"/>
              <a:t>稀疏文件</a:t>
            </a:r>
            <a:endParaRPr lang="en-CN" dirty="0"/>
          </a:p>
        </p:txBody>
      </p:sp>
      <p:sp>
        <p:nvSpPr>
          <p:cNvPr id="3" name="Content Placeholder 2">
            <a:extLst>
              <a:ext uri="{FF2B5EF4-FFF2-40B4-BE49-F238E27FC236}">
                <a16:creationId xmlns:a16="http://schemas.microsoft.com/office/drawing/2014/main" id="{808BB96E-B839-4242-9CFB-EAB2CF59442D}"/>
              </a:ext>
            </a:extLst>
          </p:cNvPr>
          <p:cNvSpPr>
            <a:spLocks noGrp="1"/>
          </p:cNvSpPr>
          <p:nvPr>
            <p:ph idx="1"/>
          </p:nvPr>
        </p:nvSpPr>
        <p:spPr/>
        <p:txBody>
          <a:bodyPr/>
          <a:lstStyle/>
          <a:p>
            <a:r>
              <a:rPr lang="zh-CN" altLang="en-CN" b="0" dirty="0"/>
              <a:t>一个</a:t>
            </a:r>
            <a:r>
              <a:rPr lang="zh-CN" altLang="en-US" b="0" dirty="0"/>
              <a:t>文件大部分数据为</a:t>
            </a:r>
            <a:r>
              <a:rPr lang="en-US" altLang="zh-CN" b="0" dirty="0"/>
              <a:t>0</a:t>
            </a:r>
            <a:r>
              <a:rPr lang="zh-CN" altLang="en-US" b="0" dirty="0"/>
              <a:t>，则为稀疏文件</a:t>
            </a:r>
            <a:endParaRPr lang="en-US" altLang="zh-CN" b="0" dirty="0"/>
          </a:p>
          <a:p>
            <a:pPr lvl="1"/>
            <a:r>
              <a:rPr lang="zh-CN" altLang="en-US" b="0" dirty="0"/>
              <a:t>如</a:t>
            </a:r>
            <a:r>
              <a:rPr lang="zh-CN" altLang="en-CN" b="0" dirty="0"/>
              <a:t>虚拟机</a:t>
            </a:r>
            <a:r>
              <a:rPr lang="zh-CN" altLang="en-US" b="0" dirty="0"/>
              <a:t>镜像文件</a:t>
            </a:r>
            <a:endParaRPr lang="en-US" altLang="zh-CN" b="0" dirty="0"/>
          </a:p>
          <a:p>
            <a:r>
              <a:rPr lang="zh-CN" altLang="en-US" b="0" dirty="0"/>
              <a:t>稀疏文件中大量的</a:t>
            </a:r>
            <a:r>
              <a:rPr lang="en-US" altLang="zh-CN" b="0" dirty="0"/>
              <a:t>0</a:t>
            </a:r>
            <a:r>
              <a:rPr lang="zh-CN" altLang="en-US" b="0" dirty="0"/>
              <a:t>数据，白白消耗空间</a:t>
            </a:r>
            <a:endParaRPr lang="en-CN" b="0" dirty="0"/>
          </a:p>
        </p:txBody>
      </p:sp>
      <p:sp>
        <p:nvSpPr>
          <p:cNvPr id="4" name="Slide Number Placeholder 3">
            <a:extLst>
              <a:ext uri="{FF2B5EF4-FFF2-40B4-BE49-F238E27FC236}">
                <a16:creationId xmlns:a16="http://schemas.microsoft.com/office/drawing/2014/main" id="{4D4D0E5B-F7C4-C140-8ADB-DEA6F99BF902}"/>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Footer Placeholder 4">
            <a:extLst>
              <a:ext uri="{FF2B5EF4-FFF2-40B4-BE49-F238E27FC236}">
                <a16:creationId xmlns:a16="http://schemas.microsoft.com/office/drawing/2014/main" id="{BBE969C8-E3CA-F94F-84E6-2C0B3FE877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35584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8672-F932-1146-BD22-85662463669F}"/>
              </a:ext>
            </a:extLst>
          </p:cNvPr>
          <p:cNvSpPr>
            <a:spLocks noGrp="1"/>
          </p:cNvSpPr>
          <p:nvPr>
            <p:ph type="title"/>
          </p:nvPr>
        </p:nvSpPr>
        <p:spPr/>
        <p:txBody>
          <a:bodyPr/>
          <a:lstStyle/>
          <a:p>
            <a:r>
              <a:rPr lang="zh-CN" altLang="en-US" dirty="0"/>
              <a:t>稀疏文件</a:t>
            </a:r>
            <a:endParaRPr lang="en-CN" dirty="0"/>
          </a:p>
        </p:txBody>
      </p:sp>
      <p:sp>
        <p:nvSpPr>
          <p:cNvPr id="4" name="Slide Number Placeholder 3">
            <a:extLst>
              <a:ext uri="{FF2B5EF4-FFF2-40B4-BE49-F238E27FC236}">
                <a16:creationId xmlns:a16="http://schemas.microsoft.com/office/drawing/2014/main" id="{4D4D0E5B-F7C4-C140-8ADB-DEA6F99BF902}"/>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Footer Placeholder 4">
            <a:extLst>
              <a:ext uri="{FF2B5EF4-FFF2-40B4-BE49-F238E27FC236}">
                <a16:creationId xmlns:a16="http://schemas.microsoft.com/office/drawing/2014/main" id="{BBE969C8-E3CA-F94F-84E6-2C0B3FE877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2" name="Content Placeholder 2">
            <a:extLst>
              <a:ext uri="{FF2B5EF4-FFF2-40B4-BE49-F238E27FC236}">
                <a16:creationId xmlns:a16="http://schemas.microsoft.com/office/drawing/2014/main" id="{633146D6-A6CB-F546-B3DC-E5244CF17B6C}"/>
              </a:ext>
            </a:extLst>
          </p:cNvPr>
          <p:cNvSpPr>
            <a:spLocks noGrp="1"/>
          </p:cNvSpPr>
          <p:nvPr>
            <p:ph idx="1"/>
          </p:nvPr>
        </p:nvSpPr>
        <p:spPr>
          <a:xfrm>
            <a:off x="457200" y="1333501"/>
            <a:ext cx="8229600" cy="3771636"/>
          </a:xfrm>
        </p:spPr>
        <p:txBody>
          <a:bodyPr/>
          <a:lstStyle/>
          <a:p>
            <a:r>
              <a:rPr lang="zh-CN" altLang="en-US" b="0" dirty="0"/>
              <a:t>在索引中增加标记</a:t>
            </a:r>
            <a:endParaRPr lang="en-US" altLang="zh-CN" b="0" dirty="0"/>
          </a:p>
          <a:p>
            <a:r>
              <a:rPr lang="zh-CN" altLang="en-CN" b="0" dirty="0"/>
              <a:t>删除</a:t>
            </a:r>
            <a:r>
              <a:rPr lang="zh-CN" altLang="en-US" b="0" dirty="0"/>
              <a:t>全</a:t>
            </a:r>
            <a:r>
              <a:rPr lang="en-US" altLang="zh-CN" b="0" dirty="0"/>
              <a:t>0</a:t>
            </a:r>
            <a:r>
              <a:rPr lang="zh-CN" altLang="en-US" b="0" dirty="0"/>
              <a:t>块</a:t>
            </a:r>
            <a:endParaRPr lang="en-CN" b="0" dirty="0"/>
          </a:p>
        </p:txBody>
      </p:sp>
      <p:grpSp>
        <p:nvGrpSpPr>
          <p:cNvPr id="73" name="Group 72">
            <a:extLst>
              <a:ext uri="{FF2B5EF4-FFF2-40B4-BE49-F238E27FC236}">
                <a16:creationId xmlns:a16="http://schemas.microsoft.com/office/drawing/2014/main" id="{84E2242F-3A86-7C4F-AC4F-C258B978B0C3}"/>
              </a:ext>
            </a:extLst>
          </p:cNvPr>
          <p:cNvGrpSpPr/>
          <p:nvPr/>
        </p:nvGrpSpPr>
        <p:grpSpPr>
          <a:xfrm>
            <a:off x="2843808" y="696103"/>
            <a:ext cx="5633032" cy="4640560"/>
            <a:chOff x="3261229" y="597933"/>
            <a:chExt cx="5633032" cy="4640560"/>
          </a:xfrm>
        </p:grpSpPr>
        <p:sp>
          <p:nvSpPr>
            <p:cNvPr id="74" name="Rectangle 73">
              <a:extLst>
                <a:ext uri="{FF2B5EF4-FFF2-40B4-BE49-F238E27FC236}">
                  <a16:creationId xmlns:a16="http://schemas.microsoft.com/office/drawing/2014/main" id="{CD935E4A-4C10-8143-A1BE-F89E6F46508A}"/>
                </a:ext>
              </a:extLst>
            </p:cNvPr>
            <p:cNvSpPr/>
            <p:nvPr/>
          </p:nvSpPr>
          <p:spPr>
            <a:xfrm>
              <a:off x="3261229" y="1742949"/>
              <a:ext cx="671659" cy="7275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5" name="Rectangle 74">
              <a:extLst>
                <a:ext uri="{FF2B5EF4-FFF2-40B4-BE49-F238E27FC236}">
                  <a16:creationId xmlns:a16="http://schemas.microsoft.com/office/drawing/2014/main" id="{E51329C1-55C2-2244-8038-A611EA6C5BBD}"/>
                </a:ext>
              </a:extLst>
            </p:cNvPr>
            <p:cNvSpPr/>
            <p:nvPr/>
          </p:nvSpPr>
          <p:spPr>
            <a:xfrm>
              <a:off x="3261229" y="2470466"/>
              <a:ext cx="671659" cy="184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树</a:t>
              </a:r>
              <a:r>
                <a:rPr lang="zh-CN" altLang="en-US" sz="1100" dirty="0"/>
                <a:t>根</a:t>
              </a:r>
              <a:endParaRPr lang="en-CN" sz="1100" dirty="0"/>
            </a:p>
          </p:txBody>
        </p:sp>
        <p:cxnSp>
          <p:nvCxnSpPr>
            <p:cNvPr id="76" name="Curved Connector 75">
              <a:extLst>
                <a:ext uri="{FF2B5EF4-FFF2-40B4-BE49-F238E27FC236}">
                  <a16:creationId xmlns:a16="http://schemas.microsoft.com/office/drawing/2014/main" id="{90064DF8-C625-8743-A97E-45CABD95F903}"/>
                </a:ext>
              </a:extLst>
            </p:cNvPr>
            <p:cNvCxnSpPr>
              <a:cxnSpLocks/>
              <a:stCxn id="75" idx="3"/>
              <a:endCxn id="77" idx="1"/>
            </p:cNvCxnSpPr>
            <p:nvPr/>
          </p:nvCxnSpPr>
          <p:spPr>
            <a:xfrm flipV="1">
              <a:off x="3932888" y="2266686"/>
              <a:ext cx="403491" cy="29579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8D0D9A4F-F4EC-7A4B-A63F-60A650F06B79}"/>
                </a:ext>
              </a:extLst>
            </p:cNvPr>
            <p:cNvSpPr/>
            <p:nvPr/>
          </p:nvSpPr>
          <p:spPr>
            <a:xfrm>
              <a:off x="4336379" y="2174676"/>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50" dirty="0"/>
                <a:t>偏移量</a:t>
              </a:r>
              <a:endParaRPr lang="en-CN" sz="1100" dirty="0"/>
            </a:p>
          </p:txBody>
        </p:sp>
        <p:sp>
          <p:nvSpPr>
            <p:cNvPr id="78" name="Rectangle 77">
              <a:extLst>
                <a:ext uri="{FF2B5EF4-FFF2-40B4-BE49-F238E27FC236}">
                  <a16:creationId xmlns:a16="http://schemas.microsoft.com/office/drawing/2014/main" id="{A255C0D2-936E-C14A-A8DC-1A9073B3FE05}"/>
                </a:ext>
              </a:extLst>
            </p:cNvPr>
            <p:cNvSpPr/>
            <p:nvPr/>
          </p:nvSpPr>
          <p:spPr>
            <a:xfrm>
              <a:off x="4336379" y="2358697"/>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子节点</a:t>
              </a:r>
              <a:endParaRPr lang="en-CN" sz="1100" dirty="0"/>
            </a:p>
          </p:txBody>
        </p:sp>
        <p:sp>
          <p:nvSpPr>
            <p:cNvPr id="79" name="Rectangle 78">
              <a:extLst>
                <a:ext uri="{FF2B5EF4-FFF2-40B4-BE49-F238E27FC236}">
                  <a16:creationId xmlns:a16="http://schemas.microsoft.com/office/drawing/2014/main" id="{230E7C58-8572-6741-9910-197E24B25DF1}"/>
                </a:ext>
              </a:extLst>
            </p:cNvPr>
            <p:cNvSpPr/>
            <p:nvPr/>
          </p:nvSpPr>
          <p:spPr>
            <a:xfrm>
              <a:off x="4336379" y="2543958"/>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50" dirty="0">
                  <a:solidFill>
                    <a:srgbClr val="000000"/>
                  </a:solidFill>
                </a:rPr>
                <a:t>偏移量</a:t>
              </a:r>
              <a:endParaRPr lang="en-CN" sz="1100" dirty="0"/>
            </a:p>
          </p:txBody>
        </p:sp>
        <p:sp>
          <p:nvSpPr>
            <p:cNvPr id="80" name="TextBox 79">
              <a:extLst>
                <a:ext uri="{FF2B5EF4-FFF2-40B4-BE49-F238E27FC236}">
                  <a16:creationId xmlns:a16="http://schemas.microsoft.com/office/drawing/2014/main" id="{2F52196F-3419-7E49-B182-2649735049BD}"/>
                </a:ext>
              </a:extLst>
            </p:cNvPr>
            <p:cNvSpPr txBox="1"/>
            <p:nvPr/>
          </p:nvSpPr>
          <p:spPr>
            <a:xfrm>
              <a:off x="4202756" y="3748947"/>
              <a:ext cx="861020" cy="293529"/>
            </a:xfrm>
            <a:prstGeom prst="rect">
              <a:avLst/>
            </a:prstGeom>
            <a:noFill/>
          </p:spPr>
          <p:txBody>
            <a:bodyPr wrap="none" rtlCol="0">
              <a:spAutoFit/>
            </a:bodyPr>
            <a:lstStyle/>
            <a:p>
              <a:r>
                <a:rPr lang="zh-CN" altLang="en-US" sz="1400" dirty="0"/>
                <a:t>索引节点</a:t>
              </a:r>
              <a:endParaRPr lang="en-CN" sz="1400" dirty="0"/>
            </a:p>
          </p:txBody>
        </p:sp>
        <p:sp>
          <p:nvSpPr>
            <p:cNvPr id="81" name="Rectangle 80">
              <a:extLst>
                <a:ext uri="{FF2B5EF4-FFF2-40B4-BE49-F238E27FC236}">
                  <a16:creationId xmlns:a16="http://schemas.microsoft.com/office/drawing/2014/main" id="{E5A53824-CD19-4445-BFC6-D922E7E789C7}"/>
                </a:ext>
              </a:extLst>
            </p:cNvPr>
            <p:cNvSpPr/>
            <p:nvPr/>
          </p:nvSpPr>
          <p:spPr>
            <a:xfrm>
              <a:off x="4336378" y="2726576"/>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50" dirty="0"/>
                <a:t>子节点</a:t>
              </a:r>
              <a:endParaRPr lang="en-CN" sz="1050" dirty="0"/>
            </a:p>
          </p:txBody>
        </p:sp>
        <p:sp>
          <p:nvSpPr>
            <p:cNvPr id="82" name="Rectangle 81">
              <a:extLst>
                <a:ext uri="{FF2B5EF4-FFF2-40B4-BE49-F238E27FC236}">
                  <a16:creationId xmlns:a16="http://schemas.microsoft.com/office/drawing/2014/main" id="{032D2177-86F2-D840-871D-291A15668FC7}"/>
                </a:ext>
              </a:extLst>
            </p:cNvPr>
            <p:cNvSpPr/>
            <p:nvPr/>
          </p:nvSpPr>
          <p:spPr>
            <a:xfrm>
              <a:off x="4336378" y="2929508"/>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lvl="0" algn="ctr"/>
              <a:r>
                <a:rPr lang="zh-CN" altLang="en-US" sz="1050" dirty="0">
                  <a:solidFill>
                    <a:srgbClr val="000000"/>
                  </a:solidFill>
                </a:rPr>
                <a:t>偏移量</a:t>
              </a:r>
              <a:endParaRPr lang="en-CN" sz="1050" dirty="0">
                <a:solidFill>
                  <a:srgbClr val="000000"/>
                </a:solidFill>
              </a:endParaRPr>
            </a:p>
          </p:txBody>
        </p:sp>
        <p:sp>
          <p:nvSpPr>
            <p:cNvPr id="83" name="Rectangle 82">
              <a:extLst>
                <a:ext uri="{FF2B5EF4-FFF2-40B4-BE49-F238E27FC236}">
                  <a16:creationId xmlns:a16="http://schemas.microsoft.com/office/drawing/2014/main" id="{39F3B8FD-B4F5-DB46-8418-36CDE18E7F0A}"/>
                </a:ext>
              </a:extLst>
            </p:cNvPr>
            <p:cNvSpPr/>
            <p:nvPr/>
          </p:nvSpPr>
          <p:spPr>
            <a:xfrm>
              <a:off x="4336378" y="3113528"/>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50" dirty="0"/>
                <a:t>子节点</a:t>
              </a:r>
              <a:endParaRPr lang="en-CN" sz="1050" dirty="0"/>
            </a:p>
          </p:txBody>
        </p:sp>
        <p:sp>
          <p:nvSpPr>
            <p:cNvPr id="84" name="Rectangle 83">
              <a:extLst>
                <a:ext uri="{FF2B5EF4-FFF2-40B4-BE49-F238E27FC236}">
                  <a16:creationId xmlns:a16="http://schemas.microsoft.com/office/drawing/2014/main" id="{FE04EB8E-972E-324C-89CB-83BF11E91669}"/>
                </a:ext>
              </a:extLst>
            </p:cNvPr>
            <p:cNvSpPr/>
            <p:nvPr/>
          </p:nvSpPr>
          <p:spPr>
            <a:xfrm>
              <a:off x="7264966" y="1060873"/>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85" name="Rectangle 84">
              <a:extLst>
                <a:ext uri="{FF2B5EF4-FFF2-40B4-BE49-F238E27FC236}">
                  <a16:creationId xmlns:a16="http://schemas.microsoft.com/office/drawing/2014/main" id="{5449A6AC-F483-5145-B20B-7BDF72AA46ED}"/>
                </a:ext>
              </a:extLst>
            </p:cNvPr>
            <p:cNvSpPr/>
            <p:nvPr/>
          </p:nvSpPr>
          <p:spPr>
            <a:xfrm>
              <a:off x="7264965" y="1699339"/>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86" name="Rectangle 85">
              <a:extLst>
                <a:ext uri="{FF2B5EF4-FFF2-40B4-BE49-F238E27FC236}">
                  <a16:creationId xmlns:a16="http://schemas.microsoft.com/office/drawing/2014/main" id="{79F3AB97-0D1C-6E4A-A9BF-E655F4BC66FD}"/>
                </a:ext>
              </a:extLst>
            </p:cNvPr>
            <p:cNvSpPr/>
            <p:nvPr/>
          </p:nvSpPr>
          <p:spPr>
            <a:xfrm>
              <a:off x="7264965" y="3178917"/>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87" name="Curved Connector 86">
              <a:extLst>
                <a:ext uri="{FF2B5EF4-FFF2-40B4-BE49-F238E27FC236}">
                  <a16:creationId xmlns:a16="http://schemas.microsoft.com/office/drawing/2014/main" id="{8FB23CD4-BFCB-264D-8D41-56295DC9D847}"/>
                </a:ext>
              </a:extLst>
            </p:cNvPr>
            <p:cNvCxnSpPr>
              <a:cxnSpLocks/>
              <a:stCxn id="125" idx="3"/>
              <a:endCxn id="84" idx="1"/>
            </p:cNvCxnSpPr>
            <p:nvPr/>
          </p:nvCxnSpPr>
          <p:spPr>
            <a:xfrm flipV="1">
              <a:off x="6495554" y="1271151"/>
              <a:ext cx="769412" cy="328403"/>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Curved Connector 87">
              <a:extLst>
                <a:ext uri="{FF2B5EF4-FFF2-40B4-BE49-F238E27FC236}">
                  <a16:creationId xmlns:a16="http://schemas.microsoft.com/office/drawing/2014/main" id="{8FA5CE38-F6F7-3549-91E4-CF908FA5CC1C}"/>
                </a:ext>
              </a:extLst>
            </p:cNvPr>
            <p:cNvCxnSpPr>
              <a:cxnSpLocks/>
              <a:stCxn id="123" idx="3"/>
              <a:endCxn id="85" idx="1"/>
            </p:cNvCxnSpPr>
            <p:nvPr/>
          </p:nvCxnSpPr>
          <p:spPr>
            <a:xfrm flipV="1">
              <a:off x="6496751" y="1909617"/>
              <a:ext cx="768214" cy="243747"/>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Curved Connector 88">
              <a:extLst>
                <a:ext uri="{FF2B5EF4-FFF2-40B4-BE49-F238E27FC236}">
                  <a16:creationId xmlns:a16="http://schemas.microsoft.com/office/drawing/2014/main" id="{A41D63F5-0710-F340-A570-5F186FBACBC5}"/>
                </a:ext>
              </a:extLst>
            </p:cNvPr>
            <p:cNvCxnSpPr>
              <a:cxnSpLocks/>
              <a:stCxn id="115" idx="3"/>
              <a:endCxn id="86" idx="1"/>
            </p:cNvCxnSpPr>
            <p:nvPr/>
          </p:nvCxnSpPr>
          <p:spPr>
            <a:xfrm flipV="1">
              <a:off x="6495553" y="3389195"/>
              <a:ext cx="769412" cy="261845"/>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1C1A835-C660-CA46-A350-2801DB3B2E63}"/>
                </a:ext>
              </a:extLst>
            </p:cNvPr>
            <p:cNvSpPr/>
            <p:nvPr/>
          </p:nvSpPr>
          <p:spPr>
            <a:xfrm>
              <a:off x="7808064" y="1060873"/>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91" name="Rectangle 90">
              <a:extLst>
                <a:ext uri="{FF2B5EF4-FFF2-40B4-BE49-F238E27FC236}">
                  <a16:creationId xmlns:a16="http://schemas.microsoft.com/office/drawing/2014/main" id="{8895E7DD-65CB-DD4A-A5D4-56F9B600695A}"/>
                </a:ext>
              </a:extLst>
            </p:cNvPr>
            <p:cNvSpPr/>
            <p:nvPr/>
          </p:nvSpPr>
          <p:spPr>
            <a:xfrm>
              <a:off x="7808063" y="3178917"/>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92" name="Rectangle 91">
              <a:extLst>
                <a:ext uri="{FF2B5EF4-FFF2-40B4-BE49-F238E27FC236}">
                  <a16:creationId xmlns:a16="http://schemas.microsoft.com/office/drawing/2014/main" id="{7B3A66D3-F535-C64E-A511-41CE50E29DDF}"/>
                </a:ext>
              </a:extLst>
            </p:cNvPr>
            <p:cNvSpPr/>
            <p:nvPr/>
          </p:nvSpPr>
          <p:spPr>
            <a:xfrm>
              <a:off x="8351162" y="1060873"/>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93" name="Right Brace 92">
              <a:extLst>
                <a:ext uri="{FF2B5EF4-FFF2-40B4-BE49-F238E27FC236}">
                  <a16:creationId xmlns:a16="http://schemas.microsoft.com/office/drawing/2014/main" id="{6214B17A-6FC0-0748-9734-36EE9CE16A2C}"/>
                </a:ext>
              </a:extLst>
            </p:cNvPr>
            <p:cNvSpPr/>
            <p:nvPr/>
          </p:nvSpPr>
          <p:spPr>
            <a:xfrm rot="5400000" flipH="1">
              <a:off x="8001376" y="167990"/>
              <a:ext cx="156474" cy="1629295"/>
            </a:xfrm>
            <a:prstGeom prst="rightBrace">
              <a:avLst>
                <a:gd name="adj1" fmla="val 34720"/>
                <a:gd name="adj2" fmla="val 50000"/>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CN" sz="1200"/>
            </a:p>
          </p:txBody>
        </p:sp>
        <p:sp>
          <p:nvSpPr>
            <p:cNvPr id="94" name="TextBox 93">
              <a:extLst>
                <a:ext uri="{FF2B5EF4-FFF2-40B4-BE49-F238E27FC236}">
                  <a16:creationId xmlns:a16="http://schemas.microsoft.com/office/drawing/2014/main" id="{18F1811B-F763-214E-8215-83E8E1FB6912}"/>
                </a:ext>
              </a:extLst>
            </p:cNvPr>
            <p:cNvSpPr txBox="1"/>
            <p:nvPr/>
          </p:nvSpPr>
          <p:spPr>
            <a:xfrm>
              <a:off x="7776584" y="597933"/>
              <a:ext cx="871527" cy="307777"/>
            </a:xfrm>
            <a:prstGeom prst="rect">
              <a:avLst/>
            </a:prstGeom>
            <a:noFill/>
          </p:spPr>
          <p:txBody>
            <a:bodyPr wrap="square" rtlCol="0">
              <a:spAutoFit/>
            </a:bodyPr>
            <a:lstStyle/>
            <a:p>
              <a:r>
                <a:rPr lang="en-CN" sz="1400" dirty="0"/>
                <a:t>Extent</a:t>
              </a:r>
            </a:p>
          </p:txBody>
        </p:sp>
        <p:sp>
          <p:nvSpPr>
            <p:cNvPr id="95" name="Rectangle 94">
              <a:extLst>
                <a:ext uri="{FF2B5EF4-FFF2-40B4-BE49-F238E27FC236}">
                  <a16:creationId xmlns:a16="http://schemas.microsoft.com/office/drawing/2014/main" id="{78E2ADD4-0291-B347-AECD-B7F0B13162E4}"/>
                </a:ext>
              </a:extLst>
            </p:cNvPr>
            <p:cNvSpPr/>
            <p:nvPr/>
          </p:nvSpPr>
          <p:spPr>
            <a:xfrm>
              <a:off x="4336378" y="2164716"/>
              <a:ext cx="671659" cy="377840"/>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96" name="Rectangle 95">
              <a:extLst>
                <a:ext uri="{FF2B5EF4-FFF2-40B4-BE49-F238E27FC236}">
                  <a16:creationId xmlns:a16="http://schemas.microsoft.com/office/drawing/2014/main" id="{8A8DF54D-E6EA-934B-AE3B-A23ABE41869B}"/>
                </a:ext>
              </a:extLst>
            </p:cNvPr>
            <p:cNvSpPr/>
            <p:nvPr/>
          </p:nvSpPr>
          <p:spPr>
            <a:xfrm>
              <a:off x="4336378" y="2541314"/>
              <a:ext cx="671659" cy="377840"/>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97" name="Rectangle 96">
              <a:extLst>
                <a:ext uri="{FF2B5EF4-FFF2-40B4-BE49-F238E27FC236}">
                  <a16:creationId xmlns:a16="http://schemas.microsoft.com/office/drawing/2014/main" id="{09D65C97-E83E-B844-A850-E92B3DD7A490}"/>
                </a:ext>
              </a:extLst>
            </p:cNvPr>
            <p:cNvSpPr/>
            <p:nvPr/>
          </p:nvSpPr>
          <p:spPr>
            <a:xfrm>
              <a:off x="4334103" y="3307348"/>
              <a:ext cx="671659" cy="377840"/>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a:t>
              </a:r>
              <a:endParaRPr lang="en-CN" sz="1100" dirty="0"/>
            </a:p>
          </p:txBody>
        </p:sp>
        <p:sp>
          <p:nvSpPr>
            <p:cNvPr id="98" name="Rectangle 97">
              <a:extLst>
                <a:ext uri="{FF2B5EF4-FFF2-40B4-BE49-F238E27FC236}">
                  <a16:creationId xmlns:a16="http://schemas.microsoft.com/office/drawing/2014/main" id="{EFF1060D-A0F7-794D-BD81-8647D2C3E5FD}"/>
                </a:ext>
              </a:extLst>
            </p:cNvPr>
            <p:cNvSpPr/>
            <p:nvPr/>
          </p:nvSpPr>
          <p:spPr>
            <a:xfrm>
              <a:off x="4334104" y="2922311"/>
              <a:ext cx="671659" cy="377840"/>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grpSp>
          <p:nvGrpSpPr>
            <p:cNvPr id="99" name="Group 98">
              <a:extLst>
                <a:ext uri="{FF2B5EF4-FFF2-40B4-BE49-F238E27FC236}">
                  <a16:creationId xmlns:a16="http://schemas.microsoft.com/office/drawing/2014/main" id="{17139D39-2A3B-0B4D-9744-2332F14A3F90}"/>
                </a:ext>
              </a:extLst>
            </p:cNvPr>
            <p:cNvGrpSpPr/>
            <p:nvPr/>
          </p:nvGrpSpPr>
          <p:grpSpPr>
            <a:xfrm>
              <a:off x="5640814" y="1321774"/>
              <a:ext cx="896399" cy="1865233"/>
              <a:chOff x="5228230" y="1391624"/>
              <a:chExt cx="896399" cy="1865233"/>
            </a:xfrm>
          </p:grpSpPr>
          <p:sp>
            <p:nvSpPr>
              <p:cNvPr id="118" name="Rectangle 117">
                <a:extLst>
                  <a:ext uri="{FF2B5EF4-FFF2-40B4-BE49-F238E27FC236}">
                    <a16:creationId xmlns:a16="http://schemas.microsoft.com/office/drawing/2014/main" id="{B2987014-DB3E-3543-9560-EBBB9135F6F5}"/>
                  </a:ext>
                </a:extLst>
              </p:cNvPr>
              <p:cNvSpPr/>
              <p:nvPr/>
            </p:nvSpPr>
            <p:spPr>
              <a:xfrm>
                <a:off x="5296292" y="139528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CN" sz="1050" dirty="0"/>
                  <a:t>偏移量</a:t>
                </a:r>
                <a:endParaRPr lang="en-CN" sz="1100" dirty="0"/>
              </a:p>
            </p:txBody>
          </p:sp>
          <p:sp>
            <p:nvSpPr>
              <p:cNvPr id="119" name="Rectangle 118">
                <a:extLst>
                  <a:ext uri="{FF2B5EF4-FFF2-40B4-BE49-F238E27FC236}">
                    <a16:creationId xmlns:a16="http://schemas.microsoft.com/office/drawing/2014/main" id="{F087407A-4C26-5A4C-9A94-557352DB25C2}"/>
                  </a:ext>
                </a:extLst>
              </p:cNvPr>
              <p:cNvSpPr/>
              <p:nvPr/>
            </p:nvSpPr>
            <p:spPr>
              <a:xfrm>
                <a:off x="5296292" y="1579305"/>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100" dirty="0"/>
                  <a:t>起始块号</a:t>
                </a:r>
                <a:endParaRPr lang="en-CN" sz="1100" dirty="0"/>
              </a:p>
            </p:txBody>
          </p:sp>
          <p:sp>
            <p:nvSpPr>
              <p:cNvPr id="120" name="Rectangle 119">
                <a:extLst>
                  <a:ext uri="{FF2B5EF4-FFF2-40B4-BE49-F238E27FC236}">
                    <a16:creationId xmlns:a16="http://schemas.microsoft.com/office/drawing/2014/main" id="{B1E52E5E-93FB-3548-91DB-735108239FC3}"/>
                  </a:ext>
                </a:extLst>
              </p:cNvPr>
              <p:cNvSpPr/>
              <p:nvPr/>
            </p:nvSpPr>
            <p:spPr>
              <a:xfrm>
                <a:off x="5296292" y="1764566"/>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050" dirty="0">
                    <a:solidFill>
                      <a:srgbClr val="000000"/>
                    </a:solidFill>
                  </a:rPr>
                  <a:t>长度</a:t>
                </a:r>
                <a:endParaRPr lang="en-CN" sz="1100" dirty="0"/>
              </a:p>
            </p:txBody>
          </p:sp>
          <p:sp>
            <p:nvSpPr>
              <p:cNvPr id="121" name="TextBox 120">
                <a:extLst>
                  <a:ext uri="{FF2B5EF4-FFF2-40B4-BE49-F238E27FC236}">
                    <a16:creationId xmlns:a16="http://schemas.microsoft.com/office/drawing/2014/main" id="{817532B6-FE6E-1146-968A-7CC9DC4E343C}"/>
                  </a:ext>
                </a:extLst>
              </p:cNvPr>
              <p:cNvSpPr txBox="1"/>
              <p:nvPr/>
            </p:nvSpPr>
            <p:spPr>
              <a:xfrm>
                <a:off x="5228230" y="2949080"/>
                <a:ext cx="896399" cy="307777"/>
              </a:xfrm>
              <a:prstGeom prst="rect">
                <a:avLst/>
              </a:prstGeom>
              <a:noFill/>
            </p:spPr>
            <p:txBody>
              <a:bodyPr wrap="none" rtlCol="0">
                <a:spAutoFit/>
              </a:bodyPr>
              <a:lstStyle/>
              <a:p>
                <a:r>
                  <a:rPr lang="zh-CN" altLang="en-US" sz="1400" dirty="0"/>
                  <a:t>叶子节点</a:t>
                </a:r>
                <a:endParaRPr lang="en-CN" sz="1400" dirty="0"/>
              </a:p>
            </p:txBody>
          </p:sp>
          <p:sp>
            <p:nvSpPr>
              <p:cNvPr id="122" name="Rectangle 121">
                <a:extLst>
                  <a:ext uri="{FF2B5EF4-FFF2-40B4-BE49-F238E27FC236}">
                    <a16:creationId xmlns:a16="http://schemas.microsoft.com/office/drawing/2014/main" id="{1EFB7584-9C9A-884D-B3FE-0C6ACEC47E39}"/>
                  </a:ext>
                </a:extLst>
              </p:cNvPr>
              <p:cNvSpPr/>
              <p:nvPr/>
            </p:nvSpPr>
            <p:spPr>
              <a:xfrm>
                <a:off x="5296291" y="194718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偏移量</a:t>
                </a:r>
                <a:endParaRPr lang="en-CN" sz="1100" dirty="0"/>
              </a:p>
            </p:txBody>
          </p:sp>
          <p:sp>
            <p:nvSpPr>
              <p:cNvPr id="123" name="Rectangle 122">
                <a:extLst>
                  <a:ext uri="{FF2B5EF4-FFF2-40B4-BE49-F238E27FC236}">
                    <a16:creationId xmlns:a16="http://schemas.microsoft.com/office/drawing/2014/main" id="{FAEDCB39-EE8F-7F47-BA06-25CE9778CC50}"/>
                  </a:ext>
                </a:extLst>
              </p:cNvPr>
              <p:cNvSpPr/>
              <p:nvPr/>
            </p:nvSpPr>
            <p:spPr>
              <a:xfrm>
                <a:off x="5296291" y="213120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lvl="0" algn="ctr"/>
                <a:r>
                  <a:rPr lang="zh-CN" altLang="en-US" sz="1050" dirty="0">
                    <a:solidFill>
                      <a:srgbClr val="000000"/>
                    </a:solidFill>
                  </a:rPr>
                  <a:t>起始块号</a:t>
                </a:r>
                <a:endParaRPr lang="en-CN" sz="1100" dirty="0">
                  <a:solidFill>
                    <a:srgbClr val="000000"/>
                  </a:solidFill>
                </a:endParaRPr>
              </a:p>
            </p:txBody>
          </p:sp>
          <p:sp>
            <p:nvSpPr>
              <p:cNvPr id="124" name="Rectangle 123">
                <a:extLst>
                  <a:ext uri="{FF2B5EF4-FFF2-40B4-BE49-F238E27FC236}">
                    <a16:creationId xmlns:a16="http://schemas.microsoft.com/office/drawing/2014/main" id="{8715EF76-B7FF-9D46-8BEC-00F13AC209CF}"/>
                  </a:ext>
                </a:extLst>
              </p:cNvPr>
              <p:cNvSpPr/>
              <p:nvPr/>
            </p:nvSpPr>
            <p:spPr>
              <a:xfrm>
                <a:off x="5296291" y="231522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100" dirty="0"/>
                  <a:t>长度</a:t>
                </a:r>
                <a:endParaRPr lang="en-CN" sz="1100" dirty="0"/>
              </a:p>
            </p:txBody>
          </p:sp>
          <p:sp>
            <p:nvSpPr>
              <p:cNvPr id="125" name="Rectangle 124">
                <a:extLst>
                  <a:ext uri="{FF2B5EF4-FFF2-40B4-BE49-F238E27FC236}">
                    <a16:creationId xmlns:a16="http://schemas.microsoft.com/office/drawing/2014/main" id="{31EA391F-BEE8-DC4F-9632-523AF81451FC}"/>
                  </a:ext>
                </a:extLst>
              </p:cNvPr>
              <p:cNvSpPr/>
              <p:nvPr/>
            </p:nvSpPr>
            <p:spPr>
              <a:xfrm>
                <a:off x="5295094" y="1391624"/>
                <a:ext cx="787876" cy="555559"/>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126" name="Rectangle 125">
                <a:extLst>
                  <a:ext uri="{FF2B5EF4-FFF2-40B4-BE49-F238E27FC236}">
                    <a16:creationId xmlns:a16="http://schemas.microsoft.com/office/drawing/2014/main" id="{CD2ECBCF-088A-C543-B29F-245B108C4BB9}"/>
                  </a:ext>
                </a:extLst>
              </p:cNvPr>
              <p:cNvSpPr/>
              <p:nvPr/>
            </p:nvSpPr>
            <p:spPr>
              <a:xfrm>
                <a:off x="5293896" y="1947183"/>
                <a:ext cx="787876" cy="555559"/>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127" name="Rectangle 126">
                <a:extLst>
                  <a:ext uri="{FF2B5EF4-FFF2-40B4-BE49-F238E27FC236}">
                    <a16:creationId xmlns:a16="http://schemas.microsoft.com/office/drawing/2014/main" id="{F9F384D4-2F53-CB4A-8FDE-8DECBF4AEFA6}"/>
                  </a:ext>
                </a:extLst>
              </p:cNvPr>
              <p:cNvSpPr/>
              <p:nvPr/>
            </p:nvSpPr>
            <p:spPr>
              <a:xfrm>
                <a:off x="5293896" y="2510958"/>
                <a:ext cx="787876" cy="438121"/>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a:t>
                </a:r>
                <a:endParaRPr lang="en-CN" sz="1100" dirty="0"/>
              </a:p>
            </p:txBody>
          </p:sp>
        </p:grpSp>
        <p:grpSp>
          <p:nvGrpSpPr>
            <p:cNvPr id="100" name="Group 99">
              <a:extLst>
                <a:ext uri="{FF2B5EF4-FFF2-40B4-BE49-F238E27FC236}">
                  <a16:creationId xmlns:a16="http://schemas.microsoft.com/office/drawing/2014/main" id="{6024195E-4543-DA40-B343-089EC7203D08}"/>
                </a:ext>
              </a:extLst>
            </p:cNvPr>
            <p:cNvGrpSpPr/>
            <p:nvPr/>
          </p:nvGrpSpPr>
          <p:grpSpPr>
            <a:xfrm>
              <a:off x="5640813" y="3373260"/>
              <a:ext cx="896399" cy="1865233"/>
              <a:chOff x="5228230" y="1391624"/>
              <a:chExt cx="896399" cy="1865233"/>
            </a:xfrm>
          </p:grpSpPr>
          <p:sp>
            <p:nvSpPr>
              <p:cNvPr id="108" name="Rectangle 107">
                <a:extLst>
                  <a:ext uri="{FF2B5EF4-FFF2-40B4-BE49-F238E27FC236}">
                    <a16:creationId xmlns:a16="http://schemas.microsoft.com/office/drawing/2014/main" id="{96BAEC2B-8161-A84F-9CEA-31B58EB45E75}"/>
                  </a:ext>
                </a:extLst>
              </p:cNvPr>
              <p:cNvSpPr/>
              <p:nvPr/>
            </p:nvSpPr>
            <p:spPr>
              <a:xfrm>
                <a:off x="5296292" y="139528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CN" sz="1050" dirty="0"/>
                  <a:t>偏移量</a:t>
                </a:r>
                <a:endParaRPr lang="en-CN" sz="1100" dirty="0"/>
              </a:p>
            </p:txBody>
          </p:sp>
          <p:sp>
            <p:nvSpPr>
              <p:cNvPr id="109" name="Rectangle 108">
                <a:extLst>
                  <a:ext uri="{FF2B5EF4-FFF2-40B4-BE49-F238E27FC236}">
                    <a16:creationId xmlns:a16="http://schemas.microsoft.com/office/drawing/2014/main" id="{CD066881-61E2-3A47-9196-A6DD0B70DBF9}"/>
                  </a:ext>
                </a:extLst>
              </p:cNvPr>
              <p:cNvSpPr/>
              <p:nvPr/>
            </p:nvSpPr>
            <p:spPr>
              <a:xfrm>
                <a:off x="5296292" y="1579305"/>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100" dirty="0"/>
                  <a:t>起始块号</a:t>
                </a:r>
                <a:endParaRPr lang="en-CN" sz="1100" dirty="0"/>
              </a:p>
            </p:txBody>
          </p:sp>
          <p:sp>
            <p:nvSpPr>
              <p:cNvPr id="110" name="Rectangle 109">
                <a:extLst>
                  <a:ext uri="{FF2B5EF4-FFF2-40B4-BE49-F238E27FC236}">
                    <a16:creationId xmlns:a16="http://schemas.microsoft.com/office/drawing/2014/main" id="{66468D5A-708D-3045-A853-7E88BE512048}"/>
                  </a:ext>
                </a:extLst>
              </p:cNvPr>
              <p:cNvSpPr/>
              <p:nvPr/>
            </p:nvSpPr>
            <p:spPr>
              <a:xfrm>
                <a:off x="5296292" y="1764566"/>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050" dirty="0">
                    <a:solidFill>
                      <a:srgbClr val="000000"/>
                    </a:solidFill>
                  </a:rPr>
                  <a:t>长度</a:t>
                </a:r>
                <a:endParaRPr lang="en-CN" sz="1100" dirty="0"/>
              </a:p>
            </p:txBody>
          </p:sp>
          <p:sp>
            <p:nvSpPr>
              <p:cNvPr id="111" name="TextBox 110">
                <a:extLst>
                  <a:ext uri="{FF2B5EF4-FFF2-40B4-BE49-F238E27FC236}">
                    <a16:creationId xmlns:a16="http://schemas.microsoft.com/office/drawing/2014/main" id="{5D72BF2C-0DAF-2C49-97EF-45316C3DB459}"/>
                  </a:ext>
                </a:extLst>
              </p:cNvPr>
              <p:cNvSpPr txBox="1"/>
              <p:nvPr/>
            </p:nvSpPr>
            <p:spPr>
              <a:xfrm>
                <a:off x="5228230" y="2949080"/>
                <a:ext cx="896399" cy="307777"/>
              </a:xfrm>
              <a:prstGeom prst="rect">
                <a:avLst/>
              </a:prstGeom>
              <a:noFill/>
            </p:spPr>
            <p:txBody>
              <a:bodyPr wrap="none" rtlCol="0">
                <a:spAutoFit/>
              </a:bodyPr>
              <a:lstStyle/>
              <a:p>
                <a:r>
                  <a:rPr lang="zh-CN" altLang="en-US" sz="1400" dirty="0"/>
                  <a:t>叶子节点</a:t>
                </a:r>
                <a:endParaRPr lang="en-CN" sz="1400" dirty="0"/>
              </a:p>
            </p:txBody>
          </p:sp>
          <p:sp>
            <p:nvSpPr>
              <p:cNvPr id="112" name="Rectangle 111">
                <a:extLst>
                  <a:ext uri="{FF2B5EF4-FFF2-40B4-BE49-F238E27FC236}">
                    <a16:creationId xmlns:a16="http://schemas.microsoft.com/office/drawing/2014/main" id="{B95251EA-2F92-8141-970C-05AD0990D36A}"/>
                  </a:ext>
                </a:extLst>
              </p:cNvPr>
              <p:cNvSpPr/>
              <p:nvPr/>
            </p:nvSpPr>
            <p:spPr>
              <a:xfrm>
                <a:off x="5296291" y="194718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偏移量</a:t>
                </a:r>
                <a:endParaRPr lang="en-CN" sz="1100" dirty="0"/>
              </a:p>
            </p:txBody>
          </p:sp>
          <p:sp>
            <p:nvSpPr>
              <p:cNvPr id="113" name="Rectangle 112">
                <a:extLst>
                  <a:ext uri="{FF2B5EF4-FFF2-40B4-BE49-F238E27FC236}">
                    <a16:creationId xmlns:a16="http://schemas.microsoft.com/office/drawing/2014/main" id="{AEC77BEB-7676-554F-965D-1AD3988C247E}"/>
                  </a:ext>
                </a:extLst>
              </p:cNvPr>
              <p:cNvSpPr/>
              <p:nvPr/>
            </p:nvSpPr>
            <p:spPr>
              <a:xfrm>
                <a:off x="5296291" y="213120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lvl="0" algn="ctr"/>
                <a:r>
                  <a:rPr lang="zh-CN" altLang="en-US" sz="1050" dirty="0">
                    <a:solidFill>
                      <a:srgbClr val="000000"/>
                    </a:solidFill>
                  </a:rPr>
                  <a:t>起始块号</a:t>
                </a:r>
                <a:endParaRPr lang="en-CN" sz="1100" dirty="0">
                  <a:solidFill>
                    <a:srgbClr val="000000"/>
                  </a:solidFill>
                </a:endParaRPr>
              </a:p>
            </p:txBody>
          </p:sp>
          <p:sp>
            <p:nvSpPr>
              <p:cNvPr id="114" name="Rectangle 113">
                <a:extLst>
                  <a:ext uri="{FF2B5EF4-FFF2-40B4-BE49-F238E27FC236}">
                    <a16:creationId xmlns:a16="http://schemas.microsoft.com/office/drawing/2014/main" id="{B683F6F5-3FBC-204F-B20A-BD934F51C615}"/>
                  </a:ext>
                </a:extLst>
              </p:cNvPr>
              <p:cNvSpPr/>
              <p:nvPr/>
            </p:nvSpPr>
            <p:spPr>
              <a:xfrm>
                <a:off x="5296291" y="231522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100" dirty="0"/>
                  <a:t>长度</a:t>
                </a:r>
                <a:endParaRPr lang="en-CN" sz="1100" dirty="0"/>
              </a:p>
            </p:txBody>
          </p:sp>
          <p:sp>
            <p:nvSpPr>
              <p:cNvPr id="115" name="Rectangle 114">
                <a:extLst>
                  <a:ext uri="{FF2B5EF4-FFF2-40B4-BE49-F238E27FC236}">
                    <a16:creationId xmlns:a16="http://schemas.microsoft.com/office/drawing/2014/main" id="{0BF77CDC-EAE6-AA4E-9A74-94EDE00F9C67}"/>
                  </a:ext>
                </a:extLst>
              </p:cNvPr>
              <p:cNvSpPr/>
              <p:nvPr/>
            </p:nvSpPr>
            <p:spPr>
              <a:xfrm>
                <a:off x="5295094" y="1391624"/>
                <a:ext cx="787876" cy="555559"/>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116" name="Rectangle 115">
                <a:extLst>
                  <a:ext uri="{FF2B5EF4-FFF2-40B4-BE49-F238E27FC236}">
                    <a16:creationId xmlns:a16="http://schemas.microsoft.com/office/drawing/2014/main" id="{E7C6DA7D-8927-4840-AB07-0D1B85C9B371}"/>
                  </a:ext>
                </a:extLst>
              </p:cNvPr>
              <p:cNvSpPr/>
              <p:nvPr/>
            </p:nvSpPr>
            <p:spPr>
              <a:xfrm>
                <a:off x="5293896" y="1947183"/>
                <a:ext cx="787876" cy="555559"/>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117" name="Rectangle 116">
                <a:extLst>
                  <a:ext uri="{FF2B5EF4-FFF2-40B4-BE49-F238E27FC236}">
                    <a16:creationId xmlns:a16="http://schemas.microsoft.com/office/drawing/2014/main" id="{1A7FF630-D6BC-9C43-A2A7-9A9A21A9BC52}"/>
                  </a:ext>
                </a:extLst>
              </p:cNvPr>
              <p:cNvSpPr/>
              <p:nvPr/>
            </p:nvSpPr>
            <p:spPr>
              <a:xfrm>
                <a:off x="5293896" y="2510958"/>
                <a:ext cx="787876" cy="438121"/>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a:t>
                </a:r>
                <a:endParaRPr lang="en-CN" sz="1100" dirty="0"/>
              </a:p>
            </p:txBody>
          </p:sp>
        </p:grpSp>
        <p:cxnSp>
          <p:nvCxnSpPr>
            <p:cNvPr id="101" name="Curved Connector 100">
              <a:extLst>
                <a:ext uri="{FF2B5EF4-FFF2-40B4-BE49-F238E27FC236}">
                  <a16:creationId xmlns:a16="http://schemas.microsoft.com/office/drawing/2014/main" id="{AC3C9EA2-DCC3-2C48-8378-CD73F6392048}"/>
                </a:ext>
              </a:extLst>
            </p:cNvPr>
            <p:cNvCxnSpPr>
              <a:cxnSpLocks/>
              <a:stCxn id="78" idx="3"/>
              <a:endCxn id="118" idx="1"/>
            </p:cNvCxnSpPr>
            <p:nvPr/>
          </p:nvCxnSpPr>
          <p:spPr>
            <a:xfrm flipV="1">
              <a:off x="5008038" y="1417444"/>
              <a:ext cx="700838" cy="1033263"/>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Curved Connector 101">
              <a:extLst>
                <a:ext uri="{FF2B5EF4-FFF2-40B4-BE49-F238E27FC236}">
                  <a16:creationId xmlns:a16="http://schemas.microsoft.com/office/drawing/2014/main" id="{A1747E8B-469B-DD4B-9664-FDA94F4F19B2}"/>
                </a:ext>
              </a:extLst>
            </p:cNvPr>
            <p:cNvCxnSpPr>
              <a:cxnSpLocks/>
              <a:stCxn id="81" idx="3"/>
              <a:endCxn id="108" idx="1"/>
            </p:cNvCxnSpPr>
            <p:nvPr/>
          </p:nvCxnSpPr>
          <p:spPr>
            <a:xfrm>
              <a:off x="5008037" y="2818586"/>
              <a:ext cx="700838" cy="650344"/>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FA29D660-5CF9-4340-B572-9169F1897404}"/>
                </a:ext>
              </a:extLst>
            </p:cNvPr>
            <p:cNvSpPr txBox="1"/>
            <p:nvPr/>
          </p:nvSpPr>
          <p:spPr>
            <a:xfrm>
              <a:off x="7328765" y="2481475"/>
              <a:ext cx="415498" cy="369332"/>
            </a:xfrm>
            <a:prstGeom prst="rect">
              <a:avLst/>
            </a:prstGeom>
            <a:noFill/>
          </p:spPr>
          <p:txBody>
            <a:bodyPr wrap="none" rtlCol="0">
              <a:spAutoFit/>
            </a:bodyPr>
            <a:lstStyle/>
            <a:p>
              <a:r>
                <a:rPr lang="en-US" altLang="zh-CN" dirty="0"/>
                <a:t>…</a:t>
              </a:r>
              <a:endParaRPr lang="en-CN" dirty="0"/>
            </a:p>
          </p:txBody>
        </p:sp>
        <p:sp>
          <p:nvSpPr>
            <p:cNvPr id="104" name="Rectangle 103">
              <a:extLst>
                <a:ext uri="{FF2B5EF4-FFF2-40B4-BE49-F238E27FC236}">
                  <a16:creationId xmlns:a16="http://schemas.microsoft.com/office/drawing/2014/main" id="{1B71974E-6607-EB42-BA8B-7F5E22D6A333}"/>
                </a:ext>
              </a:extLst>
            </p:cNvPr>
            <p:cNvSpPr/>
            <p:nvPr/>
          </p:nvSpPr>
          <p:spPr>
            <a:xfrm>
              <a:off x="7264965" y="4548295"/>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05" name="Rectangle 104">
              <a:extLst>
                <a:ext uri="{FF2B5EF4-FFF2-40B4-BE49-F238E27FC236}">
                  <a16:creationId xmlns:a16="http://schemas.microsoft.com/office/drawing/2014/main" id="{5901935A-C4EA-AE4C-82B2-1CFC76D18E50}"/>
                </a:ext>
              </a:extLst>
            </p:cNvPr>
            <p:cNvSpPr/>
            <p:nvPr/>
          </p:nvSpPr>
          <p:spPr>
            <a:xfrm>
              <a:off x="7808063" y="4548295"/>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06" name="Rectangle 105">
              <a:extLst>
                <a:ext uri="{FF2B5EF4-FFF2-40B4-BE49-F238E27FC236}">
                  <a16:creationId xmlns:a16="http://schemas.microsoft.com/office/drawing/2014/main" id="{F9A2E244-208B-BB47-A6B5-8E1932583703}"/>
                </a:ext>
              </a:extLst>
            </p:cNvPr>
            <p:cNvSpPr/>
            <p:nvPr/>
          </p:nvSpPr>
          <p:spPr>
            <a:xfrm>
              <a:off x="8351161" y="4548295"/>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07" name="Curved Connector 106">
              <a:extLst>
                <a:ext uri="{FF2B5EF4-FFF2-40B4-BE49-F238E27FC236}">
                  <a16:creationId xmlns:a16="http://schemas.microsoft.com/office/drawing/2014/main" id="{ECDC2629-3A1E-CB49-81E7-F9D1D73F2C13}"/>
                </a:ext>
              </a:extLst>
            </p:cNvPr>
            <p:cNvCxnSpPr>
              <a:cxnSpLocks/>
              <a:stCxn id="113" idx="3"/>
              <a:endCxn id="104" idx="1"/>
            </p:cNvCxnSpPr>
            <p:nvPr/>
          </p:nvCxnSpPr>
          <p:spPr>
            <a:xfrm>
              <a:off x="6496750" y="4204850"/>
              <a:ext cx="768215" cy="553723"/>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2" name="Rounded Rectangle 131">
            <a:extLst>
              <a:ext uri="{FF2B5EF4-FFF2-40B4-BE49-F238E27FC236}">
                <a16:creationId xmlns:a16="http://schemas.microsoft.com/office/drawing/2014/main" id="{1FEF24FC-3528-A04E-B43B-7B37FCAB2BDD}"/>
              </a:ext>
            </a:extLst>
          </p:cNvPr>
          <p:cNvSpPr/>
          <p:nvPr/>
        </p:nvSpPr>
        <p:spPr>
          <a:xfrm>
            <a:off x="4932040" y="553244"/>
            <a:ext cx="3888432" cy="2474434"/>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133" name="TextBox 132">
            <a:extLst>
              <a:ext uri="{FF2B5EF4-FFF2-40B4-BE49-F238E27FC236}">
                <a16:creationId xmlns:a16="http://schemas.microsoft.com/office/drawing/2014/main" id="{5F4EB0B2-9078-A34C-9F20-726D6ED505A2}"/>
              </a:ext>
            </a:extLst>
          </p:cNvPr>
          <p:cNvSpPr txBox="1"/>
          <p:nvPr/>
        </p:nvSpPr>
        <p:spPr>
          <a:xfrm>
            <a:off x="5139257" y="602291"/>
            <a:ext cx="543739" cy="369332"/>
          </a:xfrm>
          <a:prstGeom prst="rect">
            <a:avLst/>
          </a:prstGeom>
          <a:noFill/>
        </p:spPr>
        <p:txBody>
          <a:bodyPr wrap="none" rtlCol="0">
            <a:spAutoFit/>
          </a:bodyPr>
          <a:lstStyle/>
          <a:p>
            <a:r>
              <a:rPr lang="zh-CN" altLang="en-CN" dirty="0">
                <a:solidFill>
                  <a:srgbClr val="C00000"/>
                </a:solidFill>
              </a:rPr>
              <a:t>全</a:t>
            </a:r>
            <a:r>
              <a:rPr lang="en-US" altLang="zh-CN" dirty="0">
                <a:solidFill>
                  <a:srgbClr val="C00000"/>
                </a:solidFill>
              </a:rPr>
              <a:t>0</a:t>
            </a:r>
            <a:endParaRPr lang="en-CN" dirty="0">
              <a:solidFill>
                <a:srgbClr val="C00000"/>
              </a:solidFill>
            </a:endParaRPr>
          </a:p>
        </p:txBody>
      </p:sp>
    </p:spTree>
    <p:extLst>
      <p:ext uri="{BB962C8B-B14F-4D97-AF65-F5344CB8AC3E}">
        <p14:creationId xmlns:p14="http://schemas.microsoft.com/office/powerpoint/2010/main" val="292614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28672-F932-1146-BD22-85662463669F}"/>
              </a:ext>
            </a:extLst>
          </p:cNvPr>
          <p:cNvSpPr>
            <a:spLocks noGrp="1"/>
          </p:cNvSpPr>
          <p:nvPr>
            <p:ph type="title"/>
          </p:nvPr>
        </p:nvSpPr>
        <p:spPr/>
        <p:txBody>
          <a:bodyPr/>
          <a:lstStyle/>
          <a:p>
            <a:r>
              <a:rPr lang="zh-CN" altLang="en-US" dirty="0"/>
              <a:t>稀疏文件</a:t>
            </a:r>
            <a:endParaRPr lang="en-CN" dirty="0"/>
          </a:p>
        </p:txBody>
      </p:sp>
      <p:sp>
        <p:nvSpPr>
          <p:cNvPr id="4" name="Slide Number Placeholder 3">
            <a:extLst>
              <a:ext uri="{FF2B5EF4-FFF2-40B4-BE49-F238E27FC236}">
                <a16:creationId xmlns:a16="http://schemas.microsoft.com/office/drawing/2014/main" id="{4D4D0E5B-F7C4-C140-8ADB-DEA6F99BF902}"/>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Footer Placeholder 4">
            <a:extLst>
              <a:ext uri="{FF2B5EF4-FFF2-40B4-BE49-F238E27FC236}">
                <a16:creationId xmlns:a16="http://schemas.microsoft.com/office/drawing/2014/main" id="{BBE969C8-E3CA-F94F-84E6-2C0B3FE877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2" name="Content Placeholder 2">
            <a:extLst>
              <a:ext uri="{FF2B5EF4-FFF2-40B4-BE49-F238E27FC236}">
                <a16:creationId xmlns:a16="http://schemas.microsoft.com/office/drawing/2014/main" id="{633146D6-A6CB-F546-B3DC-E5244CF17B6C}"/>
              </a:ext>
            </a:extLst>
          </p:cNvPr>
          <p:cNvSpPr>
            <a:spLocks noGrp="1"/>
          </p:cNvSpPr>
          <p:nvPr>
            <p:ph idx="1"/>
          </p:nvPr>
        </p:nvSpPr>
        <p:spPr>
          <a:xfrm>
            <a:off x="457200" y="1333501"/>
            <a:ext cx="8229600" cy="3771636"/>
          </a:xfrm>
        </p:spPr>
        <p:txBody>
          <a:bodyPr/>
          <a:lstStyle/>
          <a:p>
            <a:r>
              <a:rPr lang="zh-CN" altLang="en-US" b="0" dirty="0"/>
              <a:t>在索引中增加标记</a:t>
            </a:r>
            <a:endParaRPr lang="en-US" altLang="zh-CN" b="0" dirty="0"/>
          </a:p>
          <a:p>
            <a:r>
              <a:rPr lang="zh-CN" altLang="en-CN" b="0" dirty="0"/>
              <a:t>删除</a:t>
            </a:r>
            <a:r>
              <a:rPr lang="zh-CN" altLang="en-US" b="0" dirty="0"/>
              <a:t>全</a:t>
            </a:r>
            <a:r>
              <a:rPr lang="en-US" altLang="zh-CN" b="0" dirty="0"/>
              <a:t>0</a:t>
            </a:r>
            <a:r>
              <a:rPr lang="zh-CN" altLang="en-US" b="0" dirty="0"/>
              <a:t>块</a:t>
            </a:r>
            <a:endParaRPr lang="en-CN" b="0" dirty="0"/>
          </a:p>
        </p:txBody>
      </p:sp>
      <p:grpSp>
        <p:nvGrpSpPr>
          <p:cNvPr id="73" name="Group 72">
            <a:extLst>
              <a:ext uri="{FF2B5EF4-FFF2-40B4-BE49-F238E27FC236}">
                <a16:creationId xmlns:a16="http://schemas.microsoft.com/office/drawing/2014/main" id="{84E2242F-3A86-7C4F-AC4F-C258B978B0C3}"/>
              </a:ext>
            </a:extLst>
          </p:cNvPr>
          <p:cNvGrpSpPr/>
          <p:nvPr/>
        </p:nvGrpSpPr>
        <p:grpSpPr>
          <a:xfrm>
            <a:off x="2843808" y="1841119"/>
            <a:ext cx="5633031" cy="3495544"/>
            <a:chOff x="3261229" y="1742949"/>
            <a:chExt cx="5633031" cy="3495544"/>
          </a:xfrm>
        </p:grpSpPr>
        <p:sp>
          <p:nvSpPr>
            <p:cNvPr id="74" name="Rectangle 73">
              <a:extLst>
                <a:ext uri="{FF2B5EF4-FFF2-40B4-BE49-F238E27FC236}">
                  <a16:creationId xmlns:a16="http://schemas.microsoft.com/office/drawing/2014/main" id="{CD935E4A-4C10-8143-A1BE-F89E6F46508A}"/>
                </a:ext>
              </a:extLst>
            </p:cNvPr>
            <p:cNvSpPr/>
            <p:nvPr/>
          </p:nvSpPr>
          <p:spPr>
            <a:xfrm>
              <a:off x="3261229" y="1742949"/>
              <a:ext cx="671659" cy="72751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常用</a:t>
              </a:r>
              <a:r>
                <a:rPr lang="zh-CN" altLang="en-US" sz="1100" dirty="0"/>
                <a:t>元数据</a:t>
              </a:r>
              <a:endParaRPr lang="en-CN" sz="1100" dirty="0"/>
            </a:p>
          </p:txBody>
        </p:sp>
        <p:sp>
          <p:nvSpPr>
            <p:cNvPr id="75" name="Rectangle 74">
              <a:extLst>
                <a:ext uri="{FF2B5EF4-FFF2-40B4-BE49-F238E27FC236}">
                  <a16:creationId xmlns:a16="http://schemas.microsoft.com/office/drawing/2014/main" id="{E51329C1-55C2-2244-8038-A611EA6C5BBD}"/>
                </a:ext>
              </a:extLst>
            </p:cNvPr>
            <p:cNvSpPr/>
            <p:nvPr/>
          </p:nvSpPr>
          <p:spPr>
            <a:xfrm>
              <a:off x="3261229" y="2470466"/>
              <a:ext cx="671659" cy="1840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100" dirty="0"/>
                <a:t>树</a:t>
              </a:r>
              <a:r>
                <a:rPr lang="zh-CN" altLang="en-US" sz="1100" dirty="0"/>
                <a:t>根</a:t>
              </a:r>
              <a:endParaRPr lang="en-CN" sz="1100" dirty="0"/>
            </a:p>
          </p:txBody>
        </p:sp>
        <p:cxnSp>
          <p:nvCxnSpPr>
            <p:cNvPr id="76" name="Curved Connector 75">
              <a:extLst>
                <a:ext uri="{FF2B5EF4-FFF2-40B4-BE49-F238E27FC236}">
                  <a16:creationId xmlns:a16="http://schemas.microsoft.com/office/drawing/2014/main" id="{90064DF8-C625-8743-A97E-45CABD95F903}"/>
                </a:ext>
              </a:extLst>
            </p:cNvPr>
            <p:cNvCxnSpPr>
              <a:cxnSpLocks/>
              <a:stCxn id="75" idx="3"/>
              <a:endCxn id="77" idx="1"/>
            </p:cNvCxnSpPr>
            <p:nvPr/>
          </p:nvCxnSpPr>
          <p:spPr>
            <a:xfrm flipV="1">
              <a:off x="3932888" y="2266686"/>
              <a:ext cx="403491" cy="295790"/>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8D0D9A4F-F4EC-7A4B-A63F-60A650F06B79}"/>
                </a:ext>
              </a:extLst>
            </p:cNvPr>
            <p:cNvSpPr/>
            <p:nvPr/>
          </p:nvSpPr>
          <p:spPr>
            <a:xfrm>
              <a:off x="4336379" y="2174676"/>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50" dirty="0"/>
                <a:t>偏移量</a:t>
              </a:r>
              <a:endParaRPr lang="en-CN" sz="1100" dirty="0"/>
            </a:p>
          </p:txBody>
        </p:sp>
        <p:sp>
          <p:nvSpPr>
            <p:cNvPr id="78" name="Rectangle 77">
              <a:extLst>
                <a:ext uri="{FF2B5EF4-FFF2-40B4-BE49-F238E27FC236}">
                  <a16:creationId xmlns:a16="http://schemas.microsoft.com/office/drawing/2014/main" id="{A255C0D2-936E-C14A-A8DC-1A9073B3FE05}"/>
                </a:ext>
              </a:extLst>
            </p:cNvPr>
            <p:cNvSpPr/>
            <p:nvPr/>
          </p:nvSpPr>
          <p:spPr>
            <a:xfrm>
              <a:off x="4336379" y="2358697"/>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子节点</a:t>
              </a:r>
              <a:endParaRPr lang="en-CN" sz="1100" dirty="0"/>
            </a:p>
          </p:txBody>
        </p:sp>
        <p:sp>
          <p:nvSpPr>
            <p:cNvPr id="79" name="Rectangle 78">
              <a:extLst>
                <a:ext uri="{FF2B5EF4-FFF2-40B4-BE49-F238E27FC236}">
                  <a16:creationId xmlns:a16="http://schemas.microsoft.com/office/drawing/2014/main" id="{230E7C58-8572-6741-9910-197E24B25DF1}"/>
                </a:ext>
              </a:extLst>
            </p:cNvPr>
            <p:cNvSpPr/>
            <p:nvPr/>
          </p:nvSpPr>
          <p:spPr>
            <a:xfrm>
              <a:off x="4336379" y="2543958"/>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50" dirty="0">
                  <a:solidFill>
                    <a:srgbClr val="000000"/>
                  </a:solidFill>
                </a:rPr>
                <a:t>偏移量</a:t>
              </a:r>
              <a:endParaRPr lang="en-CN" sz="1100" dirty="0"/>
            </a:p>
          </p:txBody>
        </p:sp>
        <p:sp>
          <p:nvSpPr>
            <p:cNvPr id="80" name="TextBox 79">
              <a:extLst>
                <a:ext uri="{FF2B5EF4-FFF2-40B4-BE49-F238E27FC236}">
                  <a16:creationId xmlns:a16="http://schemas.microsoft.com/office/drawing/2014/main" id="{2F52196F-3419-7E49-B182-2649735049BD}"/>
                </a:ext>
              </a:extLst>
            </p:cNvPr>
            <p:cNvSpPr txBox="1"/>
            <p:nvPr/>
          </p:nvSpPr>
          <p:spPr>
            <a:xfrm>
              <a:off x="4202756" y="3748947"/>
              <a:ext cx="861020" cy="293529"/>
            </a:xfrm>
            <a:prstGeom prst="rect">
              <a:avLst/>
            </a:prstGeom>
            <a:noFill/>
          </p:spPr>
          <p:txBody>
            <a:bodyPr wrap="none" rtlCol="0">
              <a:spAutoFit/>
            </a:bodyPr>
            <a:lstStyle/>
            <a:p>
              <a:r>
                <a:rPr lang="zh-CN" altLang="en-US" sz="1400" dirty="0"/>
                <a:t>索引节点</a:t>
              </a:r>
              <a:endParaRPr lang="en-CN" sz="1400" dirty="0"/>
            </a:p>
          </p:txBody>
        </p:sp>
        <p:sp>
          <p:nvSpPr>
            <p:cNvPr id="81" name="Rectangle 80">
              <a:extLst>
                <a:ext uri="{FF2B5EF4-FFF2-40B4-BE49-F238E27FC236}">
                  <a16:creationId xmlns:a16="http://schemas.microsoft.com/office/drawing/2014/main" id="{E5A53824-CD19-4445-BFC6-D922E7E789C7}"/>
                </a:ext>
              </a:extLst>
            </p:cNvPr>
            <p:cNvSpPr/>
            <p:nvPr/>
          </p:nvSpPr>
          <p:spPr>
            <a:xfrm>
              <a:off x="4336378" y="2726576"/>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50" dirty="0"/>
                <a:t>子节点</a:t>
              </a:r>
              <a:endParaRPr lang="en-CN" sz="1050" dirty="0"/>
            </a:p>
          </p:txBody>
        </p:sp>
        <p:sp>
          <p:nvSpPr>
            <p:cNvPr id="82" name="Rectangle 81">
              <a:extLst>
                <a:ext uri="{FF2B5EF4-FFF2-40B4-BE49-F238E27FC236}">
                  <a16:creationId xmlns:a16="http://schemas.microsoft.com/office/drawing/2014/main" id="{032D2177-86F2-D840-871D-291A15668FC7}"/>
                </a:ext>
              </a:extLst>
            </p:cNvPr>
            <p:cNvSpPr/>
            <p:nvPr/>
          </p:nvSpPr>
          <p:spPr>
            <a:xfrm>
              <a:off x="4336378" y="2929508"/>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lvl="0" algn="ctr"/>
              <a:r>
                <a:rPr lang="zh-CN" altLang="en-US" sz="1050" dirty="0">
                  <a:solidFill>
                    <a:srgbClr val="000000"/>
                  </a:solidFill>
                </a:rPr>
                <a:t>偏移量</a:t>
              </a:r>
              <a:endParaRPr lang="en-CN" sz="1050" dirty="0">
                <a:solidFill>
                  <a:srgbClr val="000000"/>
                </a:solidFill>
              </a:endParaRPr>
            </a:p>
          </p:txBody>
        </p:sp>
        <p:sp>
          <p:nvSpPr>
            <p:cNvPr id="83" name="Rectangle 82">
              <a:extLst>
                <a:ext uri="{FF2B5EF4-FFF2-40B4-BE49-F238E27FC236}">
                  <a16:creationId xmlns:a16="http://schemas.microsoft.com/office/drawing/2014/main" id="{39F3B8FD-B4F5-DB46-8418-36CDE18E7F0A}"/>
                </a:ext>
              </a:extLst>
            </p:cNvPr>
            <p:cNvSpPr/>
            <p:nvPr/>
          </p:nvSpPr>
          <p:spPr>
            <a:xfrm>
              <a:off x="4336378" y="3113528"/>
              <a:ext cx="671659"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1050" dirty="0"/>
                <a:t>子节点</a:t>
              </a:r>
              <a:endParaRPr lang="en-CN" sz="1050" dirty="0"/>
            </a:p>
          </p:txBody>
        </p:sp>
        <p:sp>
          <p:nvSpPr>
            <p:cNvPr id="86" name="Rectangle 85">
              <a:extLst>
                <a:ext uri="{FF2B5EF4-FFF2-40B4-BE49-F238E27FC236}">
                  <a16:creationId xmlns:a16="http://schemas.microsoft.com/office/drawing/2014/main" id="{79F3AB97-0D1C-6E4A-A9BF-E655F4BC66FD}"/>
                </a:ext>
              </a:extLst>
            </p:cNvPr>
            <p:cNvSpPr/>
            <p:nvPr/>
          </p:nvSpPr>
          <p:spPr>
            <a:xfrm>
              <a:off x="7264965" y="3178917"/>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89" name="Curved Connector 88">
              <a:extLst>
                <a:ext uri="{FF2B5EF4-FFF2-40B4-BE49-F238E27FC236}">
                  <a16:creationId xmlns:a16="http://schemas.microsoft.com/office/drawing/2014/main" id="{A41D63F5-0710-F340-A570-5F186FBACBC5}"/>
                </a:ext>
              </a:extLst>
            </p:cNvPr>
            <p:cNvCxnSpPr>
              <a:cxnSpLocks/>
              <a:stCxn id="115" idx="3"/>
              <a:endCxn id="86" idx="1"/>
            </p:cNvCxnSpPr>
            <p:nvPr/>
          </p:nvCxnSpPr>
          <p:spPr>
            <a:xfrm flipV="1">
              <a:off x="6495553" y="3389195"/>
              <a:ext cx="769412" cy="261845"/>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8895E7DD-65CB-DD4A-A5D4-56F9B600695A}"/>
                </a:ext>
              </a:extLst>
            </p:cNvPr>
            <p:cNvSpPr/>
            <p:nvPr/>
          </p:nvSpPr>
          <p:spPr>
            <a:xfrm>
              <a:off x="7808063" y="3178917"/>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96" name="Rectangle 95">
              <a:extLst>
                <a:ext uri="{FF2B5EF4-FFF2-40B4-BE49-F238E27FC236}">
                  <a16:creationId xmlns:a16="http://schemas.microsoft.com/office/drawing/2014/main" id="{8A8DF54D-E6EA-934B-AE3B-A23ABE41869B}"/>
                </a:ext>
              </a:extLst>
            </p:cNvPr>
            <p:cNvSpPr/>
            <p:nvPr/>
          </p:nvSpPr>
          <p:spPr>
            <a:xfrm>
              <a:off x="4336378" y="2541314"/>
              <a:ext cx="671659" cy="377840"/>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97" name="Rectangle 96">
              <a:extLst>
                <a:ext uri="{FF2B5EF4-FFF2-40B4-BE49-F238E27FC236}">
                  <a16:creationId xmlns:a16="http://schemas.microsoft.com/office/drawing/2014/main" id="{09D65C97-E83E-B844-A850-E92B3DD7A490}"/>
                </a:ext>
              </a:extLst>
            </p:cNvPr>
            <p:cNvSpPr/>
            <p:nvPr/>
          </p:nvSpPr>
          <p:spPr>
            <a:xfrm>
              <a:off x="4334103" y="3307348"/>
              <a:ext cx="671659" cy="377840"/>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a:t>
              </a:r>
              <a:endParaRPr lang="en-CN" sz="1100" dirty="0"/>
            </a:p>
          </p:txBody>
        </p:sp>
        <p:sp>
          <p:nvSpPr>
            <p:cNvPr id="98" name="Rectangle 97">
              <a:extLst>
                <a:ext uri="{FF2B5EF4-FFF2-40B4-BE49-F238E27FC236}">
                  <a16:creationId xmlns:a16="http://schemas.microsoft.com/office/drawing/2014/main" id="{EFF1060D-A0F7-794D-BD81-8647D2C3E5FD}"/>
                </a:ext>
              </a:extLst>
            </p:cNvPr>
            <p:cNvSpPr/>
            <p:nvPr/>
          </p:nvSpPr>
          <p:spPr>
            <a:xfrm>
              <a:off x="4334104" y="2922311"/>
              <a:ext cx="671659" cy="377840"/>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grpSp>
          <p:nvGrpSpPr>
            <p:cNvPr id="100" name="Group 99">
              <a:extLst>
                <a:ext uri="{FF2B5EF4-FFF2-40B4-BE49-F238E27FC236}">
                  <a16:creationId xmlns:a16="http://schemas.microsoft.com/office/drawing/2014/main" id="{6024195E-4543-DA40-B343-089EC7203D08}"/>
                </a:ext>
              </a:extLst>
            </p:cNvPr>
            <p:cNvGrpSpPr/>
            <p:nvPr/>
          </p:nvGrpSpPr>
          <p:grpSpPr>
            <a:xfrm>
              <a:off x="5640813" y="3373260"/>
              <a:ext cx="896399" cy="1865233"/>
              <a:chOff x="5228230" y="1391624"/>
              <a:chExt cx="896399" cy="1865233"/>
            </a:xfrm>
          </p:grpSpPr>
          <p:sp>
            <p:nvSpPr>
              <p:cNvPr id="108" name="Rectangle 107">
                <a:extLst>
                  <a:ext uri="{FF2B5EF4-FFF2-40B4-BE49-F238E27FC236}">
                    <a16:creationId xmlns:a16="http://schemas.microsoft.com/office/drawing/2014/main" id="{96BAEC2B-8161-A84F-9CEA-31B58EB45E75}"/>
                  </a:ext>
                </a:extLst>
              </p:cNvPr>
              <p:cNvSpPr/>
              <p:nvPr/>
            </p:nvSpPr>
            <p:spPr>
              <a:xfrm>
                <a:off x="5296292" y="139528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CN" sz="1050" dirty="0"/>
                  <a:t>偏移量</a:t>
                </a:r>
                <a:endParaRPr lang="en-CN" sz="1100" dirty="0"/>
              </a:p>
            </p:txBody>
          </p:sp>
          <p:sp>
            <p:nvSpPr>
              <p:cNvPr id="109" name="Rectangle 108">
                <a:extLst>
                  <a:ext uri="{FF2B5EF4-FFF2-40B4-BE49-F238E27FC236}">
                    <a16:creationId xmlns:a16="http://schemas.microsoft.com/office/drawing/2014/main" id="{CD066881-61E2-3A47-9196-A6DD0B70DBF9}"/>
                  </a:ext>
                </a:extLst>
              </p:cNvPr>
              <p:cNvSpPr/>
              <p:nvPr/>
            </p:nvSpPr>
            <p:spPr>
              <a:xfrm>
                <a:off x="5296292" y="1579305"/>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100" dirty="0"/>
                  <a:t>起始块号</a:t>
                </a:r>
                <a:endParaRPr lang="en-CN" sz="1100" dirty="0"/>
              </a:p>
            </p:txBody>
          </p:sp>
          <p:sp>
            <p:nvSpPr>
              <p:cNvPr id="110" name="Rectangle 109">
                <a:extLst>
                  <a:ext uri="{FF2B5EF4-FFF2-40B4-BE49-F238E27FC236}">
                    <a16:creationId xmlns:a16="http://schemas.microsoft.com/office/drawing/2014/main" id="{66468D5A-708D-3045-A853-7E88BE512048}"/>
                  </a:ext>
                </a:extLst>
              </p:cNvPr>
              <p:cNvSpPr/>
              <p:nvPr/>
            </p:nvSpPr>
            <p:spPr>
              <a:xfrm>
                <a:off x="5296292" y="1764566"/>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050" dirty="0">
                    <a:solidFill>
                      <a:srgbClr val="000000"/>
                    </a:solidFill>
                  </a:rPr>
                  <a:t>长度</a:t>
                </a:r>
                <a:endParaRPr lang="en-CN" sz="1100" dirty="0"/>
              </a:p>
            </p:txBody>
          </p:sp>
          <p:sp>
            <p:nvSpPr>
              <p:cNvPr id="111" name="TextBox 110">
                <a:extLst>
                  <a:ext uri="{FF2B5EF4-FFF2-40B4-BE49-F238E27FC236}">
                    <a16:creationId xmlns:a16="http://schemas.microsoft.com/office/drawing/2014/main" id="{5D72BF2C-0DAF-2C49-97EF-45316C3DB459}"/>
                  </a:ext>
                </a:extLst>
              </p:cNvPr>
              <p:cNvSpPr txBox="1"/>
              <p:nvPr/>
            </p:nvSpPr>
            <p:spPr>
              <a:xfrm>
                <a:off x="5228230" y="2949080"/>
                <a:ext cx="896399" cy="307777"/>
              </a:xfrm>
              <a:prstGeom prst="rect">
                <a:avLst/>
              </a:prstGeom>
              <a:noFill/>
            </p:spPr>
            <p:txBody>
              <a:bodyPr wrap="none" rtlCol="0">
                <a:spAutoFit/>
              </a:bodyPr>
              <a:lstStyle/>
              <a:p>
                <a:r>
                  <a:rPr lang="zh-CN" altLang="en-US" sz="1400" dirty="0"/>
                  <a:t>叶子节点</a:t>
                </a:r>
                <a:endParaRPr lang="en-CN" sz="1400" dirty="0"/>
              </a:p>
            </p:txBody>
          </p:sp>
          <p:sp>
            <p:nvSpPr>
              <p:cNvPr id="112" name="Rectangle 111">
                <a:extLst>
                  <a:ext uri="{FF2B5EF4-FFF2-40B4-BE49-F238E27FC236}">
                    <a16:creationId xmlns:a16="http://schemas.microsoft.com/office/drawing/2014/main" id="{B95251EA-2F92-8141-970C-05AD0990D36A}"/>
                  </a:ext>
                </a:extLst>
              </p:cNvPr>
              <p:cNvSpPr/>
              <p:nvPr/>
            </p:nvSpPr>
            <p:spPr>
              <a:xfrm>
                <a:off x="5296291" y="194718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偏移量</a:t>
                </a:r>
                <a:endParaRPr lang="en-CN" sz="1100" dirty="0"/>
              </a:p>
            </p:txBody>
          </p:sp>
          <p:sp>
            <p:nvSpPr>
              <p:cNvPr id="113" name="Rectangle 112">
                <a:extLst>
                  <a:ext uri="{FF2B5EF4-FFF2-40B4-BE49-F238E27FC236}">
                    <a16:creationId xmlns:a16="http://schemas.microsoft.com/office/drawing/2014/main" id="{AEC77BEB-7676-554F-965D-1AD3988C247E}"/>
                  </a:ext>
                </a:extLst>
              </p:cNvPr>
              <p:cNvSpPr/>
              <p:nvPr/>
            </p:nvSpPr>
            <p:spPr>
              <a:xfrm>
                <a:off x="5296291" y="213120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lvl="0" algn="ctr"/>
                <a:r>
                  <a:rPr lang="zh-CN" altLang="en-US" sz="1050" dirty="0">
                    <a:solidFill>
                      <a:srgbClr val="000000"/>
                    </a:solidFill>
                  </a:rPr>
                  <a:t>起始块号</a:t>
                </a:r>
                <a:endParaRPr lang="en-CN" sz="1100" dirty="0">
                  <a:solidFill>
                    <a:srgbClr val="000000"/>
                  </a:solidFill>
                </a:endParaRPr>
              </a:p>
            </p:txBody>
          </p:sp>
          <p:sp>
            <p:nvSpPr>
              <p:cNvPr id="114" name="Rectangle 113">
                <a:extLst>
                  <a:ext uri="{FF2B5EF4-FFF2-40B4-BE49-F238E27FC236}">
                    <a16:creationId xmlns:a16="http://schemas.microsoft.com/office/drawing/2014/main" id="{B683F6F5-3FBC-204F-B20A-BD934F51C615}"/>
                  </a:ext>
                </a:extLst>
              </p:cNvPr>
              <p:cNvSpPr/>
              <p:nvPr/>
            </p:nvSpPr>
            <p:spPr>
              <a:xfrm>
                <a:off x="5296291" y="2315224"/>
                <a:ext cx="787876" cy="184020"/>
              </a:xfrm>
              <a:prstGeom prst="rect">
                <a:avLst/>
              </a:prstGeom>
              <a:ln w="6350"/>
            </p:spPr>
            <p:style>
              <a:lnRef idx="2">
                <a:schemeClr val="dk1"/>
              </a:lnRef>
              <a:fillRef idx="1">
                <a:schemeClr val="lt1"/>
              </a:fillRef>
              <a:effectRef idx="0">
                <a:schemeClr val="dk1"/>
              </a:effectRef>
              <a:fontRef idx="minor">
                <a:schemeClr val="dk1"/>
              </a:fontRef>
            </p:style>
            <p:txBody>
              <a:bodyPr wrap="none" rtlCol="0" anchor="ctr"/>
              <a:lstStyle/>
              <a:p>
                <a:pPr algn="ctr"/>
                <a:r>
                  <a:rPr lang="zh-CN" altLang="en-US" sz="1100" dirty="0"/>
                  <a:t>长度</a:t>
                </a:r>
                <a:endParaRPr lang="en-CN" sz="1100" dirty="0"/>
              </a:p>
            </p:txBody>
          </p:sp>
          <p:sp>
            <p:nvSpPr>
              <p:cNvPr id="115" name="Rectangle 114">
                <a:extLst>
                  <a:ext uri="{FF2B5EF4-FFF2-40B4-BE49-F238E27FC236}">
                    <a16:creationId xmlns:a16="http://schemas.microsoft.com/office/drawing/2014/main" id="{0BF77CDC-EAE6-AA4E-9A74-94EDE00F9C67}"/>
                  </a:ext>
                </a:extLst>
              </p:cNvPr>
              <p:cNvSpPr/>
              <p:nvPr/>
            </p:nvSpPr>
            <p:spPr>
              <a:xfrm>
                <a:off x="5295094" y="1391624"/>
                <a:ext cx="787876" cy="555559"/>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116" name="Rectangle 115">
                <a:extLst>
                  <a:ext uri="{FF2B5EF4-FFF2-40B4-BE49-F238E27FC236}">
                    <a16:creationId xmlns:a16="http://schemas.microsoft.com/office/drawing/2014/main" id="{E7C6DA7D-8927-4840-AB07-0D1B85C9B371}"/>
                  </a:ext>
                </a:extLst>
              </p:cNvPr>
              <p:cNvSpPr/>
              <p:nvPr/>
            </p:nvSpPr>
            <p:spPr>
              <a:xfrm>
                <a:off x="5293896" y="1947183"/>
                <a:ext cx="787876" cy="555559"/>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p>
            </p:txBody>
          </p:sp>
          <p:sp>
            <p:nvSpPr>
              <p:cNvPr id="117" name="Rectangle 116">
                <a:extLst>
                  <a:ext uri="{FF2B5EF4-FFF2-40B4-BE49-F238E27FC236}">
                    <a16:creationId xmlns:a16="http://schemas.microsoft.com/office/drawing/2014/main" id="{1A7FF630-D6BC-9C43-A2A7-9A9A21A9BC52}"/>
                  </a:ext>
                </a:extLst>
              </p:cNvPr>
              <p:cNvSpPr/>
              <p:nvPr/>
            </p:nvSpPr>
            <p:spPr>
              <a:xfrm>
                <a:off x="5293896" y="2510958"/>
                <a:ext cx="787876" cy="438121"/>
              </a:xfrm>
              <a:prstGeom prst="rect">
                <a:avLst/>
              </a:prstGeom>
              <a:noFill/>
            </p:spPr>
            <p:style>
              <a:lnRef idx="2">
                <a:schemeClr val="dk1"/>
              </a:lnRef>
              <a:fillRef idx="1">
                <a:schemeClr val="lt1"/>
              </a:fillRef>
              <a:effectRef idx="0">
                <a:schemeClr val="dk1"/>
              </a:effectRef>
              <a:fontRef idx="minor">
                <a:schemeClr val="dk1"/>
              </a:fontRef>
            </p:style>
            <p:txBody>
              <a:bodyPr wrap="none" rtlCol="0" anchor="ctr"/>
              <a:lstStyle/>
              <a:p>
                <a:pPr algn="ctr"/>
                <a:r>
                  <a:rPr lang="en-US" altLang="zh-CN" sz="1100" dirty="0"/>
                  <a:t>…</a:t>
                </a:r>
                <a:endParaRPr lang="en-CN" sz="1100" dirty="0"/>
              </a:p>
            </p:txBody>
          </p:sp>
        </p:grpSp>
        <p:cxnSp>
          <p:nvCxnSpPr>
            <p:cNvPr id="102" name="Curved Connector 101">
              <a:extLst>
                <a:ext uri="{FF2B5EF4-FFF2-40B4-BE49-F238E27FC236}">
                  <a16:creationId xmlns:a16="http://schemas.microsoft.com/office/drawing/2014/main" id="{A1747E8B-469B-DD4B-9664-FDA94F4F19B2}"/>
                </a:ext>
              </a:extLst>
            </p:cNvPr>
            <p:cNvCxnSpPr>
              <a:cxnSpLocks/>
              <a:stCxn id="81" idx="3"/>
              <a:endCxn id="108" idx="1"/>
            </p:cNvCxnSpPr>
            <p:nvPr/>
          </p:nvCxnSpPr>
          <p:spPr>
            <a:xfrm>
              <a:off x="5008037" y="2818586"/>
              <a:ext cx="700838" cy="650344"/>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Rectangle 103">
              <a:extLst>
                <a:ext uri="{FF2B5EF4-FFF2-40B4-BE49-F238E27FC236}">
                  <a16:creationId xmlns:a16="http://schemas.microsoft.com/office/drawing/2014/main" id="{1B71974E-6607-EB42-BA8B-7F5E22D6A333}"/>
                </a:ext>
              </a:extLst>
            </p:cNvPr>
            <p:cNvSpPr/>
            <p:nvPr/>
          </p:nvSpPr>
          <p:spPr>
            <a:xfrm>
              <a:off x="7264965" y="4548295"/>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05" name="Rectangle 104">
              <a:extLst>
                <a:ext uri="{FF2B5EF4-FFF2-40B4-BE49-F238E27FC236}">
                  <a16:creationId xmlns:a16="http://schemas.microsoft.com/office/drawing/2014/main" id="{5901935A-C4EA-AE4C-82B2-1CFC76D18E50}"/>
                </a:ext>
              </a:extLst>
            </p:cNvPr>
            <p:cNvSpPr/>
            <p:nvPr/>
          </p:nvSpPr>
          <p:spPr>
            <a:xfrm>
              <a:off x="7808063" y="4548295"/>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sp>
          <p:nvSpPr>
            <p:cNvPr id="106" name="Rectangle 105">
              <a:extLst>
                <a:ext uri="{FF2B5EF4-FFF2-40B4-BE49-F238E27FC236}">
                  <a16:creationId xmlns:a16="http://schemas.microsoft.com/office/drawing/2014/main" id="{F9A2E244-208B-BB47-A6B5-8E1932583703}"/>
                </a:ext>
              </a:extLst>
            </p:cNvPr>
            <p:cNvSpPr/>
            <p:nvPr/>
          </p:nvSpPr>
          <p:spPr>
            <a:xfrm>
              <a:off x="8351161" y="4548295"/>
              <a:ext cx="543099" cy="4205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100" dirty="0"/>
                <a:t>数据块</a:t>
              </a:r>
              <a:endParaRPr lang="en-CN" sz="1100" dirty="0"/>
            </a:p>
          </p:txBody>
        </p:sp>
        <p:cxnSp>
          <p:nvCxnSpPr>
            <p:cNvPr id="107" name="Curved Connector 106">
              <a:extLst>
                <a:ext uri="{FF2B5EF4-FFF2-40B4-BE49-F238E27FC236}">
                  <a16:creationId xmlns:a16="http://schemas.microsoft.com/office/drawing/2014/main" id="{ECDC2629-3A1E-CB49-81E7-F9D1D73F2C13}"/>
                </a:ext>
              </a:extLst>
            </p:cNvPr>
            <p:cNvCxnSpPr>
              <a:cxnSpLocks/>
              <a:stCxn id="113" idx="3"/>
              <a:endCxn id="104" idx="1"/>
            </p:cNvCxnSpPr>
            <p:nvPr/>
          </p:nvCxnSpPr>
          <p:spPr>
            <a:xfrm>
              <a:off x="6496750" y="4204850"/>
              <a:ext cx="768215" cy="553723"/>
            </a:xfrm>
            <a:prstGeom prst="curved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78E2ADD4-0291-B347-AECD-B7F0B13162E4}"/>
                </a:ext>
              </a:extLst>
            </p:cNvPr>
            <p:cNvSpPr/>
            <p:nvPr/>
          </p:nvSpPr>
          <p:spPr>
            <a:xfrm>
              <a:off x="4336378" y="2164716"/>
              <a:ext cx="671659" cy="377840"/>
            </a:xfrm>
            <a:prstGeom prst="rect">
              <a:avLst/>
            </a:prstGeom>
            <a:noFill/>
            <a:ln>
              <a:solidFill>
                <a:srgbClr val="FF9300"/>
              </a:solidFill>
            </a:ln>
          </p:spPr>
          <p:style>
            <a:lnRef idx="2">
              <a:schemeClr val="dk1"/>
            </a:lnRef>
            <a:fillRef idx="1">
              <a:schemeClr val="lt1"/>
            </a:fillRef>
            <a:effectRef idx="0">
              <a:schemeClr val="dk1"/>
            </a:effectRef>
            <a:fontRef idx="minor">
              <a:schemeClr val="dk1"/>
            </a:fontRef>
          </p:style>
          <p:txBody>
            <a:bodyPr wrap="none" rtlCol="0" anchor="ctr"/>
            <a:lstStyle/>
            <a:p>
              <a:pPr algn="ctr"/>
              <a:endParaRPr lang="en-CN" sz="1100" dirty="0">
                <a:solidFill>
                  <a:srgbClr val="FF9300"/>
                </a:solidFill>
              </a:endParaRPr>
            </a:p>
          </p:txBody>
        </p:sp>
      </p:grpSp>
      <p:sp>
        <p:nvSpPr>
          <p:cNvPr id="132" name="Rounded Rectangle 131">
            <a:extLst>
              <a:ext uri="{FF2B5EF4-FFF2-40B4-BE49-F238E27FC236}">
                <a16:creationId xmlns:a16="http://schemas.microsoft.com/office/drawing/2014/main" id="{1FEF24FC-3528-A04E-B43B-7B37FCAB2BDD}"/>
              </a:ext>
            </a:extLst>
          </p:cNvPr>
          <p:cNvSpPr/>
          <p:nvPr/>
        </p:nvSpPr>
        <p:spPr>
          <a:xfrm>
            <a:off x="4932040" y="553244"/>
            <a:ext cx="3888432" cy="2474434"/>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
        <p:nvSpPr>
          <p:cNvPr id="133" name="TextBox 132">
            <a:extLst>
              <a:ext uri="{FF2B5EF4-FFF2-40B4-BE49-F238E27FC236}">
                <a16:creationId xmlns:a16="http://schemas.microsoft.com/office/drawing/2014/main" id="{5F4EB0B2-9078-A34C-9F20-726D6ED505A2}"/>
              </a:ext>
            </a:extLst>
          </p:cNvPr>
          <p:cNvSpPr txBox="1"/>
          <p:nvPr/>
        </p:nvSpPr>
        <p:spPr>
          <a:xfrm>
            <a:off x="5139257" y="602291"/>
            <a:ext cx="543739" cy="369332"/>
          </a:xfrm>
          <a:prstGeom prst="rect">
            <a:avLst/>
          </a:prstGeom>
          <a:noFill/>
        </p:spPr>
        <p:txBody>
          <a:bodyPr wrap="none" rtlCol="0">
            <a:spAutoFit/>
          </a:bodyPr>
          <a:lstStyle/>
          <a:p>
            <a:r>
              <a:rPr lang="zh-CN" altLang="en-CN" dirty="0">
                <a:solidFill>
                  <a:srgbClr val="C00000"/>
                </a:solidFill>
              </a:rPr>
              <a:t>全</a:t>
            </a:r>
            <a:r>
              <a:rPr lang="en-US" altLang="zh-CN" dirty="0">
                <a:solidFill>
                  <a:srgbClr val="C00000"/>
                </a:solidFill>
              </a:rPr>
              <a:t>0</a:t>
            </a:r>
            <a:endParaRPr lang="en-CN" dirty="0">
              <a:solidFill>
                <a:srgbClr val="C00000"/>
              </a:solidFill>
            </a:endParaRPr>
          </a:p>
        </p:txBody>
      </p:sp>
      <p:sp>
        <p:nvSpPr>
          <p:cNvPr id="63" name="TextBox 62">
            <a:extLst>
              <a:ext uri="{FF2B5EF4-FFF2-40B4-BE49-F238E27FC236}">
                <a16:creationId xmlns:a16="http://schemas.microsoft.com/office/drawing/2014/main" id="{0A182C4F-24A9-3841-AD85-62804D77B3CE}"/>
              </a:ext>
            </a:extLst>
          </p:cNvPr>
          <p:cNvSpPr txBox="1"/>
          <p:nvPr/>
        </p:nvSpPr>
        <p:spPr>
          <a:xfrm>
            <a:off x="4032314" y="1944849"/>
            <a:ext cx="1005403" cy="369332"/>
          </a:xfrm>
          <a:prstGeom prst="rect">
            <a:avLst/>
          </a:prstGeom>
          <a:noFill/>
        </p:spPr>
        <p:txBody>
          <a:bodyPr wrap="none" rtlCol="0">
            <a:spAutoFit/>
          </a:bodyPr>
          <a:lstStyle/>
          <a:p>
            <a:r>
              <a:rPr lang="zh-CN" altLang="en-US" b="1" dirty="0">
                <a:solidFill>
                  <a:srgbClr val="FF9300"/>
                </a:solidFill>
              </a:rPr>
              <a:t>此段</a:t>
            </a:r>
            <a:r>
              <a:rPr lang="zh-CN" altLang="en-CN" b="1" dirty="0">
                <a:solidFill>
                  <a:srgbClr val="FF9300"/>
                </a:solidFill>
              </a:rPr>
              <a:t>全</a:t>
            </a:r>
            <a:r>
              <a:rPr lang="en-US" altLang="zh-CN" b="1" dirty="0">
                <a:solidFill>
                  <a:srgbClr val="FF9300"/>
                </a:solidFill>
              </a:rPr>
              <a:t>0</a:t>
            </a:r>
            <a:endParaRPr lang="en-CN" b="1" dirty="0">
              <a:solidFill>
                <a:srgbClr val="FF9300"/>
              </a:solidFill>
            </a:endParaRPr>
          </a:p>
        </p:txBody>
      </p:sp>
    </p:spTree>
    <p:extLst>
      <p:ext uri="{BB962C8B-B14F-4D97-AF65-F5344CB8AC3E}">
        <p14:creationId xmlns:p14="http://schemas.microsoft.com/office/powerpoint/2010/main" val="1315292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10F05-888C-F24D-8E72-B60DDBEB33EB}"/>
              </a:ext>
            </a:extLst>
          </p:cNvPr>
          <p:cNvSpPr>
            <a:spLocks noGrp="1"/>
          </p:cNvSpPr>
          <p:nvPr>
            <p:ph type="title"/>
          </p:nvPr>
        </p:nvSpPr>
        <p:spPr/>
        <p:txBody>
          <a:bodyPr/>
          <a:lstStyle/>
          <a:p>
            <a:r>
              <a:rPr lang="zh-CN" altLang="en-US" dirty="0"/>
              <a:t>文件系统的一些其他高级功能</a:t>
            </a:r>
            <a:endParaRPr lang="en-CN" dirty="0"/>
          </a:p>
        </p:txBody>
      </p:sp>
      <p:sp>
        <p:nvSpPr>
          <p:cNvPr id="3" name="Content Placeholder 2">
            <a:extLst>
              <a:ext uri="{FF2B5EF4-FFF2-40B4-BE49-F238E27FC236}">
                <a16:creationId xmlns:a16="http://schemas.microsoft.com/office/drawing/2014/main" id="{1F1B5394-56DF-064F-96A1-3CFECB778AC7}"/>
              </a:ext>
            </a:extLst>
          </p:cNvPr>
          <p:cNvSpPr>
            <a:spLocks noGrp="1"/>
          </p:cNvSpPr>
          <p:nvPr>
            <p:ph idx="1"/>
          </p:nvPr>
        </p:nvSpPr>
        <p:spPr/>
        <p:txBody>
          <a:bodyPr>
            <a:normAutofit/>
          </a:bodyPr>
          <a:lstStyle/>
          <a:p>
            <a:r>
              <a:rPr lang="zh-CN" altLang="en-CN" b="0" dirty="0"/>
              <a:t>加密</a:t>
            </a:r>
            <a:endParaRPr lang="en-US" altLang="zh-CN" b="0" dirty="0"/>
          </a:p>
          <a:p>
            <a:r>
              <a:rPr lang="zh-CN" altLang="en-US" b="0" dirty="0"/>
              <a:t>压缩</a:t>
            </a:r>
            <a:endParaRPr lang="en-US" altLang="zh-CN" b="0" dirty="0"/>
          </a:p>
          <a:p>
            <a:r>
              <a:rPr lang="zh-CN" altLang="en-US" b="0" dirty="0"/>
              <a:t>去重</a:t>
            </a:r>
            <a:endParaRPr lang="en-US" altLang="zh-CN" b="0" dirty="0"/>
          </a:p>
          <a:p>
            <a:r>
              <a:rPr lang="zh-CN" altLang="en-US" b="0" dirty="0"/>
              <a:t>数据和元数据校验</a:t>
            </a:r>
            <a:endParaRPr lang="en-US" altLang="zh-CN" b="0" dirty="0"/>
          </a:p>
          <a:p>
            <a:r>
              <a:rPr lang="zh-CN" altLang="en-US" b="0" dirty="0"/>
              <a:t>配额管理（</a:t>
            </a:r>
            <a:r>
              <a:rPr lang="en-US" altLang="zh-CN" b="0" dirty="0"/>
              <a:t>QoS</a:t>
            </a:r>
            <a:r>
              <a:rPr lang="zh-CN" altLang="en-US" b="0" dirty="0"/>
              <a:t>）</a:t>
            </a:r>
          </a:p>
        </p:txBody>
      </p:sp>
      <p:sp>
        <p:nvSpPr>
          <p:cNvPr id="4" name="Slide Number Placeholder 3">
            <a:extLst>
              <a:ext uri="{FF2B5EF4-FFF2-40B4-BE49-F238E27FC236}">
                <a16:creationId xmlns:a16="http://schemas.microsoft.com/office/drawing/2014/main" id="{17FD12E7-EF97-6745-AD9E-F6A1E8614BD6}"/>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Footer Placeholder 4">
            <a:extLst>
              <a:ext uri="{FF2B5EF4-FFF2-40B4-BE49-F238E27FC236}">
                <a16:creationId xmlns:a16="http://schemas.microsoft.com/office/drawing/2014/main" id="{24B9515A-1B60-D943-988B-BEFE8FB6541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Content Placeholder 2">
            <a:extLst>
              <a:ext uri="{FF2B5EF4-FFF2-40B4-BE49-F238E27FC236}">
                <a16:creationId xmlns:a16="http://schemas.microsoft.com/office/drawing/2014/main" id="{056EC687-3798-A14E-869D-1C56006C015D}"/>
              </a:ext>
            </a:extLst>
          </p:cNvPr>
          <p:cNvSpPr txBox="1">
            <a:spLocks/>
          </p:cNvSpPr>
          <p:nvPr/>
        </p:nvSpPr>
        <p:spPr>
          <a:xfrm>
            <a:off x="4571999" y="1335243"/>
            <a:ext cx="4214125"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b="0" dirty="0"/>
              <a:t>软件</a:t>
            </a:r>
            <a:r>
              <a:rPr lang="en-US" altLang="zh-CN" b="0" dirty="0"/>
              <a:t>RAID</a:t>
            </a:r>
          </a:p>
          <a:p>
            <a:r>
              <a:rPr lang="zh-CN" altLang="en-US" b="0" dirty="0"/>
              <a:t>多设备管理</a:t>
            </a:r>
            <a:endParaRPr lang="en-US" altLang="zh-CN" b="0" dirty="0"/>
          </a:p>
          <a:p>
            <a:r>
              <a:rPr lang="zh-CN" altLang="en-CN" b="0" dirty="0"/>
              <a:t>子卷</a:t>
            </a:r>
            <a:endParaRPr lang="en-US" altLang="zh-CN" b="0" dirty="0"/>
          </a:p>
          <a:p>
            <a:r>
              <a:rPr lang="zh-CN" altLang="en-CN" b="0" dirty="0"/>
              <a:t>事务</a:t>
            </a:r>
            <a:r>
              <a:rPr lang="zh-CN" altLang="en-US" b="0" dirty="0"/>
              <a:t>（</a:t>
            </a:r>
            <a:r>
              <a:rPr lang="en-US" altLang="zh-CN" b="0" dirty="0"/>
              <a:t>Transaction</a:t>
            </a:r>
            <a:r>
              <a:rPr lang="zh-CN" altLang="en-US" b="0" dirty="0"/>
              <a:t>）</a:t>
            </a:r>
            <a:endParaRPr lang="en-CN" b="0" dirty="0"/>
          </a:p>
        </p:txBody>
      </p:sp>
    </p:spTree>
    <p:extLst>
      <p:ext uri="{BB962C8B-B14F-4D97-AF65-F5344CB8AC3E}">
        <p14:creationId xmlns:p14="http://schemas.microsoft.com/office/powerpoint/2010/main" val="3095876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27C28856-2D90-CE46-836D-017828F01B66}"/>
              </a:ext>
            </a:extLst>
          </p:cNvPr>
          <p:cNvSpPr>
            <a:spLocks noGrp="1"/>
          </p:cNvSpPr>
          <p:nvPr>
            <p:ph type="title"/>
          </p:nvPr>
        </p:nvSpPr>
        <p:spPr/>
        <p:txBody>
          <a:bodyPr/>
          <a:lstStyle/>
          <a:p>
            <a:r>
              <a:rPr kumimoji="1" lang="zh-CN" altLang="en-US" dirty="0"/>
              <a:t>文件系统的多种形式</a:t>
            </a:r>
          </a:p>
        </p:txBody>
      </p:sp>
      <p:sp>
        <p:nvSpPr>
          <p:cNvPr id="7" name="文本占位符 6">
            <a:extLst>
              <a:ext uri="{FF2B5EF4-FFF2-40B4-BE49-F238E27FC236}">
                <a16:creationId xmlns:a16="http://schemas.microsoft.com/office/drawing/2014/main" id="{713B7186-859B-AB4A-BB7F-2FD303FB7809}"/>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17DCA9B2-4AB5-854C-9F91-49BAA8386AD1}"/>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页脚占位符 4">
            <a:extLst>
              <a:ext uri="{FF2B5EF4-FFF2-40B4-BE49-F238E27FC236}">
                <a16:creationId xmlns:a16="http://schemas.microsoft.com/office/drawing/2014/main" id="{85F82379-D86E-0049-B5A3-A4256E2F81E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9026212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309EE-CEE5-034D-8F4A-EB1E57508895}"/>
              </a:ext>
            </a:extLst>
          </p:cNvPr>
          <p:cNvSpPr>
            <a:spLocks noGrp="1"/>
          </p:cNvSpPr>
          <p:nvPr>
            <p:ph type="title"/>
          </p:nvPr>
        </p:nvSpPr>
        <p:spPr/>
        <p:txBody>
          <a:bodyPr/>
          <a:lstStyle/>
          <a:p>
            <a:r>
              <a:rPr lang="en-US" altLang="zh-CN" dirty="0"/>
              <a:t>GIT</a:t>
            </a:r>
            <a:r>
              <a:rPr lang="zh-CN" altLang="en-US" dirty="0"/>
              <a:t>：内容寻址文件系统</a:t>
            </a:r>
            <a:endParaRPr lang="en-CN" dirty="0"/>
          </a:p>
        </p:txBody>
      </p:sp>
      <p:sp>
        <p:nvSpPr>
          <p:cNvPr id="3" name="Content Placeholder 2">
            <a:extLst>
              <a:ext uri="{FF2B5EF4-FFF2-40B4-BE49-F238E27FC236}">
                <a16:creationId xmlns:a16="http://schemas.microsoft.com/office/drawing/2014/main" id="{64C308BE-0F67-B04F-854D-3362D91E6407}"/>
              </a:ext>
            </a:extLst>
          </p:cNvPr>
          <p:cNvSpPr>
            <a:spLocks noGrp="1"/>
          </p:cNvSpPr>
          <p:nvPr>
            <p:ph idx="1"/>
          </p:nvPr>
        </p:nvSpPr>
        <p:spPr/>
        <p:txBody>
          <a:bodyPr>
            <a:normAutofit lnSpcReduction="10000"/>
          </a:bodyPr>
          <a:lstStyle/>
          <a:p>
            <a:r>
              <a:rPr lang="zh-CN" altLang="en-CN" b="0" dirty="0"/>
              <a:t>表面上</a:t>
            </a:r>
            <a:r>
              <a:rPr lang="en-US" altLang="zh-CN" b="0" dirty="0"/>
              <a:t>GIT</a:t>
            </a:r>
            <a:r>
              <a:rPr lang="zh-CN" altLang="en-US" b="0" dirty="0"/>
              <a:t>是一个版本控制软件</a:t>
            </a:r>
            <a:endParaRPr lang="en-US" altLang="zh-CN" b="0" dirty="0"/>
          </a:p>
          <a:p>
            <a:r>
              <a:rPr lang="zh-CN" altLang="en-US" b="0" dirty="0"/>
              <a:t>但实际上</a:t>
            </a:r>
            <a:r>
              <a:rPr lang="en-US" altLang="zh-CN" b="0" dirty="0"/>
              <a:t>GIT</a:t>
            </a:r>
            <a:r>
              <a:rPr lang="zh-CN" altLang="en-US" b="0" dirty="0"/>
              <a:t>是一个</a:t>
            </a:r>
            <a:r>
              <a:rPr lang="zh-CN" altLang="en-US" b="0" dirty="0">
                <a:solidFill>
                  <a:schemeClr val="accent1"/>
                </a:solidFill>
              </a:rPr>
              <a:t>内容寻址</a:t>
            </a:r>
            <a:r>
              <a:rPr lang="zh-CN" altLang="en-US" b="0" dirty="0"/>
              <a:t>的文件系统！</a:t>
            </a:r>
            <a:endParaRPr lang="en-US" altLang="zh-CN" b="0" dirty="0"/>
          </a:p>
          <a:p>
            <a:r>
              <a:rPr lang="zh-CN" altLang="en-US" b="0" dirty="0"/>
              <a:t>其核心是一个键值存储</a:t>
            </a:r>
            <a:endParaRPr lang="en-US" altLang="zh-CN" b="0" dirty="0"/>
          </a:p>
          <a:p>
            <a:pPr lvl="1"/>
            <a:r>
              <a:rPr lang="zh-CN" altLang="en-US" dirty="0">
                <a:latin typeface="Courier" pitchFamily="2" charset="0"/>
              </a:rPr>
              <a:t>值：</a:t>
            </a:r>
            <a:r>
              <a:rPr lang="zh-CN" altLang="en-CN" dirty="0">
                <a:latin typeface="Courier" pitchFamily="2" charset="0"/>
              </a:rPr>
              <a:t>加入</a:t>
            </a:r>
            <a:r>
              <a:rPr lang="en-US" altLang="zh-CN" dirty="0"/>
              <a:t>GIT</a:t>
            </a:r>
            <a:r>
              <a:rPr lang="zh-CN" altLang="en-US" dirty="0">
                <a:latin typeface="Courier" pitchFamily="2" charset="0"/>
              </a:rPr>
              <a:t>的数据</a:t>
            </a:r>
            <a:endParaRPr lang="en-US" altLang="zh-CN" dirty="0">
              <a:latin typeface="Courier" pitchFamily="2" charset="0"/>
            </a:endParaRPr>
          </a:p>
          <a:p>
            <a:pPr lvl="1"/>
            <a:r>
              <a:rPr lang="zh-CN" altLang="en-US" dirty="0">
                <a:latin typeface="Courier" pitchFamily="2" charset="0"/>
              </a:rPr>
              <a:t>键：</a:t>
            </a:r>
            <a:r>
              <a:rPr lang="zh-CN" altLang="en-US" dirty="0"/>
              <a:t>通过数据内容算出的</a:t>
            </a:r>
            <a:r>
              <a:rPr lang="en-US" altLang="zh-CN" dirty="0"/>
              <a:t>40</a:t>
            </a:r>
            <a:r>
              <a:rPr lang="zh-CN" altLang="en-US" dirty="0"/>
              <a:t>个字符</a:t>
            </a:r>
            <a:r>
              <a:rPr lang="en-US" altLang="zh-CN" dirty="0"/>
              <a:t>SHA-1</a:t>
            </a:r>
            <a:r>
              <a:rPr lang="zh-CN" altLang="en-US" dirty="0"/>
              <a:t>校验和</a:t>
            </a:r>
            <a:endParaRPr lang="en-US" altLang="zh-CN" dirty="0"/>
          </a:p>
          <a:p>
            <a:pPr lvl="1"/>
            <a:r>
              <a:rPr lang="zh-CN" altLang="en-US" dirty="0"/>
              <a:t>前</a:t>
            </a:r>
            <a:r>
              <a:rPr lang="en-US" altLang="zh-CN" dirty="0"/>
              <a:t>2</a:t>
            </a:r>
            <a:r>
              <a:rPr lang="zh-CN" altLang="en-US" dirty="0"/>
              <a:t>个字符作为子目录名，后</a:t>
            </a:r>
            <a:r>
              <a:rPr lang="en-US" altLang="zh-CN" dirty="0"/>
              <a:t>38</a:t>
            </a:r>
            <a:r>
              <a:rPr lang="zh-CN" altLang="en-US" dirty="0"/>
              <a:t>个字符作为文件名</a:t>
            </a:r>
            <a:endParaRPr lang="en-US" altLang="zh-CN" dirty="0">
              <a:latin typeface="Courier" pitchFamily="2" charset="0"/>
            </a:endParaRPr>
          </a:p>
          <a:p>
            <a:pPr lvl="1"/>
            <a:r>
              <a:rPr lang="zh-CN" altLang="en-US" dirty="0">
                <a:latin typeface="Courier" pitchFamily="2" charset="0"/>
              </a:rPr>
              <a:t>所有对象均保存在</a:t>
            </a:r>
            <a:r>
              <a:rPr lang="en-US" altLang="zh-CN" dirty="0">
                <a:latin typeface="Courier" pitchFamily="2" charset="0"/>
              </a:rPr>
              <a:t>.git/objects</a:t>
            </a:r>
            <a:r>
              <a:rPr lang="zh-CN" altLang="en-US" dirty="0">
                <a:latin typeface="Courier" pitchFamily="2" charset="0"/>
              </a:rPr>
              <a:t>目录中</a:t>
            </a:r>
            <a:r>
              <a:rPr lang="zh-CN" altLang="en-US" dirty="0"/>
              <a:t>（文件内容会被压缩）</a:t>
            </a:r>
            <a:endParaRPr lang="en-US" altLang="zh-CN" dirty="0"/>
          </a:p>
          <a:p>
            <a:r>
              <a:rPr lang="zh-CN" altLang="en-US" b="0" dirty="0"/>
              <a:t>是一个</a:t>
            </a:r>
            <a:r>
              <a:rPr lang="en-US" altLang="zh-CN" b="0" dirty="0"/>
              <a:t>“</a:t>
            </a:r>
            <a:r>
              <a:rPr lang="zh-CN" altLang="en-US" b="0" dirty="0">
                <a:solidFill>
                  <a:schemeClr val="accent1"/>
                </a:solidFill>
              </a:rPr>
              <a:t>文件系统之上的文件系统</a:t>
            </a:r>
            <a:r>
              <a:rPr lang="en-US" altLang="zh-CN" b="0" dirty="0"/>
              <a:t>”</a:t>
            </a:r>
          </a:p>
        </p:txBody>
      </p:sp>
      <p:sp>
        <p:nvSpPr>
          <p:cNvPr id="4" name="Slide Number Placeholder 3">
            <a:extLst>
              <a:ext uri="{FF2B5EF4-FFF2-40B4-BE49-F238E27FC236}">
                <a16:creationId xmlns:a16="http://schemas.microsoft.com/office/drawing/2014/main" id="{DBB06506-B241-944E-8470-7800C72C4525}"/>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Footer Placeholder 4">
            <a:extLst>
              <a:ext uri="{FF2B5EF4-FFF2-40B4-BE49-F238E27FC236}">
                <a16:creationId xmlns:a16="http://schemas.microsoft.com/office/drawing/2014/main" id="{906D8F59-BED2-954F-BACB-9E46804F3AA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580506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93C79-AAB1-E840-A7E1-3E72ACCB75AD}"/>
              </a:ext>
            </a:extLst>
          </p:cNvPr>
          <p:cNvSpPr>
            <a:spLocks noGrp="1"/>
          </p:cNvSpPr>
          <p:nvPr>
            <p:ph type="title"/>
          </p:nvPr>
        </p:nvSpPr>
        <p:spPr/>
        <p:txBody>
          <a:bodyPr/>
          <a:lstStyle/>
          <a:p>
            <a:r>
              <a:rPr lang="en-CN" dirty="0"/>
              <a:t>GIT</a:t>
            </a:r>
            <a:r>
              <a:rPr lang="zh-CN" altLang="en-CN" dirty="0"/>
              <a:t>对象</a:t>
            </a:r>
            <a:r>
              <a:rPr lang="zh-CN" altLang="en-US" dirty="0"/>
              <a:t>与文件系统</a:t>
            </a:r>
            <a:endParaRPr lang="en-CN" dirty="0"/>
          </a:p>
        </p:txBody>
      </p:sp>
      <p:sp>
        <p:nvSpPr>
          <p:cNvPr id="3" name="Content Placeholder 2">
            <a:extLst>
              <a:ext uri="{FF2B5EF4-FFF2-40B4-BE49-F238E27FC236}">
                <a16:creationId xmlns:a16="http://schemas.microsoft.com/office/drawing/2014/main" id="{39EFE3D4-0D4F-2848-A953-B0C957F317EA}"/>
              </a:ext>
            </a:extLst>
          </p:cNvPr>
          <p:cNvSpPr>
            <a:spLocks noGrp="1"/>
          </p:cNvSpPr>
          <p:nvPr>
            <p:ph idx="1"/>
          </p:nvPr>
        </p:nvSpPr>
        <p:spPr/>
        <p:txBody>
          <a:bodyPr>
            <a:normAutofit/>
          </a:bodyPr>
          <a:lstStyle/>
          <a:p>
            <a:r>
              <a:rPr lang="en-US" altLang="zh-CN" sz="2000" dirty="0"/>
              <a:t>BLOB</a:t>
            </a:r>
            <a:r>
              <a:rPr lang="zh-CN" altLang="en-US" sz="2000" dirty="0"/>
              <a:t>对象</a:t>
            </a:r>
            <a:r>
              <a:rPr lang="zh-CN" altLang="en-US" sz="2000" b="0" dirty="0"/>
              <a:t>：对应文件系统中的文件</a:t>
            </a:r>
            <a:br>
              <a:rPr lang="en-US" altLang="zh-CN" sz="2000" b="0" dirty="0"/>
            </a:br>
            <a:endParaRPr lang="en-US" altLang="zh-CN" sz="2000" b="0" dirty="0"/>
          </a:p>
          <a:p>
            <a:r>
              <a:rPr lang="zh-CN" altLang="en-CN" sz="2000" dirty="0"/>
              <a:t>树</a:t>
            </a:r>
            <a:r>
              <a:rPr lang="zh-CN" altLang="en-US" sz="2000" dirty="0"/>
              <a:t>对象</a:t>
            </a:r>
            <a:r>
              <a:rPr lang="zh-CN" altLang="en-US" sz="2000" b="0" dirty="0"/>
              <a:t>：对应文件系统中的目录</a:t>
            </a:r>
            <a:endParaRPr lang="en-US" altLang="zh-CN" sz="2000" b="0" dirty="0"/>
          </a:p>
          <a:p>
            <a:endParaRPr lang="en-US" sz="2000" b="0" dirty="0"/>
          </a:p>
          <a:p>
            <a:r>
              <a:rPr lang="zh-CN" altLang="en-US" sz="2000" dirty="0"/>
              <a:t>提交对象</a:t>
            </a:r>
            <a:endParaRPr lang="en-CN" sz="2000" dirty="0"/>
          </a:p>
        </p:txBody>
      </p:sp>
      <p:sp>
        <p:nvSpPr>
          <p:cNvPr id="4" name="Slide Number Placeholder 3">
            <a:extLst>
              <a:ext uri="{FF2B5EF4-FFF2-40B4-BE49-F238E27FC236}">
                <a16:creationId xmlns:a16="http://schemas.microsoft.com/office/drawing/2014/main" id="{3A321CE4-807B-4A4E-AC63-E7C0A836F057}"/>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Footer Placeholder 4">
            <a:extLst>
              <a:ext uri="{FF2B5EF4-FFF2-40B4-BE49-F238E27FC236}">
                <a16:creationId xmlns:a16="http://schemas.microsoft.com/office/drawing/2014/main" id="{860F1B5D-1769-A34D-8894-1F8178B1FB3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TextBox 6">
            <a:extLst>
              <a:ext uri="{FF2B5EF4-FFF2-40B4-BE49-F238E27FC236}">
                <a16:creationId xmlns:a16="http://schemas.microsoft.com/office/drawing/2014/main" id="{AEF92410-BC0A-3D46-91C9-2EB7BD837A7F}"/>
              </a:ext>
            </a:extLst>
          </p:cNvPr>
          <p:cNvSpPr txBox="1"/>
          <p:nvPr/>
        </p:nvSpPr>
        <p:spPr>
          <a:xfrm>
            <a:off x="744223" y="2628991"/>
            <a:ext cx="4567276" cy="507831"/>
          </a:xfrm>
          <a:prstGeom prst="rect">
            <a:avLst/>
          </a:prstGeom>
          <a:solidFill>
            <a:schemeClr val="accent6">
              <a:lumMod val="20000"/>
              <a:lumOff val="80000"/>
            </a:schemeClr>
          </a:solidFill>
        </p:spPr>
        <p:txBody>
          <a:bodyPr wrap="none" rtlCol="0">
            <a:spAutoFit/>
          </a:bodyPr>
          <a:lstStyle/>
          <a:p>
            <a:r>
              <a:rPr lang="en-US" sz="900" dirty="0">
                <a:latin typeface="Courier" pitchFamily="2" charset="0"/>
              </a:rPr>
              <a:t>040000 tree f0b50bef52478d42d68ff21914c430d8148f23cd	</a:t>
            </a:r>
            <a:r>
              <a:rPr lang="en-US" sz="900" dirty="0" err="1">
                <a:latin typeface="Courier" pitchFamily="2" charset="0"/>
              </a:rPr>
              <a:t>dir</a:t>
            </a:r>
            <a:endParaRPr lang="en-US" sz="900" dirty="0">
              <a:latin typeface="Courier" pitchFamily="2" charset="0"/>
            </a:endParaRPr>
          </a:p>
          <a:p>
            <a:r>
              <a:rPr lang="en-US" sz="900" dirty="0">
                <a:latin typeface="Courier" pitchFamily="2" charset="0"/>
              </a:rPr>
              <a:t>100644 blob eea465ab73dfb5cd24379efd61da949b3b5138ea	</a:t>
            </a:r>
            <a:r>
              <a:rPr lang="en-US" sz="900" dirty="0" err="1">
                <a:latin typeface="Courier" pitchFamily="2" charset="0"/>
              </a:rPr>
              <a:t>first.txt</a:t>
            </a:r>
            <a:endParaRPr lang="en-US" sz="900" dirty="0">
              <a:latin typeface="Courier" pitchFamily="2" charset="0"/>
            </a:endParaRPr>
          </a:p>
          <a:p>
            <a:r>
              <a:rPr lang="en-US" sz="900" dirty="0">
                <a:latin typeface="Courier" pitchFamily="2" charset="0"/>
              </a:rPr>
              <a:t>100644 blob 09511ef0b04fb20dd32f3cb090f9c6de49cd2627	</a:t>
            </a:r>
            <a:r>
              <a:rPr lang="en-US" sz="900" dirty="0" err="1">
                <a:latin typeface="Courier" pitchFamily="2" charset="0"/>
              </a:rPr>
              <a:t>second.txt</a:t>
            </a:r>
            <a:endParaRPr lang="en-CN" sz="900" dirty="0">
              <a:latin typeface="Courier" pitchFamily="2" charset="0"/>
            </a:endParaRPr>
          </a:p>
        </p:txBody>
      </p:sp>
      <p:sp>
        <p:nvSpPr>
          <p:cNvPr id="9" name="TextBox 8">
            <a:extLst>
              <a:ext uri="{FF2B5EF4-FFF2-40B4-BE49-F238E27FC236}">
                <a16:creationId xmlns:a16="http://schemas.microsoft.com/office/drawing/2014/main" id="{D10F2F88-DE74-364C-B72B-A33A286F8477}"/>
              </a:ext>
            </a:extLst>
          </p:cNvPr>
          <p:cNvSpPr txBox="1"/>
          <p:nvPr/>
        </p:nvSpPr>
        <p:spPr>
          <a:xfrm>
            <a:off x="755576" y="1811969"/>
            <a:ext cx="1976823" cy="230832"/>
          </a:xfrm>
          <a:prstGeom prst="rect">
            <a:avLst/>
          </a:prstGeom>
          <a:solidFill>
            <a:schemeClr val="accent6">
              <a:lumMod val="20000"/>
              <a:lumOff val="80000"/>
            </a:schemeClr>
          </a:solidFill>
        </p:spPr>
        <p:txBody>
          <a:bodyPr wrap="none" rtlCol="0">
            <a:spAutoFit/>
          </a:bodyPr>
          <a:lstStyle/>
          <a:p>
            <a:r>
              <a:rPr lang="en-US" sz="900" dirty="0">
                <a:latin typeface="Courier" pitchFamily="2" charset="0"/>
              </a:rPr>
              <a:t>first file with more words</a:t>
            </a:r>
            <a:endParaRPr lang="en-CN" sz="900" dirty="0">
              <a:latin typeface="Courier" pitchFamily="2" charset="0"/>
            </a:endParaRPr>
          </a:p>
        </p:txBody>
      </p:sp>
      <p:sp>
        <p:nvSpPr>
          <p:cNvPr id="10" name="TextBox 9">
            <a:extLst>
              <a:ext uri="{FF2B5EF4-FFF2-40B4-BE49-F238E27FC236}">
                <a16:creationId xmlns:a16="http://schemas.microsoft.com/office/drawing/2014/main" id="{77BA98AC-831A-6543-8C75-72D4A8527FF3}"/>
              </a:ext>
            </a:extLst>
          </p:cNvPr>
          <p:cNvSpPr txBox="1"/>
          <p:nvPr/>
        </p:nvSpPr>
        <p:spPr>
          <a:xfrm>
            <a:off x="725966" y="3727302"/>
            <a:ext cx="4389343" cy="923330"/>
          </a:xfrm>
          <a:prstGeom prst="rect">
            <a:avLst/>
          </a:prstGeom>
          <a:solidFill>
            <a:schemeClr val="accent6">
              <a:lumMod val="20000"/>
              <a:lumOff val="80000"/>
            </a:schemeClr>
          </a:solidFill>
        </p:spPr>
        <p:txBody>
          <a:bodyPr wrap="none" rtlCol="0">
            <a:spAutoFit/>
          </a:bodyPr>
          <a:lstStyle/>
          <a:p>
            <a:r>
              <a:rPr lang="en-US" sz="900" dirty="0">
                <a:latin typeface="Courier" pitchFamily="2" charset="0"/>
              </a:rPr>
              <a:t>tree befb5f375306393e542026391d95104579da48ce</a:t>
            </a:r>
          </a:p>
          <a:p>
            <a:r>
              <a:rPr lang="en-US" sz="900" dirty="0">
                <a:latin typeface="Courier" pitchFamily="2" charset="0"/>
              </a:rPr>
              <a:t>parent b2b1eda3c44d0a2cb10ad7f522ae78f9ded7e95e</a:t>
            </a:r>
          </a:p>
          <a:p>
            <a:r>
              <a:rPr lang="en-US" sz="900" dirty="0">
                <a:latin typeface="Courier" pitchFamily="2" charset="0"/>
              </a:rPr>
              <a:t>author </a:t>
            </a:r>
            <a:r>
              <a:rPr lang="en-US" altLang="zh-CN" sz="900" dirty="0">
                <a:latin typeface="Courier" pitchFamily="2" charset="0"/>
              </a:rPr>
              <a:t>IPADS</a:t>
            </a:r>
            <a:r>
              <a:rPr lang="zh-CN" altLang="en-US" sz="900" dirty="0">
                <a:latin typeface="Courier" pitchFamily="2" charset="0"/>
              </a:rPr>
              <a:t> </a:t>
            </a:r>
            <a:r>
              <a:rPr lang="en-US" sz="900" dirty="0">
                <a:latin typeface="Courier" pitchFamily="2" charset="0"/>
              </a:rPr>
              <a:t>&lt;</a:t>
            </a:r>
            <a:r>
              <a:rPr lang="en-US" altLang="zh-CN" sz="900" dirty="0" err="1">
                <a:latin typeface="Courier" pitchFamily="2" charset="0"/>
              </a:rPr>
              <a:t>ipads</a:t>
            </a:r>
            <a:r>
              <a:rPr lang="en-US" sz="900" dirty="0" err="1">
                <a:latin typeface="Courier" pitchFamily="2" charset="0"/>
              </a:rPr>
              <a:t>@</a:t>
            </a:r>
            <a:r>
              <a:rPr lang="en-US" altLang="zh-CN" sz="900" dirty="0" err="1">
                <a:latin typeface="Courier" pitchFamily="2" charset="0"/>
              </a:rPr>
              <a:t>ipads.se.sjtu</a:t>
            </a:r>
            <a:r>
              <a:rPr lang="en-US" sz="900" dirty="0" err="1">
                <a:latin typeface="Courier" pitchFamily="2" charset="0"/>
              </a:rPr>
              <a:t>.</a:t>
            </a:r>
            <a:r>
              <a:rPr lang="en-US" altLang="zh-CN" sz="900" dirty="0" err="1">
                <a:latin typeface="Courier" pitchFamily="2" charset="0"/>
              </a:rPr>
              <a:t>edu.cn</a:t>
            </a:r>
            <a:r>
              <a:rPr lang="en-US" sz="900" dirty="0">
                <a:latin typeface="Courier" pitchFamily="2" charset="0"/>
              </a:rPr>
              <a:t>&gt; 1587414317 +0800</a:t>
            </a:r>
          </a:p>
          <a:p>
            <a:r>
              <a:rPr lang="en-US" sz="900" dirty="0">
                <a:latin typeface="Courier" pitchFamily="2" charset="0"/>
              </a:rPr>
              <a:t>committer </a:t>
            </a:r>
            <a:r>
              <a:rPr lang="en-US" altLang="zh-CN" sz="900" dirty="0">
                <a:latin typeface="Courier" pitchFamily="2" charset="0"/>
              </a:rPr>
              <a:t>IPADS</a:t>
            </a:r>
            <a:r>
              <a:rPr lang="zh-CN" altLang="en-US" sz="900" dirty="0">
                <a:latin typeface="Courier" pitchFamily="2" charset="0"/>
              </a:rPr>
              <a:t> </a:t>
            </a:r>
            <a:r>
              <a:rPr lang="en-US" sz="900" dirty="0">
                <a:latin typeface="Courier" pitchFamily="2" charset="0"/>
              </a:rPr>
              <a:t>&lt;</a:t>
            </a:r>
            <a:r>
              <a:rPr lang="en-US" altLang="zh-CN" sz="900" dirty="0" err="1">
                <a:latin typeface="Courier" pitchFamily="2" charset="0"/>
              </a:rPr>
              <a:t>ipads</a:t>
            </a:r>
            <a:r>
              <a:rPr lang="en-US" sz="900" dirty="0" err="1">
                <a:latin typeface="Courier" pitchFamily="2" charset="0"/>
              </a:rPr>
              <a:t>@</a:t>
            </a:r>
            <a:r>
              <a:rPr lang="en-US" altLang="zh-CN" sz="900" dirty="0" err="1">
                <a:latin typeface="Courier" pitchFamily="2" charset="0"/>
              </a:rPr>
              <a:t>ipads.se.sjtu</a:t>
            </a:r>
            <a:r>
              <a:rPr lang="en-US" sz="900" dirty="0" err="1">
                <a:latin typeface="Courier" pitchFamily="2" charset="0"/>
              </a:rPr>
              <a:t>.</a:t>
            </a:r>
            <a:r>
              <a:rPr lang="en-US" altLang="zh-CN" sz="900" dirty="0" err="1">
                <a:latin typeface="Courier" pitchFamily="2" charset="0"/>
              </a:rPr>
              <a:t>edu.cn</a:t>
            </a:r>
            <a:r>
              <a:rPr lang="en-US" sz="900" dirty="0">
                <a:latin typeface="Courier" pitchFamily="2" charset="0"/>
              </a:rPr>
              <a:t>&gt; 1587414317 +0800</a:t>
            </a:r>
          </a:p>
          <a:p>
            <a:endParaRPr lang="en-US" sz="900" dirty="0">
              <a:latin typeface="Courier" pitchFamily="2" charset="0"/>
            </a:endParaRPr>
          </a:p>
          <a:p>
            <a:r>
              <a:rPr lang="en-US" sz="900" dirty="0">
                <a:latin typeface="Courier" pitchFamily="2" charset="0"/>
              </a:rPr>
              <a:t>third commit</a:t>
            </a:r>
            <a:endParaRPr lang="en-CN" sz="900" dirty="0">
              <a:latin typeface="Courier" pitchFamily="2" charset="0"/>
            </a:endParaRPr>
          </a:p>
        </p:txBody>
      </p:sp>
      <p:grpSp>
        <p:nvGrpSpPr>
          <p:cNvPr id="25" name="Group 24">
            <a:extLst>
              <a:ext uri="{FF2B5EF4-FFF2-40B4-BE49-F238E27FC236}">
                <a16:creationId xmlns:a16="http://schemas.microsoft.com/office/drawing/2014/main" id="{56311982-8CA0-8B46-938F-39D37FEA86A2}"/>
              </a:ext>
            </a:extLst>
          </p:cNvPr>
          <p:cNvGrpSpPr/>
          <p:nvPr/>
        </p:nvGrpSpPr>
        <p:grpSpPr>
          <a:xfrm>
            <a:off x="5055969" y="2061087"/>
            <a:ext cx="3690171" cy="2779346"/>
            <a:chOff x="464031" y="2175016"/>
            <a:chExt cx="3690171" cy="2779346"/>
          </a:xfrm>
        </p:grpSpPr>
        <p:sp>
          <p:nvSpPr>
            <p:cNvPr id="26" name="Rounded Rectangle 25">
              <a:extLst>
                <a:ext uri="{FF2B5EF4-FFF2-40B4-BE49-F238E27FC236}">
                  <a16:creationId xmlns:a16="http://schemas.microsoft.com/office/drawing/2014/main" id="{FA6DB510-6E8A-CA48-ABF6-2DCC78049AE3}"/>
                </a:ext>
              </a:extLst>
            </p:cNvPr>
            <p:cNvSpPr/>
            <p:nvPr/>
          </p:nvSpPr>
          <p:spPr>
            <a:xfrm>
              <a:off x="2656855" y="3175630"/>
              <a:ext cx="1224339" cy="544015"/>
            </a:xfrm>
            <a:prstGeom prst="round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f0b50b</a:t>
              </a:r>
            </a:p>
            <a:p>
              <a:pPr algn="ctr"/>
              <a:r>
                <a:rPr lang="zh-CN" altLang="en-US" sz="1200" dirty="0"/>
                <a:t>树对象</a:t>
              </a:r>
              <a:endParaRPr lang="en-US" altLang="zh-CN" sz="1200" dirty="0"/>
            </a:p>
          </p:txBody>
        </p:sp>
        <p:sp>
          <p:nvSpPr>
            <p:cNvPr id="27" name="Rounded Rectangle 26">
              <a:extLst>
                <a:ext uri="{FF2B5EF4-FFF2-40B4-BE49-F238E27FC236}">
                  <a16:creationId xmlns:a16="http://schemas.microsoft.com/office/drawing/2014/main" id="{3E5F7B04-3EE4-4747-AAD6-9F41C31CCA15}"/>
                </a:ext>
              </a:extLst>
            </p:cNvPr>
            <p:cNvSpPr/>
            <p:nvPr/>
          </p:nvSpPr>
          <p:spPr>
            <a:xfrm>
              <a:off x="1403648" y="2175016"/>
              <a:ext cx="1224339" cy="505287"/>
            </a:xfrm>
            <a:prstGeom prst="round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200" dirty="0"/>
                <a:t>befb5f</a:t>
              </a:r>
            </a:p>
            <a:p>
              <a:pPr algn="ctr"/>
              <a:r>
                <a:rPr lang="zh-CN" altLang="en-US" sz="1200" dirty="0"/>
                <a:t>树对象</a:t>
              </a:r>
              <a:endParaRPr lang="en-CN" sz="1200" dirty="0"/>
            </a:p>
          </p:txBody>
        </p:sp>
        <p:cxnSp>
          <p:nvCxnSpPr>
            <p:cNvPr id="28" name="Straight Arrow Connector 27">
              <a:extLst>
                <a:ext uri="{FF2B5EF4-FFF2-40B4-BE49-F238E27FC236}">
                  <a16:creationId xmlns:a16="http://schemas.microsoft.com/office/drawing/2014/main" id="{452E96A2-B35E-AF4C-8BF2-BBD4FA45B232}"/>
                </a:ext>
              </a:extLst>
            </p:cNvPr>
            <p:cNvCxnSpPr>
              <a:cxnSpLocks/>
              <a:stCxn id="27" idx="2"/>
              <a:endCxn id="26" idx="0"/>
            </p:cNvCxnSpPr>
            <p:nvPr/>
          </p:nvCxnSpPr>
          <p:spPr>
            <a:xfrm>
              <a:off x="2015818" y="2680303"/>
              <a:ext cx="1253207" cy="495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405F6F4-5DCB-BE4C-B321-DF34AF2B8564}"/>
                </a:ext>
              </a:extLst>
            </p:cNvPr>
            <p:cNvSpPr txBox="1"/>
            <p:nvPr/>
          </p:nvSpPr>
          <p:spPr>
            <a:xfrm>
              <a:off x="2558963" y="2842674"/>
              <a:ext cx="354584" cy="276999"/>
            </a:xfrm>
            <a:prstGeom prst="rect">
              <a:avLst/>
            </a:prstGeom>
            <a:solidFill>
              <a:schemeClr val="bg1"/>
            </a:solidFill>
            <a:ln>
              <a:noFill/>
            </a:ln>
          </p:spPr>
          <p:txBody>
            <a:bodyPr wrap="none" rtlCol="0">
              <a:spAutoFit/>
            </a:bodyPr>
            <a:lstStyle/>
            <a:p>
              <a:r>
                <a:rPr lang="en-CN" sz="1200" dirty="0"/>
                <a:t>dir</a:t>
              </a:r>
            </a:p>
          </p:txBody>
        </p:sp>
        <p:sp>
          <p:nvSpPr>
            <p:cNvPr id="30" name="Rounded Rectangle 29">
              <a:extLst>
                <a:ext uri="{FF2B5EF4-FFF2-40B4-BE49-F238E27FC236}">
                  <a16:creationId xmlns:a16="http://schemas.microsoft.com/office/drawing/2014/main" id="{FFFF4377-CB19-9045-B707-8AFB583D5F3F}"/>
                </a:ext>
              </a:extLst>
            </p:cNvPr>
            <p:cNvSpPr/>
            <p:nvPr/>
          </p:nvSpPr>
          <p:spPr>
            <a:xfrm>
              <a:off x="1257813" y="3851584"/>
              <a:ext cx="1655734" cy="438940"/>
            </a:xfrm>
            <a:prstGeom prst="round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eea465</a:t>
              </a:r>
            </a:p>
            <a:p>
              <a:pPr algn="ctr"/>
              <a:r>
                <a:rPr lang="en-US" sz="1000" dirty="0"/>
                <a:t>first file with more words</a:t>
              </a:r>
              <a:endParaRPr lang="en-CN" sz="1000" dirty="0"/>
            </a:p>
          </p:txBody>
        </p:sp>
        <p:cxnSp>
          <p:nvCxnSpPr>
            <p:cNvPr id="31" name="Straight Arrow Connector 30">
              <a:extLst>
                <a:ext uri="{FF2B5EF4-FFF2-40B4-BE49-F238E27FC236}">
                  <a16:creationId xmlns:a16="http://schemas.microsoft.com/office/drawing/2014/main" id="{51009E74-D9AB-3E43-955A-409F6DE5B138}"/>
                </a:ext>
              </a:extLst>
            </p:cNvPr>
            <p:cNvCxnSpPr>
              <a:cxnSpLocks/>
              <a:stCxn id="27" idx="2"/>
              <a:endCxn id="30" idx="0"/>
            </p:cNvCxnSpPr>
            <p:nvPr/>
          </p:nvCxnSpPr>
          <p:spPr>
            <a:xfrm>
              <a:off x="2015818" y="2680303"/>
              <a:ext cx="69862" cy="11712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31">
              <a:extLst>
                <a:ext uri="{FF2B5EF4-FFF2-40B4-BE49-F238E27FC236}">
                  <a16:creationId xmlns:a16="http://schemas.microsoft.com/office/drawing/2014/main" id="{B97D4793-7645-3F44-8973-025CCDE0DE24}"/>
                </a:ext>
              </a:extLst>
            </p:cNvPr>
            <p:cNvSpPr/>
            <p:nvPr/>
          </p:nvSpPr>
          <p:spPr>
            <a:xfrm>
              <a:off x="464031" y="3311734"/>
              <a:ext cx="1224339" cy="438939"/>
            </a:xfrm>
            <a:prstGeom prst="round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09511e</a:t>
              </a:r>
            </a:p>
            <a:p>
              <a:pPr algn="ctr"/>
              <a:r>
                <a:rPr lang="en-US" sz="1000" dirty="0"/>
                <a:t>a new second file</a:t>
              </a:r>
              <a:endParaRPr lang="en-CN" sz="1000" dirty="0"/>
            </a:p>
          </p:txBody>
        </p:sp>
        <p:cxnSp>
          <p:nvCxnSpPr>
            <p:cNvPr id="33" name="Straight Arrow Connector 32">
              <a:extLst>
                <a:ext uri="{FF2B5EF4-FFF2-40B4-BE49-F238E27FC236}">
                  <a16:creationId xmlns:a16="http://schemas.microsoft.com/office/drawing/2014/main" id="{2554007E-466E-AB49-B334-07789540EAF6}"/>
                </a:ext>
              </a:extLst>
            </p:cNvPr>
            <p:cNvCxnSpPr>
              <a:cxnSpLocks/>
              <a:stCxn id="27" idx="2"/>
              <a:endCxn id="32" idx="0"/>
            </p:cNvCxnSpPr>
            <p:nvPr/>
          </p:nvCxnSpPr>
          <p:spPr>
            <a:xfrm flipH="1">
              <a:off x="1076201" y="2680303"/>
              <a:ext cx="939617" cy="6314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DAF9EC70-6194-E64C-B889-FC80348B3B55}"/>
                </a:ext>
              </a:extLst>
            </p:cNvPr>
            <p:cNvSpPr/>
            <p:nvPr/>
          </p:nvSpPr>
          <p:spPr>
            <a:xfrm>
              <a:off x="1803707" y="3079258"/>
              <a:ext cx="639919" cy="276999"/>
            </a:xfrm>
            <a:prstGeom prst="rect">
              <a:avLst/>
            </a:prstGeom>
            <a:solidFill>
              <a:schemeClr val="bg1"/>
            </a:solidFill>
            <a:ln>
              <a:noFill/>
            </a:ln>
          </p:spPr>
          <p:txBody>
            <a:bodyPr wrap="none">
              <a:spAutoFit/>
            </a:bodyPr>
            <a:lstStyle/>
            <a:p>
              <a:pPr algn="ctr"/>
              <a:r>
                <a:rPr lang="en-US" sz="1200" dirty="0" err="1"/>
                <a:t>first.txt</a:t>
              </a:r>
              <a:endParaRPr lang="en-US" sz="1200" dirty="0"/>
            </a:p>
          </p:txBody>
        </p:sp>
        <p:sp>
          <p:nvSpPr>
            <p:cNvPr id="35" name="Rectangle 34">
              <a:extLst>
                <a:ext uri="{FF2B5EF4-FFF2-40B4-BE49-F238E27FC236}">
                  <a16:creationId xmlns:a16="http://schemas.microsoft.com/office/drawing/2014/main" id="{2DD064F2-B060-2D4A-8B56-CF07E73709E9}"/>
                </a:ext>
              </a:extLst>
            </p:cNvPr>
            <p:cNvSpPr/>
            <p:nvPr/>
          </p:nvSpPr>
          <p:spPr>
            <a:xfrm>
              <a:off x="856024" y="2883508"/>
              <a:ext cx="885178" cy="276999"/>
            </a:xfrm>
            <a:prstGeom prst="rect">
              <a:avLst/>
            </a:prstGeom>
            <a:solidFill>
              <a:schemeClr val="bg1"/>
            </a:solidFill>
            <a:ln>
              <a:noFill/>
            </a:ln>
          </p:spPr>
          <p:txBody>
            <a:bodyPr wrap="none">
              <a:spAutoFit/>
            </a:bodyPr>
            <a:lstStyle/>
            <a:p>
              <a:pPr algn="ctr"/>
              <a:r>
                <a:rPr lang="en-US" sz="1200" dirty="0" err="1"/>
                <a:t>second.txt</a:t>
              </a:r>
              <a:endParaRPr lang="en-US" sz="1200" dirty="0"/>
            </a:p>
          </p:txBody>
        </p:sp>
        <p:sp>
          <p:nvSpPr>
            <p:cNvPr id="36" name="Rounded Rectangle 35">
              <a:extLst>
                <a:ext uri="{FF2B5EF4-FFF2-40B4-BE49-F238E27FC236}">
                  <a16:creationId xmlns:a16="http://schemas.microsoft.com/office/drawing/2014/main" id="{A1D1FFB8-8872-844A-B7B6-94883AD4DCF1}"/>
                </a:ext>
              </a:extLst>
            </p:cNvPr>
            <p:cNvSpPr/>
            <p:nvPr/>
          </p:nvSpPr>
          <p:spPr>
            <a:xfrm>
              <a:off x="3269024" y="4515423"/>
              <a:ext cx="885178" cy="438939"/>
            </a:xfrm>
            <a:prstGeom prst="round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da2068</a:t>
              </a:r>
            </a:p>
            <a:p>
              <a:pPr algn="ctr"/>
              <a:r>
                <a:rPr lang="en-US" sz="1000" dirty="0"/>
                <a:t>second file</a:t>
              </a:r>
              <a:endParaRPr lang="en-CN" sz="1000" dirty="0"/>
            </a:p>
          </p:txBody>
        </p:sp>
        <p:cxnSp>
          <p:nvCxnSpPr>
            <p:cNvPr id="37" name="Straight Arrow Connector 36">
              <a:extLst>
                <a:ext uri="{FF2B5EF4-FFF2-40B4-BE49-F238E27FC236}">
                  <a16:creationId xmlns:a16="http://schemas.microsoft.com/office/drawing/2014/main" id="{1797CB18-C179-6F47-855F-D4E1097B5F1F}"/>
                </a:ext>
              </a:extLst>
            </p:cNvPr>
            <p:cNvCxnSpPr>
              <a:cxnSpLocks/>
              <a:stCxn id="26" idx="2"/>
              <a:endCxn id="36" idx="0"/>
            </p:cNvCxnSpPr>
            <p:nvPr/>
          </p:nvCxnSpPr>
          <p:spPr>
            <a:xfrm>
              <a:off x="3269025" y="3719645"/>
              <a:ext cx="442588" cy="7957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D6EFD555-3E61-AB44-A926-5EE49F9D6AFB}"/>
                </a:ext>
              </a:extLst>
            </p:cNvPr>
            <p:cNvSpPr/>
            <p:nvPr/>
          </p:nvSpPr>
          <p:spPr>
            <a:xfrm>
              <a:off x="3078836" y="3937000"/>
              <a:ext cx="885178" cy="276999"/>
            </a:xfrm>
            <a:prstGeom prst="rect">
              <a:avLst/>
            </a:prstGeom>
            <a:solidFill>
              <a:schemeClr val="bg1"/>
            </a:solidFill>
            <a:ln>
              <a:noFill/>
            </a:ln>
          </p:spPr>
          <p:txBody>
            <a:bodyPr wrap="none">
              <a:spAutoFit/>
            </a:bodyPr>
            <a:lstStyle/>
            <a:p>
              <a:pPr algn="ctr"/>
              <a:r>
                <a:rPr lang="en-US" sz="1200" dirty="0" err="1"/>
                <a:t>second.txt</a:t>
              </a:r>
              <a:endParaRPr lang="en-US" sz="1200" dirty="0"/>
            </a:p>
          </p:txBody>
        </p:sp>
      </p:grpSp>
    </p:spTree>
    <p:extLst>
      <p:ext uri="{BB962C8B-B14F-4D97-AF65-F5344CB8AC3E}">
        <p14:creationId xmlns:p14="http://schemas.microsoft.com/office/powerpoint/2010/main" val="49723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24EFF-5EA3-CA41-B91B-2AB0CCCCD69C}"/>
              </a:ext>
            </a:extLst>
          </p:cNvPr>
          <p:cNvSpPr>
            <a:spLocks noGrp="1"/>
          </p:cNvSpPr>
          <p:nvPr>
            <p:ph type="title"/>
          </p:nvPr>
        </p:nvSpPr>
        <p:spPr/>
        <p:txBody>
          <a:bodyPr/>
          <a:lstStyle/>
          <a:p>
            <a:r>
              <a:rPr lang="en-CN" dirty="0"/>
              <a:t>GIT</a:t>
            </a:r>
            <a:r>
              <a:rPr lang="zh-CN" altLang="en-US" dirty="0"/>
              <a:t>的提交</a:t>
            </a:r>
            <a:endParaRPr lang="en-CN" dirty="0"/>
          </a:p>
        </p:txBody>
      </p:sp>
      <p:sp>
        <p:nvSpPr>
          <p:cNvPr id="4" name="Slide Number Placeholder 3">
            <a:extLst>
              <a:ext uri="{FF2B5EF4-FFF2-40B4-BE49-F238E27FC236}">
                <a16:creationId xmlns:a16="http://schemas.microsoft.com/office/drawing/2014/main" id="{B677D090-8673-5345-8B1A-F5B74849B187}"/>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Footer Placeholder 4">
            <a:extLst>
              <a:ext uri="{FF2B5EF4-FFF2-40B4-BE49-F238E27FC236}">
                <a16:creationId xmlns:a16="http://schemas.microsoft.com/office/drawing/2014/main" id="{2E558BD4-C33C-9344-94F9-76888661BD5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96" name="Group 95">
            <a:extLst>
              <a:ext uri="{FF2B5EF4-FFF2-40B4-BE49-F238E27FC236}">
                <a16:creationId xmlns:a16="http://schemas.microsoft.com/office/drawing/2014/main" id="{DEC21CA0-77F0-2440-B0A7-F5BC28B556AC}"/>
              </a:ext>
            </a:extLst>
          </p:cNvPr>
          <p:cNvGrpSpPr/>
          <p:nvPr/>
        </p:nvGrpSpPr>
        <p:grpSpPr>
          <a:xfrm>
            <a:off x="1835696" y="913284"/>
            <a:ext cx="6580745" cy="3641718"/>
            <a:chOff x="885346" y="1038086"/>
            <a:chExt cx="6580745" cy="3641718"/>
          </a:xfrm>
        </p:grpSpPr>
        <p:sp>
          <p:nvSpPr>
            <p:cNvPr id="7" name="Rounded Rectangle 6">
              <a:extLst>
                <a:ext uri="{FF2B5EF4-FFF2-40B4-BE49-F238E27FC236}">
                  <a16:creationId xmlns:a16="http://schemas.microsoft.com/office/drawing/2014/main" id="{A968D853-C122-DD4B-8F37-278812AF8671}"/>
                </a:ext>
              </a:extLst>
            </p:cNvPr>
            <p:cNvSpPr/>
            <p:nvPr/>
          </p:nvSpPr>
          <p:spPr>
            <a:xfrm>
              <a:off x="5299313" y="2448501"/>
              <a:ext cx="1165865" cy="518033"/>
            </a:xfrm>
            <a:prstGeom prst="round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f0b50b</a:t>
              </a:r>
            </a:p>
            <a:p>
              <a:pPr algn="ctr"/>
              <a:r>
                <a:rPr lang="zh-CN" altLang="en-US" sz="1200" dirty="0"/>
                <a:t>树对象</a:t>
              </a:r>
              <a:endParaRPr lang="en-US" altLang="zh-CN" sz="1200" dirty="0"/>
            </a:p>
          </p:txBody>
        </p:sp>
        <p:sp>
          <p:nvSpPr>
            <p:cNvPr id="8" name="Rounded Rectangle 7">
              <a:extLst>
                <a:ext uri="{FF2B5EF4-FFF2-40B4-BE49-F238E27FC236}">
                  <a16:creationId xmlns:a16="http://schemas.microsoft.com/office/drawing/2014/main" id="{D29CF7CF-34FA-ED41-9887-F4371D6564EA}"/>
                </a:ext>
              </a:extLst>
            </p:cNvPr>
            <p:cNvSpPr/>
            <p:nvPr/>
          </p:nvSpPr>
          <p:spPr>
            <a:xfrm>
              <a:off x="2699222" y="1617227"/>
              <a:ext cx="1165865" cy="481154"/>
            </a:xfrm>
            <a:prstGeom prst="round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200" dirty="0"/>
                <a:t>befb5f</a:t>
              </a:r>
            </a:p>
            <a:p>
              <a:pPr algn="ctr"/>
              <a:r>
                <a:rPr lang="zh-CN" altLang="en-US" sz="1200" dirty="0"/>
                <a:t>树对象</a:t>
              </a:r>
              <a:endParaRPr lang="en-CN" sz="1200" dirty="0"/>
            </a:p>
          </p:txBody>
        </p:sp>
        <p:cxnSp>
          <p:nvCxnSpPr>
            <p:cNvPr id="9" name="Straight Arrow Connector 8">
              <a:extLst>
                <a:ext uri="{FF2B5EF4-FFF2-40B4-BE49-F238E27FC236}">
                  <a16:creationId xmlns:a16="http://schemas.microsoft.com/office/drawing/2014/main" id="{1A1E1E2D-8006-FE44-A0B3-2113970D6021}"/>
                </a:ext>
              </a:extLst>
            </p:cNvPr>
            <p:cNvCxnSpPr>
              <a:cxnSpLocks/>
              <a:stCxn id="8" idx="3"/>
              <a:endCxn id="7" idx="1"/>
            </p:cNvCxnSpPr>
            <p:nvPr/>
          </p:nvCxnSpPr>
          <p:spPr>
            <a:xfrm>
              <a:off x="3865087" y="1857804"/>
              <a:ext cx="1434226" cy="8497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0B2F57-7994-F347-82B0-40DA32903C61}"/>
                </a:ext>
              </a:extLst>
            </p:cNvPr>
            <p:cNvSpPr txBox="1"/>
            <p:nvPr/>
          </p:nvSpPr>
          <p:spPr>
            <a:xfrm>
              <a:off x="4466258" y="2152594"/>
              <a:ext cx="345876" cy="270197"/>
            </a:xfrm>
            <a:prstGeom prst="rect">
              <a:avLst/>
            </a:prstGeom>
            <a:solidFill>
              <a:schemeClr val="bg1"/>
            </a:solidFill>
            <a:ln>
              <a:noFill/>
            </a:ln>
          </p:spPr>
          <p:txBody>
            <a:bodyPr wrap="none" rtlCol="0">
              <a:spAutoFit/>
            </a:bodyPr>
            <a:lstStyle/>
            <a:p>
              <a:r>
                <a:rPr lang="en-CN" sz="1200" dirty="0"/>
                <a:t>dir</a:t>
              </a:r>
            </a:p>
          </p:txBody>
        </p:sp>
        <p:sp>
          <p:nvSpPr>
            <p:cNvPr id="14" name="Rounded Rectangle 13">
              <a:extLst>
                <a:ext uri="{FF2B5EF4-FFF2-40B4-BE49-F238E27FC236}">
                  <a16:creationId xmlns:a16="http://schemas.microsoft.com/office/drawing/2014/main" id="{5A204703-72B7-3143-82D2-73FBCC86CF64}"/>
                </a:ext>
              </a:extLst>
            </p:cNvPr>
            <p:cNvSpPr/>
            <p:nvPr/>
          </p:nvSpPr>
          <p:spPr>
            <a:xfrm>
              <a:off x="5192568" y="1824939"/>
              <a:ext cx="1567932" cy="417976"/>
            </a:xfrm>
            <a:prstGeom prst="round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200" dirty="0"/>
                <a:t>eea465</a:t>
              </a:r>
            </a:p>
            <a:p>
              <a:pPr algn="ctr"/>
              <a:r>
                <a:rPr lang="en-US" sz="1000" dirty="0"/>
                <a:t>first file with more words</a:t>
              </a:r>
              <a:endParaRPr lang="en-CN" sz="1000" dirty="0"/>
            </a:p>
          </p:txBody>
        </p:sp>
        <p:cxnSp>
          <p:nvCxnSpPr>
            <p:cNvPr id="16" name="Straight Arrow Connector 15">
              <a:extLst>
                <a:ext uri="{FF2B5EF4-FFF2-40B4-BE49-F238E27FC236}">
                  <a16:creationId xmlns:a16="http://schemas.microsoft.com/office/drawing/2014/main" id="{D67AE9AA-9DA0-8140-9AF5-1AC1BD69870E}"/>
                </a:ext>
              </a:extLst>
            </p:cNvPr>
            <p:cNvCxnSpPr>
              <a:cxnSpLocks/>
              <a:stCxn id="8" idx="3"/>
              <a:endCxn id="14" idx="1"/>
            </p:cNvCxnSpPr>
            <p:nvPr/>
          </p:nvCxnSpPr>
          <p:spPr>
            <a:xfrm>
              <a:off x="3865087" y="1857804"/>
              <a:ext cx="1327481" cy="1761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8BF75AFA-0B9B-584E-A5C1-0416944A07DD}"/>
                </a:ext>
              </a:extLst>
            </p:cNvPr>
            <p:cNvSpPr/>
            <p:nvPr/>
          </p:nvSpPr>
          <p:spPr>
            <a:xfrm>
              <a:off x="5192568" y="1038086"/>
              <a:ext cx="1567933" cy="417975"/>
            </a:xfrm>
            <a:prstGeom prst="round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09511e</a:t>
              </a:r>
            </a:p>
            <a:p>
              <a:pPr algn="ctr"/>
              <a:r>
                <a:rPr lang="en-US" sz="1000" dirty="0"/>
                <a:t>a new second file</a:t>
              </a:r>
              <a:endParaRPr lang="en-CN" sz="1000" dirty="0"/>
            </a:p>
          </p:txBody>
        </p:sp>
        <p:cxnSp>
          <p:nvCxnSpPr>
            <p:cNvPr id="21" name="Straight Arrow Connector 20">
              <a:extLst>
                <a:ext uri="{FF2B5EF4-FFF2-40B4-BE49-F238E27FC236}">
                  <a16:creationId xmlns:a16="http://schemas.microsoft.com/office/drawing/2014/main" id="{29EAE59A-9307-4B47-BB3E-0F9B8BAC4BEF}"/>
                </a:ext>
              </a:extLst>
            </p:cNvPr>
            <p:cNvCxnSpPr>
              <a:cxnSpLocks/>
              <a:stCxn id="8" idx="3"/>
              <a:endCxn id="20" idx="1"/>
            </p:cNvCxnSpPr>
            <p:nvPr/>
          </p:nvCxnSpPr>
          <p:spPr>
            <a:xfrm flipV="1">
              <a:off x="3865087" y="1247074"/>
              <a:ext cx="1327481" cy="6107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41841D8-3259-3043-A2FD-29B6B413B08D}"/>
                </a:ext>
              </a:extLst>
            </p:cNvPr>
            <p:cNvSpPr/>
            <p:nvPr/>
          </p:nvSpPr>
          <p:spPr>
            <a:xfrm>
              <a:off x="4308680" y="1809302"/>
              <a:ext cx="624205" cy="270197"/>
            </a:xfrm>
            <a:prstGeom prst="rect">
              <a:avLst/>
            </a:prstGeom>
            <a:solidFill>
              <a:schemeClr val="bg1"/>
            </a:solidFill>
            <a:ln>
              <a:noFill/>
            </a:ln>
          </p:spPr>
          <p:txBody>
            <a:bodyPr wrap="none">
              <a:spAutoFit/>
            </a:bodyPr>
            <a:lstStyle/>
            <a:p>
              <a:pPr algn="ctr"/>
              <a:r>
                <a:rPr lang="en-US" sz="1200" dirty="0" err="1"/>
                <a:t>first.txt</a:t>
              </a:r>
              <a:endParaRPr lang="en-US" sz="1200" dirty="0"/>
            </a:p>
          </p:txBody>
        </p:sp>
        <p:sp>
          <p:nvSpPr>
            <p:cNvPr id="24" name="Rectangle 23">
              <a:extLst>
                <a:ext uri="{FF2B5EF4-FFF2-40B4-BE49-F238E27FC236}">
                  <a16:creationId xmlns:a16="http://schemas.microsoft.com/office/drawing/2014/main" id="{F00B3379-B656-5E4E-A3CE-BBE239E18855}"/>
                </a:ext>
              </a:extLst>
            </p:cNvPr>
            <p:cNvSpPr/>
            <p:nvPr/>
          </p:nvSpPr>
          <p:spPr>
            <a:xfrm>
              <a:off x="4207475" y="1244315"/>
              <a:ext cx="863442" cy="270197"/>
            </a:xfrm>
            <a:prstGeom prst="rect">
              <a:avLst/>
            </a:prstGeom>
            <a:solidFill>
              <a:schemeClr val="bg1"/>
            </a:solidFill>
            <a:ln>
              <a:noFill/>
            </a:ln>
          </p:spPr>
          <p:txBody>
            <a:bodyPr wrap="none">
              <a:spAutoFit/>
            </a:bodyPr>
            <a:lstStyle/>
            <a:p>
              <a:pPr algn="ctr"/>
              <a:r>
                <a:rPr lang="en-US" sz="1200" dirty="0" err="1"/>
                <a:t>second.txt</a:t>
              </a:r>
              <a:endParaRPr lang="en-US" sz="1200" dirty="0"/>
            </a:p>
          </p:txBody>
        </p:sp>
        <p:sp>
          <p:nvSpPr>
            <p:cNvPr id="34" name="Rounded Rectangle 33">
              <a:extLst>
                <a:ext uri="{FF2B5EF4-FFF2-40B4-BE49-F238E27FC236}">
                  <a16:creationId xmlns:a16="http://schemas.microsoft.com/office/drawing/2014/main" id="{99CB96E5-8C13-E94E-A261-CD2770F0DAB5}"/>
                </a:ext>
              </a:extLst>
            </p:cNvPr>
            <p:cNvSpPr/>
            <p:nvPr/>
          </p:nvSpPr>
          <p:spPr>
            <a:xfrm>
              <a:off x="5192569" y="4261829"/>
              <a:ext cx="1567933" cy="417975"/>
            </a:xfrm>
            <a:prstGeom prst="round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da2068</a:t>
              </a:r>
            </a:p>
            <a:p>
              <a:pPr algn="ctr"/>
              <a:r>
                <a:rPr lang="en-US" sz="1000" dirty="0"/>
                <a:t>second file</a:t>
              </a:r>
              <a:endParaRPr lang="en-CN" sz="1000" dirty="0"/>
            </a:p>
          </p:txBody>
        </p:sp>
        <p:cxnSp>
          <p:nvCxnSpPr>
            <p:cNvPr id="35" name="Straight Arrow Connector 34">
              <a:extLst>
                <a:ext uri="{FF2B5EF4-FFF2-40B4-BE49-F238E27FC236}">
                  <a16:creationId xmlns:a16="http://schemas.microsoft.com/office/drawing/2014/main" id="{B1BF0067-9512-E548-8D45-663021731EEE}"/>
                </a:ext>
              </a:extLst>
            </p:cNvPr>
            <p:cNvCxnSpPr>
              <a:cxnSpLocks/>
              <a:stCxn id="7" idx="3"/>
              <a:endCxn id="34" idx="3"/>
            </p:cNvCxnSpPr>
            <p:nvPr/>
          </p:nvCxnSpPr>
          <p:spPr>
            <a:xfrm>
              <a:off x="6465178" y="2707518"/>
              <a:ext cx="295324" cy="1763299"/>
            </a:xfrm>
            <a:prstGeom prst="bentConnector3">
              <a:avLst>
                <a:gd name="adj1" fmla="val 35931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379C9DEC-E28E-6648-85FB-780E738996B7}"/>
                </a:ext>
              </a:extLst>
            </p:cNvPr>
            <p:cNvSpPr/>
            <p:nvPr/>
          </p:nvSpPr>
          <p:spPr>
            <a:xfrm>
              <a:off x="6602649" y="2562661"/>
              <a:ext cx="863442" cy="270197"/>
            </a:xfrm>
            <a:prstGeom prst="rect">
              <a:avLst/>
            </a:prstGeom>
            <a:solidFill>
              <a:schemeClr val="bg1"/>
            </a:solidFill>
            <a:ln>
              <a:noFill/>
            </a:ln>
          </p:spPr>
          <p:txBody>
            <a:bodyPr wrap="none">
              <a:spAutoFit/>
            </a:bodyPr>
            <a:lstStyle/>
            <a:p>
              <a:pPr algn="ctr"/>
              <a:r>
                <a:rPr lang="en-US" sz="1200" dirty="0" err="1"/>
                <a:t>second.txt</a:t>
              </a:r>
              <a:endParaRPr lang="en-US" sz="1200" dirty="0"/>
            </a:p>
          </p:txBody>
        </p:sp>
        <p:sp>
          <p:nvSpPr>
            <p:cNvPr id="18" name="Rounded Rectangle 17">
              <a:extLst>
                <a:ext uri="{FF2B5EF4-FFF2-40B4-BE49-F238E27FC236}">
                  <a16:creationId xmlns:a16="http://schemas.microsoft.com/office/drawing/2014/main" id="{5B3AF8B3-BD2D-3F42-A656-AB5724BB32B9}"/>
                </a:ext>
              </a:extLst>
            </p:cNvPr>
            <p:cNvSpPr/>
            <p:nvPr/>
          </p:nvSpPr>
          <p:spPr>
            <a:xfrm>
              <a:off x="5190823" y="3402755"/>
              <a:ext cx="1567933" cy="417975"/>
            </a:xfrm>
            <a:prstGeom prst="roundRect">
              <a:avLst/>
            </a:prstGeom>
            <a:solidFill>
              <a:schemeClr val="bg1">
                <a:lumMod val="95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7fbf76</a:t>
              </a:r>
            </a:p>
            <a:p>
              <a:pPr algn="ctr"/>
              <a:r>
                <a:rPr lang="en-US" sz="1000" dirty="0"/>
                <a:t>first file</a:t>
              </a:r>
              <a:endParaRPr lang="en-CN" sz="1000" dirty="0"/>
            </a:p>
          </p:txBody>
        </p:sp>
        <p:sp>
          <p:nvSpPr>
            <p:cNvPr id="22" name="Rounded Rectangle 21">
              <a:extLst>
                <a:ext uri="{FF2B5EF4-FFF2-40B4-BE49-F238E27FC236}">
                  <a16:creationId xmlns:a16="http://schemas.microsoft.com/office/drawing/2014/main" id="{ED1AA03C-CB4C-584D-8C89-3369F3FE9721}"/>
                </a:ext>
              </a:extLst>
            </p:cNvPr>
            <p:cNvSpPr/>
            <p:nvPr/>
          </p:nvSpPr>
          <p:spPr>
            <a:xfrm>
              <a:off x="2699223" y="3841993"/>
              <a:ext cx="1165865" cy="481154"/>
            </a:xfrm>
            <a:prstGeom prst="round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9a7c4a</a:t>
              </a:r>
              <a:endParaRPr lang="en-US" altLang="zh-CN" sz="1200" dirty="0"/>
            </a:p>
            <a:p>
              <a:pPr algn="ctr"/>
              <a:r>
                <a:rPr lang="zh-CN" altLang="en-US" sz="1200" dirty="0"/>
                <a:t>树对象</a:t>
              </a:r>
              <a:endParaRPr lang="en-CN" sz="1200" dirty="0"/>
            </a:p>
          </p:txBody>
        </p:sp>
        <p:cxnSp>
          <p:nvCxnSpPr>
            <p:cNvPr id="23" name="Straight Arrow Connector 22">
              <a:extLst>
                <a:ext uri="{FF2B5EF4-FFF2-40B4-BE49-F238E27FC236}">
                  <a16:creationId xmlns:a16="http://schemas.microsoft.com/office/drawing/2014/main" id="{B42DF481-0A5D-4144-B8E2-F806781B0F99}"/>
                </a:ext>
              </a:extLst>
            </p:cNvPr>
            <p:cNvCxnSpPr>
              <a:cxnSpLocks/>
              <a:stCxn id="22" idx="3"/>
              <a:endCxn id="18" idx="1"/>
            </p:cNvCxnSpPr>
            <p:nvPr/>
          </p:nvCxnSpPr>
          <p:spPr>
            <a:xfrm flipV="1">
              <a:off x="3865088" y="3611743"/>
              <a:ext cx="1325735" cy="4708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DABC869-FE99-834F-B099-A98AD2C55B8A}"/>
                </a:ext>
              </a:extLst>
            </p:cNvPr>
            <p:cNvCxnSpPr>
              <a:cxnSpLocks/>
              <a:stCxn id="22" idx="3"/>
              <a:endCxn id="34" idx="1"/>
            </p:cNvCxnSpPr>
            <p:nvPr/>
          </p:nvCxnSpPr>
          <p:spPr>
            <a:xfrm>
              <a:off x="3865088" y="4082570"/>
              <a:ext cx="1327481" cy="388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E2410F1-9740-484B-936D-4330E3C26435}"/>
                </a:ext>
              </a:extLst>
            </p:cNvPr>
            <p:cNvSpPr/>
            <p:nvPr/>
          </p:nvSpPr>
          <p:spPr>
            <a:xfrm>
              <a:off x="4165380" y="3998250"/>
              <a:ext cx="863442" cy="270197"/>
            </a:xfrm>
            <a:prstGeom prst="rect">
              <a:avLst/>
            </a:prstGeom>
            <a:solidFill>
              <a:schemeClr val="bg1"/>
            </a:solidFill>
            <a:ln>
              <a:noFill/>
            </a:ln>
          </p:spPr>
          <p:txBody>
            <a:bodyPr wrap="none">
              <a:spAutoFit/>
            </a:bodyPr>
            <a:lstStyle/>
            <a:p>
              <a:pPr algn="ctr"/>
              <a:r>
                <a:rPr lang="en-US" sz="1200" dirty="0" err="1"/>
                <a:t>second.txt</a:t>
              </a:r>
              <a:endParaRPr lang="en-US" sz="1200" dirty="0"/>
            </a:p>
          </p:txBody>
        </p:sp>
        <p:sp>
          <p:nvSpPr>
            <p:cNvPr id="36" name="Rounded Rectangle 35">
              <a:extLst>
                <a:ext uri="{FF2B5EF4-FFF2-40B4-BE49-F238E27FC236}">
                  <a16:creationId xmlns:a16="http://schemas.microsoft.com/office/drawing/2014/main" id="{18FCD4F8-63A8-7A46-BC6C-D71BCA1756A0}"/>
                </a:ext>
              </a:extLst>
            </p:cNvPr>
            <p:cNvSpPr/>
            <p:nvPr/>
          </p:nvSpPr>
          <p:spPr>
            <a:xfrm>
              <a:off x="2699223" y="2730834"/>
              <a:ext cx="1165865" cy="481154"/>
            </a:xfrm>
            <a:prstGeom prst="roundRect">
              <a:avLst/>
            </a:prstGeom>
            <a:solidFill>
              <a:schemeClr val="accent3">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9eabf4</a:t>
              </a:r>
              <a:endParaRPr lang="en-US" altLang="zh-CN" sz="1200" dirty="0"/>
            </a:p>
            <a:p>
              <a:pPr algn="ctr"/>
              <a:r>
                <a:rPr lang="zh-CN" altLang="en-US" sz="1200" dirty="0"/>
                <a:t>树对象</a:t>
              </a:r>
              <a:endParaRPr lang="en-CN" sz="1200" dirty="0"/>
            </a:p>
          </p:txBody>
        </p:sp>
        <p:cxnSp>
          <p:nvCxnSpPr>
            <p:cNvPr id="37" name="Straight Arrow Connector 36">
              <a:extLst>
                <a:ext uri="{FF2B5EF4-FFF2-40B4-BE49-F238E27FC236}">
                  <a16:creationId xmlns:a16="http://schemas.microsoft.com/office/drawing/2014/main" id="{747E27B7-721E-6240-8810-A01E1DF06452}"/>
                </a:ext>
              </a:extLst>
            </p:cNvPr>
            <p:cNvCxnSpPr>
              <a:cxnSpLocks/>
              <a:stCxn id="36" idx="3"/>
              <a:endCxn id="7" idx="1"/>
            </p:cNvCxnSpPr>
            <p:nvPr/>
          </p:nvCxnSpPr>
          <p:spPr>
            <a:xfrm flipV="1">
              <a:off x="3865088" y="2707518"/>
              <a:ext cx="1434225" cy="2638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209918E-E96E-7944-8456-E49D21D86FC6}"/>
                </a:ext>
              </a:extLst>
            </p:cNvPr>
            <p:cNvCxnSpPr>
              <a:cxnSpLocks/>
              <a:stCxn id="36" idx="3"/>
              <a:endCxn id="18" idx="1"/>
            </p:cNvCxnSpPr>
            <p:nvPr/>
          </p:nvCxnSpPr>
          <p:spPr>
            <a:xfrm>
              <a:off x="3865088" y="2971411"/>
              <a:ext cx="1325735" cy="6403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ounded Rectangle 42">
              <a:extLst>
                <a:ext uri="{FF2B5EF4-FFF2-40B4-BE49-F238E27FC236}">
                  <a16:creationId xmlns:a16="http://schemas.microsoft.com/office/drawing/2014/main" id="{47A9D7CB-A95F-BF47-BAF0-A9CE48177871}"/>
                </a:ext>
              </a:extLst>
            </p:cNvPr>
            <p:cNvSpPr/>
            <p:nvPr/>
          </p:nvSpPr>
          <p:spPr>
            <a:xfrm>
              <a:off x="885347" y="3842909"/>
              <a:ext cx="1165865" cy="481154"/>
            </a:xfrm>
            <a:prstGeom prst="round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373534</a:t>
              </a:r>
              <a:endParaRPr lang="en-US" altLang="zh-CN" sz="1200" dirty="0"/>
            </a:p>
            <a:p>
              <a:pPr algn="ctr"/>
              <a:r>
                <a:rPr lang="en-US" altLang="zh-CN" sz="1200" dirty="0"/>
                <a:t>first commit</a:t>
              </a:r>
              <a:endParaRPr lang="en-CN" sz="1200" dirty="0"/>
            </a:p>
          </p:txBody>
        </p:sp>
        <p:sp>
          <p:nvSpPr>
            <p:cNvPr id="45" name="Rounded Rectangle 44">
              <a:extLst>
                <a:ext uri="{FF2B5EF4-FFF2-40B4-BE49-F238E27FC236}">
                  <a16:creationId xmlns:a16="http://schemas.microsoft.com/office/drawing/2014/main" id="{1C960025-5690-2C48-9B01-E0928EE43E85}"/>
                </a:ext>
              </a:extLst>
            </p:cNvPr>
            <p:cNvSpPr/>
            <p:nvPr/>
          </p:nvSpPr>
          <p:spPr>
            <a:xfrm>
              <a:off x="885347" y="2733264"/>
              <a:ext cx="1165865" cy="481154"/>
            </a:xfrm>
            <a:prstGeom prst="round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200" dirty="0"/>
                <a:t>b2b1ed</a:t>
              </a:r>
              <a:endParaRPr lang="en-US" altLang="zh-CN" sz="1200" dirty="0"/>
            </a:p>
            <a:p>
              <a:pPr algn="ctr"/>
              <a:r>
                <a:rPr lang="en-US" altLang="zh-CN" sz="1200" dirty="0"/>
                <a:t>second commit</a:t>
              </a:r>
              <a:endParaRPr lang="en-CN" sz="1200" dirty="0"/>
            </a:p>
          </p:txBody>
        </p:sp>
        <p:sp>
          <p:nvSpPr>
            <p:cNvPr id="46" name="Rounded Rectangle 45">
              <a:extLst>
                <a:ext uri="{FF2B5EF4-FFF2-40B4-BE49-F238E27FC236}">
                  <a16:creationId xmlns:a16="http://schemas.microsoft.com/office/drawing/2014/main" id="{1057961B-F07E-E641-940C-E258C8A5A3D5}"/>
                </a:ext>
              </a:extLst>
            </p:cNvPr>
            <p:cNvSpPr/>
            <p:nvPr/>
          </p:nvSpPr>
          <p:spPr>
            <a:xfrm>
              <a:off x="885346" y="1621334"/>
              <a:ext cx="1165865" cy="481154"/>
            </a:xfrm>
            <a:prstGeom prst="roundRect">
              <a:avLst/>
            </a:prstGeom>
            <a:solidFill>
              <a:schemeClr val="accent1">
                <a:lumMod val="20000"/>
                <a:lumOff val="80000"/>
              </a:schemeClr>
            </a:solidFill>
            <a:ln>
              <a:solidFill>
                <a:schemeClr val="tx1"/>
              </a:solidFill>
            </a:ln>
          </p:spPr>
          <p:style>
            <a:lnRef idx="2">
              <a:schemeClr val="accent1"/>
            </a:lnRef>
            <a:fillRef idx="1">
              <a:schemeClr val="lt1"/>
            </a:fillRef>
            <a:effectRef idx="0">
              <a:schemeClr val="accent1"/>
            </a:effectRef>
            <a:fontRef idx="minor">
              <a:schemeClr val="dk1"/>
            </a:fontRef>
          </p:style>
          <p:txBody>
            <a:bodyPr wrap="none" rtlCol="0" anchor="ctr"/>
            <a:lstStyle/>
            <a:p>
              <a:pPr algn="ctr"/>
              <a:r>
                <a:rPr lang="en-US" sz="1200" dirty="0"/>
                <a:t>108103</a:t>
              </a:r>
              <a:endParaRPr lang="en-US" altLang="zh-CN" sz="1200" dirty="0"/>
            </a:p>
            <a:p>
              <a:pPr algn="ctr"/>
              <a:r>
                <a:rPr lang="en-US" altLang="zh-CN" sz="1200" dirty="0"/>
                <a:t>third commit</a:t>
              </a:r>
              <a:endParaRPr lang="en-CN" sz="1200" dirty="0"/>
            </a:p>
          </p:txBody>
        </p:sp>
        <p:cxnSp>
          <p:nvCxnSpPr>
            <p:cNvPr id="47" name="Straight Arrow Connector 46">
              <a:extLst>
                <a:ext uri="{FF2B5EF4-FFF2-40B4-BE49-F238E27FC236}">
                  <a16:creationId xmlns:a16="http://schemas.microsoft.com/office/drawing/2014/main" id="{3955739A-B8DF-0144-9FBE-6860A47433D3}"/>
                </a:ext>
              </a:extLst>
            </p:cNvPr>
            <p:cNvCxnSpPr>
              <a:cxnSpLocks/>
              <a:stCxn id="45" idx="2"/>
              <a:endCxn id="43" idx="0"/>
            </p:cNvCxnSpPr>
            <p:nvPr/>
          </p:nvCxnSpPr>
          <p:spPr>
            <a:xfrm>
              <a:off x="1468280" y="3214418"/>
              <a:ext cx="0" cy="6284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EB0B6FB-1622-8040-97C3-0AFB34FD317F}"/>
                </a:ext>
              </a:extLst>
            </p:cNvPr>
            <p:cNvCxnSpPr>
              <a:cxnSpLocks/>
              <a:stCxn id="46" idx="2"/>
              <a:endCxn id="45" idx="0"/>
            </p:cNvCxnSpPr>
            <p:nvPr/>
          </p:nvCxnSpPr>
          <p:spPr>
            <a:xfrm>
              <a:off x="1468279" y="2102488"/>
              <a:ext cx="1" cy="6307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DA9CC051-93F3-A44C-BCF7-2D7962DA289C}"/>
                </a:ext>
              </a:extLst>
            </p:cNvPr>
            <p:cNvCxnSpPr>
              <a:cxnSpLocks/>
              <a:stCxn id="45" idx="3"/>
              <a:endCxn id="36" idx="1"/>
            </p:cNvCxnSpPr>
            <p:nvPr/>
          </p:nvCxnSpPr>
          <p:spPr>
            <a:xfrm flipV="1">
              <a:off x="2051212" y="2971411"/>
              <a:ext cx="648011" cy="24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3E1D253-BA29-C640-97AA-720269E66BF7}"/>
                </a:ext>
              </a:extLst>
            </p:cNvPr>
            <p:cNvCxnSpPr>
              <a:cxnSpLocks/>
              <a:stCxn id="43" idx="3"/>
              <a:endCxn id="22" idx="1"/>
            </p:cNvCxnSpPr>
            <p:nvPr/>
          </p:nvCxnSpPr>
          <p:spPr>
            <a:xfrm flipV="1">
              <a:off x="2051212" y="4082570"/>
              <a:ext cx="648011" cy="9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565B02BE-E8F2-0A47-9817-D7BCBC4DFFC9}"/>
                </a:ext>
              </a:extLst>
            </p:cNvPr>
            <p:cNvCxnSpPr>
              <a:cxnSpLocks/>
              <a:stCxn id="46" idx="3"/>
              <a:endCxn id="8" idx="1"/>
            </p:cNvCxnSpPr>
            <p:nvPr/>
          </p:nvCxnSpPr>
          <p:spPr>
            <a:xfrm flipV="1">
              <a:off x="2051211" y="1857804"/>
              <a:ext cx="648011" cy="41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4D6CD783-7102-4548-90B1-E5B5AF54F7B7}"/>
                </a:ext>
              </a:extLst>
            </p:cNvPr>
            <p:cNvSpPr txBox="1"/>
            <p:nvPr/>
          </p:nvSpPr>
          <p:spPr>
            <a:xfrm>
              <a:off x="4469320" y="2728895"/>
              <a:ext cx="345876" cy="270197"/>
            </a:xfrm>
            <a:prstGeom prst="rect">
              <a:avLst/>
            </a:prstGeom>
            <a:solidFill>
              <a:schemeClr val="bg1"/>
            </a:solidFill>
            <a:ln>
              <a:noFill/>
            </a:ln>
          </p:spPr>
          <p:txBody>
            <a:bodyPr wrap="none" rtlCol="0">
              <a:spAutoFit/>
            </a:bodyPr>
            <a:lstStyle/>
            <a:p>
              <a:r>
                <a:rPr lang="en-CN" sz="1200" dirty="0"/>
                <a:t>dir</a:t>
              </a:r>
            </a:p>
          </p:txBody>
        </p:sp>
        <p:sp>
          <p:nvSpPr>
            <p:cNvPr id="25" name="Rectangle 24">
              <a:extLst>
                <a:ext uri="{FF2B5EF4-FFF2-40B4-BE49-F238E27FC236}">
                  <a16:creationId xmlns:a16="http://schemas.microsoft.com/office/drawing/2014/main" id="{F48BE80A-7ACD-C547-9049-E3360B5850B2}"/>
                </a:ext>
              </a:extLst>
            </p:cNvPr>
            <p:cNvSpPr/>
            <p:nvPr/>
          </p:nvSpPr>
          <p:spPr>
            <a:xfrm>
              <a:off x="4199107" y="3258466"/>
              <a:ext cx="624205" cy="270197"/>
            </a:xfrm>
            <a:prstGeom prst="rect">
              <a:avLst/>
            </a:prstGeom>
            <a:solidFill>
              <a:schemeClr val="bg1"/>
            </a:solidFill>
            <a:ln>
              <a:noFill/>
            </a:ln>
          </p:spPr>
          <p:txBody>
            <a:bodyPr wrap="none">
              <a:spAutoFit/>
            </a:bodyPr>
            <a:lstStyle/>
            <a:p>
              <a:pPr algn="ctr"/>
              <a:r>
                <a:rPr lang="en-US" sz="1200" dirty="0" err="1"/>
                <a:t>first.txt</a:t>
              </a:r>
              <a:endParaRPr lang="en-US" sz="1200" dirty="0"/>
            </a:p>
          </p:txBody>
        </p:sp>
        <p:sp>
          <p:nvSpPr>
            <p:cNvPr id="89" name="Rectangle 88">
              <a:extLst>
                <a:ext uri="{FF2B5EF4-FFF2-40B4-BE49-F238E27FC236}">
                  <a16:creationId xmlns:a16="http://schemas.microsoft.com/office/drawing/2014/main" id="{D25F7D11-EC48-9B42-9511-7DF8B2E82BEC}"/>
                </a:ext>
              </a:extLst>
            </p:cNvPr>
            <p:cNvSpPr/>
            <p:nvPr/>
          </p:nvSpPr>
          <p:spPr>
            <a:xfrm>
              <a:off x="4284998" y="3740569"/>
              <a:ext cx="624205" cy="270197"/>
            </a:xfrm>
            <a:prstGeom prst="rect">
              <a:avLst/>
            </a:prstGeom>
            <a:solidFill>
              <a:schemeClr val="bg1"/>
            </a:solidFill>
            <a:ln>
              <a:noFill/>
            </a:ln>
          </p:spPr>
          <p:txBody>
            <a:bodyPr wrap="none">
              <a:spAutoFit/>
            </a:bodyPr>
            <a:lstStyle/>
            <a:p>
              <a:pPr algn="ctr"/>
              <a:r>
                <a:rPr lang="en-US" sz="1200" dirty="0" err="1"/>
                <a:t>first.txt</a:t>
              </a:r>
              <a:endParaRPr lang="en-US" sz="1200" dirty="0"/>
            </a:p>
          </p:txBody>
        </p:sp>
      </p:grpSp>
      <p:sp>
        <p:nvSpPr>
          <p:cNvPr id="97" name="TextBox 96">
            <a:extLst>
              <a:ext uri="{FF2B5EF4-FFF2-40B4-BE49-F238E27FC236}">
                <a16:creationId xmlns:a16="http://schemas.microsoft.com/office/drawing/2014/main" id="{D1B50C94-ACD1-B74D-8347-A00AF3A61769}"/>
              </a:ext>
            </a:extLst>
          </p:cNvPr>
          <p:cNvSpPr txBox="1"/>
          <p:nvPr/>
        </p:nvSpPr>
        <p:spPr>
          <a:xfrm>
            <a:off x="561325" y="4673684"/>
            <a:ext cx="6737742" cy="369332"/>
          </a:xfrm>
          <a:prstGeom prst="rect">
            <a:avLst/>
          </a:prstGeom>
          <a:noFill/>
        </p:spPr>
        <p:txBody>
          <a:bodyPr wrap="none" rtlCol="0">
            <a:spAutoFit/>
          </a:bodyPr>
          <a:lstStyle/>
          <a:p>
            <a:r>
              <a:rPr lang="zh-CN" altLang="en-CN" dirty="0"/>
              <a:t>小问题</a:t>
            </a:r>
            <a:r>
              <a:rPr lang="zh-CN" altLang="en-US" dirty="0"/>
              <a:t>：在执行 </a:t>
            </a:r>
            <a:r>
              <a:rPr lang="en-US" altLang="zh-CN" u="sng" dirty="0"/>
              <a:t>git checkout</a:t>
            </a:r>
            <a:r>
              <a:rPr lang="zh-CN" altLang="en-US" u="sng" dirty="0"/>
              <a:t> </a:t>
            </a:r>
            <a:r>
              <a:rPr lang="en-US" u="sng" dirty="0"/>
              <a:t>b2b1ed</a:t>
            </a:r>
            <a:r>
              <a:rPr lang="en-US" altLang="zh-CN" u="sng" dirty="0"/>
              <a:t> -- </a:t>
            </a:r>
            <a:r>
              <a:rPr lang="en-US" altLang="zh-CN" u="sng" dirty="0" err="1"/>
              <a:t>first.txt</a:t>
            </a:r>
            <a:r>
              <a:rPr lang="zh-CN" altLang="en-US" dirty="0"/>
              <a:t> 时都发生了什么？</a:t>
            </a:r>
            <a:endParaRPr lang="en-CN" dirty="0"/>
          </a:p>
        </p:txBody>
      </p:sp>
    </p:spTree>
    <p:extLst>
      <p:ext uri="{BB962C8B-B14F-4D97-AF65-F5344CB8AC3E}">
        <p14:creationId xmlns:p14="http://schemas.microsoft.com/office/powerpoint/2010/main" val="4106720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3BA0A-4E7A-A543-9AB3-FF623F6D235A}"/>
              </a:ext>
            </a:extLst>
          </p:cNvPr>
          <p:cNvSpPr>
            <a:spLocks noGrp="1"/>
          </p:cNvSpPr>
          <p:nvPr>
            <p:ph type="title"/>
          </p:nvPr>
        </p:nvSpPr>
        <p:spPr/>
        <p:txBody>
          <a:bodyPr/>
          <a:lstStyle/>
          <a:p>
            <a:r>
              <a:rPr lang="en-US" altLang="zh-CN" dirty="0"/>
              <a:t>SQLite</a:t>
            </a:r>
            <a:r>
              <a:rPr lang="zh-CN" altLang="en-US" dirty="0"/>
              <a:t>：文件系统的竞争者</a:t>
            </a:r>
            <a:endParaRPr lang="en-CN" dirty="0"/>
          </a:p>
        </p:txBody>
      </p:sp>
      <p:sp>
        <p:nvSpPr>
          <p:cNvPr id="4" name="Slide Number Placeholder 3">
            <a:extLst>
              <a:ext uri="{FF2B5EF4-FFF2-40B4-BE49-F238E27FC236}">
                <a16:creationId xmlns:a16="http://schemas.microsoft.com/office/drawing/2014/main" id="{3EA9496C-B2EF-CA4B-9488-749FE3E6CD21}"/>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sp>
        <p:nvSpPr>
          <p:cNvPr id="5" name="Footer Placeholder 4">
            <a:extLst>
              <a:ext uri="{FF2B5EF4-FFF2-40B4-BE49-F238E27FC236}">
                <a16:creationId xmlns:a16="http://schemas.microsoft.com/office/drawing/2014/main" id="{035629AD-9559-A24F-A7A1-027DDE51538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Picture 5">
            <a:extLst>
              <a:ext uri="{FF2B5EF4-FFF2-40B4-BE49-F238E27FC236}">
                <a16:creationId xmlns:a16="http://schemas.microsoft.com/office/drawing/2014/main" id="{A9EC7226-11BB-EF4C-ADA6-77D813BB7A15}"/>
              </a:ext>
            </a:extLst>
          </p:cNvPr>
          <p:cNvPicPr>
            <a:picLocks noChangeAspect="1"/>
          </p:cNvPicPr>
          <p:nvPr/>
        </p:nvPicPr>
        <p:blipFill>
          <a:blip r:embed="rId2"/>
          <a:stretch>
            <a:fillRect/>
          </a:stretch>
        </p:blipFill>
        <p:spPr>
          <a:xfrm>
            <a:off x="0" y="1344132"/>
            <a:ext cx="9144000" cy="3026735"/>
          </a:xfrm>
          <a:prstGeom prst="rect">
            <a:avLst/>
          </a:prstGeom>
        </p:spPr>
      </p:pic>
      <p:sp>
        <p:nvSpPr>
          <p:cNvPr id="7" name="TextBox 6">
            <a:extLst>
              <a:ext uri="{FF2B5EF4-FFF2-40B4-BE49-F238E27FC236}">
                <a16:creationId xmlns:a16="http://schemas.microsoft.com/office/drawing/2014/main" id="{84E60322-B397-0541-83E9-B53537518C15}"/>
              </a:ext>
            </a:extLst>
          </p:cNvPr>
          <p:cNvSpPr txBox="1"/>
          <p:nvPr/>
        </p:nvSpPr>
        <p:spPr>
          <a:xfrm>
            <a:off x="5202" y="5447344"/>
            <a:ext cx="2600392" cy="261610"/>
          </a:xfrm>
          <a:prstGeom prst="rect">
            <a:avLst/>
          </a:prstGeom>
          <a:noFill/>
        </p:spPr>
        <p:txBody>
          <a:bodyPr wrap="none" rtlCol="0">
            <a:spAutoFit/>
          </a:bodyPr>
          <a:lstStyle/>
          <a:p>
            <a:r>
              <a:rPr lang="en-US" sz="1100" dirty="0">
                <a:solidFill>
                  <a:schemeClr val="tx1">
                    <a:lumMod val="50000"/>
                    <a:lumOff val="50000"/>
                  </a:schemeClr>
                </a:solidFill>
              </a:rPr>
              <a:t>https://</a:t>
            </a:r>
            <a:r>
              <a:rPr lang="en-US" sz="1100" dirty="0" err="1">
                <a:solidFill>
                  <a:schemeClr val="tx1">
                    <a:lumMod val="50000"/>
                    <a:lumOff val="50000"/>
                  </a:schemeClr>
                </a:solidFill>
              </a:rPr>
              <a:t>www.sqlite.org</a:t>
            </a:r>
            <a:r>
              <a:rPr lang="en-US" sz="1100" dirty="0">
                <a:solidFill>
                  <a:schemeClr val="tx1">
                    <a:lumMod val="50000"/>
                    <a:lumOff val="50000"/>
                  </a:schemeClr>
                </a:solidFill>
              </a:rPr>
              <a:t>/</a:t>
            </a:r>
            <a:r>
              <a:rPr lang="en-US" sz="1100" dirty="0" err="1">
                <a:solidFill>
                  <a:schemeClr val="tx1">
                    <a:lumMod val="50000"/>
                    <a:lumOff val="50000"/>
                  </a:schemeClr>
                </a:solidFill>
              </a:rPr>
              <a:t>fasterthanfs.html</a:t>
            </a:r>
            <a:endParaRPr lang="en-CN" sz="1100" dirty="0">
              <a:solidFill>
                <a:schemeClr val="tx1">
                  <a:lumMod val="50000"/>
                  <a:lumOff val="50000"/>
                </a:schemeClr>
              </a:solidFill>
            </a:endParaRPr>
          </a:p>
        </p:txBody>
      </p:sp>
      <p:sp>
        <p:nvSpPr>
          <p:cNvPr id="8" name="Rounded Rectangle 7">
            <a:extLst>
              <a:ext uri="{FF2B5EF4-FFF2-40B4-BE49-F238E27FC236}">
                <a16:creationId xmlns:a16="http://schemas.microsoft.com/office/drawing/2014/main" id="{A2F97D04-2627-C443-A422-D6E4A886824F}"/>
              </a:ext>
            </a:extLst>
          </p:cNvPr>
          <p:cNvSpPr/>
          <p:nvPr/>
        </p:nvSpPr>
        <p:spPr>
          <a:xfrm>
            <a:off x="179512" y="3398046"/>
            <a:ext cx="8605507" cy="1114393"/>
          </a:xfrm>
          <a:prstGeom prst="round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CN"/>
          </a:p>
        </p:txBody>
      </p:sp>
    </p:spTree>
    <p:extLst>
      <p:ext uri="{BB962C8B-B14F-4D97-AF65-F5344CB8AC3E}">
        <p14:creationId xmlns:p14="http://schemas.microsoft.com/office/powerpoint/2010/main" val="34737674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3BA0A-4E7A-A543-9AB3-FF623F6D235A}"/>
              </a:ext>
            </a:extLst>
          </p:cNvPr>
          <p:cNvSpPr>
            <a:spLocks noGrp="1"/>
          </p:cNvSpPr>
          <p:nvPr>
            <p:ph type="title"/>
          </p:nvPr>
        </p:nvSpPr>
        <p:spPr/>
        <p:txBody>
          <a:bodyPr/>
          <a:lstStyle/>
          <a:p>
            <a:r>
              <a:rPr lang="en-US" altLang="zh-CN" dirty="0"/>
              <a:t>SQLite</a:t>
            </a:r>
            <a:r>
              <a:rPr lang="zh-CN" altLang="en-US" dirty="0"/>
              <a:t>：文件系统的竞争者</a:t>
            </a:r>
            <a:endParaRPr lang="en-CN" dirty="0"/>
          </a:p>
        </p:txBody>
      </p:sp>
      <p:sp>
        <p:nvSpPr>
          <p:cNvPr id="4" name="Slide Number Placeholder 3">
            <a:extLst>
              <a:ext uri="{FF2B5EF4-FFF2-40B4-BE49-F238E27FC236}">
                <a16:creationId xmlns:a16="http://schemas.microsoft.com/office/drawing/2014/main" id="{3EA9496C-B2EF-CA4B-9488-749FE3E6CD21}"/>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Footer Placeholder 4">
            <a:extLst>
              <a:ext uri="{FF2B5EF4-FFF2-40B4-BE49-F238E27FC236}">
                <a16:creationId xmlns:a16="http://schemas.microsoft.com/office/drawing/2014/main" id="{035629AD-9559-A24F-A7A1-027DDE51538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Content Placeholder 2">
            <a:extLst>
              <a:ext uri="{FF2B5EF4-FFF2-40B4-BE49-F238E27FC236}">
                <a16:creationId xmlns:a16="http://schemas.microsoft.com/office/drawing/2014/main" id="{F01E004B-03B7-7149-B3D3-BADFF2D16366}"/>
              </a:ext>
            </a:extLst>
          </p:cNvPr>
          <p:cNvSpPr>
            <a:spLocks noGrp="1"/>
          </p:cNvSpPr>
          <p:nvPr>
            <p:ph idx="1"/>
          </p:nvPr>
        </p:nvSpPr>
        <p:spPr>
          <a:xfrm>
            <a:off x="457200" y="1333501"/>
            <a:ext cx="8229600" cy="3771636"/>
          </a:xfrm>
        </p:spPr>
        <p:txBody>
          <a:bodyPr>
            <a:normAutofit/>
          </a:bodyPr>
          <a:lstStyle/>
          <a:p>
            <a:r>
              <a:rPr lang="zh-CN" altLang="en-CN" b="0" dirty="0"/>
              <a:t>表面上</a:t>
            </a:r>
            <a:r>
              <a:rPr lang="en-US" altLang="zh-CN" b="0" dirty="0"/>
              <a:t>SQLite</a:t>
            </a:r>
            <a:r>
              <a:rPr lang="zh-CN" altLang="en-US" b="0" dirty="0"/>
              <a:t>是一个数据库</a:t>
            </a:r>
            <a:endParaRPr lang="en-US" altLang="zh-CN" b="0" dirty="0"/>
          </a:p>
          <a:p>
            <a:r>
              <a:rPr lang="zh-CN" altLang="en-US" b="0" dirty="0"/>
              <a:t>但实际上</a:t>
            </a:r>
            <a:r>
              <a:rPr lang="en-US" altLang="zh-CN" b="0" dirty="0"/>
              <a:t>SQLite</a:t>
            </a:r>
            <a:r>
              <a:rPr lang="zh-CN" altLang="en-US" b="0" dirty="0"/>
              <a:t>也可以是一个文件系统！</a:t>
            </a:r>
            <a:endParaRPr lang="en-US" altLang="zh-CN" b="0" dirty="0"/>
          </a:p>
          <a:p>
            <a:r>
              <a:rPr lang="zh-CN" altLang="en-US" b="0" dirty="0"/>
              <a:t>其核心还是一个数据库</a:t>
            </a:r>
            <a:endParaRPr lang="en-US" altLang="zh-CN" b="0" dirty="0"/>
          </a:p>
          <a:p>
            <a:pPr lvl="1"/>
            <a:r>
              <a:rPr lang="zh-CN" altLang="en-CN" dirty="0">
                <a:latin typeface="Courier" pitchFamily="2" charset="0"/>
              </a:rPr>
              <a:t>在</a:t>
            </a:r>
            <a:r>
              <a:rPr lang="zh-CN" altLang="en-US" dirty="0">
                <a:latin typeface="Courier" pitchFamily="2" charset="0"/>
              </a:rPr>
              <a:t>关系型数据库的表中，记录文件名和</a:t>
            </a:r>
            <a:r>
              <a:rPr lang="en-US" altLang="zh-CN" dirty="0">
                <a:latin typeface="Courier" pitchFamily="2" charset="0"/>
              </a:rPr>
              <a:t>BLOB</a:t>
            </a:r>
            <a:r>
              <a:rPr lang="zh-CN" altLang="en-US" dirty="0">
                <a:latin typeface="Courier" pitchFamily="2" charset="0"/>
              </a:rPr>
              <a:t>类型文件数据</a:t>
            </a:r>
            <a:endParaRPr lang="en-US" altLang="zh-CN" dirty="0">
              <a:latin typeface="Courier" pitchFamily="2" charset="0"/>
            </a:endParaRPr>
          </a:p>
          <a:p>
            <a:pPr lvl="1"/>
            <a:r>
              <a:rPr lang="zh-CN" altLang="en-US" dirty="0">
                <a:latin typeface="Courier" pitchFamily="2" charset="0"/>
              </a:rPr>
              <a:t>通过查找文件名，获取对应文件数据</a:t>
            </a:r>
            <a:endParaRPr lang="en-US" altLang="zh-CN" dirty="0">
              <a:latin typeface="Courier" pitchFamily="2" charset="0"/>
            </a:endParaRPr>
          </a:p>
          <a:p>
            <a:pPr lvl="1"/>
            <a:r>
              <a:rPr lang="zh-CN" altLang="en-US" dirty="0">
                <a:latin typeface="Courier" pitchFamily="2" charset="0"/>
              </a:rPr>
              <a:t>存储大量小文件</a:t>
            </a:r>
            <a:endParaRPr lang="en-US" altLang="zh-CN" dirty="0">
              <a:latin typeface="Courier" pitchFamily="2" charset="0"/>
            </a:endParaRPr>
          </a:p>
          <a:p>
            <a:r>
              <a:rPr lang="zh-CN" altLang="en-CN" b="0" dirty="0">
                <a:latin typeface="Courier" pitchFamily="2" charset="0"/>
              </a:rPr>
              <a:t>文件系统</a:t>
            </a:r>
            <a:r>
              <a:rPr lang="zh-CN" altLang="en-US" b="0" dirty="0">
                <a:latin typeface="Courier" pitchFamily="2" charset="0"/>
              </a:rPr>
              <a:t>里的文件里的文件系统里的文件</a:t>
            </a:r>
            <a:endParaRPr lang="en-US" altLang="zh-CN" b="0" dirty="0"/>
          </a:p>
        </p:txBody>
      </p:sp>
    </p:spTree>
    <p:extLst>
      <p:ext uri="{BB962C8B-B14F-4D97-AF65-F5344CB8AC3E}">
        <p14:creationId xmlns:p14="http://schemas.microsoft.com/office/powerpoint/2010/main" val="37417725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CEC9D-60EF-B043-89C6-69CDA864D2BC}"/>
              </a:ext>
            </a:extLst>
          </p:cNvPr>
          <p:cNvSpPr>
            <a:spLocks noGrp="1"/>
          </p:cNvSpPr>
          <p:nvPr>
            <p:ph type="title"/>
          </p:nvPr>
        </p:nvSpPr>
        <p:spPr/>
        <p:txBody>
          <a:bodyPr/>
          <a:lstStyle/>
          <a:p>
            <a:r>
              <a:rPr lang="en-CN" dirty="0"/>
              <a:t>SQLite</a:t>
            </a:r>
            <a:r>
              <a:rPr lang="zh-CN" altLang="en-CN" dirty="0"/>
              <a:t>引发</a:t>
            </a:r>
            <a:r>
              <a:rPr lang="zh-CN" altLang="en-US" dirty="0"/>
              <a:t>的思考</a:t>
            </a:r>
            <a:r>
              <a:rPr lang="en-US" altLang="zh-CN" dirty="0"/>
              <a:t>🤔</a:t>
            </a:r>
            <a:endParaRPr lang="en-CN" dirty="0"/>
          </a:p>
        </p:txBody>
      </p:sp>
      <p:sp>
        <p:nvSpPr>
          <p:cNvPr id="3" name="Content Placeholder 2">
            <a:extLst>
              <a:ext uri="{FF2B5EF4-FFF2-40B4-BE49-F238E27FC236}">
                <a16:creationId xmlns:a16="http://schemas.microsoft.com/office/drawing/2014/main" id="{CEDD221E-DA9D-7E40-BAFA-A7E39A2CA393}"/>
              </a:ext>
            </a:extLst>
          </p:cNvPr>
          <p:cNvSpPr>
            <a:spLocks noGrp="1"/>
          </p:cNvSpPr>
          <p:nvPr>
            <p:ph idx="1"/>
          </p:nvPr>
        </p:nvSpPr>
        <p:spPr/>
        <p:txBody>
          <a:bodyPr/>
          <a:lstStyle/>
          <a:p>
            <a:r>
              <a:rPr lang="zh-CN" altLang="en-US" b="0" dirty="0"/>
              <a:t>对于小文件，为何一般文件系统不如</a:t>
            </a:r>
            <a:r>
              <a:rPr lang="en-US" altLang="zh-CN" b="0" dirty="0"/>
              <a:t>SQLite</a:t>
            </a:r>
            <a:r>
              <a:rPr lang="zh-CN" altLang="en-US" b="0" dirty="0"/>
              <a:t>效率高？</a:t>
            </a:r>
            <a:endParaRPr lang="en-US" altLang="zh-CN" b="0" dirty="0"/>
          </a:p>
          <a:p>
            <a:r>
              <a:rPr lang="zh-CN" altLang="en-US" b="0" dirty="0"/>
              <a:t>文件系统如何针对小文件进行改进？</a:t>
            </a:r>
            <a:endParaRPr lang="en-US" altLang="zh-CN" b="0" dirty="0"/>
          </a:p>
          <a:p>
            <a:r>
              <a:rPr lang="zh-CN" altLang="en-US" b="0" dirty="0"/>
              <a:t>还有哪些针对小文件特殊处理的场景？</a:t>
            </a:r>
            <a:endParaRPr lang="en-CN" b="0" dirty="0"/>
          </a:p>
        </p:txBody>
      </p:sp>
      <p:sp>
        <p:nvSpPr>
          <p:cNvPr id="4" name="Slide Number Placeholder 3">
            <a:extLst>
              <a:ext uri="{FF2B5EF4-FFF2-40B4-BE49-F238E27FC236}">
                <a16:creationId xmlns:a16="http://schemas.microsoft.com/office/drawing/2014/main" id="{7323D7E1-6E4E-6948-B5DF-1EDC8BC74303}"/>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Footer Placeholder 4">
            <a:extLst>
              <a:ext uri="{FF2B5EF4-FFF2-40B4-BE49-F238E27FC236}">
                <a16:creationId xmlns:a16="http://schemas.microsoft.com/office/drawing/2014/main" id="{B5A5E9F1-30D2-304E-A7F5-74DC6D4AE32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9822460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AF834C2-FC9F-6940-A2F1-0F1494EC3BEF}"/>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50555194-DA3A-1A41-AB30-3F21573C1902}"/>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Footer Placeholder 4">
            <a:extLst>
              <a:ext uri="{FF2B5EF4-FFF2-40B4-BE49-F238E27FC236}">
                <a16:creationId xmlns:a16="http://schemas.microsoft.com/office/drawing/2014/main" id="{354873B3-411D-7E4E-B146-AE70ADE18F3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0" name="标题 5">
            <a:extLst>
              <a:ext uri="{FF2B5EF4-FFF2-40B4-BE49-F238E27FC236}">
                <a16:creationId xmlns:a16="http://schemas.microsoft.com/office/drawing/2014/main" id="{3F702E7A-BF99-B246-856C-68F00A514E98}"/>
              </a:ext>
            </a:extLst>
          </p:cNvPr>
          <p:cNvSpPr>
            <a:spLocks noGrp="1"/>
          </p:cNvSpPr>
          <p:nvPr>
            <p:ph type="title"/>
          </p:nvPr>
        </p:nvSpPr>
        <p:spPr/>
        <p:txBody>
          <a:bodyPr/>
          <a:lstStyle/>
          <a:p>
            <a:r>
              <a:rPr lang="en-US" altLang="zh-CN" dirty="0"/>
              <a:t>FUSE</a:t>
            </a:r>
            <a:r>
              <a:rPr lang="zh-CN" altLang="en-US" dirty="0"/>
              <a:t>：</a:t>
            </a:r>
            <a:r>
              <a:rPr lang="zh-CN" altLang="en-CN" dirty="0"/>
              <a:t>用户态</a:t>
            </a:r>
            <a:r>
              <a:rPr lang="zh-CN" altLang="en-US" dirty="0"/>
              <a:t>文件系统框架</a:t>
            </a:r>
            <a:endParaRPr lang="en-CN" altLang="zh-CN" dirty="0"/>
          </a:p>
        </p:txBody>
      </p:sp>
    </p:spTree>
    <p:extLst>
      <p:ext uri="{BB962C8B-B14F-4D97-AF65-F5344CB8AC3E}">
        <p14:creationId xmlns:p14="http://schemas.microsoft.com/office/powerpoint/2010/main" val="25492354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39663-5531-AC44-9C41-2C851DE5C012}"/>
              </a:ext>
            </a:extLst>
          </p:cNvPr>
          <p:cNvSpPr>
            <a:spLocks noGrp="1"/>
          </p:cNvSpPr>
          <p:nvPr>
            <p:ph type="title"/>
          </p:nvPr>
        </p:nvSpPr>
        <p:spPr/>
        <p:txBody>
          <a:bodyPr/>
          <a:lstStyle/>
          <a:p>
            <a:r>
              <a:rPr lang="en-CN" dirty="0"/>
              <a:t>FUSE</a:t>
            </a:r>
            <a:r>
              <a:rPr lang="zh-CN" altLang="en-US" dirty="0"/>
              <a:t>用户态文件系统框架</a:t>
            </a:r>
            <a:endParaRPr lang="en-CN" dirty="0"/>
          </a:p>
        </p:txBody>
      </p:sp>
      <p:sp>
        <p:nvSpPr>
          <p:cNvPr id="4" name="Slide Number Placeholder 3">
            <a:extLst>
              <a:ext uri="{FF2B5EF4-FFF2-40B4-BE49-F238E27FC236}">
                <a16:creationId xmlns:a16="http://schemas.microsoft.com/office/drawing/2014/main" id="{D958D52E-F8DB-1740-B85F-6813C1AC88EE}"/>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Footer Placeholder 4">
            <a:extLst>
              <a:ext uri="{FF2B5EF4-FFF2-40B4-BE49-F238E27FC236}">
                <a16:creationId xmlns:a16="http://schemas.microsoft.com/office/drawing/2014/main" id="{A550DAC8-1B1A-FE4D-8D80-E3F8719115F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59" name="Group 58">
            <a:extLst>
              <a:ext uri="{FF2B5EF4-FFF2-40B4-BE49-F238E27FC236}">
                <a16:creationId xmlns:a16="http://schemas.microsoft.com/office/drawing/2014/main" id="{F7FBA5A0-66B0-344A-990E-6C56EA01121D}"/>
              </a:ext>
            </a:extLst>
          </p:cNvPr>
          <p:cNvGrpSpPr/>
          <p:nvPr/>
        </p:nvGrpSpPr>
        <p:grpSpPr>
          <a:xfrm>
            <a:off x="3417350" y="2209428"/>
            <a:ext cx="5440106" cy="1884243"/>
            <a:chOff x="777752" y="2209427"/>
            <a:chExt cx="6895398" cy="2388300"/>
          </a:xfrm>
        </p:grpSpPr>
        <p:sp>
          <p:nvSpPr>
            <p:cNvPr id="7" name="Rectangle 6">
              <a:extLst>
                <a:ext uri="{FF2B5EF4-FFF2-40B4-BE49-F238E27FC236}">
                  <a16:creationId xmlns:a16="http://schemas.microsoft.com/office/drawing/2014/main" id="{B9A22CCC-B6C8-7E4C-B8A1-A924EA4AA50B}"/>
                </a:ext>
              </a:extLst>
            </p:cNvPr>
            <p:cNvSpPr/>
            <p:nvPr/>
          </p:nvSpPr>
          <p:spPr>
            <a:xfrm>
              <a:off x="1864624" y="2209428"/>
              <a:ext cx="2347336" cy="8917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应用</a:t>
              </a:r>
              <a:r>
                <a:rPr lang="zh-CN" altLang="en-US" sz="1050" dirty="0"/>
                <a:t>程序</a:t>
              </a:r>
              <a:endParaRPr lang="en-CN" sz="1050" dirty="0"/>
            </a:p>
          </p:txBody>
        </p:sp>
        <p:cxnSp>
          <p:nvCxnSpPr>
            <p:cNvPr id="9" name="Straight Connector 8">
              <a:extLst>
                <a:ext uri="{FF2B5EF4-FFF2-40B4-BE49-F238E27FC236}">
                  <a16:creationId xmlns:a16="http://schemas.microsoft.com/office/drawing/2014/main" id="{87EA1985-376F-C84E-9353-56EA44785E3C}"/>
                </a:ext>
              </a:extLst>
            </p:cNvPr>
            <p:cNvCxnSpPr>
              <a:cxnSpLocks/>
            </p:cNvCxnSpPr>
            <p:nvPr/>
          </p:nvCxnSpPr>
          <p:spPr>
            <a:xfrm>
              <a:off x="777752" y="3281164"/>
              <a:ext cx="689539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C0DE6E5-67DB-E348-917C-A04DB6075A1B}"/>
                </a:ext>
              </a:extLst>
            </p:cNvPr>
            <p:cNvSpPr/>
            <p:nvPr/>
          </p:nvSpPr>
          <p:spPr>
            <a:xfrm>
              <a:off x="1854228" y="4183767"/>
              <a:ext cx="783360"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Ext4</a:t>
              </a:r>
              <a:endParaRPr lang="en-CN" sz="1050" dirty="0"/>
            </a:p>
          </p:txBody>
        </p:sp>
        <p:sp>
          <p:nvSpPr>
            <p:cNvPr id="11" name="Rectangle 10">
              <a:extLst>
                <a:ext uri="{FF2B5EF4-FFF2-40B4-BE49-F238E27FC236}">
                  <a16:creationId xmlns:a16="http://schemas.microsoft.com/office/drawing/2014/main" id="{F8859445-8A3C-6645-BC54-CF8069FF1B56}"/>
                </a:ext>
              </a:extLst>
            </p:cNvPr>
            <p:cNvSpPr/>
            <p:nvPr/>
          </p:nvSpPr>
          <p:spPr>
            <a:xfrm>
              <a:off x="2767884" y="4183767"/>
              <a:ext cx="783360"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XFS</a:t>
              </a:r>
              <a:endParaRPr lang="en-CN" sz="1050" dirty="0"/>
            </a:p>
          </p:txBody>
        </p:sp>
        <p:sp>
          <p:nvSpPr>
            <p:cNvPr id="12" name="Rectangle 11">
              <a:extLst>
                <a:ext uri="{FF2B5EF4-FFF2-40B4-BE49-F238E27FC236}">
                  <a16:creationId xmlns:a16="http://schemas.microsoft.com/office/drawing/2014/main" id="{E8BAAD2C-5E02-744B-8BF5-C1F88D1D68C0}"/>
                </a:ext>
              </a:extLst>
            </p:cNvPr>
            <p:cNvSpPr/>
            <p:nvPr/>
          </p:nvSpPr>
          <p:spPr>
            <a:xfrm>
              <a:off x="3681540" y="4183767"/>
              <a:ext cx="783360"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F2FS</a:t>
              </a:r>
              <a:endParaRPr lang="en-CN" sz="1050" dirty="0"/>
            </a:p>
          </p:txBody>
        </p:sp>
        <p:sp>
          <p:nvSpPr>
            <p:cNvPr id="15" name="Rectangle 14">
              <a:extLst>
                <a:ext uri="{FF2B5EF4-FFF2-40B4-BE49-F238E27FC236}">
                  <a16:creationId xmlns:a16="http://schemas.microsoft.com/office/drawing/2014/main" id="{15E57762-73D8-7E43-8214-B0105D0AAF6D}"/>
                </a:ext>
              </a:extLst>
            </p:cNvPr>
            <p:cNvSpPr/>
            <p:nvPr/>
          </p:nvSpPr>
          <p:spPr>
            <a:xfrm>
              <a:off x="1864624" y="3475722"/>
              <a:ext cx="2808312"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虚拟文件系统</a:t>
              </a:r>
              <a:endParaRPr lang="en-CN" sz="1050" dirty="0"/>
            </a:p>
          </p:txBody>
        </p:sp>
        <p:sp>
          <p:nvSpPr>
            <p:cNvPr id="18" name="TextBox 17">
              <a:extLst>
                <a:ext uri="{FF2B5EF4-FFF2-40B4-BE49-F238E27FC236}">
                  <a16:creationId xmlns:a16="http://schemas.microsoft.com/office/drawing/2014/main" id="{8075CE90-5C12-7B45-B00F-035697A57B98}"/>
                </a:ext>
              </a:extLst>
            </p:cNvPr>
            <p:cNvSpPr txBox="1"/>
            <p:nvPr/>
          </p:nvSpPr>
          <p:spPr>
            <a:xfrm>
              <a:off x="1008585" y="3520350"/>
              <a:ext cx="698432" cy="391429"/>
            </a:xfrm>
            <a:prstGeom prst="rect">
              <a:avLst/>
            </a:prstGeom>
            <a:noFill/>
          </p:spPr>
          <p:txBody>
            <a:bodyPr wrap="none" rtlCol="0">
              <a:spAutoFit/>
            </a:bodyPr>
            <a:lstStyle/>
            <a:p>
              <a:r>
                <a:rPr lang="zh-CN" altLang="en-US" sz="1050" dirty="0"/>
                <a:t>内核</a:t>
              </a:r>
              <a:endParaRPr lang="en-CN" sz="1050" dirty="0"/>
            </a:p>
          </p:txBody>
        </p:sp>
        <p:sp>
          <p:nvSpPr>
            <p:cNvPr id="20" name="Rectangle 19">
              <a:extLst>
                <a:ext uri="{FF2B5EF4-FFF2-40B4-BE49-F238E27FC236}">
                  <a16:creationId xmlns:a16="http://schemas.microsoft.com/office/drawing/2014/main" id="{F7D1F095-A7FD-084B-BB1A-D335F51925BA}"/>
                </a:ext>
              </a:extLst>
            </p:cNvPr>
            <p:cNvSpPr/>
            <p:nvPr/>
          </p:nvSpPr>
          <p:spPr>
            <a:xfrm>
              <a:off x="5112654" y="3750020"/>
              <a:ext cx="1691594" cy="84770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FUSE</a:t>
              </a:r>
              <a:r>
                <a:rPr lang="zh-CN" altLang="en-US" sz="1050" dirty="0"/>
                <a:t> 驱动</a:t>
              </a:r>
              <a:endParaRPr lang="en-CN" sz="1050" dirty="0"/>
            </a:p>
          </p:txBody>
        </p:sp>
        <p:sp>
          <p:nvSpPr>
            <p:cNvPr id="21" name="TextBox 20">
              <a:extLst>
                <a:ext uri="{FF2B5EF4-FFF2-40B4-BE49-F238E27FC236}">
                  <a16:creationId xmlns:a16="http://schemas.microsoft.com/office/drawing/2014/main" id="{5751CFE6-1B72-6F43-A804-354AA8400AB7}"/>
                </a:ext>
              </a:extLst>
            </p:cNvPr>
            <p:cNvSpPr txBox="1"/>
            <p:nvPr/>
          </p:nvSpPr>
          <p:spPr>
            <a:xfrm>
              <a:off x="777752" y="2731812"/>
              <a:ext cx="909497" cy="391429"/>
            </a:xfrm>
            <a:prstGeom prst="rect">
              <a:avLst/>
            </a:prstGeom>
            <a:noFill/>
          </p:spPr>
          <p:txBody>
            <a:bodyPr wrap="none" rtlCol="0">
              <a:spAutoFit/>
            </a:bodyPr>
            <a:lstStyle/>
            <a:p>
              <a:r>
                <a:rPr lang="zh-CN" altLang="en-US" sz="1050" dirty="0"/>
                <a:t>用户态</a:t>
              </a:r>
              <a:endParaRPr lang="en-CN" sz="1050" dirty="0"/>
            </a:p>
          </p:txBody>
        </p:sp>
        <p:sp>
          <p:nvSpPr>
            <p:cNvPr id="23" name="Rectangle 22">
              <a:extLst>
                <a:ext uri="{FF2B5EF4-FFF2-40B4-BE49-F238E27FC236}">
                  <a16:creationId xmlns:a16="http://schemas.microsoft.com/office/drawing/2014/main" id="{F0D119DF-0509-B34D-BCA2-CDB276B3FF91}"/>
                </a:ext>
              </a:extLst>
            </p:cNvPr>
            <p:cNvSpPr/>
            <p:nvPr/>
          </p:nvSpPr>
          <p:spPr>
            <a:xfrm>
              <a:off x="4742828" y="2672647"/>
              <a:ext cx="2709492" cy="3693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FUSE</a:t>
              </a:r>
              <a:r>
                <a:rPr lang="zh-CN" altLang="en-US" sz="1050" dirty="0"/>
                <a:t>库</a:t>
              </a:r>
              <a:endParaRPr lang="en-CN" sz="1050" dirty="0"/>
            </a:p>
          </p:txBody>
        </p:sp>
        <p:sp>
          <p:nvSpPr>
            <p:cNvPr id="24" name="Rectangle 23">
              <a:extLst>
                <a:ext uri="{FF2B5EF4-FFF2-40B4-BE49-F238E27FC236}">
                  <a16:creationId xmlns:a16="http://schemas.microsoft.com/office/drawing/2014/main" id="{7E5ECC8A-A9ED-5743-B721-D6AECAA039A0}"/>
                </a:ext>
              </a:extLst>
            </p:cNvPr>
            <p:cNvSpPr/>
            <p:nvPr/>
          </p:nvSpPr>
          <p:spPr>
            <a:xfrm>
              <a:off x="4742828" y="2209427"/>
              <a:ext cx="2709492" cy="46321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FUSE</a:t>
              </a:r>
              <a:r>
                <a:rPr lang="zh-CN" altLang="en-US" sz="1050" dirty="0"/>
                <a:t> 文件系统</a:t>
              </a:r>
              <a:endParaRPr lang="en-CN" sz="1050" dirty="0"/>
            </a:p>
          </p:txBody>
        </p:sp>
        <p:cxnSp>
          <p:nvCxnSpPr>
            <p:cNvPr id="37" name="Straight Arrow Connector 36">
              <a:extLst>
                <a:ext uri="{FF2B5EF4-FFF2-40B4-BE49-F238E27FC236}">
                  <a16:creationId xmlns:a16="http://schemas.microsoft.com/office/drawing/2014/main" id="{485A5305-E882-144C-906E-C43F510F3AE9}"/>
                </a:ext>
              </a:extLst>
            </p:cNvPr>
            <p:cNvCxnSpPr>
              <a:cxnSpLocks/>
              <a:stCxn id="7" idx="2"/>
            </p:cNvCxnSpPr>
            <p:nvPr/>
          </p:nvCxnSpPr>
          <p:spPr>
            <a:xfrm>
              <a:off x="3038292" y="3101144"/>
              <a:ext cx="0" cy="36482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CA3756B-A1B7-E04F-B0B7-F5F30F878B50}"/>
                </a:ext>
              </a:extLst>
            </p:cNvPr>
            <p:cNvCxnSpPr>
              <a:cxnSpLocks/>
            </p:cNvCxnSpPr>
            <p:nvPr/>
          </p:nvCxnSpPr>
          <p:spPr>
            <a:xfrm>
              <a:off x="2245908" y="3899439"/>
              <a:ext cx="0" cy="308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D95057F-8AB6-A646-8C60-8C248CDBBA93}"/>
                </a:ext>
              </a:extLst>
            </p:cNvPr>
            <p:cNvCxnSpPr>
              <a:cxnSpLocks/>
            </p:cNvCxnSpPr>
            <p:nvPr/>
          </p:nvCxnSpPr>
          <p:spPr>
            <a:xfrm>
              <a:off x="3159564" y="3889682"/>
              <a:ext cx="0" cy="308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350525-881F-9C4F-8DEF-A9881C4B7E7A}"/>
                </a:ext>
              </a:extLst>
            </p:cNvPr>
            <p:cNvCxnSpPr>
              <a:cxnSpLocks/>
            </p:cNvCxnSpPr>
            <p:nvPr/>
          </p:nvCxnSpPr>
          <p:spPr>
            <a:xfrm>
              <a:off x="4073220" y="3889681"/>
              <a:ext cx="0" cy="308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B076494-93BB-E64E-B443-24D49F35C22A}"/>
                </a:ext>
              </a:extLst>
            </p:cNvPr>
            <p:cNvCxnSpPr>
              <a:cxnSpLocks/>
              <a:stCxn id="15" idx="3"/>
              <a:endCxn id="20" idx="1"/>
            </p:cNvCxnSpPr>
            <p:nvPr/>
          </p:nvCxnSpPr>
          <p:spPr>
            <a:xfrm>
              <a:off x="4672936" y="3682702"/>
              <a:ext cx="439718" cy="491172"/>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47">
              <a:extLst>
                <a:ext uri="{FF2B5EF4-FFF2-40B4-BE49-F238E27FC236}">
                  <a16:creationId xmlns:a16="http://schemas.microsoft.com/office/drawing/2014/main" id="{D4E6DDA4-270B-8448-B7BC-656CECA89014}"/>
                </a:ext>
              </a:extLst>
            </p:cNvPr>
            <p:cNvCxnSpPr>
              <a:cxnSpLocks/>
              <a:stCxn id="20" idx="0"/>
              <a:endCxn id="23" idx="2"/>
            </p:cNvCxnSpPr>
            <p:nvPr/>
          </p:nvCxnSpPr>
          <p:spPr>
            <a:xfrm rot="5400000" flipH="1" flipV="1">
              <a:off x="5673990" y="3326437"/>
              <a:ext cx="708045" cy="139123"/>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60" name="Content Placeholder 2">
            <a:extLst>
              <a:ext uri="{FF2B5EF4-FFF2-40B4-BE49-F238E27FC236}">
                <a16:creationId xmlns:a16="http://schemas.microsoft.com/office/drawing/2014/main" id="{F0C50FC0-48AB-964D-9BFC-A71AD02C9160}"/>
              </a:ext>
            </a:extLst>
          </p:cNvPr>
          <p:cNvSpPr>
            <a:spLocks noGrp="1"/>
          </p:cNvSpPr>
          <p:nvPr>
            <p:ph idx="1"/>
          </p:nvPr>
        </p:nvSpPr>
        <p:spPr>
          <a:xfrm>
            <a:off x="457200" y="1333501"/>
            <a:ext cx="4114800" cy="3771636"/>
          </a:xfrm>
        </p:spPr>
        <p:txBody>
          <a:bodyPr>
            <a:normAutofit/>
          </a:bodyPr>
          <a:lstStyle/>
          <a:p>
            <a:pPr marL="0" indent="0">
              <a:buNone/>
            </a:pPr>
            <a:r>
              <a:rPr lang="zh-CN" altLang="en-CN" sz="2000" b="0" dirty="0"/>
              <a:t>为什么</a:t>
            </a:r>
            <a:r>
              <a:rPr lang="zh-CN" altLang="en-US" sz="2000" b="0" dirty="0"/>
              <a:t>要用户态文件系统？</a:t>
            </a:r>
            <a:endParaRPr lang="en-US" altLang="zh-CN" sz="2000" b="0" dirty="0"/>
          </a:p>
          <a:p>
            <a:r>
              <a:rPr lang="zh-CN" altLang="en-US" sz="1800" b="0" dirty="0"/>
              <a:t>快速试验文件系统新设计</a:t>
            </a:r>
            <a:endParaRPr lang="en-US" altLang="zh-CN" sz="1800" b="0" dirty="0"/>
          </a:p>
          <a:p>
            <a:r>
              <a:rPr lang="zh-CN" altLang="en-US" sz="1800" b="0" dirty="0"/>
              <a:t>大量第三方库可以使用</a:t>
            </a:r>
            <a:endParaRPr lang="en-US" altLang="zh-CN" sz="1800" b="0" dirty="0"/>
          </a:p>
          <a:p>
            <a:r>
              <a:rPr lang="zh-CN" altLang="en-US" sz="1800" b="0" dirty="0"/>
              <a:t>方便调试</a:t>
            </a:r>
            <a:endParaRPr lang="en-US" altLang="zh-CN" sz="1800" b="0" dirty="0"/>
          </a:p>
          <a:p>
            <a:r>
              <a:rPr lang="zh-CN" altLang="en-US" sz="1800" b="0" dirty="0"/>
              <a:t>无需担心把内核搞崩溃</a:t>
            </a:r>
            <a:endParaRPr lang="en-US" altLang="zh-CN" sz="1800" b="0" dirty="0"/>
          </a:p>
          <a:p>
            <a:r>
              <a:rPr lang="zh-CN" altLang="en-US" sz="1800" b="0" dirty="0"/>
              <a:t>实现新功能</a:t>
            </a:r>
            <a:endParaRPr lang="en-US" altLang="zh-CN" sz="1800" b="0" dirty="0"/>
          </a:p>
        </p:txBody>
      </p:sp>
    </p:spTree>
    <p:extLst>
      <p:ext uri="{BB962C8B-B14F-4D97-AF65-F5344CB8AC3E}">
        <p14:creationId xmlns:p14="http://schemas.microsoft.com/office/powerpoint/2010/main" val="11472521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39663-5531-AC44-9C41-2C851DE5C012}"/>
              </a:ext>
            </a:extLst>
          </p:cNvPr>
          <p:cNvSpPr>
            <a:spLocks noGrp="1"/>
          </p:cNvSpPr>
          <p:nvPr>
            <p:ph type="title"/>
          </p:nvPr>
        </p:nvSpPr>
        <p:spPr/>
        <p:txBody>
          <a:bodyPr/>
          <a:lstStyle/>
          <a:p>
            <a:r>
              <a:rPr lang="en-CN" dirty="0"/>
              <a:t>FUSE</a:t>
            </a:r>
            <a:r>
              <a:rPr lang="zh-CN" altLang="en-US" dirty="0"/>
              <a:t>基本流程</a:t>
            </a:r>
            <a:endParaRPr lang="en-CN" dirty="0"/>
          </a:p>
        </p:txBody>
      </p:sp>
      <p:sp>
        <p:nvSpPr>
          <p:cNvPr id="4" name="Slide Number Placeholder 3">
            <a:extLst>
              <a:ext uri="{FF2B5EF4-FFF2-40B4-BE49-F238E27FC236}">
                <a16:creationId xmlns:a16="http://schemas.microsoft.com/office/drawing/2014/main" id="{D958D52E-F8DB-1740-B85F-6813C1AC88EE}"/>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Footer Placeholder 4">
            <a:extLst>
              <a:ext uri="{FF2B5EF4-FFF2-40B4-BE49-F238E27FC236}">
                <a16:creationId xmlns:a16="http://schemas.microsoft.com/office/drawing/2014/main" id="{A550DAC8-1B1A-FE4D-8D80-E3F8719115F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59" name="Group 58">
            <a:extLst>
              <a:ext uri="{FF2B5EF4-FFF2-40B4-BE49-F238E27FC236}">
                <a16:creationId xmlns:a16="http://schemas.microsoft.com/office/drawing/2014/main" id="{F7FBA5A0-66B0-344A-990E-6C56EA01121D}"/>
              </a:ext>
            </a:extLst>
          </p:cNvPr>
          <p:cNvGrpSpPr/>
          <p:nvPr/>
        </p:nvGrpSpPr>
        <p:grpSpPr>
          <a:xfrm>
            <a:off x="4738459" y="2052757"/>
            <a:ext cx="4170196" cy="1884243"/>
            <a:chOff x="965702" y="2209427"/>
            <a:chExt cx="5285773" cy="2388300"/>
          </a:xfrm>
        </p:grpSpPr>
        <p:sp>
          <p:nvSpPr>
            <p:cNvPr id="7" name="Rectangle 6">
              <a:extLst>
                <a:ext uri="{FF2B5EF4-FFF2-40B4-BE49-F238E27FC236}">
                  <a16:creationId xmlns:a16="http://schemas.microsoft.com/office/drawing/2014/main" id="{B9A22CCC-B6C8-7E4C-B8A1-A924EA4AA50B}"/>
                </a:ext>
              </a:extLst>
            </p:cNvPr>
            <p:cNvSpPr/>
            <p:nvPr/>
          </p:nvSpPr>
          <p:spPr>
            <a:xfrm>
              <a:off x="1864624" y="2209428"/>
              <a:ext cx="2347336" cy="89171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CN" sz="1050" dirty="0"/>
                <a:t>应用</a:t>
              </a:r>
              <a:r>
                <a:rPr lang="zh-CN" altLang="en-US" sz="1050" dirty="0"/>
                <a:t>程序</a:t>
              </a:r>
              <a:endParaRPr lang="en-CN" sz="1050" dirty="0"/>
            </a:p>
          </p:txBody>
        </p:sp>
        <p:cxnSp>
          <p:nvCxnSpPr>
            <p:cNvPr id="9" name="Straight Connector 8">
              <a:extLst>
                <a:ext uri="{FF2B5EF4-FFF2-40B4-BE49-F238E27FC236}">
                  <a16:creationId xmlns:a16="http://schemas.microsoft.com/office/drawing/2014/main" id="{87EA1985-376F-C84E-9353-56EA44785E3C}"/>
                </a:ext>
              </a:extLst>
            </p:cNvPr>
            <p:cNvCxnSpPr>
              <a:cxnSpLocks/>
            </p:cNvCxnSpPr>
            <p:nvPr/>
          </p:nvCxnSpPr>
          <p:spPr>
            <a:xfrm>
              <a:off x="1097557" y="3281164"/>
              <a:ext cx="5153918"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C0DE6E5-67DB-E348-917C-A04DB6075A1B}"/>
                </a:ext>
              </a:extLst>
            </p:cNvPr>
            <p:cNvSpPr/>
            <p:nvPr/>
          </p:nvSpPr>
          <p:spPr>
            <a:xfrm>
              <a:off x="1854228" y="4183767"/>
              <a:ext cx="783360"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Ext4</a:t>
              </a:r>
              <a:endParaRPr lang="en-CN" sz="1050" dirty="0"/>
            </a:p>
          </p:txBody>
        </p:sp>
        <p:sp>
          <p:nvSpPr>
            <p:cNvPr id="11" name="Rectangle 10">
              <a:extLst>
                <a:ext uri="{FF2B5EF4-FFF2-40B4-BE49-F238E27FC236}">
                  <a16:creationId xmlns:a16="http://schemas.microsoft.com/office/drawing/2014/main" id="{F8859445-8A3C-6645-BC54-CF8069FF1B56}"/>
                </a:ext>
              </a:extLst>
            </p:cNvPr>
            <p:cNvSpPr/>
            <p:nvPr/>
          </p:nvSpPr>
          <p:spPr>
            <a:xfrm>
              <a:off x="2767884" y="4183767"/>
              <a:ext cx="783360"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XFS</a:t>
              </a:r>
              <a:endParaRPr lang="en-CN" sz="1050" dirty="0"/>
            </a:p>
          </p:txBody>
        </p:sp>
        <p:sp>
          <p:nvSpPr>
            <p:cNvPr id="12" name="Rectangle 11">
              <a:extLst>
                <a:ext uri="{FF2B5EF4-FFF2-40B4-BE49-F238E27FC236}">
                  <a16:creationId xmlns:a16="http://schemas.microsoft.com/office/drawing/2014/main" id="{E8BAAD2C-5E02-744B-8BF5-C1F88D1D68C0}"/>
                </a:ext>
              </a:extLst>
            </p:cNvPr>
            <p:cNvSpPr/>
            <p:nvPr/>
          </p:nvSpPr>
          <p:spPr>
            <a:xfrm>
              <a:off x="3681540" y="4183767"/>
              <a:ext cx="783360"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F2FS</a:t>
              </a:r>
              <a:endParaRPr lang="en-CN" sz="1050" dirty="0"/>
            </a:p>
          </p:txBody>
        </p:sp>
        <p:sp>
          <p:nvSpPr>
            <p:cNvPr id="15" name="Rectangle 14">
              <a:extLst>
                <a:ext uri="{FF2B5EF4-FFF2-40B4-BE49-F238E27FC236}">
                  <a16:creationId xmlns:a16="http://schemas.microsoft.com/office/drawing/2014/main" id="{15E57762-73D8-7E43-8214-B0105D0AAF6D}"/>
                </a:ext>
              </a:extLst>
            </p:cNvPr>
            <p:cNvSpPr/>
            <p:nvPr/>
          </p:nvSpPr>
          <p:spPr>
            <a:xfrm>
              <a:off x="1864624" y="3475722"/>
              <a:ext cx="2808312" cy="4139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t>虚拟文件系统</a:t>
              </a:r>
              <a:endParaRPr lang="en-CN" sz="1050" dirty="0"/>
            </a:p>
          </p:txBody>
        </p:sp>
        <p:sp>
          <p:nvSpPr>
            <p:cNvPr id="18" name="TextBox 17">
              <a:extLst>
                <a:ext uri="{FF2B5EF4-FFF2-40B4-BE49-F238E27FC236}">
                  <a16:creationId xmlns:a16="http://schemas.microsoft.com/office/drawing/2014/main" id="{8075CE90-5C12-7B45-B00F-035697A57B98}"/>
                </a:ext>
              </a:extLst>
            </p:cNvPr>
            <p:cNvSpPr txBox="1"/>
            <p:nvPr/>
          </p:nvSpPr>
          <p:spPr>
            <a:xfrm>
              <a:off x="1196535" y="3539592"/>
              <a:ext cx="698432" cy="391429"/>
            </a:xfrm>
            <a:prstGeom prst="rect">
              <a:avLst/>
            </a:prstGeom>
            <a:noFill/>
          </p:spPr>
          <p:txBody>
            <a:bodyPr wrap="none" rtlCol="0">
              <a:spAutoFit/>
            </a:bodyPr>
            <a:lstStyle/>
            <a:p>
              <a:r>
                <a:rPr lang="zh-CN" altLang="en-US" sz="1050" dirty="0"/>
                <a:t>内核</a:t>
              </a:r>
              <a:endParaRPr lang="en-CN" sz="1050" dirty="0"/>
            </a:p>
          </p:txBody>
        </p:sp>
        <p:sp>
          <p:nvSpPr>
            <p:cNvPr id="20" name="Rectangle 19">
              <a:extLst>
                <a:ext uri="{FF2B5EF4-FFF2-40B4-BE49-F238E27FC236}">
                  <a16:creationId xmlns:a16="http://schemas.microsoft.com/office/drawing/2014/main" id="{F7D1F095-A7FD-084B-BB1A-D335F51925BA}"/>
                </a:ext>
              </a:extLst>
            </p:cNvPr>
            <p:cNvSpPr/>
            <p:nvPr/>
          </p:nvSpPr>
          <p:spPr>
            <a:xfrm>
              <a:off x="5112654" y="3700693"/>
              <a:ext cx="1138821" cy="84770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FUSE</a:t>
              </a:r>
              <a:r>
                <a:rPr lang="zh-CN" altLang="en-US" sz="1050" dirty="0"/>
                <a:t> 驱动</a:t>
              </a:r>
              <a:endParaRPr lang="en-CN" sz="1050" dirty="0"/>
            </a:p>
          </p:txBody>
        </p:sp>
        <p:sp>
          <p:nvSpPr>
            <p:cNvPr id="21" name="TextBox 20">
              <a:extLst>
                <a:ext uri="{FF2B5EF4-FFF2-40B4-BE49-F238E27FC236}">
                  <a16:creationId xmlns:a16="http://schemas.microsoft.com/office/drawing/2014/main" id="{5751CFE6-1B72-6F43-A804-354AA8400AB7}"/>
                </a:ext>
              </a:extLst>
            </p:cNvPr>
            <p:cNvSpPr txBox="1"/>
            <p:nvPr/>
          </p:nvSpPr>
          <p:spPr>
            <a:xfrm>
              <a:off x="965702" y="2751054"/>
              <a:ext cx="909497" cy="391429"/>
            </a:xfrm>
            <a:prstGeom prst="rect">
              <a:avLst/>
            </a:prstGeom>
            <a:noFill/>
          </p:spPr>
          <p:txBody>
            <a:bodyPr wrap="none" rtlCol="0">
              <a:spAutoFit/>
            </a:bodyPr>
            <a:lstStyle/>
            <a:p>
              <a:r>
                <a:rPr lang="zh-CN" altLang="en-US" sz="1050" dirty="0"/>
                <a:t>用户态</a:t>
              </a:r>
              <a:endParaRPr lang="en-CN" sz="1050" dirty="0"/>
            </a:p>
          </p:txBody>
        </p:sp>
        <p:sp>
          <p:nvSpPr>
            <p:cNvPr id="23" name="Rectangle 22">
              <a:extLst>
                <a:ext uri="{FF2B5EF4-FFF2-40B4-BE49-F238E27FC236}">
                  <a16:creationId xmlns:a16="http://schemas.microsoft.com/office/drawing/2014/main" id="{F0D119DF-0509-B34D-BCA2-CDB276B3FF91}"/>
                </a:ext>
              </a:extLst>
            </p:cNvPr>
            <p:cNvSpPr/>
            <p:nvPr/>
          </p:nvSpPr>
          <p:spPr>
            <a:xfrm>
              <a:off x="4742829" y="2672647"/>
              <a:ext cx="1508646" cy="36932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FUSE</a:t>
              </a:r>
              <a:r>
                <a:rPr lang="zh-CN" altLang="en-US" sz="1050" dirty="0"/>
                <a:t>库</a:t>
              </a:r>
              <a:endParaRPr lang="en-CN" sz="1050" dirty="0"/>
            </a:p>
          </p:txBody>
        </p:sp>
        <p:sp>
          <p:nvSpPr>
            <p:cNvPr id="24" name="Rectangle 23">
              <a:extLst>
                <a:ext uri="{FF2B5EF4-FFF2-40B4-BE49-F238E27FC236}">
                  <a16:creationId xmlns:a16="http://schemas.microsoft.com/office/drawing/2014/main" id="{7E5ECC8A-A9ED-5743-B721-D6AECAA039A0}"/>
                </a:ext>
              </a:extLst>
            </p:cNvPr>
            <p:cNvSpPr/>
            <p:nvPr/>
          </p:nvSpPr>
          <p:spPr>
            <a:xfrm>
              <a:off x="4742829" y="2209427"/>
              <a:ext cx="1508646" cy="46321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1050" dirty="0"/>
                <a:t>FUSE</a:t>
              </a:r>
              <a:r>
                <a:rPr lang="zh-CN" altLang="en-US" sz="1050" dirty="0"/>
                <a:t> 文件系统</a:t>
              </a:r>
              <a:endParaRPr lang="en-CN" sz="1050" dirty="0"/>
            </a:p>
          </p:txBody>
        </p:sp>
        <p:cxnSp>
          <p:nvCxnSpPr>
            <p:cNvPr id="37" name="Straight Arrow Connector 36">
              <a:extLst>
                <a:ext uri="{FF2B5EF4-FFF2-40B4-BE49-F238E27FC236}">
                  <a16:creationId xmlns:a16="http://schemas.microsoft.com/office/drawing/2014/main" id="{485A5305-E882-144C-906E-C43F510F3AE9}"/>
                </a:ext>
              </a:extLst>
            </p:cNvPr>
            <p:cNvCxnSpPr>
              <a:cxnSpLocks/>
              <a:stCxn id="7" idx="2"/>
            </p:cNvCxnSpPr>
            <p:nvPr/>
          </p:nvCxnSpPr>
          <p:spPr>
            <a:xfrm>
              <a:off x="3038292" y="3101144"/>
              <a:ext cx="0" cy="36482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CA3756B-A1B7-E04F-B0B7-F5F30F878B50}"/>
                </a:ext>
              </a:extLst>
            </p:cNvPr>
            <p:cNvCxnSpPr>
              <a:cxnSpLocks/>
            </p:cNvCxnSpPr>
            <p:nvPr/>
          </p:nvCxnSpPr>
          <p:spPr>
            <a:xfrm>
              <a:off x="2245908" y="3899439"/>
              <a:ext cx="0" cy="308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D95057F-8AB6-A646-8C60-8C248CDBBA93}"/>
                </a:ext>
              </a:extLst>
            </p:cNvPr>
            <p:cNvCxnSpPr>
              <a:cxnSpLocks/>
            </p:cNvCxnSpPr>
            <p:nvPr/>
          </p:nvCxnSpPr>
          <p:spPr>
            <a:xfrm>
              <a:off x="3159564" y="3889682"/>
              <a:ext cx="0" cy="308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350525-881F-9C4F-8DEF-A9881C4B7E7A}"/>
                </a:ext>
              </a:extLst>
            </p:cNvPr>
            <p:cNvCxnSpPr>
              <a:cxnSpLocks/>
            </p:cNvCxnSpPr>
            <p:nvPr/>
          </p:nvCxnSpPr>
          <p:spPr>
            <a:xfrm>
              <a:off x="4073220" y="3889681"/>
              <a:ext cx="0" cy="30870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B076494-93BB-E64E-B443-24D49F35C22A}"/>
                </a:ext>
              </a:extLst>
            </p:cNvPr>
            <p:cNvCxnSpPr>
              <a:cxnSpLocks/>
              <a:stCxn id="15" idx="3"/>
              <a:endCxn id="20" idx="1"/>
            </p:cNvCxnSpPr>
            <p:nvPr/>
          </p:nvCxnSpPr>
          <p:spPr>
            <a:xfrm>
              <a:off x="4672936" y="3682703"/>
              <a:ext cx="439718" cy="441843"/>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47">
              <a:extLst>
                <a:ext uri="{FF2B5EF4-FFF2-40B4-BE49-F238E27FC236}">
                  <a16:creationId xmlns:a16="http://schemas.microsoft.com/office/drawing/2014/main" id="{D4E6DDA4-270B-8448-B7BC-656CECA89014}"/>
                </a:ext>
              </a:extLst>
            </p:cNvPr>
            <p:cNvCxnSpPr>
              <a:cxnSpLocks/>
              <a:stCxn id="20" idx="0"/>
              <a:endCxn id="23" idx="2"/>
            </p:cNvCxnSpPr>
            <p:nvPr/>
          </p:nvCxnSpPr>
          <p:spPr>
            <a:xfrm rot="16200000" flipV="1">
              <a:off x="5260249" y="3278877"/>
              <a:ext cx="658718" cy="184912"/>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60" name="Content Placeholder 2">
            <a:extLst>
              <a:ext uri="{FF2B5EF4-FFF2-40B4-BE49-F238E27FC236}">
                <a16:creationId xmlns:a16="http://schemas.microsoft.com/office/drawing/2014/main" id="{F0C50FC0-48AB-964D-9BFC-A71AD02C9160}"/>
              </a:ext>
            </a:extLst>
          </p:cNvPr>
          <p:cNvSpPr>
            <a:spLocks noGrp="1"/>
          </p:cNvSpPr>
          <p:nvPr>
            <p:ph idx="1"/>
          </p:nvPr>
        </p:nvSpPr>
        <p:spPr>
          <a:xfrm>
            <a:off x="457198" y="1333501"/>
            <a:ext cx="4281261" cy="3771636"/>
          </a:xfrm>
        </p:spPr>
        <p:txBody>
          <a:bodyPr>
            <a:normAutofit/>
          </a:bodyPr>
          <a:lstStyle/>
          <a:p>
            <a:pPr marL="271463" indent="-271463">
              <a:buAutoNum type="arabicPeriod"/>
            </a:pPr>
            <a:r>
              <a:rPr lang="en-US" altLang="zh-CN" sz="1600" b="0" dirty="0"/>
              <a:t>FUSE</a:t>
            </a:r>
            <a:r>
              <a:rPr lang="zh-CN" altLang="en-US" sz="1600" b="0" dirty="0"/>
              <a:t>文件系统向</a:t>
            </a:r>
            <a:r>
              <a:rPr lang="en-US" altLang="zh-CN" sz="1600" b="0" dirty="0"/>
              <a:t>FUSE</a:t>
            </a:r>
            <a:r>
              <a:rPr lang="zh-CN" altLang="en-US" sz="1600" b="0" dirty="0"/>
              <a:t>驱动注册（挂载）</a:t>
            </a:r>
            <a:endParaRPr lang="en-US" altLang="zh-CN" sz="1600" b="0" dirty="0"/>
          </a:p>
          <a:p>
            <a:pPr marL="271463" indent="-271463">
              <a:buAutoNum type="arabicPeriod"/>
            </a:pPr>
            <a:r>
              <a:rPr lang="zh-CN" altLang="en-US" sz="1600" b="0" dirty="0"/>
              <a:t>应用程序发起文件请求</a:t>
            </a:r>
            <a:endParaRPr lang="en-US" altLang="zh-CN" sz="1600" b="0" dirty="0"/>
          </a:p>
          <a:p>
            <a:pPr marL="271463" indent="-271463">
              <a:buAutoNum type="arabicPeriod"/>
            </a:pPr>
            <a:r>
              <a:rPr lang="zh-CN" altLang="en-US" sz="1600" b="0" dirty="0"/>
              <a:t>根据挂载点，</a:t>
            </a:r>
            <a:r>
              <a:rPr lang="en-US" altLang="zh-CN" sz="1600" b="0" dirty="0"/>
              <a:t>VFS</a:t>
            </a:r>
            <a:r>
              <a:rPr lang="zh-CN" altLang="en-US" sz="1600" b="0" dirty="0"/>
              <a:t>将请求转发给</a:t>
            </a:r>
            <a:r>
              <a:rPr lang="en-US" altLang="zh-CN" sz="1600" b="0" dirty="0"/>
              <a:t>FUSE</a:t>
            </a:r>
            <a:r>
              <a:rPr lang="zh-CN" altLang="en-US" sz="1600" b="0" dirty="0"/>
              <a:t>驱动</a:t>
            </a:r>
            <a:endParaRPr lang="en-US" altLang="zh-CN" sz="1600" b="0" dirty="0"/>
          </a:p>
          <a:p>
            <a:pPr marL="271463" indent="-271463">
              <a:buAutoNum type="arabicPeriod"/>
            </a:pPr>
            <a:r>
              <a:rPr lang="en-US" altLang="zh-CN" sz="1600" b="0" dirty="0"/>
              <a:t>FUSE</a:t>
            </a:r>
            <a:r>
              <a:rPr lang="zh-CN" altLang="en-US" sz="1600" b="0" dirty="0"/>
              <a:t>驱动通过中断、共享内存等方式将请求发给</a:t>
            </a:r>
            <a:r>
              <a:rPr lang="en-US" altLang="zh-CN" sz="1600" b="0" dirty="0"/>
              <a:t>FUSE</a:t>
            </a:r>
            <a:r>
              <a:rPr lang="zh-CN" altLang="en-US" sz="1600" b="0" dirty="0"/>
              <a:t>文件系统</a:t>
            </a:r>
            <a:endParaRPr lang="en-US" altLang="zh-CN" sz="1600" b="0" dirty="0"/>
          </a:p>
          <a:p>
            <a:pPr marL="271463" indent="-271463">
              <a:buAutoNum type="arabicPeriod"/>
            </a:pPr>
            <a:r>
              <a:rPr lang="en-US" altLang="zh-CN" sz="1600" b="0" dirty="0"/>
              <a:t>FUSE</a:t>
            </a:r>
            <a:r>
              <a:rPr lang="zh-CN" altLang="en-US" sz="1600" b="0" dirty="0"/>
              <a:t>文件系统处理请求</a:t>
            </a:r>
            <a:endParaRPr lang="en-US" altLang="zh-CN" sz="1600" b="0" dirty="0"/>
          </a:p>
          <a:p>
            <a:pPr marL="271463" indent="-271463">
              <a:buAutoNum type="arabicPeriod"/>
            </a:pPr>
            <a:r>
              <a:rPr lang="en-US" altLang="zh-CN" sz="1600" b="0" dirty="0"/>
              <a:t>FUSE</a:t>
            </a:r>
            <a:r>
              <a:rPr lang="zh-CN" altLang="en-US" sz="1600" b="0" dirty="0"/>
              <a:t>文件系统通知</a:t>
            </a:r>
            <a:r>
              <a:rPr lang="en-US" altLang="zh-CN" sz="1600" b="0" dirty="0"/>
              <a:t>FUSE</a:t>
            </a:r>
            <a:r>
              <a:rPr lang="zh-CN" altLang="en-US" sz="1600" b="0" dirty="0"/>
              <a:t>驱动请求结果</a:t>
            </a:r>
            <a:endParaRPr lang="en-US" altLang="zh-CN" sz="1600" b="0" dirty="0"/>
          </a:p>
          <a:p>
            <a:pPr marL="271463" indent="-271463">
              <a:buAutoNum type="arabicPeriod"/>
            </a:pPr>
            <a:r>
              <a:rPr lang="en-US" altLang="zh-CN" sz="1600" b="0" dirty="0"/>
              <a:t>FUSE</a:t>
            </a:r>
            <a:r>
              <a:rPr lang="zh-CN" altLang="en-US" sz="1600" b="0" dirty="0"/>
              <a:t>驱动通过</a:t>
            </a:r>
            <a:r>
              <a:rPr lang="en-US" altLang="zh-CN" sz="1600" b="0" dirty="0"/>
              <a:t>VFS</a:t>
            </a:r>
            <a:r>
              <a:rPr lang="zh-CN" altLang="en-US" sz="1600" b="0" dirty="0"/>
              <a:t>返回结果给应用程序</a:t>
            </a:r>
            <a:endParaRPr lang="en-US" altLang="zh-CN" sz="1600" b="0" dirty="0"/>
          </a:p>
          <a:p>
            <a:pPr marL="271463" indent="-271463">
              <a:buAutoNum type="arabicPeriod"/>
            </a:pPr>
            <a:endParaRPr lang="en-US" altLang="zh-CN" sz="1600" b="0" dirty="0"/>
          </a:p>
          <a:p>
            <a:pPr marL="271463" indent="-271463">
              <a:buNone/>
            </a:pPr>
            <a:endParaRPr lang="en-US" altLang="zh-CN" sz="1400" b="0" dirty="0"/>
          </a:p>
        </p:txBody>
      </p:sp>
      <p:sp>
        <p:nvSpPr>
          <p:cNvPr id="25" name="TextBox 24">
            <a:extLst>
              <a:ext uri="{FF2B5EF4-FFF2-40B4-BE49-F238E27FC236}">
                <a16:creationId xmlns:a16="http://schemas.microsoft.com/office/drawing/2014/main" id="{D6D877BD-F1EF-2740-B853-1733B9E276F1}"/>
              </a:ext>
            </a:extLst>
          </p:cNvPr>
          <p:cNvSpPr txBox="1"/>
          <p:nvPr/>
        </p:nvSpPr>
        <p:spPr>
          <a:xfrm>
            <a:off x="3960182" y="4636975"/>
            <a:ext cx="5186035" cy="369332"/>
          </a:xfrm>
          <a:prstGeom prst="rect">
            <a:avLst/>
          </a:prstGeom>
          <a:noFill/>
        </p:spPr>
        <p:txBody>
          <a:bodyPr wrap="none" rtlCol="0">
            <a:spAutoFit/>
          </a:bodyPr>
          <a:lstStyle/>
          <a:p>
            <a:r>
              <a:rPr lang="zh-CN" altLang="en-CN" dirty="0">
                <a:solidFill>
                  <a:srgbClr val="C00000"/>
                </a:solidFill>
              </a:rPr>
              <a:t>问题</a:t>
            </a:r>
            <a:r>
              <a:rPr lang="zh-CN" altLang="en-US" dirty="0">
                <a:solidFill>
                  <a:srgbClr val="C00000"/>
                </a:solidFill>
              </a:rPr>
              <a:t>：</a:t>
            </a:r>
            <a:r>
              <a:rPr lang="zh-CN" altLang="en-CN" dirty="0">
                <a:solidFill>
                  <a:srgbClr val="C00000"/>
                </a:solidFill>
              </a:rPr>
              <a:t>从</a:t>
            </a:r>
            <a:r>
              <a:rPr lang="zh-CN" altLang="en-US" dirty="0">
                <a:solidFill>
                  <a:srgbClr val="C00000"/>
                </a:solidFill>
              </a:rPr>
              <a:t>这个流程中可以看出</a:t>
            </a:r>
            <a:r>
              <a:rPr lang="en-US" altLang="zh-CN" dirty="0">
                <a:solidFill>
                  <a:srgbClr val="C00000"/>
                </a:solidFill>
              </a:rPr>
              <a:t>FUSE</a:t>
            </a:r>
            <a:r>
              <a:rPr lang="zh-CN" altLang="en-US" dirty="0">
                <a:solidFill>
                  <a:srgbClr val="C00000"/>
                </a:solidFill>
              </a:rPr>
              <a:t>有什么问题？</a:t>
            </a:r>
            <a:endParaRPr lang="en-CN" dirty="0">
              <a:solidFill>
                <a:srgbClr val="C00000"/>
              </a:solidFill>
            </a:endParaRPr>
          </a:p>
        </p:txBody>
      </p:sp>
    </p:spTree>
    <p:extLst>
      <p:ext uri="{BB962C8B-B14F-4D97-AF65-F5344CB8AC3E}">
        <p14:creationId xmlns:p14="http://schemas.microsoft.com/office/powerpoint/2010/main" val="69305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
                                            <p:txEl>
                                              <p:pRg st="0" end="0"/>
                                            </p:txEl>
                                          </p:spTgt>
                                        </p:tgtEl>
                                        <p:attrNameLst>
                                          <p:attrName>style.visibility</p:attrName>
                                        </p:attrNameLst>
                                      </p:cBhvr>
                                      <p:to>
                                        <p:strVal val="visible"/>
                                      </p:to>
                                    </p:set>
                                    <p:animEffect transition="in" filter="fade">
                                      <p:cBhvr>
                                        <p:cTn id="7" dur="250"/>
                                        <p:tgtEl>
                                          <p:spTgt spid="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
                                            <p:txEl>
                                              <p:pRg st="1" end="1"/>
                                            </p:txEl>
                                          </p:spTgt>
                                        </p:tgtEl>
                                        <p:attrNameLst>
                                          <p:attrName>style.visibility</p:attrName>
                                        </p:attrNameLst>
                                      </p:cBhvr>
                                      <p:to>
                                        <p:strVal val="visible"/>
                                      </p:to>
                                    </p:set>
                                    <p:animEffect transition="in" filter="fade">
                                      <p:cBhvr>
                                        <p:cTn id="12" dur="250"/>
                                        <p:tgtEl>
                                          <p:spTgt spid="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0">
                                            <p:txEl>
                                              <p:pRg st="2" end="2"/>
                                            </p:txEl>
                                          </p:spTgt>
                                        </p:tgtEl>
                                        <p:attrNameLst>
                                          <p:attrName>style.visibility</p:attrName>
                                        </p:attrNameLst>
                                      </p:cBhvr>
                                      <p:to>
                                        <p:strVal val="visible"/>
                                      </p:to>
                                    </p:set>
                                    <p:animEffect transition="in" filter="fade">
                                      <p:cBhvr>
                                        <p:cTn id="17" dur="250"/>
                                        <p:tgtEl>
                                          <p:spTgt spid="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0">
                                            <p:txEl>
                                              <p:pRg st="3" end="3"/>
                                            </p:txEl>
                                          </p:spTgt>
                                        </p:tgtEl>
                                        <p:attrNameLst>
                                          <p:attrName>style.visibility</p:attrName>
                                        </p:attrNameLst>
                                      </p:cBhvr>
                                      <p:to>
                                        <p:strVal val="visible"/>
                                      </p:to>
                                    </p:set>
                                    <p:animEffect transition="in" filter="fade">
                                      <p:cBhvr>
                                        <p:cTn id="22" dur="250"/>
                                        <p:tgtEl>
                                          <p:spTgt spid="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0">
                                            <p:txEl>
                                              <p:pRg st="4" end="4"/>
                                            </p:txEl>
                                          </p:spTgt>
                                        </p:tgtEl>
                                        <p:attrNameLst>
                                          <p:attrName>style.visibility</p:attrName>
                                        </p:attrNameLst>
                                      </p:cBhvr>
                                      <p:to>
                                        <p:strVal val="visible"/>
                                      </p:to>
                                    </p:set>
                                    <p:animEffect transition="in" filter="fade">
                                      <p:cBhvr>
                                        <p:cTn id="27" dur="250"/>
                                        <p:tgtEl>
                                          <p:spTgt spid="6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0">
                                            <p:txEl>
                                              <p:pRg st="5" end="5"/>
                                            </p:txEl>
                                          </p:spTgt>
                                        </p:tgtEl>
                                        <p:attrNameLst>
                                          <p:attrName>style.visibility</p:attrName>
                                        </p:attrNameLst>
                                      </p:cBhvr>
                                      <p:to>
                                        <p:strVal val="visible"/>
                                      </p:to>
                                    </p:set>
                                    <p:animEffect transition="in" filter="fade">
                                      <p:cBhvr>
                                        <p:cTn id="32" dur="250"/>
                                        <p:tgtEl>
                                          <p:spTgt spid="6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0">
                                            <p:txEl>
                                              <p:pRg st="6" end="6"/>
                                            </p:txEl>
                                          </p:spTgt>
                                        </p:tgtEl>
                                        <p:attrNameLst>
                                          <p:attrName>style.visibility</p:attrName>
                                        </p:attrNameLst>
                                      </p:cBhvr>
                                      <p:to>
                                        <p:strVal val="visible"/>
                                      </p:to>
                                    </p:set>
                                    <p:animEffect transition="in" filter="fade">
                                      <p:cBhvr>
                                        <p:cTn id="37" dur="250"/>
                                        <p:tgtEl>
                                          <p:spTgt spid="6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uiExpand="1" build="p"/>
      <p:bldP spid="2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45622-8CB7-824C-9D73-D92067708046}"/>
              </a:ext>
            </a:extLst>
          </p:cNvPr>
          <p:cNvSpPr>
            <a:spLocks noGrp="1"/>
          </p:cNvSpPr>
          <p:nvPr>
            <p:ph type="title"/>
          </p:nvPr>
        </p:nvSpPr>
        <p:spPr/>
        <p:txBody>
          <a:bodyPr/>
          <a:lstStyle/>
          <a:p>
            <a:r>
              <a:rPr lang="en-CN" dirty="0"/>
              <a:t>FUSE</a:t>
            </a:r>
            <a:r>
              <a:rPr lang="zh-CN" altLang="en-US" dirty="0"/>
              <a:t> </a:t>
            </a:r>
            <a:r>
              <a:rPr lang="en-US" altLang="zh-CN" dirty="0"/>
              <a:t>API</a:t>
            </a:r>
            <a:endParaRPr lang="en-CN" dirty="0"/>
          </a:p>
        </p:txBody>
      </p:sp>
      <p:sp>
        <p:nvSpPr>
          <p:cNvPr id="3" name="Content Placeholder 2">
            <a:extLst>
              <a:ext uri="{FF2B5EF4-FFF2-40B4-BE49-F238E27FC236}">
                <a16:creationId xmlns:a16="http://schemas.microsoft.com/office/drawing/2014/main" id="{43BFF4BA-D71A-484E-A4C1-BB415D9FFF0A}"/>
              </a:ext>
            </a:extLst>
          </p:cNvPr>
          <p:cNvSpPr>
            <a:spLocks noGrp="1"/>
          </p:cNvSpPr>
          <p:nvPr>
            <p:ph idx="1"/>
          </p:nvPr>
        </p:nvSpPr>
        <p:spPr/>
        <p:txBody>
          <a:bodyPr/>
          <a:lstStyle/>
          <a:p>
            <a:r>
              <a:rPr lang="zh-CN" altLang="en-US" dirty="0"/>
              <a:t>底层</a:t>
            </a:r>
            <a:r>
              <a:rPr lang="en-US" altLang="zh-CN" dirty="0"/>
              <a:t>API</a:t>
            </a:r>
          </a:p>
          <a:p>
            <a:pPr lvl="1"/>
            <a:r>
              <a:rPr lang="zh-CN" altLang="en-US" dirty="0"/>
              <a:t>直接与内核交互</a:t>
            </a:r>
            <a:endParaRPr lang="en-US" altLang="zh-CN" dirty="0"/>
          </a:p>
          <a:p>
            <a:pPr lvl="1"/>
            <a:r>
              <a:rPr lang="zh-CN" altLang="en-US" dirty="0"/>
              <a:t>需要负责处理</a:t>
            </a:r>
            <a:r>
              <a:rPr lang="en-US" altLang="zh-CN" dirty="0" err="1"/>
              <a:t>inode</a:t>
            </a:r>
            <a:r>
              <a:rPr lang="zh-CN" altLang="en-US" dirty="0"/>
              <a:t>和查找等操作</a:t>
            </a:r>
            <a:endParaRPr lang="en-US" altLang="zh-CN" dirty="0"/>
          </a:p>
          <a:p>
            <a:pPr lvl="1"/>
            <a:r>
              <a:rPr lang="zh-CN" altLang="en-US" dirty="0"/>
              <a:t>需要处理内核版本等差异</a:t>
            </a:r>
            <a:endParaRPr lang="en-US" altLang="zh-CN" dirty="0"/>
          </a:p>
          <a:p>
            <a:r>
              <a:rPr lang="zh-CN" altLang="en-US" dirty="0"/>
              <a:t>高层</a:t>
            </a:r>
            <a:r>
              <a:rPr lang="en-US" altLang="zh-CN" dirty="0"/>
              <a:t>API</a:t>
            </a:r>
          </a:p>
          <a:p>
            <a:pPr lvl="1"/>
            <a:r>
              <a:rPr lang="zh-CN" altLang="en-US" dirty="0"/>
              <a:t>构建于底层</a:t>
            </a:r>
            <a:r>
              <a:rPr lang="en-US" altLang="zh-CN" dirty="0"/>
              <a:t>API</a:t>
            </a:r>
            <a:r>
              <a:rPr lang="zh-CN" altLang="en-US" dirty="0"/>
              <a:t>之上</a:t>
            </a:r>
            <a:endParaRPr lang="en-US" altLang="zh-CN" dirty="0"/>
          </a:p>
          <a:p>
            <a:pPr lvl="1"/>
            <a:r>
              <a:rPr lang="zh-CN" altLang="en-US" dirty="0"/>
              <a:t>以路径名为参数</a:t>
            </a:r>
            <a:endParaRPr lang="en-US" altLang="zh-CN" dirty="0"/>
          </a:p>
          <a:p>
            <a:pPr lvl="1"/>
            <a:r>
              <a:rPr lang="zh-CN" altLang="en-US" dirty="0"/>
              <a:t>无需关注</a:t>
            </a:r>
            <a:r>
              <a:rPr lang="en-US" altLang="zh-CN" dirty="0" err="1"/>
              <a:t>inode</a:t>
            </a:r>
            <a:r>
              <a:rPr lang="zh-CN" altLang="en-US" dirty="0"/>
              <a:t>、路径和查找</a:t>
            </a:r>
            <a:endParaRPr lang="en-US" altLang="zh-CN" dirty="0"/>
          </a:p>
          <a:p>
            <a:pPr lvl="1"/>
            <a:endParaRPr lang="en-US" dirty="0"/>
          </a:p>
          <a:p>
            <a:pPr lvl="1"/>
            <a:endParaRPr lang="en-CN" dirty="0"/>
          </a:p>
        </p:txBody>
      </p:sp>
      <p:sp>
        <p:nvSpPr>
          <p:cNvPr id="4" name="Slide Number Placeholder 3">
            <a:extLst>
              <a:ext uri="{FF2B5EF4-FFF2-40B4-BE49-F238E27FC236}">
                <a16:creationId xmlns:a16="http://schemas.microsoft.com/office/drawing/2014/main" id="{6430D9C5-3DFF-E14D-A3A4-96BE3788C1A2}"/>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Footer Placeholder 4">
            <a:extLst>
              <a:ext uri="{FF2B5EF4-FFF2-40B4-BE49-F238E27FC236}">
                <a16:creationId xmlns:a16="http://schemas.microsoft.com/office/drawing/2014/main" id="{5390B60F-2516-B949-9C14-97A246FC72E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4411749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F65FB-C9CF-B54C-A23A-EE1D5A6D1724}"/>
              </a:ext>
            </a:extLst>
          </p:cNvPr>
          <p:cNvSpPr>
            <a:spLocks noGrp="1"/>
          </p:cNvSpPr>
          <p:nvPr>
            <p:ph type="title"/>
          </p:nvPr>
        </p:nvSpPr>
        <p:spPr/>
        <p:txBody>
          <a:bodyPr/>
          <a:lstStyle/>
          <a:p>
            <a:r>
              <a:rPr lang="en-CN" dirty="0"/>
              <a:t>FUSE</a:t>
            </a:r>
            <a:r>
              <a:rPr lang="zh-CN" altLang="en-CN" dirty="0"/>
              <a:t>底层</a:t>
            </a:r>
            <a:r>
              <a:rPr lang="en-US" altLang="zh-CN" dirty="0"/>
              <a:t>API</a:t>
            </a:r>
            <a:endParaRPr lang="en-CN" dirty="0"/>
          </a:p>
        </p:txBody>
      </p:sp>
      <p:sp>
        <p:nvSpPr>
          <p:cNvPr id="4" name="Slide Number Placeholder 3">
            <a:extLst>
              <a:ext uri="{FF2B5EF4-FFF2-40B4-BE49-F238E27FC236}">
                <a16:creationId xmlns:a16="http://schemas.microsoft.com/office/drawing/2014/main" id="{1B758FEA-F363-D044-BAFA-6BDCE852DC35}"/>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Footer Placeholder 4">
            <a:extLst>
              <a:ext uri="{FF2B5EF4-FFF2-40B4-BE49-F238E27FC236}">
                <a16:creationId xmlns:a16="http://schemas.microsoft.com/office/drawing/2014/main" id="{24487600-9855-174B-93E6-F0C14AF330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D5C2502F-E470-4D4D-9050-F58811DE685E}"/>
              </a:ext>
            </a:extLst>
          </p:cNvPr>
          <p:cNvSpPr txBox="1"/>
          <p:nvPr/>
        </p:nvSpPr>
        <p:spPr>
          <a:xfrm>
            <a:off x="934616" y="904567"/>
            <a:ext cx="7021760" cy="4401205"/>
          </a:xfrm>
          <a:prstGeom prst="rect">
            <a:avLst/>
          </a:prstGeom>
          <a:solidFill>
            <a:schemeClr val="accent6">
              <a:lumMod val="20000"/>
              <a:lumOff val="80000"/>
            </a:schemeClr>
          </a:solidFill>
          <a:ln>
            <a:solidFill>
              <a:schemeClr val="bg2"/>
            </a:solidFill>
          </a:ln>
        </p:spPr>
        <p:txBody>
          <a:bodyPr wrap="square" rtlCol="0">
            <a:spAutoFit/>
          </a:bodyPr>
          <a:lstStyle/>
          <a:p>
            <a:r>
              <a:rPr lang="en-US" sz="1000" dirty="0">
                <a:latin typeface="Courier" pitchFamily="2" charset="0"/>
              </a:rPr>
              <a:t>static void </a:t>
            </a:r>
            <a:r>
              <a:rPr lang="en-US" sz="1000" dirty="0" err="1">
                <a:latin typeface="Courier" pitchFamily="2" charset="0"/>
              </a:rPr>
              <a:t>hello_ll_lookup</a:t>
            </a:r>
            <a:r>
              <a:rPr lang="en-US" sz="1000" b="1" dirty="0">
                <a:latin typeface="Courier" pitchFamily="2" charset="0"/>
              </a:rPr>
              <a:t>(</a:t>
            </a:r>
            <a:r>
              <a:rPr lang="en-US" sz="1000" b="1" dirty="0" err="1">
                <a:latin typeface="Courier" pitchFamily="2" charset="0"/>
              </a:rPr>
              <a:t>fuse_req_t</a:t>
            </a:r>
            <a:r>
              <a:rPr lang="en-US" sz="1000" b="1" dirty="0">
                <a:latin typeface="Courier" pitchFamily="2" charset="0"/>
              </a:rPr>
              <a:t> req, </a:t>
            </a:r>
            <a:r>
              <a:rPr lang="en-US" sz="1000" b="1" dirty="0" err="1">
                <a:latin typeface="Courier" pitchFamily="2" charset="0"/>
              </a:rPr>
              <a:t>fuse_ino_t</a:t>
            </a:r>
            <a:r>
              <a:rPr lang="en-US" sz="1000" b="1" dirty="0">
                <a:latin typeface="Courier" pitchFamily="2" charset="0"/>
              </a:rPr>
              <a:t> parent, const char *name)</a:t>
            </a:r>
          </a:p>
          <a:p>
            <a:r>
              <a:rPr lang="en-US" sz="1000" dirty="0">
                <a:latin typeface="Courier" pitchFamily="2" charset="0"/>
              </a:rPr>
              <a:t>{</a:t>
            </a:r>
          </a:p>
          <a:p>
            <a:r>
              <a:rPr lang="zh-CN" altLang="en-US" sz="1000" dirty="0">
                <a:latin typeface="Courier" pitchFamily="2" charset="0"/>
              </a:rPr>
              <a:t>  </a:t>
            </a:r>
            <a:r>
              <a:rPr lang="en-US" sz="1000" dirty="0">
                <a:latin typeface="Courier" pitchFamily="2" charset="0"/>
              </a:rPr>
              <a:t>struct </a:t>
            </a:r>
            <a:r>
              <a:rPr lang="en-US" sz="1000" dirty="0" err="1">
                <a:latin typeface="Courier" pitchFamily="2" charset="0"/>
              </a:rPr>
              <a:t>fuse_entry_param</a:t>
            </a:r>
            <a:r>
              <a:rPr lang="en-US" sz="1000" dirty="0">
                <a:latin typeface="Courier" pitchFamily="2" charset="0"/>
              </a:rPr>
              <a:t> e;</a:t>
            </a:r>
            <a:r>
              <a:rPr lang="zh-CN" altLang="en-US" sz="1000" dirty="0">
                <a:latin typeface="Courier" pitchFamily="2" charset="0"/>
              </a:rPr>
              <a:t>  </a:t>
            </a:r>
            <a:r>
              <a:rPr lang="en-US" sz="1000" dirty="0" err="1">
                <a:latin typeface="Courier" pitchFamily="2" charset="0"/>
              </a:rPr>
              <a:t>e.ino</a:t>
            </a:r>
            <a:r>
              <a:rPr lang="en-US" sz="1000" dirty="0">
                <a:latin typeface="Courier" pitchFamily="2" charset="0"/>
              </a:rPr>
              <a:t> = 2;</a:t>
            </a:r>
          </a:p>
          <a:p>
            <a:r>
              <a:rPr lang="zh-CN" altLang="en-US" sz="1000" dirty="0">
                <a:latin typeface="Courier" pitchFamily="2" charset="0"/>
              </a:rPr>
              <a:t>  </a:t>
            </a:r>
            <a:r>
              <a:rPr lang="en-US" sz="1000" dirty="0" err="1">
                <a:latin typeface="Courier" pitchFamily="2" charset="0"/>
              </a:rPr>
              <a:t>hello_stat</a:t>
            </a:r>
            <a:r>
              <a:rPr lang="en-US" sz="1000" dirty="0">
                <a:latin typeface="Courier" pitchFamily="2" charset="0"/>
              </a:rPr>
              <a:t>(</a:t>
            </a:r>
            <a:r>
              <a:rPr lang="en-US" sz="1000" dirty="0" err="1">
                <a:latin typeface="Courier" pitchFamily="2" charset="0"/>
              </a:rPr>
              <a:t>e.ino</a:t>
            </a:r>
            <a:r>
              <a:rPr lang="en-US" sz="1000" dirty="0">
                <a:latin typeface="Courier" pitchFamily="2" charset="0"/>
              </a:rPr>
              <a:t>, &amp;</a:t>
            </a:r>
            <a:r>
              <a:rPr lang="en-US" sz="1000" dirty="0" err="1">
                <a:latin typeface="Courier" pitchFamily="2" charset="0"/>
              </a:rPr>
              <a:t>e.attr</a:t>
            </a:r>
            <a:r>
              <a:rPr lang="en-US" sz="1000" dirty="0">
                <a:latin typeface="Courier" pitchFamily="2" charset="0"/>
              </a:rPr>
              <a:t>);</a:t>
            </a:r>
          </a:p>
          <a:p>
            <a:r>
              <a:rPr lang="zh-CN" altLang="en-US" sz="1000" dirty="0">
                <a:latin typeface="Courier" pitchFamily="2" charset="0"/>
              </a:rPr>
              <a:t>  </a:t>
            </a:r>
            <a:r>
              <a:rPr lang="en-US" sz="1000" dirty="0" err="1">
                <a:latin typeface="Courier" pitchFamily="2" charset="0"/>
              </a:rPr>
              <a:t>fuse_reply_entry</a:t>
            </a:r>
            <a:r>
              <a:rPr lang="en-US" sz="1000" dirty="0">
                <a:latin typeface="Courier" pitchFamily="2" charset="0"/>
              </a:rPr>
              <a:t>(req, &amp;e);</a:t>
            </a:r>
          </a:p>
          <a:p>
            <a:r>
              <a:rPr lang="en-US" sz="1000" dirty="0">
                <a:latin typeface="Courier" pitchFamily="2" charset="0"/>
              </a:rPr>
              <a:t>}</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a:t>
            </a:r>
            <a:r>
              <a:rPr lang="en-US" altLang="zh-CN" sz="1000" b="1" dirty="0">
                <a:solidFill>
                  <a:srgbClr val="C00000"/>
                </a:solidFill>
                <a:latin typeface="Courier" pitchFamily="2" charset="0"/>
              </a:rPr>
              <a:t>lookup</a:t>
            </a:r>
            <a:r>
              <a:rPr lang="zh-CN" altLang="en-US" sz="1000" b="1" dirty="0">
                <a:solidFill>
                  <a:srgbClr val="C00000"/>
                </a:solidFill>
                <a:latin typeface="Courier" pitchFamily="2" charset="0"/>
              </a:rPr>
              <a:t>：根据父目录</a:t>
            </a:r>
            <a:r>
              <a:rPr lang="en-US" altLang="zh-CN" sz="1000" b="1" dirty="0" err="1">
                <a:solidFill>
                  <a:srgbClr val="C00000"/>
                </a:solidFill>
                <a:latin typeface="Courier" pitchFamily="2" charset="0"/>
              </a:rPr>
              <a:t>ino</a:t>
            </a:r>
            <a:r>
              <a:rPr lang="zh-CN" altLang="en-US" sz="1000" b="1" dirty="0">
                <a:solidFill>
                  <a:srgbClr val="C00000"/>
                </a:solidFill>
                <a:latin typeface="Courier" pitchFamily="2" charset="0"/>
              </a:rPr>
              <a:t>和文件名，返回查找结果</a:t>
            </a:r>
            <a:br>
              <a:rPr lang="en-US" sz="1000" dirty="0">
                <a:latin typeface="Courier" pitchFamily="2" charset="0"/>
              </a:rPr>
            </a:br>
            <a:r>
              <a:rPr lang="en-US" sz="1000" dirty="0">
                <a:latin typeface="Courier" pitchFamily="2" charset="0"/>
              </a:rPr>
              <a:t>static void </a:t>
            </a:r>
            <a:r>
              <a:rPr lang="en-US" sz="1000" dirty="0" err="1">
                <a:latin typeface="Courier" pitchFamily="2" charset="0"/>
              </a:rPr>
              <a:t>hello_ll_read</a:t>
            </a:r>
            <a:r>
              <a:rPr lang="en-US" sz="1000" b="1" dirty="0">
                <a:latin typeface="Courier" pitchFamily="2" charset="0"/>
              </a:rPr>
              <a:t>(</a:t>
            </a:r>
            <a:r>
              <a:rPr lang="en-US" sz="1000" b="1" dirty="0" err="1">
                <a:latin typeface="Courier" pitchFamily="2" charset="0"/>
              </a:rPr>
              <a:t>fuse_req_t</a:t>
            </a:r>
            <a:r>
              <a:rPr lang="en-US" sz="1000" b="1" dirty="0">
                <a:latin typeface="Courier" pitchFamily="2" charset="0"/>
              </a:rPr>
              <a:t> req, </a:t>
            </a:r>
            <a:r>
              <a:rPr lang="en-US" sz="1000" b="1" dirty="0" err="1">
                <a:latin typeface="Courier" pitchFamily="2" charset="0"/>
              </a:rPr>
              <a:t>fuse_ino_t</a:t>
            </a:r>
            <a:r>
              <a:rPr lang="en-US" sz="1000" b="1" dirty="0">
                <a:latin typeface="Courier" pitchFamily="2" charset="0"/>
              </a:rPr>
              <a:t> </a:t>
            </a:r>
            <a:r>
              <a:rPr lang="en-US" sz="1000" b="1" dirty="0" err="1">
                <a:latin typeface="Courier" pitchFamily="2" charset="0"/>
              </a:rPr>
              <a:t>ino</a:t>
            </a:r>
            <a:r>
              <a:rPr lang="en-US" sz="1000" b="1" dirty="0">
                <a:latin typeface="Courier" pitchFamily="2" charset="0"/>
              </a:rPr>
              <a:t>, </a:t>
            </a:r>
            <a:r>
              <a:rPr lang="en-US" sz="1000" b="1" dirty="0" err="1">
                <a:latin typeface="Courier" pitchFamily="2" charset="0"/>
              </a:rPr>
              <a:t>size_t</a:t>
            </a:r>
            <a:r>
              <a:rPr lang="en-US" sz="1000" b="1" dirty="0">
                <a:latin typeface="Courier" pitchFamily="2" charset="0"/>
              </a:rPr>
              <a:t> size,</a:t>
            </a:r>
          </a:p>
          <a:p>
            <a:r>
              <a:rPr lang="zh-CN" altLang="en-US" sz="1000" b="1" dirty="0">
                <a:latin typeface="Courier" pitchFamily="2" charset="0"/>
              </a:rPr>
              <a:t>                          </a:t>
            </a:r>
            <a:r>
              <a:rPr lang="en-US" sz="1000" b="1" dirty="0" err="1">
                <a:latin typeface="Courier" pitchFamily="2" charset="0"/>
              </a:rPr>
              <a:t>off_t</a:t>
            </a:r>
            <a:r>
              <a:rPr lang="en-US" sz="1000" b="1" dirty="0">
                <a:latin typeface="Courier" pitchFamily="2" charset="0"/>
              </a:rPr>
              <a:t> off, struct </a:t>
            </a:r>
            <a:r>
              <a:rPr lang="en-US" sz="1000" b="1" dirty="0" err="1">
                <a:latin typeface="Courier" pitchFamily="2" charset="0"/>
              </a:rPr>
              <a:t>fuse_file_info</a:t>
            </a:r>
            <a:r>
              <a:rPr lang="en-US" sz="1000" b="1" dirty="0">
                <a:latin typeface="Courier" pitchFamily="2" charset="0"/>
              </a:rPr>
              <a:t> *fi)</a:t>
            </a:r>
          </a:p>
          <a:p>
            <a:r>
              <a:rPr lang="en-US" sz="1000" dirty="0">
                <a:latin typeface="Courier" pitchFamily="2" charset="0"/>
              </a:rPr>
              <a:t>{</a:t>
            </a:r>
          </a:p>
          <a:p>
            <a:r>
              <a:rPr lang="zh-CN" altLang="en-US" sz="1000" dirty="0">
                <a:latin typeface="Courier" pitchFamily="2" charset="0"/>
              </a:rPr>
              <a:t>  </a:t>
            </a:r>
            <a:r>
              <a:rPr lang="en-US" sz="1000" dirty="0">
                <a:latin typeface="Courier" pitchFamily="2" charset="0"/>
              </a:rPr>
              <a:t>assert(</a:t>
            </a:r>
            <a:r>
              <a:rPr lang="en-US" sz="1000" dirty="0" err="1">
                <a:latin typeface="Courier" pitchFamily="2" charset="0"/>
              </a:rPr>
              <a:t>ino</a:t>
            </a:r>
            <a:r>
              <a:rPr lang="en-US" sz="1000" dirty="0">
                <a:latin typeface="Courier" pitchFamily="2" charset="0"/>
              </a:rPr>
              <a:t> == 2);</a:t>
            </a:r>
          </a:p>
          <a:p>
            <a:r>
              <a:rPr lang="zh-CN" altLang="en-US" sz="1000" dirty="0">
                <a:latin typeface="Courier" pitchFamily="2" charset="0"/>
              </a:rPr>
              <a:t>  </a:t>
            </a:r>
            <a:r>
              <a:rPr lang="en-US" sz="1000" dirty="0" err="1">
                <a:latin typeface="Courier" pitchFamily="2" charset="0"/>
              </a:rPr>
              <a:t>reply_buf_limited</a:t>
            </a:r>
            <a:r>
              <a:rPr lang="en-US" sz="1000" dirty="0">
                <a:latin typeface="Courier" pitchFamily="2" charset="0"/>
              </a:rPr>
              <a:t>(req, </a:t>
            </a:r>
            <a:r>
              <a:rPr lang="en-US" sz="1000" dirty="0" err="1">
                <a:latin typeface="Courier" pitchFamily="2" charset="0"/>
              </a:rPr>
              <a:t>hello_str</a:t>
            </a:r>
            <a:r>
              <a:rPr lang="en-US" sz="1000" dirty="0">
                <a:latin typeface="Courier" pitchFamily="2" charset="0"/>
              </a:rPr>
              <a:t>, </a:t>
            </a:r>
            <a:r>
              <a:rPr lang="en-US" sz="1000" dirty="0" err="1">
                <a:latin typeface="Courier" pitchFamily="2" charset="0"/>
              </a:rPr>
              <a:t>strlen</a:t>
            </a:r>
            <a:r>
              <a:rPr lang="en-US" sz="1000" dirty="0">
                <a:latin typeface="Courier" pitchFamily="2" charset="0"/>
              </a:rPr>
              <a:t>(</a:t>
            </a:r>
            <a:r>
              <a:rPr lang="en-US" sz="1000" dirty="0" err="1">
                <a:latin typeface="Courier" pitchFamily="2" charset="0"/>
              </a:rPr>
              <a:t>hello_str</a:t>
            </a:r>
            <a:r>
              <a:rPr lang="en-US" sz="1000" dirty="0">
                <a:latin typeface="Courier" pitchFamily="2" charset="0"/>
              </a:rPr>
              <a:t>), off, size);</a:t>
            </a:r>
          </a:p>
          <a:p>
            <a:r>
              <a:rPr lang="en-US" sz="1000" dirty="0">
                <a:latin typeface="Courier" pitchFamily="2" charset="0"/>
              </a:rPr>
              <a:t>}</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a:t>
            </a:r>
            <a:r>
              <a:rPr lang="en-US" altLang="zh-CN" sz="1000" b="1" dirty="0">
                <a:solidFill>
                  <a:srgbClr val="C00000"/>
                </a:solidFill>
                <a:latin typeface="Courier" pitchFamily="2" charset="0"/>
              </a:rPr>
              <a:t>read</a:t>
            </a:r>
            <a:r>
              <a:rPr lang="zh-CN" altLang="en-US" sz="1000" b="1" dirty="0">
                <a:solidFill>
                  <a:srgbClr val="C00000"/>
                </a:solidFill>
                <a:latin typeface="Courier" pitchFamily="2" charset="0"/>
              </a:rPr>
              <a:t>：根据</a:t>
            </a:r>
            <a:r>
              <a:rPr lang="en-US" altLang="zh-CN" sz="1000" b="1" dirty="0" err="1">
                <a:solidFill>
                  <a:srgbClr val="C00000"/>
                </a:solidFill>
                <a:latin typeface="Courier" pitchFamily="2" charset="0"/>
              </a:rPr>
              <a:t>ino</a:t>
            </a:r>
            <a:r>
              <a:rPr lang="zh-CN" altLang="en-US" sz="1000" b="1" dirty="0">
                <a:solidFill>
                  <a:srgbClr val="C00000"/>
                </a:solidFill>
                <a:latin typeface="Courier" pitchFamily="2" charset="0"/>
              </a:rPr>
              <a:t>，返回请求</a:t>
            </a:r>
            <a:endParaRPr lang="en-US" sz="1000" dirty="0">
              <a:latin typeface="Courier" pitchFamily="2" charset="0"/>
            </a:endParaRPr>
          </a:p>
          <a:p>
            <a:endParaRPr lang="en-US" sz="1000" dirty="0">
              <a:latin typeface="Courier" pitchFamily="2" charset="0"/>
            </a:endParaRPr>
          </a:p>
          <a:p>
            <a:r>
              <a:rPr lang="en-US" sz="1000" dirty="0">
                <a:latin typeface="Courier" pitchFamily="2" charset="0"/>
              </a:rPr>
              <a:t>static const struct </a:t>
            </a:r>
            <a:r>
              <a:rPr lang="en-US" sz="1000" dirty="0" err="1">
                <a:latin typeface="Courier" pitchFamily="2" charset="0"/>
              </a:rPr>
              <a:t>fuse_lowlevel_ops</a:t>
            </a:r>
            <a:r>
              <a:rPr lang="en-US" sz="1000" dirty="0">
                <a:latin typeface="Courier" pitchFamily="2" charset="0"/>
              </a:rPr>
              <a:t> </a:t>
            </a:r>
            <a:r>
              <a:rPr lang="en-US" sz="1000" dirty="0" err="1">
                <a:latin typeface="Courier" pitchFamily="2" charset="0"/>
              </a:rPr>
              <a:t>hello_ll_oper</a:t>
            </a:r>
            <a:r>
              <a:rPr lang="en-US" sz="1000" dirty="0">
                <a:latin typeface="Courier" pitchFamily="2" charset="0"/>
              </a:rPr>
              <a:t> = {</a:t>
            </a:r>
          </a:p>
          <a:p>
            <a:r>
              <a:rPr lang="zh-CN" altLang="en-US" sz="1000" b="1" dirty="0">
                <a:latin typeface="Courier" pitchFamily="2" charset="0"/>
              </a:rPr>
              <a:t>  </a:t>
            </a:r>
            <a:r>
              <a:rPr lang="en-US" sz="1000" b="1" dirty="0">
                <a:latin typeface="Courier" pitchFamily="2" charset="0"/>
              </a:rPr>
              <a:t>.lookup = </a:t>
            </a:r>
            <a:r>
              <a:rPr lang="en-US" sz="1000" b="1" dirty="0" err="1">
                <a:latin typeface="Courier" pitchFamily="2" charset="0"/>
              </a:rPr>
              <a:t>hello_ll_lookup</a:t>
            </a:r>
            <a:r>
              <a:rPr lang="en-US" sz="1000" b="1" dirty="0">
                <a:latin typeface="Courier" pitchFamily="2" charset="0"/>
              </a:rPr>
              <a:t>,</a:t>
            </a:r>
          </a:p>
          <a:p>
            <a:r>
              <a:rPr lang="zh-CN" altLang="en-US" sz="1000" dirty="0">
                <a:latin typeface="Courier" pitchFamily="2" charset="0"/>
              </a:rPr>
              <a:t>  </a:t>
            </a:r>
            <a:r>
              <a:rPr lang="en-US" sz="1000" dirty="0">
                <a:latin typeface="Courier" pitchFamily="2" charset="0"/>
              </a:rPr>
              <a:t>.</a:t>
            </a:r>
            <a:r>
              <a:rPr lang="en-US" sz="1000" dirty="0" err="1">
                <a:latin typeface="Courier" pitchFamily="2" charset="0"/>
              </a:rPr>
              <a:t>getattr</a:t>
            </a:r>
            <a:r>
              <a:rPr lang="en-US" sz="1000" dirty="0">
                <a:latin typeface="Courier" pitchFamily="2" charset="0"/>
              </a:rPr>
              <a:t> = </a:t>
            </a:r>
            <a:r>
              <a:rPr lang="en-US" sz="1000" dirty="0" err="1">
                <a:latin typeface="Courier" pitchFamily="2" charset="0"/>
              </a:rPr>
              <a:t>hello_ll_getattr</a:t>
            </a:r>
            <a:r>
              <a:rPr lang="en-US" sz="1000" dirty="0">
                <a:latin typeface="Courier" pitchFamily="2" charset="0"/>
              </a:rPr>
              <a:t>,</a:t>
            </a:r>
          </a:p>
          <a:p>
            <a:r>
              <a:rPr lang="zh-CN" altLang="en-US" sz="1000" dirty="0">
                <a:latin typeface="Courier" pitchFamily="2" charset="0"/>
              </a:rPr>
              <a:t>  </a:t>
            </a:r>
            <a:r>
              <a:rPr lang="en-US" sz="1000" dirty="0">
                <a:latin typeface="Courier" pitchFamily="2" charset="0"/>
              </a:rPr>
              <a:t>.</a:t>
            </a:r>
            <a:r>
              <a:rPr lang="en-US" sz="1000" dirty="0" err="1">
                <a:latin typeface="Courier" pitchFamily="2" charset="0"/>
              </a:rPr>
              <a:t>readdir</a:t>
            </a:r>
            <a:r>
              <a:rPr lang="en-US" sz="1000" dirty="0">
                <a:latin typeface="Courier" pitchFamily="2" charset="0"/>
              </a:rPr>
              <a:t> = </a:t>
            </a:r>
            <a:r>
              <a:rPr lang="en-US" sz="1000" dirty="0" err="1">
                <a:latin typeface="Courier" pitchFamily="2" charset="0"/>
              </a:rPr>
              <a:t>hello_ll_readdir</a:t>
            </a:r>
            <a:r>
              <a:rPr lang="en-US" sz="1000" dirty="0">
                <a:latin typeface="Courier" pitchFamily="2" charset="0"/>
              </a:rPr>
              <a:t>,</a:t>
            </a:r>
          </a:p>
          <a:p>
            <a:r>
              <a:rPr lang="zh-CN" altLang="en-US" sz="1000" dirty="0">
                <a:latin typeface="Courier" pitchFamily="2" charset="0"/>
              </a:rPr>
              <a:t>  </a:t>
            </a:r>
            <a:r>
              <a:rPr lang="en-US" sz="1000" dirty="0">
                <a:latin typeface="Courier" pitchFamily="2" charset="0"/>
              </a:rPr>
              <a:t>.open = </a:t>
            </a:r>
            <a:r>
              <a:rPr lang="en-US" sz="1000" dirty="0" err="1">
                <a:latin typeface="Courier" pitchFamily="2" charset="0"/>
              </a:rPr>
              <a:t>hello_ll_open</a:t>
            </a:r>
            <a:r>
              <a:rPr lang="en-US" sz="1000" dirty="0">
                <a:latin typeface="Courier" pitchFamily="2" charset="0"/>
              </a:rPr>
              <a:t>,</a:t>
            </a:r>
          </a:p>
          <a:p>
            <a:r>
              <a:rPr lang="zh-CN" altLang="en-US" sz="1000" b="1" dirty="0">
                <a:latin typeface="Courier" pitchFamily="2" charset="0"/>
              </a:rPr>
              <a:t>  </a:t>
            </a:r>
            <a:r>
              <a:rPr lang="en-US" sz="1000" b="1" dirty="0">
                <a:latin typeface="Courier" pitchFamily="2" charset="0"/>
              </a:rPr>
              <a:t>.read = </a:t>
            </a:r>
            <a:r>
              <a:rPr lang="en-US" sz="1000" b="1" dirty="0" err="1">
                <a:latin typeface="Courier" pitchFamily="2" charset="0"/>
              </a:rPr>
              <a:t>hello_ll_read</a:t>
            </a:r>
            <a:r>
              <a:rPr lang="en-US" sz="1000" b="1" dirty="0">
                <a:latin typeface="Courier" pitchFamily="2" charset="0"/>
              </a:rPr>
              <a:t>,</a:t>
            </a:r>
          </a:p>
          <a:p>
            <a:r>
              <a:rPr lang="en-US" sz="1000" dirty="0">
                <a:latin typeface="Courier" pitchFamily="2" charset="0"/>
              </a:rPr>
              <a:t>};</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提供函数指针作为回调函数</a:t>
            </a:r>
            <a:endParaRPr lang="en-US" sz="1000" dirty="0">
              <a:latin typeface="Courier" pitchFamily="2" charset="0"/>
            </a:endParaRPr>
          </a:p>
          <a:p>
            <a:endParaRPr lang="en-US" sz="1000" dirty="0">
              <a:latin typeface="Courier" pitchFamily="2" charset="0"/>
            </a:endParaRPr>
          </a:p>
          <a:p>
            <a:r>
              <a:rPr lang="en-US" altLang="zh-CN" sz="1000" dirty="0">
                <a:latin typeface="Courier" pitchFamily="2" charset="0"/>
              </a:rPr>
              <a:t>int</a:t>
            </a:r>
            <a:r>
              <a:rPr lang="zh-CN" altLang="en-US" sz="1000" dirty="0">
                <a:latin typeface="Courier" pitchFamily="2" charset="0"/>
              </a:rPr>
              <a:t> </a:t>
            </a:r>
            <a:r>
              <a:rPr lang="en-US" altLang="zh-CN" sz="1000" dirty="0">
                <a:latin typeface="Courier" pitchFamily="2" charset="0"/>
              </a:rPr>
              <a:t>main()</a:t>
            </a:r>
            <a:r>
              <a:rPr lang="zh-CN" altLang="en-US" sz="1000" dirty="0">
                <a:latin typeface="Courier" pitchFamily="2" charset="0"/>
              </a:rPr>
              <a:t> </a:t>
            </a:r>
            <a:r>
              <a:rPr lang="en-US" altLang="zh-CN" sz="1000" dirty="0">
                <a:latin typeface="Courier" pitchFamily="2" charset="0"/>
              </a:rPr>
              <a:t>{</a:t>
            </a:r>
          </a:p>
          <a:p>
            <a:r>
              <a:rPr lang="zh-CN" altLang="en-US" sz="1000" dirty="0">
                <a:latin typeface="Courier" pitchFamily="2" charset="0"/>
              </a:rPr>
              <a:t>  </a:t>
            </a:r>
            <a:r>
              <a:rPr lang="en-US" altLang="zh-CN" sz="1000" dirty="0">
                <a:latin typeface="Courier" pitchFamily="2" charset="0"/>
              </a:rPr>
              <a:t>...</a:t>
            </a:r>
          </a:p>
          <a:p>
            <a:r>
              <a:rPr lang="zh-CN" altLang="en-US" sz="1000" dirty="0">
                <a:latin typeface="Courier" pitchFamily="2" charset="0"/>
              </a:rPr>
              <a:t>  </a:t>
            </a:r>
            <a:r>
              <a:rPr lang="en-US" altLang="zh-CN" sz="1000" dirty="0">
                <a:latin typeface="Courier" pitchFamily="2" charset="0"/>
              </a:rPr>
              <a:t>se = </a:t>
            </a:r>
            <a:r>
              <a:rPr lang="en-US" altLang="zh-CN" sz="1000" dirty="0" err="1">
                <a:latin typeface="Courier" pitchFamily="2" charset="0"/>
              </a:rPr>
              <a:t>fuse_session_new</a:t>
            </a:r>
            <a:r>
              <a:rPr lang="en-US" altLang="zh-CN" sz="1000" dirty="0">
                <a:latin typeface="Courier" pitchFamily="2" charset="0"/>
              </a:rPr>
              <a:t>(&amp;</a:t>
            </a:r>
            <a:r>
              <a:rPr lang="en-US" altLang="zh-CN" sz="1000" dirty="0" err="1">
                <a:latin typeface="Courier" pitchFamily="2" charset="0"/>
              </a:rPr>
              <a:t>args</a:t>
            </a:r>
            <a:r>
              <a:rPr lang="en-US" altLang="zh-CN" sz="1000" dirty="0">
                <a:latin typeface="Courier" pitchFamily="2" charset="0"/>
              </a:rPr>
              <a:t>, </a:t>
            </a:r>
            <a:r>
              <a:rPr lang="en-US" altLang="zh-CN" sz="1000" b="1" dirty="0">
                <a:latin typeface="Courier" pitchFamily="2" charset="0"/>
              </a:rPr>
              <a:t>&amp;</a:t>
            </a:r>
            <a:r>
              <a:rPr lang="en-US" altLang="zh-CN" sz="1000" b="1" dirty="0" err="1">
                <a:latin typeface="Courier" pitchFamily="2" charset="0"/>
              </a:rPr>
              <a:t>hello_ll_oper</a:t>
            </a:r>
            <a:r>
              <a:rPr lang="en-US" altLang="zh-CN" sz="1000" dirty="0">
                <a:latin typeface="Courier" pitchFamily="2" charset="0"/>
              </a:rPr>
              <a:t>,</a:t>
            </a:r>
            <a:r>
              <a:rPr lang="zh-CN" altLang="en-US" sz="1000" dirty="0">
                <a:latin typeface="Courier" pitchFamily="2" charset="0"/>
              </a:rPr>
              <a:t> </a:t>
            </a:r>
            <a:r>
              <a:rPr lang="en-US" altLang="zh-CN" sz="1000" dirty="0" err="1">
                <a:latin typeface="Courier" pitchFamily="2" charset="0"/>
              </a:rPr>
              <a:t>sizeof</a:t>
            </a:r>
            <a:r>
              <a:rPr lang="en-US" altLang="zh-CN" sz="1000" dirty="0">
                <a:latin typeface="Courier" pitchFamily="2" charset="0"/>
              </a:rPr>
              <a:t>(</a:t>
            </a:r>
            <a:r>
              <a:rPr lang="en-US" altLang="zh-CN" sz="1000" dirty="0" err="1">
                <a:latin typeface="Courier" pitchFamily="2" charset="0"/>
              </a:rPr>
              <a:t>hello_ll_oper</a:t>
            </a:r>
            <a:r>
              <a:rPr lang="en-US" altLang="zh-CN" sz="1000" dirty="0">
                <a:latin typeface="Courier" pitchFamily="2" charset="0"/>
              </a:rPr>
              <a:t>), NULL);</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建立连接</a:t>
            </a:r>
            <a:endParaRPr lang="en-US" sz="1000" b="1" dirty="0">
              <a:solidFill>
                <a:srgbClr val="C00000"/>
              </a:solidFill>
              <a:latin typeface="Courier" pitchFamily="2" charset="0"/>
            </a:endParaRPr>
          </a:p>
          <a:p>
            <a:r>
              <a:rPr lang="zh-CN" altLang="en-US" sz="1000" dirty="0">
                <a:latin typeface="Courier" pitchFamily="2" charset="0"/>
              </a:rPr>
              <a:t>  </a:t>
            </a:r>
            <a:r>
              <a:rPr lang="en-US" altLang="zh-CN" sz="1000" dirty="0" err="1">
                <a:latin typeface="Courier" pitchFamily="2" charset="0"/>
              </a:rPr>
              <a:t>fuse_session_mount</a:t>
            </a:r>
            <a:r>
              <a:rPr lang="en-US" altLang="zh-CN" sz="1000" dirty="0">
                <a:latin typeface="Courier" pitchFamily="2" charset="0"/>
              </a:rPr>
              <a:t>(se, </a:t>
            </a:r>
            <a:r>
              <a:rPr lang="en-US" altLang="zh-CN" sz="1000" dirty="0" err="1">
                <a:latin typeface="Courier" pitchFamily="2" charset="0"/>
              </a:rPr>
              <a:t>opts.mountpoint</a:t>
            </a:r>
            <a:r>
              <a:rPr lang="en-US" altLang="zh-CN" sz="1000" dirty="0">
                <a:latin typeface="Courier" pitchFamily="2" charset="0"/>
              </a:rPr>
              <a:t>);</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挂载</a:t>
            </a:r>
            <a:endParaRPr lang="en-US" altLang="zh-CN" sz="1000" dirty="0">
              <a:latin typeface="Courier" pitchFamily="2" charset="0"/>
            </a:endParaRPr>
          </a:p>
          <a:p>
            <a:r>
              <a:rPr lang="zh-CN" altLang="en-US" sz="1000" dirty="0">
                <a:latin typeface="Courier" pitchFamily="2" charset="0"/>
              </a:rPr>
              <a:t>  </a:t>
            </a:r>
            <a:r>
              <a:rPr lang="en-US" altLang="zh-CN" sz="1000" dirty="0">
                <a:latin typeface="Courier" pitchFamily="2" charset="0"/>
              </a:rPr>
              <a:t>ret = </a:t>
            </a:r>
            <a:r>
              <a:rPr lang="en-US" altLang="zh-CN" sz="1000" dirty="0" err="1">
                <a:latin typeface="Courier" pitchFamily="2" charset="0"/>
              </a:rPr>
              <a:t>fuse_session_loop</a:t>
            </a:r>
            <a:r>
              <a:rPr lang="en-US" altLang="zh-CN" sz="1000" dirty="0">
                <a:latin typeface="Courier" pitchFamily="2" charset="0"/>
              </a:rPr>
              <a:t>(se);</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等待请求和回调</a:t>
            </a:r>
            <a:endParaRPr lang="en-US" sz="1000" b="1" dirty="0">
              <a:solidFill>
                <a:srgbClr val="C00000"/>
              </a:solidFill>
              <a:latin typeface="Courier" pitchFamily="2" charset="0"/>
            </a:endParaRPr>
          </a:p>
          <a:p>
            <a:r>
              <a:rPr lang="en-US" altLang="zh-CN" sz="1000" dirty="0">
                <a:latin typeface="Courier" pitchFamily="2" charset="0"/>
              </a:rPr>
              <a:t>}</a:t>
            </a:r>
            <a:endParaRPr lang="en-US" sz="1000" dirty="0">
              <a:latin typeface="Courier" pitchFamily="2" charset="0"/>
            </a:endParaRPr>
          </a:p>
        </p:txBody>
      </p:sp>
      <p:sp>
        <p:nvSpPr>
          <p:cNvPr id="7" name="Rectangle 6">
            <a:extLst>
              <a:ext uri="{FF2B5EF4-FFF2-40B4-BE49-F238E27FC236}">
                <a16:creationId xmlns:a16="http://schemas.microsoft.com/office/drawing/2014/main" id="{5F68FCF9-80DA-B44E-9CB0-C54DD8F255A9}"/>
              </a:ext>
            </a:extLst>
          </p:cNvPr>
          <p:cNvSpPr/>
          <p:nvPr/>
        </p:nvSpPr>
        <p:spPr>
          <a:xfrm>
            <a:off x="61447" y="5296962"/>
            <a:ext cx="4572000" cy="400110"/>
          </a:xfrm>
          <a:prstGeom prst="rect">
            <a:avLst/>
          </a:prstGeom>
        </p:spPr>
        <p:txBody>
          <a:bodyPr>
            <a:spAutoFit/>
          </a:bodyPr>
          <a:lstStyle/>
          <a:p>
            <a:r>
              <a:rPr lang="en-CN" sz="1000" dirty="0">
                <a:solidFill>
                  <a:schemeClr val="tx1">
                    <a:lumMod val="50000"/>
                    <a:lumOff val="50000"/>
                  </a:schemeClr>
                </a:solidFill>
              </a:rPr>
              <a:t>http://libfuse.github.io</a:t>
            </a:r>
            <a:r>
              <a:rPr lang="en-CN" sz="1000">
                <a:solidFill>
                  <a:schemeClr val="tx1">
                    <a:lumMod val="50000"/>
                    <a:lumOff val="50000"/>
                  </a:schemeClr>
                </a:solidFill>
              </a:rPr>
              <a:t>/doxygen</a:t>
            </a:r>
            <a:br>
              <a:rPr lang="en-US" sz="1000" dirty="0">
                <a:solidFill>
                  <a:schemeClr val="tx1">
                    <a:lumMod val="50000"/>
                    <a:lumOff val="50000"/>
                  </a:schemeClr>
                </a:solidFill>
              </a:rPr>
            </a:br>
            <a:r>
              <a:rPr lang="en-CN" sz="1000">
                <a:solidFill>
                  <a:schemeClr val="tx1">
                    <a:lumMod val="50000"/>
                    <a:lumOff val="50000"/>
                  </a:schemeClr>
                </a:solidFill>
              </a:rPr>
              <a:t>/</a:t>
            </a:r>
            <a:r>
              <a:rPr lang="en-CN" sz="1000" dirty="0">
                <a:solidFill>
                  <a:schemeClr val="tx1">
                    <a:lumMod val="50000"/>
                    <a:lumOff val="50000"/>
                  </a:schemeClr>
                </a:solidFill>
              </a:rPr>
              <a:t>example_2hello__ll_8c.html</a:t>
            </a:r>
          </a:p>
        </p:txBody>
      </p:sp>
    </p:spTree>
    <p:extLst>
      <p:ext uri="{BB962C8B-B14F-4D97-AF65-F5344CB8AC3E}">
        <p14:creationId xmlns:p14="http://schemas.microsoft.com/office/powerpoint/2010/main" val="34565730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F65FB-C9CF-B54C-A23A-EE1D5A6D1724}"/>
              </a:ext>
            </a:extLst>
          </p:cNvPr>
          <p:cNvSpPr>
            <a:spLocks noGrp="1"/>
          </p:cNvSpPr>
          <p:nvPr>
            <p:ph type="title"/>
          </p:nvPr>
        </p:nvSpPr>
        <p:spPr/>
        <p:txBody>
          <a:bodyPr/>
          <a:lstStyle/>
          <a:p>
            <a:r>
              <a:rPr lang="en-CN" dirty="0"/>
              <a:t>FUSE</a:t>
            </a:r>
            <a:r>
              <a:rPr lang="zh-CN" altLang="en-US" dirty="0"/>
              <a:t>高</a:t>
            </a:r>
            <a:r>
              <a:rPr lang="zh-CN" altLang="en-CN" dirty="0"/>
              <a:t>层</a:t>
            </a:r>
            <a:r>
              <a:rPr lang="en-US" altLang="zh-CN" dirty="0"/>
              <a:t>API</a:t>
            </a:r>
            <a:endParaRPr lang="en-CN" dirty="0"/>
          </a:p>
        </p:txBody>
      </p:sp>
      <p:sp>
        <p:nvSpPr>
          <p:cNvPr id="4" name="Slide Number Placeholder 3">
            <a:extLst>
              <a:ext uri="{FF2B5EF4-FFF2-40B4-BE49-F238E27FC236}">
                <a16:creationId xmlns:a16="http://schemas.microsoft.com/office/drawing/2014/main" id="{1B758FEA-F363-D044-BAFA-6BDCE852DC35}"/>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Footer Placeholder 4">
            <a:extLst>
              <a:ext uri="{FF2B5EF4-FFF2-40B4-BE49-F238E27FC236}">
                <a16:creationId xmlns:a16="http://schemas.microsoft.com/office/drawing/2014/main" id="{24487600-9855-174B-93E6-F0C14AF330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5">
            <a:extLst>
              <a:ext uri="{FF2B5EF4-FFF2-40B4-BE49-F238E27FC236}">
                <a16:creationId xmlns:a16="http://schemas.microsoft.com/office/drawing/2014/main" id="{D5C2502F-E470-4D4D-9050-F58811DE685E}"/>
              </a:ext>
            </a:extLst>
          </p:cNvPr>
          <p:cNvSpPr txBox="1"/>
          <p:nvPr/>
        </p:nvSpPr>
        <p:spPr>
          <a:xfrm>
            <a:off x="851248" y="1386776"/>
            <a:ext cx="6768752" cy="3477875"/>
          </a:xfrm>
          <a:prstGeom prst="rect">
            <a:avLst/>
          </a:prstGeom>
          <a:solidFill>
            <a:schemeClr val="accent6">
              <a:lumMod val="20000"/>
              <a:lumOff val="80000"/>
            </a:schemeClr>
          </a:solidFill>
          <a:ln>
            <a:solidFill>
              <a:schemeClr val="bg2"/>
            </a:solidFill>
          </a:ln>
        </p:spPr>
        <p:txBody>
          <a:bodyPr wrap="square" rtlCol="0">
            <a:spAutoFit/>
          </a:bodyPr>
          <a:lstStyle/>
          <a:p>
            <a:br>
              <a:rPr lang="en-US" sz="1000" dirty="0">
                <a:latin typeface="Courier" pitchFamily="2" charset="0"/>
              </a:rPr>
            </a:br>
            <a:r>
              <a:rPr lang="en-US" sz="1000" dirty="0">
                <a:latin typeface="Courier" pitchFamily="2" charset="0"/>
              </a:rPr>
              <a:t>static int </a:t>
            </a:r>
            <a:r>
              <a:rPr lang="en-US" sz="1000" dirty="0" err="1">
                <a:latin typeface="Courier" pitchFamily="2" charset="0"/>
              </a:rPr>
              <a:t>hello_read</a:t>
            </a:r>
            <a:r>
              <a:rPr lang="en-US" sz="1000" dirty="0">
                <a:latin typeface="Courier" pitchFamily="2" charset="0"/>
              </a:rPr>
              <a:t>(</a:t>
            </a:r>
            <a:r>
              <a:rPr lang="en-US" sz="1000" b="1" dirty="0">
                <a:latin typeface="Courier" pitchFamily="2" charset="0"/>
              </a:rPr>
              <a:t>const char *path, char *</a:t>
            </a:r>
            <a:r>
              <a:rPr lang="en-US" sz="1000" b="1" dirty="0" err="1">
                <a:latin typeface="Courier" pitchFamily="2" charset="0"/>
              </a:rPr>
              <a:t>buf</a:t>
            </a:r>
            <a:r>
              <a:rPr lang="en-US" sz="1000" b="1" dirty="0">
                <a:latin typeface="Courier" pitchFamily="2" charset="0"/>
              </a:rPr>
              <a:t>, </a:t>
            </a:r>
            <a:r>
              <a:rPr lang="en-US" sz="1000" b="1" dirty="0" err="1">
                <a:latin typeface="Courier" pitchFamily="2" charset="0"/>
              </a:rPr>
              <a:t>size_t</a:t>
            </a:r>
            <a:r>
              <a:rPr lang="en-US" sz="1000" b="1" dirty="0">
                <a:latin typeface="Courier" pitchFamily="2" charset="0"/>
              </a:rPr>
              <a:t> size, </a:t>
            </a:r>
            <a:r>
              <a:rPr lang="en-US" sz="1000" b="1" dirty="0" err="1">
                <a:latin typeface="Courier" pitchFamily="2" charset="0"/>
              </a:rPr>
              <a:t>off_t</a:t>
            </a:r>
            <a:r>
              <a:rPr lang="en-US" sz="1000" b="1" dirty="0">
                <a:latin typeface="Courier" pitchFamily="2" charset="0"/>
              </a:rPr>
              <a:t> offset,</a:t>
            </a:r>
          </a:p>
          <a:p>
            <a:r>
              <a:rPr lang="zh-CN" altLang="en-US" sz="1000" b="1" dirty="0">
                <a:latin typeface="Courier" pitchFamily="2" charset="0"/>
              </a:rPr>
              <a:t>                      </a:t>
            </a:r>
            <a:r>
              <a:rPr lang="en-US" sz="1000" b="1" dirty="0">
                <a:latin typeface="Courier" pitchFamily="2" charset="0"/>
              </a:rPr>
              <a:t>struct </a:t>
            </a:r>
            <a:r>
              <a:rPr lang="en-US" sz="1000" b="1" dirty="0" err="1">
                <a:latin typeface="Courier" pitchFamily="2" charset="0"/>
              </a:rPr>
              <a:t>fuse_file_info</a:t>
            </a:r>
            <a:r>
              <a:rPr lang="en-US" sz="1000" b="1" dirty="0">
                <a:latin typeface="Courier" pitchFamily="2" charset="0"/>
              </a:rPr>
              <a:t> *fi)</a:t>
            </a:r>
          </a:p>
          <a:p>
            <a:r>
              <a:rPr lang="en-US" sz="1000" dirty="0">
                <a:latin typeface="Courier" pitchFamily="2" charset="0"/>
              </a:rPr>
              <a:t>{</a:t>
            </a:r>
          </a:p>
          <a:p>
            <a:r>
              <a:rPr lang="zh-CN" altLang="en-US" sz="1000" dirty="0">
                <a:latin typeface="Courier" pitchFamily="2" charset="0"/>
              </a:rPr>
              <a:t>  </a:t>
            </a:r>
            <a:r>
              <a:rPr lang="en-US" altLang="zh-CN" sz="1000" dirty="0">
                <a:latin typeface="Courier" pitchFamily="2" charset="0"/>
              </a:rPr>
              <a:t>const</a:t>
            </a:r>
            <a:r>
              <a:rPr lang="zh-CN" altLang="en-US" sz="1000" dirty="0">
                <a:latin typeface="Courier" pitchFamily="2" charset="0"/>
              </a:rPr>
              <a:t> </a:t>
            </a:r>
            <a:r>
              <a:rPr lang="en-US" altLang="zh-CN" sz="1000" dirty="0">
                <a:latin typeface="Courier" pitchFamily="2" charset="0"/>
              </a:rPr>
              <a:t>char</a:t>
            </a:r>
            <a:r>
              <a:rPr lang="zh-CN" altLang="en-US" sz="1000" dirty="0">
                <a:latin typeface="Courier" pitchFamily="2" charset="0"/>
              </a:rPr>
              <a:t> *</a:t>
            </a:r>
            <a:r>
              <a:rPr lang="en-US" altLang="zh-CN" sz="1000" dirty="0">
                <a:latin typeface="Courier" pitchFamily="2" charset="0"/>
              </a:rPr>
              <a:t>content</a:t>
            </a:r>
            <a:r>
              <a:rPr lang="zh-CN" altLang="en-US" sz="1000" dirty="0">
                <a:latin typeface="Courier" pitchFamily="2" charset="0"/>
              </a:rPr>
              <a:t> </a:t>
            </a:r>
            <a:r>
              <a:rPr lang="en-US" altLang="zh-CN" sz="1000" dirty="0">
                <a:latin typeface="Courier" pitchFamily="2" charset="0"/>
              </a:rPr>
              <a:t>=</a:t>
            </a:r>
            <a:r>
              <a:rPr lang="zh-CN" altLang="en-US" sz="1000" dirty="0">
                <a:latin typeface="Courier" pitchFamily="2" charset="0"/>
              </a:rPr>
              <a:t> </a:t>
            </a:r>
            <a:r>
              <a:rPr lang="en-US" altLang="zh-CN" sz="1000" dirty="0">
                <a:latin typeface="Courier" pitchFamily="2" charset="0"/>
              </a:rPr>
              <a:t>"Hello</a:t>
            </a:r>
            <a:r>
              <a:rPr lang="zh-CN" altLang="en-US" sz="1000" dirty="0">
                <a:latin typeface="Courier" pitchFamily="2" charset="0"/>
              </a:rPr>
              <a:t> </a:t>
            </a:r>
            <a:r>
              <a:rPr lang="en-US" altLang="zh-CN" sz="1000" dirty="0">
                <a:latin typeface="Courier" pitchFamily="2" charset="0"/>
              </a:rPr>
              <a:t>World!\n";</a:t>
            </a:r>
            <a:endParaRPr lang="en-US" sz="1000" dirty="0">
              <a:latin typeface="Courier" pitchFamily="2" charset="0"/>
            </a:endParaRPr>
          </a:p>
          <a:p>
            <a:r>
              <a:rPr lang="zh-CN" altLang="en-US" sz="1000" dirty="0">
                <a:latin typeface="Courier" pitchFamily="2" charset="0"/>
              </a:rPr>
              <a:t>  </a:t>
            </a:r>
            <a:r>
              <a:rPr lang="en-US" sz="1000" dirty="0" err="1">
                <a:latin typeface="Courier" pitchFamily="2" charset="0"/>
              </a:rPr>
              <a:t>memcpy</a:t>
            </a:r>
            <a:r>
              <a:rPr lang="en-US" sz="1000" dirty="0">
                <a:latin typeface="Courier" pitchFamily="2" charset="0"/>
              </a:rPr>
              <a:t>(</a:t>
            </a:r>
            <a:r>
              <a:rPr lang="en-US" sz="1000" dirty="0" err="1">
                <a:latin typeface="Courier" pitchFamily="2" charset="0"/>
              </a:rPr>
              <a:t>buf</a:t>
            </a:r>
            <a:r>
              <a:rPr lang="en-US" sz="1000" dirty="0">
                <a:latin typeface="Courier" pitchFamily="2" charset="0"/>
              </a:rPr>
              <a:t>, </a:t>
            </a:r>
            <a:r>
              <a:rPr lang="en-US" altLang="zh-CN" sz="1000" dirty="0">
                <a:latin typeface="Courier" pitchFamily="2" charset="0"/>
              </a:rPr>
              <a:t>content</a:t>
            </a:r>
            <a:r>
              <a:rPr lang="zh-CN" altLang="en-US" sz="1000" dirty="0">
                <a:latin typeface="Courier" pitchFamily="2" charset="0"/>
              </a:rPr>
              <a:t> </a:t>
            </a:r>
            <a:r>
              <a:rPr lang="en-US" sz="1000" dirty="0">
                <a:latin typeface="Courier" pitchFamily="2" charset="0"/>
              </a:rPr>
              <a:t>+ offset, </a:t>
            </a:r>
            <a:r>
              <a:rPr lang="en-US" altLang="zh-CN" sz="1000" dirty="0">
                <a:latin typeface="Courier" pitchFamily="2" charset="0"/>
              </a:rPr>
              <a:t>MIN(</a:t>
            </a:r>
            <a:r>
              <a:rPr lang="en-US" sz="1000" dirty="0">
                <a:latin typeface="Courier" pitchFamily="2" charset="0"/>
              </a:rPr>
              <a:t>size</a:t>
            </a:r>
            <a:r>
              <a:rPr lang="en-US" altLang="zh-CN" sz="1000" dirty="0">
                <a:latin typeface="Courier" pitchFamily="2" charset="0"/>
              </a:rPr>
              <a:t>,</a:t>
            </a:r>
            <a:r>
              <a:rPr lang="zh-CN" altLang="en-US" sz="1000" dirty="0">
                <a:latin typeface="Courier" pitchFamily="2" charset="0"/>
              </a:rPr>
              <a:t> </a:t>
            </a:r>
            <a:r>
              <a:rPr lang="en-US" altLang="zh-CN" sz="1000" dirty="0" err="1">
                <a:latin typeface="Courier" pitchFamily="2" charset="0"/>
              </a:rPr>
              <a:t>strlen</a:t>
            </a:r>
            <a:r>
              <a:rPr lang="en-US" altLang="zh-CN" sz="1000" dirty="0">
                <a:latin typeface="Courier" pitchFamily="2" charset="0"/>
              </a:rPr>
              <a:t>(content)</a:t>
            </a:r>
            <a:r>
              <a:rPr lang="zh-CN" altLang="en-US" sz="1000" dirty="0">
                <a:latin typeface="Courier" pitchFamily="2" charset="0"/>
              </a:rPr>
              <a:t> </a:t>
            </a:r>
            <a:r>
              <a:rPr lang="en-US" altLang="zh-CN" sz="1000" dirty="0">
                <a:latin typeface="Courier" pitchFamily="2" charset="0"/>
              </a:rPr>
              <a:t>–</a:t>
            </a:r>
            <a:r>
              <a:rPr lang="zh-CN" altLang="en-US" sz="1000" dirty="0">
                <a:latin typeface="Courier" pitchFamily="2" charset="0"/>
              </a:rPr>
              <a:t> </a:t>
            </a:r>
            <a:r>
              <a:rPr lang="en-US" altLang="zh-CN" sz="1000" dirty="0">
                <a:latin typeface="Courier" pitchFamily="2" charset="0"/>
              </a:rPr>
              <a:t>offset)</a:t>
            </a:r>
            <a:r>
              <a:rPr lang="en-US" sz="1000" dirty="0">
                <a:latin typeface="Courier" pitchFamily="2" charset="0"/>
              </a:rPr>
              <a:t>);</a:t>
            </a:r>
          </a:p>
          <a:p>
            <a:r>
              <a:rPr lang="zh-CN" altLang="en-US" sz="1000" dirty="0">
                <a:latin typeface="Courier" pitchFamily="2" charset="0"/>
              </a:rPr>
              <a:t>  </a:t>
            </a:r>
            <a:r>
              <a:rPr lang="en-US" sz="1000" dirty="0">
                <a:latin typeface="Courier" pitchFamily="2" charset="0"/>
              </a:rPr>
              <a:t>return size;</a:t>
            </a:r>
          </a:p>
          <a:p>
            <a:r>
              <a:rPr lang="en-US" sz="1000" dirty="0">
                <a:latin typeface="Courier" pitchFamily="2" charset="0"/>
              </a:rPr>
              <a:t>}</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a:t>
            </a:r>
            <a:r>
              <a:rPr lang="en-US" altLang="zh-CN" sz="1000" b="1" dirty="0">
                <a:solidFill>
                  <a:srgbClr val="C00000"/>
                </a:solidFill>
                <a:latin typeface="Courier" pitchFamily="2" charset="0"/>
              </a:rPr>
              <a:t>read</a:t>
            </a:r>
            <a:r>
              <a:rPr lang="zh-CN" altLang="en-US" sz="1000" b="1" dirty="0">
                <a:solidFill>
                  <a:srgbClr val="C00000"/>
                </a:solidFill>
                <a:latin typeface="Courier" pitchFamily="2" charset="0"/>
              </a:rPr>
              <a:t>：根据</a:t>
            </a:r>
            <a:r>
              <a:rPr lang="en-US" altLang="zh-CN" sz="1000" b="1" dirty="0">
                <a:solidFill>
                  <a:srgbClr val="C00000"/>
                </a:solidFill>
                <a:latin typeface="Courier" pitchFamily="2" charset="0"/>
              </a:rPr>
              <a:t>path</a:t>
            </a:r>
            <a:r>
              <a:rPr lang="zh-CN" altLang="en-US" sz="1000" b="1" dirty="0">
                <a:solidFill>
                  <a:srgbClr val="C00000"/>
                </a:solidFill>
                <a:latin typeface="Courier" pitchFamily="2" charset="0"/>
              </a:rPr>
              <a:t>，在</a:t>
            </a:r>
            <a:r>
              <a:rPr lang="en-US" altLang="zh-CN" sz="1000" b="1" dirty="0" err="1">
                <a:solidFill>
                  <a:srgbClr val="C00000"/>
                </a:solidFill>
                <a:latin typeface="Courier" pitchFamily="2" charset="0"/>
              </a:rPr>
              <a:t>buf</a:t>
            </a:r>
            <a:r>
              <a:rPr lang="zh-CN" altLang="en-US" sz="1000" b="1" dirty="0">
                <a:solidFill>
                  <a:srgbClr val="C00000"/>
                </a:solidFill>
                <a:latin typeface="Courier" pitchFamily="2" charset="0"/>
              </a:rPr>
              <a:t>中填入数据，返回写入字节数</a:t>
            </a:r>
            <a:endParaRPr lang="en-US" sz="1000" dirty="0">
              <a:latin typeface="Courier" pitchFamily="2" charset="0"/>
            </a:endParaRPr>
          </a:p>
          <a:p>
            <a:endParaRPr lang="en-US" sz="1000" dirty="0">
              <a:latin typeface="Courier" pitchFamily="2" charset="0"/>
            </a:endParaRPr>
          </a:p>
          <a:p>
            <a:r>
              <a:rPr lang="en-US" sz="1000" dirty="0">
                <a:latin typeface="Courier" pitchFamily="2" charset="0"/>
              </a:rPr>
              <a:t>static const struct </a:t>
            </a:r>
            <a:r>
              <a:rPr lang="en-US" sz="1000" dirty="0" err="1">
                <a:latin typeface="Courier" pitchFamily="2" charset="0"/>
              </a:rPr>
              <a:t>fuse_operations</a:t>
            </a:r>
            <a:r>
              <a:rPr lang="en-US" sz="1000" dirty="0">
                <a:latin typeface="Courier" pitchFamily="2" charset="0"/>
              </a:rPr>
              <a:t> </a:t>
            </a:r>
            <a:r>
              <a:rPr lang="en-US" sz="1000" dirty="0" err="1">
                <a:latin typeface="Courier" pitchFamily="2" charset="0"/>
              </a:rPr>
              <a:t>hello_oper</a:t>
            </a:r>
            <a:r>
              <a:rPr lang="en-US" sz="1000" dirty="0">
                <a:latin typeface="Courier" pitchFamily="2" charset="0"/>
              </a:rPr>
              <a:t> = {</a:t>
            </a:r>
          </a:p>
          <a:p>
            <a:r>
              <a:rPr lang="zh-CN" altLang="en-US" sz="1000" dirty="0">
                <a:latin typeface="Courier" pitchFamily="2" charset="0"/>
              </a:rPr>
              <a:t>  </a:t>
            </a:r>
            <a:r>
              <a:rPr lang="en-US" sz="1000" dirty="0">
                <a:latin typeface="Courier" pitchFamily="2" charset="0"/>
              </a:rPr>
              <a:t>.</a:t>
            </a:r>
            <a:r>
              <a:rPr lang="en-US" sz="1000" dirty="0" err="1">
                <a:latin typeface="Courier" pitchFamily="2" charset="0"/>
              </a:rPr>
              <a:t>init</a:t>
            </a:r>
            <a:r>
              <a:rPr lang="en-US" sz="1000" dirty="0">
                <a:latin typeface="Courier" pitchFamily="2" charset="0"/>
              </a:rPr>
              <a:t> = </a:t>
            </a:r>
            <a:r>
              <a:rPr lang="en-US" sz="1000" dirty="0" err="1">
                <a:latin typeface="Courier" pitchFamily="2" charset="0"/>
              </a:rPr>
              <a:t>hello_init</a:t>
            </a:r>
            <a:r>
              <a:rPr lang="en-US" sz="1000" dirty="0">
                <a:latin typeface="Courier" pitchFamily="2" charset="0"/>
              </a:rPr>
              <a:t>,</a:t>
            </a:r>
          </a:p>
          <a:p>
            <a:r>
              <a:rPr lang="zh-CN" altLang="en-US" sz="1000" dirty="0">
                <a:latin typeface="Courier" pitchFamily="2" charset="0"/>
              </a:rPr>
              <a:t>  </a:t>
            </a:r>
            <a:r>
              <a:rPr lang="en-US" sz="1000" dirty="0">
                <a:latin typeface="Courier" pitchFamily="2" charset="0"/>
              </a:rPr>
              <a:t>.</a:t>
            </a:r>
            <a:r>
              <a:rPr lang="en-US" sz="1000" dirty="0" err="1">
                <a:latin typeface="Courier" pitchFamily="2" charset="0"/>
              </a:rPr>
              <a:t>getattr</a:t>
            </a:r>
            <a:r>
              <a:rPr lang="en-US" sz="1000" dirty="0">
                <a:latin typeface="Courier" pitchFamily="2" charset="0"/>
              </a:rPr>
              <a:t> = </a:t>
            </a:r>
            <a:r>
              <a:rPr lang="en-US" sz="1000" dirty="0" err="1">
                <a:latin typeface="Courier" pitchFamily="2" charset="0"/>
              </a:rPr>
              <a:t>hello_getattr</a:t>
            </a:r>
            <a:r>
              <a:rPr lang="en-US" sz="1000" dirty="0">
                <a:latin typeface="Courier" pitchFamily="2" charset="0"/>
              </a:rPr>
              <a:t>,</a:t>
            </a:r>
          </a:p>
          <a:p>
            <a:r>
              <a:rPr lang="zh-CN" altLang="en-US" sz="1000" dirty="0">
                <a:latin typeface="Courier" pitchFamily="2" charset="0"/>
              </a:rPr>
              <a:t>  </a:t>
            </a:r>
            <a:r>
              <a:rPr lang="en-US" sz="1000" dirty="0">
                <a:latin typeface="Courier" pitchFamily="2" charset="0"/>
              </a:rPr>
              <a:t>.</a:t>
            </a:r>
            <a:r>
              <a:rPr lang="en-US" sz="1000" dirty="0" err="1">
                <a:latin typeface="Courier" pitchFamily="2" charset="0"/>
              </a:rPr>
              <a:t>readdir</a:t>
            </a:r>
            <a:r>
              <a:rPr lang="en-US" sz="1000" dirty="0">
                <a:latin typeface="Courier" pitchFamily="2" charset="0"/>
              </a:rPr>
              <a:t> = </a:t>
            </a:r>
            <a:r>
              <a:rPr lang="en-US" sz="1000" dirty="0" err="1">
                <a:latin typeface="Courier" pitchFamily="2" charset="0"/>
              </a:rPr>
              <a:t>hello_readdir</a:t>
            </a:r>
            <a:r>
              <a:rPr lang="en-US" sz="1000" dirty="0">
                <a:latin typeface="Courier" pitchFamily="2" charset="0"/>
              </a:rPr>
              <a:t>,</a:t>
            </a:r>
          </a:p>
          <a:p>
            <a:r>
              <a:rPr lang="zh-CN" altLang="en-US" sz="1000" dirty="0">
                <a:latin typeface="Courier" pitchFamily="2" charset="0"/>
              </a:rPr>
              <a:t>  </a:t>
            </a:r>
            <a:r>
              <a:rPr lang="en-US" sz="1000" dirty="0">
                <a:latin typeface="Courier" pitchFamily="2" charset="0"/>
              </a:rPr>
              <a:t>.open = </a:t>
            </a:r>
            <a:r>
              <a:rPr lang="en-US" sz="1000" dirty="0" err="1">
                <a:latin typeface="Courier" pitchFamily="2" charset="0"/>
              </a:rPr>
              <a:t>hello_open</a:t>
            </a:r>
            <a:r>
              <a:rPr lang="en-US" sz="1000" dirty="0">
                <a:latin typeface="Courier" pitchFamily="2" charset="0"/>
              </a:rPr>
              <a:t>,</a:t>
            </a:r>
          </a:p>
          <a:p>
            <a:r>
              <a:rPr lang="zh-CN" altLang="en-US" sz="1000" b="1" dirty="0">
                <a:latin typeface="Courier" pitchFamily="2" charset="0"/>
              </a:rPr>
              <a:t>  </a:t>
            </a:r>
            <a:r>
              <a:rPr lang="en-US" sz="1000" b="1" dirty="0">
                <a:latin typeface="Courier" pitchFamily="2" charset="0"/>
              </a:rPr>
              <a:t>.read = </a:t>
            </a:r>
            <a:r>
              <a:rPr lang="en-US" sz="1000" b="1" dirty="0" err="1">
                <a:latin typeface="Courier" pitchFamily="2" charset="0"/>
              </a:rPr>
              <a:t>hello_read</a:t>
            </a:r>
            <a:r>
              <a:rPr lang="en-US" sz="1000" b="1" dirty="0">
                <a:latin typeface="Courier" pitchFamily="2" charset="0"/>
              </a:rPr>
              <a:t>,</a:t>
            </a:r>
          </a:p>
          <a:p>
            <a:r>
              <a:rPr lang="en-US" sz="1000" dirty="0">
                <a:latin typeface="Courier" pitchFamily="2" charset="0"/>
              </a:rPr>
              <a:t>};</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提供函数指针作为回调函数</a:t>
            </a:r>
            <a:endParaRPr lang="en-US" sz="1000" dirty="0">
              <a:latin typeface="Courier" pitchFamily="2" charset="0"/>
            </a:endParaRPr>
          </a:p>
          <a:p>
            <a:endParaRPr lang="en-US" sz="1000" dirty="0">
              <a:latin typeface="Courier" pitchFamily="2" charset="0"/>
            </a:endParaRPr>
          </a:p>
          <a:p>
            <a:r>
              <a:rPr lang="en-US" altLang="zh-CN" sz="1000" dirty="0">
                <a:latin typeface="Courier" pitchFamily="2" charset="0"/>
              </a:rPr>
              <a:t>int</a:t>
            </a:r>
            <a:r>
              <a:rPr lang="zh-CN" altLang="en-US" sz="1000" dirty="0">
                <a:latin typeface="Courier" pitchFamily="2" charset="0"/>
              </a:rPr>
              <a:t> </a:t>
            </a:r>
            <a:r>
              <a:rPr lang="en-US" altLang="zh-CN" sz="1000" dirty="0">
                <a:latin typeface="Courier" pitchFamily="2" charset="0"/>
              </a:rPr>
              <a:t>main()</a:t>
            </a:r>
            <a:r>
              <a:rPr lang="zh-CN" altLang="en-US" sz="1000" dirty="0">
                <a:latin typeface="Courier" pitchFamily="2" charset="0"/>
              </a:rPr>
              <a:t> </a:t>
            </a:r>
            <a:r>
              <a:rPr lang="en-US" altLang="zh-CN" sz="1000" dirty="0">
                <a:latin typeface="Courier" pitchFamily="2" charset="0"/>
              </a:rPr>
              <a:t>{</a:t>
            </a:r>
          </a:p>
          <a:p>
            <a:r>
              <a:rPr lang="zh-CN" altLang="en-US" sz="1000" dirty="0">
                <a:latin typeface="Courier" pitchFamily="2" charset="0"/>
              </a:rPr>
              <a:t>  </a:t>
            </a:r>
            <a:r>
              <a:rPr lang="en-US" altLang="zh-CN" sz="1000" dirty="0">
                <a:latin typeface="Courier" pitchFamily="2" charset="0"/>
              </a:rPr>
              <a:t>...</a:t>
            </a:r>
            <a:endParaRPr lang="en-US" sz="1000" dirty="0">
              <a:latin typeface="Courier" pitchFamily="2" charset="0"/>
            </a:endParaRPr>
          </a:p>
          <a:p>
            <a:r>
              <a:rPr lang="zh-CN" altLang="en-US" sz="1000" dirty="0">
                <a:latin typeface="Courier" pitchFamily="2" charset="0"/>
              </a:rPr>
              <a:t>  </a:t>
            </a:r>
            <a:r>
              <a:rPr lang="en-US" sz="1000" dirty="0">
                <a:latin typeface="Courier" pitchFamily="2" charset="0"/>
              </a:rPr>
              <a:t>ret = </a:t>
            </a:r>
            <a:r>
              <a:rPr lang="en-US" sz="1000" dirty="0" err="1">
                <a:latin typeface="Courier" pitchFamily="2" charset="0"/>
              </a:rPr>
              <a:t>fuse_main</a:t>
            </a:r>
            <a:r>
              <a:rPr lang="en-US" sz="1000" dirty="0">
                <a:latin typeface="Courier" pitchFamily="2" charset="0"/>
              </a:rPr>
              <a:t>(</a:t>
            </a:r>
            <a:r>
              <a:rPr lang="en-US" sz="1000" dirty="0" err="1">
                <a:latin typeface="Courier" pitchFamily="2" charset="0"/>
              </a:rPr>
              <a:t>args.argc</a:t>
            </a:r>
            <a:r>
              <a:rPr lang="en-US" sz="1000" dirty="0">
                <a:latin typeface="Courier" pitchFamily="2" charset="0"/>
              </a:rPr>
              <a:t>, </a:t>
            </a:r>
            <a:r>
              <a:rPr lang="en-US" sz="1000" dirty="0" err="1">
                <a:latin typeface="Courier" pitchFamily="2" charset="0"/>
              </a:rPr>
              <a:t>args.argv</a:t>
            </a:r>
            <a:r>
              <a:rPr lang="en-US" sz="1000" dirty="0">
                <a:latin typeface="Courier" pitchFamily="2" charset="0"/>
              </a:rPr>
              <a:t>, </a:t>
            </a:r>
            <a:r>
              <a:rPr lang="en-US" sz="1000" b="1" dirty="0">
                <a:latin typeface="Courier" pitchFamily="2" charset="0"/>
              </a:rPr>
              <a:t>&amp;</a:t>
            </a:r>
            <a:r>
              <a:rPr lang="en-US" sz="1000" b="1" dirty="0" err="1">
                <a:latin typeface="Courier" pitchFamily="2" charset="0"/>
              </a:rPr>
              <a:t>hello_oper</a:t>
            </a:r>
            <a:r>
              <a:rPr lang="en-US" sz="1000" dirty="0">
                <a:latin typeface="Courier" pitchFamily="2" charset="0"/>
              </a:rPr>
              <a:t>, NULL);</a:t>
            </a:r>
            <a:r>
              <a:rPr lang="zh-CN" altLang="en-US" sz="1000" dirty="0">
                <a:latin typeface="Courier" pitchFamily="2" charset="0"/>
              </a:rPr>
              <a:t> </a:t>
            </a:r>
            <a:r>
              <a:rPr lang="en-US" altLang="zh-CN" sz="1000" b="1" dirty="0">
                <a:solidFill>
                  <a:srgbClr val="C00000"/>
                </a:solidFill>
                <a:latin typeface="Courier" pitchFamily="2" charset="0"/>
              </a:rPr>
              <a:t>//</a:t>
            </a:r>
            <a:r>
              <a:rPr lang="zh-CN" altLang="en-US" sz="1000" b="1" dirty="0">
                <a:solidFill>
                  <a:srgbClr val="C00000"/>
                </a:solidFill>
                <a:latin typeface="Courier" pitchFamily="2" charset="0"/>
              </a:rPr>
              <a:t> 挂载、注册并等待请求和回调</a:t>
            </a:r>
            <a:endParaRPr lang="en-US" sz="1000" b="1" dirty="0">
              <a:solidFill>
                <a:srgbClr val="C00000"/>
              </a:solidFill>
              <a:latin typeface="Courier" pitchFamily="2" charset="0"/>
            </a:endParaRPr>
          </a:p>
          <a:p>
            <a:r>
              <a:rPr lang="zh-CN" altLang="en-US" sz="1000" dirty="0">
                <a:latin typeface="Courier" pitchFamily="2" charset="0"/>
              </a:rPr>
              <a:t>  </a:t>
            </a:r>
            <a:r>
              <a:rPr lang="en-US" altLang="zh-CN" sz="1000" dirty="0">
                <a:latin typeface="Courier" pitchFamily="2" charset="0"/>
              </a:rPr>
              <a:t>...</a:t>
            </a:r>
            <a:endParaRPr lang="en-US" sz="1000" dirty="0">
              <a:latin typeface="Courier" pitchFamily="2" charset="0"/>
            </a:endParaRPr>
          </a:p>
          <a:p>
            <a:r>
              <a:rPr lang="en-US" altLang="zh-CN" sz="1000" dirty="0">
                <a:latin typeface="Courier" pitchFamily="2" charset="0"/>
              </a:rPr>
              <a:t>}</a:t>
            </a:r>
            <a:endParaRPr lang="en-US" sz="1000" dirty="0">
              <a:latin typeface="Courier" pitchFamily="2" charset="0"/>
            </a:endParaRPr>
          </a:p>
        </p:txBody>
      </p:sp>
      <p:sp>
        <p:nvSpPr>
          <p:cNvPr id="3" name="TextBox 2">
            <a:extLst>
              <a:ext uri="{FF2B5EF4-FFF2-40B4-BE49-F238E27FC236}">
                <a16:creationId xmlns:a16="http://schemas.microsoft.com/office/drawing/2014/main" id="{C8C3871B-C9BC-824A-9307-9A5F389D7FD9}"/>
              </a:ext>
            </a:extLst>
          </p:cNvPr>
          <p:cNvSpPr txBox="1"/>
          <p:nvPr/>
        </p:nvSpPr>
        <p:spPr>
          <a:xfrm>
            <a:off x="107504" y="5254491"/>
            <a:ext cx="1903085" cy="400110"/>
          </a:xfrm>
          <a:prstGeom prst="rect">
            <a:avLst/>
          </a:prstGeom>
          <a:noFill/>
        </p:spPr>
        <p:txBody>
          <a:bodyPr wrap="none" rtlCol="0">
            <a:spAutoFit/>
          </a:bodyPr>
          <a:lstStyle/>
          <a:p>
            <a:r>
              <a:rPr lang="en-US" sz="1000" dirty="0">
                <a:solidFill>
                  <a:schemeClr val="tx1">
                    <a:lumMod val="50000"/>
                    <a:lumOff val="50000"/>
                  </a:schemeClr>
                </a:solidFill>
              </a:rPr>
              <a:t>http://</a:t>
            </a:r>
            <a:r>
              <a:rPr lang="en-US" sz="1000" dirty="0" err="1">
                <a:solidFill>
                  <a:schemeClr val="tx1">
                    <a:lumMod val="50000"/>
                    <a:lumOff val="50000"/>
                  </a:schemeClr>
                </a:solidFill>
              </a:rPr>
              <a:t>libfuse.github.io</a:t>
            </a:r>
            <a:r>
              <a:rPr lang="en-US" sz="1000" dirty="0">
                <a:solidFill>
                  <a:schemeClr val="tx1">
                    <a:lumMod val="50000"/>
                    <a:lumOff val="50000"/>
                  </a:schemeClr>
                </a:solidFill>
              </a:rPr>
              <a:t>/</a:t>
            </a:r>
            <a:r>
              <a:rPr lang="en-US" sz="1000" dirty="0" err="1">
                <a:solidFill>
                  <a:schemeClr val="tx1">
                    <a:lumMod val="50000"/>
                    <a:lumOff val="50000"/>
                  </a:schemeClr>
                </a:solidFill>
              </a:rPr>
              <a:t>doxygen</a:t>
            </a:r>
            <a:br>
              <a:rPr lang="en-US" sz="1000" dirty="0">
                <a:solidFill>
                  <a:schemeClr val="tx1">
                    <a:lumMod val="50000"/>
                    <a:lumOff val="50000"/>
                  </a:schemeClr>
                </a:solidFill>
              </a:rPr>
            </a:br>
            <a:r>
              <a:rPr lang="en-US" sz="1000" dirty="0">
                <a:solidFill>
                  <a:schemeClr val="tx1">
                    <a:lumMod val="50000"/>
                    <a:lumOff val="50000"/>
                  </a:schemeClr>
                </a:solidFill>
              </a:rPr>
              <a:t>/example_2hello_8c.html</a:t>
            </a:r>
            <a:endParaRPr lang="en-CN" sz="1000" dirty="0">
              <a:solidFill>
                <a:schemeClr val="tx1">
                  <a:lumMod val="50000"/>
                  <a:lumOff val="50000"/>
                </a:schemeClr>
              </a:solidFill>
            </a:endParaRPr>
          </a:p>
        </p:txBody>
      </p:sp>
    </p:spTree>
    <p:extLst>
      <p:ext uri="{BB962C8B-B14F-4D97-AF65-F5344CB8AC3E}">
        <p14:creationId xmlns:p14="http://schemas.microsoft.com/office/powerpoint/2010/main" val="15339926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FE23A-4EC6-3B4E-968D-67DA0482051C}"/>
              </a:ext>
            </a:extLst>
          </p:cNvPr>
          <p:cNvSpPr>
            <a:spLocks noGrp="1"/>
          </p:cNvSpPr>
          <p:nvPr>
            <p:ph type="title"/>
          </p:nvPr>
        </p:nvSpPr>
        <p:spPr/>
        <p:txBody>
          <a:bodyPr>
            <a:normAutofit/>
          </a:bodyPr>
          <a:lstStyle/>
          <a:p>
            <a:r>
              <a:rPr lang="zh-CN" altLang="en-US" dirty="0"/>
              <a:t>现实中，</a:t>
            </a:r>
            <a:r>
              <a:rPr lang="en-US" altLang="zh-CN" dirty="0"/>
              <a:t>FUSE</a:t>
            </a:r>
            <a:r>
              <a:rPr lang="zh-CN" altLang="en-US" dirty="0"/>
              <a:t>能用来做什么？</a:t>
            </a:r>
            <a:endParaRPr lang="en-CN" dirty="0"/>
          </a:p>
        </p:txBody>
      </p:sp>
      <p:sp>
        <p:nvSpPr>
          <p:cNvPr id="3" name="Content Placeholder 2">
            <a:extLst>
              <a:ext uri="{FF2B5EF4-FFF2-40B4-BE49-F238E27FC236}">
                <a16:creationId xmlns:a16="http://schemas.microsoft.com/office/drawing/2014/main" id="{9718853B-1822-2645-B3E7-E8C39CF9BF46}"/>
              </a:ext>
            </a:extLst>
          </p:cNvPr>
          <p:cNvSpPr>
            <a:spLocks noGrp="1"/>
          </p:cNvSpPr>
          <p:nvPr>
            <p:ph idx="1"/>
          </p:nvPr>
        </p:nvSpPr>
        <p:spPr/>
        <p:txBody>
          <a:bodyPr>
            <a:normAutofit fontScale="85000" lnSpcReduction="20000"/>
          </a:bodyPr>
          <a:lstStyle/>
          <a:p>
            <a:r>
              <a:rPr lang="zh-CN" altLang="en-US" b="0" dirty="0"/>
              <a:t>出</a:t>
            </a:r>
            <a:r>
              <a:rPr lang="en-US" altLang="zh-CN" b="0" dirty="0"/>
              <a:t>Lab</a:t>
            </a:r>
            <a:r>
              <a:rPr lang="zh-CN" altLang="en-US" b="0" dirty="0"/>
              <a:t>！</a:t>
            </a:r>
            <a:endParaRPr lang="en-US" altLang="zh-CN" b="0" dirty="0"/>
          </a:p>
          <a:p>
            <a:r>
              <a:rPr lang="en-US" altLang="zh-CN" b="0" dirty="0"/>
              <a:t>SSHFS</a:t>
            </a:r>
            <a:r>
              <a:rPr lang="zh-CN" altLang="en-US" b="0" dirty="0"/>
              <a:t>（用</a:t>
            </a:r>
            <a:r>
              <a:rPr lang="en-US" altLang="zh-CN" b="0" dirty="0" err="1"/>
              <a:t>ssh</a:t>
            </a:r>
            <a:r>
              <a:rPr lang="zh-CN" altLang="en-US" b="0" dirty="0"/>
              <a:t>挂载远端目录到本地）</a:t>
            </a:r>
            <a:endParaRPr lang="en-US" altLang="zh-CN" b="0" dirty="0"/>
          </a:p>
          <a:p>
            <a:r>
              <a:rPr lang="en-US" altLang="zh-CN" b="0" dirty="0"/>
              <a:t>Android Sandbox</a:t>
            </a:r>
          </a:p>
          <a:p>
            <a:r>
              <a:rPr lang="en-US" altLang="zh-CN" b="0" dirty="0" err="1"/>
              <a:t>GMailFs</a:t>
            </a:r>
            <a:r>
              <a:rPr lang="zh-CN" altLang="en-US" b="0" dirty="0"/>
              <a:t>（以文件接口收发邮件）</a:t>
            </a:r>
            <a:endParaRPr lang="en-US" altLang="zh-CN" b="0" dirty="0"/>
          </a:p>
          <a:p>
            <a:r>
              <a:rPr lang="en-US" altLang="zh-CN" b="0" dirty="0" err="1"/>
              <a:t>WikipediaFS</a:t>
            </a:r>
            <a:r>
              <a:rPr lang="zh-CN" altLang="en-US" b="0" dirty="0"/>
              <a:t>（用文件查看和编辑</a:t>
            </a:r>
            <a:r>
              <a:rPr lang="en-US" altLang="zh-CN" b="0" dirty="0"/>
              <a:t>Wikipedia</a:t>
            </a:r>
            <a:r>
              <a:rPr lang="zh-CN" altLang="en-US" b="0" dirty="0"/>
              <a:t>）</a:t>
            </a:r>
            <a:endParaRPr lang="en-US" altLang="zh-CN" b="0" dirty="0"/>
          </a:p>
          <a:p>
            <a:r>
              <a:rPr lang="zh-CN" altLang="en-US" b="0" dirty="0"/>
              <a:t>网盘同步</a:t>
            </a:r>
            <a:endParaRPr lang="en-US" altLang="zh-CN" b="0" dirty="0"/>
          </a:p>
          <a:p>
            <a:r>
              <a:rPr lang="zh-CN" altLang="en-US" b="0" dirty="0"/>
              <a:t>分布式文件系统（</a:t>
            </a:r>
            <a:r>
              <a:rPr lang="en-US" b="0" dirty="0" err="1"/>
              <a:t>Lustre</a:t>
            </a:r>
            <a:r>
              <a:rPr lang="zh-CN" altLang="en-US" b="0" dirty="0"/>
              <a:t>、</a:t>
            </a:r>
            <a:r>
              <a:rPr lang="en-US" altLang="zh-CN" b="0" dirty="0" err="1"/>
              <a:t>GlusterFS</a:t>
            </a:r>
            <a:r>
              <a:rPr lang="zh-CN" altLang="en-US" b="0" dirty="0"/>
              <a:t>等）</a:t>
            </a:r>
            <a:endParaRPr lang="en-US" altLang="zh-CN" b="0" dirty="0"/>
          </a:p>
          <a:p>
            <a:r>
              <a:rPr lang="en-US" altLang="zh-CN" b="0" i="1" dirty="0"/>
              <a:t>Everything</a:t>
            </a:r>
            <a:r>
              <a:rPr lang="zh-CN" altLang="en-US" b="0" i="1" dirty="0"/>
              <a:t> </a:t>
            </a:r>
            <a:r>
              <a:rPr lang="en-US" altLang="zh-CN" b="0" i="1" dirty="0"/>
              <a:t>is</a:t>
            </a:r>
            <a:r>
              <a:rPr lang="zh-CN" altLang="en-US" b="0" i="1" dirty="0"/>
              <a:t> </a:t>
            </a:r>
            <a:r>
              <a:rPr lang="en-US" altLang="zh-CN" b="0" i="1" dirty="0"/>
              <a:t>a</a:t>
            </a:r>
            <a:r>
              <a:rPr lang="zh-CN" altLang="en-US" b="0" i="1" dirty="0"/>
              <a:t> </a:t>
            </a:r>
            <a:r>
              <a:rPr lang="en-US" altLang="zh-CN" b="0" i="1" dirty="0"/>
              <a:t>file;</a:t>
            </a:r>
            <a:r>
              <a:rPr lang="zh-CN" altLang="en-US" b="0" i="1" dirty="0"/>
              <a:t> </a:t>
            </a:r>
            <a:r>
              <a:rPr lang="en-US" altLang="zh-CN" b="0" dirty="0"/>
              <a:t>can</a:t>
            </a:r>
            <a:r>
              <a:rPr lang="zh-CN" altLang="en-US" b="0" dirty="0"/>
              <a:t> </a:t>
            </a:r>
            <a:r>
              <a:rPr lang="en-US" altLang="zh-CN" b="0" dirty="0"/>
              <a:t>everything</a:t>
            </a:r>
            <a:r>
              <a:rPr lang="zh-CN" altLang="en-US" b="0" dirty="0"/>
              <a:t> </a:t>
            </a:r>
            <a:r>
              <a:rPr lang="en-US" altLang="zh-CN" b="0" dirty="0"/>
              <a:t>be</a:t>
            </a:r>
            <a:r>
              <a:rPr lang="zh-CN" altLang="en-US" b="0" dirty="0"/>
              <a:t> </a:t>
            </a:r>
            <a:r>
              <a:rPr lang="en-US" altLang="zh-CN" b="0" dirty="0"/>
              <a:t>done</a:t>
            </a:r>
            <a:r>
              <a:rPr lang="zh-CN" altLang="en-US" b="0" dirty="0"/>
              <a:t> </a:t>
            </a:r>
            <a:r>
              <a:rPr lang="en-US" altLang="zh-CN" b="0" dirty="0"/>
              <a:t>with</a:t>
            </a:r>
            <a:r>
              <a:rPr lang="zh-CN" altLang="en-US" b="0" dirty="0"/>
              <a:t> </a:t>
            </a:r>
            <a:r>
              <a:rPr lang="en-US" altLang="zh-CN" b="0" dirty="0"/>
              <a:t>a</a:t>
            </a:r>
            <a:r>
              <a:rPr lang="zh-CN" altLang="en-US" b="0" dirty="0"/>
              <a:t> </a:t>
            </a:r>
            <a:r>
              <a:rPr lang="en-US" altLang="zh-CN" b="0" dirty="0"/>
              <a:t>filesystem?</a:t>
            </a:r>
          </a:p>
        </p:txBody>
      </p:sp>
      <p:sp>
        <p:nvSpPr>
          <p:cNvPr id="4" name="Slide Number Placeholder 3">
            <a:extLst>
              <a:ext uri="{FF2B5EF4-FFF2-40B4-BE49-F238E27FC236}">
                <a16:creationId xmlns:a16="http://schemas.microsoft.com/office/drawing/2014/main" id="{6B75035D-999C-2C4D-9DAF-E9F7FC7DEA78}"/>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Footer Placeholder 4">
            <a:extLst>
              <a:ext uri="{FF2B5EF4-FFF2-40B4-BE49-F238E27FC236}">
                <a16:creationId xmlns:a16="http://schemas.microsoft.com/office/drawing/2014/main" id="{2FEBF7DF-092C-5440-8B3B-9E2AB5E15D5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5431473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AF834C2-FC9F-6940-A2F1-0F1494EC3BEF}"/>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50555194-DA3A-1A41-AB30-3F21573C1902}"/>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Footer Placeholder 4">
            <a:extLst>
              <a:ext uri="{FF2B5EF4-FFF2-40B4-BE49-F238E27FC236}">
                <a16:creationId xmlns:a16="http://schemas.microsoft.com/office/drawing/2014/main" id="{354873B3-411D-7E4E-B146-AE70ADE18F3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0" name="标题 5">
            <a:extLst>
              <a:ext uri="{FF2B5EF4-FFF2-40B4-BE49-F238E27FC236}">
                <a16:creationId xmlns:a16="http://schemas.microsoft.com/office/drawing/2014/main" id="{3F702E7A-BF99-B246-856C-68F00A514E98}"/>
              </a:ext>
            </a:extLst>
          </p:cNvPr>
          <p:cNvSpPr>
            <a:spLocks noGrp="1"/>
          </p:cNvSpPr>
          <p:nvPr>
            <p:ph type="title"/>
          </p:nvPr>
        </p:nvSpPr>
        <p:spPr/>
        <p:txBody>
          <a:bodyPr/>
          <a:lstStyle/>
          <a:p>
            <a:r>
              <a:rPr lang="zh-CN" altLang="en-US" dirty="0"/>
              <a:t>文件系统崩溃一致性</a:t>
            </a:r>
            <a:endParaRPr lang="en-CN" altLang="zh-CN" dirty="0"/>
          </a:p>
        </p:txBody>
      </p:sp>
    </p:spTree>
    <p:extLst>
      <p:ext uri="{BB962C8B-B14F-4D97-AF65-F5344CB8AC3E}">
        <p14:creationId xmlns:p14="http://schemas.microsoft.com/office/powerpoint/2010/main" val="34098757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7117-79D7-EC4D-84E9-B19DB85BAD46}"/>
              </a:ext>
            </a:extLst>
          </p:cNvPr>
          <p:cNvSpPr>
            <a:spLocks noGrp="1"/>
          </p:cNvSpPr>
          <p:nvPr>
            <p:ph type="title"/>
          </p:nvPr>
        </p:nvSpPr>
        <p:spPr/>
        <p:txBody>
          <a:bodyPr>
            <a:normAutofit/>
          </a:bodyPr>
          <a:lstStyle/>
          <a:p>
            <a:r>
              <a:rPr lang="zh-CN" altLang="en-US" sz="3200" dirty="0"/>
              <a:t>文件系统的崩溃一致性</a:t>
            </a:r>
            <a:endParaRPr lang="en-CN" sz="3200" dirty="0"/>
          </a:p>
        </p:txBody>
      </p:sp>
      <p:sp>
        <p:nvSpPr>
          <p:cNvPr id="3" name="Content Placeholder 2">
            <a:extLst>
              <a:ext uri="{FF2B5EF4-FFF2-40B4-BE49-F238E27FC236}">
                <a16:creationId xmlns:a16="http://schemas.microsoft.com/office/drawing/2014/main" id="{6B182231-B9BA-6E4F-8880-296FB8045A2C}"/>
              </a:ext>
            </a:extLst>
          </p:cNvPr>
          <p:cNvSpPr>
            <a:spLocks noGrp="1"/>
          </p:cNvSpPr>
          <p:nvPr>
            <p:ph idx="1"/>
          </p:nvPr>
        </p:nvSpPr>
        <p:spPr/>
        <p:txBody>
          <a:bodyPr/>
          <a:lstStyle/>
          <a:p>
            <a:r>
              <a:rPr lang="zh-CN" altLang="en-CN" sz="2000" b="0" dirty="0"/>
              <a:t>文件系统中</a:t>
            </a:r>
            <a:r>
              <a:rPr lang="zh-CN" altLang="en-US" sz="2000" b="0" dirty="0"/>
              <a:t>保存了多种数据结构</a:t>
            </a:r>
            <a:endParaRPr lang="en-US" altLang="zh-CN" sz="2000" b="0" dirty="0"/>
          </a:p>
          <a:p>
            <a:r>
              <a:rPr lang="zh-CN" altLang="en-US" sz="2000" b="0" dirty="0"/>
              <a:t>各种数据结构之间存在依赖关系与一致性要求</a:t>
            </a:r>
            <a:endParaRPr lang="en-US" altLang="zh-CN" sz="2000" b="0" dirty="0"/>
          </a:p>
          <a:p>
            <a:pPr lvl="1"/>
            <a:r>
              <a:rPr lang="en-US" altLang="zh-CN" sz="1800" dirty="0" err="1"/>
              <a:t>inode</a:t>
            </a:r>
            <a:r>
              <a:rPr lang="zh-CN" altLang="en-US" sz="1800" dirty="0"/>
              <a:t>中保存的文件大小，应该与其索引中保存的数据块个数相匹配</a:t>
            </a:r>
            <a:endParaRPr lang="en-US" altLang="zh-CN" sz="1800" dirty="0"/>
          </a:p>
          <a:p>
            <a:pPr lvl="1"/>
            <a:r>
              <a:rPr lang="en-US" altLang="zh-CN" sz="1800" dirty="0" err="1"/>
              <a:t>inode</a:t>
            </a:r>
            <a:r>
              <a:rPr lang="zh-CN" altLang="en-US" sz="1800" dirty="0"/>
              <a:t>中保存的链接数，应与指向其的目录项个数相同</a:t>
            </a:r>
            <a:endParaRPr lang="en-US" altLang="zh-CN" sz="1800" dirty="0"/>
          </a:p>
          <a:p>
            <a:pPr lvl="1"/>
            <a:r>
              <a:rPr lang="zh-CN" altLang="en-US" sz="1800" dirty="0"/>
              <a:t>超级块中保存的文件系统大小，应该与文件系统所管理的空间大小相同</a:t>
            </a:r>
            <a:endParaRPr lang="en-US" altLang="zh-CN" sz="1800" dirty="0"/>
          </a:p>
          <a:p>
            <a:pPr lvl="1"/>
            <a:r>
              <a:rPr lang="zh-CN" altLang="en-US" sz="1800" dirty="0"/>
              <a:t>所有</a:t>
            </a:r>
            <a:r>
              <a:rPr lang="en-US" altLang="zh-CN" sz="1800" dirty="0" err="1"/>
              <a:t>inode</a:t>
            </a:r>
            <a:r>
              <a:rPr lang="zh-CN" altLang="en-US" sz="1800" dirty="0"/>
              <a:t>分配表中标记为空闲的</a:t>
            </a:r>
            <a:r>
              <a:rPr lang="en-US" altLang="zh-CN" sz="1800" dirty="0" err="1"/>
              <a:t>inode</a:t>
            </a:r>
            <a:r>
              <a:rPr lang="zh-CN" altLang="en-US" sz="1800" dirty="0"/>
              <a:t>均未被使用；标记为已用的</a:t>
            </a:r>
            <a:r>
              <a:rPr lang="en-US" altLang="zh-CN" sz="1800" dirty="0" err="1"/>
              <a:t>inode</a:t>
            </a:r>
            <a:r>
              <a:rPr lang="zh-CN" altLang="en-US" sz="1800" dirty="0"/>
              <a:t>均可以通过文件系统操作访问</a:t>
            </a:r>
            <a:endParaRPr lang="en-US" altLang="zh-CN" sz="1800" dirty="0"/>
          </a:p>
          <a:p>
            <a:pPr lvl="1"/>
            <a:r>
              <a:rPr lang="en-US" altLang="zh-CN" sz="1800" dirty="0"/>
              <a:t>……</a:t>
            </a:r>
          </a:p>
          <a:p>
            <a:r>
              <a:rPr lang="zh-CN" altLang="en-US" sz="2000" b="0" dirty="0"/>
              <a:t>突发状况（崩溃）可能会造成这些一致性被打破！</a:t>
            </a:r>
            <a:endParaRPr lang="en-CN" sz="2000" b="0" dirty="0"/>
          </a:p>
        </p:txBody>
      </p:sp>
      <p:sp>
        <p:nvSpPr>
          <p:cNvPr id="4" name="Slide Number Placeholder 3">
            <a:extLst>
              <a:ext uri="{FF2B5EF4-FFF2-40B4-BE49-F238E27FC236}">
                <a16:creationId xmlns:a16="http://schemas.microsoft.com/office/drawing/2014/main" id="{7176DC56-0890-3547-A451-5636BFC66C14}"/>
              </a:ext>
            </a:extLst>
          </p:cNvPr>
          <p:cNvSpPr>
            <a:spLocks noGrp="1"/>
          </p:cNvSpPr>
          <p:nvPr>
            <p:ph type="sldNum" sz="quarter" idx="12"/>
          </p:nvPr>
        </p:nvSpPr>
        <p:spPr/>
        <p:txBody>
          <a:bodyPr/>
          <a:lstStyle/>
          <a:p>
            <a:fld id="{ADE361C3-C043-4A6E-BDCE-8DA1E7D90A3B}" type="slidenum">
              <a:rPr lang="zh-CN" altLang="en-US" sz="1100" smtClean="0"/>
              <a:t>51</a:t>
            </a:fld>
            <a:endParaRPr lang="zh-CN" altLang="en-US" sz="1100"/>
          </a:p>
        </p:txBody>
      </p:sp>
      <p:sp>
        <p:nvSpPr>
          <p:cNvPr id="5" name="Footer Placeholder 4">
            <a:extLst>
              <a:ext uri="{FF2B5EF4-FFF2-40B4-BE49-F238E27FC236}">
                <a16:creationId xmlns:a16="http://schemas.microsoft.com/office/drawing/2014/main" id="{DE4AA162-7CEB-5241-ACFD-E886B60CC488}"/>
              </a:ext>
            </a:extLst>
          </p:cNvPr>
          <p:cNvSpPr>
            <a:spLocks noGrp="1"/>
          </p:cNvSpPr>
          <p:nvPr>
            <p:ph type="ftr" sz="quarter" idx="3"/>
          </p:nvPr>
        </p:nvSpPr>
        <p:spPr/>
        <p:txBody>
          <a:bodyPr/>
          <a:lstStyle/>
          <a:p>
            <a:r>
              <a:rPr lang="zh-CN" altLang="en-US" sz="1050"/>
              <a:t>上海交通大学并行与分布式系统研究所（</a:t>
            </a:r>
            <a:r>
              <a:rPr lang="en-US" altLang="zh-CN" sz="1050"/>
              <a:t>IPADS@SJTU</a:t>
            </a:r>
            <a:r>
              <a:rPr lang="zh-CN" altLang="en-US" sz="1050"/>
              <a:t>）</a:t>
            </a:r>
            <a:endParaRPr lang="zh-CN" altLang="en-US" sz="1050" dirty="0"/>
          </a:p>
        </p:txBody>
      </p:sp>
    </p:spTree>
    <p:extLst>
      <p:ext uri="{BB962C8B-B14F-4D97-AF65-F5344CB8AC3E}">
        <p14:creationId xmlns:p14="http://schemas.microsoft.com/office/powerpoint/2010/main" val="11885956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回顾：</a:t>
            </a:r>
            <a:r>
              <a:rPr lang="zh-CN" altLang="en-CN" dirty="0"/>
              <a:t>文件</a:t>
            </a:r>
            <a:r>
              <a:rPr lang="zh-CN" altLang="en-US" dirty="0"/>
              <a:t>的创建</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5164987" cy="3771636"/>
          </a:xfrm>
        </p:spPr>
        <p:txBody>
          <a:bodyPr>
            <a:normAutofit/>
          </a:bodyPr>
          <a:lstStyle/>
          <a:p>
            <a:pPr marL="0" indent="0">
              <a:buNone/>
            </a:pPr>
            <a:r>
              <a:rPr lang="zh-CN" altLang="en-US" sz="2000" b="0" dirty="0"/>
              <a:t>创建</a:t>
            </a:r>
            <a:r>
              <a:rPr lang="en-US" altLang="zh-CN" sz="2000" b="0" dirty="0"/>
              <a:t>"/</a:t>
            </a:r>
            <a:r>
              <a:rPr lang="en-US" altLang="zh-CN" sz="2000" b="0" dirty="0" err="1"/>
              <a:t>chb</a:t>
            </a:r>
            <a:r>
              <a:rPr lang="en-US" altLang="zh-CN" sz="2000" b="0" dirty="0"/>
              <a:t>"</a:t>
            </a:r>
          </a:p>
          <a:p>
            <a:pPr marL="0" indent="0">
              <a:buNone/>
            </a:pPr>
            <a:r>
              <a:rPr lang="en-US" altLang="zh-CN" sz="2000" b="0" dirty="0"/>
              <a:t>1.</a:t>
            </a:r>
            <a:r>
              <a:rPr lang="zh-CN" altLang="en-US" sz="2000" b="0" dirty="0"/>
              <a:t> </a:t>
            </a:r>
            <a:r>
              <a:rPr lang="zh-CN" altLang="en-CN" sz="1800" b="0" dirty="0"/>
              <a:t>先</a:t>
            </a:r>
            <a:r>
              <a:rPr lang="zh-CN" altLang="en-US" sz="1800" b="0" dirty="0"/>
              <a:t>找到要创建文件所在目录的</a:t>
            </a:r>
            <a:r>
              <a:rPr lang="en-US" altLang="zh-CN" sz="1800" b="0" dirty="0" err="1"/>
              <a:t>inode</a:t>
            </a:r>
            <a:br>
              <a:rPr lang="en-US" altLang="zh-CN" sz="1800" b="0" dirty="0"/>
            </a:br>
            <a:r>
              <a:rPr lang="en-US" altLang="zh-CN" sz="1800" b="0" dirty="0"/>
              <a:t>2.</a:t>
            </a:r>
            <a:r>
              <a:rPr lang="zh-CN" altLang="en-US" sz="1800" b="0" dirty="0"/>
              <a:t> </a:t>
            </a:r>
            <a:r>
              <a:rPr lang="zh-CN" altLang="en-CN" sz="1800" b="0" dirty="0"/>
              <a:t>从</a:t>
            </a:r>
            <a:r>
              <a:rPr lang="en-US" altLang="zh-CN" sz="1800" b="0" dirty="0" err="1"/>
              <a:t>inode</a:t>
            </a:r>
            <a:r>
              <a:rPr lang="zh-CN" altLang="en-US" sz="1800" b="0" dirty="0"/>
              <a:t>分配表中找出一个空闲</a:t>
            </a:r>
            <a:r>
              <a:rPr lang="en-US" altLang="zh-CN" sz="1800" b="0" dirty="0" err="1"/>
              <a:t>inode</a:t>
            </a:r>
            <a:r>
              <a:rPr lang="zh-CN" altLang="en-US" sz="1800" b="0" dirty="0"/>
              <a:t>，标记为占用；并初始化该</a:t>
            </a:r>
            <a:r>
              <a:rPr lang="en-US" altLang="zh-CN" sz="1800" b="0" dirty="0" err="1"/>
              <a:t>inode</a:t>
            </a:r>
            <a:br>
              <a:rPr lang="en-US" altLang="zh-CN" sz="1800" b="0" dirty="0"/>
            </a:br>
            <a:r>
              <a:rPr lang="en-US" altLang="zh-CN" sz="1800" b="0" dirty="0"/>
              <a:t>3.</a:t>
            </a:r>
            <a:r>
              <a:rPr lang="zh-CN" altLang="en-US" sz="1800" b="0" dirty="0"/>
              <a:t> 将</a:t>
            </a:r>
            <a:r>
              <a:rPr lang="en-US" altLang="zh-CN" sz="1800" b="0" dirty="0"/>
              <a:t>”</a:t>
            </a:r>
            <a:r>
              <a:rPr lang="en-US" altLang="zh-CN" sz="1800" b="0" dirty="0" err="1"/>
              <a:t>chb</a:t>
            </a:r>
            <a:r>
              <a:rPr lang="en-US" altLang="zh-CN" sz="1800" b="0" dirty="0"/>
              <a:t>"</a:t>
            </a:r>
            <a:r>
              <a:rPr lang="zh-CN" altLang="en-US" sz="1800" b="0" dirty="0"/>
              <a:t>和新分配的</a:t>
            </a:r>
            <a:r>
              <a:rPr lang="en-US" altLang="zh-CN" sz="1800" b="0" dirty="0" err="1"/>
              <a:t>inode</a:t>
            </a:r>
            <a:r>
              <a:rPr lang="zh-CN" altLang="en-US" sz="1800" b="0" dirty="0"/>
              <a:t>号作为新的目录项写入目录中。</a:t>
            </a:r>
            <a:endParaRPr lang="en-CN" sz="20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34" name="Group 33">
            <a:extLst>
              <a:ext uri="{FF2B5EF4-FFF2-40B4-BE49-F238E27FC236}">
                <a16:creationId xmlns:a16="http://schemas.microsoft.com/office/drawing/2014/main" id="{6A931345-7C60-9C40-837B-656DF5B0BE11}"/>
              </a:ext>
            </a:extLst>
          </p:cNvPr>
          <p:cNvGrpSpPr/>
          <p:nvPr/>
        </p:nvGrpSpPr>
        <p:grpSpPr>
          <a:xfrm>
            <a:off x="1820924" y="3658983"/>
            <a:ext cx="6208325" cy="1646788"/>
            <a:chOff x="1571562" y="3338912"/>
            <a:chExt cx="7104198" cy="1884424"/>
          </a:xfrm>
        </p:grpSpPr>
        <p:sp>
          <p:nvSpPr>
            <p:cNvPr id="35" name="Rectangle 34">
              <a:extLst>
                <a:ext uri="{FF2B5EF4-FFF2-40B4-BE49-F238E27FC236}">
                  <a16:creationId xmlns:a16="http://schemas.microsoft.com/office/drawing/2014/main" id="{7491B83F-E684-3F42-A954-04B634679E05}"/>
                </a:ext>
              </a:extLst>
            </p:cNvPr>
            <p:cNvSpPr/>
            <p:nvPr/>
          </p:nvSpPr>
          <p:spPr>
            <a:xfrm>
              <a:off x="3601631"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zh-CN" sz="600" dirty="0"/>
            </a:p>
          </p:txBody>
        </p:sp>
        <p:sp>
          <p:nvSpPr>
            <p:cNvPr id="36" name="Rectangle 35">
              <a:extLst>
                <a:ext uri="{FF2B5EF4-FFF2-40B4-BE49-F238E27FC236}">
                  <a16:creationId xmlns:a16="http://schemas.microsoft.com/office/drawing/2014/main" id="{AFA445AA-BEA4-5A45-99F9-A770580CBDEE}"/>
                </a:ext>
              </a:extLst>
            </p:cNvPr>
            <p:cNvSpPr/>
            <p:nvPr/>
          </p:nvSpPr>
          <p:spPr>
            <a:xfrm>
              <a:off x="4026233"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endParaRPr lang="en-US" altLang="zh-CN" sz="600" dirty="0">
                <a:solidFill>
                  <a:srgbClr val="000000"/>
                </a:solidFill>
              </a:endParaRPr>
            </a:p>
          </p:txBody>
        </p:sp>
        <p:sp>
          <p:nvSpPr>
            <p:cNvPr id="37" name="Rectangle 36">
              <a:extLst>
                <a:ext uri="{FF2B5EF4-FFF2-40B4-BE49-F238E27FC236}">
                  <a16:creationId xmlns:a16="http://schemas.microsoft.com/office/drawing/2014/main" id="{3C7E65E2-892F-114E-B3A0-3B27BD6DBCE7}"/>
                </a:ext>
              </a:extLst>
            </p:cNvPr>
            <p:cNvSpPr/>
            <p:nvPr/>
          </p:nvSpPr>
          <p:spPr>
            <a:xfrm>
              <a:off x="4450835"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endParaRPr lang="en-US" altLang="zh-CN" sz="600" dirty="0">
                <a:solidFill>
                  <a:srgbClr val="000000"/>
                </a:solidFill>
              </a:endParaRPr>
            </a:p>
          </p:txBody>
        </p:sp>
        <p:sp>
          <p:nvSpPr>
            <p:cNvPr id="38" name="Rectangle 37">
              <a:extLst>
                <a:ext uri="{FF2B5EF4-FFF2-40B4-BE49-F238E27FC236}">
                  <a16:creationId xmlns:a16="http://schemas.microsoft.com/office/drawing/2014/main" id="{C4E3CE4C-94F5-EE46-BE77-AF3B26D0BCB6}"/>
                </a:ext>
              </a:extLst>
            </p:cNvPr>
            <p:cNvSpPr/>
            <p:nvPr/>
          </p:nvSpPr>
          <p:spPr>
            <a:xfrm>
              <a:off x="2332280"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39" name="Rectangle 38">
              <a:extLst>
                <a:ext uri="{FF2B5EF4-FFF2-40B4-BE49-F238E27FC236}">
                  <a16:creationId xmlns:a16="http://schemas.microsoft.com/office/drawing/2014/main" id="{25FEEA09-DEC1-ED4D-91AE-2E375CF68D7C}"/>
                </a:ext>
              </a:extLst>
            </p:cNvPr>
            <p:cNvSpPr/>
            <p:nvPr/>
          </p:nvSpPr>
          <p:spPr>
            <a:xfrm>
              <a:off x="2756882"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0" name="Rectangle 39">
              <a:extLst>
                <a:ext uri="{FF2B5EF4-FFF2-40B4-BE49-F238E27FC236}">
                  <a16:creationId xmlns:a16="http://schemas.microsoft.com/office/drawing/2014/main" id="{8B9810A3-B5C9-AB4D-9621-80804C2BD30B}"/>
                </a:ext>
              </a:extLst>
            </p:cNvPr>
            <p:cNvSpPr/>
            <p:nvPr/>
          </p:nvSpPr>
          <p:spPr>
            <a:xfrm>
              <a:off x="3181484"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1" name="Rectangle 40">
              <a:extLst>
                <a:ext uri="{FF2B5EF4-FFF2-40B4-BE49-F238E27FC236}">
                  <a16:creationId xmlns:a16="http://schemas.microsoft.com/office/drawing/2014/main" id="{13C96AC9-A636-E84E-9042-2D6A324AC683}"/>
                </a:ext>
              </a:extLst>
            </p:cNvPr>
            <p:cNvSpPr/>
            <p:nvPr/>
          </p:nvSpPr>
          <p:spPr>
            <a:xfrm>
              <a:off x="1912133" y="4024896"/>
              <a:ext cx="424602" cy="485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200"/>
            </a:p>
          </p:txBody>
        </p:sp>
        <p:sp>
          <p:nvSpPr>
            <p:cNvPr id="42" name="Rectangle 41">
              <a:extLst>
                <a:ext uri="{FF2B5EF4-FFF2-40B4-BE49-F238E27FC236}">
                  <a16:creationId xmlns:a16="http://schemas.microsoft.com/office/drawing/2014/main" id="{83BD6004-4B68-D947-981F-8B1E40BD81CA}"/>
                </a:ext>
              </a:extLst>
            </p:cNvPr>
            <p:cNvSpPr/>
            <p:nvPr/>
          </p:nvSpPr>
          <p:spPr>
            <a:xfrm>
              <a:off x="6157160"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3" name="Rectangle 42">
              <a:extLst>
                <a:ext uri="{FF2B5EF4-FFF2-40B4-BE49-F238E27FC236}">
                  <a16:creationId xmlns:a16="http://schemas.microsoft.com/office/drawing/2014/main" id="{C9530365-92EA-EE43-9E3F-D63B93B70A69}"/>
                </a:ext>
              </a:extLst>
            </p:cNvPr>
            <p:cNvSpPr/>
            <p:nvPr/>
          </p:nvSpPr>
          <p:spPr>
            <a:xfrm>
              <a:off x="7401954"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4" name="Rectangle 43">
              <a:extLst>
                <a:ext uri="{FF2B5EF4-FFF2-40B4-BE49-F238E27FC236}">
                  <a16:creationId xmlns:a16="http://schemas.microsoft.com/office/drawing/2014/main" id="{145419C7-95DF-7D41-A1B3-5EA08D2F1FC8}"/>
                </a:ext>
              </a:extLst>
            </p:cNvPr>
            <p:cNvSpPr/>
            <p:nvPr/>
          </p:nvSpPr>
          <p:spPr>
            <a:xfrm>
              <a:off x="7826556"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5" name="Rectangle 44">
              <a:extLst>
                <a:ext uri="{FF2B5EF4-FFF2-40B4-BE49-F238E27FC236}">
                  <a16:creationId xmlns:a16="http://schemas.microsoft.com/office/drawing/2014/main" id="{E962C0DF-0661-5444-A945-97B577318FE5}"/>
                </a:ext>
              </a:extLst>
            </p:cNvPr>
            <p:cNvSpPr/>
            <p:nvPr/>
          </p:nvSpPr>
          <p:spPr>
            <a:xfrm>
              <a:off x="8251158"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6" name="Rectangle 45">
              <a:extLst>
                <a:ext uri="{FF2B5EF4-FFF2-40B4-BE49-F238E27FC236}">
                  <a16:creationId xmlns:a16="http://schemas.microsoft.com/office/drawing/2014/main" id="{2095CD93-82AE-A145-ADB8-817A41300F8B}"/>
                </a:ext>
              </a:extLst>
            </p:cNvPr>
            <p:cNvSpPr/>
            <p:nvPr/>
          </p:nvSpPr>
          <p:spPr>
            <a:xfrm>
              <a:off x="4879378"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8" name="Rectangle 47">
              <a:extLst>
                <a:ext uri="{FF2B5EF4-FFF2-40B4-BE49-F238E27FC236}">
                  <a16:creationId xmlns:a16="http://schemas.microsoft.com/office/drawing/2014/main" id="{931966EF-9B1A-494E-90FE-6EBA88DB545B}"/>
                </a:ext>
              </a:extLst>
            </p:cNvPr>
            <p:cNvSpPr/>
            <p:nvPr/>
          </p:nvSpPr>
          <p:spPr>
            <a:xfrm>
              <a:off x="5728582"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9" name="TextBox 48">
              <a:extLst>
                <a:ext uri="{FF2B5EF4-FFF2-40B4-BE49-F238E27FC236}">
                  <a16:creationId xmlns:a16="http://schemas.microsoft.com/office/drawing/2014/main" id="{0346BD20-204F-434B-A5FD-3BCE6384614D}"/>
                </a:ext>
              </a:extLst>
            </p:cNvPr>
            <p:cNvSpPr txBox="1"/>
            <p:nvPr/>
          </p:nvSpPr>
          <p:spPr>
            <a:xfrm>
              <a:off x="6741237" y="4018081"/>
              <a:ext cx="504804" cy="457847"/>
            </a:xfrm>
            <a:prstGeom prst="rect">
              <a:avLst/>
            </a:prstGeom>
            <a:noFill/>
          </p:spPr>
          <p:txBody>
            <a:bodyPr wrap="none" rtlCol="0">
              <a:spAutoFit/>
            </a:bodyPr>
            <a:lstStyle/>
            <a:p>
              <a:r>
                <a:rPr lang="en-US" altLang="zh-CN" sz="2000" b="1" dirty="0"/>
                <a:t>…</a:t>
              </a:r>
              <a:endParaRPr lang="en-CN" sz="2000" b="1" dirty="0"/>
            </a:p>
          </p:txBody>
        </p:sp>
        <p:sp>
          <p:nvSpPr>
            <p:cNvPr id="60" name="Right Brace 59">
              <a:extLst>
                <a:ext uri="{FF2B5EF4-FFF2-40B4-BE49-F238E27FC236}">
                  <a16:creationId xmlns:a16="http://schemas.microsoft.com/office/drawing/2014/main" id="{AEE8C329-91D3-E642-ACB8-CB1F24DE6FD0}"/>
                </a:ext>
              </a:extLst>
            </p:cNvPr>
            <p:cNvSpPr/>
            <p:nvPr/>
          </p:nvSpPr>
          <p:spPr>
            <a:xfrm rot="5400000">
              <a:off x="4716599" y="3457517"/>
              <a:ext cx="311115" cy="253875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61" name="Right Brace 60">
              <a:extLst>
                <a:ext uri="{FF2B5EF4-FFF2-40B4-BE49-F238E27FC236}">
                  <a16:creationId xmlns:a16="http://schemas.microsoft.com/office/drawing/2014/main" id="{B3BAC748-AC95-0844-8BAC-E11B6B513027}"/>
                </a:ext>
              </a:extLst>
            </p:cNvPr>
            <p:cNvSpPr/>
            <p:nvPr/>
          </p:nvSpPr>
          <p:spPr>
            <a:xfrm rot="5400000">
              <a:off x="7258407" y="3470091"/>
              <a:ext cx="311115" cy="2513612"/>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62" name="TextBox 61">
              <a:extLst>
                <a:ext uri="{FF2B5EF4-FFF2-40B4-BE49-F238E27FC236}">
                  <a16:creationId xmlns:a16="http://schemas.microsoft.com/office/drawing/2014/main" id="{818F3AA1-D9B3-F54F-8624-583C410F72BA}"/>
                </a:ext>
              </a:extLst>
            </p:cNvPr>
            <p:cNvSpPr txBox="1"/>
            <p:nvPr/>
          </p:nvSpPr>
          <p:spPr>
            <a:xfrm>
              <a:off x="4513645" y="4879512"/>
              <a:ext cx="814805" cy="316971"/>
            </a:xfrm>
            <a:prstGeom prst="rect">
              <a:avLst/>
            </a:prstGeom>
            <a:noFill/>
          </p:spPr>
          <p:txBody>
            <a:bodyPr wrap="none" rtlCol="0">
              <a:spAutoFit/>
            </a:bodyPr>
            <a:lstStyle/>
            <a:p>
              <a:r>
                <a:rPr lang="en-US" altLang="zh-CN" sz="1200" dirty="0" err="1"/>
                <a:t>inode</a:t>
              </a:r>
              <a:r>
                <a:rPr lang="zh-CN" altLang="en-US" sz="1200" dirty="0"/>
                <a:t>表</a:t>
              </a:r>
              <a:endParaRPr lang="en-CN" sz="1200" dirty="0"/>
            </a:p>
          </p:txBody>
        </p:sp>
        <p:sp>
          <p:nvSpPr>
            <p:cNvPr id="64" name="TextBox 63">
              <a:extLst>
                <a:ext uri="{FF2B5EF4-FFF2-40B4-BE49-F238E27FC236}">
                  <a16:creationId xmlns:a16="http://schemas.microsoft.com/office/drawing/2014/main" id="{A08533F4-0690-114C-9A22-565437476E69}"/>
                </a:ext>
              </a:extLst>
            </p:cNvPr>
            <p:cNvSpPr txBox="1"/>
            <p:nvPr/>
          </p:nvSpPr>
          <p:spPr>
            <a:xfrm>
              <a:off x="1571562" y="4906365"/>
              <a:ext cx="1166995" cy="316971"/>
            </a:xfrm>
            <a:prstGeom prst="rect">
              <a:avLst/>
            </a:prstGeom>
            <a:noFill/>
          </p:spPr>
          <p:txBody>
            <a:bodyPr wrap="none" rtlCol="0">
              <a:spAutoFit/>
            </a:bodyPr>
            <a:lstStyle/>
            <a:p>
              <a:r>
                <a:rPr lang="en-US" altLang="zh-CN" sz="1200" dirty="0" err="1"/>
                <a:t>inode</a:t>
              </a:r>
              <a:r>
                <a:rPr lang="zh-CN" altLang="en-US" sz="1200" dirty="0"/>
                <a:t>分配表</a:t>
              </a:r>
              <a:endParaRPr lang="en-CN" sz="1200" dirty="0"/>
            </a:p>
          </p:txBody>
        </p:sp>
        <p:sp>
          <p:nvSpPr>
            <p:cNvPr id="65" name="TextBox 64">
              <a:extLst>
                <a:ext uri="{FF2B5EF4-FFF2-40B4-BE49-F238E27FC236}">
                  <a16:creationId xmlns:a16="http://schemas.microsoft.com/office/drawing/2014/main" id="{F545987A-709E-3A41-ABF5-9738B1569006}"/>
                </a:ext>
              </a:extLst>
            </p:cNvPr>
            <p:cNvSpPr txBox="1"/>
            <p:nvPr/>
          </p:nvSpPr>
          <p:spPr>
            <a:xfrm>
              <a:off x="2812815" y="4902439"/>
              <a:ext cx="915692" cy="316971"/>
            </a:xfrm>
            <a:prstGeom prst="rect">
              <a:avLst/>
            </a:prstGeom>
            <a:noFill/>
          </p:spPr>
          <p:txBody>
            <a:bodyPr wrap="none" rtlCol="0">
              <a:spAutoFit/>
            </a:bodyPr>
            <a:lstStyle/>
            <a:p>
              <a:r>
                <a:rPr lang="zh-CN" altLang="en-US" sz="1200" dirty="0"/>
                <a:t>块分配表</a:t>
              </a:r>
              <a:endParaRPr lang="en-CN" sz="1200" dirty="0"/>
            </a:p>
          </p:txBody>
        </p:sp>
        <p:sp>
          <p:nvSpPr>
            <p:cNvPr id="66" name="Right Brace 65">
              <a:extLst>
                <a:ext uri="{FF2B5EF4-FFF2-40B4-BE49-F238E27FC236}">
                  <a16:creationId xmlns:a16="http://schemas.microsoft.com/office/drawing/2014/main" id="{C839A4D3-EB53-5244-9417-A7E6F977FE84}"/>
                </a:ext>
              </a:extLst>
            </p:cNvPr>
            <p:cNvSpPr/>
            <p:nvPr/>
          </p:nvSpPr>
          <p:spPr>
            <a:xfrm rot="5400000">
              <a:off x="3023698" y="4314434"/>
              <a:ext cx="311115" cy="844749"/>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67" name="Right Brace 66">
              <a:extLst>
                <a:ext uri="{FF2B5EF4-FFF2-40B4-BE49-F238E27FC236}">
                  <a16:creationId xmlns:a16="http://schemas.microsoft.com/office/drawing/2014/main" id="{8EE7C90E-E5A7-044B-93A4-8781988E7A74}"/>
                </a:ext>
              </a:extLst>
            </p:cNvPr>
            <p:cNvSpPr/>
            <p:nvPr/>
          </p:nvSpPr>
          <p:spPr>
            <a:xfrm rot="5400000">
              <a:off x="2385081" y="4521450"/>
              <a:ext cx="311115" cy="424603"/>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68" name="TextBox 67">
              <a:extLst>
                <a:ext uri="{FF2B5EF4-FFF2-40B4-BE49-F238E27FC236}">
                  <a16:creationId xmlns:a16="http://schemas.microsoft.com/office/drawing/2014/main" id="{1207EDB0-DB9E-B041-985F-3C768D231B5E}"/>
                </a:ext>
              </a:extLst>
            </p:cNvPr>
            <p:cNvSpPr txBox="1"/>
            <p:nvPr/>
          </p:nvSpPr>
          <p:spPr>
            <a:xfrm>
              <a:off x="7045171" y="4880710"/>
              <a:ext cx="739598" cy="316971"/>
            </a:xfrm>
            <a:prstGeom prst="rect">
              <a:avLst/>
            </a:prstGeom>
            <a:noFill/>
          </p:spPr>
          <p:txBody>
            <a:bodyPr wrap="none" rtlCol="0">
              <a:spAutoFit/>
            </a:bodyPr>
            <a:lstStyle/>
            <a:p>
              <a:r>
                <a:rPr lang="zh-CN" altLang="en-US" sz="1200" dirty="0"/>
                <a:t>数据区</a:t>
              </a:r>
              <a:endParaRPr lang="en-CN" sz="1200" dirty="0"/>
            </a:p>
          </p:txBody>
        </p:sp>
        <p:sp>
          <p:nvSpPr>
            <p:cNvPr id="69" name="Right Brace 68">
              <a:extLst>
                <a:ext uri="{FF2B5EF4-FFF2-40B4-BE49-F238E27FC236}">
                  <a16:creationId xmlns:a16="http://schemas.microsoft.com/office/drawing/2014/main" id="{95D44677-7C7C-6445-B084-48499044606F}"/>
                </a:ext>
              </a:extLst>
            </p:cNvPr>
            <p:cNvSpPr/>
            <p:nvPr/>
          </p:nvSpPr>
          <p:spPr>
            <a:xfrm rot="5400000" flipH="1">
              <a:off x="1980015" y="3661361"/>
              <a:ext cx="302764" cy="410675"/>
            </a:xfrm>
            <a:prstGeom prst="rightBrace">
              <a:avLst>
                <a:gd name="adj1" fmla="val 34720"/>
                <a:gd name="adj2" fmla="val 4490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70" name="TextBox 69">
              <a:extLst>
                <a:ext uri="{FF2B5EF4-FFF2-40B4-BE49-F238E27FC236}">
                  <a16:creationId xmlns:a16="http://schemas.microsoft.com/office/drawing/2014/main" id="{EE12F729-F255-4A40-8406-A5C24F92DFEF}"/>
                </a:ext>
              </a:extLst>
            </p:cNvPr>
            <p:cNvSpPr txBox="1"/>
            <p:nvPr/>
          </p:nvSpPr>
          <p:spPr>
            <a:xfrm>
              <a:off x="1745612" y="3338912"/>
              <a:ext cx="739598" cy="316971"/>
            </a:xfrm>
            <a:prstGeom prst="rect">
              <a:avLst/>
            </a:prstGeom>
            <a:noFill/>
          </p:spPr>
          <p:txBody>
            <a:bodyPr wrap="none" rtlCol="0">
              <a:spAutoFit/>
            </a:bodyPr>
            <a:lstStyle/>
            <a:p>
              <a:r>
                <a:rPr lang="zh-CN" altLang="en-US" sz="1200" dirty="0"/>
                <a:t>超级块</a:t>
              </a:r>
              <a:endParaRPr lang="en-CN" sz="1200" dirty="0"/>
            </a:p>
          </p:txBody>
        </p:sp>
      </p:grpSp>
      <p:cxnSp>
        <p:nvCxnSpPr>
          <p:cNvPr id="72" name="Straight Arrow Connector 71">
            <a:extLst>
              <a:ext uri="{FF2B5EF4-FFF2-40B4-BE49-F238E27FC236}">
                <a16:creationId xmlns:a16="http://schemas.microsoft.com/office/drawing/2014/main" id="{457649D2-D5A9-7645-984D-AF9AD8F7E5D6}"/>
              </a:ext>
            </a:extLst>
          </p:cNvPr>
          <p:cNvCxnSpPr>
            <a:cxnSpLocks/>
            <a:stCxn id="41" idx="0"/>
            <a:endCxn id="35" idx="0"/>
          </p:cNvCxnSpPr>
          <p:nvPr/>
        </p:nvCxnSpPr>
        <p:spPr>
          <a:xfrm rot="5400000" flipH="1" flipV="1">
            <a:off x="3042299" y="3520239"/>
            <a:ext cx="12700" cy="1476444"/>
          </a:xfrm>
          <a:prstGeom prst="curvedConnector3">
            <a:avLst>
              <a:gd name="adj1" fmla="val 1800000"/>
            </a:avLst>
          </a:prstGeom>
          <a:ln w="25400">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132D81B6-747C-D646-9AAE-5089D0E1292A}"/>
              </a:ext>
            </a:extLst>
          </p:cNvPr>
          <p:cNvGrpSpPr/>
          <p:nvPr/>
        </p:nvGrpSpPr>
        <p:grpSpPr>
          <a:xfrm>
            <a:off x="6199315" y="1388028"/>
            <a:ext cx="2027936" cy="1891981"/>
            <a:chOff x="5295805" y="998781"/>
            <a:chExt cx="2715989" cy="2533906"/>
          </a:xfrm>
        </p:grpSpPr>
        <p:sp>
          <p:nvSpPr>
            <p:cNvPr id="75" name="Rectangle 74">
              <a:extLst>
                <a:ext uri="{FF2B5EF4-FFF2-40B4-BE49-F238E27FC236}">
                  <a16:creationId xmlns:a16="http://schemas.microsoft.com/office/drawing/2014/main" id="{332FB092-D015-DE4D-B644-A663BAE82E3C}"/>
                </a:ext>
              </a:extLst>
            </p:cNvPr>
            <p:cNvSpPr/>
            <p:nvPr/>
          </p:nvSpPr>
          <p:spPr>
            <a:xfrm>
              <a:off x="6804248" y="1445828"/>
              <a:ext cx="1207546" cy="3042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900" dirty="0"/>
                <a:t>算法：</a:t>
              </a:r>
              <a:r>
                <a:rPr lang="en-US" altLang="zh-CN" sz="900" dirty="0"/>
                <a:t>14</a:t>
              </a:r>
              <a:endParaRPr lang="en-CN" sz="900" dirty="0"/>
            </a:p>
          </p:txBody>
        </p:sp>
        <p:sp>
          <p:nvSpPr>
            <p:cNvPr id="76" name="Rectangle 75">
              <a:extLst>
                <a:ext uri="{FF2B5EF4-FFF2-40B4-BE49-F238E27FC236}">
                  <a16:creationId xmlns:a16="http://schemas.microsoft.com/office/drawing/2014/main" id="{81FF10EB-BD4F-364D-93D1-A19529061691}"/>
                </a:ext>
              </a:extLst>
            </p:cNvPr>
            <p:cNvSpPr/>
            <p:nvPr/>
          </p:nvSpPr>
          <p:spPr>
            <a:xfrm>
              <a:off x="6804248" y="1751658"/>
              <a:ext cx="1207546" cy="3042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CN" sz="900" dirty="0">
                  <a:solidFill>
                    <a:schemeClr val="tx1"/>
                  </a:solidFill>
                </a:rPr>
                <a:t>OS</a:t>
              </a:r>
              <a:r>
                <a:rPr lang="zh-CN" altLang="en-US" sz="900" dirty="0">
                  <a:solidFill>
                    <a:schemeClr val="tx1"/>
                  </a:solidFill>
                </a:rPr>
                <a:t>：</a:t>
              </a:r>
              <a:r>
                <a:rPr lang="en-US" altLang="zh-CN" sz="900" dirty="0">
                  <a:solidFill>
                    <a:schemeClr val="tx1"/>
                  </a:solidFill>
                </a:rPr>
                <a:t>13</a:t>
              </a:r>
              <a:endParaRPr lang="en-CN" sz="900" dirty="0">
                <a:solidFill>
                  <a:schemeClr val="tx1"/>
                </a:solidFill>
              </a:endParaRPr>
            </a:p>
          </p:txBody>
        </p:sp>
        <p:sp>
          <p:nvSpPr>
            <p:cNvPr id="77" name="Rectangle 76">
              <a:extLst>
                <a:ext uri="{FF2B5EF4-FFF2-40B4-BE49-F238E27FC236}">
                  <a16:creationId xmlns:a16="http://schemas.microsoft.com/office/drawing/2014/main" id="{07BA5BA7-030C-AF48-B0FE-A88C4399DFF2}"/>
                </a:ext>
              </a:extLst>
            </p:cNvPr>
            <p:cNvSpPr/>
            <p:nvPr/>
          </p:nvSpPr>
          <p:spPr>
            <a:xfrm>
              <a:off x="6804248" y="2055928"/>
              <a:ext cx="1207546" cy="3042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900" dirty="0"/>
                <a:t>数据结构：</a:t>
              </a:r>
              <a:r>
                <a:rPr lang="en-US" altLang="zh-CN" sz="900" dirty="0"/>
                <a:t>3</a:t>
              </a:r>
              <a:endParaRPr lang="en-CN" sz="900" dirty="0"/>
            </a:p>
          </p:txBody>
        </p:sp>
        <p:sp>
          <p:nvSpPr>
            <p:cNvPr id="78" name="Rectangle 77">
              <a:extLst>
                <a:ext uri="{FF2B5EF4-FFF2-40B4-BE49-F238E27FC236}">
                  <a16:creationId xmlns:a16="http://schemas.microsoft.com/office/drawing/2014/main" id="{7CC02B43-6DE7-8A48-8C50-A2A2BC045E73}"/>
                </a:ext>
              </a:extLst>
            </p:cNvPr>
            <p:cNvSpPr/>
            <p:nvPr/>
          </p:nvSpPr>
          <p:spPr>
            <a:xfrm>
              <a:off x="6804248" y="2353444"/>
              <a:ext cx="1207546" cy="3042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900" b="1" dirty="0">
                  <a:solidFill>
                    <a:srgbClr val="C00000"/>
                  </a:solidFill>
                </a:rPr>
                <a:t>新文件：</a:t>
              </a:r>
              <a:r>
                <a:rPr lang="en-US" altLang="zh-CN" sz="900" b="1" dirty="0">
                  <a:solidFill>
                    <a:srgbClr val="C00000"/>
                  </a:solidFill>
                </a:rPr>
                <a:t>8</a:t>
              </a:r>
              <a:endParaRPr lang="en-CN" sz="900" b="1" dirty="0">
                <a:solidFill>
                  <a:srgbClr val="C00000"/>
                </a:solidFill>
              </a:endParaRPr>
            </a:p>
          </p:txBody>
        </p:sp>
        <p:sp>
          <p:nvSpPr>
            <p:cNvPr id="79" name="Rectangle 78">
              <a:extLst>
                <a:ext uri="{FF2B5EF4-FFF2-40B4-BE49-F238E27FC236}">
                  <a16:creationId xmlns:a16="http://schemas.microsoft.com/office/drawing/2014/main" id="{214D8DAA-8A95-6B4C-B8CE-FF196ECFC5B8}"/>
                </a:ext>
              </a:extLst>
            </p:cNvPr>
            <p:cNvSpPr/>
            <p:nvPr/>
          </p:nvSpPr>
          <p:spPr>
            <a:xfrm>
              <a:off x="5295805" y="1826863"/>
              <a:ext cx="782156" cy="8472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900" dirty="0"/>
                <a:t>常用</a:t>
              </a:r>
              <a:r>
                <a:rPr lang="zh-CN" altLang="en-US" sz="900" dirty="0"/>
                <a:t>元数据</a:t>
              </a:r>
              <a:endParaRPr lang="en-CN" sz="900" dirty="0"/>
            </a:p>
          </p:txBody>
        </p:sp>
        <p:sp>
          <p:nvSpPr>
            <p:cNvPr id="80" name="Rectangle 79">
              <a:extLst>
                <a:ext uri="{FF2B5EF4-FFF2-40B4-BE49-F238E27FC236}">
                  <a16:creationId xmlns:a16="http://schemas.microsoft.com/office/drawing/2014/main" id="{504E9282-81FE-584D-B162-CCA79020AED1}"/>
                </a:ext>
              </a:extLst>
            </p:cNvPr>
            <p:cNvSpPr/>
            <p:nvPr/>
          </p:nvSpPr>
          <p:spPr>
            <a:xfrm>
              <a:off x="5295805" y="2674066"/>
              <a:ext cx="782156" cy="2142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900" dirty="0"/>
                <a:t>第</a:t>
              </a:r>
              <a:r>
                <a:rPr lang="en-US" altLang="zh-CN" sz="900" dirty="0"/>
                <a:t>7</a:t>
              </a:r>
              <a:r>
                <a:rPr lang="zh-CN" altLang="en-US" sz="900" dirty="0"/>
                <a:t>块</a:t>
              </a:r>
              <a:endParaRPr lang="en-CN" sz="900" dirty="0"/>
            </a:p>
          </p:txBody>
        </p:sp>
        <p:sp>
          <p:nvSpPr>
            <p:cNvPr id="81" name="Rectangle 80">
              <a:extLst>
                <a:ext uri="{FF2B5EF4-FFF2-40B4-BE49-F238E27FC236}">
                  <a16:creationId xmlns:a16="http://schemas.microsoft.com/office/drawing/2014/main" id="{AE2E5013-C0DC-B147-A6F5-144018072127}"/>
                </a:ext>
              </a:extLst>
            </p:cNvPr>
            <p:cNvSpPr/>
            <p:nvPr/>
          </p:nvSpPr>
          <p:spPr>
            <a:xfrm>
              <a:off x="5295805" y="2888360"/>
              <a:ext cx="782156" cy="2142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CN" sz="900" dirty="0"/>
                <a:t>第</a:t>
              </a:r>
              <a:r>
                <a:rPr lang="en-US" altLang="zh-CN" sz="900" dirty="0"/>
                <a:t>8</a:t>
              </a:r>
              <a:r>
                <a:rPr lang="zh-CN" altLang="en-US" sz="900" dirty="0"/>
                <a:t>块</a:t>
              </a:r>
              <a:endParaRPr lang="en-CN" sz="900" dirty="0"/>
            </a:p>
          </p:txBody>
        </p:sp>
        <p:sp>
          <p:nvSpPr>
            <p:cNvPr id="82" name="Rectangle 81">
              <a:extLst>
                <a:ext uri="{FF2B5EF4-FFF2-40B4-BE49-F238E27FC236}">
                  <a16:creationId xmlns:a16="http://schemas.microsoft.com/office/drawing/2014/main" id="{A7690790-31E8-F54B-AB2C-2AF670E615D7}"/>
                </a:ext>
              </a:extLst>
            </p:cNvPr>
            <p:cNvSpPr/>
            <p:nvPr/>
          </p:nvSpPr>
          <p:spPr>
            <a:xfrm>
              <a:off x="5295805" y="3102654"/>
              <a:ext cx="782156" cy="2142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900" dirty="0"/>
            </a:p>
          </p:txBody>
        </p:sp>
        <p:sp>
          <p:nvSpPr>
            <p:cNvPr id="83" name="Rectangle 82">
              <a:extLst>
                <a:ext uri="{FF2B5EF4-FFF2-40B4-BE49-F238E27FC236}">
                  <a16:creationId xmlns:a16="http://schemas.microsoft.com/office/drawing/2014/main" id="{1AEA62C0-5106-CD46-8AE8-ACEA8AE739D0}"/>
                </a:ext>
              </a:extLst>
            </p:cNvPr>
            <p:cNvSpPr/>
            <p:nvPr/>
          </p:nvSpPr>
          <p:spPr>
            <a:xfrm>
              <a:off x="5295805" y="3318393"/>
              <a:ext cx="782156" cy="21429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N" sz="900" dirty="0"/>
            </a:p>
          </p:txBody>
        </p:sp>
        <p:sp>
          <p:nvSpPr>
            <p:cNvPr id="84" name="Rectangle 83">
              <a:extLst>
                <a:ext uri="{FF2B5EF4-FFF2-40B4-BE49-F238E27FC236}">
                  <a16:creationId xmlns:a16="http://schemas.microsoft.com/office/drawing/2014/main" id="{7C10A674-438C-4541-B293-1BBCF6108FD4}"/>
                </a:ext>
              </a:extLst>
            </p:cNvPr>
            <p:cNvSpPr/>
            <p:nvPr/>
          </p:nvSpPr>
          <p:spPr>
            <a:xfrm>
              <a:off x="6804248" y="2875815"/>
              <a:ext cx="782156" cy="6056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900" dirty="0"/>
                <a:t>数据块</a:t>
              </a:r>
              <a:endParaRPr lang="en-CN" sz="900" dirty="0"/>
            </a:p>
          </p:txBody>
        </p:sp>
        <p:cxnSp>
          <p:nvCxnSpPr>
            <p:cNvPr id="86" name="Curved Connector 85">
              <a:extLst>
                <a:ext uri="{FF2B5EF4-FFF2-40B4-BE49-F238E27FC236}">
                  <a16:creationId xmlns:a16="http://schemas.microsoft.com/office/drawing/2014/main" id="{323E9245-E697-6649-9904-28039B01EFC5}"/>
                </a:ext>
              </a:extLst>
            </p:cNvPr>
            <p:cNvCxnSpPr>
              <a:cxnSpLocks/>
              <a:stCxn id="80" idx="3"/>
              <a:endCxn id="75" idx="1"/>
            </p:cNvCxnSpPr>
            <p:nvPr/>
          </p:nvCxnSpPr>
          <p:spPr>
            <a:xfrm flipV="1">
              <a:off x="6077961" y="1597963"/>
              <a:ext cx="726287" cy="1183250"/>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Curved Connector 86">
              <a:extLst>
                <a:ext uri="{FF2B5EF4-FFF2-40B4-BE49-F238E27FC236}">
                  <a16:creationId xmlns:a16="http://schemas.microsoft.com/office/drawing/2014/main" id="{1C7E50B3-0D59-E845-8704-29C92E251B10}"/>
                </a:ext>
              </a:extLst>
            </p:cNvPr>
            <p:cNvCxnSpPr>
              <a:cxnSpLocks/>
              <a:stCxn id="81" idx="3"/>
              <a:endCxn id="84" idx="1"/>
            </p:cNvCxnSpPr>
            <p:nvPr/>
          </p:nvCxnSpPr>
          <p:spPr>
            <a:xfrm>
              <a:off x="6077961" y="2995508"/>
              <a:ext cx="726288" cy="183145"/>
            </a:xfrm>
            <a:prstGeom prst="curved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9E0C25B5-7C30-1746-BFB7-FFAE6C3AA2C7}"/>
                </a:ext>
              </a:extLst>
            </p:cNvPr>
            <p:cNvSpPr txBox="1"/>
            <p:nvPr/>
          </p:nvSpPr>
          <p:spPr>
            <a:xfrm>
              <a:off x="6839883" y="998781"/>
              <a:ext cx="814098" cy="350371"/>
            </a:xfrm>
            <a:prstGeom prst="rect">
              <a:avLst/>
            </a:prstGeom>
            <a:noFill/>
          </p:spPr>
          <p:txBody>
            <a:bodyPr wrap="none" rtlCol="0">
              <a:spAutoFit/>
            </a:bodyPr>
            <a:lstStyle/>
            <a:p>
              <a:r>
                <a:rPr lang="zh-CN" altLang="en-US" sz="1050" dirty="0"/>
                <a:t>数据块</a:t>
              </a:r>
              <a:endParaRPr lang="en-CN" sz="1050" dirty="0"/>
            </a:p>
          </p:txBody>
        </p:sp>
      </p:grpSp>
      <p:sp>
        <p:nvSpPr>
          <p:cNvPr id="54" name="TextBox 53">
            <a:extLst>
              <a:ext uri="{FF2B5EF4-FFF2-40B4-BE49-F238E27FC236}">
                <a16:creationId xmlns:a16="http://schemas.microsoft.com/office/drawing/2014/main" id="{6446A4FE-ACB3-7F4B-8F76-8FA04BFD59AE}"/>
              </a:ext>
            </a:extLst>
          </p:cNvPr>
          <p:cNvSpPr txBox="1"/>
          <p:nvPr/>
        </p:nvSpPr>
        <p:spPr>
          <a:xfrm>
            <a:off x="5093765" y="4252505"/>
            <a:ext cx="441146" cy="400110"/>
          </a:xfrm>
          <a:prstGeom prst="rect">
            <a:avLst/>
          </a:prstGeom>
          <a:noFill/>
        </p:spPr>
        <p:txBody>
          <a:bodyPr wrap="none" rtlCol="0">
            <a:spAutoFit/>
          </a:bodyPr>
          <a:lstStyle/>
          <a:p>
            <a:r>
              <a:rPr lang="en-US" altLang="zh-CN" sz="2000" b="1" dirty="0"/>
              <a:t>…</a:t>
            </a:r>
            <a:endParaRPr lang="en-CN" sz="2000" b="1" dirty="0"/>
          </a:p>
        </p:txBody>
      </p:sp>
      <p:cxnSp>
        <p:nvCxnSpPr>
          <p:cNvPr id="55" name="Straight Arrow Connector 71">
            <a:extLst>
              <a:ext uri="{FF2B5EF4-FFF2-40B4-BE49-F238E27FC236}">
                <a16:creationId xmlns:a16="http://schemas.microsoft.com/office/drawing/2014/main" id="{DF4949FC-0B31-7A48-821F-21BD6EBDF0F6}"/>
              </a:ext>
            </a:extLst>
          </p:cNvPr>
          <p:cNvCxnSpPr>
            <a:cxnSpLocks/>
          </p:cNvCxnSpPr>
          <p:nvPr/>
        </p:nvCxnSpPr>
        <p:spPr>
          <a:xfrm flipV="1">
            <a:off x="3594991" y="2063770"/>
            <a:ext cx="2590903" cy="2201041"/>
          </a:xfrm>
          <a:prstGeom prst="straightConnector1">
            <a:avLst/>
          </a:prstGeom>
          <a:ln w="254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71">
            <a:extLst>
              <a:ext uri="{FF2B5EF4-FFF2-40B4-BE49-F238E27FC236}">
                <a16:creationId xmlns:a16="http://schemas.microsoft.com/office/drawing/2014/main" id="{A216F5DE-1C36-6042-B24F-BE244FC79BC3}"/>
              </a:ext>
            </a:extLst>
          </p:cNvPr>
          <p:cNvCxnSpPr>
            <a:cxnSpLocks/>
          </p:cNvCxnSpPr>
          <p:nvPr/>
        </p:nvCxnSpPr>
        <p:spPr>
          <a:xfrm flipV="1">
            <a:off x="3957021" y="3317688"/>
            <a:ext cx="2242294" cy="940774"/>
          </a:xfrm>
          <a:prstGeom prst="straightConnector1">
            <a:avLst/>
          </a:prstGeom>
          <a:ln w="254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1">
            <a:extLst>
              <a:ext uri="{FF2B5EF4-FFF2-40B4-BE49-F238E27FC236}">
                <a16:creationId xmlns:a16="http://schemas.microsoft.com/office/drawing/2014/main" id="{416757E4-2184-8346-81F6-37521D751951}"/>
              </a:ext>
            </a:extLst>
          </p:cNvPr>
          <p:cNvCxnSpPr>
            <a:cxnSpLocks/>
            <a:stCxn id="49" idx="0"/>
            <a:endCxn id="75" idx="1"/>
          </p:cNvCxnSpPr>
          <p:nvPr/>
        </p:nvCxnSpPr>
        <p:spPr>
          <a:xfrm flipV="1">
            <a:off x="6559252" y="1835417"/>
            <a:ext cx="766366" cy="2417088"/>
          </a:xfrm>
          <a:prstGeom prst="straightConnector1">
            <a:avLst/>
          </a:prstGeom>
          <a:ln w="254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1">
            <a:extLst>
              <a:ext uri="{FF2B5EF4-FFF2-40B4-BE49-F238E27FC236}">
                <a16:creationId xmlns:a16="http://schemas.microsoft.com/office/drawing/2014/main" id="{64F10141-A9EE-FC48-9190-CE51AFB8A004}"/>
              </a:ext>
            </a:extLst>
          </p:cNvPr>
          <p:cNvCxnSpPr>
            <a:cxnSpLocks/>
          </p:cNvCxnSpPr>
          <p:nvPr/>
        </p:nvCxnSpPr>
        <p:spPr>
          <a:xfrm flipV="1">
            <a:off x="6667500" y="2629539"/>
            <a:ext cx="668559" cy="1637661"/>
          </a:xfrm>
          <a:prstGeom prst="straightConnector1">
            <a:avLst/>
          </a:prstGeom>
          <a:ln w="2540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1">
            <a:extLst>
              <a:ext uri="{FF2B5EF4-FFF2-40B4-BE49-F238E27FC236}">
                <a16:creationId xmlns:a16="http://schemas.microsoft.com/office/drawing/2014/main" id="{3341E933-7E37-474D-A0A6-D901F78205C3}"/>
              </a:ext>
            </a:extLst>
          </p:cNvPr>
          <p:cNvCxnSpPr>
            <a:cxnSpLocks/>
            <a:stCxn id="35" idx="0"/>
            <a:endCxn id="49" idx="0"/>
          </p:cNvCxnSpPr>
          <p:nvPr/>
        </p:nvCxnSpPr>
        <p:spPr>
          <a:xfrm rot="5400000" flipH="1" flipV="1">
            <a:off x="5166908" y="2866118"/>
            <a:ext cx="5956" cy="2778731"/>
          </a:xfrm>
          <a:prstGeom prst="curvedConnector3">
            <a:avLst>
              <a:gd name="adj1" fmla="val 3938146"/>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53" name="TextBox 52">
            <a:extLst>
              <a:ext uri="{FF2B5EF4-FFF2-40B4-BE49-F238E27FC236}">
                <a16:creationId xmlns:a16="http://schemas.microsoft.com/office/drawing/2014/main" id="{7BD1C1E1-9F8F-9041-BD59-60D9BD83448F}"/>
              </a:ext>
            </a:extLst>
          </p:cNvPr>
          <p:cNvSpPr txBox="1"/>
          <p:nvPr/>
        </p:nvSpPr>
        <p:spPr>
          <a:xfrm>
            <a:off x="638189" y="4275368"/>
            <a:ext cx="1107996" cy="369332"/>
          </a:xfrm>
          <a:prstGeom prst="rect">
            <a:avLst/>
          </a:prstGeom>
          <a:noFill/>
        </p:spPr>
        <p:txBody>
          <a:bodyPr wrap="none" rtlCol="0">
            <a:spAutoFit/>
          </a:bodyPr>
          <a:lstStyle/>
          <a:p>
            <a:r>
              <a:rPr lang="zh-CN" altLang="en-US" dirty="0"/>
              <a:t>存储设备</a:t>
            </a:r>
            <a:endParaRPr lang="en-CN" dirty="0"/>
          </a:p>
        </p:txBody>
      </p:sp>
    </p:spTree>
    <p:extLst>
      <p:ext uri="{BB962C8B-B14F-4D97-AF65-F5344CB8AC3E}">
        <p14:creationId xmlns:p14="http://schemas.microsoft.com/office/powerpoint/2010/main" val="5268675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CN" dirty="0"/>
              <a:t>文件</a:t>
            </a:r>
            <a:r>
              <a:rPr lang="zh-CN" altLang="en-US" dirty="0"/>
              <a:t>的创建</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4114801" cy="3771636"/>
          </a:xfrm>
        </p:spPr>
        <p:txBody>
          <a:bodyPr>
            <a:normAutofit/>
          </a:bodyPr>
          <a:lstStyle/>
          <a:p>
            <a:pPr marL="0" indent="0">
              <a:buNone/>
            </a:pPr>
            <a:r>
              <a:rPr lang="zh-CN" altLang="en-US" sz="2000" b="0" dirty="0"/>
              <a:t>创建</a:t>
            </a:r>
            <a:r>
              <a:rPr lang="en-US" altLang="zh-CN" sz="2000" b="0" dirty="0"/>
              <a:t>"/</a:t>
            </a:r>
            <a:r>
              <a:rPr lang="en-US" altLang="zh-CN" sz="2000" b="0" dirty="0" err="1"/>
              <a:t>chb</a:t>
            </a:r>
            <a:r>
              <a:rPr lang="en-US" altLang="zh-CN" sz="2000" b="0" dirty="0"/>
              <a:t>"</a:t>
            </a:r>
            <a:r>
              <a:rPr lang="zh-CN" altLang="en-US" sz="2000" b="0" dirty="0"/>
              <a:t>的修改包括：</a:t>
            </a:r>
            <a:endParaRPr lang="en-US" altLang="zh-CN" sz="2000" b="0" dirty="0"/>
          </a:p>
          <a:p>
            <a:pPr marL="0" indent="0">
              <a:buNone/>
            </a:pPr>
            <a:r>
              <a:rPr lang="en-US" altLang="zh-CN" sz="2000" b="0" dirty="0"/>
              <a:t>1.</a:t>
            </a:r>
            <a:r>
              <a:rPr lang="zh-CN" altLang="en-US" sz="2000" b="0" dirty="0"/>
              <a:t> 标记</a:t>
            </a:r>
            <a:r>
              <a:rPr lang="en-US" altLang="zh-CN" sz="2000" b="0" dirty="0" err="1"/>
              <a:t>inode</a:t>
            </a:r>
            <a:r>
              <a:rPr lang="zh-CN" altLang="en-US" sz="2000" b="0" dirty="0"/>
              <a:t>为占用</a:t>
            </a:r>
            <a:br>
              <a:rPr lang="en-US" altLang="zh-CN" sz="2000" b="0" dirty="0"/>
            </a:br>
            <a:r>
              <a:rPr lang="en-US" altLang="zh-CN" sz="2000" b="0" dirty="0"/>
              <a:t>2.</a:t>
            </a:r>
            <a:r>
              <a:rPr lang="zh-CN" altLang="en-US" sz="2000" b="0" dirty="0"/>
              <a:t> 初始化</a:t>
            </a:r>
            <a:r>
              <a:rPr lang="en-US" altLang="zh-CN" sz="2000" b="0" dirty="0" err="1"/>
              <a:t>inode</a:t>
            </a:r>
            <a:br>
              <a:rPr lang="en-US" altLang="zh-CN" sz="2000" b="0" dirty="0"/>
            </a:br>
            <a:r>
              <a:rPr lang="en-US" altLang="zh-CN" sz="2000" b="0" dirty="0"/>
              <a:t>3.</a:t>
            </a:r>
            <a:r>
              <a:rPr lang="zh-CN" altLang="en-US" sz="2000" b="0" dirty="0"/>
              <a:t> 将目录项写入目录中</a:t>
            </a:r>
            <a:endParaRPr lang="en-CN" sz="20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sp>
        <p:nvSpPr>
          <p:cNvPr id="6" name="TextBox 5">
            <a:extLst>
              <a:ext uri="{FF2B5EF4-FFF2-40B4-BE49-F238E27FC236}">
                <a16:creationId xmlns:a16="http://schemas.microsoft.com/office/drawing/2014/main" id="{D25C85A9-A2BC-3B47-A612-4AAFF9856976}"/>
              </a:ext>
            </a:extLst>
          </p:cNvPr>
          <p:cNvSpPr txBox="1"/>
          <p:nvPr/>
        </p:nvSpPr>
        <p:spPr>
          <a:xfrm>
            <a:off x="4788024" y="2065412"/>
            <a:ext cx="2492990" cy="400110"/>
          </a:xfrm>
          <a:prstGeom prst="rect">
            <a:avLst/>
          </a:prstGeom>
          <a:noFill/>
        </p:spPr>
        <p:txBody>
          <a:bodyPr wrap="none" rtlCol="0">
            <a:spAutoFit/>
          </a:bodyPr>
          <a:lstStyle/>
          <a:p>
            <a:r>
              <a:rPr lang="zh-CN" altLang="en-CN" sz="2000" dirty="0"/>
              <a:t>崩溃</a:t>
            </a:r>
            <a:r>
              <a:rPr lang="zh-CN" altLang="en-US" sz="2000" dirty="0"/>
              <a:t>随时可能发生！</a:t>
            </a:r>
            <a:endParaRPr lang="en-CN" sz="2000" dirty="0"/>
          </a:p>
        </p:txBody>
      </p:sp>
      <p:sp>
        <p:nvSpPr>
          <p:cNvPr id="7" name="Lightning Bolt 6">
            <a:extLst>
              <a:ext uri="{FF2B5EF4-FFF2-40B4-BE49-F238E27FC236}">
                <a16:creationId xmlns:a16="http://schemas.microsoft.com/office/drawing/2014/main" id="{DBC1F807-659A-2346-BF06-F42C3A8354E0}"/>
              </a:ext>
            </a:extLst>
          </p:cNvPr>
          <p:cNvSpPr/>
          <p:nvPr/>
        </p:nvSpPr>
        <p:spPr>
          <a:xfrm>
            <a:off x="4445496" y="1728136"/>
            <a:ext cx="469032" cy="792088"/>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8346446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4903-B09F-9A4B-828F-F712498C7617}"/>
              </a:ext>
            </a:extLst>
          </p:cNvPr>
          <p:cNvSpPr>
            <a:spLocks noGrp="1"/>
          </p:cNvSpPr>
          <p:nvPr>
            <p:ph type="title"/>
          </p:nvPr>
        </p:nvSpPr>
        <p:spPr/>
        <p:txBody>
          <a:bodyPr/>
          <a:lstStyle/>
          <a:p>
            <a:r>
              <a:rPr lang="zh-CN" altLang="en-US" dirty="0"/>
              <a:t>回顾：</a:t>
            </a:r>
            <a:r>
              <a:rPr lang="zh-CN" altLang="en-CN" dirty="0"/>
              <a:t>内存</a:t>
            </a:r>
            <a:r>
              <a:rPr lang="zh-CN" altLang="en-US" dirty="0"/>
              <a:t>与存储结构</a:t>
            </a:r>
            <a:endParaRPr lang="en-CN" dirty="0"/>
          </a:p>
        </p:txBody>
      </p:sp>
      <p:sp>
        <p:nvSpPr>
          <p:cNvPr id="4" name="Footer Placeholder 3">
            <a:extLst>
              <a:ext uri="{FF2B5EF4-FFF2-40B4-BE49-F238E27FC236}">
                <a16:creationId xmlns:a16="http://schemas.microsoft.com/office/drawing/2014/main" id="{6E42ECD1-9ECE-D849-BC22-DBE71319585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5" name="Group 4">
            <a:extLst>
              <a:ext uri="{FF2B5EF4-FFF2-40B4-BE49-F238E27FC236}">
                <a16:creationId xmlns:a16="http://schemas.microsoft.com/office/drawing/2014/main" id="{76131F82-7D59-DD4A-8AE4-3EB28D943546}"/>
              </a:ext>
            </a:extLst>
          </p:cNvPr>
          <p:cNvGrpSpPr/>
          <p:nvPr/>
        </p:nvGrpSpPr>
        <p:grpSpPr>
          <a:xfrm>
            <a:off x="1820924" y="3658983"/>
            <a:ext cx="6208325" cy="1646788"/>
            <a:chOff x="1571562" y="3338912"/>
            <a:chExt cx="7104198" cy="1884424"/>
          </a:xfrm>
        </p:grpSpPr>
        <p:sp>
          <p:nvSpPr>
            <p:cNvPr id="6" name="Rectangle 5">
              <a:extLst>
                <a:ext uri="{FF2B5EF4-FFF2-40B4-BE49-F238E27FC236}">
                  <a16:creationId xmlns:a16="http://schemas.microsoft.com/office/drawing/2014/main" id="{03FA417D-A5E7-E247-A747-7AA3E729C18A}"/>
                </a:ext>
              </a:extLst>
            </p:cNvPr>
            <p:cNvSpPr/>
            <p:nvPr/>
          </p:nvSpPr>
          <p:spPr>
            <a:xfrm>
              <a:off x="3601631"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tLang="zh-CN" sz="600" dirty="0"/>
            </a:p>
          </p:txBody>
        </p:sp>
        <p:sp>
          <p:nvSpPr>
            <p:cNvPr id="7" name="Rectangle 6">
              <a:extLst>
                <a:ext uri="{FF2B5EF4-FFF2-40B4-BE49-F238E27FC236}">
                  <a16:creationId xmlns:a16="http://schemas.microsoft.com/office/drawing/2014/main" id="{2DAAEDC6-FB89-704C-AB91-5FC3E976DBB5}"/>
                </a:ext>
              </a:extLst>
            </p:cNvPr>
            <p:cNvSpPr/>
            <p:nvPr/>
          </p:nvSpPr>
          <p:spPr>
            <a:xfrm>
              <a:off x="4026233"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endParaRPr lang="en-US" altLang="zh-CN" sz="600" dirty="0">
                <a:solidFill>
                  <a:srgbClr val="000000"/>
                </a:solidFill>
              </a:endParaRPr>
            </a:p>
          </p:txBody>
        </p:sp>
        <p:sp>
          <p:nvSpPr>
            <p:cNvPr id="8" name="Rectangle 7">
              <a:extLst>
                <a:ext uri="{FF2B5EF4-FFF2-40B4-BE49-F238E27FC236}">
                  <a16:creationId xmlns:a16="http://schemas.microsoft.com/office/drawing/2014/main" id="{DDE896F4-93B6-4A4F-A562-6381047D9052}"/>
                </a:ext>
              </a:extLst>
            </p:cNvPr>
            <p:cNvSpPr/>
            <p:nvPr/>
          </p:nvSpPr>
          <p:spPr>
            <a:xfrm>
              <a:off x="4450835"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endParaRPr lang="en-US" altLang="zh-CN" sz="600" dirty="0">
                <a:solidFill>
                  <a:srgbClr val="000000"/>
                </a:solidFill>
              </a:endParaRPr>
            </a:p>
          </p:txBody>
        </p:sp>
        <p:sp>
          <p:nvSpPr>
            <p:cNvPr id="9" name="Rectangle 8">
              <a:extLst>
                <a:ext uri="{FF2B5EF4-FFF2-40B4-BE49-F238E27FC236}">
                  <a16:creationId xmlns:a16="http://schemas.microsoft.com/office/drawing/2014/main" id="{E720D690-6856-3E40-9EC0-0A42588BC1E1}"/>
                </a:ext>
              </a:extLst>
            </p:cNvPr>
            <p:cNvSpPr/>
            <p:nvPr/>
          </p:nvSpPr>
          <p:spPr>
            <a:xfrm>
              <a:off x="2332280"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0" name="Rectangle 9">
              <a:extLst>
                <a:ext uri="{FF2B5EF4-FFF2-40B4-BE49-F238E27FC236}">
                  <a16:creationId xmlns:a16="http://schemas.microsoft.com/office/drawing/2014/main" id="{0D9F936B-FECC-3649-84AF-42450451AC23}"/>
                </a:ext>
              </a:extLst>
            </p:cNvPr>
            <p:cNvSpPr/>
            <p:nvPr/>
          </p:nvSpPr>
          <p:spPr>
            <a:xfrm>
              <a:off x="2756882"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 name="Rectangle 10">
              <a:extLst>
                <a:ext uri="{FF2B5EF4-FFF2-40B4-BE49-F238E27FC236}">
                  <a16:creationId xmlns:a16="http://schemas.microsoft.com/office/drawing/2014/main" id="{C4CBD544-333A-074F-AA3D-8D3A1927A060}"/>
                </a:ext>
              </a:extLst>
            </p:cNvPr>
            <p:cNvSpPr/>
            <p:nvPr/>
          </p:nvSpPr>
          <p:spPr>
            <a:xfrm>
              <a:off x="3181484"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2" name="Rectangle 11">
              <a:extLst>
                <a:ext uri="{FF2B5EF4-FFF2-40B4-BE49-F238E27FC236}">
                  <a16:creationId xmlns:a16="http://schemas.microsoft.com/office/drawing/2014/main" id="{7C91257A-6B36-684B-9F2A-30ED28216C3A}"/>
                </a:ext>
              </a:extLst>
            </p:cNvPr>
            <p:cNvSpPr/>
            <p:nvPr/>
          </p:nvSpPr>
          <p:spPr>
            <a:xfrm>
              <a:off x="1912133" y="4024896"/>
              <a:ext cx="424602" cy="4857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sz="1200"/>
            </a:p>
          </p:txBody>
        </p:sp>
        <p:sp>
          <p:nvSpPr>
            <p:cNvPr id="13" name="Rectangle 12">
              <a:extLst>
                <a:ext uri="{FF2B5EF4-FFF2-40B4-BE49-F238E27FC236}">
                  <a16:creationId xmlns:a16="http://schemas.microsoft.com/office/drawing/2014/main" id="{5B734A67-BF23-E940-9759-E69237581315}"/>
                </a:ext>
              </a:extLst>
            </p:cNvPr>
            <p:cNvSpPr/>
            <p:nvPr/>
          </p:nvSpPr>
          <p:spPr>
            <a:xfrm>
              <a:off x="6157160"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4" name="Rectangle 13">
              <a:extLst>
                <a:ext uri="{FF2B5EF4-FFF2-40B4-BE49-F238E27FC236}">
                  <a16:creationId xmlns:a16="http://schemas.microsoft.com/office/drawing/2014/main" id="{9BBE8CA2-A056-2943-B0B0-745CCC1AD660}"/>
                </a:ext>
              </a:extLst>
            </p:cNvPr>
            <p:cNvSpPr/>
            <p:nvPr/>
          </p:nvSpPr>
          <p:spPr>
            <a:xfrm>
              <a:off x="7401954"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5" name="Rectangle 14">
              <a:extLst>
                <a:ext uri="{FF2B5EF4-FFF2-40B4-BE49-F238E27FC236}">
                  <a16:creationId xmlns:a16="http://schemas.microsoft.com/office/drawing/2014/main" id="{BD55FCB7-73F5-C94E-8263-32B919E4FEBC}"/>
                </a:ext>
              </a:extLst>
            </p:cNvPr>
            <p:cNvSpPr/>
            <p:nvPr/>
          </p:nvSpPr>
          <p:spPr>
            <a:xfrm>
              <a:off x="7826556"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6" name="Rectangle 15">
              <a:extLst>
                <a:ext uri="{FF2B5EF4-FFF2-40B4-BE49-F238E27FC236}">
                  <a16:creationId xmlns:a16="http://schemas.microsoft.com/office/drawing/2014/main" id="{695948A0-05FB-1146-BE60-F3D7CDD91880}"/>
                </a:ext>
              </a:extLst>
            </p:cNvPr>
            <p:cNvSpPr/>
            <p:nvPr/>
          </p:nvSpPr>
          <p:spPr>
            <a:xfrm>
              <a:off x="8251158"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7" name="Rectangle 16">
              <a:extLst>
                <a:ext uri="{FF2B5EF4-FFF2-40B4-BE49-F238E27FC236}">
                  <a16:creationId xmlns:a16="http://schemas.microsoft.com/office/drawing/2014/main" id="{4484B6E2-AFBB-F340-BC46-EC78CFAD850C}"/>
                </a:ext>
              </a:extLst>
            </p:cNvPr>
            <p:cNvSpPr/>
            <p:nvPr/>
          </p:nvSpPr>
          <p:spPr>
            <a:xfrm>
              <a:off x="4879378"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8" name="Rectangle 17">
              <a:extLst>
                <a:ext uri="{FF2B5EF4-FFF2-40B4-BE49-F238E27FC236}">
                  <a16:creationId xmlns:a16="http://schemas.microsoft.com/office/drawing/2014/main" id="{A7FD8DC9-2297-DD4C-A7A5-FD1996915DF4}"/>
                </a:ext>
              </a:extLst>
            </p:cNvPr>
            <p:cNvSpPr/>
            <p:nvPr/>
          </p:nvSpPr>
          <p:spPr>
            <a:xfrm>
              <a:off x="5728582" y="4024896"/>
              <a:ext cx="424602" cy="48578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9" name="TextBox 18">
              <a:extLst>
                <a:ext uri="{FF2B5EF4-FFF2-40B4-BE49-F238E27FC236}">
                  <a16:creationId xmlns:a16="http://schemas.microsoft.com/office/drawing/2014/main" id="{3A5B879B-A8BD-F04B-ADB8-5B3BAA53A995}"/>
                </a:ext>
              </a:extLst>
            </p:cNvPr>
            <p:cNvSpPr txBox="1"/>
            <p:nvPr/>
          </p:nvSpPr>
          <p:spPr>
            <a:xfrm>
              <a:off x="6741237" y="4018081"/>
              <a:ext cx="504804" cy="457847"/>
            </a:xfrm>
            <a:prstGeom prst="rect">
              <a:avLst/>
            </a:prstGeom>
            <a:noFill/>
          </p:spPr>
          <p:txBody>
            <a:bodyPr wrap="none" rtlCol="0">
              <a:spAutoFit/>
            </a:bodyPr>
            <a:lstStyle/>
            <a:p>
              <a:r>
                <a:rPr lang="en-US" altLang="zh-CN" sz="2000" b="1" dirty="0"/>
                <a:t>…</a:t>
              </a:r>
              <a:endParaRPr lang="en-CN" sz="2000" b="1" dirty="0"/>
            </a:p>
          </p:txBody>
        </p:sp>
        <p:sp>
          <p:nvSpPr>
            <p:cNvPr id="20" name="Right Brace 19">
              <a:extLst>
                <a:ext uri="{FF2B5EF4-FFF2-40B4-BE49-F238E27FC236}">
                  <a16:creationId xmlns:a16="http://schemas.microsoft.com/office/drawing/2014/main" id="{00D644A9-A1A5-2B47-8078-1D202792BAA8}"/>
                </a:ext>
              </a:extLst>
            </p:cNvPr>
            <p:cNvSpPr/>
            <p:nvPr/>
          </p:nvSpPr>
          <p:spPr>
            <a:xfrm rot="5400000">
              <a:off x="4716599" y="3457517"/>
              <a:ext cx="311115" cy="2538755"/>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1" name="Right Brace 20">
              <a:extLst>
                <a:ext uri="{FF2B5EF4-FFF2-40B4-BE49-F238E27FC236}">
                  <a16:creationId xmlns:a16="http://schemas.microsoft.com/office/drawing/2014/main" id="{D1FF28BF-F60B-BD4C-B9F3-C8B8D7B3AD80}"/>
                </a:ext>
              </a:extLst>
            </p:cNvPr>
            <p:cNvSpPr/>
            <p:nvPr/>
          </p:nvSpPr>
          <p:spPr>
            <a:xfrm rot="5400000">
              <a:off x="7258407" y="3470091"/>
              <a:ext cx="311115" cy="2513612"/>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2" name="TextBox 21">
              <a:extLst>
                <a:ext uri="{FF2B5EF4-FFF2-40B4-BE49-F238E27FC236}">
                  <a16:creationId xmlns:a16="http://schemas.microsoft.com/office/drawing/2014/main" id="{77A9BFB7-F494-D543-990A-B9927C571990}"/>
                </a:ext>
              </a:extLst>
            </p:cNvPr>
            <p:cNvSpPr txBox="1"/>
            <p:nvPr/>
          </p:nvSpPr>
          <p:spPr>
            <a:xfrm>
              <a:off x="4513645" y="4879512"/>
              <a:ext cx="814805" cy="316971"/>
            </a:xfrm>
            <a:prstGeom prst="rect">
              <a:avLst/>
            </a:prstGeom>
            <a:noFill/>
          </p:spPr>
          <p:txBody>
            <a:bodyPr wrap="none" rtlCol="0">
              <a:spAutoFit/>
            </a:bodyPr>
            <a:lstStyle/>
            <a:p>
              <a:r>
                <a:rPr lang="en-US" altLang="zh-CN" sz="1200" dirty="0" err="1"/>
                <a:t>inode</a:t>
              </a:r>
              <a:r>
                <a:rPr lang="zh-CN" altLang="en-US" sz="1200" dirty="0"/>
                <a:t>表</a:t>
              </a:r>
              <a:endParaRPr lang="en-CN" sz="1200" dirty="0"/>
            </a:p>
          </p:txBody>
        </p:sp>
        <p:sp>
          <p:nvSpPr>
            <p:cNvPr id="24" name="TextBox 23">
              <a:extLst>
                <a:ext uri="{FF2B5EF4-FFF2-40B4-BE49-F238E27FC236}">
                  <a16:creationId xmlns:a16="http://schemas.microsoft.com/office/drawing/2014/main" id="{810E7FA6-FBB0-A74A-9381-81071EAA0D80}"/>
                </a:ext>
              </a:extLst>
            </p:cNvPr>
            <p:cNvSpPr txBox="1"/>
            <p:nvPr/>
          </p:nvSpPr>
          <p:spPr>
            <a:xfrm>
              <a:off x="1571562" y="4906365"/>
              <a:ext cx="1166995" cy="316971"/>
            </a:xfrm>
            <a:prstGeom prst="rect">
              <a:avLst/>
            </a:prstGeom>
            <a:noFill/>
          </p:spPr>
          <p:txBody>
            <a:bodyPr wrap="none" rtlCol="0">
              <a:spAutoFit/>
            </a:bodyPr>
            <a:lstStyle/>
            <a:p>
              <a:r>
                <a:rPr lang="en-US" altLang="zh-CN" sz="1200" dirty="0" err="1"/>
                <a:t>inode</a:t>
              </a:r>
              <a:r>
                <a:rPr lang="zh-CN" altLang="en-US" sz="1200" dirty="0"/>
                <a:t>分配表</a:t>
              </a:r>
              <a:endParaRPr lang="en-CN" sz="1200" dirty="0"/>
            </a:p>
          </p:txBody>
        </p:sp>
        <p:sp>
          <p:nvSpPr>
            <p:cNvPr id="25" name="TextBox 24">
              <a:extLst>
                <a:ext uri="{FF2B5EF4-FFF2-40B4-BE49-F238E27FC236}">
                  <a16:creationId xmlns:a16="http://schemas.microsoft.com/office/drawing/2014/main" id="{B72A9424-A12F-B349-916C-EE54A72413D2}"/>
                </a:ext>
              </a:extLst>
            </p:cNvPr>
            <p:cNvSpPr txBox="1"/>
            <p:nvPr/>
          </p:nvSpPr>
          <p:spPr>
            <a:xfrm>
              <a:off x="2812815" y="4902439"/>
              <a:ext cx="915692" cy="316971"/>
            </a:xfrm>
            <a:prstGeom prst="rect">
              <a:avLst/>
            </a:prstGeom>
            <a:noFill/>
          </p:spPr>
          <p:txBody>
            <a:bodyPr wrap="none" rtlCol="0">
              <a:spAutoFit/>
            </a:bodyPr>
            <a:lstStyle/>
            <a:p>
              <a:r>
                <a:rPr lang="zh-CN" altLang="en-US" sz="1200" dirty="0"/>
                <a:t>块分配表</a:t>
              </a:r>
              <a:endParaRPr lang="en-CN" sz="1200" dirty="0"/>
            </a:p>
          </p:txBody>
        </p:sp>
        <p:sp>
          <p:nvSpPr>
            <p:cNvPr id="26" name="Right Brace 25">
              <a:extLst>
                <a:ext uri="{FF2B5EF4-FFF2-40B4-BE49-F238E27FC236}">
                  <a16:creationId xmlns:a16="http://schemas.microsoft.com/office/drawing/2014/main" id="{02ADD920-2F31-A845-B20E-CFA8B31CCD25}"/>
                </a:ext>
              </a:extLst>
            </p:cNvPr>
            <p:cNvSpPr/>
            <p:nvPr/>
          </p:nvSpPr>
          <p:spPr>
            <a:xfrm rot="5400000">
              <a:off x="3023698" y="4314434"/>
              <a:ext cx="311115" cy="844749"/>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7" name="Right Brace 26">
              <a:extLst>
                <a:ext uri="{FF2B5EF4-FFF2-40B4-BE49-F238E27FC236}">
                  <a16:creationId xmlns:a16="http://schemas.microsoft.com/office/drawing/2014/main" id="{42170C4B-A7F9-7644-AFEA-7A74426C2792}"/>
                </a:ext>
              </a:extLst>
            </p:cNvPr>
            <p:cNvSpPr/>
            <p:nvPr/>
          </p:nvSpPr>
          <p:spPr>
            <a:xfrm rot="5400000">
              <a:off x="2385081" y="4521450"/>
              <a:ext cx="311115" cy="424603"/>
            </a:xfrm>
            <a:prstGeom prst="rightBrace">
              <a:avLst>
                <a:gd name="adj1" fmla="val 34720"/>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28" name="TextBox 27">
              <a:extLst>
                <a:ext uri="{FF2B5EF4-FFF2-40B4-BE49-F238E27FC236}">
                  <a16:creationId xmlns:a16="http://schemas.microsoft.com/office/drawing/2014/main" id="{1D9D78A7-A1B1-994F-918A-6478D76209D1}"/>
                </a:ext>
              </a:extLst>
            </p:cNvPr>
            <p:cNvSpPr txBox="1"/>
            <p:nvPr/>
          </p:nvSpPr>
          <p:spPr>
            <a:xfrm>
              <a:off x="7045171" y="4880710"/>
              <a:ext cx="739598" cy="316971"/>
            </a:xfrm>
            <a:prstGeom prst="rect">
              <a:avLst/>
            </a:prstGeom>
            <a:noFill/>
          </p:spPr>
          <p:txBody>
            <a:bodyPr wrap="none" rtlCol="0">
              <a:spAutoFit/>
            </a:bodyPr>
            <a:lstStyle/>
            <a:p>
              <a:r>
                <a:rPr lang="zh-CN" altLang="en-US" sz="1200" dirty="0"/>
                <a:t>数据区</a:t>
              </a:r>
              <a:endParaRPr lang="en-CN" sz="1200" dirty="0"/>
            </a:p>
          </p:txBody>
        </p:sp>
        <p:sp>
          <p:nvSpPr>
            <p:cNvPr id="29" name="Right Brace 28">
              <a:extLst>
                <a:ext uri="{FF2B5EF4-FFF2-40B4-BE49-F238E27FC236}">
                  <a16:creationId xmlns:a16="http://schemas.microsoft.com/office/drawing/2014/main" id="{96AD9D6A-8D90-3543-877B-EED2E6268611}"/>
                </a:ext>
              </a:extLst>
            </p:cNvPr>
            <p:cNvSpPr/>
            <p:nvPr/>
          </p:nvSpPr>
          <p:spPr>
            <a:xfrm rot="5400000" flipH="1">
              <a:off x="1980015" y="3661361"/>
              <a:ext cx="302764" cy="410675"/>
            </a:xfrm>
            <a:prstGeom prst="rightBrace">
              <a:avLst>
                <a:gd name="adj1" fmla="val 34720"/>
                <a:gd name="adj2" fmla="val 4490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sz="1200"/>
            </a:p>
          </p:txBody>
        </p:sp>
        <p:sp>
          <p:nvSpPr>
            <p:cNvPr id="30" name="TextBox 29">
              <a:extLst>
                <a:ext uri="{FF2B5EF4-FFF2-40B4-BE49-F238E27FC236}">
                  <a16:creationId xmlns:a16="http://schemas.microsoft.com/office/drawing/2014/main" id="{6A090BF7-0548-C745-817C-5469BEC9F78B}"/>
                </a:ext>
              </a:extLst>
            </p:cNvPr>
            <p:cNvSpPr txBox="1"/>
            <p:nvPr/>
          </p:nvSpPr>
          <p:spPr>
            <a:xfrm>
              <a:off x="1745612" y="3338912"/>
              <a:ext cx="739598" cy="316971"/>
            </a:xfrm>
            <a:prstGeom prst="rect">
              <a:avLst/>
            </a:prstGeom>
            <a:noFill/>
          </p:spPr>
          <p:txBody>
            <a:bodyPr wrap="none" rtlCol="0">
              <a:spAutoFit/>
            </a:bodyPr>
            <a:lstStyle/>
            <a:p>
              <a:r>
                <a:rPr lang="zh-CN" altLang="en-US" sz="1200" dirty="0"/>
                <a:t>超级块</a:t>
              </a:r>
              <a:endParaRPr lang="en-CN" sz="1200" dirty="0"/>
            </a:p>
          </p:txBody>
        </p:sp>
      </p:grpSp>
      <p:sp>
        <p:nvSpPr>
          <p:cNvPr id="32" name="TextBox 31">
            <a:extLst>
              <a:ext uri="{FF2B5EF4-FFF2-40B4-BE49-F238E27FC236}">
                <a16:creationId xmlns:a16="http://schemas.microsoft.com/office/drawing/2014/main" id="{4B27FA58-91EC-124B-A804-76599B8E23B2}"/>
              </a:ext>
            </a:extLst>
          </p:cNvPr>
          <p:cNvSpPr txBox="1"/>
          <p:nvPr/>
        </p:nvSpPr>
        <p:spPr>
          <a:xfrm>
            <a:off x="5093765" y="4252505"/>
            <a:ext cx="441146" cy="400110"/>
          </a:xfrm>
          <a:prstGeom prst="rect">
            <a:avLst/>
          </a:prstGeom>
          <a:noFill/>
        </p:spPr>
        <p:txBody>
          <a:bodyPr wrap="none" rtlCol="0">
            <a:spAutoFit/>
          </a:bodyPr>
          <a:lstStyle/>
          <a:p>
            <a:r>
              <a:rPr lang="en-US" altLang="zh-CN" sz="2000" b="1" dirty="0"/>
              <a:t>…</a:t>
            </a:r>
            <a:endParaRPr lang="en-CN" sz="2000" b="1" dirty="0"/>
          </a:p>
        </p:txBody>
      </p:sp>
      <p:sp>
        <p:nvSpPr>
          <p:cNvPr id="34" name="TextBox 33">
            <a:extLst>
              <a:ext uri="{FF2B5EF4-FFF2-40B4-BE49-F238E27FC236}">
                <a16:creationId xmlns:a16="http://schemas.microsoft.com/office/drawing/2014/main" id="{214F7D1F-082B-AF41-BF3F-34CBF65EC5FC}"/>
              </a:ext>
            </a:extLst>
          </p:cNvPr>
          <p:cNvSpPr txBox="1"/>
          <p:nvPr/>
        </p:nvSpPr>
        <p:spPr>
          <a:xfrm>
            <a:off x="795647" y="2636575"/>
            <a:ext cx="646331" cy="369332"/>
          </a:xfrm>
          <a:prstGeom prst="rect">
            <a:avLst/>
          </a:prstGeom>
          <a:noFill/>
        </p:spPr>
        <p:txBody>
          <a:bodyPr wrap="none" rtlCol="0">
            <a:spAutoFit/>
          </a:bodyPr>
          <a:lstStyle/>
          <a:p>
            <a:r>
              <a:rPr lang="zh-CN" altLang="en-CN" dirty="0"/>
              <a:t>内存</a:t>
            </a:r>
            <a:endParaRPr lang="en-CN" dirty="0"/>
          </a:p>
        </p:txBody>
      </p:sp>
      <p:cxnSp>
        <p:nvCxnSpPr>
          <p:cNvPr id="36" name="Straight Connector 35">
            <a:extLst>
              <a:ext uri="{FF2B5EF4-FFF2-40B4-BE49-F238E27FC236}">
                <a16:creationId xmlns:a16="http://schemas.microsoft.com/office/drawing/2014/main" id="{2508C517-EA7D-F74B-83F4-76492BA5D24C}"/>
              </a:ext>
            </a:extLst>
          </p:cNvPr>
          <p:cNvCxnSpPr/>
          <p:nvPr/>
        </p:nvCxnSpPr>
        <p:spPr>
          <a:xfrm>
            <a:off x="557639" y="3658983"/>
            <a:ext cx="8147050"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0E721E4C-65E8-F945-ACA5-721EAFDE0707}"/>
              </a:ext>
            </a:extLst>
          </p:cNvPr>
          <p:cNvSpPr txBox="1"/>
          <p:nvPr/>
        </p:nvSpPr>
        <p:spPr>
          <a:xfrm>
            <a:off x="1534444" y="2185419"/>
            <a:ext cx="877163" cy="369332"/>
          </a:xfrm>
          <a:prstGeom prst="rect">
            <a:avLst/>
          </a:prstGeom>
          <a:noFill/>
        </p:spPr>
        <p:txBody>
          <a:bodyPr wrap="none" rtlCol="0">
            <a:spAutoFit/>
          </a:bodyPr>
          <a:lstStyle/>
          <a:p>
            <a:r>
              <a:rPr lang="zh-CN" altLang="en-CN" dirty="0"/>
              <a:t>超级块</a:t>
            </a:r>
            <a:endParaRPr lang="en-CN" dirty="0"/>
          </a:p>
        </p:txBody>
      </p:sp>
      <p:sp>
        <p:nvSpPr>
          <p:cNvPr id="38" name="TextBox 37">
            <a:extLst>
              <a:ext uri="{FF2B5EF4-FFF2-40B4-BE49-F238E27FC236}">
                <a16:creationId xmlns:a16="http://schemas.microsoft.com/office/drawing/2014/main" id="{BF7EB638-2BB3-1146-8F79-71FDB93F0091}"/>
              </a:ext>
            </a:extLst>
          </p:cNvPr>
          <p:cNvSpPr txBox="1"/>
          <p:nvPr/>
        </p:nvSpPr>
        <p:spPr>
          <a:xfrm>
            <a:off x="2410936" y="2258350"/>
            <a:ext cx="877163" cy="369332"/>
          </a:xfrm>
          <a:prstGeom prst="rect">
            <a:avLst/>
          </a:prstGeom>
          <a:noFill/>
        </p:spPr>
        <p:txBody>
          <a:bodyPr wrap="none" rtlCol="0">
            <a:spAutoFit/>
          </a:bodyPr>
          <a:lstStyle/>
          <a:p>
            <a:r>
              <a:rPr lang="zh-CN" altLang="en-US" dirty="0"/>
              <a:t>分配器</a:t>
            </a:r>
            <a:endParaRPr lang="en-CN" dirty="0"/>
          </a:p>
        </p:txBody>
      </p:sp>
      <p:sp>
        <p:nvSpPr>
          <p:cNvPr id="39" name="TextBox 38">
            <a:extLst>
              <a:ext uri="{FF2B5EF4-FFF2-40B4-BE49-F238E27FC236}">
                <a16:creationId xmlns:a16="http://schemas.microsoft.com/office/drawing/2014/main" id="{8E8C324C-CD45-374A-9B03-A3004A7ABA72}"/>
              </a:ext>
            </a:extLst>
          </p:cNvPr>
          <p:cNvSpPr txBox="1"/>
          <p:nvPr/>
        </p:nvSpPr>
        <p:spPr>
          <a:xfrm>
            <a:off x="5265079" y="2143427"/>
            <a:ext cx="748923" cy="369332"/>
          </a:xfrm>
          <a:prstGeom prst="rect">
            <a:avLst/>
          </a:prstGeom>
          <a:noFill/>
        </p:spPr>
        <p:txBody>
          <a:bodyPr wrap="none" rtlCol="0">
            <a:spAutoFit/>
          </a:bodyPr>
          <a:lstStyle/>
          <a:p>
            <a:r>
              <a:rPr lang="en-US" altLang="zh-CN" dirty="0" err="1"/>
              <a:t>inode</a:t>
            </a:r>
            <a:endParaRPr lang="en-CN" dirty="0"/>
          </a:p>
        </p:txBody>
      </p:sp>
      <p:sp>
        <p:nvSpPr>
          <p:cNvPr id="40" name="TextBox 39">
            <a:extLst>
              <a:ext uri="{FF2B5EF4-FFF2-40B4-BE49-F238E27FC236}">
                <a16:creationId xmlns:a16="http://schemas.microsoft.com/office/drawing/2014/main" id="{DCF0D350-D76A-7947-8BFA-37FE7AEA7712}"/>
              </a:ext>
            </a:extLst>
          </p:cNvPr>
          <p:cNvSpPr txBox="1"/>
          <p:nvPr/>
        </p:nvSpPr>
        <p:spPr>
          <a:xfrm>
            <a:off x="3805796" y="1364676"/>
            <a:ext cx="886781" cy="369332"/>
          </a:xfrm>
          <a:prstGeom prst="rect">
            <a:avLst/>
          </a:prstGeom>
          <a:noFill/>
        </p:spPr>
        <p:txBody>
          <a:bodyPr wrap="none" rtlCol="0">
            <a:spAutoFit/>
          </a:bodyPr>
          <a:lstStyle/>
          <a:p>
            <a:r>
              <a:rPr lang="zh-CN" altLang="en-US" dirty="0"/>
              <a:t>目录项</a:t>
            </a:r>
            <a:endParaRPr lang="en-CN" dirty="0"/>
          </a:p>
        </p:txBody>
      </p:sp>
      <p:sp>
        <p:nvSpPr>
          <p:cNvPr id="41" name="Rectangle 40">
            <a:extLst>
              <a:ext uri="{FF2B5EF4-FFF2-40B4-BE49-F238E27FC236}">
                <a16:creationId xmlns:a16="http://schemas.microsoft.com/office/drawing/2014/main" id="{BA0776DC-5AE5-9844-B413-3288129952A1}"/>
              </a:ext>
            </a:extLst>
          </p:cNvPr>
          <p:cNvSpPr/>
          <p:nvPr/>
        </p:nvSpPr>
        <p:spPr>
          <a:xfrm>
            <a:off x="1852687" y="2679581"/>
            <a:ext cx="371058" cy="3318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2" name="Rectangle 41">
            <a:extLst>
              <a:ext uri="{FF2B5EF4-FFF2-40B4-BE49-F238E27FC236}">
                <a16:creationId xmlns:a16="http://schemas.microsoft.com/office/drawing/2014/main" id="{7A9E6583-964C-F945-B5AD-11B26A092B9B}"/>
              </a:ext>
            </a:extLst>
          </p:cNvPr>
          <p:cNvSpPr/>
          <p:nvPr/>
        </p:nvSpPr>
        <p:spPr>
          <a:xfrm>
            <a:off x="2687470" y="2764630"/>
            <a:ext cx="483353" cy="5528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3" name="Rectangle 42">
            <a:extLst>
              <a:ext uri="{FF2B5EF4-FFF2-40B4-BE49-F238E27FC236}">
                <a16:creationId xmlns:a16="http://schemas.microsoft.com/office/drawing/2014/main" id="{281E531A-D3C4-6742-AA51-5E576500DA5D}"/>
              </a:ext>
            </a:extLst>
          </p:cNvPr>
          <p:cNvSpPr/>
          <p:nvPr/>
        </p:nvSpPr>
        <p:spPr>
          <a:xfrm>
            <a:off x="4248033" y="3083379"/>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4" name="Rectangle 43">
            <a:extLst>
              <a:ext uri="{FF2B5EF4-FFF2-40B4-BE49-F238E27FC236}">
                <a16:creationId xmlns:a16="http://schemas.microsoft.com/office/drawing/2014/main" id="{B2942EAF-E025-0E46-9DDD-460252D83576}"/>
              </a:ext>
            </a:extLst>
          </p:cNvPr>
          <p:cNvSpPr/>
          <p:nvPr/>
        </p:nvSpPr>
        <p:spPr>
          <a:xfrm>
            <a:off x="5295346" y="2548225"/>
            <a:ext cx="492457" cy="88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nvGrpSpPr>
          <p:cNvPr id="51" name="Group 50">
            <a:extLst>
              <a:ext uri="{FF2B5EF4-FFF2-40B4-BE49-F238E27FC236}">
                <a16:creationId xmlns:a16="http://schemas.microsoft.com/office/drawing/2014/main" id="{8B971AFB-87D3-CC43-8E4C-93D60D3DB275}"/>
              </a:ext>
            </a:extLst>
          </p:cNvPr>
          <p:cNvGrpSpPr/>
          <p:nvPr/>
        </p:nvGrpSpPr>
        <p:grpSpPr>
          <a:xfrm>
            <a:off x="6169416" y="2857045"/>
            <a:ext cx="408273" cy="550295"/>
            <a:chOff x="5930406" y="2352287"/>
            <a:chExt cx="585810" cy="789591"/>
          </a:xfrm>
        </p:grpSpPr>
        <p:sp>
          <p:nvSpPr>
            <p:cNvPr id="45" name="Rectangle 44">
              <a:extLst>
                <a:ext uri="{FF2B5EF4-FFF2-40B4-BE49-F238E27FC236}">
                  <a16:creationId xmlns:a16="http://schemas.microsoft.com/office/drawing/2014/main" id="{759644E6-2C5E-6241-8CAD-865CAAF8860E}"/>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6" name="Rectangle 45">
              <a:extLst>
                <a:ext uri="{FF2B5EF4-FFF2-40B4-BE49-F238E27FC236}">
                  <a16:creationId xmlns:a16="http://schemas.microsoft.com/office/drawing/2014/main" id="{941964A8-441D-8C41-B224-D88882FD438B}"/>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7" name="Rectangle 46">
              <a:extLst>
                <a:ext uri="{FF2B5EF4-FFF2-40B4-BE49-F238E27FC236}">
                  <a16:creationId xmlns:a16="http://schemas.microsoft.com/office/drawing/2014/main" id="{E2BE0D5F-3EEA-924F-82EB-A6AC46FEFEF0}"/>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8" name="Rectangle 47">
              <a:extLst>
                <a:ext uri="{FF2B5EF4-FFF2-40B4-BE49-F238E27FC236}">
                  <a16:creationId xmlns:a16="http://schemas.microsoft.com/office/drawing/2014/main" id="{6DD18F05-9B6A-E249-93BD-0FF7C31F8745}"/>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49" name="Rectangle 48">
              <a:extLst>
                <a:ext uri="{FF2B5EF4-FFF2-40B4-BE49-F238E27FC236}">
                  <a16:creationId xmlns:a16="http://schemas.microsoft.com/office/drawing/2014/main" id="{E7A36BA6-BCD5-4643-B992-1A66BE6204F3}"/>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grpSp>
        <p:nvGrpSpPr>
          <p:cNvPr id="52" name="Group 51">
            <a:extLst>
              <a:ext uri="{FF2B5EF4-FFF2-40B4-BE49-F238E27FC236}">
                <a16:creationId xmlns:a16="http://schemas.microsoft.com/office/drawing/2014/main" id="{762250EE-A820-0F4A-BD00-4B0C5BE69533}"/>
              </a:ext>
            </a:extLst>
          </p:cNvPr>
          <p:cNvGrpSpPr/>
          <p:nvPr/>
        </p:nvGrpSpPr>
        <p:grpSpPr>
          <a:xfrm>
            <a:off x="6878066" y="3045431"/>
            <a:ext cx="408273" cy="550295"/>
            <a:chOff x="5930406" y="2352287"/>
            <a:chExt cx="585810" cy="789591"/>
          </a:xfrm>
        </p:grpSpPr>
        <p:sp>
          <p:nvSpPr>
            <p:cNvPr id="53" name="Rectangle 52">
              <a:extLst>
                <a:ext uri="{FF2B5EF4-FFF2-40B4-BE49-F238E27FC236}">
                  <a16:creationId xmlns:a16="http://schemas.microsoft.com/office/drawing/2014/main" id="{D3AC2A2B-748A-6848-9B8E-49342CC65A4B}"/>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4" name="Rectangle 53">
              <a:extLst>
                <a:ext uri="{FF2B5EF4-FFF2-40B4-BE49-F238E27FC236}">
                  <a16:creationId xmlns:a16="http://schemas.microsoft.com/office/drawing/2014/main" id="{1AFF230A-A44E-7E4D-BCA1-FBA702A9B9CE}"/>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5" name="Rectangle 54">
              <a:extLst>
                <a:ext uri="{FF2B5EF4-FFF2-40B4-BE49-F238E27FC236}">
                  <a16:creationId xmlns:a16="http://schemas.microsoft.com/office/drawing/2014/main" id="{C1F7C33B-BA39-F34C-B885-EEFA0AEFEB1E}"/>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6" name="Rectangle 55">
              <a:extLst>
                <a:ext uri="{FF2B5EF4-FFF2-40B4-BE49-F238E27FC236}">
                  <a16:creationId xmlns:a16="http://schemas.microsoft.com/office/drawing/2014/main" id="{146251DB-A3CB-3A4A-B908-843E625D5A4D}"/>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57" name="Rectangle 56">
              <a:extLst>
                <a:ext uri="{FF2B5EF4-FFF2-40B4-BE49-F238E27FC236}">
                  <a16:creationId xmlns:a16="http://schemas.microsoft.com/office/drawing/2014/main" id="{DD441771-933A-504F-84D8-7530C2A8BAFC}"/>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sp>
        <p:nvSpPr>
          <p:cNvPr id="58" name="Rectangle 57">
            <a:extLst>
              <a:ext uri="{FF2B5EF4-FFF2-40B4-BE49-F238E27FC236}">
                <a16:creationId xmlns:a16="http://schemas.microsoft.com/office/drawing/2014/main" id="{A642D420-9FEE-D243-85D6-09B57E3C789F}"/>
              </a:ext>
            </a:extLst>
          </p:cNvPr>
          <p:cNvSpPr/>
          <p:nvPr/>
        </p:nvSpPr>
        <p:spPr>
          <a:xfrm>
            <a:off x="5300291" y="3158729"/>
            <a:ext cx="492457" cy="11131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nvGrpSpPr>
          <p:cNvPr id="59" name="Group 58">
            <a:extLst>
              <a:ext uri="{FF2B5EF4-FFF2-40B4-BE49-F238E27FC236}">
                <a16:creationId xmlns:a16="http://schemas.microsoft.com/office/drawing/2014/main" id="{A63D726F-3553-A342-B70D-095AFEB27A93}"/>
              </a:ext>
            </a:extLst>
          </p:cNvPr>
          <p:cNvGrpSpPr/>
          <p:nvPr/>
        </p:nvGrpSpPr>
        <p:grpSpPr>
          <a:xfrm>
            <a:off x="6867570" y="2335804"/>
            <a:ext cx="408273" cy="550295"/>
            <a:chOff x="5930406" y="2352287"/>
            <a:chExt cx="585810" cy="789591"/>
          </a:xfrm>
        </p:grpSpPr>
        <p:sp>
          <p:nvSpPr>
            <p:cNvPr id="60" name="Rectangle 59">
              <a:extLst>
                <a:ext uri="{FF2B5EF4-FFF2-40B4-BE49-F238E27FC236}">
                  <a16:creationId xmlns:a16="http://schemas.microsoft.com/office/drawing/2014/main" id="{C2AD7656-A12B-474C-9C6F-72D38BB271EA}"/>
                </a:ext>
              </a:extLst>
            </p:cNvPr>
            <p:cNvSpPr/>
            <p:nvPr/>
          </p:nvSpPr>
          <p:spPr>
            <a:xfrm>
              <a:off x="5930406" y="2352287"/>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1" name="Rectangle 60">
              <a:extLst>
                <a:ext uri="{FF2B5EF4-FFF2-40B4-BE49-F238E27FC236}">
                  <a16:creationId xmlns:a16="http://schemas.microsoft.com/office/drawing/2014/main" id="{60383222-FAF1-3F4A-B7CB-D63AD6197891}"/>
                </a:ext>
              </a:extLst>
            </p:cNvPr>
            <p:cNvSpPr/>
            <p:nvPr/>
          </p:nvSpPr>
          <p:spPr>
            <a:xfrm>
              <a:off x="5930406" y="25155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2" name="Rectangle 61">
              <a:extLst>
                <a:ext uri="{FF2B5EF4-FFF2-40B4-BE49-F238E27FC236}">
                  <a16:creationId xmlns:a16="http://schemas.microsoft.com/office/drawing/2014/main" id="{E956416C-0655-0545-8677-E8F7C4E79E43}"/>
                </a:ext>
              </a:extLst>
            </p:cNvPr>
            <p:cNvSpPr/>
            <p:nvPr/>
          </p:nvSpPr>
          <p:spPr>
            <a:xfrm>
              <a:off x="5930406" y="267524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3" name="Rectangle 62">
              <a:extLst>
                <a:ext uri="{FF2B5EF4-FFF2-40B4-BE49-F238E27FC236}">
                  <a16:creationId xmlns:a16="http://schemas.microsoft.com/office/drawing/2014/main" id="{B0876EC3-4FDA-244F-B42F-E5F11ECB6DAF}"/>
                </a:ext>
              </a:extLst>
            </p:cNvPr>
            <p:cNvSpPr/>
            <p:nvPr/>
          </p:nvSpPr>
          <p:spPr>
            <a:xfrm>
              <a:off x="5930406" y="2818924"/>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64" name="Rectangle 63">
              <a:extLst>
                <a:ext uri="{FF2B5EF4-FFF2-40B4-BE49-F238E27FC236}">
                  <a16:creationId xmlns:a16="http://schemas.microsoft.com/office/drawing/2014/main" id="{2B4C028A-F441-F947-A0C5-CA3612983299}"/>
                </a:ext>
              </a:extLst>
            </p:cNvPr>
            <p:cNvSpPr/>
            <p:nvPr/>
          </p:nvSpPr>
          <p:spPr>
            <a:xfrm>
              <a:off x="5930406" y="2982161"/>
              <a:ext cx="585810" cy="15971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grpSp>
      <p:cxnSp>
        <p:nvCxnSpPr>
          <p:cNvPr id="66" name="Straight Arrow Connector 65">
            <a:extLst>
              <a:ext uri="{FF2B5EF4-FFF2-40B4-BE49-F238E27FC236}">
                <a16:creationId xmlns:a16="http://schemas.microsoft.com/office/drawing/2014/main" id="{948CD127-E2DC-864F-8036-C91D41654F64}"/>
              </a:ext>
            </a:extLst>
          </p:cNvPr>
          <p:cNvCxnSpPr>
            <a:stCxn id="58" idx="3"/>
            <a:endCxn id="45" idx="1"/>
          </p:cNvCxnSpPr>
          <p:nvPr/>
        </p:nvCxnSpPr>
        <p:spPr>
          <a:xfrm flipV="1">
            <a:off x="5792748" y="2912702"/>
            <a:ext cx="376668" cy="3016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DB9FA54-E710-DB46-B392-43DDA2E419F7}"/>
              </a:ext>
            </a:extLst>
          </p:cNvPr>
          <p:cNvCxnSpPr>
            <a:cxnSpLocks/>
            <a:stCxn id="45" idx="3"/>
            <a:endCxn id="60" idx="1"/>
          </p:cNvCxnSpPr>
          <p:nvPr/>
        </p:nvCxnSpPr>
        <p:spPr>
          <a:xfrm flipV="1">
            <a:off x="6577689" y="2391461"/>
            <a:ext cx="289881" cy="5212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4132820-73F5-F547-A227-AA748DECF172}"/>
              </a:ext>
            </a:extLst>
          </p:cNvPr>
          <p:cNvCxnSpPr>
            <a:cxnSpLocks/>
            <a:stCxn id="46" idx="3"/>
            <a:endCxn id="53" idx="1"/>
          </p:cNvCxnSpPr>
          <p:nvPr/>
        </p:nvCxnSpPr>
        <p:spPr>
          <a:xfrm>
            <a:off x="6577689" y="3026468"/>
            <a:ext cx="300377" cy="74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CE1A650F-8C8D-F045-BCA4-93683ED6EC8F}"/>
              </a:ext>
            </a:extLst>
          </p:cNvPr>
          <p:cNvSpPr/>
          <p:nvPr/>
        </p:nvSpPr>
        <p:spPr>
          <a:xfrm>
            <a:off x="7610780" y="1764384"/>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75" name="Rectangle 74">
            <a:extLst>
              <a:ext uri="{FF2B5EF4-FFF2-40B4-BE49-F238E27FC236}">
                <a16:creationId xmlns:a16="http://schemas.microsoft.com/office/drawing/2014/main" id="{5047FBA5-8C8D-7F4D-B06F-38AF8C81D016}"/>
              </a:ext>
            </a:extLst>
          </p:cNvPr>
          <p:cNvSpPr/>
          <p:nvPr/>
        </p:nvSpPr>
        <p:spPr>
          <a:xfrm>
            <a:off x="7958864" y="2285150"/>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76" name="Rectangle 75">
            <a:extLst>
              <a:ext uri="{FF2B5EF4-FFF2-40B4-BE49-F238E27FC236}">
                <a16:creationId xmlns:a16="http://schemas.microsoft.com/office/drawing/2014/main" id="{26B7C9F7-DE25-2B4A-9CAF-1EC839D58B38}"/>
              </a:ext>
            </a:extLst>
          </p:cNvPr>
          <p:cNvSpPr/>
          <p:nvPr/>
        </p:nvSpPr>
        <p:spPr>
          <a:xfrm>
            <a:off x="8259231" y="2897316"/>
            <a:ext cx="371058" cy="42452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77" name="Straight Arrow Connector 76">
            <a:extLst>
              <a:ext uri="{FF2B5EF4-FFF2-40B4-BE49-F238E27FC236}">
                <a16:creationId xmlns:a16="http://schemas.microsoft.com/office/drawing/2014/main" id="{DAF4DEA7-CF68-D440-9131-2CC4DC3402CD}"/>
              </a:ext>
            </a:extLst>
          </p:cNvPr>
          <p:cNvCxnSpPr>
            <a:cxnSpLocks/>
            <a:stCxn id="60" idx="3"/>
            <a:endCxn id="74" idx="1"/>
          </p:cNvCxnSpPr>
          <p:nvPr/>
        </p:nvCxnSpPr>
        <p:spPr>
          <a:xfrm flipV="1">
            <a:off x="7275843" y="1976645"/>
            <a:ext cx="334937" cy="414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42BB9FE-3526-644C-A794-547205060042}"/>
              </a:ext>
            </a:extLst>
          </p:cNvPr>
          <p:cNvCxnSpPr>
            <a:cxnSpLocks/>
            <a:stCxn id="61" idx="3"/>
            <a:endCxn id="75" idx="1"/>
          </p:cNvCxnSpPr>
          <p:nvPr/>
        </p:nvCxnSpPr>
        <p:spPr>
          <a:xfrm flipV="1">
            <a:off x="7275843" y="2497411"/>
            <a:ext cx="683021" cy="7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5D59BFB-4499-5449-9589-5922C529E850}"/>
              </a:ext>
            </a:extLst>
          </p:cNvPr>
          <p:cNvCxnSpPr>
            <a:cxnSpLocks/>
            <a:stCxn id="62" idx="3"/>
            <a:endCxn id="76" idx="1"/>
          </p:cNvCxnSpPr>
          <p:nvPr/>
        </p:nvCxnSpPr>
        <p:spPr>
          <a:xfrm>
            <a:off x="7275843" y="2616540"/>
            <a:ext cx="983388" cy="4930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AE7BFD1C-C0CD-CE41-90A2-EA0B08283319}"/>
              </a:ext>
            </a:extLst>
          </p:cNvPr>
          <p:cNvSpPr txBox="1"/>
          <p:nvPr/>
        </p:nvSpPr>
        <p:spPr>
          <a:xfrm>
            <a:off x="7112113" y="1236279"/>
            <a:ext cx="1454244" cy="369332"/>
          </a:xfrm>
          <a:prstGeom prst="rect">
            <a:avLst/>
          </a:prstGeom>
          <a:noFill/>
        </p:spPr>
        <p:txBody>
          <a:bodyPr wrap="none" rtlCol="0">
            <a:spAutoFit/>
          </a:bodyPr>
          <a:lstStyle/>
          <a:p>
            <a:r>
              <a:rPr lang="en-US" dirty="0">
                <a:solidFill>
                  <a:srgbClr val="C00000"/>
                </a:solidFill>
              </a:rPr>
              <a:t>Page Cache</a:t>
            </a:r>
            <a:endParaRPr lang="en-CN" dirty="0">
              <a:solidFill>
                <a:srgbClr val="C00000"/>
              </a:solidFill>
            </a:endParaRPr>
          </a:p>
        </p:txBody>
      </p:sp>
      <p:cxnSp>
        <p:nvCxnSpPr>
          <p:cNvPr id="87" name="Straight Arrow Connector 86">
            <a:extLst>
              <a:ext uri="{FF2B5EF4-FFF2-40B4-BE49-F238E27FC236}">
                <a16:creationId xmlns:a16="http://schemas.microsoft.com/office/drawing/2014/main" id="{093ECBAF-888D-E843-8273-657450D01F05}"/>
              </a:ext>
            </a:extLst>
          </p:cNvPr>
          <p:cNvCxnSpPr>
            <a:cxnSpLocks/>
            <a:stCxn id="42" idx="2"/>
            <a:endCxn id="9" idx="0"/>
          </p:cNvCxnSpPr>
          <p:nvPr/>
        </p:nvCxnSpPr>
        <p:spPr>
          <a:xfrm flipH="1">
            <a:off x="2671241" y="3317486"/>
            <a:ext cx="257906" cy="94097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88B511A3-30B0-CF49-BB0D-B5405E5C6FA3}"/>
              </a:ext>
            </a:extLst>
          </p:cNvPr>
          <p:cNvCxnSpPr>
            <a:cxnSpLocks/>
            <a:stCxn id="44" idx="2"/>
            <a:endCxn id="7" idx="0"/>
          </p:cNvCxnSpPr>
          <p:nvPr/>
        </p:nvCxnSpPr>
        <p:spPr>
          <a:xfrm flipH="1">
            <a:off x="4151579" y="3429756"/>
            <a:ext cx="1389996" cy="82870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37FFE852-5510-3A42-AE59-6C4B9ED28264}"/>
              </a:ext>
            </a:extLst>
          </p:cNvPr>
          <p:cNvCxnSpPr>
            <a:cxnSpLocks/>
            <a:stCxn id="74" idx="2"/>
            <a:endCxn id="14" idx="0"/>
          </p:cNvCxnSpPr>
          <p:nvPr/>
        </p:nvCxnSpPr>
        <p:spPr>
          <a:xfrm flipH="1">
            <a:off x="7101605" y="2188906"/>
            <a:ext cx="694704" cy="2069555"/>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74D5ADE7-5CEE-884E-A8F3-7FFFEF63D567}"/>
              </a:ext>
            </a:extLst>
          </p:cNvPr>
          <p:cNvCxnSpPr>
            <a:cxnSpLocks/>
            <a:stCxn id="75" idx="2"/>
            <a:endCxn id="15" idx="0"/>
          </p:cNvCxnSpPr>
          <p:nvPr/>
        </p:nvCxnSpPr>
        <p:spPr>
          <a:xfrm flipH="1">
            <a:off x="7472663" y="2709672"/>
            <a:ext cx="671730" cy="1548789"/>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4DBCB81C-63F9-A04A-AEB6-3F4CBA2FAC76}"/>
              </a:ext>
            </a:extLst>
          </p:cNvPr>
          <p:cNvCxnSpPr>
            <a:cxnSpLocks/>
            <a:stCxn id="76" idx="2"/>
            <a:endCxn id="16" idx="0"/>
          </p:cNvCxnSpPr>
          <p:nvPr/>
        </p:nvCxnSpPr>
        <p:spPr>
          <a:xfrm flipH="1">
            <a:off x="7843720" y="3321838"/>
            <a:ext cx="601040" cy="936623"/>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8C21176C-5182-A14D-A0EA-0F871BA11D79}"/>
              </a:ext>
            </a:extLst>
          </p:cNvPr>
          <p:cNvCxnSpPr>
            <a:cxnSpLocks/>
            <a:stCxn id="41" idx="2"/>
            <a:endCxn id="12" idx="0"/>
          </p:cNvCxnSpPr>
          <p:nvPr/>
        </p:nvCxnSpPr>
        <p:spPr>
          <a:xfrm>
            <a:off x="2038216" y="3011460"/>
            <a:ext cx="265861" cy="1247001"/>
          </a:xfrm>
          <a:prstGeom prst="straightConnector1">
            <a:avLst/>
          </a:prstGeom>
          <a:ln w="19050">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47F16F56-9BB9-CA43-898E-AAEC532977CD}"/>
              </a:ext>
            </a:extLst>
          </p:cNvPr>
          <p:cNvCxnSpPr>
            <a:cxnSpLocks/>
            <a:stCxn id="43" idx="3"/>
          </p:cNvCxnSpPr>
          <p:nvPr/>
        </p:nvCxnSpPr>
        <p:spPr>
          <a:xfrm flipV="1">
            <a:off x="4853983" y="2679581"/>
            <a:ext cx="446308" cy="499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206E43D5-FE1F-1C4E-B716-A031C7E6CEE3}"/>
              </a:ext>
            </a:extLst>
          </p:cNvPr>
          <p:cNvSpPr/>
          <p:nvPr/>
        </p:nvSpPr>
        <p:spPr>
          <a:xfrm>
            <a:off x="3812472" y="1869882"/>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5" name="Rectangle 114">
            <a:extLst>
              <a:ext uri="{FF2B5EF4-FFF2-40B4-BE49-F238E27FC236}">
                <a16:creationId xmlns:a16="http://schemas.microsoft.com/office/drawing/2014/main" id="{46A9B613-7BDE-B64C-9878-084C66B0A8CA}"/>
              </a:ext>
            </a:extLst>
          </p:cNvPr>
          <p:cNvSpPr/>
          <p:nvPr/>
        </p:nvSpPr>
        <p:spPr>
          <a:xfrm>
            <a:off x="3643236" y="2299179"/>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16" name="Rectangle 115">
            <a:extLst>
              <a:ext uri="{FF2B5EF4-FFF2-40B4-BE49-F238E27FC236}">
                <a16:creationId xmlns:a16="http://schemas.microsoft.com/office/drawing/2014/main" id="{8ECB0CBC-4BBE-D44A-A5B7-525FFEF63483}"/>
              </a:ext>
            </a:extLst>
          </p:cNvPr>
          <p:cNvSpPr/>
          <p:nvPr/>
        </p:nvSpPr>
        <p:spPr>
          <a:xfrm>
            <a:off x="4354614" y="2293310"/>
            <a:ext cx="605950" cy="1906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117" name="Straight Arrow Connector 116">
            <a:extLst>
              <a:ext uri="{FF2B5EF4-FFF2-40B4-BE49-F238E27FC236}">
                <a16:creationId xmlns:a16="http://schemas.microsoft.com/office/drawing/2014/main" id="{E28A98DA-B365-FB43-8E97-A532C368AAA7}"/>
              </a:ext>
            </a:extLst>
          </p:cNvPr>
          <p:cNvCxnSpPr>
            <a:cxnSpLocks/>
            <a:stCxn id="114" idx="2"/>
            <a:endCxn id="115" idx="0"/>
          </p:cNvCxnSpPr>
          <p:nvPr/>
        </p:nvCxnSpPr>
        <p:spPr>
          <a:xfrm flipH="1">
            <a:off x="3946211" y="2060561"/>
            <a:ext cx="169236" cy="2386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3BEBFBC1-D0F9-A842-8BED-12C95184B5C2}"/>
              </a:ext>
            </a:extLst>
          </p:cNvPr>
          <p:cNvCxnSpPr>
            <a:cxnSpLocks/>
            <a:stCxn id="114" idx="2"/>
            <a:endCxn id="116" idx="0"/>
          </p:cNvCxnSpPr>
          <p:nvPr/>
        </p:nvCxnSpPr>
        <p:spPr>
          <a:xfrm>
            <a:off x="4115447" y="2060561"/>
            <a:ext cx="542142" cy="2327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CE91487-D725-9F4C-B2A0-9F021DF477FA}"/>
              </a:ext>
            </a:extLst>
          </p:cNvPr>
          <p:cNvCxnSpPr>
            <a:cxnSpLocks/>
            <a:stCxn id="115" idx="2"/>
            <a:endCxn id="43" idx="0"/>
          </p:cNvCxnSpPr>
          <p:nvPr/>
        </p:nvCxnSpPr>
        <p:spPr>
          <a:xfrm>
            <a:off x="3946211" y="2489858"/>
            <a:ext cx="604797" cy="5935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Rectangle 128">
            <a:extLst>
              <a:ext uri="{FF2B5EF4-FFF2-40B4-BE49-F238E27FC236}">
                <a16:creationId xmlns:a16="http://schemas.microsoft.com/office/drawing/2014/main" id="{38239619-4F89-DE43-881D-18325BE82668}"/>
              </a:ext>
            </a:extLst>
          </p:cNvPr>
          <p:cNvSpPr/>
          <p:nvPr/>
        </p:nvSpPr>
        <p:spPr>
          <a:xfrm>
            <a:off x="5365425" y="1028363"/>
            <a:ext cx="492457" cy="88153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sp>
        <p:nvSpPr>
          <p:cNvPr id="130" name="Rectangle 129">
            <a:extLst>
              <a:ext uri="{FF2B5EF4-FFF2-40B4-BE49-F238E27FC236}">
                <a16:creationId xmlns:a16="http://schemas.microsoft.com/office/drawing/2014/main" id="{2AC5D921-CE8C-5C4D-A8F1-8D10DDA5A907}"/>
              </a:ext>
            </a:extLst>
          </p:cNvPr>
          <p:cNvSpPr/>
          <p:nvPr/>
        </p:nvSpPr>
        <p:spPr>
          <a:xfrm>
            <a:off x="5370370" y="1638867"/>
            <a:ext cx="492457" cy="111313"/>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CN" sz="1200"/>
          </a:p>
        </p:txBody>
      </p:sp>
      <p:cxnSp>
        <p:nvCxnSpPr>
          <p:cNvPr id="131" name="Straight Arrow Connector 130">
            <a:extLst>
              <a:ext uri="{FF2B5EF4-FFF2-40B4-BE49-F238E27FC236}">
                <a16:creationId xmlns:a16="http://schemas.microsoft.com/office/drawing/2014/main" id="{A38D656E-53F5-8143-B990-5D1232214977}"/>
              </a:ext>
            </a:extLst>
          </p:cNvPr>
          <p:cNvCxnSpPr>
            <a:cxnSpLocks/>
            <a:stCxn id="114" idx="3"/>
          </p:cNvCxnSpPr>
          <p:nvPr/>
        </p:nvCxnSpPr>
        <p:spPr>
          <a:xfrm flipV="1">
            <a:off x="4418422" y="1114158"/>
            <a:ext cx="951948" cy="851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4" name="TextBox 133">
            <a:extLst>
              <a:ext uri="{FF2B5EF4-FFF2-40B4-BE49-F238E27FC236}">
                <a16:creationId xmlns:a16="http://schemas.microsoft.com/office/drawing/2014/main" id="{744FEB97-28F0-3F4A-AFCD-87929C6E7EDD}"/>
              </a:ext>
            </a:extLst>
          </p:cNvPr>
          <p:cNvSpPr txBox="1"/>
          <p:nvPr/>
        </p:nvSpPr>
        <p:spPr>
          <a:xfrm>
            <a:off x="5257818" y="625407"/>
            <a:ext cx="748923" cy="369332"/>
          </a:xfrm>
          <a:prstGeom prst="rect">
            <a:avLst/>
          </a:prstGeom>
          <a:noFill/>
        </p:spPr>
        <p:txBody>
          <a:bodyPr wrap="none" rtlCol="0">
            <a:spAutoFit/>
          </a:bodyPr>
          <a:lstStyle/>
          <a:p>
            <a:r>
              <a:rPr lang="en-US" altLang="zh-CN" dirty="0" err="1"/>
              <a:t>inode</a:t>
            </a:r>
            <a:endParaRPr lang="en-CN" dirty="0"/>
          </a:p>
        </p:txBody>
      </p:sp>
      <p:cxnSp>
        <p:nvCxnSpPr>
          <p:cNvPr id="135" name="Straight Arrow Connector 134">
            <a:extLst>
              <a:ext uri="{FF2B5EF4-FFF2-40B4-BE49-F238E27FC236}">
                <a16:creationId xmlns:a16="http://schemas.microsoft.com/office/drawing/2014/main" id="{6C083C0C-8960-3E4D-A5D2-7D3E5614E0E4}"/>
              </a:ext>
            </a:extLst>
          </p:cNvPr>
          <p:cNvCxnSpPr>
            <a:cxnSpLocks/>
            <a:stCxn id="130" idx="3"/>
            <a:endCxn id="138" idx="2"/>
          </p:cNvCxnSpPr>
          <p:nvPr/>
        </p:nvCxnSpPr>
        <p:spPr>
          <a:xfrm flipV="1">
            <a:off x="5862827" y="1313974"/>
            <a:ext cx="488676" cy="380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82897B2C-9828-284C-878B-2992F5BEEEF4}"/>
              </a:ext>
            </a:extLst>
          </p:cNvPr>
          <p:cNvSpPr txBox="1"/>
          <p:nvPr/>
        </p:nvSpPr>
        <p:spPr>
          <a:xfrm>
            <a:off x="6143754" y="944642"/>
            <a:ext cx="415498" cy="369332"/>
          </a:xfrm>
          <a:prstGeom prst="rect">
            <a:avLst/>
          </a:prstGeom>
          <a:noFill/>
        </p:spPr>
        <p:txBody>
          <a:bodyPr wrap="none" rtlCol="0">
            <a:spAutoFit/>
          </a:bodyPr>
          <a:lstStyle/>
          <a:p>
            <a:r>
              <a:rPr lang="en-US" altLang="zh-CN" dirty="0"/>
              <a:t>…</a:t>
            </a:r>
            <a:endParaRPr lang="en-CN" dirty="0"/>
          </a:p>
        </p:txBody>
      </p:sp>
      <p:sp>
        <p:nvSpPr>
          <p:cNvPr id="140" name="TextBox 139">
            <a:extLst>
              <a:ext uri="{FF2B5EF4-FFF2-40B4-BE49-F238E27FC236}">
                <a16:creationId xmlns:a16="http://schemas.microsoft.com/office/drawing/2014/main" id="{004FAA54-4923-8F4E-AC89-3DB7480F5CDD}"/>
              </a:ext>
            </a:extLst>
          </p:cNvPr>
          <p:cNvSpPr txBox="1"/>
          <p:nvPr/>
        </p:nvSpPr>
        <p:spPr>
          <a:xfrm>
            <a:off x="3657131" y="887217"/>
            <a:ext cx="928459" cy="369332"/>
          </a:xfrm>
          <a:prstGeom prst="rect">
            <a:avLst/>
          </a:prstGeom>
          <a:noFill/>
        </p:spPr>
        <p:txBody>
          <a:bodyPr wrap="none" rtlCol="0">
            <a:spAutoFit/>
          </a:bodyPr>
          <a:lstStyle/>
          <a:p>
            <a:r>
              <a:rPr lang="en-US" altLang="zh-CN" dirty="0" err="1">
                <a:solidFill>
                  <a:srgbClr val="C00000"/>
                </a:solidFill>
              </a:rPr>
              <a:t>dcache</a:t>
            </a:r>
            <a:endParaRPr lang="en-CN" dirty="0">
              <a:solidFill>
                <a:srgbClr val="C00000"/>
              </a:solidFill>
            </a:endParaRPr>
          </a:p>
        </p:txBody>
      </p:sp>
      <p:sp>
        <p:nvSpPr>
          <p:cNvPr id="141" name="TextBox 140">
            <a:extLst>
              <a:ext uri="{FF2B5EF4-FFF2-40B4-BE49-F238E27FC236}">
                <a16:creationId xmlns:a16="http://schemas.microsoft.com/office/drawing/2014/main" id="{AAF4F0D0-4A0E-BB42-A832-6FF448230381}"/>
              </a:ext>
            </a:extLst>
          </p:cNvPr>
          <p:cNvSpPr txBox="1"/>
          <p:nvPr/>
        </p:nvSpPr>
        <p:spPr>
          <a:xfrm>
            <a:off x="5357776" y="185585"/>
            <a:ext cx="851515" cy="369332"/>
          </a:xfrm>
          <a:prstGeom prst="rect">
            <a:avLst/>
          </a:prstGeom>
          <a:noFill/>
        </p:spPr>
        <p:txBody>
          <a:bodyPr wrap="none" rtlCol="0">
            <a:spAutoFit/>
          </a:bodyPr>
          <a:lstStyle/>
          <a:p>
            <a:r>
              <a:rPr lang="en-US" altLang="zh-CN" dirty="0" err="1">
                <a:solidFill>
                  <a:srgbClr val="C00000"/>
                </a:solidFill>
              </a:rPr>
              <a:t>icache</a:t>
            </a:r>
            <a:endParaRPr lang="en-US" altLang="zh-CN" dirty="0">
              <a:solidFill>
                <a:srgbClr val="C00000"/>
              </a:solidFill>
            </a:endParaRPr>
          </a:p>
        </p:txBody>
      </p:sp>
      <p:sp>
        <p:nvSpPr>
          <p:cNvPr id="3" name="Slide Number Placeholder 2">
            <a:extLst>
              <a:ext uri="{FF2B5EF4-FFF2-40B4-BE49-F238E27FC236}">
                <a16:creationId xmlns:a16="http://schemas.microsoft.com/office/drawing/2014/main" id="{E66AF4CE-69AF-B04E-A7D1-CBB97A82E68E}"/>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
        <p:nvSpPr>
          <p:cNvPr id="31" name="TextBox 30">
            <a:extLst>
              <a:ext uri="{FF2B5EF4-FFF2-40B4-BE49-F238E27FC236}">
                <a16:creationId xmlns:a16="http://schemas.microsoft.com/office/drawing/2014/main" id="{606E8026-1307-0C48-9290-0874726A4C14}"/>
              </a:ext>
            </a:extLst>
          </p:cNvPr>
          <p:cNvSpPr txBox="1"/>
          <p:nvPr/>
        </p:nvSpPr>
        <p:spPr>
          <a:xfrm>
            <a:off x="6332420" y="1980294"/>
            <a:ext cx="684803" cy="369332"/>
          </a:xfrm>
          <a:prstGeom prst="rect">
            <a:avLst/>
          </a:prstGeom>
          <a:noFill/>
        </p:spPr>
        <p:txBody>
          <a:bodyPr wrap="none" rtlCol="0">
            <a:spAutoFit/>
          </a:bodyPr>
          <a:lstStyle/>
          <a:p>
            <a:r>
              <a:rPr lang="en-CN" dirty="0"/>
              <a:t>radix</a:t>
            </a:r>
          </a:p>
        </p:txBody>
      </p:sp>
      <p:sp>
        <p:nvSpPr>
          <p:cNvPr id="33" name="TextBox 32">
            <a:extLst>
              <a:ext uri="{FF2B5EF4-FFF2-40B4-BE49-F238E27FC236}">
                <a16:creationId xmlns:a16="http://schemas.microsoft.com/office/drawing/2014/main" id="{C1F433FB-87E7-C24E-A188-18F367C37073}"/>
              </a:ext>
            </a:extLst>
          </p:cNvPr>
          <p:cNvSpPr txBox="1"/>
          <p:nvPr/>
        </p:nvSpPr>
        <p:spPr>
          <a:xfrm>
            <a:off x="638189" y="4275368"/>
            <a:ext cx="1107996" cy="369332"/>
          </a:xfrm>
          <a:prstGeom prst="rect">
            <a:avLst/>
          </a:prstGeom>
          <a:noFill/>
        </p:spPr>
        <p:txBody>
          <a:bodyPr wrap="none" rtlCol="0">
            <a:spAutoFit/>
          </a:bodyPr>
          <a:lstStyle/>
          <a:p>
            <a:r>
              <a:rPr lang="zh-CN" altLang="en-US" dirty="0"/>
              <a:t>存储设备</a:t>
            </a:r>
            <a:endParaRPr lang="en-CN" dirty="0"/>
          </a:p>
        </p:txBody>
      </p:sp>
    </p:spTree>
    <p:extLst>
      <p:ext uri="{BB962C8B-B14F-4D97-AF65-F5344CB8AC3E}">
        <p14:creationId xmlns:p14="http://schemas.microsoft.com/office/powerpoint/2010/main" val="40396492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考虑内存缓存下的崩溃情况</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931225" cy="3771636"/>
          </a:xfrm>
        </p:spPr>
        <p:txBody>
          <a:bodyPr>
            <a:normAutofit/>
          </a:bodyPr>
          <a:lstStyle/>
          <a:p>
            <a:pPr marL="0" indent="0">
              <a:buNone/>
            </a:pPr>
            <a:r>
              <a:rPr lang="zh-CN" altLang="en-US" sz="2000" b="0" dirty="0"/>
              <a:t>创建</a:t>
            </a:r>
            <a:r>
              <a:rPr lang="en-US" altLang="zh-CN" sz="2000" b="0" dirty="0"/>
              <a:t>"/</a:t>
            </a:r>
            <a:r>
              <a:rPr lang="en-US" altLang="zh-CN" sz="2000" b="0" dirty="0" err="1"/>
              <a:t>chb</a:t>
            </a:r>
            <a:r>
              <a:rPr lang="en-US" altLang="zh-CN" sz="2000" b="0" dirty="0"/>
              <a:t>"</a:t>
            </a:r>
            <a:r>
              <a:rPr lang="zh-CN" altLang="en-US" sz="2000" b="0" dirty="0"/>
              <a:t>的修改包括：</a:t>
            </a:r>
            <a:endParaRPr lang="en-US" altLang="zh-CN" sz="2000" b="0" dirty="0"/>
          </a:p>
          <a:p>
            <a:pPr marL="0" indent="0">
              <a:buNone/>
            </a:pPr>
            <a:r>
              <a:rPr lang="en-US" altLang="zh-CN" sz="2000" b="0" dirty="0"/>
              <a:t>1.</a:t>
            </a:r>
            <a:r>
              <a:rPr lang="zh-CN" altLang="en-US" sz="2000" b="0" dirty="0"/>
              <a:t> 标记</a:t>
            </a:r>
            <a:r>
              <a:rPr lang="en-US" altLang="zh-CN" sz="2000" b="0" dirty="0" err="1"/>
              <a:t>inode</a:t>
            </a:r>
            <a:r>
              <a:rPr lang="zh-CN" altLang="en-US" sz="2000" b="0" dirty="0"/>
              <a:t>为占用</a:t>
            </a:r>
            <a:br>
              <a:rPr lang="en-US" altLang="zh-CN" sz="2000" b="0" dirty="0"/>
            </a:br>
            <a:r>
              <a:rPr lang="en-US" altLang="zh-CN" sz="2000" b="0" dirty="0"/>
              <a:t>2.</a:t>
            </a:r>
            <a:r>
              <a:rPr lang="zh-CN" altLang="en-US" sz="2000" b="0" dirty="0"/>
              <a:t> 初始化</a:t>
            </a:r>
            <a:r>
              <a:rPr lang="en-US" altLang="zh-CN" sz="2000" b="0" dirty="0" err="1"/>
              <a:t>inode</a:t>
            </a:r>
            <a:br>
              <a:rPr lang="en-US" altLang="zh-CN" sz="2000" b="0" dirty="0"/>
            </a:br>
            <a:r>
              <a:rPr lang="en-US" altLang="zh-CN" sz="2000" b="0" dirty="0"/>
              <a:t>3.</a:t>
            </a:r>
            <a:r>
              <a:rPr lang="zh-CN" altLang="en-US" sz="2000" b="0" dirty="0"/>
              <a:t> 将目录项写入目录中</a:t>
            </a:r>
            <a:endParaRPr lang="en-US" altLang="zh-CN" sz="2000" b="0" dirty="0"/>
          </a:p>
          <a:p>
            <a:pPr marL="0" indent="0">
              <a:buNone/>
            </a:pPr>
            <a:endParaRPr lang="en-CN" sz="1800" b="0" dirty="0"/>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
        <p:nvSpPr>
          <p:cNvPr id="14" name="TextBox 13">
            <a:extLst>
              <a:ext uri="{FF2B5EF4-FFF2-40B4-BE49-F238E27FC236}">
                <a16:creationId xmlns:a16="http://schemas.microsoft.com/office/drawing/2014/main" id="{B549F2CC-84C4-9247-B791-39258185476B}"/>
              </a:ext>
            </a:extLst>
          </p:cNvPr>
          <p:cNvSpPr txBox="1"/>
          <p:nvPr/>
        </p:nvSpPr>
        <p:spPr>
          <a:xfrm>
            <a:off x="3392882" y="4886218"/>
            <a:ext cx="4474302" cy="400110"/>
          </a:xfrm>
          <a:prstGeom prst="rect">
            <a:avLst/>
          </a:prstGeom>
          <a:noFill/>
        </p:spPr>
        <p:txBody>
          <a:bodyPr wrap="none" rtlCol="0">
            <a:spAutoFit/>
          </a:bodyPr>
          <a:lstStyle/>
          <a:p>
            <a:r>
              <a:rPr lang="zh-CN" altLang="en-US" sz="2000" dirty="0">
                <a:solidFill>
                  <a:srgbClr val="C00000"/>
                </a:solidFill>
              </a:rPr>
              <a:t>目录项指向了未分配</a:t>
            </a:r>
            <a:r>
              <a:rPr lang="en-US" altLang="zh-CN" sz="2000" dirty="0">
                <a:solidFill>
                  <a:srgbClr val="C00000"/>
                </a:solidFill>
              </a:rPr>
              <a:t>/</a:t>
            </a:r>
            <a:r>
              <a:rPr lang="zh-CN" altLang="en-US" sz="2000" dirty="0">
                <a:solidFill>
                  <a:srgbClr val="C00000"/>
                </a:solidFill>
              </a:rPr>
              <a:t>未初始化的</a:t>
            </a:r>
            <a:r>
              <a:rPr lang="en-US" altLang="zh-CN" sz="2000" dirty="0" err="1">
                <a:solidFill>
                  <a:srgbClr val="C00000"/>
                </a:solidFill>
              </a:rPr>
              <a:t>inode</a:t>
            </a:r>
            <a:endParaRPr lang="en-CN" sz="2000" dirty="0">
              <a:solidFill>
                <a:srgbClr val="C00000"/>
              </a:solidFill>
            </a:endParaRPr>
          </a:p>
        </p:txBody>
      </p:sp>
      <p:grpSp>
        <p:nvGrpSpPr>
          <p:cNvPr id="9" name="Group 8">
            <a:extLst>
              <a:ext uri="{FF2B5EF4-FFF2-40B4-BE49-F238E27FC236}">
                <a16:creationId xmlns:a16="http://schemas.microsoft.com/office/drawing/2014/main" id="{EADF6E34-B65F-2747-8230-B6C1A6677A8C}"/>
              </a:ext>
            </a:extLst>
          </p:cNvPr>
          <p:cNvGrpSpPr/>
          <p:nvPr/>
        </p:nvGrpSpPr>
        <p:grpSpPr>
          <a:xfrm>
            <a:off x="5645983" y="3317428"/>
            <a:ext cx="2526417" cy="1477328"/>
            <a:chOff x="4637553" y="3304281"/>
            <a:chExt cx="2526417" cy="1477328"/>
          </a:xfrm>
        </p:grpSpPr>
        <p:sp>
          <p:nvSpPr>
            <p:cNvPr id="13" name="TextBox 12">
              <a:extLst>
                <a:ext uri="{FF2B5EF4-FFF2-40B4-BE49-F238E27FC236}">
                  <a16:creationId xmlns:a16="http://schemas.microsoft.com/office/drawing/2014/main" id="{8F516E26-FA74-984E-B03D-488AF04D615F}"/>
                </a:ext>
              </a:extLst>
            </p:cNvPr>
            <p:cNvSpPr txBox="1"/>
            <p:nvPr/>
          </p:nvSpPr>
          <p:spPr>
            <a:xfrm>
              <a:off x="4637553" y="3304281"/>
              <a:ext cx="2526417" cy="1477328"/>
            </a:xfrm>
            <a:prstGeom prst="rect">
              <a:avLst/>
            </a:prstGeom>
            <a:solidFill>
              <a:schemeClr val="bg1">
                <a:lumMod val="95000"/>
              </a:schemeClr>
            </a:solidFill>
          </p:spPr>
          <p:txBody>
            <a:bodyPr wrap="square" rtlCol="0">
              <a:spAutoFit/>
            </a:bodyPr>
            <a:lstStyle/>
            <a:p>
              <a:r>
                <a:rPr lang="en-US" altLang="zh-CN" dirty="0"/>
                <a:t>3.</a:t>
              </a:r>
              <a:r>
                <a:rPr lang="zh-CN" altLang="en-US" dirty="0"/>
                <a:t> 将目录项写入目录中</a:t>
              </a:r>
              <a:br>
                <a:rPr lang="en-US" altLang="zh-CN" dirty="0"/>
              </a:br>
              <a:r>
                <a:rPr lang="en-US" altLang="zh-CN" dirty="0"/>
                <a:t>2.</a:t>
              </a:r>
              <a:r>
                <a:rPr lang="zh-CN" altLang="en-US" dirty="0"/>
                <a:t> 初始化</a:t>
              </a:r>
              <a:r>
                <a:rPr lang="en-US" altLang="zh-CN" dirty="0" err="1"/>
                <a:t>inode</a:t>
              </a:r>
              <a:endParaRPr lang="en-US" altLang="zh-CN" dirty="0"/>
            </a:p>
            <a:p>
              <a:endParaRPr lang="en-US" altLang="zh-CN" dirty="0"/>
            </a:p>
            <a:p>
              <a:endParaRPr lang="en-US" altLang="zh-CN" dirty="0"/>
            </a:p>
            <a:p>
              <a:r>
                <a:rPr lang="en-US" altLang="zh-CN" dirty="0"/>
                <a:t>1.</a:t>
              </a:r>
              <a:r>
                <a:rPr lang="zh-CN" altLang="en-US" dirty="0"/>
                <a:t> 标记</a:t>
              </a:r>
              <a:r>
                <a:rPr lang="en-US" altLang="zh-CN" dirty="0" err="1"/>
                <a:t>inode</a:t>
              </a:r>
              <a:r>
                <a:rPr lang="zh-CN" altLang="en-US" dirty="0"/>
                <a:t>为占用</a:t>
              </a:r>
              <a:endParaRPr lang="en-US" altLang="zh-CN" dirty="0"/>
            </a:p>
          </p:txBody>
        </p:sp>
        <p:sp>
          <p:nvSpPr>
            <p:cNvPr id="15" name="Lightning Bolt 14">
              <a:extLst>
                <a:ext uri="{FF2B5EF4-FFF2-40B4-BE49-F238E27FC236}">
                  <a16:creationId xmlns:a16="http://schemas.microsoft.com/office/drawing/2014/main" id="{5B364213-E6A5-E642-9059-013E84ABBE36}"/>
                </a:ext>
              </a:extLst>
            </p:cNvPr>
            <p:cNvSpPr/>
            <p:nvPr/>
          </p:nvSpPr>
          <p:spPr>
            <a:xfrm>
              <a:off x="5010661" y="3878835"/>
              <a:ext cx="358122" cy="604786"/>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pSp>
      <p:sp>
        <p:nvSpPr>
          <p:cNvPr id="7" name="TextBox 6">
            <a:extLst>
              <a:ext uri="{FF2B5EF4-FFF2-40B4-BE49-F238E27FC236}">
                <a16:creationId xmlns:a16="http://schemas.microsoft.com/office/drawing/2014/main" id="{CA564C35-A011-7941-91D3-733C472D1B10}"/>
              </a:ext>
            </a:extLst>
          </p:cNvPr>
          <p:cNvSpPr txBox="1"/>
          <p:nvPr/>
        </p:nvSpPr>
        <p:spPr>
          <a:xfrm>
            <a:off x="494740" y="3298848"/>
            <a:ext cx="1980029" cy="400110"/>
          </a:xfrm>
          <a:prstGeom prst="rect">
            <a:avLst/>
          </a:prstGeom>
          <a:noFill/>
        </p:spPr>
        <p:txBody>
          <a:bodyPr wrap="none" rtlCol="0">
            <a:spAutoFit/>
          </a:bodyPr>
          <a:lstStyle/>
          <a:p>
            <a:r>
              <a:rPr lang="zh-CN" altLang="en-CN" sz="2000" dirty="0"/>
              <a:t>两种</a:t>
            </a:r>
            <a:r>
              <a:rPr lang="zh-CN" altLang="en-US" sz="2000" dirty="0"/>
              <a:t>常见情况：</a:t>
            </a:r>
            <a:endParaRPr lang="en-CN" sz="2000" dirty="0"/>
          </a:p>
        </p:txBody>
      </p:sp>
      <p:grpSp>
        <p:nvGrpSpPr>
          <p:cNvPr id="11" name="Group 10">
            <a:extLst>
              <a:ext uri="{FF2B5EF4-FFF2-40B4-BE49-F238E27FC236}">
                <a16:creationId xmlns:a16="http://schemas.microsoft.com/office/drawing/2014/main" id="{CE616FF8-6BEC-2D44-95ED-E53AC6983A7E}"/>
              </a:ext>
            </a:extLst>
          </p:cNvPr>
          <p:cNvGrpSpPr/>
          <p:nvPr/>
        </p:nvGrpSpPr>
        <p:grpSpPr>
          <a:xfrm>
            <a:off x="2837450" y="3317428"/>
            <a:ext cx="2526417" cy="1477328"/>
            <a:chOff x="4886818" y="1620390"/>
            <a:chExt cx="2526417" cy="1477328"/>
          </a:xfrm>
        </p:grpSpPr>
        <p:sp>
          <p:nvSpPr>
            <p:cNvPr id="6" name="TextBox 5">
              <a:extLst>
                <a:ext uri="{FF2B5EF4-FFF2-40B4-BE49-F238E27FC236}">
                  <a16:creationId xmlns:a16="http://schemas.microsoft.com/office/drawing/2014/main" id="{75A3BBF1-67C9-7147-A176-553F570F6805}"/>
                </a:ext>
              </a:extLst>
            </p:cNvPr>
            <p:cNvSpPr txBox="1"/>
            <p:nvPr/>
          </p:nvSpPr>
          <p:spPr>
            <a:xfrm>
              <a:off x="4886818" y="1620390"/>
              <a:ext cx="2526417" cy="1477328"/>
            </a:xfrm>
            <a:prstGeom prst="rect">
              <a:avLst/>
            </a:prstGeom>
            <a:solidFill>
              <a:schemeClr val="bg1">
                <a:lumMod val="95000"/>
              </a:schemeClr>
            </a:solidFill>
          </p:spPr>
          <p:txBody>
            <a:bodyPr wrap="square" rtlCol="0">
              <a:spAutoFit/>
            </a:bodyPr>
            <a:lstStyle/>
            <a:p>
              <a:r>
                <a:rPr lang="en-US" altLang="zh-CN" dirty="0"/>
                <a:t>3.</a:t>
              </a:r>
              <a:r>
                <a:rPr lang="zh-CN" altLang="en-US" dirty="0"/>
                <a:t> 将目录项写入目录中</a:t>
              </a:r>
              <a:br>
                <a:rPr lang="en-US" altLang="zh-CN" dirty="0"/>
              </a:br>
              <a:endParaRPr lang="en-US" altLang="zh-CN" dirty="0"/>
            </a:p>
            <a:p>
              <a:endParaRPr lang="en-US" altLang="zh-CN" dirty="0"/>
            </a:p>
            <a:p>
              <a:r>
                <a:rPr lang="en-US" altLang="zh-CN" dirty="0"/>
                <a:t>2.</a:t>
              </a:r>
              <a:r>
                <a:rPr lang="zh-CN" altLang="en-US" dirty="0"/>
                <a:t> 初始化</a:t>
              </a:r>
              <a:r>
                <a:rPr lang="en-US" altLang="zh-CN" dirty="0" err="1"/>
                <a:t>inode</a:t>
              </a:r>
              <a:endParaRPr lang="en-US" altLang="zh-CN" dirty="0"/>
            </a:p>
            <a:p>
              <a:r>
                <a:rPr lang="en-US" altLang="zh-CN" dirty="0"/>
                <a:t>1.</a:t>
              </a:r>
              <a:r>
                <a:rPr lang="zh-CN" altLang="en-US" dirty="0"/>
                <a:t> 标记</a:t>
              </a:r>
              <a:r>
                <a:rPr lang="en-US" altLang="zh-CN" dirty="0" err="1"/>
                <a:t>inode</a:t>
              </a:r>
              <a:r>
                <a:rPr lang="zh-CN" altLang="en-US" dirty="0"/>
                <a:t>为占用</a:t>
              </a:r>
              <a:endParaRPr lang="en-US" altLang="zh-CN" dirty="0"/>
            </a:p>
          </p:txBody>
        </p:sp>
        <p:sp>
          <p:nvSpPr>
            <p:cNvPr id="16" name="Lightning Bolt 15">
              <a:extLst>
                <a:ext uri="{FF2B5EF4-FFF2-40B4-BE49-F238E27FC236}">
                  <a16:creationId xmlns:a16="http://schemas.microsoft.com/office/drawing/2014/main" id="{FA2C9ED5-29F1-C445-B1BB-FC86C43BAB7A}"/>
                </a:ext>
              </a:extLst>
            </p:cNvPr>
            <p:cNvSpPr/>
            <p:nvPr/>
          </p:nvSpPr>
          <p:spPr>
            <a:xfrm>
              <a:off x="5358738" y="1909898"/>
              <a:ext cx="358122" cy="604786"/>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grpSp>
      <p:sp>
        <p:nvSpPr>
          <p:cNvPr id="12" name="TextBox 11">
            <a:extLst>
              <a:ext uri="{FF2B5EF4-FFF2-40B4-BE49-F238E27FC236}">
                <a16:creationId xmlns:a16="http://schemas.microsoft.com/office/drawing/2014/main" id="{12E74ADA-3D9C-C44B-B742-A3942A0DFCB9}"/>
              </a:ext>
            </a:extLst>
          </p:cNvPr>
          <p:cNvSpPr txBox="1"/>
          <p:nvPr/>
        </p:nvSpPr>
        <p:spPr>
          <a:xfrm>
            <a:off x="3851920" y="1679133"/>
            <a:ext cx="5184575" cy="707886"/>
          </a:xfrm>
          <a:prstGeom prst="rect">
            <a:avLst/>
          </a:prstGeom>
          <a:noFill/>
        </p:spPr>
        <p:txBody>
          <a:bodyPr wrap="square" rtlCol="0">
            <a:spAutoFit/>
          </a:bodyPr>
          <a:lstStyle/>
          <a:p>
            <a:r>
              <a:rPr lang="zh-CN" altLang="en-US" sz="2000" dirty="0">
                <a:solidFill>
                  <a:srgbClr val="C00000"/>
                </a:solidFill>
              </a:rPr>
              <a:t>思考一下：</a:t>
            </a:r>
            <a:endParaRPr lang="en-US" altLang="zh-CN" sz="2000" dirty="0">
              <a:solidFill>
                <a:srgbClr val="C00000"/>
              </a:solidFill>
            </a:endParaRPr>
          </a:p>
          <a:p>
            <a:r>
              <a:rPr lang="zh-CN" altLang="en-US" sz="2000" dirty="0">
                <a:solidFill>
                  <a:srgbClr val="C00000"/>
                </a:solidFill>
              </a:rPr>
              <a:t>考虑存在缓存，共存在哪些崩溃情况？</a:t>
            </a:r>
            <a:endParaRPr lang="en-US" altLang="zh-CN" sz="2000" dirty="0">
              <a:solidFill>
                <a:srgbClr val="C00000"/>
              </a:solidFill>
            </a:endParaRPr>
          </a:p>
        </p:txBody>
      </p:sp>
    </p:spTree>
    <p:extLst>
      <p:ext uri="{BB962C8B-B14F-4D97-AF65-F5344CB8AC3E}">
        <p14:creationId xmlns:p14="http://schemas.microsoft.com/office/powerpoint/2010/main" val="284980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75B07-9099-3C41-B2E6-5972347ED29C}"/>
              </a:ext>
            </a:extLst>
          </p:cNvPr>
          <p:cNvSpPr>
            <a:spLocks noGrp="1"/>
          </p:cNvSpPr>
          <p:nvPr>
            <p:ph type="title"/>
          </p:nvPr>
        </p:nvSpPr>
        <p:spPr/>
        <p:txBody>
          <a:bodyPr/>
          <a:lstStyle/>
          <a:p>
            <a:r>
              <a:rPr lang="zh-CN" altLang="en-US" dirty="0"/>
              <a:t>考虑内存缓存下的崩溃情况</a:t>
            </a:r>
            <a:endParaRPr lang="en-CN" dirty="0"/>
          </a:p>
        </p:txBody>
      </p:sp>
      <p:sp>
        <p:nvSpPr>
          <p:cNvPr id="3" name="Content Placeholder 2">
            <a:extLst>
              <a:ext uri="{FF2B5EF4-FFF2-40B4-BE49-F238E27FC236}">
                <a16:creationId xmlns:a16="http://schemas.microsoft.com/office/drawing/2014/main" id="{A83A1F32-C7BA-5240-B922-DE00893F581F}"/>
              </a:ext>
            </a:extLst>
          </p:cNvPr>
          <p:cNvSpPr>
            <a:spLocks noGrp="1"/>
          </p:cNvSpPr>
          <p:nvPr>
            <p:ph idx="1"/>
          </p:nvPr>
        </p:nvSpPr>
        <p:spPr>
          <a:xfrm>
            <a:off x="457199" y="1333501"/>
            <a:ext cx="7931225" cy="3771636"/>
          </a:xfrm>
        </p:spPr>
        <p:txBody>
          <a:bodyPr>
            <a:normAutofit/>
          </a:bodyPr>
          <a:lstStyle/>
          <a:p>
            <a:pPr marL="0" indent="0">
              <a:buNone/>
            </a:pPr>
            <a:r>
              <a:rPr lang="zh-CN" altLang="en-US" sz="2000" b="0" dirty="0">
                <a:solidFill>
                  <a:schemeClr val="tx1"/>
                </a:solidFill>
              </a:rPr>
              <a:t>创建</a:t>
            </a:r>
            <a:r>
              <a:rPr lang="en-US" altLang="zh-CN" sz="2000" b="0" dirty="0">
                <a:solidFill>
                  <a:schemeClr val="tx1"/>
                </a:solidFill>
              </a:rPr>
              <a:t>"/</a:t>
            </a:r>
            <a:r>
              <a:rPr lang="en-US" altLang="zh-CN" sz="2000" b="0" dirty="0" err="1">
                <a:solidFill>
                  <a:schemeClr val="tx1"/>
                </a:solidFill>
              </a:rPr>
              <a:t>chb</a:t>
            </a:r>
            <a:r>
              <a:rPr lang="en-US" altLang="zh-CN" sz="2000" b="0" dirty="0">
                <a:solidFill>
                  <a:schemeClr val="tx1"/>
                </a:solidFill>
              </a:rPr>
              <a:t>"</a:t>
            </a:r>
            <a:r>
              <a:rPr lang="zh-CN" altLang="en-US" sz="2000" b="0" dirty="0">
                <a:solidFill>
                  <a:schemeClr val="tx1"/>
                </a:solidFill>
              </a:rPr>
              <a:t>的修改包括：</a:t>
            </a:r>
            <a:endParaRPr lang="en-US" altLang="zh-CN" sz="2000" b="0" dirty="0">
              <a:solidFill>
                <a:schemeClr val="tx1"/>
              </a:solidFill>
            </a:endParaRPr>
          </a:p>
          <a:p>
            <a:pPr marL="0" indent="0">
              <a:buNone/>
            </a:pPr>
            <a:r>
              <a:rPr lang="en-US" altLang="zh-CN" sz="2000" b="0" dirty="0">
                <a:solidFill>
                  <a:schemeClr val="tx1"/>
                </a:solidFill>
              </a:rPr>
              <a:t>1.</a:t>
            </a:r>
            <a:r>
              <a:rPr lang="zh-CN" altLang="en-US" sz="2000" b="0" dirty="0">
                <a:solidFill>
                  <a:schemeClr val="tx1"/>
                </a:solidFill>
              </a:rPr>
              <a:t> 标记</a:t>
            </a:r>
            <a:r>
              <a:rPr lang="en-US" altLang="zh-CN" sz="2000" b="0" dirty="0" err="1">
                <a:solidFill>
                  <a:schemeClr val="tx1"/>
                </a:solidFill>
              </a:rPr>
              <a:t>inode</a:t>
            </a:r>
            <a:r>
              <a:rPr lang="zh-CN" altLang="en-US" sz="2000" b="0" dirty="0">
                <a:solidFill>
                  <a:schemeClr val="tx1"/>
                </a:solidFill>
              </a:rPr>
              <a:t>为占用</a:t>
            </a:r>
            <a:br>
              <a:rPr lang="en-US" altLang="zh-CN" sz="2000" b="0" dirty="0">
                <a:solidFill>
                  <a:schemeClr val="tx1"/>
                </a:solidFill>
              </a:rPr>
            </a:br>
            <a:r>
              <a:rPr lang="en-US" altLang="zh-CN" sz="2000" b="0" dirty="0">
                <a:solidFill>
                  <a:schemeClr val="tx1"/>
                </a:solidFill>
              </a:rPr>
              <a:t>2.</a:t>
            </a:r>
            <a:r>
              <a:rPr lang="zh-CN" altLang="en-US" sz="2000" b="0" dirty="0">
                <a:solidFill>
                  <a:schemeClr val="tx1"/>
                </a:solidFill>
              </a:rPr>
              <a:t> 初始化</a:t>
            </a:r>
            <a:r>
              <a:rPr lang="en-US" altLang="zh-CN" sz="2000" b="0" dirty="0" err="1">
                <a:solidFill>
                  <a:schemeClr val="tx1"/>
                </a:solidFill>
              </a:rPr>
              <a:t>inode</a:t>
            </a:r>
            <a:br>
              <a:rPr lang="en-US" altLang="zh-CN" sz="2000" b="0" dirty="0">
                <a:solidFill>
                  <a:schemeClr val="tx1"/>
                </a:solidFill>
              </a:rPr>
            </a:br>
            <a:r>
              <a:rPr lang="en-US" altLang="zh-CN" sz="2000" b="0" dirty="0">
                <a:solidFill>
                  <a:schemeClr val="tx1"/>
                </a:solidFill>
              </a:rPr>
              <a:t>3.</a:t>
            </a:r>
            <a:r>
              <a:rPr lang="zh-CN" altLang="en-US" sz="2000" b="0" dirty="0">
                <a:solidFill>
                  <a:schemeClr val="tx1"/>
                </a:solidFill>
              </a:rPr>
              <a:t> 将目录项写入目录中</a:t>
            </a:r>
            <a:endParaRPr lang="en-US" altLang="zh-CN" sz="2000" b="0" dirty="0">
              <a:solidFill>
                <a:schemeClr val="tx1"/>
              </a:solidFill>
            </a:endParaRPr>
          </a:p>
          <a:p>
            <a:pPr marL="0" indent="0">
              <a:buNone/>
            </a:pPr>
            <a:endParaRPr lang="en-CN" sz="1800" b="0" dirty="0">
              <a:solidFill>
                <a:schemeClr val="tx1"/>
              </a:solidFill>
            </a:endParaRPr>
          </a:p>
        </p:txBody>
      </p:sp>
      <p:sp>
        <p:nvSpPr>
          <p:cNvPr id="4" name="Footer Placeholder 3">
            <a:extLst>
              <a:ext uri="{FF2B5EF4-FFF2-40B4-BE49-F238E27FC236}">
                <a16:creationId xmlns:a16="http://schemas.microsoft.com/office/drawing/2014/main" id="{7005B691-E3D5-4240-9E7E-E67E797936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 name="Slide Number Placeholder 4">
            <a:extLst>
              <a:ext uri="{FF2B5EF4-FFF2-40B4-BE49-F238E27FC236}">
                <a16:creationId xmlns:a16="http://schemas.microsoft.com/office/drawing/2014/main" id="{443E7816-4275-3348-949B-D247B29DBBDE}"/>
              </a:ext>
            </a:extLst>
          </p:cNvPr>
          <p:cNvSpPr>
            <a:spLocks noGrp="1"/>
          </p:cNvSpPr>
          <p:nvPr>
            <p:ph type="sldNum" sz="quarter" idx="12"/>
          </p:nvPr>
        </p:nvSpPr>
        <p:spPr/>
        <p:txBody>
          <a:bodyPr/>
          <a:lstStyle/>
          <a:p>
            <a:fld id="{ADE361C3-C043-4A6E-BDCE-8DA1E7D90A3B}" type="slidenum">
              <a:rPr lang="zh-CN" altLang="en-US" smtClean="0"/>
              <a:t>56</a:t>
            </a:fld>
            <a:endParaRPr lang="zh-CN" altLang="en-US"/>
          </a:p>
        </p:txBody>
      </p:sp>
      <p:sp>
        <p:nvSpPr>
          <p:cNvPr id="9" name="TextBox 8">
            <a:extLst>
              <a:ext uri="{FF2B5EF4-FFF2-40B4-BE49-F238E27FC236}">
                <a16:creationId xmlns:a16="http://schemas.microsoft.com/office/drawing/2014/main" id="{1649E220-3538-1A41-AB45-F5FA93F70F7F}"/>
              </a:ext>
            </a:extLst>
          </p:cNvPr>
          <p:cNvSpPr txBox="1"/>
          <p:nvPr/>
        </p:nvSpPr>
        <p:spPr>
          <a:xfrm>
            <a:off x="5127010" y="1163639"/>
            <a:ext cx="2492990" cy="400110"/>
          </a:xfrm>
          <a:prstGeom prst="rect">
            <a:avLst/>
          </a:prstGeom>
          <a:noFill/>
        </p:spPr>
        <p:txBody>
          <a:bodyPr wrap="none" rtlCol="0">
            <a:spAutoFit/>
          </a:bodyPr>
          <a:lstStyle/>
          <a:p>
            <a:r>
              <a:rPr lang="zh-CN" altLang="en-CN" sz="2000" dirty="0"/>
              <a:t>崩溃</a:t>
            </a:r>
            <a:r>
              <a:rPr lang="zh-CN" altLang="en-US" sz="2000" dirty="0"/>
              <a:t>随时可能发生！</a:t>
            </a:r>
            <a:endParaRPr lang="en-CN" sz="2000" dirty="0"/>
          </a:p>
        </p:txBody>
      </p:sp>
      <p:sp>
        <p:nvSpPr>
          <p:cNvPr id="10" name="Lightning Bolt 9">
            <a:extLst>
              <a:ext uri="{FF2B5EF4-FFF2-40B4-BE49-F238E27FC236}">
                <a16:creationId xmlns:a16="http://schemas.microsoft.com/office/drawing/2014/main" id="{F99CAABE-7918-CE4E-9A30-7099A3F8131B}"/>
              </a:ext>
            </a:extLst>
          </p:cNvPr>
          <p:cNvSpPr/>
          <p:nvPr/>
        </p:nvSpPr>
        <p:spPr>
          <a:xfrm>
            <a:off x="4607848" y="937457"/>
            <a:ext cx="469032" cy="792088"/>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TextBox 10">
            <a:extLst>
              <a:ext uri="{FF2B5EF4-FFF2-40B4-BE49-F238E27FC236}">
                <a16:creationId xmlns:a16="http://schemas.microsoft.com/office/drawing/2014/main" id="{DB1F5B54-D306-DC4D-8734-F62955BF7E2F}"/>
              </a:ext>
            </a:extLst>
          </p:cNvPr>
          <p:cNvSpPr txBox="1"/>
          <p:nvPr/>
        </p:nvSpPr>
        <p:spPr>
          <a:xfrm>
            <a:off x="457199" y="4137124"/>
            <a:ext cx="7931225" cy="1034129"/>
          </a:xfrm>
          <a:prstGeom prst="rect">
            <a:avLst/>
          </a:prstGeom>
          <a:noFill/>
        </p:spPr>
        <p:txBody>
          <a:bodyPr wrap="square" rtlCol="0">
            <a:spAutoFit/>
          </a:bodyPr>
          <a:lstStyle/>
          <a:p>
            <a:pPr lvl="0">
              <a:lnSpc>
                <a:spcPct val="120000"/>
              </a:lnSpc>
              <a:spcBef>
                <a:spcPts val="1200"/>
              </a:spcBef>
            </a:pPr>
            <a:r>
              <a:rPr lang="zh-CN" altLang="en-US" dirty="0">
                <a:ea typeface="微软雅黑" panose="020B0503020204020204" pitchFamily="34" charset="-122"/>
              </a:rPr>
              <a:t>注意：此处的创建文件还未考虑</a:t>
            </a:r>
            <a:r>
              <a:rPr lang="zh-CN" altLang="en-US" dirty="0">
                <a:solidFill>
                  <a:srgbClr val="C00000"/>
                </a:solidFill>
                <a:ea typeface="微软雅黑" panose="020B0503020204020204" pitchFamily="34" charset="-122"/>
              </a:rPr>
              <a:t>修改时间戳</a:t>
            </a:r>
            <a:r>
              <a:rPr lang="zh-CN" altLang="en-US" dirty="0">
                <a:ea typeface="微软雅黑" panose="020B0503020204020204" pitchFamily="34" charset="-122"/>
              </a:rPr>
              <a:t>、写入新目录项需要</a:t>
            </a:r>
            <a:r>
              <a:rPr lang="zh-CN" altLang="en-US" dirty="0">
                <a:solidFill>
                  <a:srgbClr val="C00000"/>
                </a:solidFill>
                <a:ea typeface="微软雅黑" panose="020B0503020204020204" pitchFamily="34" charset="-122"/>
              </a:rPr>
              <a:t>分配新的数据块</a:t>
            </a:r>
            <a:r>
              <a:rPr lang="zh-CN" altLang="en-US" dirty="0">
                <a:ea typeface="微软雅黑" panose="020B0503020204020204" pitchFamily="34" charset="-122"/>
              </a:rPr>
              <a:t>、修改</a:t>
            </a:r>
            <a:r>
              <a:rPr lang="zh-CN" altLang="en-US" dirty="0">
                <a:solidFill>
                  <a:srgbClr val="C00000"/>
                </a:solidFill>
                <a:ea typeface="微软雅黑" panose="020B0503020204020204" pitchFamily="34" charset="-122"/>
              </a:rPr>
              <a:t>超级块中的统计信息</a:t>
            </a:r>
            <a:r>
              <a:rPr lang="zh-CN" altLang="en-US" dirty="0">
                <a:ea typeface="微软雅黑" panose="020B0503020204020204" pitchFamily="34" charset="-122"/>
              </a:rPr>
              <a:t>等情况。考虑后情况会更复杂！</a:t>
            </a:r>
            <a:endParaRPr lang="en-CN" dirty="0">
              <a:ea typeface="微软雅黑" panose="020B0503020204020204" pitchFamily="34" charset="-122"/>
            </a:endParaRPr>
          </a:p>
          <a:p>
            <a:endParaRPr lang="en-CN" dirty="0"/>
          </a:p>
        </p:txBody>
      </p:sp>
      <p:sp>
        <p:nvSpPr>
          <p:cNvPr id="6" name="TextBox 5">
            <a:extLst>
              <a:ext uri="{FF2B5EF4-FFF2-40B4-BE49-F238E27FC236}">
                <a16:creationId xmlns:a16="http://schemas.microsoft.com/office/drawing/2014/main" id="{5D2B5CC7-5406-6844-AD35-8781EB672DF3}"/>
              </a:ext>
            </a:extLst>
          </p:cNvPr>
          <p:cNvSpPr txBox="1"/>
          <p:nvPr/>
        </p:nvSpPr>
        <p:spPr>
          <a:xfrm>
            <a:off x="5993966" y="1624607"/>
            <a:ext cx="2505814" cy="2308324"/>
          </a:xfrm>
          <a:prstGeom prst="rect">
            <a:avLst/>
          </a:prstGeom>
          <a:noFill/>
        </p:spPr>
        <p:txBody>
          <a:bodyPr wrap="none" rtlCol="0">
            <a:spAutoFit/>
          </a:bodyPr>
          <a:lstStyle/>
          <a:p>
            <a:r>
              <a:rPr lang="en-US" altLang="zh-CN" dirty="0"/>
              <a:t>{},</a:t>
            </a:r>
            <a:r>
              <a:rPr lang="zh-CN" altLang="en-US" dirty="0"/>
              <a:t> </a:t>
            </a:r>
            <a:r>
              <a:rPr lang="en-US" altLang="zh-CN" dirty="0"/>
              <a:t>//</a:t>
            </a:r>
            <a:r>
              <a:rPr lang="zh-CN" altLang="en-US" dirty="0"/>
              <a:t> 没有操作被持久化</a:t>
            </a:r>
            <a:endParaRPr lang="en-US" altLang="zh-CN" dirty="0"/>
          </a:p>
          <a:p>
            <a:r>
              <a:rPr lang="en-US" altLang="zh-CN" dirty="0"/>
              <a:t>{1}</a:t>
            </a:r>
          </a:p>
          <a:p>
            <a:r>
              <a:rPr lang="en-US" altLang="zh-CN" dirty="0"/>
              <a:t>{2}</a:t>
            </a:r>
          </a:p>
          <a:p>
            <a:r>
              <a:rPr lang="en-US" altLang="zh-CN" dirty="0"/>
              <a:t>{3}</a:t>
            </a:r>
          </a:p>
          <a:p>
            <a:r>
              <a:rPr lang="en-US" altLang="zh-CN" dirty="0"/>
              <a:t>{1, 2}</a:t>
            </a:r>
            <a:r>
              <a:rPr lang="zh-CN" altLang="en-US" dirty="0"/>
              <a:t> （与</a:t>
            </a:r>
            <a:r>
              <a:rPr lang="en-US" altLang="zh-CN" dirty="0"/>
              <a:t>{2,1}</a:t>
            </a:r>
            <a:r>
              <a:rPr lang="zh-CN" altLang="en-US" dirty="0"/>
              <a:t>相同）</a:t>
            </a:r>
            <a:endParaRPr lang="en-US" altLang="zh-CN" dirty="0"/>
          </a:p>
          <a:p>
            <a:r>
              <a:rPr lang="en-US" altLang="zh-CN" dirty="0"/>
              <a:t>{1,</a:t>
            </a:r>
            <a:r>
              <a:rPr lang="zh-CN" altLang="en-US" dirty="0"/>
              <a:t> </a:t>
            </a:r>
            <a:r>
              <a:rPr lang="en-US" altLang="zh-CN" dirty="0"/>
              <a:t>3}</a:t>
            </a:r>
          </a:p>
          <a:p>
            <a:r>
              <a:rPr lang="en-US" altLang="zh-CN" dirty="0"/>
              <a:t>{2,</a:t>
            </a:r>
            <a:r>
              <a:rPr lang="zh-CN" altLang="en-US" dirty="0"/>
              <a:t> </a:t>
            </a:r>
            <a:r>
              <a:rPr lang="en-US" altLang="zh-CN" dirty="0"/>
              <a:t>3}</a:t>
            </a:r>
          </a:p>
          <a:p>
            <a:r>
              <a:rPr lang="en-US" altLang="zh-CN" dirty="0"/>
              <a:t>{1,</a:t>
            </a:r>
            <a:r>
              <a:rPr lang="zh-CN" altLang="en-US" dirty="0"/>
              <a:t> </a:t>
            </a:r>
            <a:r>
              <a:rPr lang="en-US" altLang="zh-CN" dirty="0"/>
              <a:t>2,</a:t>
            </a:r>
            <a:r>
              <a:rPr lang="zh-CN" altLang="en-US" dirty="0"/>
              <a:t> </a:t>
            </a:r>
            <a:r>
              <a:rPr lang="en-US" altLang="zh-CN" dirty="0"/>
              <a:t>3}</a:t>
            </a:r>
            <a:endParaRPr lang="en-CN" dirty="0"/>
          </a:p>
        </p:txBody>
      </p:sp>
      <p:sp>
        <p:nvSpPr>
          <p:cNvPr id="7" name="TextBox 6">
            <a:extLst>
              <a:ext uri="{FF2B5EF4-FFF2-40B4-BE49-F238E27FC236}">
                <a16:creationId xmlns:a16="http://schemas.microsoft.com/office/drawing/2014/main" id="{8183A8DF-DD9F-7B48-80D7-D30108ECA37D}"/>
              </a:ext>
            </a:extLst>
          </p:cNvPr>
          <p:cNvSpPr txBox="1"/>
          <p:nvPr/>
        </p:nvSpPr>
        <p:spPr>
          <a:xfrm>
            <a:off x="4407420" y="1639786"/>
            <a:ext cx="1697901" cy="369332"/>
          </a:xfrm>
          <a:prstGeom prst="rect">
            <a:avLst/>
          </a:prstGeom>
          <a:noFill/>
        </p:spPr>
        <p:txBody>
          <a:bodyPr wrap="none" rtlCol="0">
            <a:spAutoFit/>
          </a:bodyPr>
          <a:lstStyle/>
          <a:p>
            <a:r>
              <a:rPr lang="zh-CN" altLang="en-CN" dirty="0"/>
              <a:t>共有</a:t>
            </a:r>
            <a:r>
              <a:rPr lang="en-US" altLang="zh-CN" dirty="0"/>
              <a:t>8</a:t>
            </a:r>
            <a:r>
              <a:rPr lang="zh-CN" altLang="en-US" dirty="0"/>
              <a:t>种情况：</a:t>
            </a:r>
            <a:endParaRPr lang="en-CN" dirty="0"/>
          </a:p>
        </p:txBody>
      </p:sp>
    </p:spTree>
    <p:extLst>
      <p:ext uri="{BB962C8B-B14F-4D97-AF65-F5344CB8AC3E}">
        <p14:creationId xmlns:p14="http://schemas.microsoft.com/office/powerpoint/2010/main" val="8457814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57B3A-1A09-D041-A015-BB449F1322D4}"/>
              </a:ext>
            </a:extLst>
          </p:cNvPr>
          <p:cNvSpPr>
            <a:spLocks noGrp="1"/>
          </p:cNvSpPr>
          <p:nvPr>
            <p:ph type="title"/>
          </p:nvPr>
        </p:nvSpPr>
        <p:spPr/>
        <p:txBody>
          <a:bodyPr/>
          <a:lstStyle/>
          <a:p>
            <a:r>
              <a:rPr lang="zh-CN" altLang="en-US" dirty="0"/>
              <a:t>思考时间</a:t>
            </a:r>
            <a:r>
              <a:rPr lang="en-US" altLang="zh-CN" dirty="0"/>
              <a:t>🤔</a:t>
            </a:r>
            <a:endParaRPr lang="en-CN" dirty="0"/>
          </a:p>
        </p:txBody>
      </p:sp>
      <p:sp>
        <p:nvSpPr>
          <p:cNvPr id="3" name="Content Placeholder 2">
            <a:extLst>
              <a:ext uri="{FF2B5EF4-FFF2-40B4-BE49-F238E27FC236}">
                <a16:creationId xmlns:a16="http://schemas.microsoft.com/office/drawing/2014/main" id="{707C7930-3458-E247-8649-98FAE5641A0D}"/>
              </a:ext>
            </a:extLst>
          </p:cNvPr>
          <p:cNvSpPr>
            <a:spLocks noGrp="1"/>
          </p:cNvSpPr>
          <p:nvPr>
            <p:ph idx="1"/>
          </p:nvPr>
        </p:nvSpPr>
        <p:spPr/>
        <p:txBody>
          <a:bodyPr/>
          <a:lstStyle/>
          <a:p>
            <a:r>
              <a:rPr lang="zh-CN" altLang="en-CN" b="0" dirty="0"/>
              <a:t>手机</a:t>
            </a:r>
            <a:r>
              <a:rPr lang="zh-CN" altLang="en-US" b="0" dirty="0"/>
              <a:t>和笔记本电脑等设备有电池，是否还需要保证文件系统崩溃一致性？</a:t>
            </a:r>
            <a:endParaRPr lang="en-US" altLang="zh-CN" b="0" dirty="0"/>
          </a:p>
          <a:p>
            <a:r>
              <a:rPr lang="zh-CN" altLang="en-US" b="0" dirty="0"/>
              <a:t>数据中心一般会配有</a:t>
            </a:r>
            <a:r>
              <a:rPr lang="en-US" altLang="zh-CN" b="0" dirty="0"/>
              <a:t>UPS</a:t>
            </a:r>
            <a:r>
              <a:rPr lang="zh-CN" altLang="en-US" b="0" dirty="0"/>
              <a:t>（不间断电源），是否还需要保证文件系统崩溃一致性？</a:t>
            </a:r>
            <a:endParaRPr lang="en-US" altLang="zh-CN" b="0" dirty="0"/>
          </a:p>
        </p:txBody>
      </p:sp>
      <p:sp>
        <p:nvSpPr>
          <p:cNvPr id="4" name="Slide Number Placeholder 3">
            <a:extLst>
              <a:ext uri="{FF2B5EF4-FFF2-40B4-BE49-F238E27FC236}">
                <a16:creationId xmlns:a16="http://schemas.microsoft.com/office/drawing/2014/main" id="{C95023B1-5D7B-1044-B659-3F3E85E00401}"/>
              </a:ext>
            </a:extLst>
          </p:cNvPr>
          <p:cNvSpPr>
            <a:spLocks noGrp="1"/>
          </p:cNvSpPr>
          <p:nvPr>
            <p:ph type="sldNum" sz="quarter" idx="12"/>
          </p:nvPr>
        </p:nvSpPr>
        <p:spPr/>
        <p:txBody>
          <a:bodyPr/>
          <a:lstStyle/>
          <a:p>
            <a:fld id="{ADE361C3-C043-4A6E-BDCE-8DA1E7D90A3B}" type="slidenum">
              <a:rPr lang="zh-CN" altLang="en-US" smtClean="0"/>
              <a:t>57</a:t>
            </a:fld>
            <a:endParaRPr lang="zh-CN" altLang="en-US"/>
          </a:p>
        </p:txBody>
      </p:sp>
      <p:sp>
        <p:nvSpPr>
          <p:cNvPr id="5" name="Footer Placeholder 4">
            <a:extLst>
              <a:ext uri="{FF2B5EF4-FFF2-40B4-BE49-F238E27FC236}">
                <a16:creationId xmlns:a16="http://schemas.microsoft.com/office/drawing/2014/main" id="{3AAC6345-3FEA-6840-9C71-4C366B8D51E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0437312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崩溃一致性：用户期望</a:t>
            </a:r>
          </a:p>
        </p:txBody>
      </p:sp>
      <p:sp>
        <p:nvSpPr>
          <p:cNvPr id="3" name="内容占位符 2"/>
          <p:cNvSpPr>
            <a:spLocks noGrp="1"/>
          </p:cNvSpPr>
          <p:nvPr>
            <p:ph idx="1"/>
          </p:nvPr>
        </p:nvSpPr>
        <p:spPr/>
        <p:txBody>
          <a:bodyPr>
            <a:normAutofit lnSpcReduction="10000"/>
          </a:bodyPr>
          <a:lstStyle/>
          <a:p>
            <a:pPr marL="0" indent="0">
              <a:buNone/>
            </a:pPr>
            <a:r>
              <a:rPr lang="zh-CN" altLang="en-US" sz="2667" dirty="0"/>
              <a:t>重启并恢复后</a:t>
            </a:r>
            <a:r>
              <a:rPr lang="en-US" altLang="zh-CN" sz="2667" dirty="0"/>
              <a:t>… </a:t>
            </a:r>
          </a:p>
          <a:p>
            <a:pPr marL="380985" lvl="1" indent="0">
              <a:buNone/>
            </a:pPr>
            <a:r>
              <a:rPr lang="en-US" altLang="zh-CN" sz="2333" dirty="0"/>
              <a:t>1. </a:t>
            </a:r>
            <a:r>
              <a:rPr lang="zh-CN" altLang="en-US" sz="2333" dirty="0"/>
              <a:t>维护文件系统数据结构的内部的不变量</a:t>
            </a:r>
            <a:r>
              <a:rPr lang="en-US" altLang="zh-CN" sz="2333" dirty="0"/>
              <a:t> </a:t>
            </a:r>
          </a:p>
          <a:p>
            <a:pPr marL="761970" lvl="2" indent="0">
              <a:buNone/>
            </a:pPr>
            <a:r>
              <a:rPr lang="zh-CN" altLang="en-US" dirty="0"/>
              <a:t>例如</a:t>
            </a:r>
            <a:r>
              <a:rPr lang="en-US" altLang="zh-CN" dirty="0"/>
              <a:t>, </a:t>
            </a:r>
            <a:r>
              <a:rPr lang="zh-CN" altLang="en-US" dirty="0"/>
              <a:t>没有磁盘块既在</a:t>
            </a:r>
            <a:r>
              <a:rPr lang="en-US" altLang="zh-CN" dirty="0"/>
              <a:t>free list</a:t>
            </a:r>
            <a:r>
              <a:rPr lang="zh-CN" altLang="en-US" dirty="0"/>
              <a:t>中也在一个文件中</a:t>
            </a:r>
            <a:endParaRPr lang="en-US" altLang="zh-CN" dirty="0"/>
          </a:p>
          <a:p>
            <a:pPr marL="380985" lvl="1" indent="0">
              <a:buNone/>
            </a:pPr>
            <a:r>
              <a:rPr lang="en-US" altLang="zh-CN" sz="2333" dirty="0"/>
              <a:t>2. </a:t>
            </a:r>
            <a:r>
              <a:rPr lang="zh-CN" altLang="en-US" sz="2333" dirty="0"/>
              <a:t>仅有最近的一些操作没有被保存到磁盘中</a:t>
            </a:r>
            <a:endParaRPr lang="en-US" altLang="zh-CN" sz="2333" dirty="0"/>
          </a:p>
          <a:p>
            <a:pPr marL="761970" lvl="2" indent="0">
              <a:buNone/>
            </a:pPr>
            <a:r>
              <a:rPr lang="zh-CN" altLang="en-US" dirty="0"/>
              <a:t>例如：我昨天写的</a:t>
            </a:r>
            <a:r>
              <a:rPr lang="en-US" altLang="zh-CN" dirty="0"/>
              <a:t>OS Lab</a:t>
            </a:r>
            <a:r>
              <a:rPr lang="zh-CN" altLang="en-US" dirty="0"/>
              <a:t>的文件还存在</a:t>
            </a:r>
            <a:r>
              <a:rPr lang="en-US" altLang="zh-CN" dirty="0"/>
              <a:t> </a:t>
            </a:r>
          </a:p>
          <a:p>
            <a:pPr marL="761970" lvl="2" indent="0">
              <a:buNone/>
            </a:pPr>
            <a:r>
              <a:rPr lang="zh-CN" altLang="en-US" dirty="0"/>
              <a:t>用户只需要关心最近的几次修改还在不在</a:t>
            </a:r>
            <a:r>
              <a:rPr lang="en-US" altLang="zh-CN" dirty="0"/>
              <a:t> </a:t>
            </a:r>
          </a:p>
          <a:p>
            <a:pPr marL="380985" lvl="1" indent="0">
              <a:buNone/>
            </a:pPr>
            <a:r>
              <a:rPr lang="en-US" altLang="zh-CN" sz="2333" dirty="0"/>
              <a:t>3. </a:t>
            </a:r>
            <a:r>
              <a:rPr lang="zh-CN" altLang="en-US" sz="2333" dirty="0"/>
              <a:t>没有顺序的异常</a:t>
            </a:r>
            <a:r>
              <a:rPr lang="en-US" altLang="zh-CN" sz="2333" dirty="0"/>
              <a:t> </a:t>
            </a:r>
          </a:p>
          <a:p>
            <a:pPr marL="380985" lvl="1" indent="0">
              <a:buNone/>
            </a:pPr>
            <a:r>
              <a:rPr lang="en-US" altLang="zh-CN" sz="2333" dirty="0"/>
              <a:t>	$ echo 99 &gt; result ; echo done &gt; status </a:t>
            </a:r>
          </a:p>
        </p:txBody>
      </p:sp>
    </p:spTree>
    <p:extLst>
      <p:ext uri="{BB962C8B-B14F-4D97-AF65-F5344CB8AC3E}">
        <p14:creationId xmlns:p14="http://schemas.microsoft.com/office/powerpoint/2010/main" val="32023765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一些（简化的）假设</a:t>
            </a:r>
          </a:p>
        </p:txBody>
      </p:sp>
      <p:sp>
        <p:nvSpPr>
          <p:cNvPr id="3" name="内容占位符 2"/>
          <p:cNvSpPr>
            <a:spLocks noGrp="1"/>
          </p:cNvSpPr>
          <p:nvPr>
            <p:ph idx="1"/>
          </p:nvPr>
        </p:nvSpPr>
        <p:spPr/>
        <p:txBody>
          <a:bodyPr>
            <a:normAutofit/>
          </a:bodyPr>
          <a:lstStyle/>
          <a:p>
            <a:r>
              <a:rPr lang="zh-CN" altLang="en-US" sz="2733" b="0" dirty="0"/>
              <a:t>磁盘是</a:t>
            </a:r>
            <a:r>
              <a:rPr lang="en-US" altLang="zh-CN" sz="2733" b="0" dirty="0"/>
              <a:t>fail-stop, </a:t>
            </a:r>
            <a:r>
              <a:rPr lang="zh-CN" altLang="en-US" sz="2733" b="0" dirty="0"/>
              <a:t>磁盘会忠实执行文件系统下发的命令，不会多做也不会少做</a:t>
            </a:r>
            <a:endParaRPr lang="en-US" altLang="zh-CN" sz="2733" b="0" dirty="0"/>
          </a:p>
          <a:p>
            <a:pPr lvl="1"/>
            <a:endParaRPr lang="en-US" altLang="zh-CN" sz="2333" b="0" dirty="0"/>
          </a:p>
          <a:p>
            <a:r>
              <a:rPr lang="zh-CN" altLang="en-US" sz="2733" b="0" dirty="0"/>
              <a:t>磁盘可能不会执行最近的几次操作</a:t>
            </a:r>
            <a:r>
              <a:rPr lang="en-US" altLang="zh-CN" sz="2733" b="0" dirty="0"/>
              <a:t> </a:t>
            </a:r>
          </a:p>
          <a:p>
            <a:pPr lvl="1"/>
            <a:endParaRPr lang="en-US" altLang="zh-CN" sz="2333" b="0" dirty="0"/>
          </a:p>
          <a:p>
            <a:r>
              <a:rPr lang="zh-CN" altLang="en-US" sz="2733" b="0" dirty="0"/>
              <a:t>保障：磁盘不会写飞</a:t>
            </a:r>
            <a:r>
              <a:rPr lang="en-US" altLang="zh-CN" sz="2733" b="0" dirty="0"/>
              <a:t>(wild writes)</a:t>
            </a:r>
          </a:p>
        </p:txBody>
      </p:sp>
    </p:spTree>
    <p:extLst>
      <p:ext uri="{BB962C8B-B14F-4D97-AF65-F5344CB8AC3E}">
        <p14:creationId xmlns:p14="http://schemas.microsoft.com/office/powerpoint/2010/main" val="31696010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为什么保证崩溃一致性这么困难呢？</a:t>
            </a:r>
          </a:p>
        </p:txBody>
      </p:sp>
      <p:sp>
        <p:nvSpPr>
          <p:cNvPr id="3" name="内容占位符 2"/>
          <p:cNvSpPr>
            <a:spLocks noGrp="1"/>
          </p:cNvSpPr>
          <p:nvPr>
            <p:ph idx="1"/>
          </p:nvPr>
        </p:nvSpPr>
        <p:spPr/>
        <p:txBody>
          <a:bodyPr>
            <a:normAutofit fontScale="85000" lnSpcReduction="20000"/>
          </a:bodyPr>
          <a:lstStyle/>
          <a:p>
            <a:pPr marL="0" indent="0">
              <a:buNone/>
            </a:pPr>
            <a:r>
              <a:rPr lang="zh-CN" altLang="en-US" dirty="0"/>
              <a:t>崩溃 </a:t>
            </a:r>
            <a:r>
              <a:rPr lang="en-US" altLang="zh-CN" dirty="0"/>
              <a:t>= halt/restart CPU</a:t>
            </a:r>
          </a:p>
          <a:p>
            <a:pPr marL="380985" lvl="1" indent="0">
              <a:buNone/>
            </a:pPr>
            <a:r>
              <a:rPr lang="en-US" altLang="zh-CN" dirty="0"/>
              <a:t>let disk finish current sector write, assume no h/w damage, no wild write to disk</a:t>
            </a:r>
          </a:p>
          <a:p>
            <a:pPr marL="0" indent="0">
              <a:buNone/>
            </a:pPr>
            <a:endParaRPr lang="en-US" altLang="zh-CN" dirty="0"/>
          </a:p>
          <a:p>
            <a:pPr marL="0" indent="0">
              <a:buNone/>
            </a:pPr>
            <a:r>
              <a:rPr lang="zh-CN" altLang="en-US" dirty="0"/>
              <a:t>目标</a:t>
            </a:r>
            <a:r>
              <a:rPr lang="en-US" altLang="zh-CN" dirty="0"/>
              <a:t>: </a:t>
            </a:r>
            <a:r>
              <a:rPr lang="zh-CN" altLang="en-US" dirty="0"/>
              <a:t>自动恢复</a:t>
            </a:r>
            <a:endParaRPr lang="en-US" altLang="zh-CN" dirty="0"/>
          </a:p>
          <a:p>
            <a:pPr marL="380985" lvl="1" indent="0">
              <a:buNone/>
            </a:pPr>
            <a:r>
              <a:rPr lang="en-US" altLang="zh-CN" dirty="0"/>
              <a:t>Can </a:t>
            </a:r>
            <a:r>
              <a:rPr lang="en-US" altLang="zh-CN" dirty="0" err="1"/>
              <a:t>fs</a:t>
            </a:r>
            <a:r>
              <a:rPr lang="en-US" altLang="zh-CN" dirty="0"/>
              <a:t> always make sense of on-disk </a:t>
            </a:r>
            <a:r>
              <a:rPr lang="en-US" altLang="zh-CN" dirty="0">
                <a:solidFill>
                  <a:srgbClr val="FF0000"/>
                </a:solidFill>
              </a:rPr>
              <a:t>metadata </a:t>
            </a:r>
            <a:r>
              <a:rPr lang="en-US" altLang="zh-CN" dirty="0"/>
              <a:t>after restart?</a:t>
            </a:r>
          </a:p>
          <a:p>
            <a:pPr marL="380985" lvl="1" indent="0">
              <a:buNone/>
            </a:pPr>
            <a:r>
              <a:rPr lang="en-US" altLang="zh-CN" dirty="0"/>
              <a:t>Given that the crash could have occurred at </a:t>
            </a:r>
            <a:r>
              <a:rPr lang="en-US" altLang="zh-CN" dirty="0">
                <a:solidFill>
                  <a:srgbClr val="FF0000"/>
                </a:solidFill>
              </a:rPr>
              <a:t>any point</a:t>
            </a:r>
            <a:r>
              <a:rPr lang="en-US" altLang="zh-CN" dirty="0"/>
              <a:t>?</a:t>
            </a:r>
          </a:p>
          <a:p>
            <a:pPr marL="380985" lvl="1" indent="0">
              <a:buNone/>
            </a:pPr>
            <a:endParaRPr lang="en-US" altLang="zh-CN" dirty="0"/>
          </a:p>
          <a:p>
            <a:pPr marL="0" indent="0">
              <a:buNone/>
            </a:pPr>
            <a:r>
              <a:rPr lang="zh-CN" altLang="en-US" dirty="0"/>
              <a:t>例子：</a:t>
            </a:r>
            <a:endParaRPr lang="en-US" altLang="zh-CN" dirty="0"/>
          </a:p>
          <a:p>
            <a:pPr marL="380985" lvl="1" indent="0">
              <a:buNone/>
            </a:pPr>
            <a:r>
              <a:rPr lang="en-US" altLang="zh-CN" dirty="0"/>
              <a:t>Crash during </a:t>
            </a:r>
            <a:r>
              <a:rPr lang="en-US" altLang="zh-CN" dirty="0" err="1"/>
              <a:t>mkdir</a:t>
            </a:r>
            <a:r>
              <a:rPr lang="en-US" altLang="zh-CN" dirty="0"/>
              <a:t>, leave directory without . and ..</a:t>
            </a:r>
          </a:p>
          <a:p>
            <a:pPr marL="380985" lvl="1" indent="0">
              <a:buNone/>
            </a:pPr>
            <a:r>
              <a:rPr lang="en-US" altLang="zh-CN" dirty="0"/>
              <a:t>Crash during free blocks</a:t>
            </a:r>
          </a:p>
          <a:p>
            <a:pPr marL="0" indent="0">
              <a:buNone/>
            </a:pP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60</a:t>
            </a:fld>
            <a:endParaRPr lang="zh-CN" altLang="en-US"/>
          </a:p>
        </p:txBody>
      </p:sp>
    </p:spTree>
    <p:extLst>
      <p:ext uri="{BB962C8B-B14F-4D97-AF65-F5344CB8AC3E}">
        <p14:creationId xmlns:p14="http://schemas.microsoft.com/office/powerpoint/2010/main" val="32573113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方法：在线与离线恢复</a:t>
            </a:r>
          </a:p>
        </p:txBody>
      </p:sp>
      <p:sp>
        <p:nvSpPr>
          <p:cNvPr id="3" name="内容占位符 2"/>
          <p:cNvSpPr>
            <a:spLocks noGrp="1"/>
          </p:cNvSpPr>
          <p:nvPr>
            <p:ph idx="1"/>
          </p:nvPr>
        </p:nvSpPr>
        <p:spPr>
          <a:xfrm>
            <a:off x="457200" y="1333501"/>
            <a:ext cx="8229600" cy="3828255"/>
          </a:xfrm>
        </p:spPr>
        <p:txBody>
          <a:bodyPr>
            <a:normAutofit/>
          </a:bodyPr>
          <a:lstStyle/>
          <a:p>
            <a:pPr marL="0" indent="0">
              <a:buNone/>
            </a:pPr>
            <a:r>
              <a:rPr lang="zh-CN" altLang="en-US" dirty="0"/>
              <a:t>离线恢复</a:t>
            </a:r>
            <a:endParaRPr lang="en-US" altLang="zh-CN" dirty="0"/>
          </a:p>
          <a:p>
            <a:pPr marL="380985" lvl="1" indent="0">
              <a:buNone/>
            </a:pPr>
            <a:r>
              <a:rPr lang="zh-CN" altLang="en-US" dirty="0"/>
              <a:t>文件系统检查工具</a:t>
            </a:r>
            <a:r>
              <a:rPr lang="en-US" altLang="zh-CN" dirty="0"/>
              <a:t>, </a:t>
            </a:r>
            <a:r>
              <a:rPr lang="zh-CN" altLang="en-US" dirty="0"/>
              <a:t>例如：</a:t>
            </a:r>
            <a:r>
              <a:rPr lang="en-US" altLang="zh-CN" dirty="0"/>
              <a:t> windows</a:t>
            </a:r>
            <a:r>
              <a:rPr lang="zh-CN" altLang="en-US" dirty="0"/>
              <a:t>中的</a:t>
            </a:r>
            <a:r>
              <a:rPr lang="en-US" altLang="zh-CN" dirty="0" err="1"/>
              <a:t>chkdsk</a:t>
            </a:r>
            <a:r>
              <a:rPr lang="zh-CN" altLang="en-US" dirty="0"/>
              <a:t>，</a:t>
            </a:r>
            <a:r>
              <a:rPr lang="en-US" altLang="zh-CN" dirty="0"/>
              <a:t>Linux</a:t>
            </a:r>
            <a:r>
              <a:rPr lang="zh-CN" altLang="en-US" dirty="0"/>
              <a:t>中的</a:t>
            </a:r>
            <a:r>
              <a:rPr lang="en-US" altLang="zh-CN" dirty="0" err="1"/>
              <a:t>fsck</a:t>
            </a:r>
            <a:endParaRPr lang="en-US" altLang="zh-CN" dirty="0"/>
          </a:p>
          <a:p>
            <a:pPr marL="380985" lvl="1" indent="0">
              <a:buNone/>
            </a:pPr>
            <a:r>
              <a:rPr lang="zh-CN" altLang="en-US" dirty="0"/>
              <a:t>例如</a:t>
            </a:r>
            <a:r>
              <a:rPr lang="en-US" altLang="zh-CN" dirty="0"/>
              <a:t>, ext3</a:t>
            </a:r>
          </a:p>
          <a:p>
            <a:pPr marL="400050" lvl="1" indent="0">
              <a:buNone/>
            </a:pPr>
            <a:endParaRPr lang="en-US" altLang="zh-CN" dirty="0"/>
          </a:p>
          <a:p>
            <a:pPr marL="0" indent="0">
              <a:buNone/>
            </a:pPr>
            <a:r>
              <a:rPr lang="zh-CN" altLang="en-US" dirty="0"/>
              <a:t>在线恢复</a:t>
            </a:r>
            <a:endParaRPr lang="en-US" altLang="zh-CN" dirty="0"/>
          </a:p>
          <a:p>
            <a:pPr marL="380985" lvl="1" indent="0">
              <a:buNone/>
            </a:pPr>
            <a:r>
              <a:rPr lang="zh-CN" altLang="en-US" dirty="0"/>
              <a:t>运行过程中，检查一些重要的不一致性</a:t>
            </a:r>
            <a:endParaRPr lang="en-US" altLang="zh-CN" dirty="0"/>
          </a:p>
          <a:p>
            <a:pPr marL="380985" lvl="1" indent="0">
              <a:buNone/>
            </a:pPr>
            <a:r>
              <a:rPr lang="zh-CN" altLang="en-US" dirty="0"/>
              <a:t>例子</a:t>
            </a:r>
            <a:r>
              <a:rPr lang="en-US" altLang="zh-CN" dirty="0"/>
              <a:t>, ext4 (</a:t>
            </a:r>
            <a:r>
              <a:rPr lang="zh-CN" altLang="en-US" dirty="0"/>
              <a:t>同时也使用</a:t>
            </a:r>
            <a:r>
              <a:rPr lang="en-US" altLang="zh-CN" dirty="0" err="1"/>
              <a:t>fsck</a:t>
            </a:r>
            <a:r>
              <a:rPr lang="en-US" altLang="zh-CN" dirty="0"/>
              <a:t>, </a:t>
            </a:r>
            <a:r>
              <a:rPr lang="zh-CN" altLang="en-US" dirty="0"/>
              <a:t>但是非常简单</a:t>
            </a:r>
            <a:r>
              <a:rPr lang="en-US" altLang="zh-CN" dirty="0"/>
              <a:t>)</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61</a:t>
            </a:fld>
            <a:endParaRPr lang="zh-CN" altLang="en-US"/>
          </a:p>
        </p:txBody>
      </p:sp>
    </p:spTree>
    <p:extLst>
      <p:ext uri="{BB962C8B-B14F-4D97-AF65-F5344CB8AC3E}">
        <p14:creationId xmlns:p14="http://schemas.microsoft.com/office/powerpoint/2010/main" val="249641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文件系统操作所要求的三个属性</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err="1"/>
              <a:t>creat</a:t>
            </a:r>
            <a:r>
              <a:rPr lang="en-US" altLang="zh-CN" dirty="0"/>
              <a:t>(“a”); </a:t>
            </a:r>
            <a:r>
              <a:rPr lang="en-US" altLang="zh-CN" dirty="0" err="1"/>
              <a:t>fd</a:t>
            </a:r>
            <a:r>
              <a:rPr lang="en-US" altLang="zh-CN" dirty="0"/>
              <a:t> = </a:t>
            </a:r>
            <a:r>
              <a:rPr lang="en-US" altLang="zh-CN" dirty="0" err="1"/>
              <a:t>creat</a:t>
            </a:r>
            <a:r>
              <a:rPr lang="en-US" altLang="zh-CN" dirty="0"/>
              <a:t>(“b”); write(</a:t>
            </a:r>
            <a:r>
              <a:rPr lang="en-US" altLang="zh-CN" dirty="0" err="1"/>
              <a:t>fd</a:t>
            </a:r>
            <a:r>
              <a:rPr lang="en-US" altLang="zh-CN" dirty="0"/>
              <a:t>,…); </a:t>
            </a:r>
            <a:r>
              <a:rPr lang="en-US" altLang="zh-CN" dirty="0">
                <a:highlight>
                  <a:srgbClr val="FFFF00"/>
                </a:highlight>
              </a:rPr>
              <a:t>crash</a:t>
            </a:r>
          </a:p>
          <a:p>
            <a:pPr marL="380985" lvl="1" indent="0">
              <a:buNone/>
            </a:pPr>
            <a:endParaRPr lang="en-US" altLang="zh-CN" dirty="0"/>
          </a:p>
          <a:p>
            <a:pPr marL="0" indent="0">
              <a:buNone/>
            </a:pPr>
            <a:r>
              <a:rPr lang="zh-CN" altLang="en-US" dirty="0">
                <a:solidFill>
                  <a:schemeClr val="accent1"/>
                </a:solidFill>
              </a:rPr>
              <a:t>持久化</a:t>
            </a:r>
            <a:r>
              <a:rPr lang="en-US" altLang="zh-CN" dirty="0">
                <a:solidFill>
                  <a:schemeClr val="accent1"/>
                </a:solidFill>
              </a:rPr>
              <a:t>/Durable</a:t>
            </a:r>
            <a:r>
              <a:rPr lang="en-US" altLang="zh-CN" dirty="0"/>
              <a:t>: </a:t>
            </a:r>
            <a:r>
              <a:rPr lang="zh-CN" altLang="en-US" dirty="0"/>
              <a:t>哪些操作可见</a:t>
            </a:r>
            <a:endParaRPr lang="en-US" altLang="zh-CN" dirty="0"/>
          </a:p>
          <a:p>
            <a:pPr marL="380985" lvl="1" indent="0">
              <a:buNone/>
            </a:pPr>
            <a:r>
              <a:rPr lang="en-US" altLang="zh-CN" dirty="0"/>
              <a:t>a</a:t>
            </a:r>
            <a:r>
              <a:rPr lang="zh-CN" altLang="en-US" dirty="0"/>
              <a:t>和</a:t>
            </a:r>
            <a:r>
              <a:rPr lang="en-US" altLang="zh-CN" dirty="0"/>
              <a:t>b</a:t>
            </a:r>
            <a:r>
              <a:rPr lang="zh-CN" altLang="en-US" dirty="0"/>
              <a:t>都可以</a:t>
            </a:r>
            <a:endParaRPr lang="en-US" altLang="zh-CN" dirty="0"/>
          </a:p>
          <a:p>
            <a:pPr marL="380985" lvl="1" indent="0">
              <a:buNone/>
            </a:pPr>
            <a:endParaRPr lang="en-US" altLang="zh-CN" dirty="0"/>
          </a:p>
          <a:p>
            <a:pPr marL="0" indent="0">
              <a:buNone/>
            </a:pPr>
            <a:r>
              <a:rPr lang="zh-CN" altLang="en-US" dirty="0">
                <a:solidFill>
                  <a:schemeClr val="accent1"/>
                </a:solidFill>
              </a:rPr>
              <a:t>原子性</a:t>
            </a:r>
            <a:r>
              <a:rPr lang="en-US" altLang="zh-CN" dirty="0">
                <a:solidFill>
                  <a:schemeClr val="accent1"/>
                </a:solidFill>
              </a:rPr>
              <a:t>/Atomic</a:t>
            </a:r>
            <a:r>
              <a:rPr lang="en-US" altLang="zh-CN" dirty="0"/>
              <a:t>: </a:t>
            </a:r>
            <a:r>
              <a:rPr lang="zh-CN" altLang="en-US" dirty="0"/>
              <a:t>要不所有操作都可见，要不都不可见</a:t>
            </a:r>
            <a:endParaRPr lang="en-US" altLang="zh-CN" dirty="0"/>
          </a:p>
          <a:p>
            <a:pPr marL="380985" lvl="1" indent="0">
              <a:buNone/>
            </a:pPr>
            <a:r>
              <a:rPr lang="zh-CN" altLang="en-US" dirty="0"/>
              <a:t>要么</a:t>
            </a:r>
            <a:r>
              <a:rPr lang="en-US" altLang="zh-CN" dirty="0"/>
              <a:t>a</a:t>
            </a:r>
            <a:r>
              <a:rPr lang="zh-CN" altLang="en-US" dirty="0"/>
              <a:t>和</a:t>
            </a:r>
            <a:r>
              <a:rPr lang="en-US" altLang="zh-CN" dirty="0"/>
              <a:t>b</a:t>
            </a:r>
            <a:r>
              <a:rPr lang="zh-CN" altLang="en-US" dirty="0"/>
              <a:t>都可见，要么都不可见</a:t>
            </a:r>
            <a:endParaRPr lang="en-US" altLang="zh-CN" dirty="0"/>
          </a:p>
          <a:p>
            <a:pPr marL="380985" lvl="1" indent="0">
              <a:buNone/>
            </a:pPr>
            <a:endParaRPr lang="en-US" altLang="zh-CN" dirty="0"/>
          </a:p>
          <a:p>
            <a:pPr marL="0" indent="0">
              <a:buNone/>
            </a:pPr>
            <a:r>
              <a:rPr lang="zh-CN" altLang="en-US" dirty="0">
                <a:solidFill>
                  <a:schemeClr val="accent1"/>
                </a:solidFill>
              </a:rPr>
              <a:t>有序性</a:t>
            </a:r>
            <a:r>
              <a:rPr lang="en-US" altLang="zh-CN" dirty="0">
                <a:solidFill>
                  <a:schemeClr val="accent1"/>
                </a:solidFill>
              </a:rPr>
              <a:t>/Ordered</a:t>
            </a:r>
            <a:r>
              <a:rPr lang="en-US" altLang="zh-CN" dirty="0"/>
              <a:t>:  </a:t>
            </a:r>
            <a:r>
              <a:rPr lang="zh-CN" altLang="en-US" dirty="0"/>
              <a:t>按照前缀序</a:t>
            </a:r>
            <a:r>
              <a:rPr lang="en-US" altLang="zh-CN" dirty="0"/>
              <a:t>(Prefix)</a:t>
            </a:r>
            <a:r>
              <a:rPr lang="zh-CN" altLang="en-US" dirty="0"/>
              <a:t>的方式可见</a:t>
            </a:r>
            <a:endParaRPr lang="en-US" altLang="zh-CN" dirty="0"/>
          </a:p>
          <a:p>
            <a:pPr marL="380985" lvl="1" indent="0">
              <a:buNone/>
            </a:pPr>
            <a:r>
              <a:rPr lang="zh-CN" altLang="en-US" dirty="0"/>
              <a:t>如果</a:t>
            </a:r>
            <a:r>
              <a:rPr lang="en-US" altLang="zh-CN" dirty="0"/>
              <a:t>b</a:t>
            </a:r>
            <a:r>
              <a:rPr lang="zh-CN" altLang="en-US" dirty="0"/>
              <a:t>可见，那么</a:t>
            </a:r>
            <a:r>
              <a:rPr lang="en-US" altLang="zh-CN" dirty="0"/>
              <a:t>a</a:t>
            </a:r>
            <a:r>
              <a:rPr lang="zh-CN" altLang="en-US" dirty="0"/>
              <a:t>也应该可见</a:t>
            </a:r>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62</a:t>
            </a:fld>
            <a:endParaRPr lang="zh-CN" altLang="en-US" dirty="0"/>
          </a:p>
        </p:txBody>
      </p:sp>
      <p:sp>
        <p:nvSpPr>
          <p:cNvPr id="5" name="矩形 4">
            <a:extLst>
              <a:ext uri="{FF2B5EF4-FFF2-40B4-BE49-F238E27FC236}">
                <a16:creationId xmlns:a16="http://schemas.microsoft.com/office/drawing/2014/main" id="{70F56F92-9A3B-1147-B977-DA94C332ABCA}"/>
              </a:ext>
            </a:extLst>
          </p:cNvPr>
          <p:cNvSpPr/>
          <p:nvPr/>
        </p:nvSpPr>
        <p:spPr>
          <a:xfrm>
            <a:off x="457200" y="1333501"/>
            <a:ext cx="5626968" cy="44387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1283843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8B88-D5F4-DA40-B6FD-717DC47245CC}"/>
              </a:ext>
            </a:extLst>
          </p:cNvPr>
          <p:cNvSpPr>
            <a:spLocks noGrp="1"/>
          </p:cNvSpPr>
          <p:nvPr>
            <p:ph type="title"/>
          </p:nvPr>
        </p:nvSpPr>
        <p:spPr/>
        <p:txBody>
          <a:bodyPr/>
          <a:lstStyle/>
          <a:p>
            <a:r>
              <a:rPr lang="zh-CN" altLang="en-US" dirty="0"/>
              <a:t>崩溃一致性保障方法</a:t>
            </a:r>
            <a:endParaRPr lang="en-CN" dirty="0"/>
          </a:p>
        </p:txBody>
      </p:sp>
      <p:sp>
        <p:nvSpPr>
          <p:cNvPr id="3" name="Content Placeholder 2">
            <a:extLst>
              <a:ext uri="{FF2B5EF4-FFF2-40B4-BE49-F238E27FC236}">
                <a16:creationId xmlns:a16="http://schemas.microsoft.com/office/drawing/2014/main" id="{E5A0DF85-DF86-AF46-873B-ACC1075A0B50}"/>
              </a:ext>
            </a:extLst>
          </p:cNvPr>
          <p:cNvSpPr>
            <a:spLocks noGrp="1"/>
          </p:cNvSpPr>
          <p:nvPr>
            <p:ph idx="1"/>
          </p:nvPr>
        </p:nvSpPr>
        <p:spPr/>
        <p:txBody>
          <a:bodyPr>
            <a:normAutofit/>
          </a:bodyPr>
          <a:lstStyle/>
          <a:p>
            <a:r>
              <a:rPr lang="en-US" altLang="zh-CN" dirty="0"/>
              <a:t>Soft</a:t>
            </a:r>
            <a:r>
              <a:rPr lang="zh-CN" altLang="en-US" dirty="0"/>
              <a:t> </a:t>
            </a:r>
            <a:r>
              <a:rPr lang="en-US" altLang="zh-CN" dirty="0"/>
              <a:t>updates</a:t>
            </a:r>
          </a:p>
          <a:p>
            <a:r>
              <a:rPr lang="zh-CN" altLang="en-US" dirty="0"/>
              <a:t>日志</a:t>
            </a:r>
            <a:endParaRPr lang="en-US" altLang="zh-CN" dirty="0"/>
          </a:p>
          <a:p>
            <a:r>
              <a:rPr lang="zh-CN" altLang="en-US" dirty="0"/>
              <a:t>写时复制</a:t>
            </a:r>
            <a:endParaRPr lang="en-US" altLang="zh-CN" dirty="0"/>
          </a:p>
          <a:p>
            <a:endParaRPr lang="en-US" altLang="zh-CN" dirty="0"/>
          </a:p>
          <a:p>
            <a:endParaRPr lang="en-CN" dirty="0"/>
          </a:p>
        </p:txBody>
      </p:sp>
      <p:sp>
        <p:nvSpPr>
          <p:cNvPr id="4" name="Slide Number Placeholder 3">
            <a:extLst>
              <a:ext uri="{FF2B5EF4-FFF2-40B4-BE49-F238E27FC236}">
                <a16:creationId xmlns:a16="http://schemas.microsoft.com/office/drawing/2014/main" id="{BC3B825D-F3D7-B64C-8793-2333388AA9A4}"/>
              </a:ext>
            </a:extLst>
          </p:cNvPr>
          <p:cNvSpPr>
            <a:spLocks noGrp="1"/>
          </p:cNvSpPr>
          <p:nvPr>
            <p:ph type="sldNum" sz="quarter" idx="12"/>
          </p:nvPr>
        </p:nvSpPr>
        <p:spPr/>
        <p:txBody>
          <a:bodyPr/>
          <a:lstStyle/>
          <a:p>
            <a:fld id="{ADE361C3-C043-4A6E-BDCE-8DA1E7D90A3B}" type="slidenum">
              <a:rPr lang="zh-CN" altLang="en-US" smtClean="0"/>
              <a:t>63</a:t>
            </a:fld>
            <a:endParaRPr lang="zh-CN" altLang="en-US"/>
          </a:p>
        </p:txBody>
      </p:sp>
      <p:sp>
        <p:nvSpPr>
          <p:cNvPr id="5" name="Footer Placeholder 4">
            <a:extLst>
              <a:ext uri="{FF2B5EF4-FFF2-40B4-BE49-F238E27FC236}">
                <a16:creationId xmlns:a16="http://schemas.microsoft.com/office/drawing/2014/main" id="{87B28832-8757-284D-BE12-68AC9A84D29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文本框 6">
            <a:extLst>
              <a:ext uri="{FF2B5EF4-FFF2-40B4-BE49-F238E27FC236}">
                <a16:creationId xmlns:a16="http://schemas.microsoft.com/office/drawing/2014/main" id="{670D3325-4218-A44F-829C-D8E30CD095C0}"/>
              </a:ext>
            </a:extLst>
          </p:cNvPr>
          <p:cNvSpPr txBox="1"/>
          <p:nvPr/>
        </p:nvSpPr>
        <p:spPr>
          <a:xfrm>
            <a:off x="3419872" y="2261401"/>
            <a:ext cx="4660710" cy="400110"/>
          </a:xfrm>
          <a:prstGeom prst="rect">
            <a:avLst/>
          </a:prstGeom>
          <a:noFill/>
        </p:spPr>
        <p:txBody>
          <a:bodyPr wrap="square">
            <a:spAutoFit/>
          </a:bodyPr>
          <a:lstStyle/>
          <a:p>
            <a:r>
              <a:rPr lang="zh-CN" altLang="en-US" sz="2000" b="1" dirty="0">
                <a:solidFill>
                  <a:schemeClr val="accent1"/>
                </a:solidFill>
              </a:rPr>
              <a:t>原子更新技术</a:t>
            </a:r>
            <a:endParaRPr lang="en-US" altLang="zh-CN" sz="2000" b="1" dirty="0">
              <a:solidFill>
                <a:schemeClr val="accent1"/>
              </a:solidFill>
            </a:endParaRPr>
          </a:p>
        </p:txBody>
      </p:sp>
      <p:sp>
        <p:nvSpPr>
          <p:cNvPr id="8" name="右大括号 7">
            <a:extLst>
              <a:ext uri="{FF2B5EF4-FFF2-40B4-BE49-F238E27FC236}">
                <a16:creationId xmlns:a16="http://schemas.microsoft.com/office/drawing/2014/main" id="{76FEE3C2-A1DE-D84F-823B-3E041558973E}"/>
              </a:ext>
            </a:extLst>
          </p:cNvPr>
          <p:cNvSpPr/>
          <p:nvPr/>
        </p:nvSpPr>
        <p:spPr>
          <a:xfrm>
            <a:off x="3131840" y="2065412"/>
            <a:ext cx="144016" cy="792088"/>
          </a:xfrm>
          <a:prstGeom prst="rightBrace">
            <a:avLst>
              <a:gd name="adj1" fmla="val 3323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1836086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3AF090E-1E95-584A-82BD-B87F87DFC615}"/>
              </a:ext>
            </a:extLst>
          </p:cNvPr>
          <p:cNvSpPr>
            <a:spLocks noGrp="1"/>
          </p:cNvSpPr>
          <p:nvPr>
            <p:ph type="title"/>
          </p:nvPr>
        </p:nvSpPr>
        <p:spPr/>
        <p:txBody>
          <a:bodyPr/>
          <a:lstStyle/>
          <a:p>
            <a:r>
              <a:rPr lang="en-US" altLang="zh-CN" dirty="0"/>
              <a:t>Soft</a:t>
            </a:r>
            <a:r>
              <a:rPr lang="zh-CN" altLang="en-US" dirty="0"/>
              <a:t> </a:t>
            </a:r>
            <a:r>
              <a:rPr lang="en-US" altLang="zh-CN" dirty="0"/>
              <a:t>updates</a:t>
            </a:r>
            <a:endParaRPr lang="en-CN" dirty="0"/>
          </a:p>
        </p:txBody>
      </p:sp>
      <p:sp>
        <p:nvSpPr>
          <p:cNvPr id="7" name="Text Placeholder 6">
            <a:extLst>
              <a:ext uri="{FF2B5EF4-FFF2-40B4-BE49-F238E27FC236}">
                <a16:creationId xmlns:a16="http://schemas.microsoft.com/office/drawing/2014/main" id="{EBED6BA0-1B03-6449-AA99-CA8352954B1A}"/>
              </a:ext>
            </a:extLst>
          </p:cNvPr>
          <p:cNvSpPr>
            <a:spLocks noGrp="1"/>
          </p:cNvSpPr>
          <p:nvPr>
            <p:ph type="body" idx="1"/>
          </p:nvPr>
        </p:nvSpPr>
        <p:spPr/>
        <p:txBody>
          <a:bodyPr/>
          <a:lstStyle/>
          <a:p>
            <a:endParaRPr lang="en-CN"/>
          </a:p>
        </p:txBody>
      </p:sp>
      <p:sp>
        <p:nvSpPr>
          <p:cNvPr id="4" name="Slide Number Placeholder 3">
            <a:extLst>
              <a:ext uri="{FF2B5EF4-FFF2-40B4-BE49-F238E27FC236}">
                <a16:creationId xmlns:a16="http://schemas.microsoft.com/office/drawing/2014/main" id="{12681AB2-00A9-514B-A025-EB03B6EBA28F}"/>
              </a:ext>
            </a:extLst>
          </p:cNvPr>
          <p:cNvSpPr>
            <a:spLocks noGrp="1"/>
          </p:cNvSpPr>
          <p:nvPr>
            <p:ph type="sldNum" sz="quarter" idx="12"/>
          </p:nvPr>
        </p:nvSpPr>
        <p:spPr/>
        <p:txBody>
          <a:bodyPr/>
          <a:lstStyle/>
          <a:p>
            <a:fld id="{ADE361C3-C043-4A6E-BDCE-8DA1E7D90A3B}" type="slidenum">
              <a:rPr lang="zh-CN" altLang="en-US" smtClean="0"/>
              <a:t>64</a:t>
            </a:fld>
            <a:endParaRPr lang="zh-CN" altLang="en-US"/>
          </a:p>
        </p:txBody>
      </p:sp>
      <p:sp>
        <p:nvSpPr>
          <p:cNvPr id="5" name="Footer Placeholder 4">
            <a:extLst>
              <a:ext uri="{FF2B5EF4-FFF2-40B4-BE49-F238E27FC236}">
                <a16:creationId xmlns:a16="http://schemas.microsoft.com/office/drawing/2014/main" id="{35AB93F5-52A8-8441-87E4-28BE76E8A5D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1353749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a:xfrm>
            <a:off x="457200" y="1129308"/>
            <a:ext cx="8229600" cy="3975829"/>
          </a:xfrm>
        </p:spPr>
        <p:txBody>
          <a:bodyPr>
            <a:normAutofit/>
          </a:bodyPr>
          <a:lstStyle/>
          <a:p>
            <a:r>
              <a:rPr lang="zh-CN" altLang="en-US" sz="2000" b="0" dirty="0"/>
              <a:t>一些不一致情况是</a:t>
            </a:r>
            <a:r>
              <a:rPr lang="zh-CN" altLang="en-US" sz="2000" b="0" dirty="0">
                <a:solidFill>
                  <a:schemeClr val="accent1"/>
                </a:solidFill>
              </a:rPr>
              <a:t>良性</a:t>
            </a:r>
            <a:r>
              <a:rPr lang="zh-CN" altLang="en-US" sz="2000" b="0" dirty="0"/>
              <a:t>的</a:t>
            </a:r>
            <a:endParaRPr lang="en-US" altLang="zh-CN" sz="2000" b="0" dirty="0"/>
          </a:p>
          <a:p>
            <a:pPr lvl="1"/>
            <a:r>
              <a:rPr lang="zh-CN" altLang="en-US" sz="1800" dirty="0"/>
              <a:t>某</a:t>
            </a:r>
            <a:r>
              <a:rPr lang="en-US" altLang="zh-CN" sz="1800" dirty="0" err="1"/>
              <a:t>inode</a:t>
            </a:r>
            <a:r>
              <a:rPr lang="zh-CN" altLang="en-US" sz="1800" dirty="0"/>
              <a:t>被标记为占用，却从文件系统中无法遍历到该</a:t>
            </a:r>
            <a:r>
              <a:rPr lang="en-US" altLang="zh-CN" sz="1800" dirty="0" err="1"/>
              <a:t>inode</a:t>
            </a:r>
            <a:endParaRPr lang="en-US" altLang="zh-CN" sz="1800" dirty="0"/>
          </a:p>
          <a:p>
            <a:pPr lvl="2"/>
            <a:r>
              <a:rPr lang="zh-CN" altLang="en-US" sz="1800" dirty="0"/>
              <a:t>如创建文件：</a:t>
            </a:r>
            <a:endParaRPr lang="en-US" altLang="zh-CN" sz="1800" dirty="0"/>
          </a:p>
          <a:p>
            <a:pPr marL="1314450" lvl="3" indent="0">
              <a:buNone/>
            </a:pPr>
            <a:r>
              <a:rPr lang="en-US" altLang="zh-CN" sz="1600" dirty="0"/>
              <a:t>1.</a:t>
            </a:r>
            <a:r>
              <a:rPr lang="zh-CN" altLang="en-US" sz="1600" dirty="0"/>
              <a:t> 标记</a:t>
            </a:r>
            <a:r>
              <a:rPr lang="en-US" altLang="zh-CN" sz="1600" dirty="0" err="1"/>
              <a:t>inode</a:t>
            </a:r>
            <a:r>
              <a:rPr lang="zh-CN" altLang="en-US" sz="1600" dirty="0"/>
              <a:t>为占用</a:t>
            </a:r>
            <a:br>
              <a:rPr lang="en-US" altLang="zh-CN" sz="1600" dirty="0"/>
            </a:br>
            <a:r>
              <a:rPr lang="en-US" altLang="zh-CN" sz="1600" dirty="0"/>
              <a:t>2.</a:t>
            </a:r>
            <a:r>
              <a:rPr lang="zh-CN" altLang="en-US" sz="1600" dirty="0"/>
              <a:t> 初始化</a:t>
            </a:r>
            <a:r>
              <a:rPr lang="en-US" altLang="zh-CN" sz="1600" dirty="0" err="1"/>
              <a:t>inode</a:t>
            </a:r>
            <a:br>
              <a:rPr lang="en-US" altLang="zh-CN" sz="1600" dirty="0"/>
            </a:br>
            <a:r>
              <a:rPr lang="en-US" altLang="zh-CN" sz="1600" dirty="0"/>
              <a:t>3.</a:t>
            </a:r>
            <a:r>
              <a:rPr lang="zh-CN" altLang="en-US" sz="1600" dirty="0"/>
              <a:t> 将目录项写入目录中</a:t>
            </a:r>
            <a:endParaRPr lang="en-US" altLang="zh-CN" sz="1600" b="0" dirty="0"/>
          </a:p>
          <a:p>
            <a:pPr lvl="1"/>
            <a:r>
              <a:rPr lang="zh-CN" altLang="en-US" sz="1800" b="0" dirty="0"/>
              <a:t>合理安排修改写入磁盘的</a:t>
            </a:r>
            <a:r>
              <a:rPr lang="zh-CN" altLang="en-US" sz="1800" b="0" dirty="0">
                <a:solidFill>
                  <a:schemeClr val="accent1"/>
                </a:solidFill>
              </a:rPr>
              <a:t>次序（</a:t>
            </a:r>
            <a:r>
              <a:rPr lang="en-US" altLang="zh-CN" sz="1800" b="0" dirty="0">
                <a:solidFill>
                  <a:schemeClr val="accent1"/>
                </a:solidFill>
              </a:rPr>
              <a:t>order</a:t>
            </a:r>
            <a:r>
              <a:rPr lang="zh-CN" altLang="en-US" sz="1800" b="0" dirty="0">
                <a:solidFill>
                  <a:schemeClr val="accent1"/>
                </a:solidFill>
              </a:rPr>
              <a:t>）</a:t>
            </a:r>
            <a:r>
              <a:rPr lang="zh-CN" altLang="en-US" sz="1800" b="0" dirty="0"/>
              <a:t>，可</a:t>
            </a:r>
            <a:r>
              <a:rPr lang="zh-CN" altLang="en-US" sz="1800" b="0" dirty="0">
                <a:solidFill>
                  <a:schemeClr val="accent1"/>
                </a:solidFill>
              </a:rPr>
              <a:t>避免恶性不一致</a:t>
            </a:r>
            <a:r>
              <a:rPr lang="zh-CN" altLang="en-US" sz="1800" b="0" dirty="0"/>
              <a:t>情况的发生</a:t>
            </a:r>
            <a:endParaRPr lang="en-US" altLang="zh-CN" sz="1800" b="0" dirty="0"/>
          </a:p>
          <a:p>
            <a:r>
              <a:rPr lang="zh-CN" altLang="en-US" sz="2000" b="0" dirty="0"/>
              <a:t>相对其它方法的优势</a:t>
            </a:r>
            <a:endParaRPr lang="en-US" altLang="zh-CN" sz="2000" b="0" dirty="0"/>
          </a:p>
          <a:p>
            <a:pPr lvl="1"/>
            <a:r>
              <a:rPr lang="zh-CN" altLang="en-US" sz="1800" b="0" dirty="0"/>
              <a:t>无需恢复便可挂载使用</a:t>
            </a:r>
            <a:endParaRPr lang="en-US" altLang="zh-CN" sz="1800" b="0" dirty="0"/>
          </a:p>
          <a:p>
            <a:pPr lvl="1"/>
            <a:r>
              <a:rPr lang="zh-CN" altLang="en-US" sz="1800" b="0" dirty="0"/>
              <a:t>无需在磁盘上记录额外信息</a:t>
            </a:r>
            <a:endParaRPr lang="en-US" altLang="zh-CN" sz="1800" b="0"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65</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Lightning Bolt 23">
            <a:extLst>
              <a:ext uri="{FF2B5EF4-FFF2-40B4-BE49-F238E27FC236}">
                <a16:creationId xmlns:a16="http://schemas.microsoft.com/office/drawing/2014/main" id="{776C7D23-9300-1D46-8652-7303FD0499D8}"/>
              </a:ext>
            </a:extLst>
          </p:cNvPr>
          <p:cNvSpPr/>
          <p:nvPr/>
        </p:nvSpPr>
        <p:spPr>
          <a:xfrm>
            <a:off x="3821537" y="2779004"/>
            <a:ext cx="174399" cy="294520"/>
          </a:xfrm>
          <a:prstGeom prst="lightningBolt">
            <a:avLst/>
          </a:prstGeom>
          <a:solidFill>
            <a:srgbClr val="FFC000"/>
          </a:solidFill>
          <a:ln>
            <a:solidFill>
              <a:srgbClr val="FF9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699379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5978648" y="2725448"/>
            <a:ext cx="2777490" cy="1554879"/>
          </a:xfrm>
          <a:prstGeom prst="roundRect">
            <a:avLst>
              <a:gd name="adj" fmla="val 8791"/>
            </a:avLst>
          </a:prstGeom>
          <a:ln w="38100">
            <a:solidFill>
              <a:schemeClr val="tx1"/>
            </a:solidFill>
          </a:ln>
        </p:spPr>
        <p:style>
          <a:lnRef idx="2">
            <a:schemeClr val="accent2"/>
          </a:lnRef>
          <a:fillRef idx="1">
            <a:schemeClr val="lt1"/>
          </a:fillRef>
          <a:effectRef idx="0">
            <a:schemeClr val="accent2"/>
          </a:effectRef>
          <a:fontRef idx="minor">
            <a:schemeClr val="dk1"/>
          </a:fontRef>
        </p:style>
        <p:txBody>
          <a:bodyPr rtlCol="0" anchor="t" anchorCtr="0"/>
          <a:lstStyle/>
          <a:p>
            <a:pPr defTabSz="685800">
              <a:defRPr/>
            </a:pPr>
            <a:r>
              <a:rPr lang="en-US" altLang="zh-CN" b="1" dirty="0">
                <a:solidFill>
                  <a:srgbClr val="0165C0"/>
                </a:solidFill>
                <a:latin typeface="Calibri" panose="020F0502020204030204"/>
                <a:ea typeface="DengXian" panose="02010600030101010101" pitchFamily="2" charset="-122"/>
              </a:rPr>
              <a:t>DISK</a:t>
            </a:r>
            <a:endParaRPr lang="en-US" b="1" dirty="0">
              <a:solidFill>
                <a:srgbClr val="0165C0"/>
              </a:solidFill>
              <a:latin typeface="Calibri" panose="020F0502020204030204"/>
            </a:endParaRPr>
          </a:p>
        </p:txBody>
      </p:sp>
      <p:sp>
        <p:nvSpPr>
          <p:cNvPr id="2" name="Title 1"/>
          <p:cNvSpPr>
            <a:spLocks noGrp="1"/>
          </p:cNvSpPr>
          <p:nvPr>
            <p:ph type="title"/>
          </p:nvPr>
        </p:nvSpPr>
        <p:spPr/>
        <p:txBody>
          <a:bodyPr>
            <a:normAutofit/>
          </a:bodyPr>
          <a:lstStyle/>
          <a:p>
            <a:r>
              <a:rPr lang="en-US" dirty="0"/>
              <a:t>Soft Updates</a:t>
            </a:r>
            <a:r>
              <a:rPr lang="zh-CN" altLang="en-US" dirty="0"/>
              <a:t>的总体思想</a:t>
            </a:r>
            <a:endParaRPr lang="en-US" dirty="0"/>
          </a:p>
        </p:txBody>
      </p:sp>
      <p:sp>
        <p:nvSpPr>
          <p:cNvPr id="3" name="Content Placeholder 2"/>
          <p:cNvSpPr>
            <a:spLocks noGrp="1"/>
          </p:cNvSpPr>
          <p:nvPr>
            <p:ph idx="1"/>
          </p:nvPr>
        </p:nvSpPr>
        <p:spPr>
          <a:xfrm>
            <a:off x="37532" y="1290156"/>
            <a:ext cx="8229600" cy="3771636"/>
          </a:xfrm>
        </p:spPr>
        <p:txBody>
          <a:bodyPr>
            <a:normAutofit/>
          </a:bodyPr>
          <a:lstStyle/>
          <a:p>
            <a:r>
              <a:rPr lang="en-US" dirty="0" err="1"/>
              <a:t>最新的元数据在内存中</a:t>
            </a:r>
            <a:endParaRPr lang="en-US" dirty="0"/>
          </a:p>
          <a:p>
            <a:pPr lvl="1" indent="-342900">
              <a:buFont typeface="Wingdings" charset="2"/>
              <a:buChar char="§"/>
            </a:pPr>
            <a:r>
              <a:rPr lang="en-US" dirty="0"/>
              <a:t>Updated in DRAM with dependency tracked</a:t>
            </a:r>
          </a:p>
          <a:p>
            <a:pPr lvl="1" indent="-342900">
              <a:buFont typeface="Wingdings" charset="2"/>
              <a:buChar char="ü"/>
            </a:pPr>
            <a:r>
              <a:rPr lang="en-US" dirty="0"/>
              <a:t>DRAM performance</a:t>
            </a:r>
          </a:p>
          <a:p>
            <a:pPr lvl="1" indent="-342900">
              <a:buFont typeface="Wingdings" charset="2"/>
              <a:buChar char="ü"/>
            </a:pPr>
            <a:r>
              <a:rPr lang="en-US" dirty="0"/>
              <a:t>No synchronous disk writes</a:t>
            </a:r>
          </a:p>
          <a:p>
            <a:r>
              <a:rPr lang="en-US" dirty="0" err="1"/>
              <a:t>磁盘中的元数据总是一致的</a:t>
            </a:r>
            <a:endParaRPr lang="en-US" dirty="0"/>
          </a:p>
          <a:p>
            <a:pPr lvl="1" indent="-342900">
              <a:buFont typeface="Wingdings" charset="2"/>
              <a:buChar char="§"/>
            </a:pPr>
            <a:r>
              <a:rPr lang="en-US" dirty="0"/>
              <a:t>Persisted to disks with dependency enforced</a:t>
            </a:r>
          </a:p>
          <a:p>
            <a:pPr lvl="1" indent="-342900">
              <a:buFont typeface="Wingdings" charset="2"/>
              <a:buChar char="ü"/>
            </a:pPr>
            <a:r>
              <a:rPr lang="en-US" dirty="0"/>
              <a:t>Always consistent</a:t>
            </a:r>
          </a:p>
          <a:p>
            <a:pPr lvl="1" indent="-342900">
              <a:buFont typeface="Wingdings" charset="2"/>
              <a:buChar char="ü"/>
            </a:pPr>
            <a:r>
              <a:rPr lang="en-US" dirty="0">
                <a:solidFill>
                  <a:schemeClr val="accent1"/>
                </a:solidFill>
              </a:rPr>
              <a:t>Immediately usable after crash</a:t>
            </a:r>
          </a:p>
        </p:txBody>
      </p:sp>
      <p:sp>
        <p:nvSpPr>
          <p:cNvPr id="7" name="Rounded Rectangle 6"/>
          <p:cNvSpPr/>
          <p:nvPr/>
        </p:nvSpPr>
        <p:spPr>
          <a:xfrm>
            <a:off x="5964107" y="1159433"/>
            <a:ext cx="2777490" cy="1569425"/>
          </a:xfrm>
          <a:prstGeom prst="roundRect">
            <a:avLst>
              <a:gd name="adj" fmla="val 8084"/>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t" anchorCtr="0"/>
          <a:lstStyle/>
          <a:p>
            <a:pPr defTabSz="685800">
              <a:defRPr/>
            </a:pPr>
            <a:r>
              <a:rPr lang="en-US" altLang="zh-CN" b="1" dirty="0">
                <a:solidFill>
                  <a:srgbClr val="C00000"/>
                </a:solidFill>
                <a:latin typeface="Calibri" panose="020F0502020204030204"/>
                <a:ea typeface="DengXian" panose="02010600030101010101" pitchFamily="2" charset="-122"/>
              </a:rPr>
              <a:t>DRAM (Page cache)</a:t>
            </a:r>
            <a:endParaRPr lang="en-US" b="1" dirty="0">
              <a:solidFill>
                <a:srgbClr val="C00000"/>
              </a:solidFill>
              <a:latin typeface="Calibri" panose="020F0502020204030204"/>
            </a:endParaRPr>
          </a:p>
        </p:txBody>
      </p:sp>
      <p:sp>
        <p:nvSpPr>
          <p:cNvPr id="8" name="Rectangle 7"/>
          <p:cNvSpPr/>
          <p:nvPr/>
        </p:nvSpPr>
        <p:spPr>
          <a:xfrm>
            <a:off x="6122247" y="1607437"/>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9" name="Rectangle 8"/>
          <p:cNvSpPr/>
          <p:nvPr/>
        </p:nvSpPr>
        <p:spPr>
          <a:xfrm>
            <a:off x="6723940" y="190828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0" name="Straight Arrow Connector 9"/>
          <p:cNvCxnSpPr>
            <a:stCxn id="9" idx="3"/>
            <a:endCxn id="10" idx="1"/>
          </p:cNvCxnSpPr>
          <p:nvPr/>
        </p:nvCxnSpPr>
        <p:spPr>
          <a:xfrm>
            <a:off x="6523376" y="1808002"/>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154890" y="4395113"/>
            <a:ext cx="2440476" cy="369332"/>
          </a:xfrm>
          <a:prstGeom prst="rect">
            <a:avLst/>
          </a:prstGeom>
          <a:noFill/>
        </p:spPr>
        <p:txBody>
          <a:bodyPr wrap="none" rtlCol="0">
            <a:spAutoFit/>
          </a:bodyPr>
          <a:lstStyle/>
          <a:p>
            <a:pPr defTabSz="685800">
              <a:defRPr/>
            </a:pPr>
            <a:r>
              <a:rPr lang="en-US">
                <a:solidFill>
                  <a:prstClr val="black"/>
                </a:solidFill>
                <a:latin typeface="Calibri" panose="020F0502020204030204"/>
              </a:rPr>
              <a:t>Traditional </a:t>
            </a:r>
            <a:r>
              <a:rPr lang="en-US" dirty="0">
                <a:solidFill>
                  <a:prstClr val="black"/>
                </a:solidFill>
                <a:latin typeface="Calibri" panose="020F0502020204030204"/>
              </a:rPr>
              <a:t>Soft Updates</a:t>
            </a:r>
          </a:p>
        </p:txBody>
      </p:sp>
      <p:sp>
        <p:nvSpPr>
          <p:cNvPr id="12" name="Rectangle 11"/>
          <p:cNvSpPr/>
          <p:nvPr/>
        </p:nvSpPr>
        <p:spPr>
          <a:xfrm>
            <a:off x="7370583" y="1707719"/>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13" name="Straight Arrow Connector 12"/>
          <p:cNvCxnSpPr/>
          <p:nvPr/>
        </p:nvCxnSpPr>
        <p:spPr>
          <a:xfrm flipV="1">
            <a:off x="7125069" y="1908284"/>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8017226" y="197749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cxnSp>
        <p:nvCxnSpPr>
          <p:cNvPr id="15" name="Straight Arrow Connector 14"/>
          <p:cNvCxnSpPr>
            <a:stCxn id="21" idx="3"/>
          </p:cNvCxnSpPr>
          <p:nvPr/>
        </p:nvCxnSpPr>
        <p:spPr>
          <a:xfrm>
            <a:off x="7771712" y="1908284"/>
            <a:ext cx="245515" cy="26977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122247" y="3113574"/>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sp>
        <p:nvSpPr>
          <p:cNvPr id="17" name="Rectangle 16"/>
          <p:cNvSpPr/>
          <p:nvPr/>
        </p:nvSpPr>
        <p:spPr>
          <a:xfrm>
            <a:off x="6723940" y="3414420"/>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endParaRPr lang="en-US" sz="1350">
              <a:solidFill>
                <a:prstClr val="black"/>
              </a:solidFill>
              <a:latin typeface="Calibri" panose="020F0502020204030204"/>
            </a:endParaRPr>
          </a:p>
        </p:txBody>
      </p:sp>
      <p:cxnSp>
        <p:nvCxnSpPr>
          <p:cNvPr id="19" name="Straight Arrow Connector 18"/>
          <p:cNvCxnSpPr/>
          <p:nvPr/>
        </p:nvCxnSpPr>
        <p:spPr>
          <a:xfrm>
            <a:off x="6523376" y="3314138"/>
            <a:ext cx="200564" cy="3008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21" idx="3"/>
          </p:cNvCxnSpPr>
          <p:nvPr/>
        </p:nvCxnSpPr>
        <p:spPr>
          <a:xfrm>
            <a:off x="7771712" y="3414420"/>
            <a:ext cx="245515" cy="1821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7370583" y="3213856"/>
            <a:ext cx="401129" cy="401129"/>
          </a:xfrm>
          <a:prstGeom prst="rect">
            <a:avLst/>
          </a:prstGeom>
          <a:solidFill>
            <a:schemeClr val="accent1">
              <a:lumMod val="20000"/>
              <a:lumOff val="80000"/>
            </a:schemeClr>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a:solidFill>
                <a:prstClr val="black"/>
              </a:solidFill>
              <a:latin typeface="Calibri" panose="020F0502020204030204"/>
            </a:endParaRPr>
          </a:p>
        </p:txBody>
      </p:sp>
      <p:cxnSp>
        <p:nvCxnSpPr>
          <p:cNvPr id="22" name="Straight Arrow Connector 21"/>
          <p:cNvCxnSpPr/>
          <p:nvPr/>
        </p:nvCxnSpPr>
        <p:spPr>
          <a:xfrm flipV="1">
            <a:off x="7125069" y="3414421"/>
            <a:ext cx="245515" cy="2005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8017256" y="1977493"/>
            <a:ext cx="401129" cy="401129"/>
          </a:xfrm>
          <a:prstGeom prst="rect">
            <a:avLst/>
          </a:prstGeom>
          <a:solidFill>
            <a:srgbClr val="FF8286"/>
          </a:solidFill>
          <a:ln w="2540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defTabSz="685800">
              <a:defRPr/>
            </a:pPr>
            <a:r>
              <a:rPr lang="zh-CN" altLang="en-US" sz="1350">
                <a:solidFill>
                  <a:prstClr val="black"/>
                </a:solidFill>
                <a:latin typeface="Calibri" panose="020F0502020204030204"/>
                <a:ea typeface="DengXian" panose="02010600030101010101" pitchFamily="2" charset="-122"/>
              </a:rPr>
              <a:t> </a:t>
            </a:r>
            <a:endParaRPr lang="en-US" sz="1350" dirty="0">
              <a:solidFill>
                <a:prstClr val="black"/>
              </a:solidFill>
              <a:latin typeface="Calibri" panose="020F0502020204030204"/>
            </a:endParaRPr>
          </a:p>
        </p:txBody>
      </p:sp>
      <p:grpSp>
        <p:nvGrpSpPr>
          <p:cNvPr id="50" name="Group 49"/>
          <p:cNvGrpSpPr/>
          <p:nvPr/>
        </p:nvGrpSpPr>
        <p:grpSpPr>
          <a:xfrm>
            <a:off x="8017227" y="1250390"/>
            <a:ext cx="668800" cy="562890"/>
            <a:chOff x="10689635" y="1286186"/>
            <a:chExt cx="891733" cy="750520"/>
          </a:xfrm>
        </p:grpSpPr>
        <p:sp>
          <p:nvSpPr>
            <p:cNvPr id="24" name="Rectangle 23"/>
            <p:cNvSpPr/>
            <p:nvPr/>
          </p:nvSpPr>
          <p:spPr>
            <a:xfrm>
              <a:off x="10689635" y="1399220"/>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6" name="Rectangle 25"/>
            <p:cNvSpPr/>
            <p:nvPr/>
          </p:nvSpPr>
          <p:spPr>
            <a:xfrm>
              <a:off x="10689635" y="1800559"/>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7" name="Rectangle 26"/>
            <p:cNvSpPr/>
            <p:nvPr/>
          </p:nvSpPr>
          <p:spPr>
            <a:xfrm>
              <a:off x="11238468" y="1286186"/>
              <a:ext cx="342900" cy="236147"/>
            </a:xfrm>
            <a:prstGeom prst="rect">
              <a:avLst/>
            </a:prstGeom>
            <a:solidFill>
              <a:schemeClr val="accent3">
                <a:lumMod val="20000"/>
                <a:lumOff val="80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sp>
          <p:nvSpPr>
            <p:cNvPr id="28" name="Oval 27"/>
            <p:cNvSpPr/>
            <p:nvPr/>
          </p:nvSpPr>
          <p:spPr>
            <a:xfrm>
              <a:off x="11211701" y="1723501"/>
              <a:ext cx="304800" cy="304800"/>
            </a:xfrm>
            <a:prstGeom prst="ellipse">
              <a:avLst/>
            </a:prstGeom>
            <a:solidFill>
              <a:schemeClr val="bg2"/>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cxnSp>
          <p:nvCxnSpPr>
            <p:cNvPr id="32" name="Straight Arrow Connector 31"/>
            <p:cNvCxnSpPr>
              <a:stCxn id="24" idx="3"/>
              <a:endCxn id="27" idx="1"/>
            </p:cNvCxnSpPr>
            <p:nvPr/>
          </p:nvCxnSpPr>
          <p:spPr>
            <a:xfrm flipV="1">
              <a:off x="11032535" y="1404260"/>
              <a:ext cx="205933" cy="11303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7" idx="2"/>
              <a:endCxn id="28" idx="0"/>
            </p:cNvCxnSpPr>
            <p:nvPr/>
          </p:nvCxnSpPr>
          <p:spPr>
            <a:xfrm flipH="1">
              <a:off x="11364101" y="1522333"/>
              <a:ext cx="45817" cy="20116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8" idx="2"/>
              <a:endCxn id="26" idx="3"/>
            </p:cNvCxnSpPr>
            <p:nvPr/>
          </p:nvCxnSpPr>
          <p:spPr>
            <a:xfrm flipH="1">
              <a:off x="11032535" y="1875901"/>
              <a:ext cx="179166" cy="427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221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2"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par>
                                <p:cTn id="17" presetID="10" presetClass="entr" presetSubtype="0" fill="hold"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58" presetClass="path" presetSubtype="0" accel="50000" decel="50000" fill="hold" nodeType="withEffect">
                                  <p:stCondLst>
                                    <p:cond delay="0"/>
                                  </p:stCondLst>
                                  <p:childTnLst>
                                    <p:animMotion origin="layout" path="M -1.25E-6 3.7037E-7 L 0.03998 0.06181 C 0.04896 0.075 0.05404 0.09444 0.05404 0.11481 C 0.05404 0.13796 0.04896 0.15625 0.03998 0.16944 L -1.25E-6 0.23148 " pathEditMode="relative" rAng="0" ptsTypes="AAAAA">
                                      <p:cBhvr>
                                        <p:cTn id="26" dur="2000" fill="hold"/>
                                        <p:tgtEl>
                                          <p:spTgt spid="50"/>
                                        </p:tgtEl>
                                        <p:attrNameLst>
                                          <p:attrName>ppt_x</p:attrName>
                                          <p:attrName>ppt_y</p:attrName>
                                        </p:attrNameLst>
                                      </p:cBhvr>
                                      <p:rCtr x="2695" y="11574"/>
                                    </p:animMotion>
                                  </p:childTnLst>
                                </p:cTn>
                              </p:par>
                              <p:par>
                                <p:cTn id="27" presetID="42" presetClass="path" presetSubtype="0" accel="50000" decel="50000" fill="hold" grpId="0" nodeType="withEffect">
                                  <p:stCondLst>
                                    <p:cond delay="0"/>
                                  </p:stCondLst>
                                  <p:childTnLst>
                                    <p:animMotion origin="layout" path="M 2.08333E-6 -4.07407E-6 L 2.08333E-6 0.0882 " pathEditMode="relative" rAng="0" ptsTypes="AA">
                                      <p:cBhvr>
                                        <p:cTn id="28" dur="2000" fill="hold"/>
                                        <p:tgtEl>
                                          <p:spTgt spid="51"/>
                                        </p:tgtEl>
                                        <p:attrNameLst>
                                          <p:attrName>ppt_x</p:attrName>
                                          <p:attrName>ppt_y</p:attrName>
                                        </p:attrNameLst>
                                      </p:cBhvr>
                                      <p:rCtr x="0" y="4398"/>
                                    </p:animMotion>
                                  </p:childTnLst>
                                </p:cTn>
                              </p:par>
                            </p:childTnLst>
                          </p:cTn>
                        </p:par>
                        <p:par>
                          <p:cTn id="29" fill="hold">
                            <p:stCondLst>
                              <p:cond delay="2000"/>
                            </p:stCondLst>
                            <p:childTnLst>
                              <p:par>
                                <p:cTn id="30" presetID="10" presetClass="exit" presetSubtype="0" fill="hold" nodeType="afterEffect">
                                  <p:stCondLst>
                                    <p:cond delay="0"/>
                                  </p:stCondLst>
                                  <p:childTnLst>
                                    <p:animEffect transition="out" filter="fade">
                                      <p:cBhvr>
                                        <p:cTn id="31" dur="2000"/>
                                        <p:tgtEl>
                                          <p:spTgt spid="50"/>
                                        </p:tgtEl>
                                      </p:cBhvr>
                                    </p:animEffect>
                                    <p:set>
                                      <p:cBhvr>
                                        <p:cTn id="32" dur="1" fill="hold">
                                          <p:stCondLst>
                                            <p:cond delay="1999"/>
                                          </p:stCondLst>
                                        </p:cTn>
                                        <p:tgtEl>
                                          <p:spTgt spid="50"/>
                                        </p:tgtEl>
                                        <p:attrNameLst>
                                          <p:attrName>style.visibility</p:attrName>
                                        </p:attrNameLst>
                                      </p:cBhvr>
                                      <p:to>
                                        <p:strVal val="hidden"/>
                                      </p:to>
                                    </p:set>
                                  </p:childTnLst>
                                </p:cTn>
                              </p:par>
                              <p:par>
                                <p:cTn id="33" presetID="42" presetClass="path" presetSubtype="0" accel="50000" decel="50000" fill="hold" grpId="1" nodeType="withEffect">
                                  <p:stCondLst>
                                    <p:cond delay="0"/>
                                  </p:stCondLst>
                                  <p:childTnLst>
                                    <p:animMotion origin="layout" path="M 2.08333E-6 0.10024 L 2.08333E-6 0.27593 " pathEditMode="relative" rAng="0" ptsTypes="AA">
                                      <p:cBhvr>
                                        <p:cTn id="34" dur="1000" fill="hold"/>
                                        <p:tgtEl>
                                          <p:spTgt spid="51"/>
                                        </p:tgtEl>
                                        <p:attrNameLst>
                                          <p:attrName>ppt_x</p:attrName>
                                          <p:attrName>ppt_y</p:attrName>
                                        </p:attrNameLst>
                                      </p:cBhvr>
                                      <p:rCtr x="0" y="8773"/>
                                    </p:animMotion>
                                  </p:childTnLst>
                                </p:cTn>
                              </p:par>
                              <p:par>
                                <p:cTn id="35" presetID="1" presetClass="emph" presetSubtype="2" fill="hold" nodeType="withEffect">
                                  <p:stCondLst>
                                    <p:cond delay="0"/>
                                  </p:stCondLst>
                                  <p:childTnLst>
                                    <p:animClr clrSpc="rgb" dir="cw">
                                      <p:cBhvr>
                                        <p:cTn id="36" dur="1000" fill="hold"/>
                                        <p:tgtEl>
                                          <p:spTgt spid="51"/>
                                        </p:tgtEl>
                                        <p:attrNameLst>
                                          <p:attrName>fillcolor</p:attrName>
                                        </p:attrNameLst>
                                      </p:cBhvr>
                                      <p:to>
                                        <a:srgbClr val="DEEBF7"/>
                                      </p:to>
                                    </p:animClr>
                                    <p:set>
                                      <p:cBhvr>
                                        <p:cTn id="37" dur="1000" fill="hold"/>
                                        <p:tgtEl>
                                          <p:spTgt spid="51"/>
                                        </p:tgtEl>
                                        <p:attrNameLst>
                                          <p:attrName>fill.type</p:attrName>
                                        </p:attrNameLst>
                                      </p:cBhvr>
                                      <p:to>
                                        <p:strVal val="solid"/>
                                      </p:to>
                                    </p:set>
                                    <p:set>
                                      <p:cBhvr>
                                        <p:cTn id="38" dur="1000" fill="hold"/>
                                        <p:tgtEl>
                                          <p:spTgt spid="51"/>
                                        </p:tgtEl>
                                        <p:attrNameLst>
                                          <p:attrName>fill.on</p:attrName>
                                        </p:attrNameLst>
                                      </p:cBhvr>
                                      <p:to>
                                        <p:strVal val="true"/>
                                      </p:to>
                                    </p:set>
                                  </p:childTnLst>
                                </p:cTn>
                              </p:par>
                            </p:childTnLst>
                          </p:cTn>
                        </p:par>
                        <p:par>
                          <p:cTn id="39" fill="hold">
                            <p:stCondLst>
                              <p:cond delay="4000"/>
                            </p:stCondLst>
                            <p:childTnLst>
                              <p:par>
                                <p:cTn id="40" presetID="22" presetClass="entr" presetSubtype="8" fill="hold" nodeType="after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2" end="2"/>
                                            </p:txEl>
                                          </p:spTgt>
                                        </p:tgtEl>
                                        <p:attrNameLst>
                                          <p:attrName>style.visibility</p:attrName>
                                        </p:attrNameLst>
                                      </p:cBhvr>
                                      <p:to>
                                        <p:strVal val="visible"/>
                                      </p:to>
                                    </p:set>
                                    <p:animEffect transition="in" filter="fade">
                                      <p:cBhvr>
                                        <p:cTn id="47" dur="500"/>
                                        <p:tgtEl>
                                          <p:spTgt spid="3">
                                            <p:txEl>
                                              <p:pRg st="2" end="2"/>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animEffect transition="in" filter="fade">
                                      <p:cBhvr>
                                        <p:cTn id="50" dur="50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500"/>
                                        <p:tgtEl>
                                          <p:spTgt spid="3">
                                            <p:txEl>
                                              <p:pRg st="6" end="6"/>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fade">
                                      <p:cBhvr>
                                        <p:cTn id="5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1" grpId="0" animBg="1"/>
      <p:bldP spid="51" grpId="1" animBg="1"/>
      <p:bldP spid="51" grpId="2"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r>
              <a:rPr lang="zh-CN" altLang="en-US" dirty="0"/>
              <a:t>的三个次序规则</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a:xfrm>
            <a:off x="457200" y="1129308"/>
            <a:ext cx="8229600" cy="3975829"/>
          </a:xfrm>
        </p:spPr>
        <p:txBody>
          <a:bodyPr>
            <a:normAutofit fontScale="92500"/>
          </a:bodyPr>
          <a:lstStyle/>
          <a:p>
            <a:pPr marL="0" indent="0">
              <a:buNone/>
            </a:pPr>
            <a:r>
              <a:rPr lang="en-US" altLang="zh-CN" dirty="0"/>
              <a:t>1.</a:t>
            </a:r>
            <a:r>
              <a:rPr lang="zh-CN" altLang="en-US" dirty="0"/>
              <a:t> 不要指向一个未初始化的结构</a:t>
            </a:r>
            <a:endParaRPr lang="en-US" altLang="zh-CN" dirty="0"/>
          </a:p>
          <a:p>
            <a:pPr lvl="1"/>
            <a:r>
              <a:rPr lang="zh-CN" altLang="en-US" dirty="0"/>
              <a:t>如：目录项指向一个</a:t>
            </a:r>
            <a:r>
              <a:rPr lang="en-US" altLang="zh-CN" dirty="0" err="1"/>
              <a:t>inode</a:t>
            </a:r>
            <a:r>
              <a:rPr lang="zh-CN" altLang="en-US" dirty="0"/>
              <a:t>之前，改</a:t>
            </a:r>
            <a:r>
              <a:rPr lang="en-US" altLang="zh-CN" dirty="0" err="1"/>
              <a:t>inode</a:t>
            </a:r>
            <a:r>
              <a:rPr lang="zh-CN" altLang="en-US" dirty="0"/>
              <a:t>结构应该先被初始化</a:t>
            </a:r>
            <a:endParaRPr lang="en-US" altLang="zh-CN" dirty="0"/>
          </a:p>
          <a:p>
            <a:pPr marL="400050" lvl="1" indent="0">
              <a:buNone/>
            </a:pPr>
            <a:endParaRPr lang="en-US" altLang="zh-CN" sz="1800" b="0" dirty="0"/>
          </a:p>
          <a:p>
            <a:pPr marL="0" indent="0">
              <a:buNone/>
            </a:pPr>
            <a:r>
              <a:rPr lang="en-US" altLang="zh-CN" dirty="0"/>
              <a:t>2.</a:t>
            </a:r>
            <a:r>
              <a:rPr lang="zh-CN" altLang="en-US" dirty="0"/>
              <a:t> 一个结构被指针指向时，不要重用该结构</a:t>
            </a:r>
            <a:endParaRPr lang="en-US" altLang="zh-CN" dirty="0"/>
          </a:p>
          <a:p>
            <a:pPr lvl="1"/>
            <a:r>
              <a:rPr lang="zh-CN" altLang="en-US" dirty="0"/>
              <a:t>如：当一个</a:t>
            </a:r>
            <a:r>
              <a:rPr lang="en-US" altLang="zh-CN" dirty="0" err="1"/>
              <a:t>inode</a:t>
            </a:r>
            <a:r>
              <a:rPr lang="zh-CN" altLang="en-US" dirty="0"/>
              <a:t>指向了一个数据块时，这个数据块不应该被重新分配给其他结构</a:t>
            </a:r>
            <a:endParaRPr lang="en-US" dirty="0"/>
          </a:p>
          <a:p>
            <a:pPr marL="400050" lvl="1" indent="0">
              <a:buNone/>
            </a:pPr>
            <a:endParaRPr lang="en-US" altLang="zh-CN" sz="1800" b="0" dirty="0"/>
          </a:p>
          <a:p>
            <a:pPr marL="0" indent="0">
              <a:buNone/>
            </a:pPr>
            <a:r>
              <a:rPr lang="en-US" altLang="zh-CN" dirty="0"/>
              <a:t>3.</a:t>
            </a:r>
            <a:r>
              <a:rPr lang="zh-CN" altLang="en-US" dirty="0"/>
              <a:t> 不要修改最后一个指向有用结构的指针</a:t>
            </a:r>
            <a:endParaRPr lang="en-US" dirty="0"/>
          </a:p>
          <a:p>
            <a:pPr lvl="1"/>
            <a:r>
              <a:rPr lang="zh-CN" altLang="en-US" dirty="0"/>
              <a:t>如：</a:t>
            </a:r>
            <a:r>
              <a:rPr lang="en-US" dirty="0"/>
              <a:t>Rename</a:t>
            </a:r>
            <a:r>
              <a:rPr lang="zh-CN" altLang="en-US" dirty="0"/>
              <a:t>文件时，在写入新的目录项前，不应删除旧的目录项</a:t>
            </a:r>
            <a:endParaRPr lang="en-US"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67</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7438849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DC32-D951-904C-9656-C9FE4C4B7B45}"/>
              </a:ext>
            </a:extLst>
          </p:cNvPr>
          <p:cNvSpPr>
            <a:spLocks noGrp="1"/>
          </p:cNvSpPr>
          <p:nvPr>
            <p:ph type="title"/>
          </p:nvPr>
        </p:nvSpPr>
        <p:spPr/>
        <p:txBody>
          <a:bodyPr/>
          <a:lstStyle/>
          <a:p>
            <a:r>
              <a:rPr lang="en-CN"/>
              <a:t>Soft</a:t>
            </a:r>
            <a:r>
              <a:rPr lang="zh-CN" altLang="en-US" dirty="0"/>
              <a:t> </a:t>
            </a:r>
            <a:r>
              <a:rPr lang="en-US" altLang="zh-CN" dirty="0"/>
              <a:t>Updates</a:t>
            </a:r>
            <a:endParaRPr lang="en-CN" dirty="0"/>
          </a:p>
        </p:txBody>
      </p:sp>
      <p:sp>
        <p:nvSpPr>
          <p:cNvPr id="3" name="Content Placeholder 2">
            <a:extLst>
              <a:ext uri="{FF2B5EF4-FFF2-40B4-BE49-F238E27FC236}">
                <a16:creationId xmlns:a16="http://schemas.microsoft.com/office/drawing/2014/main" id="{C678C414-7F68-3144-B3EA-DF88FD3FA3A0}"/>
              </a:ext>
            </a:extLst>
          </p:cNvPr>
          <p:cNvSpPr>
            <a:spLocks noGrp="1"/>
          </p:cNvSpPr>
          <p:nvPr>
            <p:ph idx="1"/>
          </p:nvPr>
        </p:nvSpPr>
        <p:spPr/>
        <p:txBody>
          <a:bodyPr>
            <a:normAutofit/>
          </a:bodyPr>
          <a:lstStyle/>
          <a:p>
            <a:r>
              <a:rPr lang="zh-CN" altLang="en-US" dirty="0"/>
              <a:t>对于每个文件系统请求，将其拆解成对多个结构的操作</a:t>
            </a:r>
            <a:endParaRPr lang="en-US" altLang="zh-CN" dirty="0"/>
          </a:p>
          <a:p>
            <a:pPr lvl="1"/>
            <a:r>
              <a:rPr lang="zh-CN" altLang="en-US" b="0" dirty="0"/>
              <a:t>记录对每个结构的修改内容（旧值、新值）</a:t>
            </a:r>
            <a:endParaRPr lang="en-US" altLang="zh-CN" b="0" dirty="0"/>
          </a:p>
          <a:p>
            <a:pPr lvl="1"/>
            <a:r>
              <a:rPr lang="zh-CN" altLang="en-US" dirty="0"/>
              <a:t>记录这个修改依赖于那些修改（应在哪些修改之后持久化）</a:t>
            </a:r>
            <a:endParaRPr lang="en-US" altLang="zh-CN" dirty="0"/>
          </a:p>
          <a:p>
            <a:pPr lvl="1"/>
            <a:r>
              <a:rPr lang="zh-CN" altLang="en-US" dirty="0"/>
              <a:t>如创建文件：</a:t>
            </a:r>
            <a:endParaRPr lang="en-US" altLang="zh-CN" dirty="0"/>
          </a:p>
          <a:p>
            <a:pPr marL="857250" lvl="2" indent="0">
              <a:buNone/>
            </a:pPr>
            <a:r>
              <a:rPr lang="en-US" altLang="zh-CN" dirty="0"/>
              <a:t>1.</a:t>
            </a:r>
            <a:r>
              <a:rPr lang="zh-CN" altLang="en-US" dirty="0"/>
              <a:t> 标记</a:t>
            </a:r>
            <a:r>
              <a:rPr lang="en-US" altLang="zh-CN" dirty="0" err="1"/>
              <a:t>inode</a:t>
            </a:r>
            <a:r>
              <a:rPr lang="zh-CN" altLang="en-US" dirty="0"/>
              <a:t>为占用（对</a:t>
            </a:r>
            <a:r>
              <a:rPr lang="en-US" altLang="zh-CN" dirty="0"/>
              <a:t>bitmap</a:t>
            </a:r>
            <a:r>
              <a:rPr lang="zh-CN" altLang="en-US" dirty="0"/>
              <a:t>的修改）</a:t>
            </a:r>
            <a:br>
              <a:rPr lang="en-US" altLang="zh-CN" dirty="0"/>
            </a:br>
            <a:r>
              <a:rPr lang="en-US" altLang="zh-CN" dirty="0"/>
              <a:t>2.</a:t>
            </a:r>
            <a:r>
              <a:rPr lang="zh-CN" altLang="en-US" dirty="0"/>
              <a:t> 初始化</a:t>
            </a:r>
            <a:r>
              <a:rPr lang="en-US" altLang="zh-CN" dirty="0" err="1"/>
              <a:t>inode</a:t>
            </a:r>
            <a:r>
              <a:rPr lang="zh-CN" altLang="en-US" dirty="0"/>
              <a:t>（对</a:t>
            </a:r>
            <a:r>
              <a:rPr lang="en-US" altLang="zh-CN" dirty="0" err="1"/>
              <a:t>inode</a:t>
            </a:r>
            <a:r>
              <a:rPr lang="zh-CN" altLang="en-US" dirty="0"/>
              <a:t>的修改，依赖于</a:t>
            </a:r>
            <a:r>
              <a:rPr lang="en-US" altLang="zh-CN" dirty="0"/>
              <a:t>1</a:t>
            </a:r>
            <a:r>
              <a:rPr lang="zh-CN" altLang="en-US" dirty="0"/>
              <a:t>）</a:t>
            </a:r>
            <a:br>
              <a:rPr lang="en-US" altLang="zh-CN" dirty="0"/>
            </a:br>
            <a:r>
              <a:rPr lang="en-US" altLang="zh-CN" dirty="0"/>
              <a:t>3.</a:t>
            </a:r>
            <a:r>
              <a:rPr lang="zh-CN" altLang="en-US" dirty="0"/>
              <a:t> 将目录项写入目录中（对目录文件的内容修改，依赖于</a:t>
            </a:r>
            <a:r>
              <a:rPr lang="en-US" altLang="zh-CN" dirty="0"/>
              <a:t>1</a:t>
            </a:r>
            <a:r>
              <a:rPr lang="zh-CN" altLang="en-US" dirty="0"/>
              <a:t>和</a:t>
            </a:r>
            <a:r>
              <a:rPr lang="en-US" altLang="zh-CN" dirty="0"/>
              <a:t>2</a:t>
            </a:r>
            <a:r>
              <a:rPr lang="zh-CN" altLang="en-US" dirty="0"/>
              <a:t>）</a:t>
            </a:r>
            <a:endParaRPr lang="en-US" altLang="zh-CN" dirty="0"/>
          </a:p>
        </p:txBody>
      </p:sp>
      <p:sp>
        <p:nvSpPr>
          <p:cNvPr id="4" name="Slide Number Placeholder 3">
            <a:extLst>
              <a:ext uri="{FF2B5EF4-FFF2-40B4-BE49-F238E27FC236}">
                <a16:creationId xmlns:a16="http://schemas.microsoft.com/office/drawing/2014/main" id="{2283FC2E-96EC-D741-96D2-54CAC8B87FEA}"/>
              </a:ext>
            </a:extLst>
          </p:cNvPr>
          <p:cNvSpPr>
            <a:spLocks noGrp="1"/>
          </p:cNvSpPr>
          <p:nvPr>
            <p:ph type="sldNum" sz="quarter" idx="12"/>
          </p:nvPr>
        </p:nvSpPr>
        <p:spPr/>
        <p:txBody>
          <a:bodyPr/>
          <a:lstStyle/>
          <a:p>
            <a:fld id="{ADE361C3-C043-4A6E-BDCE-8DA1E7D90A3B}" type="slidenum">
              <a:rPr lang="zh-CN" altLang="en-US" smtClean="0"/>
              <a:t>68</a:t>
            </a:fld>
            <a:endParaRPr lang="zh-CN" altLang="en-US"/>
          </a:p>
        </p:txBody>
      </p:sp>
      <p:sp>
        <p:nvSpPr>
          <p:cNvPr id="5" name="Footer Placeholder 4">
            <a:extLst>
              <a:ext uri="{FF2B5EF4-FFF2-40B4-BE49-F238E27FC236}">
                <a16:creationId xmlns:a16="http://schemas.microsoft.com/office/drawing/2014/main" id="{E8C2BA8D-631E-D34D-B191-2C28C8B58BA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6974497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E53A464-4EB1-4D4B-B540-4CDAE40FBFC5}"/>
              </a:ext>
            </a:extLst>
          </p:cNvPr>
          <p:cNvPicPr>
            <a:picLocks noChangeAspect="1"/>
          </p:cNvPicPr>
          <p:nvPr/>
        </p:nvPicPr>
        <p:blipFill>
          <a:blip r:embed="rId2"/>
          <a:stretch>
            <a:fillRect/>
          </a:stretch>
        </p:blipFill>
        <p:spPr>
          <a:xfrm>
            <a:off x="5331043" y="0"/>
            <a:ext cx="3921477" cy="2137420"/>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创建文件</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1</a:t>
            </a:r>
            <a:r>
              <a:rPr kumimoji="1" lang="zh-CN" altLang="en-US" sz="1600" dirty="0"/>
              <a:t>，</a:t>
            </a:r>
            <a:r>
              <a:rPr kumimoji="1" lang="en" altLang="zh-CN" sz="1600" dirty="0" err="1"/>
              <a:t>inode</a:t>
            </a:r>
            <a:r>
              <a:rPr kumimoji="1" lang="en" altLang="zh-CN" sz="1600" dirty="0"/>
              <a:t> </a:t>
            </a:r>
            <a:r>
              <a:rPr kumimoji="1" lang="zh-CN" altLang="en-US" sz="1600" dirty="0"/>
              <a:t>初始化的持久化应早于增加目录项操作的持久化</a:t>
            </a:r>
            <a:endParaRPr kumimoji="1" lang="en-US" altLang="zh-CN" sz="1600" dirty="0"/>
          </a:p>
          <a:p>
            <a:pPr lvl="1"/>
            <a:r>
              <a:rPr kumimoji="1" lang="zh-CN" altLang="en-US" sz="1600" dirty="0"/>
              <a:t>根据规则</a:t>
            </a:r>
            <a:r>
              <a:rPr kumimoji="1" lang="en-US" altLang="zh-CN" sz="1600" dirty="0"/>
              <a:t>2</a:t>
            </a:r>
            <a:r>
              <a:rPr kumimoji="1" lang="zh-CN" altLang="en-US" sz="1600" dirty="0"/>
              <a:t>，</a:t>
            </a:r>
            <a:r>
              <a:rPr kumimoji="1" lang="en" altLang="zh-CN" sz="1600" dirty="0" err="1"/>
              <a:t>inode</a:t>
            </a:r>
            <a:r>
              <a:rPr kumimoji="1" lang="en" altLang="zh-CN" sz="1600" dirty="0"/>
              <a:t> </a:t>
            </a:r>
            <a:r>
              <a:rPr kumimoji="1" lang="zh-CN" altLang="en-US" sz="1600" dirty="0"/>
              <a:t>分配同样应该在增加目录项之前持久化</a:t>
            </a:r>
            <a:endParaRPr kumimoji="1" lang="en-US" altLang="zh-CN" sz="1600" dirty="0"/>
          </a:p>
          <a:p>
            <a:pPr lvl="1"/>
            <a:r>
              <a:rPr kumimoji="1" lang="zh-CN" altLang="en-US" sz="1600" dirty="0"/>
              <a:t>需同时创建“</a:t>
            </a:r>
            <a:r>
              <a:rPr kumimoji="1" lang="en-US" altLang="zh-CN" sz="1600" dirty="0"/>
              <a:t>.”</a:t>
            </a:r>
            <a:r>
              <a:rPr kumimoji="1" lang="zh-CN" altLang="en-US" sz="1600" dirty="0"/>
              <a:t>和“</a:t>
            </a:r>
            <a:r>
              <a:rPr kumimoji="1" lang="en-US" altLang="zh-CN" sz="1600" dirty="0"/>
              <a:t>..”</a:t>
            </a:r>
            <a:r>
              <a:rPr kumimoji="1" lang="zh-CN" altLang="en-US" sz="1600" dirty="0"/>
              <a:t>两个目录项，需要分配并初始化一个新的数据块</a:t>
            </a:r>
            <a:endParaRPr kumimoji="1" lang="en-US" altLang="zh-CN" sz="1600" dirty="0"/>
          </a:p>
          <a:p>
            <a:pPr lvl="1"/>
            <a:r>
              <a:rPr kumimoji="1" lang="zh-CN" altLang="en-US" sz="1600" dirty="0"/>
              <a:t>根据规则</a:t>
            </a:r>
            <a:r>
              <a:rPr kumimoji="1" lang="en-US" altLang="zh-CN" sz="1600" dirty="0"/>
              <a:t>1</a:t>
            </a:r>
            <a:r>
              <a:rPr kumimoji="1" lang="zh-CN" altLang="en-US" sz="1600" dirty="0"/>
              <a:t>，数据块的初始化操作应该先 于 </a:t>
            </a:r>
            <a:r>
              <a:rPr kumimoji="1" lang="en" altLang="zh-CN" sz="1600" dirty="0" err="1"/>
              <a:t>inode</a:t>
            </a:r>
            <a:r>
              <a:rPr kumimoji="1" lang="en" altLang="zh-CN" sz="1600" dirty="0"/>
              <a:t> </a:t>
            </a:r>
            <a:r>
              <a:rPr kumimoji="1" lang="zh-CN" altLang="en-US" sz="1600" dirty="0"/>
              <a:t>中索引的修改持久化</a:t>
            </a:r>
            <a:endParaRPr kumimoji="1" lang="en-US" altLang="zh-CN" sz="1600" dirty="0"/>
          </a:p>
          <a:p>
            <a:pPr lvl="1"/>
            <a:r>
              <a:rPr kumimoji="1" lang="zh-CN" altLang="en-US" sz="1600" dirty="0"/>
              <a:t>根据规则</a:t>
            </a:r>
            <a:r>
              <a:rPr kumimoji="1" lang="en-US" altLang="zh-CN" sz="1600" dirty="0"/>
              <a:t>2</a:t>
            </a:r>
            <a:r>
              <a:rPr kumimoji="1" lang="zh-CN" altLang="en-US" sz="1600" dirty="0"/>
              <a:t>，数据块分配信息（如 </a:t>
            </a:r>
            <a:r>
              <a:rPr kumimoji="1" lang="en" altLang="zh-CN" sz="1600" dirty="0"/>
              <a:t>bitmap</a:t>
            </a:r>
            <a:r>
              <a:rPr kumimoji="1" lang="zh-CN" altLang="en" sz="1600" dirty="0"/>
              <a:t>）</a:t>
            </a:r>
            <a:r>
              <a:rPr kumimoji="1" lang="zh-CN" altLang="en-US" sz="1600" dirty="0"/>
              <a:t>的持久化同样应该在 </a:t>
            </a:r>
            <a:r>
              <a:rPr kumimoji="1" lang="en" altLang="zh-CN" sz="1600" dirty="0" err="1"/>
              <a:t>inode</a:t>
            </a:r>
            <a:r>
              <a:rPr kumimoji="1" lang="zh-CN" altLang="en-US" sz="1600" dirty="0"/>
              <a:t>初始化之前</a:t>
            </a:r>
            <a:endParaRPr kumimoji="1" lang="en-US" altLang="zh-CN" sz="1600" dirty="0"/>
          </a:p>
          <a:p>
            <a:r>
              <a:rPr kumimoji="1" lang="zh-CN" altLang="en-US" sz="2000" dirty="0"/>
              <a:t>异常情况</a:t>
            </a:r>
            <a:endParaRPr kumimoji="1" lang="en-US" altLang="zh-CN" sz="2000" dirty="0"/>
          </a:p>
          <a:p>
            <a:pPr lvl="1"/>
            <a:r>
              <a:rPr kumimoji="1" lang="zh-CN" altLang="en-US" sz="1600" dirty="0"/>
              <a:t>依然可能会发生空间泄漏，即 </a:t>
            </a:r>
            <a:r>
              <a:rPr kumimoji="1" lang="en" altLang="zh-CN" sz="1600" dirty="0" err="1"/>
              <a:t>inode</a:t>
            </a:r>
            <a:r>
              <a:rPr kumimoji="1" lang="en" altLang="zh-CN" sz="1600" dirty="0"/>
              <a:t> </a:t>
            </a:r>
            <a:r>
              <a:rPr kumimoji="1" lang="zh-CN" altLang="en-US" sz="1600" dirty="0"/>
              <a:t>分配信息被持久化但却未被文件系统使用</a:t>
            </a:r>
            <a:endParaRPr kumimoji="1" lang="en-US" altLang="zh-CN" sz="1600" dirty="0"/>
          </a:p>
          <a:p>
            <a:pPr lvl="1"/>
            <a:r>
              <a:rPr kumimoji="1" lang="zh-CN" altLang="en-US" sz="1600" dirty="0"/>
              <a:t>对文件系统结构没有影响；可通过定期扫描找到未使用的 </a:t>
            </a:r>
            <a:r>
              <a:rPr kumimoji="1" lang="en" altLang="zh-CN" sz="1600" dirty="0" err="1"/>
              <a:t>inode</a:t>
            </a:r>
            <a:r>
              <a:rPr kumimoji="1" lang="en" altLang="zh-CN" sz="1600" dirty="0"/>
              <a:t> </a:t>
            </a:r>
            <a:r>
              <a:rPr kumimoji="1" lang="zh-CN" altLang="en-US" sz="1600" dirty="0"/>
              <a:t>节点并修复</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69</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04E96C9C-09C7-E249-8A4E-34EBAABFF191}"/>
              </a:ext>
            </a:extLst>
          </p:cNvPr>
          <p:cNvSpPr txBox="1"/>
          <p:nvPr/>
        </p:nvSpPr>
        <p:spPr>
          <a:xfrm>
            <a:off x="3563888" y="94853"/>
            <a:ext cx="1800200" cy="1068882"/>
          </a:xfrm>
          <a:prstGeom prst="rect">
            <a:avLst/>
          </a:prstGeom>
          <a:noFill/>
        </p:spPr>
        <p:txBody>
          <a:bodyPr wrap="square">
            <a:spAutoFit/>
          </a:bodyPr>
          <a:lstStyle/>
          <a:p>
            <a:pPr>
              <a:lnSpc>
                <a:spcPct val="130000"/>
              </a:lnSpc>
            </a:pPr>
            <a:r>
              <a:rPr kumimoji="1" lang="zh-CN" altLang="en-US" sz="1400" dirty="0"/>
              <a:t>包括</a:t>
            </a:r>
            <a:r>
              <a:rPr kumimoji="1" lang="en-US" altLang="zh-CN" sz="1400" dirty="0"/>
              <a:t>3</a:t>
            </a:r>
            <a:r>
              <a:rPr kumimoji="1" lang="zh-CN" altLang="en-US" sz="1400" dirty="0"/>
              <a:t>个主要步骤：</a:t>
            </a:r>
            <a:endParaRPr kumimoji="1" lang="en-US" altLang="zh-CN" sz="1400" dirty="0"/>
          </a:p>
          <a:p>
            <a:pPr lvl="1">
              <a:lnSpc>
                <a:spcPct val="130000"/>
              </a:lnSpc>
            </a:pPr>
            <a:r>
              <a:rPr kumimoji="1" lang="zh-CN" altLang="en-US" sz="1200" dirty="0"/>
              <a:t>分配 </a:t>
            </a:r>
            <a:r>
              <a:rPr kumimoji="1" lang="en" altLang="zh-CN" sz="1200" dirty="0" err="1"/>
              <a:t>inode</a:t>
            </a:r>
            <a:endParaRPr kumimoji="1" lang="en-US" altLang="zh-CN" sz="1200" dirty="0"/>
          </a:p>
          <a:p>
            <a:pPr lvl="1">
              <a:lnSpc>
                <a:spcPct val="130000"/>
              </a:lnSpc>
            </a:pPr>
            <a:r>
              <a:rPr kumimoji="1" lang="zh-CN" altLang="en-US" sz="1200" dirty="0"/>
              <a:t>初始化 </a:t>
            </a:r>
            <a:r>
              <a:rPr kumimoji="1" lang="en" altLang="zh-CN" sz="1200" dirty="0" err="1"/>
              <a:t>inode</a:t>
            </a:r>
            <a:endParaRPr kumimoji="1" lang="en-US" altLang="zh-CN" sz="1200" dirty="0"/>
          </a:p>
          <a:p>
            <a:pPr lvl="1">
              <a:lnSpc>
                <a:spcPct val="130000"/>
              </a:lnSpc>
            </a:pPr>
            <a:r>
              <a:rPr kumimoji="1" lang="zh-CN" altLang="en-US" sz="1200" dirty="0"/>
              <a:t>增加目录项</a:t>
            </a:r>
            <a:endParaRPr lang="zh-CN" altLang="en-US" sz="1400" dirty="0"/>
          </a:p>
        </p:txBody>
      </p:sp>
    </p:spTree>
    <p:extLst>
      <p:ext uri="{BB962C8B-B14F-4D97-AF65-F5344CB8AC3E}">
        <p14:creationId xmlns:p14="http://schemas.microsoft.com/office/powerpoint/2010/main" val="19483397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98A501D-A8F8-4349-BCE2-E601D34F268C}"/>
              </a:ext>
            </a:extLst>
          </p:cNvPr>
          <p:cNvPicPr>
            <a:picLocks noChangeAspect="1"/>
          </p:cNvPicPr>
          <p:nvPr/>
        </p:nvPicPr>
        <p:blipFill>
          <a:blip r:embed="rId2"/>
          <a:stretch>
            <a:fillRect/>
          </a:stretch>
        </p:blipFill>
        <p:spPr>
          <a:xfrm>
            <a:off x="5526162" y="-14962"/>
            <a:ext cx="3617838" cy="2268262"/>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删除文件</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2</a:t>
            </a:r>
            <a:r>
              <a:rPr kumimoji="1" lang="zh-CN" altLang="en-US" sz="1600" dirty="0"/>
              <a:t>，文件系统需要将目标文件先从整个文件系统树中</a:t>
            </a:r>
            <a:br>
              <a:rPr kumimoji="1" lang="en-US" altLang="zh-CN" sz="1600" dirty="0"/>
            </a:br>
            <a:r>
              <a:rPr kumimoji="1" lang="zh-CN" altLang="en-US" sz="1600" dirty="0"/>
              <a:t>去掉，再进行资源回收等操作前</a:t>
            </a:r>
            <a:endParaRPr kumimoji="1" lang="en-US" altLang="zh-CN" sz="1600" dirty="0"/>
          </a:p>
          <a:p>
            <a:r>
              <a:rPr kumimoji="1" lang="zh-CN" altLang="en-US" sz="2000" dirty="0"/>
              <a:t>异常情况</a:t>
            </a:r>
            <a:endParaRPr kumimoji="1" lang="en-US" altLang="zh-CN" sz="2000" dirty="0"/>
          </a:p>
          <a:p>
            <a:pPr lvl="1"/>
            <a:r>
              <a:rPr kumimoji="1" lang="zh-CN" altLang="en-US" sz="1600" dirty="0"/>
              <a:t>删除目录项为删除操作的原子更新点，系统崩溃只可能发生在此操作之前或之后</a:t>
            </a:r>
            <a:endParaRPr kumimoji="1" lang="en-US" altLang="zh-CN" sz="1600" dirty="0"/>
          </a:p>
          <a:p>
            <a:pPr lvl="1"/>
            <a:r>
              <a:rPr kumimoji="1" lang="zh-CN" altLang="en-US" sz="1600" dirty="0"/>
              <a:t>若崩溃发生在此之前，则没有删除操作被执行，因此不会产生不一致的情况</a:t>
            </a:r>
            <a:endParaRPr kumimoji="1" lang="en-US" altLang="zh-CN" sz="1600" dirty="0"/>
          </a:p>
          <a:p>
            <a:pPr lvl="1"/>
            <a:r>
              <a:rPr kumimoji="1" lang="zh-CN" altLang="en-US" sz="1600" dirty="0"/>
              <a:t>若崩溃发生在此之后，并不会造成文件系统中其他文件和数据的不一致性</a:t>
            </a:r>
            <a:endParaRPr kumimoji="1" lang="en-US" altLang="zh-CN" sz="1600" dirty="0"/>
          </a:p>
          <a:p>
            <a:pPr lvl="2"/>
            <a:r>
              <a:rPr kumimoji="1" lang="zh-CN" altLang="en-US" sz="1600" dirty="0"/>
              <a:t>此过程中造成的空间泄漏，也 可以通过定期检查的方法进行修复</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70</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文本框 7">
            <a:extLst>
              <a:ext uri="{FF2B5EF4-FFF2-40B4-BE49-F238E27FC236}">
                <a16:creationId xmlns:a16="http://schemas.microsoft.com/office/drawing/2014/main" id="{04E96C9C-09C7-E249-8A4E-34EBAABFF191}"/>
              </a:ext>
            </a:extLst>
          </p:cNvPr>
          <p:cNvSpPr txBox="1"/>
          <p:nvPr/>
        </p:nvSpPr>
        <p:spPr>
          <a:xfrm>
            <a:off x="3563888" y="94853"/>
            <a:ext cx="1800200" cy="828817"/>
          </a:xfrm>
          <a:prstGeom prst="rect">
            <a:avLst/>
          </a:prstGeom>
          <a:noFill/>
        </p:spPr>
        <p:txBody>
          <a:bodyPr wrap="square">
            <a:spAutoFit/>
          </a:bodyPr>
          <a:lstStyle/>
          <a:p>
            <a:pPr>
              <a:lnSpc>
                <a:spcPct val="130000"/>
              </a:lnSpc>
            </a:pPr>
            <a:r>
              <a:rPr kumimoji="1" lang="zh-CN" altLang="en-US" sz="1400" dirty="0"/>
              <a:t>包括</a:t>
            </a:r>
            <a:r>
              <a:rPr kumimoji="1" lang="en-US" altLang="zh-CN" sz="1400" dirty="0"/>
              <a:t>2</a:t>
            </a:r>
            <a:r>
              <a:rPr kumimoji="1" lang="zh-CN" altLang="en-US" sz="1400" dirty="0"/>
              <a:t>个主要步骤：</a:t>
            </a:r>
            <a:endParaRPr kumimoji="1" lang="en-US" altLang="zh-CN" sz="1400" dirty="0"/>
          </a:p>
          <a:p>
            <a:pPr lvl="1">
              <a:lnSpc>
                <a:spcPct val="130000"/>
              </a:lnSpc>
            </a:pPr>
            <a:r>
              <a:rPr kumimoji="1" lang="zh-CN" altLang="en-US" sz="1200" dirty="0"/>
              <a:t>从文件树移除</a:t>
            </a:r>
            <a:endParaRPr kumimoji="1" lang="en-US" altLang="zh-CN" sz="1200" dirty="0"/>
          </a:p>
          <a:p>
            <a:pPr lvl="1">
              <a:lnSpc>
                <a:spcPct val="130000"/>
              </a:lnSpc>
            </a:pPr>
            <a:r>
              <a:rPr kumimoji="1" lang="zh-CN" altLang="en-US" sz="1200" dirty="0"/>
              <a:t>资源回收和重用</a:t>
            </a:r>
            <a:endParaRPr lang="zh-CN" altLang="en-US" sz="1400" dirty="0"/>
          </a:p>
        </p:txBody>
      </p:sp>
    </p:spTree>
    <p:extLst>
      <p:ext uri="{BB962C8B-B14F-4D97-AF65-F5344CB8AC3E}">
        <p14:creationId xmlns:p14="http://schemas.microsoft.com/office/powerpoint/2010/main" val="5962215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637C9852-84C6-C644-A5D5-657E1A4D052E}"/>
              </a:ext>
            </a:extLst>
          </p:cNvPr>
          <p:cNvPicPr>
            <a:picLocks noChangeAspect="1"/>
          </p:cNvPicPr>
          <p:nvPr/>
        </p:nvPicPr>
        <p:blipFill>
          <a:blip r:embed="rId2"/>
          <a:stretch>
            <a:fillRect/>
          </a:stretch>
        </p:blipFill>
        <p:spPr>
          <a:xfrm>
            <a:off x="5490675" y="0"/>
            <a:ext cx="3624725" cy="2658132"/>
          </a:xfrm>
          <a:prstGeom prst="rect">
            <a:avLst/>
          </a:prstGeom>
        </p:spPr>
      </p:pic>
      <p:sp>
        <p:nvSpPr>
          <p:cNvPr id="2" name="标题 1">
            <a:extLst>
              <a:ext uri="{FF2B5EF4-FFF2-40B4-BE49-F238E27FC236}">
                <a16:creationId xmlns:a16="http://schemas.microsoft.com/office/drawing/2014/main" id="{ED6D1858-4DF3-DE42-A562-B35F2B413684}"/>
              </a:ext>
            </a:extLst>
          </p:cNvPr>
          <p:cNvSpPr>
            <a:spLocks noGrp="1"/>
          </p:cNvSpPr>
          <p:nvPr>
            <p:ph type="title"/>
          </p:nvPr>
        </p:nvSpPr>
        <p:spPr/>
        <p:txBody>
          <a:bodyPr/>
          <a:lstStyle/>
          <a:p>
            <a:r>
              <a:rPr kumimoji="1" lang="zh-CN" altLang="en-US" dirty="0"/>
              <a:t>文件重命名</a:t>
            </a:r>
          </a:p>
        </p:txBody>
      </p:sp>
      <p:sp>
        <p:nvSpPr>
          <p:cNvPr id="3" name="内容占位符 2">
            <a:extLst>
              <a:ext uri="{FF2B5EF4-FFF2-40B4-BE49-F238E27FC236}">
                <a16:creationId xmlns:a16="http://schemas.microsoft.com/office/drawing/2014/main" id="{2397D4B6-5676-0240-B346-F4BEF090A603}"/>
              </a:ext>
            </a:extLst>
          </p:cNvPr>
          <p:cNvSpPr>
            <a:spLocks noGrp="1"/>
          </p:cNvSpPr>
          <p:nvPr>
            <p:ph idx="1"/>
          </p:nvPr>
        </p:nvSpPr>
        <p:spPr>
          <a:xfrm>
            <a:off x="457200" y="1392601"/>
            <a:ext cx="8229600" cy="3712536"/>
          </a:xfrm>
        </p:spPr>
        <p:txBody>
          <a:bodyPr>
            <a:normAutofit/>
          </a:bodyPr>
          <a:lstStyle/>
          <a:p>
            <a:r>
              <a:rPr kumimoji="1" lang="zh-CN" altLang="en-US" sz="2000" dirty="0"/>
              <a:t>操作步骤</a:t>
            </a:r>
            <a:endParaRPr kumimoji="1" lang="en-US" altLang="zh-CN" sz="2000" dirty="0"/>
          </a:p>
          <a:p>
            <a:pPr lvl="1"/>
            <a:r>
              <a:rPr kumimoji="1" lang="zh-CN" altLang="en-US" sz="1600" dirty="0"/>
              <a:t>根据规则</a:t>
            </a:r>
            <a:r>
              <a:rPr kumimoji="1" lang="en-US" altLang="zh-CN" sz="1600" dirty="0"/>
              <a:t>3</a:t>
            </a:r>
            <a:r>
              <a:rPr kumimoji="1" lang="zh-CN" altLang="en-US" sz="1600" dirty="0"/>
              <a:t>，在进行文件移动时，需要先保证目标目录中的</a:t>
            </a:r>
            <a:br>
              <a:rPr kumimoji="1" lang="en-US" altLang="zh-CN" sz="1600" dirty="0"/>
            </a:br>
            <a:r>
              <a:rPr kumimoji="1" lang="zh-CN" altLang="en-US" sz="1600" dirty="0"/>
              <a:t>目录项 被写入完毕，之后才能删除源目录中的目录项</a:t>
            </a:r>
            <a:endParaRPr kumimoji="1" lang="en-US" altLang="zh-CN" sz="1600" dirty="0"/>
          </a:p>
          <a:p>
            <a:r>
              <a:rPr kumimoji="1" lang="zh-CN" altLang="en-US" sz="2000" dirty="0"/>
              <a:t>异常情况</a:t>
            </a:r>
            <a:endParaRPr kumimoji="1" lang="en-US" altLang="zh-CN" sz="2000" dirty="0"/>
          </a:p>
          <a:p>
            <a:pPr lvl="1"/>
            <a:r>
              <a:rPr kumimoji="1" lang="zh-CN" altLang="en-US" sz="1600" dirty="0"/>
              <a:t>目标目录中的目录项写入完毕后发生崩溃</a:t>
            </a:r>
            <a:endParaRPr kumimoji="1" lang="en-US" altLang="zh-CN" sz="1600" dirty="0"/>
          </a:p>
          <a:p>
            <a:pPr lvl="1"/>
            <a:r>
              <a:rPr kumimoji="1" lang="zh-CN" altLang="en-US" sz="1600" dirty="0"/>
              <a:t>重启后会发现两个目录中的目录项均指向该 </a:t>
            </a:r>
            <a:r>
              <a:rPr kumimoji="1" lang="en" altLang="zh-CN" sz="1600" dirty="0" err="1"/>
              <a:t>inode</a:t>
            </a:r>
            <a:r>
              <a:rPr kumimoji="1" lang="en" altLang="zh-CN" sz="1600" dirty="0"/>
              <a:t> </a:t>
            </a:r>
            <a:r>
              <a:rPr kumimoji="1" lang="zh-CN" altLang="en-US" sz="1600" dirty="0"/>
              <a:t>结构</a:t>
            </a:r>
            <a:endParaRPr kumimoji="1" lang="en-US" altLang="zh-CN" sz="1600" dirty="0"/>
          </a:p>
          <a:p>
            <a:pPr lvl="1"/>
            <a:r>
              <a:rPr kumimoji="1" lang="zh-CN" altLang="en-US" sz="1600" dirty="0"/>
              <a:t>并未造成被移动文件的数据丢失， 也不影响文件系统中其他文件的一致性</a:t>
            </a:r>
          </a:p>
        </p:txBody>
      </p:sp>
      <p:sp>
        <p:nvSpPr>
          <p:cNvPr id="4" name="灯片编号占位符 3">
            <a:extLst>
              <a:ext uri="{FF2B5EF4-FFF2-40B4-BE49-F238E27FC236}">
                <a16:creationId xmlns:a16="http://schemas.microsoft.com/office/drawing/2014/main" id="{04CDB5B4-5CEB-A345-9500-359F0BFEF8DE}"/>
              </a:ext>
            </a:extLst>
          </p:cNvPr>
          <p:cNvSpPr>
            <a:spLocks noGrp="1"/>
          </p:cNvSpPr>
          <p:nvPr>
            <p:ph type="sldNum" sz="quarter" idx="12"/>
          </p:nvPr>
        </p:nvSpPr>
        <p:spPr/>
        <p:txBody>
          <a:bodyPr/>
          <a:lstStyle/>
          <a:p>
            <a:fld id="{ADE361C3-C043-4A6E-BDCE-8DA1E7D90A3B}" type="slidenum">
              <a:rPr lang="zh-CN" altLang="en-US" smtClean="0"/>
              <a:t>71</a:t>
            </a:fld>
            <a:endParaRPr lang="zh-CN" altLang="en-US"/>
          </a:p>
        </p:txBody>
      </p:sp>
      <p:sp>
        <p:nvSpPr>
          <p:cNvPr id="5" name="页脚占位符 4">
            <a:extLst>
              <a:ext uri="{FF2B5EF4-FFF2-40B4-BE49-F238E27FC236}">
                <a16:creationId xmlns:a16="http://schemas.microsoft.com/office/drawing/2014/main" id="{31A6F0BF-B52C-CC43-80FA-E73D91697E0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687845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FC19B-A6EA-8243-B153-61182F377840}"/>
              </a:ext>
            </a:extLst>
          </p:cNvPr>
          <p:cNvSpPr>
            <a:spLocks noGrp="1"/>
          </p:cNvSpPr>
          <p:nvPr>
            <p:ph type="title"/>
          </p:nvPr>
        </p:nvSpPr>
        <p:spPr/>
        <p:txBody>
          <a:bodyPr/>
          <a:lstStyle/>
          <a:p>
            <a:r>
              <a:rPr kumimoji="1" lang="zh-CN" altLang="en-US" dirty="0"/>
              <a:t>依赖追踪</a:t>
            </a:r>
          </a:p>
        </p:txBody>
      </p:sp>
      <p:sp>
        <p:nvSpPr>
          <p:cNvPr id="3" name="内容占位符 2">
            <a:extLst>
              <a:ext uri="{FF2B5EF4-FFF2-40B4-BE49-F238E27FC236}">
                <a16:creationId xmlns:a16="http://schemas.microsoft.com/office/drawing/2014/main" id="{D0432BAF-BBE2-0B41-8D8D-3020872CC2CC}"/>
              </a:ext>
            </a:extLst>
          </p:cNvPr>
          <p:cNvSpPr>
            <a:spLocks noGrp="1"/>
          </p:cNvSpPr>
          <p:nvPr>
            <p:ph idx="1"/>
          </p:nvPr>
        </p:nvSpPr>
        <p:spPr/>
        <p:txBody>
          <a:bodyPr>
            <a:normAutofit/>
          </a:bodyPr>
          <a:lstStyle/>
          <a:p>
            <a:r>
              <a:rPr kumimoji="1" lang="en-US" altLang="zh-CN" sz="2000" dirty="0"/>
              <a:t>Soft</a:t>
            </a:r>
            <a:r>
              <a:rPr kumimoji="1" lang="zh-CN" altLang="en-US" sz="2000" dirty="0"/>
              <a:t> </a:t>
            </a:r>
            <a:r>
              <a:rPr kumimoji="1" lang="en-US" altLang="zh-CN" sz="2000" dirty="0"/>
              <a:t>Update</a:t>
            </a:r>
            <a:r>
              <a:rPr kumimoji="1" lang="zh-CN" altLang="en-US" sz="2000" dirty="0"/>
              <a:t>原理</a:t>
            </a:r>
            <a:endParaRPr kumimoji="1" lang="en-US" altLang="zh-CN" sz="2000" dirty="0"/>
          </a:p>
          <a:p>
            <a:pPr lvl="1"/>
            <a:r>
              <a:rPr kumimoji="1" lang="zh-CN" altLang="en-US" sz="1800" dirty="0"/>
              <a:t>使用内存结构表示还未写回到存储设备的修改</a:t>
            </a:r>
            <a:endParaRPr kumimoji="1" lang="en-US" altLang="zh-CN" sz="1800" dirty="0"/>
          </a:p>
          <a:p>
            <a:pPr lvl="1"/>
            <a:r>
              <a:rPr kumimoji="1" lang="zh-CN" altLang="en-US" sz="1800" dirty="0"/>
              <a:t>并异步地将这些修改持久化到 存储设备中</a:t>
            </a:r>
            <a:endParaRPr kumimoji="1" lang="en-US" altLang="zh-CN" sz="1800" dirty="0"/>
          </a:p>
          <a:p>
            <a:pPr lvl="1"/>
            <a:r>
              <a:rPr kumimoji="1" lang="zh-CN" altLang="en-US" sz="1800" dirty="0"/>
              <a:t>问题：如何保证这些修改的持久化顺序呢？</a:t>
            </a:r>
            <a:endParaRPr kumimoji="1" lang="en-US" altLang="zh-CN" sz="1800" dirty="0"/>
          </a:p>
          <a:p>
            <a:r>
              <a:rPr kumimoji="1" lang="zh-CN" altLang="en-US" sz="2000" dirty="0"/>
              <a:t>依赖追踪</a:t>
            </a:r>
            <a:endParaRPr kumimoji="1" lang="en-US" altLang="zh-CN" sz="2000" dirty="0"/>
          </a:p>
          <a:p>
            <a:pPr lvl="1"/>
            <a:r>
              <a:rPr kumimoji="1" lang="zh-CN" altLang="en-US" sz="1800" dirty="0"/>
              <a:t>根据</a:t>
            </a:r>
            <a:r>
              <a:rPr kumimoji="1" lang="en-US" altLang="zh-CN" sz="1800" dirty="0"/>
              <a:t>3</a:t>
            </a:r>
            <a:r>
              <a:rPr kumimoji="1" lang="zh-CN" altLang="en-US" sz="1800" dirty="0"/>
              <a:t>条规则，对修改之间需要遵守的顺序进行记录</a:t>
            </a:r>
            <a:endParaRPr kumimoji="1" lang="en-US" altLang="zh-CN" sz="1800" dirty="0"/>
          </a:p>
          <a:p>
            <a:pPr lvl="2"/>
            <a:r>
              <a:rPr kumimoji="1" lang="zh-CN" altLang="en-US" sz="1800" dirty="0"/>
              <a:t>如果修改 </a:t>
            </a:r>
            <a:r>
              <a:rPr kumimoji="1" lang="en" altLang="zh-CN" sz="1800" dirty="0"/>
              <a:t>A</a:t>
            </a:r>
            <a:r>
              <a:rPr kumimoji="1" lang="zh-CN" altLang="en-US" sz="1800" dirty="0"/>
              <a:t>需要在修改</a:t>
            </a:r>
            <a:r>
              <a:rPr kumimoji="1" lang="en" altLang="zh-CN" sz="1800" dirty="0"/>
              <a:t>B</a:t>
            </a:r>
            <a:r>
              <a:rPr kumimoji="1" lang="zh-CN" altLang="en-US" sz="1800" dirty="0"/>
              <a:t>之前写入到存储，则称</a:t>
            </a:r>
            <a:r>
              <a:rPr kumimoji="1" lang="en" altLang="zh-CN" sz="1800" dirty="0"/>
              <a:t>B</a:t>
            </a:r>
            <a:r>
              <a:rPr kumimoji="1" lang="zh-CN" altLang="en-US" sz="1800" dirty="0"/>
              <a:t>依赖于</a:t>
            </a:r>
            <a:r>
              <a:rPr kumimoji="1" lang="en" altLang="zh-CN" sz="1800" dirty="0"/>
              <a:t>A</a:t>
            </a:r>
            <a:endParaRPr kumimoji="1" lang="en-US" altLang="zh-CN" sz="1800" dirty="0"/>
          </a:p>
          <a:p>
            <a:pPr lvl="1"/>
            <a:r>
              <a:rPr kumimoji="1" lang="en-US" altLang="zh-CN" sz="1800" dirty="0"/>
              <a:t>Soft</a:t>
            </a:r>
            <a:r>
              <a:rPr kumimoji="1" lang="zh-CN" altLang="en-US" sz="1800" dirty="0"/>
              <a:t> </a:t>
            </a:r>
            <a:r>
              <a:rPr kumimoji="1" lang="en-US" altLang="zh-CN" sz="1800" dirty="0"/>
              <a:t>update</a:t>
            </a:r>
            <a:r>
              <a:rPr kumimoji="1" lang="zh-CN" altLang="en-US" sz="1800" dirty="0"/>
              <a:t>会将这些修改之间的依赖关系记录下来</a:t>
            </a:r>
          </a:p>
        </p:txBody>
      </p:sp>
      <p:sp>
        <p:nvSpPr>
          <p:cNvPr id="4" name="灯片编号占位符 3">
            <a:extLst>
              <a:ext uri="{FF2B5EF4-FFF2-40B4-BE49-F238E27FC236}">
                <a16:creationId xmlns:a16="http://schemas.microsoft.com/office/drawing/2014/main" id="{CD7AE679-A3C6-D041-AF2B-B14C4F9B7BD5}"/>
              </a:ext>
            </a:extLst>
          </p:cNvPr>
          <p:cNvSpPr>
            <a:spLocks noGrp="1"/>
          </p:cNvSpPr>
          <p:nvPr>
            <p:ph type="sldNum" sz="quarter" idx="12"/>
          </p:nvPr>
        </p:nvSpPr>
        <p:spPr/>
        <p:txBody>
          <a:bodyPr/>
          <a:lstStyle/>
          <a:p>
            <a:fld id="{ADE361C3-C043-4A6E-BDCE-8DA1E7D90A3B}" type="slidenum">
              <a:rPr lang="zh-CN" altLang="en-US" smtClean="0"/>
              <a:t>72</a:t>
            </a:fld>
            <a:endParaRPr lang="zh-CN" altLang="en-US"/>
          </a:p>
        </p:txBody>
      </p:sp>
      <p:sp>
        <p:nvSpPr>
          <p:cNvPr id="5" name="页脚占位符 4">
            <a:extLst>
              <a:ext uri="{FF2B5EF4-FFF2-40B4-BE49-F238E27FC236}">
                <a16:creationId xmlns:a16="http://schemas.microsoft.com/office/drawing/2014/main" id="{51C0D6CF-F50F-D54E-B06D-42F05413A35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450D8F88-75CF-844C-B106-330558FC147E}"/>
              </a:ext>
            </a:extLst>
          </p:cNvPr>
          <p:cNvPicPr>
            <a:picLocks noChangeAspect="1"/>
          </p:cNvPicPr>
          <p:nvPr/>
        </p:nvPicPr>
        <p:blipFill>
          <a:blip r:embed="rId2"/>
          <a:stretch>
            <a:fillRect/>
          </a:stretch>
        </p:blipFill>
        <p:spPr>
          <a:xfrm>
            <a:off x="5940152" y="102026"/>
            <a:ext cx="2995841" cy="2980556"/>
          </a:xfrm>
          <a:prstGeom prst="rect">
            <a:avLst/>
          </a:prstGeom>
        </p:spPr>
      </p:pic>
      <p:sp>
        <p:nvSpPr>
          <p:cNvPr id="8" name="文本框 7">
            <a:extLst>
              <a:ext uri="{FF2B5EF4-FFF2-40B4-BE49-F238E27FC236}">
                <a16:creationId xmlns:a16="http://schemas.microsoft.com/office/drawing/2014/main" id="{D10E41F4-DE6C-F44B-9660-74D6C73B7BBB}"/>
              </a:ext>
            </a:extLst>
          </p:cNvPr>
          <p:cNvSpPr txBox="1"/>
          <p:nvPr/>
        </p:nvSpPr>
        <p:spPr>
          <a:xfrm>
            <a:off x="6355682" y="3008358"/>
            <a:ext cx="2331118" cy="307777"/>
          </a:xfrm>
          <a:prstGeom prst="rect">
            <a:avLst/>
          </a:prstGeom>
          <a:noFill/>
        </p:spPr>
        <p:txBody>
          <a:bodyPr wrap="square">
            <a:spAutoFit/>
          </a:bodyPr>
          <a:lstStyle/>
          <a:p>
            <a:pPr algn="ctr"/>
            <a:r>
              <a:rPr lang="zh-CN" altLang="en-US" sz="1400" b="1" dirty="0">
                <a:solidFill>
                  <a:schemeClr val="accent3"/>
                </a:solidFill>
              </a:rPr>
              <a:t>基于块的 DAG 依赖关系图</a:t>
            </a:r>
          </a:p>
        </p:txBody>
      </p:sp>
    </p:spTree>
    <p:extLst>
      <p:ext uri="{BB962C8B-B14F-4D97-AF65-F5344CB8AC3E}">
        <p14:creationId xmlns:p14="http://schemas.microsoft.com/office/powerpoint/2010/main" val="15556661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44A0B9-937B-3B49-BAFD-13AC7C8D8399}"/>
              </a:ext>
            </a:extLst>
          </p:cNvPr>
          <p:cNvSpPr>
            <a:spLocks noGrp="1"/>
          </p:cNvSpPr>
          <p:nvPr>
            <p:ph type="title"/>
          </p:nvPr>
        </p:nvSpPr>
        <p:spPr/>
        <p:txBody>
          <a:bodyPr/>
          <a:lstStyle/>
          <a:p>
            <a:r>
              <a:rPr kumimoji="1" lang="zh-CN" altLang="en-US" dirty="0"/>
              <a:t>依赖追踪的两个问题</a:t>
            </a:r>
          </a:p>
        </p:txBody>
      </p:sp>
      <p:sp>
        <p:nvSpPr>
          <p:cNvPr id="3" name="内容占位符 2">
            <a:extLst>
              <a:ext uri="{FF2B5EF4-FFF2-40B4-BE49-F238E27FC236}">
                <a16:creationId xmlns:a16="http://schemas.microsoft.com/office/drawing/2014/main" id="{AD6911D1-F79F-2E4F-A4E5-9E63F214D57A}"/>
              </a:ext>
            </a:extLst>
          </p:cNvPr>
          <p:cNvSpPr>
            <a:spLocks noGrp="1"/>
          </p:cNvSpPr>
          <p:nvPr>
            <p:ph idx="1"/>
          </p:nvPr>
        </p:nvSpPr>
        <p:spPr/>
        <p:txBody>
          <a:bodyPr/>
          <a:lstStyle/>
          <a:p>
            <a:r>
              <a:rPr kumimoji="1" lang="zh-CN" altLang="en-US" dirty="0"/>
              <a:t>问题</a:t>
            </a:r>
            <a:r>
              <a:rPr kumimoji="1" lang="en-US" altLang="zh-CN" dirty="0"/>
              <a:t>1</a:t>
            </a:r>
            <a:r>
              <a:rPr kumimoji="1" lang="zh-CN" altLang="en-US" dirty="0"/>
              <a:t>：环形依赖</a:t>
            </a:r>
            <a:endParaRPr kumimoji="1" lang="en-US" altLang="zh-CN" dirty="0"/>
          </a:p>
          <a:p>
            <a:pPr lvl="1"/>
            <a:r>
              <a:rPr kumimoji="1" lang="zh-CN" altLang="en-US" dirty="0"/>
              <a:t>一个块通常包含多个文件系统结构</a:t>
            </a:r>
            <a:endParaRPr kumimoji="1" lang="en-US" altLang="zh-CN" dirty="0"/>
          </a:p>
          <a:p>
            <a:pPr lvl="1"/>
            <a:r>
              <a:rPr kumimoji="1" lang="zh-CN" altLang="en-US" dirty="0"/>
              <a:t>环形依赖：块 </a:t>
            </a:r>
            <a:r>
              <a:rPr kumimoji="1" lang="en-US" altLang="zh-CN" dirty="0"/>
              <a:t>A </a:t>
            </a:r>
            <a:r>
              <a:rPr kumimoji="1" lang="zh-CN" altLang="en-US" dirty="0"/>
              <a:t>需要在块 </a:t>
            </a:r>
            <a:r>
              <a:rPr kumimoji="1" lang="en-US" altLang="zh-CN" dirty="0"/>
              <a:t>B </a:t>
            </a:r>
            <a:r>
              <a:rPr kumimoji="1" lang="zh-CN" altLang="en-US" dirty="0"/>
              <a:t>前写回，同时块 </a:t>
            </a:r>
            <a:r>
              <a:rPr kumimoji="1" lang="en-US" altLang="zh-CN" dirty="0"/>
              <a:t>B </a:t>
            </a:r>
            <a:r>
              <a:rPr kumimoji="1" lang="zh-CN" altLang="en-US" dirty="0"/>
              <a:t>需要在块 </a:t>
            </a:r>
            <a:r>
              <a:rPr kumimoji="1" lang="en-US" altLang="zh-CN" dirty="0"/>
              <a:t>A </a:t>
            </a:r>
            <a:r>
              <a:rPr kumimoji="1" lang="zh-CN" altLang="en-US" dirty="0"/>
              <a:t>前写回</a:t>
            </a:r>
            <a:endParaRPr kumimoji="1" lang="en-US" altLang="zh-CN" dirty="0"/>
          </a:p>
          <a:p>
            <a:pPr lvl="1"/>
            <a:endParaRPr kumimoji="1" lang="en-US" altLang="zh-CN" dirty="0"/>
          </a:p>
          <a:p>
            <a:pPr lvl="0"/>
            <a:r>
              <a:rPr kumimoji="1" lang="zh-CN" altLang="en-US" dirty="0">
                <a:solidFill>
                  <a:srgbClr val="000000">
                    <a:lumMod val="75000"/>
                    <a:lumOff val="25000"/>
                  </a:srgbClr>
                </a:solidFill>
              </a:rPr>
              <a:t>问题</a:t>
            </a:r>
            <a:r>
              <a:rPr kumimoji="1" lang="en-US" altLang="zh-CN" dirty="0">
                <a:solidFill>
                  <a:srgbClr val="000000">
                    <a:lumMod val="75000"/>
                    <a:lumOff val="25000"/>
                  </a:srgbClr>
                </a:solidFill>
              </a:rPr>
              <a:t>2</a:t>
            </a:r>
            <a:r>
              <a:rPr kumimoji="1" lang="zh-CN" altLang="en-US" dirty="0">
                <a:solidFill>
                  <a:srgbClr val="000000">
                    <a:lumMod val="75000"/>
                    <a:lumOff val="25000"/>
                  </a:srgbClr>
                </a:solidFill>
              </a:rPr>
              <a:t>：写回迟滞</a:t>
            </a:r>
            <a:endParaRPr kumimoji="1" lang="en-US" altLang="zh-CN" dirty="0">
              <a:solidFill>
                <a:srgbClr val="000000">
                  <a:lumMod val="75000"/>
                  <a:lumOff val="25000"/>
                </a:srgbClr>
              </a:solidFill>
            </a:endParaRPr>
          </a:p>
          <a:p>
            <a:pPr lvl="1"/>
            <a:r>
              <a:rPr kumimoji="1" lang="zh-CN" altLang="en-US" dirty="0"/>
              <a:t>当一个结构中的数据被频繁修改时，该结构很可能由于一直产生新的依赖导致长时间无法被写回到存储设备之中</a:t>
            </a:r>
            <a:endParaRPr kumimoji="1" lang="en-US" altLang="zh-CN" dirty="0"/>
          </a:p>
        </p:txBody>
      </p:sp>
      <p:sp>
        <p:nvSpPr>
          <p:cNvPr id="4" name="灯片编号占位符 3">
            <a:extLst>
              <a:ext uri="{FF2B5EF4-FFF2-40B4-BE49-F238E27FC236}">
                <a16:creationId xmlns:a16="http://schemas.microsoft.com/office/drawing/2014/main" id="{6C37997D-92C9-AE41-BF67-A782CF096134}"/>
              </a:ext>
            </a:extLst>
          </p:cNvPr>
          <p:cNvSpPr>
            <a:spLocks noGrp="1"/>
          </p:cNvSpPr>
          <p:nvPr>
            <p:ph type="sldNum" sz="quarter" idx="12"/>
          </p:nvPr>
        </p:nvSpPr>
        <p:spPr/>
        <p:txBody>
          <a:bodyPr/>
          <a:lstStyle/>
          <a:p>
            <a:fld id="{ADE361C3-C043-4A6E-BDCE-8DA1E7D90A3B}" type="slidenum">
              <a:rPr lang="zh-CN" altLang="en-US" smtClean="0"/>
              <a:t>73</a:t>
            </a:fld>
            <a:endParaRPr lang="zh-CN" altLang="en-US"/>
          </a:p>
        </p:txBody>
      </p:sp>
      <p:sp>
        <p:nvSpPr>
          <p:cNvPr id="5" name="页脚占位符 4">
            <a:extLst>
              <a:ext uri="{FF2B5EF4-FFF2-40B4-BE49-F238E27FC236}">
                <a16:creationId xmlns:a16="http://schemas.microsoft.com/office/drawing/2014/main" id="{60591A2F-E683-304F-92D3-7B508B9B9B8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BFD36BDA-25BE-F844-9DBE-80AC4D01FA70}"/>
              </a:ext>
            </a:extLst>
          </p:cNvPr>
          <p:cNvPicPr>
            <a:picLocks noChangeAspect="1"/>
          </p:cNvPicPr>
          <p:nvPr/>
        </p:nvPicPr>
        <p:blipFill>
          <a:blip r:embed="rId3"/>
          <a:stretch>
            <a:fillRect/>
          </a:stretch>
        </p:blipFill>
        <p:spPr>
          <a:xfrm>
            <a:off x="5300818" y="17350"/>
            <a:ext cx="3843182" cy="2058151"/>
          </a:xfrm>
          <a:prstGeom prst="rect">
            <a:avLst/>
          </a:prstGeom>
        </p:spPr>
      </p:pic>
    </p:spTree>
    <p:extLst>
      <p:ext uri="{BB962C8B-B14F-4D97-AF65-F5344CB8AC3E}">
        <p14:creationId xmlns:p14="http://schemas.microsoft.com/office/powerpoint/2010/main" val="40446433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C401B-6906-D04E-982E-65FA9B2C9485}"/>
              </a:ext>
            </a:extLst>
          </p:cNvPr>
          <p:cNvSpPr>
            <a:spLocks noGrp="1"/>
          </p:cNvSpPr>
          <p:nvPr>
            <p:ph type="title"/>
          </p:nvPr>
        </p:nvSpPr>
        <p:spPr/>
        <p:txBody>
          <a:bodyPr/>
          <a:lstStyle/>
          <a:p>
            <a:r>
              <a:rPr kumimoji="1" lang="zh-CN" altLang="en-US" dirty="0"/>
              <a:t>撤销和重做</a:t>
            </a:r>
          </a:p>
        </p:txBody>
      </p:sp>
      <p:sp>
        <p:nvSpPr>
          <p:cNvPr id="3" name="内容占位符 2">
            <a:extLst>
              <a:ext uri="{FF2B5EF4-FFF2-40B4-BE49-F238E27FC236}">
                <a16:creationId xmlns:a16="http://schemas.microsoft.com/office/drawing/2014/main" id="{924100E1-4C1C-A347-96E1-0C8BA5803A62}"/>
              </a:ext>
            </a:extLst>
          </p:cNvPr>
          <p:cNvSpPr>
            <a:spLocks noGrp="1"/>
          </p:cNvSpPr>
          <p:nvPr>
            <p:ph idx="1"/>
          </p:nvPr>
        </p:nvSpPr>
        <p:spPr/>
        <p:txBody>
          <a:bodyPr>
            <a:noAutofit/>
          </a:bodyPr>
          <a:lstStyle/>
          <a:p>
            <a:r>
              <a:rPr kumimoji="1" lang="zh-CN" altLang="en-US" sz="2000" dirty="0"/>
              <a:t>解决环形依赖</a:t>
            </a:r>
            <a:endParaRPr kumimoji="1" lang="en-US" altLang="zh-CN" sz="2000" dirty="0"/>
          </a:p>
          <a:p>
            <a:pPr lvl="1"/>
            <a:r>
              <a:rPr kumimoji="1" lang="zh-CN" altLang="en-US" sz="1800" dirty="0"/>
              <a:t>将依赖追踪从块粒度细化为结构粒度，使用撤销和重做打破循环依赖</a:t>
            </a:r>
            <a:endParaRPr kumimoji="1" lang="en-US" altLang="zh-CN" sz="1800" dirty="0"/>
          </a:p>
          <a:p>
            <a:r>
              <a:rPr kumimoji="1" lang="zh-CN" altLang="en-US" sz="2000" dirty="0"/>
              <a:t>记录每个结构上的修改记录</a:t>
            </a:r>
            <a:endParaRPr kumimoji="1" lang="en-US" altLang="zh-CN" sz="2000" dirty="0"/>
          </a:p>
          <a:p>
            <a:pPr lvl="1"/>
            <a:r>
              <a:rPr kumimoji="1" lang="zh-CN" altLang="en-US" sz="1800" dirty="0"/>
              <a:t>当需要将某个结构写回到存储设备时，检测是否有环形依赖</a:t>
            </a:r>
            <a:endParaRPr kumimoji="1" lang="en-US" altLang="zh-CN" sz="1800" dirty="0"/>
          </a:p>
          <a:p>
            <a:pPr lvl="1"/>
            <a:r>
              <a:rPr kumimoji="1" lang="zh-CN" altLang="en-US" sz="1800" dirty="0"/>
              <a:t>当出现环形依赖时，其先将部分操作撤销</a:t>
            </a:r>
            <a:endParaRPr kumimoji="1" lang="en-US" altLang="zh-CN" sz="1800" dirty="0"/>
          </a:p>
          <a:p>
            <a:pPr lvl="2"/>
            <a:r>
              <a:rPr kumimoji="1" lang="zh-CN" altLang="en-US" sz="1800" dirty="0"/>
              <a:t>即将内存中的结构还原到此操作执行前的状态</a:t>
            </a:r>
            <a:endParaRPr kumimoji="1" lang="en-US" altLang="zh-CN" sz="1800" dirty="0"/>
          </a:p>
          <a:p>
            <a:pPr lvl="1"/>
            <a:r>
              <a:rPr kumimoji="1" lang="zh-CN" altLang="en-US" sz="1800" dirty="0"/>
              <a:t>撤销之后环形依赖被打破，根据打破后的依赖将修改按照顺序持久化</a:t>
            </a:r>
            <a:endParaRPr kumimoji="1" lang="en-US" altLang="zh-CN" sz="1800" dirty="0"/>
          </a:p>
          <a:p>
            <a:pPr lvl="1"/>
            <a:r>
              <a:rPr kumimoji="1" lang="zh-CN" altLang="en-US" sz="1800" dirty="0"/>
              <a:t>持久化完毕之后，将此前被撤销的操作恢复，即重做。</a:t>
            </a:r>
            <a:endParaRPr kumimoji="1" lang="en-US" altLang="zh-CN" sz="1800" dirty="0"/>
          </a:p>
          <a:p>
            <a:pPr lvl="1"/>
            <a:r>
              <a:rPr kumimoji="1" lang="zh-CN" altLang="en-US" sz="1800" dirty="0"/>
              <a:t>在重做完成后，将最新的内存中的结构按照新的依赖关系再次持久化</a:t>
            </a:r>
          </a:p>
        </p:txBody>
      </p:sp>
      <p:sp>
        <p:nvSpPr>
          <p:cNvPr id="4" name="灯片编号占位符 3">
            <a:extLst>
              <a:ext uri="{FF2B5EF4-FFF2-40B4-BE49-F238E27FC236}">
                <a16:creationId xmlns:a16="http://schemas.microsoft.com/office/drawing/2014/main" id="{E024F3A6-3453-0842-858F-0F05AAFE6711}"/>
              </a:ext>
            </a:extLst>
          </p:cNvPr>
          <p:cNvSpPr>
            <a:spLocks noGrp="1"/>
          </p:cNvSpPr>
          <p:nvPr>
            <p:ph type="sldNum" sz="quarter" idx="12"/>
          </p:nvPr>
        </p:nvSpPr>
        <p:spPr/>
        <p:txBody>
          <a:bodyPr/>
          <a:lstStyle/>
          <a:p>
            <a:fld id="{ADE361C3-C043-4A6E-BDCE-8DA1E7D90A3B}" type="slidenum">
              <a:rPr lang="zh-CN" altLang="en-US" smtClean="0"/>
              <a:t>74</a:t>
            </a:fld>
            <a:endParaRPr lang="zh-CN" altLang="en-US"/>
          </a:p>
        </p:txBody>
      </p:sp>
      <p:sp>
        <p:nvSpPr>
          <p:cNvPr id="5" name="页脚占位符 4">
            <a:extLst>
              <a:ext uri="{FF2B5EF4-FFF2-40B4-BE49-F238E27FC236}">
                <a16:creationId xmlns:a16="http://schemas.microsoft.com/office/drawing/2014/main" id="{8E71B95C-1299-4D46-8252-3D3208F73D0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2486011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B2E613-B31A-4B43-BB33-853B4A45971D}"/>
              </a:ext>
            </a:extLst>
          </p:cNvPr>
          <p:cNvSpPr>
            <a:spLocks noGrp="1"/>
          </p:cNvSpPr>
          <p:nvPr>
            <p:ph type="title"/>
          </p:nvPr>
        </p:nvSpPr>
        <p:spPr/>
        <p:txBody>
          <a:bodyPr/>
          <a:lstStyle/>
          <a:p>
            <a:r>
              <a:rPr kumimoji="1" lang="zh-CN" altLang="en-US" dirty="0"/>
              <a:t>撤销和重做</a:t>
            </a:r>
          </a:p>
        </p:txBody>
      </p:sp>
      <p:sp>
        <p:nvSpPr>
          <p:cNvPr id="4" name="灯片编号占位符 3">
            <a:extLst>
              <a:ext uri="{FF2B5EF4-FFF2-40B4-BE49-F238E27FC236}">
                <a16:creationId xmlns:a16="http://schemas.microsoft.com/office/drawing/2014/main" id="{3C621FF4-127A-6045-82C3-BF0245217F8F}"/>
              </a:ext>
            </a:extLst>
          </p:cNvPr>
          <p:cNvSpPr>
            <a:spLocks noGrp="1"/>
          </p:cNvSpPr>
          <p:nvPr>
            <p:ph type="sldNum" sz="quarter" idx="12"/>
          </p:nvPr>
        </p:nvSpPr>
        <p:spPr/>
        <p:txBody>
          <a:bodyPr/>
          <a:lstStyle/>
          <a:p>
            <a:fld id="{ADE361C3-C043-4A6E-BDCE-8DA1E7D90A3B}" type="slidenum">
              <a:rPr lang="zh-CN" altLang="en-US" smtClean="0"/>
              <a:t>75</a:t>
            </a:fld>
            <a:endParaRPr lang="zh-CN" altLang="en-US"/>
          </a:p>
        </p:txBody>
      </p:sp>
      <p:sp>
        <p:nvSpPr>
          <p:cNvPr id="5" name="页脚占位符 4">
            <a:extLst>
              <a:ext uri="{FF2B5EF4-FFF2-40B4-BE49-F238E27FC236}">
                <a16:creationId xmlns:a16="http://schemas.microsoft.com/office/drawing/2014/main" id="{68B1FA00-4C0C-A848-B520-AD827ABA1E6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1A6F53BE-5453-644D-A657-EB4CDB704A67}"/>
              </a:ext>
            </a:extLst>
          </p:cNvPr>
          <p:cNvPicPr>
            <a:picLocks noChangeAspect="1"/>
          </p:cNvPicPr>
          <p:nvPr/>
        </p:nvPicPr>
        <p:blipFill>
          <a:blip r:embed="rId3"/>
          <a:stretch>
            <a:fillRect/>
          </a:stretch>
        </p:blipFill>
        <p:spPr>
          <a:xfrm>
            <a:off x="1518657" y="1230577"/>
            <a:ext cx="6106686" cy="3931179"/>
          </a:xfrm>
          <a:prstGeom prst="rect">
            <a:avLst/>
          </a:prstGeom>
        </p:spPr>
      </p:pic>
    </p:spTree>
    <p:extLst>
      <p:ext uri="{BB962C8B-B14F-4D97-AF65-F5344CB8AC3E}">
        <p14:creationId xmlns:p14="http://schemas.microsoft.com/office/powerpoint/2010/main" val="40819599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451C6-13FC-2C4A-9CF4-14E0E75B19A5}"/>
              </a:ext>
            </a:extLst>
          </p:cNvPr>
          <p:cNvSpPr>
            <a:spLocks noGrp="1"/>
          </p:cNvSpPr>
          <p:nvPr>
            <p:ph type="title"/>
          </p:nvPr>
        </p:nvSpPr>
        <p:spPr/>
        <p:txBody>
          <a:bodyPr/>
          <a:lstStyle/>
          <a:p>
            <a:r>
              <a:rPr kumimoji="1" lang="zh-CN" altLang="en-US" dirty="0"/>
              <a:t>撤销和重做</a:t>
            </a:r>
          </a:p>
        </p:txBody>
      </p:sp>
      <p:sp>
        <p:nvSpPr>
          <p:cNvPr id="3" name="内容占位符 2">
            <a:extLst>
              <a:ext uri="{FF2B5EF4-FFF2-40B4-BE49-F238E27FC236}">
                <a16:creationId xmlns:a16="http://schemas.microsoft.com/office/drawing/2014/main" id="{C59B19FA-F1DB-6C43-95DA-94070C88A6BF}"/>
              </a:ext>
            </a:extLst>
          </p:cNvPr>
          <p:cNvSpPr>
            <a:spLocks noGrp="1"/>
          </p:cNvSpPr>
          <p:nvPr>
            <p:ph idx="1"/>
          </p:nvPr>
        </p:nvSpPr>
        <p:spPr/>
        <p:txBody>
          <a:bodyPr/>
          <a:lstStyle/>
          <a:p>
            <a:r>
              <a:rPr kumimoji="1" lang="zh-CN" altLang="en-US" dirty="0"/>
              <a:t>不仅能够打破环形依赖，还能解决写回迟滞的问题</a:t>
            </a:r>
            <a:endParaRPr kumimoji="1" lang="en-US" altLang="zh-CN" dirty="0"/>
          </a:p>
          <a:p>
            <a:pPr lvl="1"/>
            <a:r>
              <a:rPr kumimoji="1" lang="zh-CN" altLang="en-US" dirty="0"/>
              <a:t>若某个结构被频繁修改，导致不断有新的依赖产生时，可将部分新的修改撤销，在快速完成持久化后将修改重做</a:t>
            </a:r>
            <a:endParaRPr kumimoji="1" lang="en-US" altLang="zh-CN" dirty="0"/>
          </a:p>
          <a:p>
            <a:pPr lvl="1"/>
            <a:r>
              <a:rPr kumimoji="1" lang="zh-CN" altLang="en-US" dirty="0"/>
              <a:t>避免新依赖不断推迟该结构上修改的持久化</a:t>
            </a:r>
          </a:p>
        </p:txBody>
      </p:sp>
      <p:sp>
        <p:nvSpPr>
          <p:cNvPr id="4" name="灯片编号占位符 3">
            <a:extLst>
              <a:ext uri="{FF2B5EF4-FFF2-40B4-BE49-F238E27FC236}">
                <a16:creationId xmlns:a16="http://schemas.microsoft.com/office/drawing/2014/main" id="{85110839-E680-FB47-92E0-8FA62C0EAAED}"/>
              </a:ext>
            </a:extLst>
          </p:cNvPr>
          <p:cNvSpPr>
            <a:spLocks noGrp="1"/>
          </p:cNvSpPr>
          <p:nvPr>
            <p:ph type="sldNum" sz="quarter" idx="12"/>
          </p:nvPr>
        </p:nvSpPr>
        <p:spPr/>
        <p:txBody>
          <a:bodyPr/>
          <a:lstStyle/>
          <a:p>
            <a:fld id="{ADE361C3-C043-4A6E-BDCE-8DA1E7D90A3B}" type="slidenum">
              <a:rPr lang="zh-CN" altLang="en-US" smtClean="0"/>
              <a:t>76</a:t>
            </a:fld>
            <a:endParaRPr lang="zh-CN" altLang="en-US"/>
          </a:p>
        </p:txBody>
      </p:sp>
      <p:sp>
        <p:nvSpPr>
          <p:cNvPr id="5" name="页脚占位符 4">
            <a:extLst>
              <a:ext uri="{FF2B5EF4-FFF2-40B4-BE49-F238E27FC236}">
                <a16:creationId xmlns:a16="http://schemas.microsoft.com/office/drawing/2014/main" id="{A6E904F6-6420-4845-913B-AC47886E6A1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22859016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D8B88-D5F4-DA40-B6FD-717DC47245CC}"/>
              </a:ext>
            </a:extLst>
          </p:cNvPr>
          <p:cNvSpPr>
            <a:spLocks noGrp="1"/>
          </p:cNvSpPr>
          <p:nvPr>
            <p:ph type="title"/>
          </p:nvPr>
        </p:nvSpPr>
        <p:spPr/>
        <p:txBody>
          <a:bodyPr/>
          <a:lstStyle/>
          <a:p>
            <a:r>
              <a:rPr lang="zh-CN" altLang="en-US" dirty="0"/>
              <a:t>崩溃一致性保障方法：下一节课</a:t>
            </a:r>
            <a:endParaRPr lang="en-CN" dirty="0"/>
          </a:p>
        </p:txBody>
      </p:sp>
      <p:sp>
        <p:nvSpPr>
          <p:cNvPr id="3" name="Content Placeholder 2">
            <a:extLst>
              <a:ext uri="{FF2B5EF4-FFF2-40B4-BE49-F238E27FC236}">
                <a16:creationId xmlns:a16="http://schemas.microsoft.com/office/drawing/2014/main" id="{E5A0DF85-DF86-AF46-873B-ACC1075A0B50}"/>
              </a:ext>
            </a:extLst>
          </p:cNvPr>
          <p:cNvSpPr>
            <a:spLocks noGrp="1"/>
          </p:cNvSpPr>
          <p:nvPr>
            <p:ph idx="1"/>
          </p:nvPr>
        </p:nvSpPr>
        <p:spPr/>
        <p:txBody>
          <a:bodyPr>
            <a:normAutofit/>
          </a:bodyPr>
          <a:lstStyle/>
          <a:p>
            <a:r>
              <a:rPr lang="en-US" altLang="zh-CN" dirty="0">
                <a:solidFill>
                  <a:schemeClr val="bg1">
                    <a:lumMod val="65000"/>
                  </a:schemeClr>
                </a:solidFill>
              </a:rPr>
              <a:t>Soft</a:t>
            </a:r>
            <a:r>
              <a:rPr lang="zh-CN" altLang="en-US" dirty="0">
                <a:solidFill>
                  <a:schemeClr val="bg1">
                    <a:lumMod val="65000"/>
                  </a:schemeClr>
                </a:solidFill>
              </a:rPr>
              <a:t> </a:t>
            </a:r>
            <a:r>
              <a:rPr lang="en-US" altLang="zh-CN" dirty="0">
                <a:solidFill>
                  <a:schemeClr val="bg1">
                    <a:lumMod val="65000"/>
                  </a:schemeClr>
                </a:solidFill>
              </a:rPr>
              <a:t>updates</a:t>
            </a:r>
          </a:p>
          <a:p>
            <a:r>
              <a:rPr lang="zh-CN" altLang="en-US" dirty="0"/>
              <a:t>日志</a:t>
            </a:r>
            <a:endParaRPr lang="en-US" altLang="zh-CN" dirty="0"/>
          </a:p>
          <a:p>
            <a:r>
              <a:rPr lang="zh-CN" altLang="en-US" dirty="0"/>
              <a:t>写时复制</a:t>
            </a:r>
            <a:endParaRPr lang="en-US" altLang="zh-CN" dirty="0"/>
          </a:p>
          <a:p>
            <a:r>
              <a:rPr lang="zh-CN" altLang="en-US" dirty="0"/>
              <a:t>案例分析：</a:t>
            </a:r>
            <a:r>
              <a:rPr lang="en-US" altLang="zh-CN" dirty="0"/>
              <a:t>LFS</a:t>
            </a:r>
          </a:p>
          <a:p>
            <a:endParaRPr lang="en-US" altLang="zh-CN" dirty="0"/>
          </a:p>
          <a:p>
            <a:endParaRPr lang="en-CN" dirty="0"/>
          </a:p>
        </p:txBody>
      </p:sp>
      <p:sp>
        <p:nvSpPr>
          <p:cNvPr id="4" name="Slide Number Placeholder 3">
            <a:extLst>
              <a:ext uri="{FF2B5EF4-FFF2-40B4-BE49-F238E27FC236}">
                <a16:creationId xmlns:a16="http://schemas.microsoft.com/office/drawing/2014/main" id="{BC3B825D-F3D7-B64C-8793-2333388AA9A4}"/>
              </a:ext>
            </a:extLst>
          </p:cNvPr>
          <p:cNvSpPr>
            <a:spLocks noGrp="1"/>
          </p:cNvSpPr>
          <p:nvPr>
            <p:ph type="sldNum" sz="quarter" idx="12"/>
          </p:nvPr>
        </p:nvSpPr>
        <p:spPr/>
        <p:txBody>
          <a:bodyPr/>
          <a:lstStyle/>
          <a:p>
            <a:fld id="{ADE361C3-C043-4A6E-BDCE-8DA1E7D90A3B}" type="slidenum">
              <a:rPr lang="zh-CN" altLang="en-US" smtClean="0"/>
              <a:t>77</a:t>
            </a:fld>
            <a:endParaRPr lang="zh-CN" altLang="en-US"/>
          </a:p>
        </p:txBody>
      </p:sp>
      <p:sp>
        <p:nvSpPr>
          <p:cNvPr id="5" name="Footer Placeholder 4">
            <a:extLst>
              <a:ext uri="{FF2B5EF4-FFF2-40B4-BE49-F238E27FC236}">
                <a16:creationId xmlns:a16="http://schemas.microsoft.com/office/drawing/2014/main" id="{87B28832-8757-284D-BE12-68AC9A84D29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文本框 6">
            <a:extLst>
              <a:ext uri="{FF2B5EF4-FFF2-40B4-BE49-F238E27FC236}">
                <a16:creationId xmlns:a16="http://schemas.microsoft.com/office/drawing/2014/main" id="{670D3325-4218-A44F-829C-D8E30CD095C0}"/>
              </a:ext>
            </a:extLst>
          </p:cNvPr>
          <p:cNvSpPr txBox="1"/>
          <p:nvPr/>
        </p:nvSpPr>
        <p:spPr>
          <a:xfrm>
            <a:off x="3419872" y="2261401"/>
            <a:ext cx="4660710" cy="400110"/>
          </a:xfrm>
          <a:prstGeom prst="rect">
            <a:avLst/>
          </a:prstGeom>
          <a:noFill/>
        </p:spPr>
        <p:txBody>
          <a:bodyPr wrap="square">
            <a:spAutoFit/>
          </a:bodyPr>
          <a:lstStyle/>
          <a:p>
            <a:r>
              <a:rPr lang="zh-CN" altLang="en-US" sz="2000" b="1" dirty="0">
                <a:solidFill>
                  <a:schemeClr val="accent1"/>
                </a:solidFill>
              </a:rPr>
              <a:t>原子更新技术</a:t>
            </a:r>
            <a:endParaRPr lang="en-US" altLang="zh-CN" sz="2000" b="1" dirty="0">
              <a:solidFill>
                <a:schemeClr val="accent1"/>
              </a:solidFill>
            </a:endParaRPr>
          </a:p>
        </p:txBody>
      </p:sp>
      <p:sp>
        <p:nvSpPr>
          <p:cNvPr id="8" name="右大括号 7">
            <a:extLst>
              <a:ext uri="{FF2B5EF4-FFF2-40B4-BE49-F238E27FC236}">
                <a16:creationId xmlns:a16="http://schemas.microsoft.com/office/drawing/2014/main" id="{76FEE3C2-A1DE-D84F-823B-3E041558973E}"/>
              </a:ext>
            </a:extLst>
          </p:cNvPr>
          <p:cNvSpPr/>
          <p:nvPr/>
        </p:nvSpPr>
        <p:spPr>
          <a:xfrm>
            <a:off x="3131840" y="2065412"/>
            <a:ext cx="144016" cy="792088"/>
          </a:xfrm>
          <a:prstGeom prst="rightBrace">
            <a:avLst>
              <a:gd name="adj1" fmla="val 3323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Tree>
    <p:extLst>
      <p:ext uri="{BB962C8B-B14F-4D97-AF65-F5344CB8AC3E}">
        <p14:creationId xmlns:p14="http://schemas.microsoft.com/office/powerpoint/2010/main" val="1859598410"/>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47426</TotalTime>
  <Words>7577</Words>
  <Application>Microsoft Macintosh PowerPoint</Application>
  <PresentationFormat>全屏显示(16:10)</PresentationFormat>
  <Paragraphs>1313</Paragraphs>
  <Slides>77</Slides>
  <Notes>24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77</vt:i4>
      </vt:variant>
    </vt:vector>
  </HeadingPairs>
  <TitlesOfParts>
    <vt:vector size="84" baseType="lpstr">
      <vt:lpstr>DengXian</vt:lpstr>
      <vt:lpstr>微软雅黑</vt:lpstr>
      <vt:lpstr>Arial</vt:lpstr>
      <vt:lpstr>Calibri</vt:lpstr>
      <vt:lpstr>Courier</vt:lpstr>
      <vt:lpstr>Wingdings</vt:lpstr>
      <vt:lpstr>Office 主题​​</vt:lpstr>
      <vt:lpstr>文件系统结构</vt:lpstr>
      <vt:lpstr>版权声明</vt:lpstr>
      <vt:lpstr>Review: NTFS主文件表MFT</vt:lpstr>
      <vt:lpstr>Review: NTFS的目录和硬链接</vt:lpstr>
      <vt:lpstr>PowerPoint 演示文稿</vt:lpstr>
      <vt:lpstr>虚拟文件系统（VFS）</vt:lpstr>
      <vt:lpstr>如何在一个系统中同时支持多个文件系统？</vt:lpstr>
      <vt:lpstr>Linux中的虚拟文件系统VFS</vt:lpstr>
      <vt:lpstr>虚拟文件系统 VFS</vt:lpstr>
      <vt:lpstr>虚拟文件系统 VFS</vt:lpstr>
      <vt:lpstr>虚拟文件系统 VFS</vt:lpstr>
      <vt:lpstr>虚拟文件系统 VFS</vt:lpstr>
      <vt:lpstr>虚拟文件系统 VFS</vt:lpstr>
      <vt:lpstr>虚拟文件系统 VFS</vt:lpstr>
      <vt:lpstr>Linux中的虚拟文件系统VFS</vt:lpstr>
      <vt:lpstr>问题</vt:lpstr>
      <vt:lpstr>存储结构与缓存</vt:lpstr>
      <vt:lpstr>页缓存（Page Cache）</vt:lpstr>
      <vt:lpstr>页缓存</vt:lpstr>
      <vt:lpstr>页缓存之外</vt:lpstr>
      <vt:lpstr>内存与存储结构</vt:lpstr>
      <vt:lpstr>缓存情况下的文件查找</vt:lpstr>
      <vt:lpstr>宏内核(Linux)中的存储栈</vt:lpstr>
      <vt:lpstr>ChCore中的文件与存储结构</vt:lpstr>
      <vt:lpstr>文件系统高级功能</vt:lpstr>
      <vt:lpstr>文件复制</vt:lpstr>
      <vt:lpstr>文件复制</vt:lpstr>
      <vt:lpstr>文件复制</vt:lpstr>
      <vt:lpstr>克隆</vt:lpstr>
      <vt:lpstr>克隆（Clone）</vt:lpstr>
      <vt:lpstr>快照（Snapshot）</vt:lpstr>
      <vt:lpstr>稀疏文件</vt:lpstr>
      <vt:lpstr>稀疏文件</vt:lpstr>
      <vt:lpstr>稀疏文件</vt:lpstr>
      <vt:lpstr>文件系统的一些其他高级功能</vt:lpstr>
      <vt:lpstr>文件系统的多种形式</vt:lpstr>
      <vt:lpstr>GIT：内容寻址文件系统</vt:lpstr>
      <vt:lpstr>GIT对象与文件系统</vt:lpstr>
      <vt:lpstr>GIT的提交</vt:lpstr>
      <vt:lpstr>SQLite：文件系统的竞争者</vt:lpstr>
      <vt:lpstr>SQLite：文件系统的竞争者</vt:lpstr>
      <vt:lpstr>SQLite引发的思考🤔</vt:lpstr>
      <vt:lpstr>FUSE：用户态文件系统框架</vt:lpstr>
      <vt:lpstr>FUSE用户态文件系统框架</vt:lpstr>
      <vt:lpstr>FUSE基本流程</vt:lpstr>
      <vt:lpstr>FUSE API</vt:lpstr>
      <vt:lpstr>FUSE底层API</vt:lpstr>
      <vt:lpstr>FUSE高层API</vt:lpstr>
      <vt:lpstr>现实中，FUSE能用来做什么？</vt:lpstr>
      <vt:lpstr>文件系统崩溃一致性</vt:lpstr>
      <vt:lpstr>文件系统的崩溃一致性</vt:lpstr>
      <vt:lpstr>回顾：文件的创建</vt:lpstr>
      <vt:lpstr>文件的创建</vt:lpstr>
      <vt:lpstr>回顾：内存与存储结构</vt:lpstr>
      <vt:lpstr>考虑内存缓存下的崩溃情况</vt:lpstr>
      <vt:lpstr>考虑内存缓存下的崩溃情况</vt:lpstr>
      <vt:lpstr>思考时间🤔</vt:lpstr>
      <vt:lpstr>崩溃一致性：用户期望</vt:lpstr>
      <vt:lpstr>一些（简化的）假设</vt:lpstr>
      <vt:lpstr>为什么保证崩溃一致性这么困难呢？</vt:lpstr>
      <vt:lpstr>方法：在线与离线恢复</vt:lpstr>
      <vt:lpstr>文件系统操作所要求的三个属性</vt:lpstr>
      <vt:lpstr>崩溃一致性保障方法</vt:lpstr>
      <vt:lpstr>Soft updates</vt:lpstr>
      <vt:lpstr>Soft Updates</vt:lpstr>
      <vt:lpstr>Soft Updates的总体思想</vt:lpstr>
      <vt:lpstr>Soft Updates的三个次序规则</vt:lpstr>
      <vt:lpstr>Soft Updates</vt:lpstr>
      <vt:lpstr>创建文件</vt:lpstr>
      <vt:lpstr>删除文件</vt:lpstr>
      <vt:lpstr>文件重命名</vt:lpstr>
      <vt:lpstr>依赖追踪</vt:lpstr>
      <vt:lpstr>依赖追踪的两个问题</vt:lpstr>
      <vt:lpstr>撤销和重做</vt:lpstr>
      <vt:lpstr>撤销和重做</vt:lpstr>
      <vt:lpstr>撤销和重做</vt:lpstr>
      <vt:lpstr>崩溃一致性保障方法：下一节课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Haibo Chen</cp:lastModifiedBy>
  <cp:revision>3544</cp:revision>
  <cp:lastPrinted>2016-06-13T07:55:34Z</cp:lastPrinted>
  <dcterms:created xsi:type="dcterms:W3CDTF">2017-11-24T09:35:45Z</dcterms:created>
  <dcterms:modified xsi:type="dcterms:W3CDTF">2022-04-07T05:23:28Z</dcterms:modified>
</cp:coreProperties>
</file>