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5"/>
  </p:notesMasterIdLst>
  <p:handoutMasterIdLst>
    <p:handoutMasterId r:id="rId66"/>
  </p:handoutMasterIdLst>
  <p:sldIdLst>
    <p:sldId id="1306" r:id="rId2"/>
    <p:sldId id="1359" r:id="rId3"/>
    <p:sldId id="2237" r:id="rId4"/>
    <p:sldId id="2238" r:id="rId5"/>
    <p:sldId id="2951" r:id="rId6"/>
    <p:sldId id="2945" r:id="rId7"/>
    <p:sldId id="2946" r:id="rId8"/>
    <p:sldId id="2947" r:id="rId9"/>
    <p:sldId id="2948" r:id="rId10"/>
    <p:sldId id="2242" r:id="rId11"/>
    <p:sldId id="2244" r:id="rId12"/>
    <p:sldId id="2246" r:id="rId13"/>
    <p:sldId id="2247" r:id="rId14"/>
    <p:sldId id="2248" r:id="rId15"/>
    <p:sldId id="2249" r:id="rId16"/>
    <p:sldId id="2949" r:id="rId17"/>
    <p:sldId id="2950" r:id="rId18"/>
    <p:sldId id="2250" r:id="rId19"/>
    <p:sldId id="2251" r:id="rId20"/>
    <p:sldId id="2253" r:id="rId21"/>
    <p:sldId id="2254" r:id="rId22"/>
    <p:sldId id="2952" r:id="rId23"/>
    <p:sldId id="2953" r:id="rId24"/>
    <p:sldId id="2954" r:id="rId25"/>
    <p:sldId id="2255" r:id="rId26"/>
    <p:sldId id="2256" r:id="rId27"/>
    <p:sldId id="2283" r:id="rId28"/>
    <p:sldId id="2284" r:id="rId29"/>
    <p:sldId id="2257" r:id="rId30"/>
    <p:sldId id="2258" r:id="rId31"/>
    <p:sldId id="2259" r:id="rId32"/>
    <p:sldId id="2261" r:id="rId33"/>
    <p:sldId id="2262" r:id="rId34"/>
    <p:sldId id="2263" r:id="rId35"/>
    <p:sldId id="2264" r:id="rId36"/>
    <p:sldId id="297" r:id="rId37"/>
    <p:sldId id="2272" r:id="rId38"/>
    <p:sldId id="2277" r:id="rId39"/>
    <p:sldId id="2278" r:id="rId40"/>
    <p:sldId id="2267" r:id="rId41"/>
    <p:sldId id="2268" r:id="rId42"/>
    <p:sldId id="2279" r:id="rId43"/>
    <p:sldId id="2280" r:id="rId44"/>
    <p:sldId id="2281" r:id="rId45"/>
    <p:sldId id="2282" r:id="rId46"/>
    <p:sldId id="2299" r:id="rId47"/>
    <p:sldId id="2245" r:id="rId48"/>
    <p:sldId id="2285" r:id="rId49"/>
    <p:sldId id="2286" r:id="rId50"/>
    <p:sldId id="2287" r:id="rId51"/>
    <p:sldId id="2288" r:id="rId52"/>
    <p:sldId id="2289" r:id="rId53"/>
    <p:sldId id="2252" r:id="rId54"/>
    <p:sldId id="2290" r:id="rId55"/>
    <p:sldId id="2291" r:id="rId56"/>
    <p:sldId id="2292" r:id="rId57"/>
    <p:sldId id="2293" r:id="rId58"/>
    <p:sldId id="2294" r:id="rId59"/>
    <p:sldId id="2295" r:id="rId60"/>
    <p:sldId id="2260" r:id="rId61"/>
    <p:sldId id="2296" r:id="rId62"/>
    <p:sldId id="2297" r:id="rId63"/>
    <p:sldId id="2298" r:id="rId64"/>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3878" userDrawn="1">
          <p15:clr>
            <a:srgbClr val="A4A3A4"/>
          </p15:clr>
        </p15:guide>
        <p15:guide id="3"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BE384B"/>
    <a:srgbClr val="558ED6"/>
    <a:srgbClr val="9BBC59"/>
    <a:srgbClr val="404040"/>
    <a:srgbClr val="FFFF99"/>
    <a:srgbClr val="D5C88B"/>
    <a:srgbClr val="385D8A"/>
    <a:srgbClr val="72893E"/>
    <a:srgbClr val="515151"/>
    <a:srgbClr val="9411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46" autoAdjust="0"/>
    <p:restoredTop sz="82230" autoAdjust="0"/>
  </p:normalViewPr>
  <p:slideViewPr>
    <p:cSldViewPr>
      <p:cViewPr varScale="1">
        <p:scale>
          <a:sx n="63" d="100"/>
          <a:sy n="63" d="100"/>
        </p:scale>
        <p:origin x="184" y="1760"/>
      </p:cViewPr>
      <p:guideLst>
        <p:guide orient="horz" pos="1800"/>
        <p:guide pos="3878"/>
        <p:guide pos="2880"/>
      </p:guideLst>
    </p:cSldViewPr>
  </p:slideViewPr>
  <p:outlineViewPr>
    <p:cViewPr>
      <p:scale>
        <a:sx n="33" d="100"/>
        <a:sy n="33" d="100"/>
      </p:scale>
      <p:origin x="0" y="-44520"/>
    </p:cViewPr>
  </p:outlineViewPr>
  <p:notesTextViewPr>
    <p:cViewPr>
      <p:scale>
        <a:sx n="135" d="100"/>
        <a:sy n="135" d="100"/>
      </p:scale>
      <p:origin x="0" y="0"/>
    </p:cViewPr>
  </p:notesTextViewPr>
  <p:sorterViewPr>
    <p:cViewPr>
      <p:scale>
        <a:sx n="66" d="100"/>
        <a:sy n="66" d="100"/>
      </p:scale>
      <p:origin x="0" y="0"/>
    </p:cViewPr>
  </p:sorterViewPr>
  <p:notesViewPr>
    <p:cSldViewPr>
      <p:cViewPr varScale="1">
        <p:scale>
          <a:sx n="121" d="100"/>
          <a:sy n="121" d="100"/>
        </p:scale>
        <p:origin x="3864" y="17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D384E5B-0B7C-A143-A087-04B582FC4BEF}" type="datetimeFigureOut">
              <a:rPr kumimoji="1" lang="zh-CN" altLang="en-US" smtClean="0"/>
              <a:t>2022/5/10</a:t>
            </a:fld>
            <a:endParaRPr kumimoji="1"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E78370ED-3FEA-E543-9D41-DF20FAD761C7}" type="slidenum">
              <a:rPr kumimoji="1" lang="zh-CN" altLang="en-US" smtClean="0"/>
              <a:t>‹#›</a:t>
            </a:fld>
            <a:endParaRPr kumimoji="1" lang="zh-CN" altLang="en-US"/>
          </a:p>
        </p:txBody>
      </p:sp>
    </p:spTree>
    <p:extLst>
      <p:ext uri="{BB962C8B-B14F-4D97-AF65-F5344CB8AC3E}">
        <p14:creationId xmlns:p14="http://schemas.microsoft.com/office/powerpoint/2010/main" val="35551917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2D7DB94-E0DE-4F0F-A9B7-54654CD8C8B1}" type="datetimeFigureOut">
              <a:rPr lang="zh-CN" altLang="en-US" smtClean="0"/>
              <a:t>2022/5/10</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A84A077-83E9-49A7-9F59-234D78BD6949}" type="slidenum">
              <a:rPr lang="zh-CN" altLang="en-US" smtClean="0"/>
              <a:t>‹#›</a:t>
            </a:fld>
            <a:endParaRPr lang="zh-CN" altLang="en-US"/>
          </a:p>
        </p:txBody>
      </p:sp>
    </p:spTree>
    <p:extLst>
      <p:ext uri="{BB962C8B-B14F-4D97-AF65-F5344CB8AC3E}">
        <p14:creationId xmlns:p14="http://schemas.microsoft.com/office/powerpoint/2010/main" val="2430265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685800"/>
            <a:ext cx="5486400" cy="3429000"/>
          </a:xfrm>
        </p:spPr>
      </p:sp>
      <p:sp>
        <p:nvSpPr>
          <p:cNvPr id="3" name="备注占位符 2"/>
          <p:cNvSpPr>
            <a:spLocks noGrp="1"/>
          </p:cNvSpPr>
          <p:nvPr>
            <p:ph type="body" idx="1"/>
          </p:nvPr>
        </p:nvSpPr>
        <p:spPr/>
        <p:txBody>
          <a:bodyPr/>
          <a:lstStyle/>
          <a:p>
            <a:endParaRPr kumimoji="1" lang="en-US" altLang="zh-CN" baseline="0"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12990187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3</a:t>
            </a:fld>
            <a:endParaRPr lang="zh-CN" altLang="en-US"/>
          </a:p>
        </p:txBody>
      </p:sp>
    </p:spTree>
    <p:extLst>
      <p:ext uri="{BB962C8B-B14F-4D97-AF65-F5344CB8AC3E}">
        <p14:creationId xmlns:p14="http://schemas.microsoft.com/office/powerpoint/2010/main" val="2957222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23</a:t>
            </a:fld>
            <a:endParaRPr lang="zh-CN" altLang="en-US"/>
          </a:p>
        </p:txBody>
      </p:sp>
    </p:spTree>
    <p:extLst>
      <p:ext uri="{BB962C8B-B14F-4D97-AF65-F5344CB8AC3E}">
        <p14:creationId xmlns:p14="http://schemas.microsoft.com/office/powerpoint/2010/main" val="29450991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zh-CN" dirty="0"/>
              <a:t>c</a:t>
            </a:r>
            <a:r>
              <a:rPr lang="en" altLang="zh-CN" sz="1200" kern="1200" dirty="0" err="1">
                <a:solidFill>
                  <a:schemeClr val="tx1"/>
                </a:solidFill>
                <a:effectLst/>
                <a:latin typeface="+mn-lt"/>
                <a:ea typeface="+mn-ea"/>
                <a:cs typeface="+mn-cs"/>
              </a:rPr>
              <a:t>ount</a:t>
            </a:r>
            <a:r>
              <a:rPr lang="zh-CN" altLang="en-US" sz="1200" kern="1200" dirty="0">
                <a:solidFill>
                  <a:schemeClr val="tx1"/>
                </a:solidFill>
                <a:effectLst/>
                <a:latin typeface="+mn-lt"/>
                <a:ea typeface="+mn-ea"/>
                <a:cs typeface="+mn-cs"/>
              </a:rPr>
              <a:t>变量来自用户空间，尽管对其长度进行了检查， 但这个检查是不够的</a:t>
            </a:r>
            <a:r>
              <a:rPr lang="en-US" altLang="zh-C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因为</a:t>
            </a:r>
            <a:r>
              <a:rPr lang="en" altLang="zh-CN" sz="1200" kern="1200" dirty="0" err="1">
                <a:solidFill>
                  <a:schemeClr val="tx1"/>
                </a:solidFill>
                <a:effectLst/>
                <a:latin typeface="+mn-lt"/>
                <a:ea typeface="+mn-ea"/>
                <a:cs typeface="+mn-cs"/>
              </a:rPr>
              <a:t>sizeof</a:t>
            </a:r>
            <a:r>
              <a:rPr lang="zh-CN" altLang="en" sz="1200" kern="1200" dirty="0">
                <a:solidFill>
                  <a:schemeClr val="tx1"/>
                </a:solidFill>
                <a:effectLst/>
                <a:latin typeface="+mn-lt"/>
                <a:ea typeface="+mn-ea"/>
                <a:cs typeface="+mn-cs"/>
              </a:rPr>
              <a:t>（</a:t>
            </a:r>
            <a:r>
              <a:rPr lang="en" altLang="zh-CN" sz="1200" kern="1200" dirty="0">
                <a:solidFill>
                  <a:schemeClr val="tx1"/>
                </a:solidFill>
                <a:effectLst/>
                <a:latin typeface="+mn-lt"/>
                <a:ea typeface="+mn-ea"/>
                <a:cs typeface="+mn-cs"/>
              </a:rPr>
              <a:t>struct </a:t>
            </a:r>
            <a:r>
              <a:rPr lang="en" altLang="zh-CN" sz="1200" kern="1200" dirty="0" err="1">
                <a:solidFill>
                  <a:schemeClr val="tx1"/>
                </a:solidFill>
                <a:effectLst/>
                <a:latin typeface="+mn-lt"/>
                <a:ea typeface="+mn-ea"/>
                <a:cs typeface="+mn-cs"/>
              </a:rPr>
              <a:t>rps</a:t>
            </a:r>
            <a:r>
              <a:rPr lang="en" altLang="zh-CN" sz="1200" kern="1200" dirty="0">
                <a:solidFill>
                  <a:schemeClr val="tx1"/>
                </a:solidFill>
                <a:effectLst/>
                <a:latin typeface="+mn-lt"/>
                <a:ea typeface="+mn-ea"/>
                <a:cs typeface="+mn-cs"/>
              </a:rPr>
              <a:t>\_dev\_flow</a:t>
            </a:r>
            <a:r>
              <a:rPr lang="zh-CN" altLang="en" sz="1200" kern="1200" dirty="0">
                <a:solidFill>
                  <a:schemeClr val="tx1"/>
                </a:solidFill>
                <a:effectLst/>
                <a:latin typeface="+mn-lt"/>
                <a:ea typeface="+mn-ea"/>
                <a:cs typeface="+mn-cs"/>
              </a:rPr>
              <a:t>）</a:t>
            </a:r>
            <a:r>
              <a:rPr lang="zh-CN" altLang="en-US" sz="1200" kern="1200" dirty="0">
                <a:solidFill>
                  <a:schemeClr val="tx1"/>
                </a:solidFill>
                <a:effectLst/>
                <a:latin typeface="+mn-lt"/>
                <a:ea typeface="+mn-ea"/>
                <a:cs typeface="+mn-cs"/>
              </a:rPr>
              <a:t>的长度是 </a:t>
            </a:r>
            <a:r>
              <a:rPr lang="en-US" altLang="zh-CN" sz="1200" kern="1200" dirty="0">
                <a:solidFill>
                  <a:schemeClr val="tx1"/>
                </a:solidFill>
                <a:effectLst/>
                <a:latin typeface="+mn-lt"/>
                <a:ea typeface="+mn-ea"/>
                <a:cs typeface="+mn-cs"/>
              </a:rPr>
              <a:t>8</a:t>
            </a:r>
            <a:r>
              <a:rPr lang="zh-CN" altLang="en-US" sz="1200" kern="1200" dirty="0">
                <a:solidFill>
                  <a:schemeClr val="tx1"/>
                </a:solidFill>
                <a:effectLst/>
                <a:latin typeface="+mn-lt"/>
                <a:ea typeface="+mn-ea"/>
                <a:cs typeface="+mn-cs"/>
              </a:rPr>
              <a:t>，因此如果</a:t>
            </a:r>
            <a:r>
              <a:rPr lang="en" altLang="zh-CN" sz="1200" kern="1200" dirty="0">
                <a:solidFill>
                  <a:schemeClr val="tx1"/>
                </a:solidFill>
                <a:effectLst/>
                <a:latin typeface="+mn-lt"/>
                <a:ea typeface="+mn-ea"/>
                <a:cs typeface="+mn-cs"/>
              </a:rPr>
              <a:t>count</a:t>
            </a:r>
            <a:r>
              <a:rPr lang="zh-CN" altLang="en-US" sz="1200" kern="1200" dirty="0">
                <a:solidFill>
                  <a:schemeClr val="tx1"/>
                </a:solidFill>
                <a:effectLst/>
                <a:latin typeface="+mn-lt"/>
                <a:ea typeface="+mn-ea"/>
                <a:cs typeface="+mn-cs"/>
              </a:rPr>
              <a:t>的长度正好是 </a:t>
            </a:r>
            <a:r>
              <a:rPr lang="en-US" altLang="zh-CN" sz="1200" kern="1200" dirty="0">
                <a:solidFill>
                  <a:schemeClr val="tx1"/>
                </a:solidFill>
                <a:effectLst/>
                <a:latin typeface="+mn-lt"/>
                <a:ea typeface="+mn-ea"/>
                <a:cs typeface="+mn-cs"/>
              </a:rPr>
              <a:t>2^30</a:t>
            </a:r>
            <a:r>
              <a:rPr lang="zh-CN" altLang="en-US" sz="1200" kern="1200" dirty="0">
                <a:solidFill>
                  <a:schemeClr val="tx1"/>
                </a:solidFill>
                <a:effectLst/>
                <a:latin typeface="+mn-lt"/>
                <a:ea typeface="+mn-ea"/>
                <a:cs typeface="+mn-cs"/>
              </a:rPr>
              <a:t>，那么</a:t>
            </a:r>
            <a:r>
              <a:rPr lang="en" altLang="zh-CN" sz="1200" kern="1200" dirty="0" err="1">
                <a:solidFill>
                  <a:schemeClr val="tx1"/>
                </a:solidFill>
                <a:effectLst/>
                <a:latin typeface="+mn-lt"/>
                <a:ea typeface="+mn-ea"/>
                <a:cs typeface="+mn-cs"/>
              </a:rPr>
              <a:t>vmalloc</a:t>
            </a:r>
            <a:r>
              <a:rPr lang="zh-CN" altLang="en-US" sz="1200" kern="1200" dirty="0">
                <a:solidFill>
                  <a:schemeClr val="tx1"/>
                </a:solidFill>
                <a:effectLst/>
                <a:latin typeface="+mn-lt"/>
                <a:ea typeface="+mn-ea"/>
                <a:cs typeface="+mn-cs"/>
              </a:rPr>
              <a:t>的参数依然会造成溢出。 由于</a:t>
            </a:r>
            <a:r>
              <a:rPr lang="en" altLang="zh-CN" sz="1200" kern="1200" dirty="0">
                <a:solidFill>
                  <a:schemeClr val="tx1"/>
                </a:solidFill>
                <a:effectLst/>
                <a:latin typeface="+mn-lt"/>
                <a:ea typeface="+mn-ea"/>
                <a:cs typeface="+mn-cs"/>
              </a:rPr>
              <a:t>count</a:t>
            </a:r>
            <a:r>
              <a:rPr lang="zh-CN" altLang="en-US" sz="1200" kern="1200" dirty="0">
                <a:solidFill>
                  <a:schemeClr val="tx1"/>
                </a:solidFill>
                <a:effectLst/>
                <a:latin typeface="+mn-lt"/>
                <a:ea typeface="+mn-ea"/>
                <a:cs typeface="+mn-cs"/>
              </a:rPr>
              <a:t>远远大于 </a:t>
            </a:r>
            <a:r>
              <a:rPr lang="en" altLang="zh-CN" sz="1200" kern="1200" dirty="0" err="1">
                <a:solidFill>
                  <a:schemeClr val="tx1"/>
                </a:solidFill>
                <a:effectLst/>
                <a:latin typeface="+mn-lt"/>
                <a:ea typeface="+mn-ea"/>
                <a:cs typeface="+mn-cs"/>
              </a:rPr>
              <a:t>vmalloc</a:t>
            </a:r>
            <a:r>
              <a:rPr lang="en"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得到的内存大小，因此在后续</a:t>
            </a:r>
            <a:r>
              <a:rPr lang="en" altLang="zh-CN" sz="1200" kern="1200" dirty="0">
                <a:solidFill>
                  <a:schemeClr val="tx1"/>
                </a:solidFill>
                <a:effectLst/>
                <a:latin typeface="+mn-lt"/>
                <a:ea typeface="+mn-ea"/>
                <a:cs typeface="+mn-cs"/>
              </a:rPr>
              <a:t>for</a:t>
            </a:r>
            <a:r>
              <a:rPr lang="zh-CN" altLang="en-US" sz="1200" kern="1200" dirty="0">
                <a:solidFill>
                  <a:schemeClr val="tx1"/>
                </a:solidFill>
                <a:effectLst/>
                <a:latin typeface="+mn-lt"/>
                <a:ea typeface="+mn-ea"/>
                <a:cs typeface="+mn-cs"/>
              </a:rPr>
              <a:t>循环中便会写入超出</a:t>
            </a:r>
            <a:r>
              <a:rPr lang="en" altLang="zh-CN" sz="1200" kern="1200" dirty="0">
                <a:solidFill>
                  <a:schemeClr val="tx1"/>
                </a:solidFill>
                <a:effectLst/>
                <a:latin typeface="+mn-lt"/>
                <a:ea typeface="+mn-ea"/>
                <a:cs typeface="+mn-cs"/>
              </a:rPr>
              <a:t>table</a:t>
            </a:r>
            <a:r>
              <a:rPr lang="zh-CN" altLang="en-US" sz="1200" kern="1200" dirty="0">
                <a:solidFill>
                  <a:schemeClr val="tx1"/>
                </a:solidFill>
                <a:effectLst/>
                <a:latin typeface="+mn-lt"/>
                <a:ea typeface="+mn-ea"/>
                <a:cs typeface="+mn-cs"/>
              </a:rPr>
              <a:t>边界的内存区域。</a:t>
            </a:r>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25</a:t>
            </a:fld>
            <a:endParaRPr lang="zh-CN" altLang="en-US"/>
          </a:p>
        </p:txBody>
      </p:sp>
    </p:spTree>
    <p:extLst>
      <p:ext uri="{BB962C8B-B14F-4D97-AF65-F5344CB8AC3E}">
        <p14:creationId xmlns:p14="http://schemas.microsoft.com/office/powerpoint/2010/main" val="40354673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27</a:t>
            </a:fld>
            <a:endParaRPr lang="zh-CN" altLang="en-US"/>
          </a:p>
        </p:txBody>
      </p:sp>
    </p:spTree>
    <p:extLst>
      <p:ext uri="{BB962C8B-B14F-4D97-AF65-F5344CB8AC3E}">
        <p14:creationId xmlns:p14="http://schemas.microsoft.com/office/powerpoint/2010/main" val="27649844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41</a:t>
            </a:fld>
            <a:endParaRPr lang="zh-CN" altLang="en-US"/>
          </a:p>
        </p:txBody>
      </p:sp>
    </p:spTree>
    <p:extLst>
      <p:ext uri="{BB962C8B-B14F-4D97-AF65-F5344CB8AC3E}">
        <p14:creationId xmlns:p14="http://schemas.microsoft.com/office/powerpoint/2010/main" val="14620605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我们就以</a:t>
            </a:r>
            <a:r>
              <a:rPr kumimoji="1" lang="en-US" altLang="zh-CN" dirty="0"/>
              <a:t>Meltdown</a:t>
            </a:r>
            <a:r>
              <a:rPr kumimoji="1" lang="zh-CN" altLang="en-US" dirty="0"/>
              <a:t>漏洞为例，具体介绍当下高危漏洞的攻击原理以及操作系统对应的防御手段</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47</a:t>
            </a:fld>
            <a:endParaRPr lang="zh-CN" altLang="en-US"/>
          </a:p>
        </p:txBody>
      </p:sp>
    </p:spTree>
    <p:extLst>
      <p:ext uri="{BB962C8B-B14F-4D97-AF65-F5344CB8AC3E}">
        <p14:creationId xmlns:p14="http://schemas.microsoft.com/office/powerpoint/2010/main" val="2564869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在介绍</a:t>
            </a:r>
            <a:r>
              <a:rPr kumimoji="1" lang="en-US" altLang="zh-CN" dirty="0"/>
              <a:t>Meltdown</a:t>
            </a:r>
            <a:r>
              <a:rPr kumimoji="1" lang="zh-CN" altLang="en-US" dirty="0"/>
              <a:t>漏洞的原理之前，我们先简单回顾一下操作系统对内核数据的保护方法。</a:t>
            </a:r>
            <a:endParaRPr kumimoji="1" lang="en-US" altLang="zh-CN" dirty="0"/>
          </a:p>
          <a:p>
            <a:endParaRPr kumimoji="1" lang="en-US" altLang="zh-CN" dirty="0"/>
          </a:p>
          <a:p>
            <a:r>
              <a:rPr kumimoji="1" lang="zh-CN" altLang="en-US" dirty="0"/>
              <a:t>操作系统使用硬件提供的页表机制实现对内核内存的访问控制。所有程序均使用虚拟地址进行对内存数据的访问操作，而页表控制了虚拟地址与实际物理地址的转换，并且在转换过程中进行访问权限的检查。</a:t>
            </a:r>
            <a:endParaRPr kumimoji="1" lang="en-US" altLang="zh-CN" dirty="0"/>
          </a:p>
          <a:p>
            <a:endParaRPr kumimoji="1" lang="en-US" altLang="zh-CN" dirty="0"/>
          </a:p>
          <a:p>
            <a:r>
              <a:rPr kumimoji="1" lang="zh-CN" altLang="en-US" dirty="0"/>
              <a:t>对于内核内存，其会在页表中进行特殊标注，只有运行在内核态的程序才能够访问该内存数据。</a:t>
            </a:r>
            <a:endParaRPr kumimoji="1" lang="en-US" altLang="zh-CN" dirty="0"/>
          </a:p>
          <a:p>
            <a:endParaRPr kumimoji="1" lang="en-US" altLang="zh-CN" dirty="0"/>
          </a:p>
          <a:p>
            <a:r>
              <a:rPr kumimoji="1" lang="zh-CN" altLang="en-US" dirty="0"/>
              <a:t>当操作系统正常访问内核数据时，在地址翻译的过程中，页表会发现当前</a:t>
            </a:r>
            <a:r>
              <a:rPr kumimoji="1" lang="en-US" altLang="zh-CN" dirty="0"/>
              <a:t>CPU</a:t>
            </a:r>
            <a:r>
              <a:rPr kumimoji="1" lang="zh-CN" altLang="en-US" dirty="0"/>
              <a:t>特权级满足内存的权限管控要求，应许访问；</a:t>
            </a:r>
            <a:endParaRPr kumimoji="1" lang="en-US" altLang="zh-CN" dirty="0"/>
          </a:p>
          <a:p>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48</a:t>
            </a:fld>
            <a:endParaRPr lang="zh-CN" altLang="en-US"/>
          </a:p>
        </p:txBody>
      </p:sp>
    </p:spTree>
    <p:extLst>
      <p:ext uri="{BB962C8B-B14F-4D97-AF65-F5344CB8AC3E}">
        <p14:creationId xmlns:p14="http://schemas.microsoft.com/office/powerpoint/2010/main" val="38234500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而当一个恶意应用企图访问内核内存时，页表会发现当前</a:t>
            </a:r>
            <a:r>
              <a:rPr kumimoji="1" lang="en-US" altLang="zh-CN" dirty="0"/>
              <a:t>CPU</a:t>
            </a:r>
            <a:r>
              <a:rPr kumimoji="1" lang="zh-CN" altLang="en-US" dirty="0"/>
              <a:t>处于用户态，与内核内存所要求的的内核态权限不符，从而拒绝本次访问</a:t>
            </a:r>
            <a:r>
              <a:rPr kumimoji="1" lang="en-US" altLang="zh-CN" dirty="0"/>
              <a:t>.</a:t>
            </a:r>
            <a:r>
              <a:rPr kumimoji="1" lang="zh-CN" altLang="en-US" dirty="0"/>
              <a:t>此时，</a:t>
            </a:r>
            <a:r>
              <a:rPr kumimoji="1" lang="en-US" altLang="zh-CN" dirty="0"/>
              <a:t>CPU</a:t>
            </a:r>
            <a:r>
              <a:rPr kumimoji="1" lang="zh-CN" altLang="en-US" dirty="0"/>
              <a:t>会触发一个硬件异常，而应用就会看到我们常见的段错误！</a:t>
            </a:r>
            <a:endParaRPr kumimoji="1" lang="en-US" altLang="zh-CN" dirty="0"/>
          </a:p>
          <a:p>
            <a:endParaRPr kumimoji="1" lang="en-US" altLang="zh-CN" dirty="0"/>
          </a:p>
          <a:p>
            <a:endParaRPr kumimoji="1" lang="en-US" altLang="zh-CN" dirty="0"/>
          </a:p>
          <a:p>
            <a:r>
              <a:rPr kumimoji="1" lang="zh-CN" altLang="en-US" dirty="0"/>
              <a:t>页表所提供的用户</a:t>
            </a:r>
            <a:r>
              <a:rPr kumimoji="1" lang="en-US" altLang="zh-CN" dirty="0"/>
              <a:t>/</a:t>
            </a:r>
            <a:r>
              <a:rPr kumimoji="1" lang="zh-CN" altLang="en-US" dirty="0"/>
              <a:t>内核内存权限检查机制，是现在操作系统对内存保护的最核心技术之一。</a:t>
            </a:r>
            <a:endParaRPr kumimoji="1" lang="en-US" altLang="zh-CN" dirty="0"/>
          </a:p>
          <a:p>
            <a:endParaRPr kumimoji="1" lang="en-US" altLang="zh-CN" dirty="0"/>
          </a:p>
          <a:p>
            <a:r>
              <a:rPr kumimoji="1" lang="zh-CN" altLang="en-US" dirty="0"/>
              <a:t>而</a:t>
            </a:r>
            <a:r>
              <a:rPr kumimoji="1" lang="en-US" altLang="zh-CN" dirty="0"/>
              <a:t>Meltdown</a:t>
            </a:r>
            <a:r>
              <a:rPr kumimoji="1" lang="zh-CN" altLang="en-US" dirty="0"/>
              <a:t>漏洞则能够绕开这一最为核心的内存保护机制，让其形同虚设。</a:t>
            </a:r>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49</a:t>
            </a:fld>
            <a:endParaRPr lang="zh-CN" altLang="en-US"/>
          </a:p>
        </p:txBody>
      </p:sp>
    </p:spTree>
    <p:extLst>
      <p:ext uri="{BB962C8B-B14F-4D97-AF65-F5344CB8AC3E}">
        <p14:creationId xmlns:p14="http://schemas.microsoft.com/office/powerpoint/2010/main" val="19526764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Meltdown</a:t>
            </a:r>
            <a:r>
              <a:rPr kumimoji="1" lang="zh-CN" altLang="en-US" dirty="0"/>
              <a:t>漏洞绕开页表隔离机制的主要手段是利用</a:t>
            </a:r>
            <a:r>
              <a:rPr kumimoji="1" lang="en-US" altLang="zh-CN" dirty="0"/>
              <a:t>CPU</a:t>
            </a:r>
            <a:r>
              <a:rPr kumimoji="1" lang="zh-CN" altLang="en-US" dirty="0"/>
              <a:t>的投机执行技术，我们对其简单回顾一下。</a:t>
            </a:r>
            <a:endParaRPr kumimoji="1" lang="en-US" altLang="zh-CN" dirty="0"/>
          </a:p>
          <a:p>
            <a:endParaRPr kumimoji="1" lang="en-US" altLang="zh-CN" dirty="0"/>
          </a:p>
          <a:p>
            <a:r>
              <a:rPr kumimoji="1" lang="zh-CN" altLang="en-US" dirty="0"/>
              <a:t>现代</a:t>
            </a:r>
            <a:r>
              <a:rPr kumimoji="1" lang="en-US" altLang="zh-CN" dirty="0"/>
              <a:t>CPU</a:t>
            </a:r>
            <a:r>
              <a:rPr kumimoji="1" lang="zh-CN" altLang="en-US" dirty="0"/>
              <a:t>为了执行效率的提升，其内部会有多个执行单元，能够并发执行多条指令。</a:t>
            </a:r>
            <a:endParaRPr kumimoji="1" lang="en-US" altLang="zh-CN" dirty="0"/>
          </a:p>
          <a:p>
            <a:r>
              <a:rPr kumimoji="1" lang="zh-CN" altLang="en-US" dirty="0"/>
              <a:t>因此，</a:t>
            </a:r>
            <a:r>
              <a:rPr kumimoji="1" lang="en-US" altLang="zh-CN" dirty="0"/>
              <a:t>CPU</a:t>
            </a:r>
            <a:r>
              <a:rPr kumimoji="1" lang="zh-CN" altLang="en-US" dirty="0"/>
              <a:t>会投机发射临近的指令进行并发执行，虽然最后所有的指令会被顺序提交，但是指令在执行过程中仍然是并发投机的。</a:t>
            </a:r>
            <a:endParaRPr kumimoji="1" lang="en-US" altLang="zh-CN" dirty="0"/>
          </a:p>
          <a:p>
            <a:endParaRPr kumimoji="1" lang="en-US" altLang="zh-CN" dirty="0"/>
          </a:p>
          <a:p>
            <a:r>
              <a:rPr kumimoji="1" lang="zh-CN" altLang="en-US" dirty="0"/>
              <a:t>那么由此而来的一个问题是：如果投机执行了错误的指令怎么办？</a:t>
            </a:r>
            <a:endParaRPr kumimoji="1" lang="en-US" altLang="zh-CN" dirty="0"/>
          </a:p>
          <a:p>
            <a:r>
              <a:rPr kumimoji="1" lang="zh-CN" altLang="en-US" dirty="0"/>
              <a:t>例如。。。</a:t>
            </a:r>
            <a:endParaRPr kumimoji="1" lang="en-US" altLang="zh-CN" dirty="0"/>
          </a:p>
          <a:p>
            <a:endParaRPr kumimoji="1" lang="en-US" altLang="zh-CN" dirty="0"/>
          </a:p>
          <a:p>
            <a:r>
              <a:rPr kumimoji="1" lang="en-US" altLang="zh-CN" dirty="0"/>
              <a:t>CPU</a:t>
            </a:r>
            <a:r>
              <a:rPr kumimoji="1" lang="zh-CN" altLang="en-US" dirty="0"/>
              <a:t>的设计人员考虑到了该问题，对于不该被执行到的指令，处理器会丢弃或者回滚掉漆对所寄存器、内存等执行状态的所有修改。</a:t>
            </a:r>
            <a:endParaRPr kumimoji="1" lang="en-US" altLang="zh-CN" dirty="0"/>
          </a:p>
          <a:p>
            <a:endParaRPr kumimoji="1" lang="en-US" altLang="zh-CN" dirty="0"/>
          </a:p>
          <a:p>
            <a:r>
              <a:rPr kumimoji="1" lang="zh-CN" altLang="en-US" dirty="0"/>
              <a:t>相信到此，很多同学心中已经产生了一些疑问，面对机器复杂的</a:t>
            </a:r>
            <a:r>
              <a:rPr kumimoji="1" lang="en-US" altLang="zh-CN" dirty="0"/>
              <a:t>CPU</a:t>
            </a:r>
            <a:r>
              <a:rPr kumimoji="1" lang="zh-CN" altLang="en-US" dirty="0"/>
              <a:t>结构，设计师能够确保对所有状态的正确回滚</a:t>
            </a:r>
            <a:r>
              <a:rPr kumimoji="1" lang="en-US" altLang="zh-CN" dirty="0"/>
              <a:t>/</a:t>
            </a:r>
            <a:r>
              <a:rPr kumimoji="1" lang="zh-CN" altLang="en-US" dirty="0"/>
              <a:t>。。。</a:t>
            </a:r>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50</a:t>
            </a:fld>
            <a:endParaRPr lang="zh-CN" altLang="en-US"/>
          </a:p>
        </p:txBody>
      </p:sp>
    </p:spTree>
    <p:extLst>
      <p:ext uri="{BB962C8B-B14F-4D97-AF65-F5344CB8AC3E}">
        <p14:creationId xmlns:p14="http://schemas.microsoft.com/office/powerpoint/2010/main" val="30876682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相信很多同学已经猜到了</a:t>
            </a:r>
            <a:r>
              <a:rPr kumimoji="1" lang="en-US" altLang="zh-CN" dirty="0"/>
              <a:t>Meltdown</a:t>
            </a:r>
            <a:r>
              <a:rPr kumimoji="1" lang="zh-CN" altLang="en-US" dirty="0"/>
              <a:t>漏洞的大致原理。</a:t>
            </a:r>
            <a:endParaRPr kumimoji="1" lang="en-US" altLang="zh-CN" dirty="0"/>
          </a:p>
          <a:p>
            <a:endParaRPr kumimoji="1" lang="en-US" altLang="zh-CN" dirty="0"/>
          </a:p>
          <a:p>
            <a:r>
              <a:rPr kumimoji="1" lang="zh-CN" altLang="en-US" dirty="0"/>
              <a:t>漏洞的起因是</a:t>
            </a:r>
            <a:r>
              <a:rPr kumimoji="1" lang="en-US" altLang="zh-CN" dirty="0"/>
              <a:t>CPU</a:t>
            </a:r>
            <a:r>
              <a:rPr kumimoji="1" lang="zh-CN" altLang="en-US" dirty="0"/>
              <a:t>的投机执行，正常情况下，当用户发起对内核内存的访问请求，会触发一个内存访问异常。但是由于投机执行机制，该异常不会立刻发生，</a:t>
            </a:r>
            <a:r>
              <a:rPr kumimoji="1" lang="en-US" altLang="zh-CN" dirty="0"/>
              <a:t>CPU</a:t>
            </a:r>
            <a:r>
              <a:rPr kumimoji="1" lang="zh-CN" altLang="en-US" dirty="0"/>
              <a:t>仍然会乱序的执行到非法访问的后续执行令；</a:t>
            </a:r>
            <a:endParaRPr kumimoji="1" lang="en-US" altLang="zh-CN" dirty="0"/>
          </a:p>
          <a:p>
            <a:r>
              <a:rPr kumimoji="1" lang="zh-CN" altLang="en-US" dirty="0"/>
              <a:t>而在这个投机执行的小窗口内，应用就能够对内核内存进行非法的访问。</a:t>
            </a:r>
            <a:endParaRPr kumimoji="1" lang="en-US" altLang="zh-CN" dirty="0"/>
          </a:p>
          <a:p>
            <a:endParaRPr kumimoji="1" lang="en-US" altLang="zh-CN" dirty="0"/>
          </a:p>
          <a:p>
            <a:endParaRPr kumimoji="1" lang="en-US" altLang="zh-CN" dirty="0"/>
          </a:p>
          <a:p>
            <a:r>
              <a:rPr kumimoji="1" lang="zh-CN" altLang="en-US" dirty="0"/>
              <a:t>到此其实还没有漏洞，因为正常情况</a:t>
            </a:r>
            <a:r>
              <a:rPr kumimoji="1" lang="en-US" altLang="zh-CN" dirty="0"/>
              <a:t>CPU</a:t>
            </a:r>
            <a:r>
              <a:rPr kumimoji="1" lang="zh-CN" altLang="en-US" dirty="0"/>
              <a:t>会回滚这个小窗口中的所有操作，所以即使临时拿到了内核数据，也无法完成攻击。</a:t>
            </a:r>
            <a:endParaRPr kumimoji="1" lang="en-US" altLang="zh-CN" dirty="0"/>
          </a:p>
          <a:p>
            <a:r>
              <a:rPr kumimoji="1" lang="zh-CN" altLang="en-US" dirty="0"/>
              <a:t>但是故障就发生在对于这些状态的丢弃、回滚上。</a:t>
            </a:r>
            <a:endParaRPr kumimoji="1" lang="en-US" altLang="zh-CN" dirty="0"/>
          </a:p>
          <a:p>
            <a:endParaRPr kumimoji="1" lang="en-US" altLang="zh-CN" dirty="0"/>
          </a:p>
          <a:p>
            <a:endParaRPr kumimoji="1" lang="en-US" altLang="zh-CN" dirty="0"/>
          </a:p>
          <a:p>
            <a:r>
              <a:rPr kumimoji="1" lang="zh-CN" altLang="en-US" dirty="0"/>
              <a:t>而造成的结果是，攻击者能够通过观察缓存状态的变化，从而窃取到内核数据。</a:t>
            </a:r>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51</a:t>
            </a:fld>
            <a:endParaRPr lang="zh-CN" altLang="en-US"/>
          </a:p>
        </p:txBody>
      </p:sp>
    </p:spTree>
    <p:extLst>
      <p:ext uri="{BB962C8B-B14F-4D97-AF65-F5344CB8AC3E}">
        <p14:creationId xmlns:p14="http://schemas.microsoft.com/office/powerpoint/2010/main" val="10103019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768350"/>
            <a:ext cx="6140450" cy="3836988"/>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aseline="0" dirty="0"/>
              <a:t>我们使用一个简单的例子看一下</a:t>
            </a:r>
            <a:r>
              <a:rPr lang="en-US" altLang="zh-CN" baseline="0" dirty="0"/>
              <a:t>Meltdown</a:t>
            </a:r>
            <a:r>
              <a:rPr lang="zh-CN" altLang="en-US" baseline="0" dirty="0"/>
              <a:t>漏洞是如何工作的。</a:t>
            </a:r>
            <a:endParaRPr lang="en-US" altLang="zh-CN" baseline="0" dirty="0"/>
          </a:p>
        </p:txBody>
      </p:sp>
      <p:sp>
        <p:nvSpPr>
          <p:cNvPr id="4" name="Slide Number Placeholder 3"/>
          <p:cNvSpPr>
            <a:spLocks noGrp="1"/>
          </p:cNvSpPr>
          <p:nvPr>
            <p:ph type="sldNum" sz="quarter" idx="10"/>
          </p:nvPr>
        </p:nvSpPr>
        <p:spPr/>
        <p:txBody>
          <a:bodyPr/>
          <a:lstStyle/>
          <a:p>
            <a:fld id="{CC3C753E-1415-4755-9AD0-A4D51D8BE0DD}" type="slidenum">
              <a:rPr lang="en-US" altLang="zh-TW" smtClean="0"/>
              <a:pPr/>
              <a:t>52</a:t>
            </a:fld>
            <a:endParaRPr lang="en-US" altLang="zh-TW"/>
          </a:p>
        </p:txBody>
      </p:sp>
    </p:spTree>
    <p:extLst>
      <p:ext uri="{BB962C8B-B14F-4D97-AF65-F5344CB8AC3E}">
        <p14:creationId xmlns:p14="http://schemas.microsoft.com/office/powerpoint/2010/main" val="32209855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768350"/>
            <a:ext cx="6140450" cy="3836988"/>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p:txBody>
      </p:sp>
      <p:sp>
        <p:nvSpPr>
          <p:cNvPr id="4" name="Slide Number Placeholder 3"/>
          <p:cNvSpPr>
            <a:spLocks noGrp="1"/>
          </p:cNvSpPr>
          <p:nvPr>
            <p:ph type="sldNum" sz="quarter" idx="10"/>
          </p:nvPr>
        </p:nvSpPr>
        <p:spPr/>
        <p:txBody>
          <a:bodyPr/>
          <a:lstStyle/>
          <a:p>
            <a:fld id="{CC3C753E-1415-4755-9AD0-A4D51D8BE0DD}" type="slidenum">
              <a:rPr lang="en-US" altLang="zh-TW" smtClean="0"/>
              <a:pPr/>
              <a:t>53</a:t>
            </a:fld>
            <a:endParaRPr lang="en-US" altLang="zh-TW"/>
          </a:p>
        </p:txBody>
      </p:sp>
    </p:spTree>
    <p:extLst>
      <p:ext uri="{BB962C8B-B14F-4D97-AF65-F5344CB8AC3E}">
        <p14:creationId xmlns:p14="http://schemas.microsoft.com/office/powerpoint/2010/main" val="15965445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768350"/>
            <a:ext cx="6140450" cy="3836988"/>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p:txBody>
      </p:sp>
      <p:sp>
        <p:nvSpPr>
          <p:cNvPr id="4" name="Slide Number Placeholder 3"/>
          <p:cNvSpPr>
            <a:spLocks noGrp="1"/>
          </p:cNvSpPr>
          <p:nvPr>
            <p:ph type="sldNum" sz="quarter" idx="10"/>
          </p:nvPr>
        </p:nvSpPr>
        <p:spPr/>
        <p:txBody>
          <a:bodyPr/>
          <a:lstStyle/>
          <a:p>
            <a:fld id="{CC3C753E-1415-4755-9AD0-A4D51D8BE0DD}" type="slidenum">
              <a:rPr lang="en-US" altLang="zh-TW" smtClean="0"/>
              <a:pPr/>
              <a:t>54</a:t>
            </a:fld>
            <a:endParaRPr lang="en-US" altLang="zh-TW"/>
          </a:p>
        </p:txBody>
      </p:sp>
    </p:spTree>
    <p:extLst>
      <p:ext uri="{BB962C8B-B14F-4D97-AF65-F5344CB8AC3E}">
        <p14:creationId xmlns:p14="http://schemas.microsoft.com/office/powerpoint/2010/main" val="23233224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768350"/>
            <a:ext cx="6140450" cy="3836988"/>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aseline="0" dirty="0"/>
              <a:t>。。。</a:t>
            </a: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baseline="0" dirty="0"/>
              <a:t>最终，</a:t>
            </a:r>
            <a:r>
              <a:rPr lang="en-US" altLang="zh-CN" baseline="0" dirty="0"/>
              <a:t>CPU</a:t>
            </a:r>
            <a:r>
              <a:rPr lang="zh-CN" altLang="en-US" baseline="0" dirty="0"/>
              <a:t>并没有对缓存状态进行回滚，也就意味着指令</a:t>
            </a:r>
            <a:r>
              <a:rPr lang="en-US" altLang="zh-CN" baseline="0" dirty="0"/>
              <a:t>2</a:t>
            </a:r>
            <a:r>
              <a:rPr lang="zh-CN" altLang="en-US" baseline="0" dirty="0"/>
              <a:t>访问的</a:t>
            </a:r>
            <a:r>
              <a:rPr lang="en-US" altLang="zh-CN" baseline="0" dirty="0"/>
              <a:t>buf1</a:t>
            </a:r>
            <a:r>
              <a:rPr lang="zh-CN" altLang="en-US" baseline="0" dirty="0"/>
              <a:t>的数据会被加载到缓存中。</a:t>
            </a:r>
            <a:endParaRPr lang="en-US" altLang="zh-CN" baseline="0" dirty="0"/>
          </a:p>
        </p:txBody>
      </p:sp>
      <p:sp>
        <p:nvSpPr>
          <p:cNvPr id="4" name="Slide Number Placeholder 3"/>
          <p:cNvSpPr>
            <a:spLocks noGrp="1"/>
          </p:cNvSpPr>
          <p:nvPr>
            <p:ph type="sldNum" sz="quarter" idx="10"/>
          </p:nvPr>
        </p:nvSpPr>
        <p:spPr/>
        <p:txBody>
          <a:bodyPr/>
          <a:lstStyle/>
          <a:p>
            <a:fld id="{CC3C753E-1415-4755-9AD0-A4D51D8BE0DD}" type="slidenum">
              <a:rPr lang="en-US" altLang="zh-TW" smtClean="0"/>
              <a:pPr/>
              <a:t>55</a:t>
            </a:fld>
            <a:endParaRPr lang="en-US" altLang="zh-TW"/>
          </a:p>
        </p:txBody>
      </p:sp>
    </p:spTree>
    <p:extLst>
      <p:ext uri="{BB962C8B-B14F-4D97-AF65-F5344CB8AC3E}">
        <p14:creationId xmlns:p14="http://schemas.microsoft.com/office/powerpoint/2010/main" val="36497677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9425" y="768350"/>
            <a:ext cx="6140450" cy="3836988"/>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CN" altLang="en-US" baseline="0" dirty="0"/>
              <a:t>利用遗留在缓存中的数据，攻击者就能够间接获得目标的内核数据</a:t>
            </a:r>
            <a:r>
              <a:rPr lang="en-US" altLang="zh-CN" baseline="0" dirty="0"/>
              <a:t>key</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baseline="0" dirty="0"/>
              <a:t>攻击者只需要将目标数据作为索引发起对一个</a:t>
            </a:r>
            <a:r>
              <a:rPr lang="en-US" altLang="zh-CN" baseline="0" dirty="0"/>
              <a:t>bug</a:t>
            </a:r>
            <a:r>
              <a:rPr lang="zh-CN" altLang="en-US" baseline="0" dirty="0"/>
              <a:t>数组的访问，之后目标元素就会被加载到缓存中。</a:t>
            </a: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zh-CN" altLang="en-US" baseline="0" dirty="0"/>
              <a:t>之后，攻击者仅需逐一查看</a:t>
            </a:r>
            <a:r>
              <a:rPr lang="en-US" altLang="zh-CN" baseline="0" dirty="0"/>
              <a:t>bug</a:t>
            </a:r>
            <a:r>
              <a:rPr lang="zh-CN" altLang="en-US" baseline="0" dirty="0"/>
              <a:t>数组中拿一个元素在缓存中，就能够窃取到目标数据。</a:t>
            </a:r>
            <a:endParaRPr lang="en-US" altLang="zh-CN" baseline="0" dirty="0"/>
          </a:p>
        </p:txBody>
      </p:sp>
      <p:sp>
        <p:nvSpPr>
          <p:cNvPr id="4" name="Slide Number Placeholder 3"/>
          <p:cNvSpPr>
            <a:spLocks noGrp="1"/>
          </p:cNvSpPr>
          <p:nvPr>
            <p:ph type="sldNum" sz="quarter" idx="10"/>
          </p:nvPr>
        </p:nvSpPr>
        <p:spPr/>
        <p:txBody>
          <a:bodyPr/>
          <a:lstStyle/>
          <a:p>
            <a:fld id="{CC3C753E-1415-4755-9AD0-A4D51D8BE0DD}" type="slidenum">
              <a:rPr lang="en-US" altLang="zh-TW" smtClean="0"/>
              <a:pPr/>
              <a:t>56</a:t>
            </a:fld>
            <a:endParaRPr lang="en-US" altLang="zh-TW"/>
          </a:p>
        </p:txBody>
      </p:sp>
    </p:spTree>
    <p:extLst>
      <p:ext uri="{BB962C8B-B14F-4D97-AF65-F5344CB8AC3E}">
        <p14:creationId xmlns:p14="http://schemas.microsoft.com/office/powerpoint/2010/main" val="39864918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目前操作系统主要依赖页表的用户</a:t>
            </a:r>
            <a:r>
              <a:rPr kumimoji="1" lang="en-US" altLang="zh-CN" dirty="0"/>
              <a:t>;</a:t>
            </a:r>
            <a:r>
              <a:rPr kumimoji="1" lang="zh-CN" altLang="en-US" dirty="0"/>
              <a:t>内核权限检查，进行用户内存与内核内存的隔离。</a:t>
            </a:r>
            <a:endParaRPr kumimoji="1" lang="en-US" altLang="zh-CN" dirty="0"/>
          </a:p>
          <a:p>
            <a:r>
              <a:rPr kumimoji="1" lang="zh-CN" altLang="en-US" dirty="0"/>
              <a:t>而</a:t>
            </a:r>
            <a:r>
              <a:rPr kumimoji="1" lang="en-US" altLang="zh-CN" dirty="0"/>
              <a:t>Meltdown</a:t>
            </a:r>
            <a:r>
              <a:rPr kumimoji="1" lang="zh-CN" altLang="en-US" dirty="0"/>
              <a:t>漏洞能够直接绕过这一检查，从而允许攻击者随意去读任意的内核内存数据。</a:t>
            </a:r>
            <a:endParaRPr kumimoji="1" lang="en-US" altLang="zh-CN" dirty="0"/>
          </a:p>
          <a:p>
            <a:endParaRPr kumimoji="1" lang="en-US" altLang="zh-CN" dirty="0"/>
          </a:p>
          <a:p>
            <a:r>
              <a:rPr kumimoji="1" lang="zh-CN" altLang="en-US" dirty="0"/>
              <a:t>更为严重的是，在之前的课程我们有介绍过，操作系统一般会直接映射所有的物理内存资源。例如</a:t>
            </a:r>
            <a:r>
              <a:rPr kumimoji="1" lang="en-US" altLang="zh-CN" dirty="0"/>
              <a:t>Linux</a:t>
            </a:r>
            <a:r>
              <a:rPr kumimoji="1" lang="zh-CN" altLang="en-US" dirty="0"/>
              <a:t>中的</a:t>
            </a:r>
            <a:r>
              <a:rPr kumimoji="1" lang="en-US" altLang="zh-CN" dirty="0"/>
              <a:t>direct</a:t>
            </a:r>
            <a:r>
              <a:rPr kumimoji="1" lang="zh-CN" altLang="en-US" dirty="0"/>
              <a:t> </a:t>
            </a:r>
            <a:r>
              <a:rPr kumimoji="1" lang="en-US" altLang="zh-CN" dirty="0" err="1"/>
              <a:t>mao</a:t>
            </a:r>
            <a:r>
              <a:rPr kumimoji="1" lang="zh-CN" altLang="en-US" dirty="0"/>
              <a:t>区域。</a:t>
            </a:r>
            <a:endParaRPr kumimoji="1" lang="en-US" altLang="zh-CN" dirty="0"/>
          </a:p>
          <a:p>
            <a:endParaRPr kumimoji="1" lang="en-US" altLang="zh-CN" dirty="0"/>
          </a:p>
          <a:p>
            <a:r>
              <a:rPr kumimoji="1" lang="zh-CN" altLang="en-US" dirty="0"/>
              <a:t>也就意味着，攻击者应用</a:t>
            </a:r>
            <a:r>
              <a:rPr kumimoji="1" lang="en-US" altLang="zh-CN" dirty="0"/>
              <a:t>Meltdown</a:t>
            </a:r>
            <a:r>
              <a:rPr kumimoji="1" lang="zh-CN" altLang="en-US" dirty="0"/>
              <a:t>漏洞能够随意访问整个系统的内存资源。</a:t>
            </a:r>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57</a:t>
            </a:fld>
            <a:endParaRPr lang="zh-CN" altLang="en-US"/>
          </a:p>
        </p:txBody>
      </p:sp>
    </p:spTree>
    <p:extLst>
      <p:ext uri="{BB962C8B-B14F-4D97-AF65-F5344CB8AC3E}">
        <p14:creationId xmlns:p14="http://schemas.microsoft.com/office/powerpoint/2010/main" val="5186023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Meltdown</a:t>
            </a:r>
            <a:r>
              <a:rPr kumimoji="1" lang="zh-CN" altLang="en-US" dirty="0"/>
              <a:t>漏洞影响了大量的现有</a:t>
            </a:r>
            <a:r>
              <a:rPr kumimoji="1" lang="en-US" altLang="zh-CN" dirty="0"/>
              <a:t>CPU</a:t>
            </a:r>
            <a:r>
              <a:rPr kumimoji="1" lang="zh-CN" altLang="en-US" dirty="0"/>
              <a:t>，并且无法通过</a:t>
            </a:r>
            <a:r>
              <a:rPr kumimoji="1" lang="en-US" altLang="zh-CN" dirty="0"/>
              <a:t>CPU</a:t>
            </a:r>
            <a:r>
              <a:rPr kumimoji="1" lang="zh-CN" altLang="en-US" dirty="0"/>
              <a:t> 微代码补丁的方式进行修复，因此操作系统必需通过软件手段进行进行防御。</a:t>
            </a:r>
            <a:endParaRPr kumimoji="1" lang="en-US" altLang="zh-CN" dirty="0"/>
          </a:p>
          <a:p>
            <a:endParaRPr kumimoji="1" lang="en-US" altLang="zh-CN" dirty="0"/>
          </a:p>
          <a:p>
            <a:r>
              <a:rPr kumimoji="1" lang="zh-CN" altLang="en-US" dirty="0"/>
              <a:t>在上述的漏洞原理介绍中，我们观察到，</a:t>
            </a:r>
            <a:r>
              <a:rPr kumimoji="1" lang="en-US" altLang="zh-CN" dirty="0"/>
              <a:t>Meltdown</a:t>
            </a:r>
            <a:r>
              <a:rPr kumimoji="1" lang="zh-CN" altLang="en-US" dirty="0"/>
              <a:t>漏洞的主要能力其实是绕过页表中的用户</a:t>
            </a:r>
            <a:r>
              <a:rPr kumimoji="1" lang="en-US" altLang="zh-CN" dirty="0"/>
              <a:t>/</a:t>
            </a:r>
            <a:r>
              <a:rPr kumimoji="1" lang="zh-CN" altLang="en-US" dirty="0"/>
              <a:t>内核权限位，但是其无法访问“没有内存映射的内存数据。</a:t>
            </a:r>
            <a:endParaRPr kumimoji="1" lang="en-US" altLang="zh-CN" dirty="0"/>
          </a:p>
          <a:p>
            <a:r>
              <a:rPr kumimoji="1" lang="zh-CN" altLang="en-US" dirty="0"/>
              <a:t>如果一个目标地址在也表中不存在应设，那么攻击者就睡没有数据可偷</a:t>
            </a:r>
            <a:endParaRPr kumimoji="1" lang="en-US" altLang="zh-CN" dirty="0"/>
          </a:p>
          <a:p>
            <a:endParaRPr kumimoji="1" lang="en-US" altLang="zh-CN" dirty="0"/>
          </a:p>
          <a:p>
            <a:r>
              <a:rPr kumimoji="1" lang="zh-CN" altLang="en-US" dirty="0"/>
              <a:t>因此，操作系统对于</a:t>
            </a:r>
            <a:r>
              <a:rPr kumimoji="1" lang="en-US" altLang="zh-CN" dirty="0"/>
              <a:t>Meltdown</a:t>
            </a:r>
            <a:r>
              <a:rPr kumimoji="1" lang="zh-CN" altLang="en-US" dirty="0"/>
              <a:t>的防御思路是。。。</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58</a:t>
            </a:fld>
            <a:endParaRPr lang="zh-CN" altLang="en-US"/>
          </a:p>
        </p:txBody>
      </p:sp>
    </p:spTree>
    <p:extLst>
      <p:ext uri="{BB962C8B-B14F-4D97-AF65-F5344CB8AC3E}">
        <p14:creationId xmlns:p14="http://schemas.microsoft.com/office/powerpoint/2010/main" val="1489734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利用上述思路，</a:t>
            </a:r>
            <a:r>
              <a:rPr kumimoji="1" lang="en-US" altLang="zh-CN" dirty="0"/>
              <a:t>Linux</a:t>
            </a:r>
            <a:r>
              <a:rPr kumimoji="1" lang="zh-CN" altLang="en-US" dirty="0"/>
              <a:t>操作系统提供了</a:t>
            </a:r>
            <a:r>
              <a:rPr kumimoji="1" lang="en-US" altLang="zh-CN" dirty="0"/>
              <a:t>KPTI</a:t>
            </a:r>
            <a:r>
              <a:rPr kumimoji="1" lang="zh-CN" altLang="en-US" dirty="0"/>
              <a:t>机制，对</a:t>
            </a:r>
            <a:r>
              <a:rPr kumimoji="1" lang="en-US" altLang="zh-CN" dirty="0"/>
              <a:t>Meltdown</a:t>
            </a:r>
            <a:r>
              <a:rPr kumimoji="1" lang="zh-CN" altLang="en-US" dirty="0"/>
              <a:t>漏洞进行防御。</a:t>
            </a:r>
            <a:endParaRPr kumimoji="1" lang="en-US" altLang="zh-CN" dirty="0"/>
          </a:p>
          <a:p>
            <a:endParaRPr kumimoji="1" lang="en-US" altLang="zh-CN" dirty="0"/>
          </a:p>
          <a:p>
            <a:r>
              <a:rPr kumimoji="1" lang="zh-CN" altLang="en-US" dirty="0"/>
              <a:t>基本方法非常简单：</a:t>
            </a:r>
            <a:r>
              <a:rPr kumimoji="1" lang="en-US" altLang="zh-CN" dirty="0"/>
              <a:t>xxx</a:t>
            </a:r>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59</a:t>
            </a:fld>
            <a:endParaRPr lang="zh-CN" altLang="en-US"/>
          </a:p>
        </p:txBody>
      </p:sp>
    </p:spTree>
    <p:extLst>
      <p:ext uri="{BB962C8B-B14F-4D97-AF65-F5344CB8AC3E}">
        <p14:creationId xmlns:p14="http://schemas.microsoft.com/office/powerpoint/2010/main" val="5101904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但是虽然只是增加了一个简单地页表切换操作，实现上只需要几条汇编指令，但是其确会限制影响操作系统的整体性能</a:t>
            </a:r>
          </a:p>
        </p:txBody>
      </p:sp>
      <p:sp>
        <p:nvSpPr>
          <p:cNvPr id="4" name="灯片编号占位符 3"/>
          <p:cNvSpPr>
            <a:spLocks noGrp="1"/>
          </p:cNvSpPr>
          <p:nvPr>
            <p:ph type="sldNum" sz="quarter" idx="5"/>
          </p:nvPr>
        </p:nvSpPr>
        <p:spPr/>
        <p:txBody>
          <a:bodyPr/>
          <a:lstStyle/>
          <a:p>
            <a:fld id="{3A84A077-83E9-49A7-9F59-234D78BD6949}" type="slidenum">
              <a:rPr lang="zh-CN" altLang="en-US" smtClean="0"/>
              <a:t>60</a:t>
            </a:fld>
            <a:endParaRPr lang="zh-CN" altLang="en-US"/>
          </a:p>
        </p:txBody>
      </p:sp>
    </p:spTree>
    <p:extLst>
      <p:ext uri="{BB962C8B-B14F-4D97-AF65-F5344CB8AC3E}">
        <p14:creationId xmlns:p14="http://schemas.microsoft.com/office/powerpoint/2010/main" val="230892147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针对上述两个性能瓶颈，首先</a:t>
            </a:r>
            <a:r>
              <a:rPr kumimoji="1" lang="en-US" altLang="zh-CN" dirty="0"/>
              <a:t>KPTI</a:t>
            </a:r>
            <a:r>
              <a:rPr kumimoji="1" lang="zh-CN" altLang="en-US" dirty="0"/>
              <a:t>对切换操作进行了优化，旨在减少切换过程中的非必要内存访问。</a:t>
            </a:r>
            <a:endParaRPr kumimoji="1" lang="en-US" altLang="zh-CN" dirty="0"/>
          </a:p>
          <a:p>
            <a:r>
              <a:rPr kumimoji="1" lang="zh-CN" altLang="en-US" dirty="0"/>
              <a:t>通过在页表分配时，将两个根页表放在响铃的两个</a:t>
            </a:r>
            <a:r>
              <a:rPr kumimoji="1" lang="en-US" altLang="zh-CN" dirty="0"/>
              <a:t>4K</a:t>
            </a:r>
            <a:r>
              <a:rPr kumimoji="1" lang="zh-CN" altLang="en-US" dirty="0"/>
              <a:t>页中，切换代码无需加载</a:t>
            </a:r>
            <a:r>
              <a:rPr kumimoji="1" lang="en-US" altLang="zh-CN" dirty="0"/>
              <a:t>/</a:t>
            </a:r>
            <a:r>
              <a:rPr kumimoji="1" lang="zh-CN" altLang="en-US" dirty="0"/>
              <a:t>保存页表，只需对现有</a:t>
            </a:r>
            <a:r>
              <a:rPr kumimoji="1" lang="en-US" altLang="zh-CN" dirty="0"/>
              <a:t>cr3</a:t>
            </a:r>
            <a:r>
              <a:rPr kumimoji="1" lang="zh-CN" altLang="en-US" dirty="0"/>
              <a:t>中的页表进行一次位操作即可得到目标页表地址；</a:t>
            </a:r>
            <a:endParaRPr kumimoji="1" lang="en-US" altLang="zh-CN" dirty="0"/>
          </a:p>
          <a:p>
            <a:endParaRPr kumimoji="1" lang="en-US" altLang="zh-CN" dirty="0"/>
          </a:p>
          <a:p>
            <a:endParaRPr kumimoji="1" lang="en-US" altLang="zh-CN" dirty="0"/>
          </a:p>
          <a:p>
            <a:r>
              <a:rPr kumimoji="1" lang="zh-CN" altLang="en-US" dirty="0"/>
              <a:t>第二个是优化非必要的</a:t>
            </a:r>
            <a:r>
              <a:rPr kumimoji="1" lang="en-US" altLang="zh-CN" dirty="0"/>
              <a:t>TLB</a:t>
            </a:r>
            <a:r>
              <a:rPr kumimoji="1" lang="zh-CN" altLang="en-US" dirty="0"/>
              <a:t>刷新。刷新</a:t>
            </a:r>
            <a:r>
              <a:rPr kumimoji="1" lang="en-US" altLang="zh-CN" dirty="0"/>
              <a:t>TLB</a:t>
            </a:r>
            <a:r>
              <a:rPr kumimoji="1" lang="zh-CN" altLang="en-US" dirty="0"/>
              <a:t>的目的是防止攻击者使用内核遗留在</a:t>
            </a:r>
            <a:r>
              <a:rPr kumimoji="1" lang="en-US" altLang="zh-CN" dirty="0"/>
              <a:t>TLB</a:t>
            </a:r>
            <a:r>
              <a:rPr kumimoji="1" lang="zh-CN" altLang="en-US" dirty="0"/>
              <a:t>中的映射缓存，从而发起</a:t>
            </a:r>
            <a:r>
              <a:rPr kumimoji="1" lang="en-US" altLang="zh-CN" dirty="0"/>
              <a:t>meltdown</a:t>
            </a:r>
            <a:r>
              <a:rPr kumimoji="1" lang="zh-CN" altLang="en-US" dirty="0"/>
              <a:t>攻击。</a:t>
            </a:r>
            <a:endParaRPr kumimoji="1" lang="en-US" altLang="zh-CN" dirty="0"/>
          </a:p>
          <a:p>
            <a:r>
              <a:rPr kumimoji="1" lang="en-US" altLang="zh-CN" dirty="0"/>
              <a:t>KPTI</a:t>
            </a:r>
            <a:r>
              <a:rPr kumimoji="1" lang="zh-CN" altLang="en-US" dirty="0"/>
              <a:t>可以利用</a:t>
            </a:r>
            <a:r>
              <a:rPr kumimoji="1" lang="en-US" altLang="zh-CN" dirty="0"/>
              <a:t>TLB</a:t>
            </a:r>
            <a:r>
              <a:rPr kumimoji="1" lang="zh-CN" altLang="en-US" dirty="0"/>
              <a:t>中的</a:t>
            </a:r>
            <a:r>
              <a:rPr kumimoji="1" lang="en-US" altLang="zh-CN" dirty="0"/>
              <a:t>address</a:t>
            </a:r>
            <a:r>
              <a:rPr kumimoji="1" lang="zh-CN" altLang="en-US" dirty="0"/>
              <a:t> </a:t>
            </a:r>
            <a:r>
              <a:rPr kumimoji="1" lang="en-US" altLang="zh-CN" dirty="0"/>
              <a:t>space</a:t>
            </a:r>
            <a:r>
              <a:rPr kumimoji="1" lang="zh-CN" altLang="en-US" dirty="0"/>
              <a:t> </a:t>
            </a:r>
            <a:r>
              <a:rPr kumimoji="1" lang="en-US" altLang="zh-CN" dirty="0"/>
              <a:t>id</a:t>
            </a:r>
            <a:r>
              <a:rPr kumimoji="1" lang="zh-CN" altLang="en-US" dirty="0"/>
              <a:t>机制，</a:t>
            </a:r>
            <a:r>
              <a:rPr kumimoji="1" lang="en-US" altLang="zh-CN" dirty="0"/>
              <a:t>CPU</a:t>
            </a:r>
            <a:r>
              <a:rPr kumimoji="1" lang="zh-CN" altLang="en-US" dirty="0"/>
              <a:t>只会使用与当前</a:t>
            </a:r>
            <a:r>
              <a:rPr kumimoji="1" lang="en-US" altLang="zh-CN" dirty="0"/>
              <a:t>ASID</a:t>
            </a:r>
            <a:r>
              <a:rPr kumimoji="1" lang="zh-CN" altLang="en-US" dirty="0"/>
              <a:t>一致的</a:t>
            </a:r>
            <a:r>
              <a:rPr kumimoji="1" lang="en-US" altLang="zh-CN" dirty="0"/>
              <a:t>TLB</a:t>
            </a:r>
            <a:r>
              <a:rPr kumimoji="1" lang="zh-CN" altLang="en-US" dirty="0"/>
              <a:t>缓存。</a:t>
            </a:r>
            <a:endParaRPr kumimoji="1" lang="en-US" altLang="zh-CN" dirty="0"/>
          </a:p>
          <a:p>
            <a:r>
              <a:rPr kumimoji="1" lang="zh-CN" altLang="en-US" dirty="0"/>
              <a:t>这样通过给用户也表和内核页表分配不同的</a:t>
            </a:r>
            <a:r>
              <a:rPr kumimoji="1" lang="en-US" altLang="zh-CN" dirty="0"/>
              <a:t>ASID</a:t>
            </a:r>
            <a:r>
              <a:rPr kumimoji="1" lang="zh-CN" altLang="en-US" dirty="0"/>
              <a:t>，就可以避免页表切换过程的</a:t>
            </a:r>
            <a:r>
              <a:rPr kumimoji="1" lang="en-US" altLang="zh-CN" dirty="0"/>
              <a:t>TLB</a:t>
            </a:r>
            <a:r>
              <a:rPr kumimoji="1" lang="zh-CN" altLang="en-US" dirty="0"/>
              <a:t>刷新操作；</a:t>
            </a:r>
            <a:endParaRPr kumimoji="1" lang="en-US" altLang="zh-CN" dirty="0"/>
          </a:p>
          <a:p>
            <a:endParaRPr kumimoji="1" lang="en-US" altLang="zh-CN" dirty="0"/>
          </a:p>
          <a:p>
            <a:r>
              <a:rPr kumimoji="1" lang="zh-CN" altLang="en-US" dirty="0"/>
              <a:t>同样的，为了避免内存访问，用户与内核的</a:t>
            </a:r>
            <a:r>
              <a:rPr kumimoji="1" lang="en-US" altLang="zh-CN" dirty="0"/>
              <a:t>ASID</a:t>
            </a:r>
            <a:r>
              <a:rPr kumimoji="1" lang="zh-CN" altLang="en-US" dirty="0"/>
              <a:t>只差</a:t>
            </a:r>
            <a:r>
              <a:rPr kumimoji="1" lang="en-US" altLang="zh-CN" dirty="0"/>
              <a:t>1bit</a:t>
            </a:r>
            <a:r>
              <a:rPr kumimoji="1" lang="zh-CN" altLang="en-US" dirty="0"/>
              <a:t>，这样切换代码仍可以通过简单的位操作进行两个页表的转换。</a:t>
            </a:r>
            <a:endParaRPr kumimoji="1" lang="en-US" altLang="zh-CN"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61</a:t>
            </a:fld>
            <a:endParaRPr lang="zh-CN" altLang="en-US"/>
          </a:p>
        </p:txBody>
      </p:sp>
    </p:spTree>
    <p:extLst>
      <p:ext uri="{BB962C8B-B14F-4D97-AF65-F5344CB8AC3E}">
        <p14:creationId xmlns:p14="http://schemas.microsoft.com/office/powerpoint/2010/main" val="42918040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最终，我们回顾一下本堂课的内容。我们以</a:t>
            </a:r>
            <a:r>
              <a:rPr kumimoji="1" lang="en-US" altLang="zh-CN" dirty="0"/>
              <a:t>Meltdown</a:t>
            </a:r>
            <a:r>
              <a:rPr kumimoji="1" lang="zh-CN" altLang="en-US" dirty="0"/>
              <a:t>漏洞为例介绍了操作系统所面临的最新型高危漏洞，并且以</a:t>
            </a:r>
            <a:r>
              <a:rPr kumimoji="1" lang="en-US" altLang="zh-CN" dirty="0" err="1"/>
              <a:t>linux</a:t>
            </a:r>
            <a:r>
              <a:rPr kumimoji="1" lang="zh-CN" altLang="en-US" dirty="0"/>
              <a:t>操作系统的</a:t>
            </a:r>
            <a:r>
              <a:rPr kumimoji="1" lang="en-US" altLang="zh-CN" dirty="0"/>
              <a:t>KPTI</a:t>
            </a:r>
            <a:r>
              <a:rPr kumimoji="1" lang="zh-CN" altLang="en-US" dirty="0"/>
              <a:t>系统为例介绍了操作系统对高危硬件漏洞的防御方法。</a:t>
            </a:r>
            <a:endParaRPr kumimoji="1" lang="en-US" altLang="zh-CN" dirty="0"/>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62</a:t>
            </a:fld>
            <a:endParaRPr lang="zh-CN" altLang="en-US"/>
          </a:p>
        </p:txBody>
      </p:sp>
    </p:spTree>
    <p:extLst>
      <p:ext uri="{BB962C8B-B14F-4D97-AF65-F5344CB8AC3E}">
        <p14:creationId xmlns:p14="http://schemas.microsoft.com/office/powerpoint/2010/main" val="36451816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A84A077-83E9-49A7-9F59-234D78BD6949}" type="slidenum">
              <a:rPr lang="zh-CN" altLang="en-US" smtClean="0"/>
              <a:t>63</a:t>
            </a:fld>
            <a:endParaRPr lang="zh-CN" altLang="en-US"/>
          </a:p>
        </p:txBody>
      </p:sp>
    </p:spTree>
    <p:extLst>
      <p:ext uri="{BB962C8B-B14F-4D97-AF65-F5344CB8AC3E}">
        <p14:creationId xmlns:p14="http://schemas.microsoft.com/office/powerpoint/2010/main" val="4121281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8"/>
            <a:ext cx="7772400" cy="1225021"/>
          </a:xfrm>
        </p:spPr>
        <p:txBody>
          <a:bodyPr>
            <a:normAutofit/>
          </a:bodyPr>
          <a:lstStyle>
            <a:lvl1pPr algn="ctr">
              <a:defRPr sz="4400">
                <a:latin typeface="+mj-lt"/>
              </a:defRPr>
            </a:lvl1pPr>
          </a:lstStyle>
          <a:p>
            <a:r>
              <a:rPr lang="zh-CN" altLang="en-US" dirty="0"/>
              <a:t>单击此处编辑母版标题样式</a:t>
            </a:r>
          </a:p>
        </p:txBody>
      </p:sp>
      <p:sp>
        <p:nvSpPr>
          <p:cNvPr id="3" name="副标题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endParaRPr lang="zh-CN" altLang="en-US" dirty="0"/>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页脚占位符 4">
            <a:extLst>
              <a:ext uri="{FF2B5EF4-FFF2-40B4-BE49-F238E27FC236}">
                <a16:creationId xmlns:a16="http://schemas.microsoft.com/office/drawing/2014/main" id="{9FA25068-95BE-F84A-896E-9E89F943483E}"/>
              </a:ext>
            </a:extLst>
          </p:cNvPr>
          <p:cNvSpPr>
            <a:spLocks noGrp="1"/>
          </p:cNvSpPr>
          <p:nvPr>
            <p:ph type="ftr" sz="quarter" idx="3"/>
          </p:nvPr>
        </p:nvSpPr>
        <p:spPr>
          <a:xfrm>
            <a:off x="2553817" y="5305772"/>
            <a:ext cx="3962399" cy="304271"/>
          </a:xfrm>
          <a:prstGeom prst="rect">
            <a:avLst/>
          </a:prstGeom>
        </p:spPr>
        <p:txBody>
          <a:bodyPr anchor="ct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46142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6"/>
            <a:ext cx="8229600" cy="900442"/>
          </a:xfrm>
        </p:spPr>
        <p:txBody>
          <a:bodyPr/>
          <a:lstStyle>
            <a:lvl1pPr>
              <a:defRPr b="1">
                <a:solidFill>
                  <a:schemeClr val="accent1"/>
                </a:solidFill>
                <a:latin typeface="+mj-lt"/>
                <a:ea typeface="+mj-ea"/>
                <a:cs typeface="微软雅黑 Light" panose="020B0502040204020203"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normAutofit/>
          </a:bodyPr>
          <a:lstStyle>
            <a:lvl1pPr>
              <a:lnSpc>
                <a:spcPct val="120000"/>
              </a:lnSpc>
              <a:defRPr sz="2400" b="1" i="0">
                <a:latin typeface="+mn-lt"/>
                <a:ea typeface="微软雅黑" panose="020B0503020204020204" pitchFamily="34" charset="-122"/>
                <a:cs typeface="微软雅黑" panose="020B0503020204020204" pitchFamily="34" charset="-122"/>
              </a:defRPr>
            </a:lvl1pPr>
            <a:lvl2pPr>
              <a:lnSpc>
                <a:spcPct val="120000"/>
              </a:lnSpc>
              <a:defRPr sz="2000" b="0" i="0">
                <a:latin typeface="+mn-lt"/>
                <a:ea typeface="微软雅黑" panose="020B0503020204020204" pitchFamily="34" charset="-122"/>
                <a:cs typeface="微软雅黑" panose="020B0503020204020204" pitchFamily="34" charset="-122"/>
              </a:defRPr>
            </a:lvl2pPr>
            <a:lvl3pPr>
              <a:lnSpc>
                <a:spcPct val="120000"/>
              </a:lnSpc>
              <a:defRPr sz="2000" b="0" i="0">
                <a:latin typeface="+mn-lt"/>
                <a:ea typeface="微软雅黑" panose="020B0503020204020204" pitchFamily="34" charset="-122"/>
                <a:cs typeface="微软雅黑" panose="020B0503020204020204" pitchFamily="34" charset="-122"/>
              </a:defRPr>
            </a:lvl3pPr>
            <a:lvl4pPr>
              <a:lnSpc>
                <a:spcPct val="120000"/>
              </a:lnSpc>
              <a:defRPr sz="1800" b="0" i="0">
                <a:latin typeface="+mn-lt"/>
                <a:ea typeface="微软雅黑" panose="020B0503020204020204" pitchFamily="34" charset="-122"/>
                <a:cs typeface="微软雅黑" panose="020B0503020204020204" pitchFamily="34" charset="-122"/>
              </a:defRPr>
            </a:lvl4pPr>
            <a:lvl5pPr>
              <a:lnSpc>
                <a:spcPct val="120000"/>
              </a:lnSpc>
              <a:defRPr sz="1800" b="0" i="0">
                <a:latin typeface="+mn-lt"/>
                <a:ea typeface="微软雅黑" panose="020B0503020204020204" pitchFamily="34" charset="-122"/>
                <a:cs typeface="微软雅黑" panose="020B0503020204020204" pitchFamily="34" charset="-122"/>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7" name="矩形 6"/>
          <p:cNvSpPr/>
          <p:nvPr userDrawn="1"/>
        </p:nvSpPr>
        <p:spPr>
          <a:xfrm>
            <a:off x="-180527" y="439062"/>
            <a:ext cx="164581" cy="4800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8" name="三角形 7">
            <a:extLst>
              <a:ext uri="{FF2B5EF4-FFF2-40B4-BE49-F238E27FC236}">
                <a16:creationId xmlns:a16="http://schemas.microsoft.com/office/drawing/2014/main" id="{066DE83E-C489-9340-8A6C-F2C63F8574DC}"/>
              </a:ext>
            </a:extLst>
          </p:cNvPr>
          <p:cNvSpPr/>
          <p:nvPr userDrawn="1"/>
        </p:nvSpPr>
        <p:spPr>
          <a:xfrm rot="5400000">
            <a:off x="-160702" y="599536"/>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6608DAFC-F7CB-BF45-A12C-3E5B3C748823}"/>
              </a:ext>
            </a:extLst>
          </p:cNvPr>
          <p:cNvSpPr>
            <a:spLocks noGrp="1"/>
          </p:cNvSpPr>
          <p:nvPr>
            <p:ph type="ftr" sz="quarter" idx="3"/>
          </p:nvPr>
        </p:nvSpPr>
        <p:spPr>
          <a:xfrm>
            <a:off x="2553817" y="5305772"/>
            <a:ext cx="3962399" cy="304271"/>
          </a:xfrm>
          <a:prstGeom prst="rect">
            <a:avLst/>
          </a:prstGeom>
        </p:spPr>
        <p:txBody>
          <a:bodyPr/>
          <a:lstStyle>
            <a:lvl1pPr algn="ctr">
              <a:defRPr sz="1100"/>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9495601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8"/>
            <a:ext cx="7772400" cy="1135062"/>
          </a:xfrm>
        </p:spPr>
        <p:txBody>
          <a:bodyPr anchor="t"/>
          <a:lstStyle>
            <a:lvl1pPr algn="l">
              <a:defRPr sz="4000" b="1" cap="all">
                <a:latin typeface="+mj-lt"/>
              </a:defRPr>
            </a:lvl1pPr>
          </a:lstStyle>
          <a:p>
            <a:r>
              <a:rPr lang="zh-CN" altLang="en-US" dirty="0"/>
              <a:t>单击此处编辑母版标题样式</a:t>
            </a:r>
          </a:p>
        </p:txBody>
      </p:sp>
      <p:sp>
        <p:nvSpPr>
          <p:cNvPr id="3" name="文本占位符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dirty="0"/>
              <a:t>单击此处编辑母版文本样式</a:t>
            </a:r>
          </a:p>
        </p:txBody>
      </p:sp>
      <p:sp>
        <p:nvSpPr>
          <p:cNvPr id="4" name="日期占位符 3"/>
          <p:cNvSpPr>
            <a:spLocks noGrp="1"/>
          </p:cNvSpPr>
          <p:nvPr>
            <p:ph type="dt" sz="half" idx="10"/>
          </p:nvPr>
        </p:nvSpPr>
        <p:spPr/>
        <p:txBody>
          <a:bodyPr/>
          <a:lstStyle/>
          <a:p>
            <a:endParaRPr lang="zh-CN" altLang="en-US"/>
          </a:p>
        </p:txBody>
      </p:sp>
      <p:sp>
        <p:nvSpPr>
          <p:cNvPr id="6" name="灯片编号占位符 5"/>
          <p:cNvSpPr>
            <a:spLocks noGrp="1"/>
          </p:cNvSpPr>
          <p:nvPr>
            <p:ph type="sldNum" sz="quarter" idx="12"/>
          </p:nvPr>
        </p:nvSpPr>
        <p:spPr/>
        <p:txBody>
          <a:bodyPr/>
          <a:lstStyle/>
          <a:p>
            <a:fld id="{ADE361C3-C043-4A6E-BDCE-8DA1E7D90A3B}" type="slidenum">
              <a:rPr lang="zh-CN" altLang="en-US" smtClean="0"/>
              <a:t>‹#›</a:t>
            </a:fld>
            <a:endParaRPr lang="zh-CN" altLang="en-US"/>
          </a:p>
        </p:txBody>
      </p:sp>
      <p:sp>
        <p:nvSpPr>
          <p:cNvPr id="8" name="三角形 7">
            <a:extLst>
              <a:ext uri="{FF2B5EF4-FFF2-40B4-BE49-F238E27FC236}">
                <a16:creationId xmlns:a16="http://schemas.microsoft.com/office/drawing/2014/main" id="{A8EE614D-B549-154F-943F-0F3919AB5939}"/>
              </a:ext>
            </a:extLst>
          </p:cNvPr>
          <p:cNvSpPr/>
          <p:nvPr userDrawn="1"/>
        </p:nvSpPr>
        <p:spPr>
          <a:xfrm rot="5400000">
            <a:off x="-160703" y="3920373"/>
            <a:ext cx="480280" cy="158875"/>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sz="1800"/>
          </a:p>
        </p:txBody>
      </p:sp>
      <p:sp>
        <p:nvSpPr>
          <p:cNvPr id="9" name="页脚占位符 4">
            <a:extLst>
              <a:ext uri="{FF2B5EF4-FFF2-40B4-BE49-F238E27FC236}">
                <a16:creationId xmlns:a16="http://schemas.microsoft.com/office/drawing/2014/main" id="{222B87CB-0BF3-3A40-9555-EFDE398401FB}"/>
              </a:ext>
            </a:extLst>
          </p:cNvPr>
          <p:cNvSpPr>
            <a:spLocks noGrp="1"/>
          </p:cNvSpPr>
          <p:nvPr>
            <p:ph type="ftr" sz="quarter" idx="3"/>
          </p:nvPr>
        </p:nvSpPr>
        <p:spPr>
          <a:xfrm>
            <a:off x="2553817" y="5305772"/>
            <a:ext cx="3962399" cy="304271"/>
          </a:xfrm>
          <a:prstGeom prst="rect">
            <a:avLst/>
          </a:prstGeom>
        </p:spPr>
        <p:txBody>
          <a:bodyPr/>
          <a:lstStyle>
            <a:lvl1pPr algn="ctr">
              <a:defRPr sz="1100">
                <a:solidFill>
                  <a:schemeClr val="tx1">
                    <a:lumMod val="50000"/>
                    <a:lumOff val="50000"/>
                  </a:schemeClr>
                </a:solidFill>
              </a:defRPr>
            </a:lvl1p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61469465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28866"/>
            <a:ext cx="8229600" cy="9525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333501"/>
            <a:ext cx="8229600" cy="3771636"/>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1" y="5296962"/>
            <a:ext cx="2133600" cy="304271"/>
          </a:xfrm>
          <a:prstGeom prst="rect">
            <a:avLst/>
          </a:prstGeom>
        </p:spPr>
        <p:txBody>
          <a:bodyPr vert="horz" lIns="91440" tIns="45720" rIns="91440" bIns="45720" rtlCol="0" anchor="ctr"/>
          <a:lstStyle>
            <a:lvl1pPr algn="l">
              <a:defRPr sz="1200">
                <a:solidFill>
                  <a:schemeClr val="tx1">
                    <a:tint val="75000"/>
                  </a:schemeClr>
                </a:solidFill>
                <a:latin typeface="DengXian" charset="0"/>
                <a:ea typeface="DengXian" charset="0"/>
                <a:cs typeface="DengXian" charset="0"/>
              </a:defRPr>
            </a:lvl1pPr>
          </a:lstStyle>
          <a:p>
            <a:endParaRPr lang="zh-CN" altLang="en-US" dirty="0"/>
          </a:p>
        </p:txBody>
      </p:sp>
      <p:sp>
        <p:nvSpPr>
          <p:cNvPr id="6" name="灯片编号占位符 5"/>
          <p:cNvSpPr>
            <a:spLocks noGrp="1"/>
          </p:cNvSpPr>
          <p:nvPr>
            <p:ph type="sldNum" sz="quarter" idx="4"/>
          </p:nvPr>
        </p:nvSpPr>
        <p:spPr>
          <a:xfrm>
            <a:off x="6553200" y="5296962"/>
            <a:ext cx="2133600" cy="304271"/>
          </a:xfrm>
          <a:prstGeom prst="rect">
            <a:avLst/>
          </a:prstGeom>
        </p:spPr>
        <p:txBody>
          <a:bodyPr vert="horz" lIns="91440" tIns="45720" rIns="91440" bIns="45720" rtlCol="0" anchor="ctr"/>
          <a:lstStyle>
            <a:lvl1pPr algn="r">
              <a:defRPr sz="1200">
                <a:solidFill>
                  <a:schemeClr val="tx1">
                    <a:tint val="75000"/>
                  </a:schemeClr>
                </a:solidFill>
                <a:latin typeface="DengXian" charset="0"/>
                <a:ea typeface="DengXian" charset="0"/>
                <a:cs typeface="DengXian" charset="0"/>
              </a:defRPr>
            </a:lvl1pPr>
          </a:lstStyle>
          <a:p>
            <a:fld id="{ADE361C3-C043-4A6E-BDCE-8DA1E7D90A3B}" type="slidenum">
              <a:rPr lang="zh-CN" altLang="en-US" smtClean="0"/>
              <a:pPr/>
              <a:t>‹#›</a:t>
            </a:fld>
            <a:endParaRPr lang="zh-CN" altLang="en-US"/>
          </a:p>
        </p:txBody>
      </p:sp>
      <p:sp>
        <p:nvSpPr>
          <p:cNvPr id="7" name="页脚占位符 4">
            <a:extLst>
              <a:ext uri="{FF2B5EF4-FFF2-40B4-BE49-F238E27FC236}">
                <a16:creationId xmlns:a16="http://schemas.microsoft.com/office/drawing/2014/main" id="{4DC863AB-1CA3-014A-96B6-C1A16FEA03AC}"/>
              </a:ext>
            </a:extLst>
          </p:cNvPr>
          <p:cNvSpPr>
            <a:spLocks noGrp="1"/>
          </p:cNvSpPr>
          <p:nvPr>
            <p:ph type="ftr" sz="quarter" idx="3"/>
          </p:nvPr>
        </p:nvSpPr>
        <p:spPr>
          <a:xfrm>
            <a:off x="2553817" y="5305772"/>
            <a:ext cx="3962399" cy="304271"/>
          </a:xfrm>
          <a:prstGeom prst="rect">
            <a:avLst/>
          </a:prstGeom>
        </p:spPr>
        <p:txBody>
          <a:bodyPr anchor="ctr"/>
          <a:lstStyle>
            <a:lvl1pPr>
              <a:defRPr sz="1100">
                <a:solidFill>
                  <a:schemeClr val="tx1">
                    <a:lumMod val="50000"/>
                    <a:lumOff val="50000"/>
                  </a:schemeClr>
                </a:solidFill>
                <a:latin typeface="+mn-ea"/>
                <a:ea typeface="+mn-ea"/>
              </a:defRPr>
            </a:lvl1pPr>
          </a:lstStyle>
          <a:p>
            <a:pPr algn="ctr"/>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8909056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l" defTabSz="914400" rtl="0" eaLnBrk="1" latinLnBrk="0" hangingPunct="1">
        <a:spcBef>
          <a:spcPct val="0"/>
        </a:spcBef>
        <a:buNone/>
        <a:defRPr sz="3600" b="1" kern="1200">
          <a:solidFill>
            <a:schemeClr val="accent1"/>
          </a:solidFill>
          <a:latin typeface="+mj-lt"/>
          <a:ea typeface="+mj-ea"/>
          <a:cs typeface="微软雅黑 Light" panose="020B0502040204020203" pitchFamily="34" charset="-122"/>
        </a:defRPr>
      </a:lvl1pPr>
    </p:titleStyle>
    <p:bodyStyle>
      <a:lvl1pPr marL="342900" indent="-342900" algn="l" defTabSz="914400" rtl="0" eaLnBrk="1" latinLnBrk="0" hangingPunct="1">
        <a:lnSpc>
          <a:spcPct val="120000"/>
        </a:lnSpc>
        <a:spcBef>
          <a:spcPts val="1200"/>
        </a:spcBef>
        <a:buFont typeface="Arial" pitchFamily="34" charset="0"/>
        <a:buChar char="•"/>
        <a:defRPr sz="2600" b="0" kern="1200">
          <a:solidFill>
            <a:schemeClr val="tx1">
              <a:lumMod val="75000"/>
              <a:lumOff val="25000"/>
            </a:schemeClr>
          </a:solidFill>
          <a:latin typeface="+mn-lt"/>
          <a:ea typeface="+mn-ea"/>
          <a:cs typeface="DengXian" charset="0"/>
        </a:defRPr>
      </a:lvl1pPr>
      <a:lvl2pPr marL="742950" indent="-285750" algn="l" defTabSz="914400" rtl="0" eaLnBrk="1" latinLnBrk="0" hangingPunct="1">
        <a:lnSpc>
          <a:spcPct val="120000"/>
        </a:lnSpc>
        <a:spcBef>
          <a:spcPct val="20000"/>
        </a:spcBef>
        <a:buFont typeface="Arial" pitchFamily="34" charset="0"/>
        <a:buChar char="–"/>
        <a:defRPr sz="2400" kern="1200">
          <a:solidFill>
            <a:schemeClr val="tx1">
              <a:lumMod val="75000"/>
              <a:lumOff val="25000"/>
            </a:schemeClr>
          </a:solidFill>
          <a:latin typeface="+mn-lt"/>
          <a:ea typeface="+mn-ea"/>
          <a:cs typeface="DengXian" charset="0"/>
        </a:defRPr>
      </a:lvl2pPr>
      <a:lvl3pPr marL="1143000" indent="-228600" algn="l" defTabSz="914400" rtl="0" eaLnBrk="1" latinLnBrk="0" hangingPunct="1">
        <a:lnSpc>
          <a:spcPct val="120000"/>
        </a:lnSpc>
        <a:spcBef>
          <a:spcPct val="20000"/>
        </a:spcBef>
        <a:buFont typeface="Arial" pitchFamily="34" charset="0"/>
        <a:buChar char="•"/>
        <a:defRPr sz="2000" kern="1200">
          <a:solidFill>
            <a:schemeClr val="tx1">
              <a:lumMod val="75000"/>
              <a:lumOff val="25000"/>
            </a:schemeClr>
          </a:solidFill>
          <a:latin typeface="+mn-lt"/>
          <a:ea typeface="+mn-ea"/>
          <a:cs typeface="DengXian" charset="0"/>
        </a:defRPr>
      </a:lvl3pPr>
      <a:lvl4pPr marL="16002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4pPr>
      <a:lvl5pPr marL="2057400" indent="-228600" algn="l" defTabSz="914400" rtl="0" eaLnBrk="1" latinLnBrk="0" hangingPunct="1">
        <a:lnSpc>
          <a:spcPct val="120000"/>
        </a:lnSpc>
        <a:spcBef>
          <a:spcPct val="20000"/>
        </a:spcBef>
        <a:buFont typeface="Arial" pitchFamily="34" charset="0"/>
        <a:buChar char="»"/>
        <a:defRPr sz="1800" kern="1200">
          <a:solidFill>
            <a:schemeClr val="tx1">
              <a:lumMod val="75000"/>
              <a:lumOff val="25000"/>
            </a:schemeClr>
          </a:solidFill>
          <a:latin typeface="+mn-lt"/>
          <a:ea typeface="+mn-ea"/>
          <a:cs typeface="DengXian"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s://creativecommons.org/licenses/by/4.0/legalcod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5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C7C6228-E47F-EA4B-8DD8-28647C76DDD6}"/>
              </a:ext>
            </a:extLst>
          </p:cNvPr>
          <p:cNvSpPr>
            <a:spLocks noGrp="1"/>
          </p:cNvSpPr>
          <p:nvPr>
            <p:ph type="ctrTitle"/>
          </p:nvPr>
        </p:nvSpPr>
        <p:spPr>
          <a:xfrm>
            <a:off x="685800" y="1720996"/>
            <a:ext cx="7772400" cy="1225021"/>
          </a:xfrm>
        </p:spPr>
        <p:txBody>
          <a:bodyPr>
            <a:normAutofit/>
          </a:bodyPr>
          <a:lstStyle/>
          <a:p>
            <a:pPr algn="ctr">
              <a:lnSpc>
                <a:spcPct val="110000"/>
              </a:lnSpc>
            </a:pPr>
            <a:r>
              <a:rPr kumimoji="1" lang="zh-CN" altLang="en-US" sz="4800" dirty="0"/>
              <a:t>操作系统攻防</a:t>
            </a:r>
          </a:p>
        </p:txBody>
      </p:sp>
      <p:sp>
        <p:nvSpPr>
          <p:cNvPr id="6" name="副标题 5">
            <a:extLst>
              <a:ext uri="{FF2B5EF4-FFF2-40B4-BE49-F238E27FC236}">
                <a16:creationId xmlns:a16="http://schemas.microsoft.com/office/drawing/2014/main" id="{A89EB2B2-D46F-2643-A072-954E7921BC30}"/>
              </a:ext>
            </a:extLst>
          </p:cNvPr>
          <p:cNvSpPr>
            <a:spLocks noGrp="1"/>
          </p:cNvSpPr>
          <p:nvPr>
            <p:ph type="subTitle" idx="1"/>
          </p:nvPr>
        </p:nvSpPr>
        <p:spPr>
          <a:xfrm>
            <a:off x="685800" y="3412362"/>
            <a:ext cx="7772400" cy="1225020"/>
          </a:xfrm>
        </p:spPr>
        <p:txBody>
          <a:bodyPr>
            <a:noAutofit/>
          </a:bodyPr>
          <a:lstStyle/>
          <a:p>
            <a:pPr>
              <a:lnSpc>
                <a:spcPct val="150000"/>
              </a:lnSpc>
              <a:spcBef>
                <a:spcPts val="0"/>
              </a:spcBef>
            </a:pPr>
            <a:r>
              <a:rPr kumimoji="1" lang="zh-CN" altLang="en-US" sz="1800" dirty="0">
                <a:solidFill>
                  <a:schemeClr val="tx1">
                    <a:lumMod val="75000"/>
                    <a:lumOff val="25000"/>
                  </a:schemeClr>
                </a:solidFill>
              </a:rPr>
              <a:t>上海交通大学并行与分布式系统研究所</a:t>
            </a:r>
            <a:endParaRPr kumimoji="1" lang="en-US" altLang="zh-CN" sz="1800" dirty="0">
              <a:solidFill>
                <a:schemeClr val="tx1">
                  <a:lumMod val="75000"/>
                  <a:lumOff val="25000"/>
                </a:schemeClr>
              </a:solidFill>
            </a:endParaRPr>
          </a:p>
          <a:p>
            <a:pPr>
              <a:lnSpc>
                <a:spcPct val="150000"/>
              </a:lnSpc>
              <a:spcBef>
                <a:spcPts val="0"/>
              </a:spcBef>
            </a:pPr>
            <a:r>
              <a:rPr kumimoji="1" lang="en-US" altLang="zh-CN" sz="1800" dirty="0">
                <a:solidFill>
                  <a:schemeClr val="tx1">
                    <a:lumMod val="50000"/>
                    <a:lumOff val="50000"/>
                  </a:schemeClr>
                </a:solidFill>
              </a:rPr>
              <a:t>https://</a:t>
            </a:r>
            <a:r>
              <a:rPr kumimoji="1" lang="en-US" altLang="zh-CN" sz="1800" dirty="0" err="1">
                <a:solidFill>
                  <a:schemeClr val="tx1">
                    <a:lumMod val="50000"/>
                    <a:lumOff val="50000"/>
                  </a:schemeClr>
                </a:solidFill>
              </a:rPr>
              <a:t>ipads.se.sjtu.edu.cn</a:t>
            </a:r>
            <a:endParaRPr kumimoji="1" lang="en" altLang="zh-CN" sz="1800" dirty="0">
              <a:solidFill>
                <a:schemeClr val="tx1">
                  <a:lumMod val="50000"/>
                  <a:lumOff val="50000"/>
                </a:schemeClr>
              </a:solidFill>
            </a:endParaRPr>
          </a:p>
        </p:txBody>
      </p:sp>
      <p:pic>
        <p:nvPicPr>
          <p:cNvPr id="9" name="图片 8">
            <a:extLst>
              <a:ext uri="{FF2B5EF4-FFF2-40B4-BE49-F238E27FC236}">
                <a16:creationId xmlns:a16="http://schemas.microsoft.com/office/drawing/2014/main" id="{23A70DCB-3E4D-4449-82B8-441C200ABD69}"/>
              </a:ext>
            </a:extLst>
          </p:cNvPr>
          <p:cNvPicPr>
            <a:picLocks noChangeAspect="1"/>
          </p:cNvPicPr>
          <p:nvPr/>
        </p:nvPicPr>
        <p:blipFill>
          <a:blip r:embed="rId3" cstate="screen">
            <a:duotone>
              <a:schemeClr val="accent1">
                <a:shade val="45000"/>
                <a:satMod val="135000"/>
              </a:schemeClr>
              <a:prstClr val="white"/>
            </a:duotone>
            <a:extLst>
              <a:ext uri="{28A0092B-C50C-407E-A947-70E740481C1C}">
                <a14:useLocalDpi xmlns:a14="http://schemas.microsoft.com/office/drawing/2010/main"/>
              </a:ext>
            </a:extLst>
          </a:blip>
          <a:stretch>
            <a:fillRect/>
          </a:stretch>
        </p:blipFill>
        <p:spPr>
          <a:xfrm>
            <a:off x="5652120" y="252561"/>
            <a:ext cx="1362088" cy="492009"/>
          </a:xfrm>
          <a:prstGeom prst="rect">
            <a:avLst/>
          </a:prstGeom>
        </p:spPr>
      </p:pic>
      <p:sp>
        <p:nvSpPr>
          <p:cNvPr id="7" name="副标题 2">
            <a:extLst>
              <a:ext uri="{FF2B5EF4-FFF2-40B4-BE49-F238E27FC236}">
                <a16:creationId xmlns:a16="http://schemas.microsoft.com/office/drawing/2014/main" id="{E2120B98-7095-B94B-B13B-75606426BFB4}"/>
              </a:ext>
            </a:extLst>
          </p:cNvPr>
          <p:cNvSpPr txBox="1">
            <a:spLocks/>
          </p:cNvSpPr>
          <p:nvPr/>
        </p:nvSpPr>
        <p:spPr>
          <a:xfrm>
            <a:off x="467544" y="252559"/>
            <a:ext cx="3240360" cy="504056"/>
          </a:xfrm>
          <a:prstGeom prst="rect">
            <a:avLst/>
          </a:prstGeom>
        </p:spPr>
        <p:txBody>
          <a:bodyPr vert="horz" lIns="91440" tIns="45720" rIns="91440" bIns="45720" rtlCol="0">
            <a:normAutofit/>
          </a:bodyPr>
          <a:lstStyle>
            <a:lvl1pPr marL="0" indent="0" algn="ctr" defTabSz="914400" rtl="0" eaLnBrk="1" latinLnBrk="0" hangingPunct="1">
              <a:lnSpc>
                <a:spcPct val="120000"/>
              </a:lnSpc>
              <a:spcBef>
                <a:spcPts val="1200"/>
              </a:spcBef>
              <a:buFont typeface="Arial" pitchFamily="34" charset="0"/>
              <a:buNone/>
              <a:defRPr sz="2600" b="0" kern="1200">
                <a:solidFill>
                  <a:schemeClr val="tx1">
                    <a:tint val="75000"/>
                  </a:schemeClr>
                </a:solidFill>
                <a:latin typeface="+mn-ea"/>
                <a:ea typeface="+mn-ea"/>
                <a:cs typeface="DengXian" charset="0"/>
              </a:defRPr>
            </a:lvl1pPr>
            <a:lvl2pPr marL="457200" indent="0" algn="ctr" defTabSz="914400" rtl="0" eaLnBrk="1" latinLnBrk="0" hangingPunct="1">
              <a:lnSpc>
                <a:spcPct val="120000"/>
              </a:lnSpc>
              <a:spcBef>
                <a:spcPct val="20000"/>
              </a:spcBef>
              <a:buFont typeface="Arial" pitchFamily="34" charset="0"/>
              <a:buNone/>
              <a:defRPr sz="2400" kern="1200">
                <a:solidFill>
                  <a:schemeClr val="tx1">
                    <a:tint val="75000"/>
                  </a:schemeClr>
                </a:solidFill>
                <a:latin typeface="+mn-ea"/>
                <a:ea typeface="+mn-ea"/>
                <a:cs typeface="DengXian" charset="0"/>
              </a:defRPr>
            </a:lvl2pPr>
            <a:lvl3pPr marL="914400" indent="0" algn="ctr" defTabSz="914400" rtl="0" eaLnBrk="1" latinLnBrk="0" hangingPunct="1">
              <a:lnSpc>
                <a:spcPct val="120000"/>
              </a:lnSpc>
              <a:spcBef>
                <a:spcPct val="20000"/>
              </a:spcBef>
              <a:buFont typeface="Arial" pitchFamily="34" charset="0"/>
              <a:buNone/>
              <a:defRPr sz="2000" kern="1200">
                <a:solidFill>
                  <a:schemeClr val="tx1">
                    <a:tint val="75000"/>
                  </a:schemeClr>
                </a:solidFill>
                <a:latin typeface="+mn-ea"/>
                <a:ea typeface="+mn-ea"/>
                <a:cs typeface="DengXian" charset="0"/>
              </a:defRPr>
            </a:lvl3pPr>
            <a:lvl4pPr marL="13716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4pPr>
            <a:lvl5pPr marL="1828800" indent="0" algn="ctr" defTabSz="914400" rtl="0" eaLnBrk="1" latinLnBrk="0" hangingPunct="1">
              <a:lnSpc>
                <a:spcPct val="120000"/>
              </a:lnSpc>
              <a:spcBef>
                <a:spcPct val="20000"/>
              </a:spcBef>
              <a:buFont typeface="Arial" pitchFamily="34" charset="0"/>
              <a:buNone/>
              <a:defRPr sz="1800" kern="1200">
                <a:solidFill>
                  <a:schemeClr val="tx1">
                    <a:tint val="75000"/>
                  </a:schemeClr>
                </a:solidFill>
                <a:latin typeface="+mn-ea"/>
                <a:ea typeface="+mn-ea"/>
                <a:cs typeface="DengXian" charset="0"/>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defRPr/>
            </a:pPr>
            <a:r>
              <a:rPr lang="en-US" altLang="zh-CN" sz="1400" dirty="0">
                <a:solidFill>
                  <a:srgbClr val="000000">
                    <a:lumMod val="75000"/>
                    <a:lumOff val="25000"/>
                  </a:srgbClr>
                </a:solidFill>
                <a:latin typeface="Arial" panose="020B0604020202020204"/>
              </a:rPr>
              <a:t>SE3357-1</a:t>
            </a:r>
            <a:r>
              <a:rPr lang="zh-CN" altLang="en-US" sz="1400" dirty="0">
                <a:solidFill>
                  <a:srgbClr val="000000">
                    <a:lumMod val="75000"/>
                    <a:lumOff val="25000"/>
                  </a:srgbClr>
                </a:solidFill>
                <a:latin typeface="Arial" panose="020B0604020202020204"/>
              </a:rPr>
              <a:t> </a:t>
            </a:r>
            <a:r>
              <a:rPr lang="en-US" altLang="zh-CN" sz="1400" dirty="0">
                <a:solidFill>
                  <a:srgbClr val="000000">
                    <a:lumMod val="75000"/>
                    <a:lumOff val="25000"/>
                  </a:srgbClr>
                </a:solidFill>
                <a:latin typeface="Arial" panose="020B0604020202020204"/>
              </a:rPr>
              <a:t>·</a:t>
            </a:r>
            <a:r>
              <a:rPr lang="zh-CN" altLang="en-US" sz="1400" dirty="0">
                <a:solidFill>
                  <a:srgbClr val="000000">
                    <a:lumMod val="75000"/>
                    <a:lumOff val="25000"/>
                  </a:srgbClr>
                </a:solidFill>
                <a:latin typeface="Arial" panose="020B0604020202020204"/>
              </a:rPr>
              <a:t> 操作系统（</a:t>
            </a:r>
            <a:r>
              <a:rPr lang="en-US" altLang="zh-CN" sz="1400" dirty="0">
                <a:solidFill>
                  <a:srgbClr val="000000">
                    <a:lumMod val="75000"/>
                    <a:lumOff val="25000"/>
                  </a:srgbClr>
                </a:solidFill>
                <a:latin typeface="Arial" panose="020B0604020202020204"/>
              </a:rPr>
              <a:t>2022</a:t>
            </a:r>
            <a:r>
              <a:rPr lang="zh-CN" altLang="en-US" sz="1400" dirty="0">
                <a:solidFill>
                  <a:srgbClr val="000000">
                    <a:lumMod val="75000"/>
                    <a:lumOff val="25000"/>
                  </a:srgbClr>
                </a:solidFill>
                <a:latin typeface="Arial" panose="020B0604020202020204"/>
              </a:rPr>
              <a:t>春）</a:t>
            </a:r>
          </a:p>
        </p:txBody>
      </p:sp>
      <p:pic>
        <p:nvPicPr>
          <p:cNvPr id="8" name="Picture 6" descr="http://korean.onlinesjtu.com/%E6%A0%A1%E5%BE%BD%E7%B3%BB%E5%88%97/%E7%BC%A9%E5%B0%8F%E7%89%88/%E8%93%9D%E8%89%B2%E7%B3%BB%20%E5%B0%8F%E5%B0%BA%E5%AF%B8%E6%A0%A1%E5%BE%BD%E5%B1%95%E5%BC%80%E5%BC%8F%20(10mm%E4%BB%A5%E4%B8%8B%E4%BD%BF%E7%94%A8)%20%5b%E8%BD%AC%E6%8D%A2%5d.png">
            <a:extLst>
              <a:ext uri="{FF2B5EF4-FFF2-40B4-BE49-F238E27FC236}">
                <a16:creationId xmlns:a16="http://schemas.microsoft.com/office/drawing/2014/main" id="{9D0C1772-9C9E-534B-9410-16BA28CA6EB4}"/>
              </a:ext>
            </a:extLst>
          </p:cNvPr>
          <p:cNvPicPr>
            <a:picLocks noChangeAspect="1" noChangeArrowheads="1"/>
          </p:cNvPicPr>
          <p:nvPr/>
        </p:nvPicPr>
        <p:blipFill>
          <a:blip r:embed="rId4" cstate="screen">
            <a:duotone>
              <a:schemeClr val="accent1">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7164288" y="282539"/>
            <a:ext cx="1642840" cy="43204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808067628"/>
      </p:ext>
    </p:extLst>
  </p:cSld>
  <p:clrMapOvr>
    <a:masterClrMapping/>
  </p:clrMapOvr>
  <mc:AlternateContent xmlns:mc="http://schemas.openxmlformats.org/markup-compatibility/2006" xmlns:p14="http://schemas.microsoft.com/office/powerpoint/2010/main">
    <mc:Choice Requires="p14">
      <p:transition spd="slow" p14:dur="2000" advTm="11626"/>
    </mc:Choice>
    <mc:Fallback xmlns="">
      <p:transition spd="slow" advTm="1162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BE39C2-86D1-9B45-B569-48F1570E518D}"/>
              </a:ext>
            </a:extLst>
          </p:cNvPr>
          <p:cNvSpPr>
            <a:spLocks noGrp="1"/>
          </p:cNvSpPr>
          <p:nvPr>
            <p:ph type="title"/>
          </p:nvPr>
        </p:nvSpPr>
        <p:spPr/>
        <p:txBody>
          <a:bodyPr/>
          <a:lstStyle/>
          <a:p>
            <a:r>
              <a:rPr kumimoji="1" lang="zh-CN" altLang="en-US">
                <a:latin typeface="+mn-lt"/>
              </a:rPr>
              <a:t>版权声明</a:t>
            </a:r>
            <a:endParaRPr kumimoji="1" lang="zh-CN" altLang="en-US" dirty="0">
              <a:latin typeface="+mn-lt"/>
            </a:endParaRPr>
          </a:p>
        </p:txBody>
      </p:sp>
      <p:sp>
        <p:nvSpPr>
          <p:cNvPr id="3" name="内容占位符 2">
            <a:extLst>
              <a:ext uri="{FF2B5EF4-FFF2-40B4-BE49-F238E27FC236}">
                <a16:creationId xmlns:a16="http://schemas.microsoft.com/office/drawing/2014/main" id="{695B3383-B219-984C-8D0C-BCF076655903}"/>
              </a:ext>
            </a:extLst>
          </p:cNvPr>
          <p:cNvSpPr>
            <a:spLocks noGrp="1"/>
          </p:cNvSpPr>
          <p:nvPr>
            <p:ph idx="1"/>
          </p:nvPr>
        </p:nvSpPr>
        <p:spPr/>
        <p:txBody>
          <a:bodyPr>
            <a:noAutofit/>
          </a:bodyPr>
          <a:lstStyle/>
          <a:p>
            <a:r>
              <a:rPr lang="zh-CN" altLang="en-US" sz="2000" b="0">
                <a:latin typeface="+mn-lt"/>
              </a:rPr>
              <a:t>本内容版权归</a:t>
            </a:r>
            <a:r>
              <a:rPr lang="zh-CN" altLang="en-US" sz="2000">
                <a:latin typeface="+mn-lt"/>
              </a:rPr>
              <a:t>上海交通大学并行与分布式系统研究所</a:t>
            </a:r>
            <a:r>
              <a:rPr lang="zh-CN" altLang="en-US" sz="2000" b="0">
                <a:latin typeface="+mn-lt"/>
              </a:rPr>
              <a:t>所有</a:t>
            </a:r>
            <a:endParaRPr lang="en-US" altLang="zh-CN" sz="2000" b="0">
              <a:latin typeface="+mn-lt"/>
            </a:endParaRPr>
          </a:p>
          <a:p>
            <a:r>
              <a:rPr lang="zh-CN" altLang="en-US" sz="2000" b="0">
                <a:latin typeface="+mn-lt"/>
              </a:rPr>
              <a:t>使用者可以将全部或部分本内容免费用于非商业用途</a:t>
            </a:r>
            <a:endParaRPr lang="en-US" altLang="zh-CN" sz="2000" b="0">
              <a:latin typeface="+mn-lt"/>
            </a:endParaRPr>
          </a:p>
          <a:p>
            <a:r>
              <a:rPr lang="zh-CN" altLang="en-US" sz="2000" b="0">
                <a:latin typeface="+mn-lt"/>
              </a:rPr>
              <a:t>使用者在使用全部或部分本内容时请注明来源：</a:t>
            </a:r>
            <a:endParaRPr lang="en-US" altLang="zh-CN" sz="2000" b="0">
              <a:latin typeface="+mn-lt"/>
            </a:endParaRPr>
          </a:p>
          <a:p>
            <a:pPr lvl="1"/>
            <a:r>
              <a:rPr lang="zh-CN" altLang="en-US" sz="1600"/>
              <a:t>内容来自：上海交通大学并行与分布式系统研究所</a:t>
            </a:r>
            <a:r>
              <a:rPr lang="en-US" altLang="zh-CN" sz="1600"/>
              <a:t>+</a:t>
            </a:r>
            <a:r>
              <a:rPr lang="zh-CN" altLang="en-US" sz="1600"/>
              <a:t>材料名字</a:t>
            </a:r>
            <a:endParaRPr lang="en-US" altLang="zh-CN" sz="1600"/>
          </a:p>
          <a:p>
            <a:r>
              <a:rPr lang="zh-CN" altLang="en-US" sz="2000" b="0">
                <a:latin typeface="+mn-lt"/>
              </a:rPr>
              <a:t>对于不遵守此声明或者其他违法使用本内容者，将依法保留追究权</a:t>
            </a:r>
            <a:endParaRPr lang="en-US" altLang="zh-CN" sz="2000" b="0">
              <a:latin typeface="+mn-lt"/>
            </a:endParaRPr>
          </a:p>
          <a:p>
            <a:r>
              <a:rPr lang="zh-CN" altLang="en-US" sz="2000" b="0">
                <a:latin typeface="+mn-lt"/>
              </a:rPr>
              <a:t>本内容的发布采用 </a:t>
            </a:r>
            <a:r>
              <a:rPr lang="en-US" altLang="zh-CN" sz="2000" b="0">
                <a:latin typeface="+mn-lt"/>
              </a:rPr>
              <a:t>Creative Commons</a:t>
            </a:r>
            <a:r>
              <a:rPr lang="zh-CN" altLang="en-US" sz="2000" b="0">
                <a:latin typeface="+mn-lt"/>
              </a:rPr>
              <a:t> </a:t>
            </a:r>
            <a:r>
              <a:rPr lang="en-US" altLang="zh-CN" sz="2000" b="0">
                <a:latin typeface="+mn-lt"/>
              </a:rPr>
              <a:t>Attribution</a:t>
            </a:r>
            <a:r>
              <a:rPr lang="zh-CN" altLang="en-US" sz="2000" b="0">
                <a:latin typeface="+mn-lt"/>
              </a:rPr>
              <a:t> </a:t>
            </a:r>
            <a:r>
              <a:rPr lang="en-US" altLang="zh-CN" sz="2000" b="0">
                <a:latin typeface="+mn-lt"/>
              </a:rPr>
              <a:t>4.0</a:t>
            </a:r>
            <a:r>
              <a:rPr lang="zh-CN" altLang="en-US" sz="2000" b="0">
                <a:latin typeface="+mn-lt"/>
              </a:rPr>
              <a:t> </a:t>
            </a:r>
            <a:r>
              <a:rPr lang="en-US" altLang="zh-CN" sz="2000" b="0">
                <a:latin typeface="+mn-lt"/>
              </a:rPr>
              <a:t>License</a:t>
            </a:r>
            <a:endParaRPr lang="en-US" altLang="zh-CN" sz="2400" b="0">
              <a:latin typeface="+mn-lt"/>
            </a:endParaRPr>
          </a:p>
          <a:p>
            <a:pPr lvl="1"/>
            <a:r>
              <a:rPr lang="zh-CN" altLang="en-US" sz="1600">
                <a:latin typeface="+mn-lt"/>
              </a:rPr>
              <a:t>完整文本：</a:t>
            </a:r>
            <a:r>
              <a:rPr lang="en-US" altLang="zh-CN" sz="1600">
                <a:latin typeface="+mn-lt"/>
                <a:hlinkClick r:id="rId2"/>
              </a:rPr>
              <a:t>https://creativecommons.org/licenses/by/4.0/legalcode</a:t>
            </a:r>
            <a:endParaRPr lang="en-US" altLang="zh-CN" sz="1800" b="0">
              <a:latin typeface="+mn-lt"/>
            </a:endParaRPr>
          </a:p>
          <a:p>
            <a:endParaRPr kumimoji="1" lang="zh-CN" altLang="en-US" sz="2000" dirty="0">
              <a:latin typeface="+mn-lt"/>
            </a:endParaRPr>
          </a:p>
        </p:txBody>
      </p:sp>
      <p:sp>
        <p:nvSpPr>
          <p:cNvPr id="5" name="页脚占位符 4">
            <a:extLst>
              <a:ext uri="{FF2B5EF4-FFF2-40B4-BE49-F238E27FC236}">
                <a16:creationId xmlns:a16="http://schemas.microsoft.com/office/drawing/2014/main" id="{03E75993-6B82-2A4E-883D-B9872C501656}"/>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4" name="Slide Number Placeholder 3">
            <a:extLst>
              <a:ext uri="{FF2B5EF4-FFF2-40B4-BE49-F238E27FC236}">
                <a16:creationId xmlns:a16="http://schemas.microsoft.com/office/drawing/2014/main" id="{B974DB58-9478-0845-B9D0-F1002C2E008B}"/>
              </a:ext>
            </a:extLst>
          </p:cNvPr>
          <p:cNvSpPr>
            <a:spLocks noGrp="1"/>
          </p:cNvSpPr>
          <p:nvPr>
            <p:ph type="sldNum" sz="quarter" idx="12"/>
          </p:nvPr>
        </p:nvSpPr>
        <p:spPr/>
        <p:txBody>
          <a:bodyPr/>
          <a:lstStyle/>
          <a:p>
            <a:fld id="{ADE361C3-C043-4A6E-BDCE-8DA1E7D90A3B}" type="slidenum">
              <a:rPr lang="zh-CN" altLang="en-US" smtClean="0"/>
              <a:t>2</a:t>
            </a:fld>
            <a:endParaRPr lang="zh-CN" altLang="en-US"/>
          </a:p>
        </p:txBody>
      </p:sp>
    </p:spTree>
    <p:extLst>
      <p:ext uri="{BB962C8B-B14F-4D97-AF65-F5344CB8AC3E}">
        <p14:creationId xmlns:p14="http://schemas.microsoft.com/office/powerpoint/2010/main" val="16152267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FE5440-DDDD-634F-8212-1E4C4C6EC427}"/>
              </a:ext>
            </a:extLst>
          </p:cNvPr>
          <p:cNvSpPr>
            <a:spLocks noGrp="1"/>
          </p:cNvSpPr>
          <p:nvPr>
            <p:ph type="title"/>
          </p:nvPr>
        </p:nvSpPr>
        <p:spPr/>
        <p:txBody>
          <a:bodyPr>
            <a:normAutofit fontScale="90000"/>
          </a:bodyPr>
          <a:lstStyle/>
          <a:p>
            <a:r>
              <a:rPr kumimoji="1" lang="en-US" altLang="zh-CN" dirty="0"/>
              <a:t>Review:</a:t>
            </a:r>
            <a:r>
              <a:rPr kumimoji="1" lang="zh-CN" altLang="en-US" dirty="0"/>
              <a:t> 引用监视器（</a:t>
            </a:r>
            <a:r>
              <a:rPr kumimoji="1" lang="en-US" altLang="zh-CN" dirty="0"/>
              <a:t>Reference</a:t>
            </a:r>
            <a:r>
              <a:rPr kumimoji="1" lang="zh-CN" altLang="en-US" dirty="0"/>
              <a:t> </a:t>
            </a:r>
            <a:r>
              <a:rPr kumimoji="1" lang="en-US" altLang="zh-CN" dirty="0"/>
              <a:t>Monitor</a:t>
            </a:r>
            <a:r>
              <a:rPr kumimoji="1" lang="zh-CN" altLang="en-US" dirty="0"/>
              <a:t>）</a:t>
            </a:r>
          </a:p>
        </p:txBody>
      </p:sp>
      <p:sp>
        <p:nvSpPr>
          <p:cNvPr id="4" name="灯片编号占位符 3">
            <a:extLst>
              <a:ext uri="{FF2B5EF4-FFF2-40B4-BE49-F238E27FC236}">
                <a16:creationId xmlns:a16="http://schemas.microsoft.com/office/drawing/2014/main" id="{3D41E506-F13C-C04D-927B-25EE79E1F9D5}"/>
              </a:ext>
            </a:extLst>
          </p:cNvPr>
          <p:cNvSpPr>
            <a:spLocks noGrp="1"/>
          </p:cNvSpPr>
          <p:nvPr>
            <p:ph type="sldNum" sz="quarter" idx="12"/>
          </p:nvPr>
        </p:nvSpPr>
        <p:spPr/>
        <p:txBody>
          <a:bodyPr/>
          <a:lstStyle/>
          <a:p>
            <a:fld id="{ADE361C3-C043-4A6E-BDCE-8DA1E7D90A3B}" type="slidenum">
              <a:rPr lang="zh-CN" altLang="en-US" smtClean="0"/>
              <a:t>3</a:t>
            </a:fld>
            <a:endParaRPr lang="zh-CN" altLang="en-US"/>
          </a:p>
        </p:txBody>
      </p:sp>
      <p:sp>
        <p:nvSpPr>
          <p:cNvPr id="5" name="页脚占位符 4">
            <a:extLst>
              <a:ext uri="{FF2B5EF4-FFF2-40B4-BE49-F238E27FC236}">
                <a16:creationId xmlns:a16="http://schemas.microsoft.com/office/drawing/2014/main" id="{6333663F-2290-FF49-BE85-C05669FD9F37}"/>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FCD2CAA0-AC03-794D-B2A8-D0B658B89A98}"/>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542349" y="1273324"/>
            <a:ext cx="6059301" cy="2666526"/>
          </a:xfrm>
          <a:prstGeom prst="rect">
            <a:avLst/>
          </a:prstGeom>
        </p:spPr>
      </p:pic>
      <p:sp>
        <p:nvSpPr>
          <p:cNvPr id="7" name="矩形 6">
            <a:extLst>
              <a:ext uri="{FF2B5EF4-FFF2-40B4-BE49-F238E27FC236}">
                <a16:creationId xmlns:a16="http://schemas.microsoft.com/office/drawing/2014/main" id="{3D56DD85-A01D-C743-A29B-25B2BB9D7F31}"/>
              </a:ext>
            </a:extLst>
          </p:cNvPr>
          <p:cNvSpPr/>
          <p:nvPr/>
        </p:nvSpPr>
        <p:spPr>
          <a:xfrm>
            <a:off x="1179164" y="3734102"/>
            <a:ext cx="7137252" cy="15716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kumimoji="1" lang="en-US" altLang="zh-CN" b="1" dirty="0">
                <a:solidFill>
                  <a:schemeClr val="tx1">
                    <a:lumMod val="85000"/>
                    <a:lumOff val="15000"/>
                  </a:schemeClr>
                </a:solidFill>
              </a:rPr>
              <a:t>Reference</a:t>
            </a:r>
            <a:r>
              <a:rPr kumimoji="1" lang="zh-CN" altLang="en-US" b="1" dirty="0">
                <a:solidFill>
                  <a:schemeClr val="tx1">
                    <a:lumMod val="85000"/>
                    <a:lumOff val="15000"/>
                  </a:schemeClr>
                </a:solidFill>
              </a:rPr>
              <a:t> </a:t>
            </a:r>
            <a:r>
              <a:rPr kumimoji="1" lang="en-US" altLang="zh-CN" b="1" dirty="0">
                <a:solidFill>
                  <a:schemeClr val="tx1">
                    <a:lumMod val="85000"/>
                    <a:lumOff val="15000"/>
                  </a:schemeClr>
                </a:solidFill>
              </a:rPr>
              <a:t>Monitor</a:t>
            </a:r>
            <a:r>
              <a:rPr kumimoji="1" lang="zh-CN" altLang="en-US" b="1" dirty="0">
                <a:solidFill>
                  <a:schemeClr val="tx1">
                    <a:lumMod val="85000"/>
                    <a:lumOff val="15000"/>
                  </a:schemeClr>
                </a:solidFill>
              </a:rPr>
              <a:t> 负责两件事：</a:t>
            </a:r>
            <a:endParaRPr kumimoji="1" lang="en-US" altLang="zh-CN" b="1" dirty="0">
              <a:solidFill>
                <a:schemeClr val="tx1">
                  <a:lumMod val="85000"/>
                  <a:lumOff val="15000"/>
                </a:schemeClr>
              </a:solidFill>
            </a:endParaRPr>
          </a:p>
          <a:p>
            <a:pPr marL="457200" indent="-457200">
              <a:lnSpc>
                <a:spcPct val="150000"/>
              </a:lnSpc>
              <a:buFont typeface="+mj-lt"/>
              <a:buAutoNum type="arabicPeriod"/>
            </a:pPr>
            <a:r>
              <a:rPr kumimoji="1" lang="en-US" altLang="zh-CN" sz="1600" b="1" dirty="0">
                <a:solidFill>
                  <a:schemeClr val="tx1">
                    <a:lumMod val="85000"/>
                    <a:lumOff val="15000"/>
                  </a:schemeClr>
                </a:solidFill>
              </a:rPr>
              <a:t>Authentication</a:t>
            </a:r>
            <a:r>
              <a:rPr kumimoji="1" lang="zh-CN" altLang="en-US" sz="1600" dirty="0">
                <a:solidFill>
                  <a:schemeClr val="tx1">
                    <a:lumMod val="85000"/>
                    <a:lumOff val="15000"/>
                  </a:schemeClr>
                </a:solidFill>
              </a:rPr>
              <a:t>：确定发起请求实体的</a:t>
            </a:r>
            <a:r>
              <a:rPr kumimoji="1" lang="zh-CN" altLang="en-US" sz="1600" b="1" dirty="0">
                <a:solidFill>
                  <a:schemeClr val="tx1">
                    <a:lumMod val="85000"/>
                    <a:lumOff val="15000"/>
                  </a:schemeClr>
                </a:solidFill>
              </a:rPr>
              <a:t>身份</a:t>
            </a:r>
            <a:r>
              <a:rPr kumimoji="1" lang="zh-CN" altLang="en-US" sz="1600" dirty="0">
                <a:solidFill>
                  <a:schemeClr val="tx1">
                    <a:lumMod val="85000"/>
                    <a:lumOff val="15000"/>
                  </a:schemeClr>
                </a:solidFill>
              </a:rPr>
              <a:t>，即</a:t>
            </a:r>
            <a:r>
              <a:rPr kumimoji="1" lang="zh-CN" altLang="en-US" sz="1600" b="1" dirty="0">
                <a:solidFill>
                  <a:schemeClr val="accent1"/>
                </a:solidFill>
              </a:rPr>
              <a:t>认证</a:t>
            </a:r>
            <a:endParaRPr kumimoji="1" lang="en-US" altLang="zh-CN" sz="1600" b="1" dirty="0">
              <a:solidFill>
                <a:schemeClr val="accent1"/>
              </a:solidFill>
            </a:endParaRPr>
          </a:p>
          <a:p>
            <a:pPr marL="457200" indent="-457200">
              <a:lnSpc>
                <a:spcPct val="150000"/>
              </a:lnSpc>
              <a:buFont typeface="+mj-lt"/>
              <a:buAutoNum type="arabicPeriod"/>
            </a:pPr>
            <a:r>
              <a:rPr kumimoji="1" lang="en-US" altLang="zh-CN" sz="1600" b="1" dirty="0">
                <a:solidFill>
                  <a:schemeClr val="tx1">
                    <a:lumMod val="85000"/>
                    <a:lumOff val="15000"/>
                  </a:schemeClr>
                </a:solidFill>
              </a:rPr>
              <a:t>Authorization</a:t>
            </a:r>
            <a:r>
              <a:rPr kumimoji="1" lang="zh-CN" altLang="en-US" sz="1600" dirty="0">
                <a:solidFill>
                  <a:schemeClr val="tx1">
                    <a:lumMod val="85000"/>
                    <a:lumOff val="15000"/>
                  </a:schemeClr>
                </a:solidFill>
              </a:rPr>
              <a:t>：确定实体确实拥有访问资源的</a:t>
            </a:r>
            <a:r>
              <a:rPr kumimoji="1" lang="zh-CN" altLang="en-US" sz="1600" b="1" dirty="0">
                <a:solidFill>
                  <a:schemeClr val="tx1">
                    <a:lumMod val="85000"/>
                    <a:lumOff val="15000"/>
                  </a:schemeClr>
                </a:solidFill>
              </a:rPr>
              <a:t>权限</a:t>
            </a:r>
            <a:r>
              <a:rPr kumimoji="1" lang="zh-CN" altLang="en-US" sz="1600" dirty="0">
                <a:solidFill>
                  <a:schemeClr val="tx1">
                    <a:lumMod val="85000"/>
                    <a:lumOff val="15000"/>
                  </a:schemeClr>
                </a:solidFill>
              </a:rPr>
              <a:t>，包含</a:t>
            </a:r>
            <a:r>
              <a:rPr kumimoji="1" lang="zh-CN" altLang="en-US" sz="1600" b="1" dirty="0">
                <a:solidFill>
                  <a:schemeClr val="accent1"/>
                </a:solidFill>
              </a:rPr>
              <a:t>授权</a:t>
            </a:r>
            <a:r>
              <a:rPr kumimoji="1" lang="zh-CN" altLang="en-US" sz="1600" dirty="0">
                <a:solidFill>
                  <a:schemeClr val="tx1">
                    <a:lumMod val="85000"/>
                    <a:lumOff val="15000"/>
                  </a:schemeClr>
                </a:solidFill>
              </a:rPr>
              <a:t>和</a:t>
            </a:r>
            <a:r>
              <a:rPr kumimoji="1" lang="zh-CN" altLang="en-US" sz="1600" b="1" dirty="0">
                <a:solidFill>
                  <a:schemeClr val="accent1"/>
                </a:solidFill>
              </a:rPr>
              <a:t>鉴权</a:t>
            </a:r>
          </a:p>
        </p:txBody>
      </p:sp>
      <p:sp>
        <p:nvSpPr>
          <p:cNvPr id="3" name="矩形 2">
            <a:extLst>
              <a:ext uri="{FF2B5EF4-FFF2-40B4-BE49-F238E27FC236}">
                <a16:creationId xmlns:a16="http://schemas.microsoft.com/office/drawing/2014/main" id="{3E56A626-C18E-0641-A766-0095725C4D37}"/>
              </a:ext>
            </a:extLst>
          </p:cNvPr>
          <p:cNvSpPr/>
          <p:nvPr/>
        </p:nvSpPr>
        <p:spPr>
          <a:xfrm>
            <a:off x="5652120" y="2307874"/>
            <a:ext cx="492443" cy="276999"/>
          </a:xfrm>
          <a:prstGeom prst="rect">
            <a:avLst/>
          </a:prstGeom>
          <a:solidFill>
            <a:schemeClr val="bg1"/>
          </a:solidFill>
        </p:spPr>
        <p:txBody>
          <a:bodyPr wrap="none">
            <a:spAutoFit/>
          </a:bodyPr>
          <a:lstStyle/>
          <a:p>
            <a:r>
              <a:rPr kumimoji="1" lang="zh-CN" altLang="en-US" sz="1200" b="1" dirty="0">
                <a:solidFill>
                  <a:schemeClr val="tx1">
                    <a:lumMod val="85000"/>
                    <a:lumOff val="15000"/>
                  </a:schemeClr>
                </a:solidFill>
              </a:rPr>
              <a:t>鉴权</a:t>
            </a:r>
            <a:endParaRPr lang="zh-CN" altLang="en-US" sz="1200" dirty="0"/>
          </a:p>
        </p:txBody>
      </p:sp>
    </p:spTree>
    <p:extLst>
      <p:ext uri="{BB962C8B-B14F-4D97-AF65-F5344CB8AC3E}">
        <p14:creationId xmlns:p14="http://schemas.microsoft.com/office/powerpoint/2010/main" val="538565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D7F496-178F-C546-AA83-EA93011A3624}"/>
              </a:ext>
            </a:extLst>
          </p:cNvPr>
          <p:cNvSpPr>
            <a:spLocks noGrp="1"/>
          </p:cNvSpPr>
          <p:nvPr>
            <p:ph type="title"/>
          </p:nvPr>
        </p:nvSpPr>
        <p:spPr/>
        <p:txBody>
          <a:bodyPr/>
          <a:lstStyle/>
          <a:p>
            <a:r>
              <a:rPr kumimoji="1" lang="en-US" altLang="zh-CN" dirty="0"/>
              <a:t>Review</a:t>
            </a:r>
            <a:r>
              <a:rPr kumimoji="1" lang="zh-CN" altLang="en-US" dirty="0"/>
              <a:t>：认证机制</a:t>
            </a:r>
          </a:p>
        </p:txBody>
      </p:sp>
      <p:sp>
        <p:nvSpPr>
          <p:cNvPr id="3" name="内容占位符 2">
            <a:extLst>
              <a:ext uri="{FF2B5EF4-FFF2-40B4-BE49-F238E27FC236}">
                <a16:creationId xmlns:a16="http://schemas.microsoft.com/office/drawing/2014/main" id="{7E733B9A-2E40-3442-BF8B-B1437A0CDD63}"/>
              </a:ext>
            </a:extLst>
          </p:cNvPr>
          <p:cNvSpPr>
            <a:spLocks noGrp="1"/>
          </p:cNvSpPr>
          <p:nvPr>
            <p:ph idx="1"/>
          </p:nvPr>
        </p:nvSpPr>
        <p:spPr>
          <a:xfrm>
            <a:off x="457200" y="1333501"/>
            <a:ext cx="8507288" cy="3828255"/>
          </a:xfrm>
        </p:spPr>
        <p:txBody>
          <a:bodyPr>
            <a:normAutofit/>
          </a:bodyPr>
          <a:lstStyle/>
          <a:p>
            <a:r>
              <a:rPr lang="zh-CN" altLang="en-US" sz="2000" dirty="0"/>
              <a:t>知道什么 （</a:t>
            </a:r>
            <a:r>
              <a:rPr lang="en" altLang="zh-CN" sz="2000" dirty="0"/>
              <a:t>Something you know</a:t>
            </a:r>
            <a:r>
              <a:rPr lang="zh-CN" altLang="en" sz="2000" dirty="0"/>
              <a:t>）</a:t>
            </a:r>
            <a:endParaRPr lang="en" altLang="zh-CN" sz="2000" dirty="0"/>
          </a:p>
          <a:p>
            <a:pPr lvl="1"/>
            <a:r>
              <a:rPr lang="zh-CN" altLang="en-US" sz="1800" dirty="0"/>
              <a:t>例如密码</a:t>
            </a:r>
            <a:r>
              <a:rPr lang="en-US" altLang="zh-CN" sz="1800" dirty="0"/>
              <a:t>/</a:t>
            </a:r>
            <a:r>
              <a:rPr lang="zh-CN" altLang="en-US" sz="1800" dirty="0"/>
              <a:t>口令、手势密码、某个问题的答案等</a:t>
            </a:r>
            <a:endParaRPr lang="en-US" altLang="zh-CN" sz="1800" dirty="0"/>
          </a:p>
          <a:p>
            <a:r>
              <a:rPr lang="zh-CN" altLang="en-US" sz="2000" dirty="0"/>
              <a:t>有什么 （</a:t>
            </a:r>
            <a:r>
              <a:rPr lang="en" altLang="zh-CN" sz="2000" dirty="0"/>
              <a:t>Something you have</a:t>
            </a:r>
            <a:r>
              <a:rPr lang="zh-CN" altLang="en" sz="2000" dirty="0"/>
              <a:t>）</a:t>
            </a:r>
            <a:endParaRPr lang="en" altLang="zh-CN" sz="2000" dirty="0"/>
          </a:p>
          <a:p>
            <a:pPr lvl="1"/>
            <a:r>
              <a:rPr lang="zh-CN" altLang="en-US" sz="1800" dirty="0"/>
              <a:t>例如 </a:t>
            </a:r>
            <a:r>
              <a:rPr lang="en" altLang="zh-CN" sz="1800" dirty="0"/>
              <a:t>USB-key</a:t>
            </a:r>
            <a:r>
              <a:rPr lang="zh-CN" altLang="en" sz="1800" dirty="0"/>
              <a:t>、</a:t>
            </a:r>
            <a:r>
              <a:rPr lang="zh-CN" altLang="en-US" sz="1800" dirty="0"/>
              <a:t>密码器等实物</a:t>
            </a:r>
            <a:endParaRPr lang="en-US" altLang="zh-CN" sz="1800" dirty="0"/>
          </a:p>
          <a:p>
            <a:r>
              <a:rPr lang="zh-CN" altLang="en-US" sz="2000" dirty="0"/>
              <a:t>是什么 （</a:t>
            </a:r>
            <a:r>
              <a:rPr lang="en" altLang="zh-CN" sz="2000" dirty="0"/>
              <a:t>Something you are</a:t>
            </a:r>
            <a:r>
              <a:rPr lang="zh-CN" altLang="en" sz="2000" dirty="0"/>
              <a:t>）</a:t>
            </a:r>
            <a:endParaRPr lang="en" altLang="zh-CN" sz="2000" dirty="0"/>
          </a:p>
          <a:p>
            <a:pPr lvl="1"/>
            <a:r>
              <a:rPr lang="zh-CN" altLang="en-US" sz="1800" dirty="0"/>
              <a:t>如指纹、虹膜、步态、键盘输入习惯等属于人的一部分</a:t>
            </a:r>
            <a:endParaRPr lang="en-US" altLang="zh-CN" sz="1800" dirty="0"/>
          </a:p>
          <a:p>
            <a:pPr lvl="8"/>
            <a:endParaRPr lang="en-US" altLang="zh-CN" sz="1800" dirty="0"/>
          </a:p>
          <a:p>
            <a:r>
              <a:rPr lang="zh-CN" altLang="en-US" sz="2000" dirty="0"/>
              <a:t>用户身份与进程身份的绑定</a:t>
            </a:r>
            <a:endParaRPr lang="en-US" altLang="zh-CN" sz="2000" dirty="0"/>
          </a:p>
          <a:p>
            <a:pPr lvl="1"/>
            <a:r>
              <a:rPr lang="zh-CN" altLang="en-US" sz="1800" dirty="0"/>
              <a:t>每个进程的</a:t>
            </a:r>
            <a:r>
              <a:rPr lang="en-US" altLang="zh-CN" sz="1800" dirty="0"/>
              <a:t>PCB</a:t>
            </a:r>
            <a:r>
              <a:rPr lang="zh-CN" altLang="en-US" sz="1800" dirty="0"/>
              <a:t>中均包含</a:t>
            </a:r>
            <a:r>
              <a:rPr lang="en-US" altLang="zh-CN" sz="1800" dirty="0"/>
              <a:t>user</a:t>
            </a:r>
            <a:r>
              <a:rPr lang="zh-CN" altLang="en-US" sz="1800" dirty="0"/>
              <a:t>字段，继承自父进程，最早来自登录的</a:t>
            </a:r>
            <a:r>
              <a:rPr lang="en-US" altLang="zh-CN" sz="1800" dirty="0"/>
              <a:t>shell</a:t>
            </a:r>
            <a:endParaRPr lang="zh-CN" altLang="en-US" sz="1800" dirty="0"/>
          </a:p>
        </p:txBody>
      </p:sp>
      <p:sp>
        <p:nvSpPr>
          <p:cNvPr id="4" name="灯片编号占位符 3">
            <a:extLst>
              <a:ext uri="{FF2B5EF4-FFF2-40B4-BE49-F238E27FC236}">
                <a16:creationId xmlns:a16="http://schemas.microsoft.com/office/drawing/2014/main" id="{76F5D3DD-7FDC-3444-8F6E-251E1CCF50FE}"/>
              </a:ext>
            </a:extLst>
          </p:cNvPr>
          <p:cNvSpPr>
            <a:spLocks noGrp="1"/>
          </p:cNvSpPr>
          <p:nvPr>
            <p:ph type="sldNum" sz="quarter" idx="12"/>
          </p:nvPr>
        </p:nvSpPr>
        <p:spPr/>
        <p:txBody>
          <a:bodyPr/>
          <a:lstStyle/>
          <a:p>
            <a:fld id="{ADE361C3-C043-4A6E-BDCE-8DA1E7D90A3B}" type="slidenum">
              <a:rPr lang="zh-CN" altLang="en-US" smtClean="0"/>
              <a:t>4</a:t>
            </a:fld>
            <a:endParaRPr lang="zh-CN" altLang="en-US"/>
          </a:p>
        </p:txBody>
      </p:sp>
      <p:sp>
        <p:nvSpPr>
          <p:cNvPr id="5" name="页脚占位符 4">
            <a:extLst>
              <a:ext uri="{FF2B5EF4-FFF2-40B4-BE49-F238E27FC236}">
                <a16:creationId xmlns:a16="http://schemas.microsoft.com/office/drawing/2014/main" id="{1BA5D4CD-5405-FA43-BF7F-2B550E6AE570}"/>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806146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FA5DA8F-F428-1341-8FC8-9AF09A57B48D}"/>
              </a:ext>
            </a:extLst>
          </p:cNvPr>
          <p:cNvSpPr>
            <a:spLocks noGrp="1"/>
          </p:cNvSpPr>
          <p:nvPr>
            <p:ph type="title"/>
          </p:nvPr>
        </p:nvSpPr>
        <p:spPr/>
        <p:txBody>
          <a:bodyPr/>
          <a:lstStyle/>
          <a:p>
            <a:r>
              <a:rPr kumimoji="1" lang="en-US" altLang="zh-CN" dirty="0"/>
              <a:t>Review</a:t>
            </a:r>
            <a:r>
              <a:rPr kumimoji="1" lang="zh-CN" altLang="en-US" dirty="0"/>
              <a:t>：访问控制</a:t>
            </a:r>
          </a:p>
        </p:txBody>
      </p:sp>
      <p:sp>
        <p:nvSpPr>
          <p:cNvPr id="3" name="内容占位符 2">
            <a:extLst>
              <a:ext uri="{FF2B5EF4-FFF2-40B4-BE49-F238E27FC236}">
                <a16:creationId xmlns:a16="http://schemas.microsoft.com/office/drawing/2014/main" id="{47DFEE4D-E102-214B-A5C6-A65527ABC806}"/>
              </a:ext>
            </a:extLst>
          </p:cNvPr>
          <p:cNvSpPr>
            <a:spLocks noGrp="1"/>
          </p:cNvSpPr>
          <p:nvPr>
            <p:ph idx="1"/>
          </p:nvPr>
        </p:nvSpPr>
        <p:spPr/>
        <p:txBody>
          <a:bodyPr/>
          <a:lstStyle/>
          <a:p>
            <a:r>
              <a:rPr kumimoji="1" lang="zh-CN" altLang="en-US" dirty="0"/>
              <a:t>访问控制列表（</a:t>
            </a:r>
            <a:r>
              <a:rPr kumimoji="1" lang="en-US" altLang="zh-CN" dirty="0"/>
              <a:t>ACL</a:t>
            </a:r>
            <a:r>
              <a:rPr kumimoji="1" lang="zh-CN" altLang="en-US" dirty="0"/>
              <a:t>）</a:t>
            </a:r>
            <a:endParaRPr kumimoji="1" lang="en-US" altLang="zh-CN" dirty="0"/>
          </a:p>
          <a:p>
            <a:pPr lvl="1"/>
            <a:r>
              <a:rPr kumimoji="1" lang="zh-CN" altLang="en-US" dirty="0"/>
              <a:t>传统的</a:t>
            </a:r>
            <a:r>
              <a:rPr kumimoji="1" lang="en-US" altLang="zh-CN" dirty="0"/>
              <a:t>ACL</a:t>
            </a:r>
            <a:r>
              <a:rPr kumimoji="1" lang="zh-CN" altLang="en-US" dirty="0"/>
              <a:t>（如</a:t>
            </a:r>
            <a:r>
              <a:rPr kumimoji="1" lang="en-US" altLang="zh-CN" dirty="0"/>
              <a:t>Windows</a:t>
            </a:r>
            <a:r>
              <a:rPr kumimoji="1" lang="zh-CN" altLang="en-US" dirty="0"/>
              <a:t>）</a:t>
            </a:r>
            <a:endParaRPr kumimoji="1" lang="en-US" altLang="zh-CN" dirty="0"/>
          </a:p>
          <a:p>
            <a:pPr lvl="1"/>
            <a:r>
              <a:rPr kumimoji="1" lang="en-US" altLang="zh-CN" dirty="0"/>
              <a:t>POSIX</a:t>
            </a:r>
            <a:r>
              <a:rPr kumimoji="1" lang="zh-CN" altLang="en-US" dirty="0"/>
              <a:t>风格（如</a:t>
            </a:r>
            <a:r>
              <a:rPr kumimoji="1" lang="en-US" altLang="zh-CN" dirty="0"/>
              <a:t>Linux</a:t>
            </a:r>
            <a:r>
              <a:rPr kumimoji="1" lang="zh-CN" altLang="en-US" dirty="0"/>
              <a:t>）</a:t>
            </a:r>
            <a:endParaRPr kumimoji="1" lang="en-US" altLang="zh-CN" dirty="0"/>
          </a:p>
          <a:p>
            <a:pPr lvl="1"/>
            <a:r>
              <a:rPr kumimoji="1" lang="en-US" altLang="zh-CN" dirty="0"/>
              <a:t>RBAC</a:t>
            </a:r>
            <a:r>
              <a:rPr kumimoji="1" lang="zh-CN" altLang="en-US" dirty="0"/>
              <a:t>（</a:t>
            </a:r>
            <a:r>
              <a:rPr kumimoji="1" lang="en-US" altLang="zh-CN" dirty="0"/>
              <a:t>Role-Based</a:t>
            </a:r>
            <a:r>
              <a:rPr kumimoji="1" lang="zh-CN" altLang="en-US" dirty="0"/>
              <a:t> </a:t>
            </a:r>
            <a:r>
              <a:rPr kumimoji="1" lang="en-US" altLang="zh-CN" dirty="0"/>
              <a:t>Access</a:t>
            </a:r>
            <a:r>
              <a:rPr kumimoji="1" lang="zh-CN" altLang="en-US" dirty="0"/>
              <a:t> </a:t>
            </a:r>
            <a:r>
              <a:rPr kumimoji="1" lang="en-US" altLang="zh-CN" dirty="0"/>
              <a:t>Control</a:t>
            </a:r>
            <a:r>
              <a:rPr kumimoji="1" lang="zh-CN" altLang="en-US" dirty="0"/>
              <a:t>）</a:t>
            </a:r>
            <a:endParaRPr kumimoji="1" lang="en-US" altLang="zh-CN" dirty="0"/>
          </a:p>
          <a:p>
            <a:r>
              <a:rPr kumimoji="1" lang="en-US" altLang="zh-CN" dirty="0"/>
              <a:t>Capability</a:t>
            </a:r>
          </a:p>
          <a:p>
            <a:pPr lvl="1"/>
            <a:r>
              <a:rPr kumimoji="1" lang="zh-CN" altLang="en-US" dirty="0"/>
              <a:t>类似文件系统的</a:t>
            </a:r>
            <a:r>
              <a:rPr kumimoji="1" lang="en-US" altLang="zh-CN" dirty="0" err="1"/>
              <a:t>fd</a:t>
            </a:r>
            <a:endParaRPr kumimoji="1" lang="en-US" altLang="zh-CN" dirty="0"/>
          </a:p>
          <a:p>
            <a:pPr lvl="1"/>
            <a:r>
              <a:rPr kumimoji="1" lang="zh-CN" altLang="en-US" dirty="0"/>
              <a:t>与</a:t>
            </a:r>
            <a:r>
              <a:rPr kumimoji="1" lang="en-US" altLang="zh-CN" dirty="0"/>
              <a:t>Linux</a:t>
            </a:r>
            <a:r>
              <a:rPr kumimoji="1" lang="zh-CN" altLang="en-US" dirty="0"/>
              <a:t>的</a:t>
            </a:r>
            <a:r>
              <a:rPr kumimoji="1" lang="en-US" altLang="zh-CN" dirty="0"/>
              <a:t>capability</a:t>
            </a:r>
            <a:r>
              <a:rPr kumimoji="1" lang="zh-CN" altLang="en-US" dirty="0"/>
              <a:t>机制不同</a:t>
            </a:r>
          </a:p>
        </p:txBody>
      </p:sp>
      <p:sp>
        <p:nvSpPr>
          <p:cNvPr id="4" name="灯片编号占位符 3">
            <a:extLst>
              <a:ext uri="{FF2B5EF4-FFF2-40B4-BE49-F238E27FC236}">
                <a16:creationId xmlns:a16="http://schemas.microsoft.com/office/drawing/2014/main" id="{A1FF6279-39A1-D546-B281-929AC71A35A2}"/>
              </a:ext>
            </a:extLst>
          </p:cNvPr>
          <p:cNvSpPr>
            <a:spLocks noGrp="1"/>
          </p:cNvSpPr>
          <p:nvPr>
            <p:ph type="sldNum" sz="quarter" idx="12"/>
          </p:nvPr>
        </p:nvSpPr>
        <p:spPr/>
        <p:txBody>
          <a:bodyPr/>
          <a:lstStyle/>
          <a:p>
            <a:fld id="{ADE361C3-C043-4A6E-BDCE-8DA1E7D90A3B}" type="slidenum">
              <a:rPr lang="zh-CN" altLang="en-US" smtClean="0"/>
              <a:t>5</a:t>
            </a:fld>
            <a:endParaRPr lang="zh-CN" altLang="en-US"/>
          </a:p>
        </p:txBody>
      </p:sp>
      <p:sp>
        <p:nvSpPr>
          <p:cNvPr id="5" name="页脚占位符 4">
            <a:extLst>
              <a:ext uri="{FF2B5EF4-FFF2-40B4-BE49-F238E27FC236}">
                <a16:creationId xmlns:a16="http://schemas.microsoft.com/office/drawing/2014/main" id="{B50309CC-23A2-5741-BD31-A26D77309FD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1672368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6B62CA-85A1-9B44-B3AB-7B9930CED3C0}"/>
              </a:ext>
            </a:extLst>
          </p:cNvPr>
          <p:cNvSpPr>
            <a:spLocks noGrp="1"/>
          </p:cNvSpPr>
          <p:nvPr>
            <p:ph type="title"/>
          </p:nvPr>
        </p:nvSpPr>
        <p:spPr/>
        <p:txBody>
          <a:bodyPr>
            <a:normAutofit/>
          </a:bodyPr>
          <a:lstStyle/>
          <a:p>
            <a:r>
              <a:rPr kumimoji="1" lang="zh-CN" altLang="en-US" dirty="0"/>
              <a:t>权限控制的另一种思路：</a:t>
            </a:r>
            <a:r>
              <a:rPr kumimoji="1" lang="en-US" altLang="zh-CN" dirty="0"/>
              <a:t>Capability</a:t>
            </a:r>
            <a:endParaRPr kumimoji="1" lang="zh-CN" altLang="en-US" dirty="0"/>
          </a:p>
        </p:txBody>
      </p:sp>
      <p:sp>
        <p:nvSpPr>
          <p:cNvPr id="3" name="内容占位符 2">
            <a:extLst>
              <a:ext uri="{FF2B5EF4-FFF2-40B4-BE49-F238E27FC236}">
                <a16:creationId xmlns:a16="http://schemas.microsoft.com/office/drawing/2014/main" id="{16AC2917-0856-824F-BE35-9012FE85501E}"/>
              </a:ext>
            </a:extLst>
          </p:cNvPr>
          <p:cNvSpPr>
            <a:spLocks noGrp="1"/>
          </p:cNvSpPr>
          <p:nvPr>
            <p:ph idx="1"/>
          </p:nvPr>
        </p:nvSpPr>
        <p:spPr/>
        <p:txBody>
          <a:bodyPr>
            <a:normAutofit/>
          </a:bodyPr>
          <a:lstStyle/>
          <a:p>
            <a:r>
              <a:rPr kumimoji="1" lang="en-US" altLang="zh-CN" sz="2000" dirty="0"/>
              <a:t>Capability</a:t>
            </a:r>
            <a:r>
              <a:rPr kumimoji="1" lang="zh-CN" altLang="en-US" sz="2000" dirty="0"/>
              <a:t>表示一种能力</a:t>
            </a:r>
            <a:endParaRPr kumimoji="1" lang="en-US" altLang="zh-CN" sz="2000" dirty="0"/>
          </a:p>
          <a:p>
            <a:pPr lvl="1"/>
            <a:r>
              <a:rPr kumimoji="1" lang="zh-CN" altLang="en-US" sz="1800" dirty="0"/>
              <a:t>例如：读取</a:t>
            </a:r>
            <a:r>
              <a:rPr kumimoji="1" lang="en-US" altLang="zh-CN" sz="1800" dirty="0"/>
              <a:t>/foo</a:t>
            </a:r>
            <a:r>
              <a:rPr kumimoji="1" lang="zh-CN" altLang="en-US" sz="1800" dirty="0"/>
              <a:t>文件，写入</a:t>
            </a:r>
            <a:r>
              <a:rPr kumimoji="1" lang="en-US" altLang="zh-CN" sz="1800" dirty="0"/>
              <a:t>/foo</a:t>
            </a:r>
            <a:r>
              <a:rPr kumimoji="1" lang="zh-CN" altLang="en-US" sz="1800" dirty="0"/>
              <a:t>文件，等等</a:t>
            </a:r>
            <a:endParaRPr kumimoji="1" lang="en-US" altLang="zh-CN" sz="1800" dirty="0"/>
          </a:p>
          <a:p>
            <a:pPr lvl="1"/>
            <a:r>
              <a:rPr kumimoji="1" lang="zh-CN" altLang="en-US" sz="1800" dirty="0"/>
              <a:t>有点像钥匙，能打开某一把锁的话就能进行某个操作</a:t>
            </a:r>
            <a:endParaRPr kumimoji="1" lang="en-US" altLang="zh-CN" sz="1800" dirty="0"/>
          </a:p>
          <a:p>
            <a:pPr lvl="1"/>
            <a:r>
              <a:rPr kumimoji="1" lang="zh-CN" altLang="en-US" sz="1800" dirty="0"/>
              <a:t>每个进程可以拥有一组能力</a:t>
            </a:r>
            <a:endParaRPr kumimoji="1" lang="en-US" altLang="zh-CN" sz="1800" dirty="0"/>
          </a:p>
          <a:p>
            <a:r>
              <a:rPr kumimoji="1" lang="en-US" altLang="zh-CN" sz="2000" dirty="0"/>
              <a:t>Capability</a:t>
            </a:r>
            <a:r>
              <a:rPr kumimoji="1" lang="zh-CN" altLang="en-US" sz="2000" dirty="0"/>
              <a:t>怎么实现？</a:t>
            </a:r>
            <a:endParaRPr kumimoji="1" lang="en-US" altLang="zh-CN" sz="2000" dirty="0"/>
          </a:p>
          <a:p>
            <a:pPr lvl="1"/>
            <a:r>
              <a:rPr kumimoji="1" lang="zh-CN" altLang="en-US" sz="1800" dirty="0"/>
              <a:t>仅仅是一串</a:t>
            </a:r>
            <a:r>
              <a:rPr kumimoji="1" lang="en-US" altLang="zh-CN" sz="1800" dirty="0"/>
              <a:t>bit</a:t>
            </a:r>
            <a:r>
              <a:rPr kumimoji="1" lang="zh-CN" altLang="en-US" sz="1800" dirty="0"/>
              <a:t>，但必须保存在内核中，否则进程就可以任意伪造</a:t>
            </a:r>
            <a:endParaRPr kumimoji="1" lang="en-US" altLang="zh-CN" sz="1800" dirty="0"/>
          </a:p>
          <a:p>
            <a:pPr lvl="2"/>
            <a:r>
              <a:rPr kumimoji="1" lang="zh-CN" altLang="en-US" sz="1800" dirty="0"/>
              <a:t>通常保存在进程的</a:t>
            </a:r>
            <a:r>
              <a:rPr kumimoji="1" lang="en-US" altLang="zh-CN" sz="1800" dirty="0"/>
              <a:t>PCB</a:t>
            </a:r>
            <a:r>
              <a:rPr kumimoji="1" lang="zh-CN" altLang="en-US" sz="1800" dirty="0"/>
              <a:t>中，在进程进行某个操作的时候内核检查</a:t>
            </a:r>
            <a:endParaRPr kumimoji="1" lang="en-US" altLang="zh-CN" sz="1800" dirty="0"/>
          </a:p>
          <a:p>
            <a:pPr lvl="1"/>
            <a:r>
              <a:rPr kumimoji="1" lang="zh-CN" altLang="en-US" sz="1800" dirty="0"/>
              <a:t>可以把不同</a:t>
            </a:r>
            <a:r>
              <a:rPr kumimoji="1" lang="en-US" altLang="zh-CN" sz="1800" dirty="0"/>
              <a:t>Capability</a:t>
            </a:r>
            <a:r>
              <a:rPr kumimoji="1" lang="zh-CN" altLang="en-US" sz="1800" dirty="0"/>
              <a:t>的组合对应为</a:t>
            </a:r>
            <a:r>
              <a:rPr kumimoji="1" lang="en-US" altLang="zh-CN" sz="1800" dirty="0"/>
              <a:t>ACL</a:t>
            </a:r>
            <a:r>
              <a:rPr kumimoji="1" lang="zh-CN" altLang="en-US" sz="1800" dirty="0"/>
              <a:t>中的不同组</a:t>
            </a:r>
            <a:endParaRPr kumimoji="1" lang="en-US" altLang="zh-CN" sz="1800" dirty="0"/>
          </a:p>
          <a:p>
            <a:pPr lvl="1"/>
            <a:r>
              <a:rPr kumimoji="1" lang="zh-CN" altLang="en-US" sz="1800" dirty="0"/>
              <a:t>因此使用</a:t>
            </a:r>
            <a:r>
              <a:rPr kumimoji="1" lang="en-US" altLang="zh-CN" sz="1800" dirty="0"/>
              <a:t>Capability</a:t>
            </a:r>
            <a:r>
              <a:rPr kumimoji="1" lang="zh-CN" altLang="en-US" sz="1800" dirty="0"/>
              <a:t>的控制粒度可以很细，而且不需要建立大量的组</a:t>
            </a:r>
          </a:p>
        </p:txBody>
      </p:sp>
      <p:sp>
        <p:nvSpPr>
          <p:cNvPr id="4" name="灯片编号占位符 3">
            <a:extLst>
              <a:ext uri="{FF2B5EF4-FFF2-40B4-BE49-F238E27FC236}">
                <a16:creationId xmlns:a16="http://schemas.microsoft.com/office/drawing/2014/main" id="{009C01D0-3AF0-0646-800C-2D9052AE6403}"/>
              </a:ext>
            </a:extLst>
          </p:cNvPr>
          <p:cNvSpPr>
            <a:spLocks noGrp="1"/>
          </p:cNvSpPr>
          <p:nvPr>
            <p:ph type="sldNum" sz="quarter" idx="12"/>
          </p:nvPr>
        </p:nvSpPr>
        <p:spPr/>
        <p:txBody>
          <a:bodyPr/>
          <a:lstStyle/>
          <a:p>
            <a:fld id="{ADE361C3-C043-4A6E-BDCE-8DA1E7D90A3B}" type="slidenum">
              <a:rPr lang="zh-CN" altLang="en-US" smtClean="0"/>
              <a:t>6</a:t>
            </a:fld>
            <a:endParaRPr lang="zh-CN" altLang="en-US"/>
          </a:p>
        </p:txBody>
      </p:sp>
      <p:sp>
        <p:nvSpPr>
          <p:cNvPr id="5" name="页脚占位符 4">
            <a:extLst>
              <a:ext uri="{FF2B5EF4-FFF2-40B4-BE49-F238E27FC236}">
                <a16:creationId xmlns:a16="http://schemas.microsoft.com/office/drawing/2014/main" id="{467AA55C-4518-EE4D-9586-03729F809E9E}"/>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83169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B09DBA-6934-F54C-8819-E730B7D29B29}"/>
              </a:ext>
            </a:extLst>
          </p:cNvPr>
          <p:cNvSpPr>
            <a:spLocks noGrp="1"/>
          </p:cNvSpPr>
          <p:nvPr>
            <p:ph type="title"/>
          </p:nvPr>
        </p:nvSpPr>
        <p:spPr/>
        <p:txBody>
          <a:bodyPr/>
          <a:lstStyle/>
          <a:p>
            <a:r>
              <a:rPr kumimoji="1" lang="en-US" altLang="zh-CN" dirty="0"/>
              <a:t>Capability</a:t>
            </a:r>
            <a:r>
              <a:rPr kumimoji="1" lang="zh-CN" altLang="en-US" dirty="0"/>
              <a:t>的典型操作</a:t>
            </a:r>
          </a:p>
        </p:txBody>
      </p:sp>
      <p:sp>
        <p:nvSpPr>
          <p:cNvPr id="3" name="内容占位符 2">
            <a:extLst>
              <a:ext uri="{FF2B5EF4-FFF2-40B4-BE49-F238E27FC236}">
                <a16:creationId xmlns:a16="http://schemas.microsoft.com/office/drawing/2014/main" id="{DEAEB2A9-9553-3548-AF62-F2EBAF90E38F}"/>
              </a:ext>
            </a:extLst>
          </p:cNvPr>
          <p:cNvSpPr>
            <a:spLocks noGrp="1"/>
          </p:cNvSpPr>
          <p:nvPr>
            <p:ph idx="1"/>
          </p:nvPr>
        </p:nvSpPr>
        <p:spPr/>
        <p:txBody>
          <a:bodyPr>
            <a:noAutofit/>
          </a:bodyPr>
          <a:lstStyle/>
          <a:p>
            <a:pPr marL="457200" indent="-457200">
              <a:buFont typeface="+mj-lt"/>
              <a:buAutoNum type="arabicPeriod"/>
            </a:pPr>
            <a:r>
              <a:rPr kumimoji="1" lang="zh-CN" altLang="en-US" sz="2000" b="0" dirty="0"/>
              <a:t>服务端通过系统调用创建一个 </a:t>
            </a:r>
            <a:r>
              <a:rPr kumimoji="1" lang="en" altLang="zh-CN" sz="2000" b="0" dirty="0"/>
              <a:t>Capability</a:t>
            </a:r>
            <a:r>
              <a:rPr kumimoji="1" lang="zh-CN" altLang="en" sz="2000" b="0" dirty="0"/>
              <a:t>，</a:t>
            </a:r>
            <a:r>
              <a:rPr kumimoji="1" lang="zh-CN" altLang="en-US" sz="2000" b="0" dirty="0"/>
              <a:t>获得相应的 </a:t>
            </a:r>
            <a:r>
              <a:rPr kumimoji="1" lang="en" altLang="zh-CN" sz="2000" b="0" dirty="0"/>
              <a:t>ID</a:t>
            </a:r>
            <a:r>
              <a:rPr kumimoji="1" lang="zh-CN" altLang="en" sz="2000" b="0" dirty="0"/>
              <a:t>；</a:t>
            </a:r>
          </a:p>
          <a:p>
            <a:pPr marL="457200" indent="-457200">
              <a:buFont typeface="+mj-lt"/>
              <a:buAutoNum type="arabicPeriod"/>
            </a:pPr>
            <a:r>
              <a:rPr kumimoji="1" lang="zh-CN" altLang="en-US" sz="2000" b="0" dirty="0"/>
              <a:t>服务端通过系统调用，将此 </a:t>
            </a:r>
            <a:r>
              <a:rPr kumimoji="1" lang="en" altLang="zh-CN" sz="2000" b="0" dirty="0"/>
              <a:t>Capability ID </a:t>
            </a:r>
            <a:r>
              <a:rPr kumimoji="1" lang="zh-CN" altLang="en-US" sz="2000" b="0" dirty="0"/>
              <a:t>传递给某个客户端；</a:t>
            </a:r>
          </a:p>
          <a:p>
            <a:pPr marL="457200" indent="-457200">
              <a:buFont typeface="+mj-lt"/>
              <a:buAutoNum type="arabicPeriod"/>
            </a:pPr>
            <a:r>
              <a:rPr kumimoji="1" lang="zh-CN" altLang="en-US" sz="2000" b="0" dirty="0"/>
              <a:t>客户端通过 </a:t>
            </a:r>
            <a:r>
              <a:rPr kumimoji="1" lang="en" altLang="zh-CN" sz="2000" b="0" dirty="0"/>
              <a:t>IPC </a:t>
            </a:r>
            <a:r>
              <a:rPr kumimoji="1" lang="zh-CN" altLang="en-US" sz="2000" b="0" dirty="0"/>
              <a:t>调用服务端的某个服务函数，以 </a:t>
            </a:r>
            <a:r>
              <a:rPr kumimoji="1" lang="en" altLang="zh-CN" sz="2000" b="0" dirty="0"/>
              <a:t>Capability ID </a:t>
            </a:r>
            <a:r>
              <a:rPr kumimoji="1" lang="zh-CN" altLang="en-US" sz="2000" b="0" dirty="0"/>
              <a:t>作为参数；</a:t>
            </a:r>
            <a:endParaRPr kumimoji="1" lang="en-US" altLang="zh-CN" sz="2000" b="0" dirty="0"/>
          </a:p>
          <a:p>
            <a:pPr marL="457200" indent="-457200">
              <a:buFont typeface="+mj-lt"/>
              <a:buAutoNum type="arabicPeriod"/>
            </a:pPr>
            <a:r>
              <a:rPr kumimoji="1" lang="en" altLang="zh-CN" sz="2000" b="0" dirty="0"/>
              <a:t>IPC </a:t>
            </a:r>
            <a:r>
              <a:rPr kumimoji="1" lang="zh-CN" altLang="en-US" sz="2000" b="0" dirty="0"/>
              <a:t>调用过程中，操作系统根据该 </a:t>
            </a:r>
            <a:r>
              <a:rPr kumimoji="1" lang="en" altLang="zh-CN" sz="2000" b="0" dirty="0"/>
              <a:t>Capability ID </a:t>
            </a:r>
            <a:r>
              <a:rPr kumimoji="1" lang="zh-CN" altLang="en-US" sz="2000" b="0" dirty="0"/>
              <a:t>检查该客户端是否有权限调用服务端函数，检查通过则切换至服务端继续运行；</a:t>
            </a:r>
          </a:p>
          <a:p>
            <a:pPr marL="457200" indent="-457200">
              <a:buFont typeface="+mj-lt"/>
              <a:buAutoNum type="arabicPeriod"/>
            </a:pPr>
            <a:r>
              <a:rPr kumimoji="1" lang="zh-CN" altLang="en-US" sz="2000" b="0" dirty="0"/>
              <a:t>服务端执行函数，并将结果返回给客户端。</a:t>
            </a:r>
          </a:p>
        </p:txBody>
      </p:sp>
      <p:sp>
        <p:nvSpPr>
          <p:cNvPr id="4" name="灯片编号占位符 3">
            <a:extLst>
              <a:ext uri="{FF2B5EF4-FFF2-40B4-BE49-F238E27FC236}">
                <a16:creationId xmlns:a16="http://schemas.microsoft.com/office/drawing/2014/main" id="{735DC81F-8ED4-5347-9562-8201562D06DE}"/>
              </a:ext>
            </a:extLst>
          </p:cNvPr>
          <p:cNvSpPr>
            <a:spLocks noGrp="1"/>
          </p:cNvSpPr>
          <p:nvPr>
            <p:ph type="sldNum" sz="quarter" idx="12"/>
          </p:nvPr>
        </p:nvSpPr>
        <p:spPr/>
        <p:txBody>
          <a:bodyPr/>
          <a:lstStyle/>
          <a:p>
            <a:fld id="{ADE361C3-C043-4A6E-BDCE-8DA1E7D90A3B}" type="slidenum">
              <a:rPr lang="zh-CN" altLang="en-US" smtClean="0"/>
              <a:t>7</a:t>
            </a:fld>
            <a:endParaRPr lang="zh-CN" altLang="en-US"/>
          </a:p>
        </p:txBody>
      </p:sp>
      <p:sp>
        <p:nvSpPr>
          <p:cNvPr id="5" name="页脚占位符 4">
            <a:extLst>
              <a:ext uri="{FF2B5EF4-FFF2-40B4-BE49-F238E27FC236}">
                <a16:creationId xmlns:a16="http://schemas.microsoft.com/office/drawing/2014/main" id="{909A75CD-738F-5840-8353-70A0DABBAD4D}"/>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41646743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E6D4FB-47E4-F44C-8447-7D32E4C43CAE}"/>
              </a:ext>
            </a:extLst>
          </p:cNvPr>
          <p:cNvSpPr>
            <a:spLocks noGrp="1"/>
          </p:cNvSpPr>
          <p:nvPr>
            <p:ph type="title"/>
          </p:nvPr>
        </p:nvSpPr>
        <p:spPr/>
        <p:txBody>
          <a:bodyPr/>
          <a:lstStyle/>
          <a:p>
            <a:r>
              <a:rPr kumimoji="1" lang="en-US" altLang="zh-CN" dirty="0" err="1"/>
              <a:t>fd</a:t>
            </a:r>
            <a:r>
              <a:rPr kumimoji="1" lang="zh-CN" altLang="en-US" dirty="0"/>
              <a:t>与</a:t>
            </a:r>
            <a:r>
              <a:rPr kumimoji="1" lang="en-US" altLang="zh-CN" dirty="0"/>
              <a:t>Capability</a:t>
            </a:r>
            <a:r>
              <a:rPr kumimoji="1" lang="zh-CN" altLang="en-US" dirty="0"/>
              <a:t>的类似之处</a:t>
            </a:r>
          </a:p>
        </p:txBody>
      </p:sp>
      <p:sp>
        <p:nvSpPr>
          <p:cNvPr id="3" name="内容占位符 2">
            <a:extLst>
              <a:ext uri="{FF2B5EF4-FFF2-40B4-BE49-F238E27FC236}">
                <a16:creationId xmlns:a16="http://schemas.microsoft.com/office/drawing/2014/main" id="{663A31B4-6B6A-8A49-ADC1-58CD8D2E4D39}"/>
              </a:ext>
            </a:extLst>
          </p:cNvPr>
          <p:cNvSpPr>
            <a:spLocks noGrp="1"/>
          </p:cNvSpPr>
          <p:nvPr>
            <p:ph idx="1"/>
          </p:nvPr>
        </p:nvSpPr>
        <p:spPr>
          <a:xfrm>
            <a:off x="457200" y="1333501"/>
            <a:ext cx="8507288" cy="3771636"/>
          </a:xfrm>
        </p:spPr>
        <p:txBody>
          <a:bodyPr/>
          <a:lstStyle/>
          <a:p>
            <a:r>
              <a:rPr kumimoji="1" lang="zh-CN" altLang="en-US" dirty="0"/>
              <a:t>文件描述符 </a:t>
            </a:r>
            <a:r>
              <a:rPr kumimoji="1" lang="en-US" altLang="zh-CN" dirty="0" err="1"/>
              <a:t>fd</a:t>
            </a:r>
            <a:r>
              <a:rPr kumimoji="1" lang="zh-CN" altLang="en-US" dirty="0"/>
              <a:t> 可以看做是一类 </a:t>
            </a:r>
            <a:r>
              <a:rPr kumimoji="1" lang="en-US" altLang="zh-CN" dirty="0"/>
              <a:t>Capability</a:t>
            </a:r>
          </a:p>
          <a:p>
            <a:pPr lvl="1"/>
            <a:r>
              <a:rPr kumimoji="1" lang="zh-CN" altLang="en-US" dirty="0"/>
              <a:t>用户不能伪造 </a:t>
            </a:r>
            <a:r>
              <a:rPr kumimoji="1" lang="en-US" altLang="zh-CN" dirty="0" err="1"/>
              <a:t>fd</a:t>
            </a:r>
            <a:r>
              <a:rPr kumimoji="1" lang="zh-CN" altLang="en-US" dirty="0"/>
              <a:t>，必须通过内核打开文件（回顾 </a:t>
            </a:r>
            <a:r>
              <a:rPr kumimoji="1" lang="en-US" altLang="zh-CN" dirty="0" err="1"/>
              <a:t>file_table</a:t>
            </a:r>
            <a:r>
              <a:rPr kumimoji="1" lang="en-US" altLang="zh-CN" dirty="0"/>
              <a:t>/</a:t>
            </a:r>
            <a:r>
              <a:rPr kumimoji="1" lang="en-US" altLang="zh-CN" dirty="0" err="1"/>
              <a:t>fd_table</a:t>
            </a:r>
            <a:r>
              <a:rPr kumimoji="1" lang="zh-CN" altLang="en-US" dirty="0"/>
              <a:t>）</a:t>
            </a:r>
            <a:endParaRPr kumimoji="1" lang="en-US" altLang="zh-CN" dirty="0"/>
          </a:p>
          <a:p>
            <a:pPr lvl="1"/>
            <a:r>
              <a:rPr kumimoji="1" lang="en-US" altLang="zh-CN" dirty="0" err="1"/>
              <a:t>fd</a:t>
            </a:r>
            <a:r>
              <a:rPr kumimoji="1" lang="zh-CN" altLang="en-US" dirty="0"/>
              <a:t> 只是一个指向保存在内核中数据结构的</a:t>
            </a:r>
            <a:r>
              <a:rPr kumimoji="1" lang="en-US" altLang="zh-CN" dirty="0"/>
              <a:t>"</a:t>
            </a:r>
            <a:r>
              <a:rPr kumimoji="1" lang="zh-CN" altLang="en-US" dirty="0"/>
              <a:t>指针</a:t>
            </a:r>
            <a:r>
              <a:rPr kumimoji="1" lang="en-US" altLang="zh-CN" dirty="0"/>
              <a:t>"</a:t>
            </a:r>
          </a:p>
          <a:p>
            <a:pPr lvl="1"/>
            <a:r>
              <a:rPr kumimoji="1" lang="zh-CN" altLang="en-US" dirty="0"/>
              <a:t>拥有 </a:t>
            </a:r>
            <a:r>
              <a:rPr kumimoji="1" lang="en-US" altLang="zh-CN" dirty="0" err="1"/>
              <a:t>fd</a:t>
            </a:r>
            <a:r>
              <a:rPr kumimoji="1" lang="zh-CN" altLang="en-US" dirty="0"/>
              <a:t> 就拥有了访问对应文件的权限</a:t>
            </a:r>
            <a:endParaRPr kumimoji="1" lang="en-US" altLang="zh-CN" dirty="0"/>
          </a:p>
          <a:p>
            <a:pPr lvl="1"/>
            <a:r>
              <a:rPr kumimoji="1" lang="zh-CN" altLang="en-US" dirty="0"/>
              <a:t>一个文件可以对应不同 </a:t>
            </a:r>
            <a:r>
              <a:rPr kumimoji="1" lang="en-US" altLang="zh-CN" dirty="0" err="1"/>
              <a:t>fd</a:t>
            </a:r>
            <a:r>
              <a:rPr kumimoji="1" lang="zh-CN" altLang="en-US" dirty="0"/>
              <a:t>，相应的权限可以不同</a:t>
            </a:r>
            <a:endParaRPr kumimoji="1" lang="en-US" altLang="zh-CN" dirty="0"/>
          </a:p>
          <a:p>
            <a:r>
              <a:rPr kumimoji="1" lang="en-US" altLang="zh-CN" dirty="0" err="1"/>
              <a:t>fd</a:t>
            </a:r>
            <a:r>
              <a:rPr kumimoji="1" lang="zh-CN" altLang="en-US" dirty="0"/>
              <a:t> 也可以在不同进程之间传递</a:t>
            </a:r>
            <a:endParaRPr kumimoji="1" lang="en-US" altLang="zh-CN" dirty="0"/>
          </a:p>
          <a:p>
            <a:pPr lvl="1"/>
            <a:r>
              <a:rPr kumimoji="1" lang="zh-CN" altLang="en-US" dirty="0"/>
              <a:t>父进程可以传递给子进程（回顾</a:t>
            </a:r>
            <a:r>
              <a:rPr kumimoji="1" lang="en-US" altLang="zh-CN" dirty="0"/>
              <a:t>pipe</a:t>
            </a:r>
            <a:r>
              <a:rPr kumimoji="1" lang="zh-CN" altLang="en-US" dirty="0"/>
              <a:t>）</a:t>
            </a:r>
            <a:endParaRPr kumimoji="1" lang="en-US" altLang="zh-CN" dirty="0"/>
          </a:p>
          <a:p>
            <a:pPr lvl="1"/>
            <a:r>
              <a:rPr kumimoji="1" lang="zh-CN" altLang="en-US" dirty="0"/>
              <a:t>非父子进程之间可以通过 </a:t>
            </a:r>
            <a:r>
              <a:rPr kumimoji="1" lang="en-US" altLang="zh-CN" dirty="0" err="1"/>
              <a:t>sendmsg</a:t>
            </a:r>
            <a:r>
              <a:rPr kumimoji="1" lang="zh-CN" altLang="en-US" dirty="0"/>
              <a:t> 传递 </a:t>
            </a:r>
            <a:r>
              <a:rPr kumimoji="1" lang="en-US" altLang="zh-CN" dirty="0" err="1"/>
              <a:t>fd</a:t>
            </a:r>
            <a:endParaRPr kumimoji="1" lang="zh-CN" altLang="en-US" dirty="0"/>
          </a:p>
        </p:txBody>
      </p:sp>
      <p:sp>
        <p:nvSpPr>
          <p:cNvPr id="4" name="灯片编号占位符 3">
            <a:extLst>
              <a:ext uri="{FF2B5EF4-FFF2-40B4-BE49-F238E27FC236}">
                <a16:creationId xmlns:a16="http://schemas.microsoft.com/office/drawing/2014/main" id="{E5DF0934-03B6-9542-9BCB-F814CAB91CDE}"/>
              </a:ext>
            </a:extLst>
          </p:cNvPr>
          <p:cNvSpPr>
            <a:spLocks noGrp="1"/>
          </p:cNvSpPr>
          <p:nvPr>
            <p:ph type="sldNum" sz="quarter" idx="12"/>
          </p:nvPr>
        </p:nvSpPr>
        <p:spPr/>
        <p:txBody>
          <a:bodyPr/>
          <a:lstStyle/>
          <a:p>
            <a:fld id="{ADE361C3-C043-4A6E-BDCE-8DA1E7D90A3B}" type="slidenum">
              <a:rPr lang="zh-CN" altLang="en-US" smtClean="0"/>
              <a:t>8</a:t>
            </a:fld>
            <a:endParaRPr lang="zh-CN" altLang="en-US"/>
          </a:p>
        </p:txBody>
      </p:sp>
      <p:sp>
        <p:nvSpPr>
          <p:cNvPr id="5" name="页脚占位符 4">
            <a:extLst>
              <a:ext uri="{FF2B5EF4-FFF2-40B4-BE49-F238E27FC236}">
                <a16:creationId xmlns:a16="http://schemas.microsoft.com/office/drawing/2014/main" id="{99EBC0B9-8F0E-0845-9931-6CA9BBE2239F}"/>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3719142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C9B07DC-24AA-3041-9BE0-050DB7A3E3AF}"/>
              </a:ext>
            </a:extLst>
          </p:cNvPr>
          <p:cNvSpPr>
            <a:spLocks noGrp="1"/>
          </p:cNvSpPr>
          <p:nvPr>
            <p:ph type="title"/>
          </p:nvPr>
        </p:nvSpPr>
        <p:spPr/>
        <p:txBody>
          <a:bodyPr/>
          <a:lstStyle/>
          <a:p>
            <a:r>
              <a:rPr kumimoji="1" lang="en-US" altLang="zh-CN" dirty="0"/>
              <a:t>Linux</a:t>
            </a:r>
            <a:r>
              <a:rPr kumimoji="1" lang="zh-CN" altLang="en-US" dirty="0"/>
              <a:t>的</a:t>
            </a:r>
            <a:r>
              <a:rPr kumimoji="1" lang="en-US" altLang="zh-CN" dirty="0"/>
              <a:t>Capability</a:t>
            </a:r>
            <a:endParaRPr kumimoji="1" lang="zh-CN" altLang="en-US" dirty="0"/>
          </a:p>
        </p:txBody>
      </p:sp>
      <p:sp>
        <p:nvSpPr>
          <p:cNvPr id="3" name="内容占位符 2">
            <a:extLst>
              <a:ext uri="{FF2B5EF4-FFF2-40B4-BE49-F238E27FC236}">
                <a16:creationId xmlns:a16="http://schemas.microsoft.com/office/drawing/2014/main" id="{2503BF80-42AB-EC4D-884A-1375337D0E74}"/>
              </a:ext>
            </a:extLst>
          </p:cNvPr>
          <p:cNvSpPr>
            <a:spLocks noGrp="1"/>
          </p:cNvSpPr>
          <p:nvPr>
            <p:ph idx="1"/>
          </p:nvPr>
        </p:nvSpPr>
        <p:spPr/>
        <p:txBody>
          <a:bodyPr>
            <a:normAutofit/>
          </a:bodyPr>
          <a:lstStyle/>
          <a:p>
            <a:r>
              <a:rPr kumimoji="1" lang="zh-CN" altLang="en-US" sz="2000" dirty="0"/>
              <a:t>提供细粒度控制进程的权限</a:t>
            </a:r>
            <a:endParaRPr kumimoji="1" lang="en-US" altLang="zh-CN" sz="2000" dirty="0"/>
          </a:p>
          <a:p>
            <a:pPr lvl="1"/>
            <a:r>
              <a:rPr kumimoji="1" lang="zh-CN" altLang="en-US" sz="1800" dirty="0"/>
              <a:t>初衷：解决</a:t>
            </a:r>
            <a:r>
              <a:rPr kumimoji="1" lang="en-US" altLang="zh-CN" sz="1800" dirty="0"/>
              <a:t>root</a:t>
            </a:r>
            <a:r>
              <a:rPr kumimoji="1" lang="zh-CN" altLang="en-US" sz="1800" dirty="0"/>
              <a:t>用户权限过高的问题</a:t>
            </a:r>
            <a:endParaRPr kumimoji="1" lang="en-US" altLang="zh-CN" sz="1800" dirty="0"/>
          </a:p>
          <a:p>
            <a:r>
              <a:rPr kumimoji="1" lang="zh-CN" altLang="en-US" sz="2000" dirty="0"/>
              <a:t>与前面说的</a:t>
            </a:r>
            <a:r>
              <a:rPr kumimoji="1" lang="en-US" altLang="zh-CN" sz="2000" dirty="0"/>
              <a:t>Capability</a:t>
            </a:r>
            <a:r>
              <a:rPr kumimoji="1" lang="zh-CN" altLang="en-US" sz="2000" dirty="0"/>
              <a:t>的不同</a:t>
            </a:r>
            <a:endParaRPr kumimoji="1" lang="en-US" altLang="zh-CN" sz="2000" dirty="0"/>
          </a:p>
          <a:p>
            <a:pPr lvl="1"/>
            <a:r>
              <a:rPr kumimoji="1" lang="zh-CN" altLang="en-US" sz="1800" dirty="0"/>
              <a:t>语义都是预先由内核定义，而不允许用户进程自定义</a:t>
            </a:r>
            <a:endParaRPr kumimoji="1" lang="en-US" altLang="zh-CN" sz="1800" dirty="0"/>
          </a:p>
          <a:p>
            <a:pPr lvl="1"/>
            <a:r>
              <a:rPr kumimoji="1" lang="zh-CN" altLang="en-US" sz="1800" dirty="0"/>
              <a:t>不允许传递，而是在创建进程的时候，与该进程相绑定</a:t>
            </a:r>
            <a:endParaRPr kumimoji="1" lang="en-US" altLang="zh-CN" sz="1800" dirty="0"/>
          </a:p>
          <a:p>
            <a:pPr lvl="1"/>
            <a:r>
              <a:rPr kumimoji="1" lang="zh-CN" altLang="en-US" sz="1800" dirty="0"/>
              <a:t>没有提供 </a:t>
            </a:r>
            <a:r>
              <a:rPr kumimoji="1" lang="en" altLang="zh-CN" sz="1800" dirty="0"/>
              <a:t>Capability ID</a:t>
            </a:r>
            <a:r>
              <a:rPr kumimoji="1" lang="zh-CN" altLang="en" sz="1800" dirty="0"/>
              <a:t>，</a:t>
            </a:r>
            <a:r>
              <a:rPr kumimoji="1" lang="zh-CN" altLang="en-US" sz="1800" dirty="0"/>
              <a:t>无法通过 </a:t>
            </a:r>
            <a:r>
              <a:rPr kumimoji="1" lang="en" altLang="zh-CN" sz="1800" dirty="0"/>
              <a:t>ID </a:t>
            </a:r>
            <a:r>
              <a:rPr kumimoji="1" lang="zh-CN" altLang="en-US" sz="1800" dirty="0"/>
              <a:t>索引内核资源进行操作</a:t>
            </a:r>
          </a:p>
        </p:txBody>
      </p:sp>
      <p:sp>
        <p:nvSpPr>
          <p:cNvPr id="4" name="灯片编号占位符 3">
            <a:extLst>
              <a:ext uri="{FF2B5EF4-FFF2-40B4-BE49-F238E27FC236}">
                <a16:creationId xmlns:a16="http://schemas.microsoft.com/office/drawing/2014/main" id="{A19BE89A-B7C4-1B4D-9FB3-62F4C4186CF6}"/>
              </a:ext>
            </a:extLst>
          </p:cNvPr>
          <p:cNvSpPr>
            <a:spLocks noGrp="1"/>
          </p:cNvSpPr>
          <p:nvPr>
            <p:ph type="sldNum" sz="quarter" idx="12"/>
          </p:nvPr>
        </p:nvSpPr>
        <p:spPr/>
        <p:txBody>
          <a:bodyPr/>
          <a:lstStyle/>
          <a:p>
            <a:fld id="{ADE361C3-C043-4A6E-BDCE-8DA1E7D90A3B}" type="slidenum">
              <a:rPr lang="zh-CN" altLang="en-US" smtClean="0"/>
              <a:t>9</a:t>
            </a:fld>
            <a:endParaRPr lang="zh-CN" altLang="en-US"/>
          </a:p>
        </p:txBody>
      </p:sp>
      <p:sp>
        <p:nvSpPr>
          <p:cNvPr id="5" name="页脚占位符 4">
            <a:extLst>
              <a:ext uri="{FF2B5EF4-FFF2-40B4-BE49-F238E27FC236}">
                <a16:creationId xmlns:a16="http://schemas.microsoft.com/office/drawing/2014/main" id="{7D133D4F-05D6-8B4A-B9CA-98BA2D1E2536}"/>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pic>
        <p:nvPicPr>
          <p:cNvPr id="6" name="图片 5">
            <a:extLst>
              <a:ext uri="{FF2B5EF4-FFF2-40B4-BE49-F238E27FC236}">
                <a16:creationId xmlns:a16="http://schemas.microsoft.com/office/drawing/2014/main" id="{F1450ABA-7EDD-C24E-81F6-4218B9E6C0EA}"/>
              </a:ext>
            </a:extLst>
          </p:cNvPr>
          <p:cNvPicPr>
            <a:picLocks noChangeAspect="1"/>
          </p:cNvPicPr>
          <p:nvPr/>
        </p:nvPicPr>
        <p:blipFill rotWithShape="1">
          <a:blip r:embed="rId2"/>
          <a:srcRect t="-1" b="63529"/>
          <a:stretch/>
        </p:blipFill>
        <p:spPr>
          <a:xfrm>
            <a:off x="559983" y="3953613"/>
            <a:ext cx="8024033" cy="1151524"/>
          </a:xfrm>
          <a:prstGeom prst="rect">
            <a:avLst/>
          </a:prstGeom>
        </p:spPr>
      </p:pic>
    </p:spTree>
    <p:extLst>
      <p:ext uri="{BB962C8B-B14F-4D97-AF65-F5344CB8AC3E}">
        <p14:creationId xmlns:p14="http://schemas.microsoft.com/office/powerpoint/2010/main" val="1115333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A50ED14-404E-6646-9DB6-A2866BE0E1CA}"/>
              </a:ext>
            </a:extLst>
          </p:cNvPr>
          <p:cNvSpPr>
            <a:spLocks noGrp="1"/>
          </p:cNvSpPr>
          <p:nvPr>
            <p:ph type="title"/>
          </p:nvPr>
        </p:nvSpPr>
        <p:spPr/>
        <p:txBody>
          <a:bodyPr/>
          <a:lstStyle/>
          <a:p>
            <a:r>
              <a:rPr kumimoji="1" lang="en-US" altLang="zh-CN" dirty="0"/>
              <a:t>DAC</a:t>
            </a:r>
            <a:r>
              <a:rPr kumimoji="1" lang="zh-CN" altLang="en-US" dirty="0"/>
              <a:t>与</a:t>
            </a:r>
            <a:r>
              <a:rPr kumimoji="1" lang="en-US" altLang="zh-CN" dirty="0"/>
              <a:t>MAC</a:t>
            </a:r>
            <a:endParaRPr kumimoji="1" lang="zh-CN" altLang="en-US" dirty="0"/>
          </a:p>
        </p:txBody>
      </p:sp>
      <p:sp>
        <p:nvSpPr>
          <p:cNvPr id="3" name="内容占位符 2">
            <a:extLst>
              <a:ext uri="{FF2B5EF4-FFF2-40B4-BE49-F238E27FC236}">
                <a16:creationId xmlns:a16="http://schemas.microsoft.com/office/drawing/2014/main" id="{558AEB37-A88E-3941-84CE-7D5229787351}"/>
              </a:ext>
            </a:extLst>
          </p:cNvPr>
          <p:cNvSpPr>
            <a:spLocks noGrp="1"/>
          </p:cNvSpPr>
          <p:nvPr>
            <p:ph idx="1"/>
          </p:nvPr>
        </p:nvSpPr>
        <p:spPr>
          <a:xfrm>
            <a:off x="457200" y="1333500"/>
            <a:ext cx="8229600" cy="3963461"/>
          </a:xfrm>
        </p:spPr>
        <p:txBody>
          <a:bodyPr>
            <a:normAutofit/>
          </a:bodyPr>
          <a:lstStyle/>
          <a:p>
            <a:r>
              <a:rPr lang="zh-CN" altLang="en-US" sz="2000" dirty="0"/>
              <a:t>自主访问控制（</a:t>
            </a:r>
            <a:r>
              <a:rPr lang="en" altLang="zh-CN" sz="2000" dirty="0"/>
              <a:t>DAC:</a:t>
            </a:r>
            <a:r>
              <a:rPr lang="zh-CN" altLang="en-US" sz="2000" dirty="0"/>
              <a:t> </a:t>
            </a:r>
            <a:r>
              <a:rPr lang="en" altLang="zh-CN" sz="2000" dirty="0"/>
              <a:t>Discretionary Access Control</a:t>
            </a:r>
            <a:r>
              <a:rPr lang="zh-CN" altLang="en-US" sz="2000" dirty="0"/>
              <a:t>）</a:t>
            </a:r>
            <a:endParaRPr lang="en-US" altLang="zh-CN" sz="2000" dirty="0"/>
          </a:p>
          <a:p>
            <a:pPr lvl="1"/>
            <a:r>
              <a:rPr lang="zh-CN" altLang="en-US" sz="1800" dirty="0"/>
              <a:t>指一个对象的拥有者有权限决定该对象是否可以被其他人访问</a:t>
            </a:r>
            <a:endParaRPr lang="en-US" altLang="zh-CN" sz="1800" dirty="0"/>
          </a:p>
          <a:p>
            <a:pPr lvl="2"/>
            <a:r>
              <a:rPr lang="zh-CN" altLang="en-US" sz="1600" dirty="0"/>
              <a:t>例如，文件系统就是一类典型的 </a:t>
            </a:r>
            <a:r>
              <a:rPr lang="en" altLang="zh-CN" sz="1600" dirty="0"/>
              <a:t>DAC</a:t>
            </a:r>
            <a:endParaRPr lang="en-US" altLang="zh-CN" sz="1800" dirty="0"/>
          </a:p>
          <a:p>
            <a:pPr lvl="1"/>
            <a:r>
              <a:rPr lang="zh-CN" altLang="en-US" sz="1800" dirty="0"/>
              <a:t>但是对部分场景（如军队）来说，</a:t>
            </a:r>
            <a:r>
              <a:rPr lang="en-US" altLang="zh-CN" sz="1800" dirty="0"/>
              <a:t>DAC</a:t>
            </a:r>
            <a:r>
              <a:rPr lang="zh-CN" altLang="en-US" sz="1800" dirty="0"/>
              <a:t>过于灵活</a:t>
            </a:r>
            <a:endParaRPr lang="en-US" altLang="zh-CN" sz="1800" dirty="0"/>
          </a:p>
          <a:p>
            <a:pPr lvl="2"/>
            <a:r>
              <a:rPr lang="zh-CN" altLang="en-US" sz="1600" dirty="0"/>
              <a:t>例如，文件拥有者是否真的有权可随意设置文件权限？</a:t>
            </a:r>
            <a:endParaRPr lang="en-US" altLang="zh-CN" sz="1600" dirty="0"/>
          </a:p>
          <a:p>
            <a:r>
              <a:rPr lang="zh-CN" altLang="en-US" sz="2000" dirty="0"/>
              <a:t>强制访问控制（</a:t>
            </a:r>
            <a:r>
              <a:rPr lang="en" altLang="zh-CN" sz="2000" dirty="0"/>
              <a:t>MAC</a:t>
            </a:r>
            <a:r>
              <a:rPr lang="en-US" altLang="zh-CN" sz="2000" dirty="0"/>
              <a:t>:</a:t>
            </a:r>
            <a:r>
              <a:rPr lang="zh-CN" altLang="en-US" sz="2000" dirty="0"/>
              <a:t> </a:t>
            </a:r>
            <a:r>
              <a:rPr lang="en" altLang="zh-CN" sz="2000" dirty="0"/>
              <a:t>Mandatory Access Control</a:t>
            </a:r>
            <a:r>
              <a:rPr lang="zh-CN" altLang="en-US" sz="2000" dirty="0"/>
              <a:t>）</a:t>
            </a:r>
            <a:endParaRPr lang="en" altLang="zh-CN" sz="2000" dirty="0"/>
          </a:p>
          <a:p>
            <a:pPr lvl="1"/>
            <a:r>
              <a:rPr lang="zh-CN" altLang="en-US" sz="1800" dirty="0"/>
              <a:t>由</a:t>
            </a:r>
            <a:r>
              <a:rPr lang="en-US" altLang="zh-CN" sz="1800" dirty="0"/>
              <a:t>"</a:t>
            </a:r>
            <a:r>
              <a:rPr lang="zh-CN" altLang="en-US" sz="1800" dirty="0"/>
              <a:t>系统</a:t>
            </a:r>
            <a:r>
              <a:rPr lang="en-US" altLang="zh-CN" sz="1800" dirty="0"/>
              <a:t>"</a:t>
            </a:r>
            <a:r>
              <a:rPr lang="zh-CN" altLang="en-US" sz="1800" dirty="0"/>
              <a:t>增加一些强制的、不可改变的规则</a:t>
            </a:r>
            <a:endParaRPr lang="en-US" altLang="zh-CN" sz="1800" dirty="0"/>
          </a:p>
          <a:p>
            <a:pPr lvl="2"/>
            <a:r>
              <a:rPr lang="zh-CN" altLang="en-US" sz="1600" dirty="0"/>
              <a:t>例如，在军队中，如果某个文件设置为机密，那么就算是指挥官也不能把这个文件给没有权限的人看</a:t>
            </a:r>
            <a:r>
              <a:rPr lang="en-US" altLang="zh-CN" sz="1600" dirty="0"/>
              <a:t>——</a:t>
            </a:r>
            <a:r>
              <a:rPr lang="zh-CN" altLang="en-US" sz="1600" dirty="0"/>
              <a:t>这个规则是由军法（系统）规定的</a:t>
            </a:r>
            <a:endParaRPr lang="zh-CN" altLang="en-US" sz="1800" dirty="0"/>
          </a:p>
          <a:p>
            <a:pPr lvl="1"/>
            <a:r>
              <a:rPr kumimoji="1" lang="en-US" altLang="zh-CN" sz="1800" dirty="0"/>
              <a:t>MAC</a:t>
            </a:r>
            <a:r>
              <a:rPr kumimoji="1" lang="zh-CN" altLang="en-US" sz="1800" dirty="0"/>
              <a:t>与</a:t>
            </a:r>
            <a:r>
              <a:rPr kumimoji="1" lang="en-US" altLang="zh-CN" sz="1800" dirty="0"/>
              <a:t>DAC</a:t>
            </a:r>
            <a:r>
              <a:rPr kumimoji="1" lang="zh-CN" altLang="en-US" sz="1800" dirty="0"/>
              <a:t>可以结合，此时</a:t>
            </a:r>
            <a:r>
              <a:rPr kumimoji="1" lang="en-US" altLang="zh-CN" sz="1800" dirty="0"/>
              <a:t>MAC</a:t>
            </a:r>
            <a:r>
              <a:rPr kumimoji="1" lang="zh-CN" altLang="en-US" sz="1800" dirty="0"/>
              <a:t>的优先级更高</a:t>
            </a:r>
          </a:p>
        </p:txBody>
      </p:sp>
      <p:sp>
        <p:nvSpPr>
          <p:cNvPr id="4" name="灯片编号占位符 3">
            <a:extLst>
              <a:ext uri="{FF2B5EF4-FFF2-40B4-BE49-F238E27FC236}">
                <a16:creationId xmlns:a16="http://schemas.microsoft.com/office/drawing/2014/main" id="{15E60D9A-167B-DA44-A3D4-FFF0B81F1AE2}"/>
              </a:ext>
            </a:extLst>
          </p:cNvPr>
          <p:cNvSpPr>
            <a:spLocks noGrp="1"/>
          </p:cNvSpPr>
          <p:nvPr>
            <p:ph type="sldNum" sz="quarter" idx="12"/>
          </p:nvPr>
        </p:nvSpPr>
        <p:spPr/>
        <p:txBody>
          <a:bodyPr/>
          <a:lstStyle/>
          <a:p>
            <a:fld id="{ADE361C3-C043-4A6E-BDCE-8DA1E7D90A3B}" type="slidenum">
              <a:rPr lang="zh-CN" altLang="en-US" smtClean="0"/>
              <a:t>10</a:t>
            </a:fld>
            <a:endParaRPr lang="zh-CN" altLang="en-US"/>
          </a:p>
        </p:txBody>
      </p:sp>
      <p:sp>
        <p:nvSpPr>
          <p:cNvPr id="5" name="页脚占位符 4">
            <a:extLst>
              <a:ext uri="{FF2B5EF4-FFF2-40B4-BE49-F238E27FC236}">
                <a16:creationId xmlns:a16="http://schemas.microsoft.com/office/drawing/2014/main" id="{B6AA3436-5686-4441-B629-1EE84B0636CA}"/>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609080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523657-F308-B642-83DC-6ED9FB8A7D6A}"/>
              </a:ext>
            </a:extLst>
          </p:cNvPr>
          <p:cNvSpPr>
            <a:spLocks noGrp="1"/>
          </p:cNvSpPr>
          <p:nvPr>
            <p:ph type="title"/>
          </p:nvPr>
        </p:nvSpPr>
        <p:spPr/>
        <p:txBody>
          <a:bodyPr>
            <a:normAutofit/>
          </a:bodyPr>
          <a:lstStyle/>
          <a:p>
            <a:r>
              <a:rPr kumimoji="1" lang="en-US" altLang="zh-CN" dirty="0"/>
              <a:t>Bell-</a:t>
            </a:r>
            <a:r>
              <a:rPr kumimoji="1" lang="en-US" altLang="zh-CN" dirty="0" err="1"/>
              <a:t>LaPadula</a:t>
            </a:r>
            <a:r>
              <a:rPr kumimoji="1" lang="zh-CN" altLang="en-US" dirty="0"/>
              <a:t> 模型</a:t>
            </a:r>
          </a:p>
        </p:txBody>
      </p:sp>
      <p:sp>
        <p:nvSpPr>
          <p:cNvPr id="3" name="内容占位符 2">
            <a:extLst>
              <a:ext uri="{FF2B5EF4-FFF2-40B4-BE49-F238E27FC236}">
                <a16:creationId xmlns:a16="http://schemas.microsoft.com/office/drawing/2014/main" id="{2A47CAF7-A578-5949-B812-E6F079F71B90}"/>
              </a:ext>
            </a:extLst>
          </p:cNvPr>
          <p:cNvSpPr>
            <a:spLocks noGrp="1"/>
          </p:cNvSpPr>
          <p:nvPr>
            <p:ph idx="1"/>
          </p:nvPr>
        </p:nvSpPr>
        <p:spPr/>
        <p:txBody>
          <a:bodyPr>
            <a:normAutofit/>
          </a:bodyPr>
          <a:lstStyle/>
          <a:p>
            <a:r>
              <a:rPr lang="en" altLang="zh-CN" dirty="0"/>
              <a:t>BLP</a:t>
            </a:r>
            <a:r>
              <a:rPr lang="zh-CN" altLang="en-US" dirty="0"/>
              <a:t>属于强制访问控制（</a:t>
            </a:r>
            <a:r>
              <a:rPr lang="en-US" altLang="zh-CN" dirty="0"/>
              <a:t>MAC</a:t>
            </a:r>
            <a:r>
              <a:rPr lang="zh-CN" altLang="en-US" dirty="0"/>
              <a:t>）模型</a:t>
            </a:r>
            <a:endParaRPr lang="en" altLang="zh-CN" dirty="0"/>
          </a:p>
          <a:p>
            <a:pPr lvl="1"/>
            <a:r>
              <a:rPr lang="zh-CN" altLang="en-US" dirty="0"/>
              <a:t>一个用于访问控制的状态机模型</a:t>
            </a:r>
            <a:endParaRPr lang="en-US" altLang="zh-CN" dirty="0"/>
          </a:p>
          <a:p>
            <a:pPr lvl="1"/>
            <a:r>
              <a:rPr lang="zh-CN" altLang="en-US" dirty="0"/>
              <a:t>目的是为了用于政府、军队等具有严格安全等级的场景</a:t>
            </a:r>
          </a:p>
          <a:p>
            <a:r>
              <a:rPr lang="en" altLang="zh-CN" dirty="0"/>
              <a:t>BLP </a:t>
            </a:r>
            <a:r>
              <a:rPr lang="zh-CN" altLang="en-US" dirty="0"/>
              <a:t>规定了两条 </a:t>
            </a:r>
            <a:r>
              <a:rPr lang="en" altLang="zh-CN" dirty="0"/>
              <a:t>MAC </a:t>
            </a:r>
            <a:r>
              <a:rPr lang="zh-CN" altLang="en-US" dirty="0"/>
              <a:t>规则和一条 </a:t>
            </a:r>
            <a:r>
              <a:rPr lang="en" altLang="zh-CN" dirty="0"/>
              <a:t>DAC </a:t>
            </a:r>
            <a:r>
              <a:rPr lang="zh-CN" altLang="en-US" dirty="0"/>
              <a:t>规则：</a:t>
            </a:r>
            <a:endParaRPr lang="en-US" altLang="zh-CN" dirty="0"/>
          </a:p>
          <a:p>
            <a:pPr lvl="1"/>
            <a:r>
              <a:rPr lang="zh-CN" altLang="en-US" sz="1800" dirty="0"/>
              <a:t>简单安全属性：某个安全级别的主体无法读取更高安全级别的对象</a:t>
            </a:r>
            <a:endParaRPr lang="en-US" altLang="zh-CN" sz="1800" dirty="0"/>
          </a:p>
          <a:p>
            <a:pPr lvl="1"/>
            <a:r>
              <a:rPr lang="en-US" altLang="zh-CN" sz="1800" dirty="0"/>
              <a:t>* </a:t>
            </a:r>
            <a:r>
              <a:rPr lang="zh-CN" altLang="en-US" sz="1800" dirty="0"/>
              <a:t>属性（星属性）</a:t>
            </a:r>
            <a:r>
              <a:rPr lang="en-US" altLang="zh-CN" sz="1800" dirty="0"/>
              <a:t>:</a:t>
            </a:r>
            <a:r>
              <a:rPr lang="zh-CN" altLang="en-US" sz="1800" dirty="0"/>
              <a:t>某一安全级别的主体无法写入任何更低安全级别的对象</a:t>
            </a:r>
            <a:endParaRPr lang="en-US" altLang="zh-CN" sz="1800" dirty="0"/>
          </a:p>
          <a:p>
            <a:pPr lvl="1"/>
            <a:r>
              <a:rPr lang="zh-CN" altLang="en-US" sz="1800" dirty="0"/>
              <a:t>自主安全属性：使用访问矩阵来规定自主访问控制（</a:t>
            </a:r>
            <a:r>
              <a:rPr lang="en" altLang="zh-CN" sz="1800" dirty="0"/>
              <a:t>DAC</a:t>
            </a:r>
            <a:r>
              <a:rPr lang="zh-CN" altLang="en" sz="1800" dirty="0"/>
              <a:t>）</a:t>
            </a:r>
          </a:p>
          <a:p>
            <a:endParaRPr kumimoji="1" lang="zh-CN" altLang="en-US" sz="2000" dirty="0"/>
          </a:p>
        </p:txBody>
      </p:sp>
      <p:sp>
        <p:nvSpPr>
          <p:cNvPr id="4" name="灯片编号占位符 3">
            <a:extLst>
              <a:ext uri="{FF2B5EF4-FFF2-40B4-BE49-F238E27FC236}">
                <a16:creationId xmlns:a16="http://schemas.microsoft.com/office/drawing/2014/main" id="{77AF470B-EBD1-FB46-A8C9-33855A58D5B7}"/>
              </a:ext>
            </a:extLst>
          </p:cNvPr>
          <p:cNvSpPr>
            <a:spLocks noGrp="1"/>
          </p:cNvSpPr>
          <p:nvPr>
            <p:ph type="sldNum" sz="quarter" idx="12"/>
          </p:nvPr>
        </p:nvSpPr>
        <p:spPr/>
        <p:txBody>
          <a:bodyPr/>
          <a:lstStyle/>
          <a:p>
            <a:fld id="{ADE361C3-C043-4A6E-BDCE-8DA1E7D90A3B}" type="slidenum">
              <a:rPr lang="zh-CN" altLang="en-US" smtClean="0"/>
              <a:t>11</a:t>
            </a:fld>
            <a:endParaRPr lang="zh-CN" altLang="en-US"/>
          </a:p>
        </p:txBody>
      </p:sp>
      <p:sp>
        <p:nvSpPr>
          <p:cNvPr id="5" name="页脚占位符 4">
            <a:extLst>
              <a:ext uri="{FF2B5EF4-FFF2-40B4-BE49-F238E27FC236}">
                <a16:creationId xmlns:a16="http://schemas.microsoft.com/office/drawing/2014/main" id="{B7813EF9-8066-304C-A642-C5173B302762}"/>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1953880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F60C1158-6BF1-D14D-9A95-D59DFBA03555}"/>
              </a:ext>
            </a:extLst>
          </p:cNvPr>
          <p:cNvSpPr>
            <a:spLocks noGrp="1"/>
          </p:cNvSpPr>
          <p:nvPr>
            <p:ph type="title"/>
          </p:nvPr>
        </p:nvSpPr>
        <p:spPr/>
        <p:txBody>
          <a:bodyPr/>
          <a:lstStyle/>
          <a:p>
            <a:r>
              <a:rPr lang="zh-CN" altLang="en-US" dirty="0"/>
              <a:t>案例：</a:t>
            </a:r>
            <a:r>
              <a:rPr lang="en-US" altLang="zh-CN" dirty="0" err="1"/>
              <a:t>SELinux</a:t>
            </a:r>
            <a:endParaRPr lang="zh-CN" altLang="en-US" dirty="0"/>
          </a:p>
        </p:txBody>
      </p:sp>
      <p:sp>
        <p:nvSpPr>
          <p:cNvPr id="7" name="文本占位符 6">
            <a:extLst>
              <a:ext uri="{FF2B5EF4-FFF2-40B4-BE49-F238E27FC236}">
                <a16:creationId xmlns:a16="http://schemas.microsoft.com/office/drawing/2014/main" id="{F9FD3E04-4760-C442-B374-F40C203C462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D8322AA-4C2A-384C-8264-324C328998F7}"/>
              </a:ext>
            </a:extLst>
          </p:cNvPr>
          <p:cNvSpPr>
            <a:spLocks noGrp="1"/>
          </p:cNvSpPr>
          <p:nvPr>
            <p:ph type="sldNum" sz="quarter" idx="12"/>
          </p:nvPr>
        </p:nvSpPr>
        <p:spPr/>
        <p:txBody>
          <a:bodyPr/>
          <a:lstStyle/>
          <a:p>
            <a:fld id="{ADE361C3-C043-4A6E-BDCE-8DA1E7D90A3B}" type="slidenum">
              <a:rPr lang="zh-CN" altLang="en-US" smtClean="0"/>
              <a:t>12</a:t>
            </a:fld>
            <a:endParaRPr lang="zh-CN" altLang="en-US"/>
          </a:p>
        </p:txBody>
      </p:sp>
      <p:sp>
        <p:nvSpPr>
          <p:cNvPr id="5" name="页脚占位符 4">
            <a:extLst>
              <a:ext uri="{FF2B5EF4-FFF2-40B4-BE49-F238E27FC236}">
                <a16:creationId xmlns:a16="http://schemas.microsoft.com/office/drawing/2014/main" id="{D4F8C2DE-BBB8-494E-A530-09A2DE106BE3}"/>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7368042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6B3FE9-E924-7848-BC00-03BC66D40A5E}"/>
              </a:ext>
            </a:extLst>
          </p:cNvPr>
          <p:cNvSpPr>
            <a:spLocks noGrp="1"/>
          </p:cNvSpPr>
          <p:nvPr>
            <p:ph type="title"/>
          </p:nvPr>
        </p:nvSpPr>
        <p:spPr/>
        <p:txBody>
          <a:bodyPr/>
          <a:lstStyle/>
          <a:p>
            <a:r>
              <a:rPr kumimoji="1" lang="en-US" altLang="zh-CN" dirty="0" err="1"/>
              <a:t>SELinux</a:t>
            </a:r>
            <a:r>
              <a:rPr kumimoji="1" lang="zh-CN" altLang="en-US" dirty="0"/>
              <a:t>的历史</a:t>
            </a:r>
          </a:p>
        </p:txBody>
      </p:sp>
      <p:sp>
        <p:nvSpPr>
          <p:cNvPr id="3" name="内容占位符 2">
            <a:extLst>
              <a:ext uri="{FF2B5EF4-FFF2-40B4-BE49-F238E27FC236}">
                <a16:creationId xmlns:a16="http://schemas.microsoft.com/office/drawing/2014/main" id="{95418211-043E-814B-A7A1-738D23B0A564}"/>
              </a:ext>
            </a:extLst>
          </p:cNvPr>
          <p:cNvSpPr>
            <a:spLocks noGrp="1"/>
          </p:cNvSpPr>
          <p:nvPr>
            <p:ph idx="1"/>
          </p:nvPr>
        </p:nvSpPr>
        <p:spPr/>
        <p:txBody>
          <a:bodyPr>
            <a:normAutofit/>
          </a:bodyPr>
          <a:lstStyle/>
          <a:p>
            <a:r>
              <a:rPr lang="en-US" altLang="zh-CN" dirty="0" err="1"/>
              <a:t>SELinux</a:t>
            </a:r>
            <a:r>
              <a:rPr lang="zh-CN" altLang="en-US" dirty="0"/>
              <a:t>，由</a:t>
            </a:r>
            <a:r>
              <a:rPr lang="en-US" altLang="zh-CN" dirty="0"/>
              <a:t>NSA</a:t>
            </a:r>
            <a:r>
              <a:rPr lang="zh-CN" altLang="en-US" dirty="0"/>
              <a:t>发起，</a:t>
            </a:r>
            <a:r>
              <a:rPr lang="en-US" altLang="zh-CN" dirty="0"/>
              <a:t>2003</a:t>
            </a:r>
            <a:r>
              <a:rPr lang="zh-CN" altLang="en-US" dirty="0"/>
              <a:t>年并入</a:t>
            </a:r>
            <a:r>
              <a:rPr lang="en-US" altLang="zh-CN" dirty="0"/>
              <a:t>Linux</a:t>
            </a:r>
          </a:p>
          <a:p>
            <a:pPr lvl="1"/>
            <a:r>
              <a:rPr lang="zh-CN" altLang="en-US" dirty="0"/>
              <a:t>是 </a:t>
            </a:r>
            <a:r>
              <a:rPr lang="en" altLang="zh-CN" dirty="0"/>
              <a:t>Flask </a:t>
            </a:r>
            <a:r>
              <a:rPr lang="zh-CN" altLang="en-US" dirty="0"/>
              <a:t>安全架构在 </a:t>
            </a:r>
            <a:r>
              <a:rPr lang="en" altLang="zh-CN" dirty="0"/>
              <a:t>Linux </a:t>
            </a:r>
            <a:r>
              <a:rPr lang="zh-CN" altLang="en-US" dirty="0"/>
              <a:t>上的实现</a:t>
            </a:r>
            <a:endParaRPr lang="en-US" altLang="zh-CN" dirty="0"/>
          </a:p>
          <a:p>
            <a:pPr lvl="2"/>
            <a:r>
              <a:rPr lang="en" altLang="zh-CN" dirty="0"/>
              <a:t>Flask </a:t>
            </a:r>
            <a:r>
              <a:rPr lang="zh-CN" altLang="en-US" dirty="0"/>
              <a:t>是一个 </a:t>
            </a:r>
            <a:r>
              <a:rPr lang="en" altLang="zh-CN" dirty="0"/>
              <a:t>OS </a:t>
            </a:r>
            <a:r>
              <a:rPr lang="zh-CN" altLang="en-US" dirty="0"/>
              <a:t>的安全架构，可灵活提供不同的安全策略</a:t>
            </a:r>
            <a:endParaRPr lang="en-US" altLang="zh-CN" dirty="0"/>
          </a:p>
          <a:p>
            <a:pPr lvl="1"/>
            <a:r>
              <a:rPr lang="zh-CN" altLang="en-US" dirty="0"/>
              <a:t>是一个 </a:t>
            </a:r>
            <a:r>
              <a:rPr lang="en" altLang="zh-CN" dirty="0"/>
              <a:t>Linux </a:t>
            </a:r>
            <a:r>
              <a:rPr lang="zh-CN" altLang="en-US" dirty="0"/>
              <a:t>内核的安全模块（</a:t>
            </a:r>
            <a:r>
              <a:rPr lang="en-US" altLang="zh-CN" dirty="0"/>
              <a:t>LSM</a:t>
            </a:r>
            <a:r>
              <a:rPr lang="zh-CN" altLang="en-US" dirty="0"/>
              <a:t>）</a:t>
            </a:r>
            <a:endParaRPr lang="en-US" altLang="zh-CN" dirty="0"/>
          </a:p>
          <a:p>
            <a:pPr lvl="2"/>
            <a:r>
              <a:rPr lang="zh-CN" altLang="en-US" dirty="0"/>
              <a:t>在</a:t>
            </a:r>
            <a:r>
              <a:rPr lang="en-US" altLang="zh-CN" dirty="0"/>
              <a:t>Linux</a:t>
            </a:r>
            <a:r>
              <a:rPr lang="zh-CN" altLang="en-US" dirty="0"/>
              <a:t>内核的关键代码区域插入了许多 </a:t>
            </a:r>
            <a:r>
              <a:rPr lang="en" altLang="zh-CN" dirty="0"/>
              <a:t>hook</a:t>
            </a:r>
            <a:r>
              <a:rPr lang="zh-CN" altLang="en-US" dirty="0"/>
              <a:t>进行安全检查</a:t>
            </a:r>
            <a:endParaRPr lang="en-US" altLang="zh-CN" dirty="0"/>
          </a:p>
          <a:p>
            <a:r>
              <a:rPr lang="en-US" altLang="zh-CN" dirty="0" err="1"/>
              <a:t>SELinux</a:t>
            </a:r>
            <a:r>
              <a:rPr lang="zh-CN" altLang="en-US" dirty="0"/>
              <a:t> 提供一套访问控制的框架</a:t>
            </a:r>
            <a:endParaRPr lang="en-US" altLang="zh-CN" dirty="0"/>
          </a:p>
          <a:p>
            <a:pPr lvl="1"/>
            <a:r>
              <a:rPr lang="zh-CN" altLang="en-US" dirty="0"/>
              <a:t>支持不同的安全策略，包括强制类型访问（</a:t>
            </a:r>
            <a:r>
              <a:rPr lang="en" altLang="zh-CN" dirty="0"/>
              <a:t>MAC</a:t>
            </a:r>
            <a:r>
              <a:rPr lang="zh-CN" altLang="en" dirty="0"/>
              <a:t>）</a:t>
            </a:r>
            <a:endParaRPr kumimoji="1" lang="zh-CN" altLang="en-US" dirty="0"/>
          </a:p>
        </p:txBody>
      </p:sp>
      <p:sp>
        <p:nvSpPr>
          <p:cNvPr id="4" name="灯片编号占位符 3">
            <a:extLst>
              <a:ext uri="{FF2B5EF4-FFF2-40B4-BE49-F238E27FC236}">
                <a16:creationId xmlns:a16="http://schemas.microsoft.com/office/drawing/2014/main" id="{52CC80B3-07C8-5C44-AEEB-9FCF228A4E2F}"/>
              </a:ext>
            </a:extLst>
          </p:cNvPr>
          <p:cNvSpPr>
            <a:spLocks noGrp="1"/>
          </p:cNvSpPr>
          <p:nvPr>
            <p:ph type="sldNum" sz="quarter" idx="12"/>
          </p:nvPr>
        </p:nvSpPr>
        <p:spPr/>
        <p:txBody>
          <a:bodyPr/>
          <a:lstStyle/>
          <a:p>
            <a:fld id="{ADE361C3-C043-4A6E-BDCE-8DA1E7D90A3B}" type="slidenum">
              <a:rPr lang="zh-CN" altLang="en-US" smtClean="0"/>
              <a:t>13</a:t>
            </a:fld>
            <a:endParaRPr lang="zh-CN" altLang="en-US"/>
          </a:p>
        </p:txBody>
      </p:sp>
      <p:sp>
        <p:nvSpPr>
          <p:cNvPr id="5" name="页脚占位符 4">
            <a:extLst>
              <a:ext uri="{FF2B5EF4-FFF2-40B4-BE49-F238E27FC236}">
                <a16:creationId xmlns:a16="http://schemas.microsoft.com/office/drawing/2014/main" id="{8737D3C3-E63E-BB44-81AE-DC59218FD0C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05248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EAAB47F-AD06-2044-9129-C62F43A2FCEC}"/>
              </a:ext>
            </a:extLst>
          </p:cNvPr>
          <p:cNvSpPr>
            <a:spLocks noGrp="1"/>
          </p:cNvSpPr>
          <p:nvPr>
            <p:ph type="title"/>
          </p:nvPr>
        </p:nvSpPr>
        <p:spPr/>
        <p:txBody>
          <a:bodyPr/>
          <a:lstStyle/>
          <a:p>
            <a:r>
              <a:rPr kumimoji="1" lang="en-US" altLang="zh-CN" dirty="0" err="1"/>
              <a:t>SELinux</a:t>
            </a:r>
            <a:r>
              <a:rPr kumimoji="1" lang="zh-CN" altLang="en-US" dirty="0"/>
              <a:t>、</a:t>
            </a:r>
            <a:r>
              <a:rPr kumimoji="1" lang="en-US" altLang="zh-CN" dirty="0"/>
              <a:t>Flask</a:t>
            </a:r>
            <a:r>
              <a:rPr kumimoji="1" lang="zh-CN" altLang="en-US" dirty="0"/>
              <a:t>与</a:t>
            </a:r>
            <a:r>
              <a:rPr kumimoji="1" lang="en-US" altLang="zh-CN" dirty="0"/>
              <a:t>LSM</a:t>
            </a:r>
            <a:endParaRPr kumimoji="1" lang="zh-CN" altLang="en-US" dirty="0"/>
          </a:p>
        </p:txBody>
      </p:sp>
      <p:sp>
        <p:nvSpPr>
          <p:cNvPr id="4" name="灯片编号占位符 3">
            <a:extLst>
              <a:ext uri="{FF2B5EF4-FFF2-40B4-BE49-F238E27FC236}">
                <a16:creationId xmlns:a16="http://schemas.microsoft.com/office/drawing/2014/main" id="{C0B42D0D-5FD0-954A-9C24-377BACD017D7}"/>
              </a:ext>
            </a:extLst>
          </p:cNvPr>
          <p:cNvSpPr>
            <a:spLocks noGrp="1"/>
          </p:cNvSpPr>
          <p:nvPr>
            <p:ph type="sldNum" sz="quarter" idx="12"/>
          </p:nvPr>
        </p:nvSpPr>
        <p:spPr/>
        <p:txBody>
          <a:bodyPr/>
          <a:lstStyle/>
          <a:p>
            <a:fld id="{ADE361C3-C043-4A6E-BDCE-8DA1E7D90A3B}" type="slidenum">
              <a:rPr lang="zh-CN" altLang="en-US" smtClean="0"/>
              <a:t>14</a:t>
            </a:fld>
            <a:endParaRPr lang="zh-CN" altLang="en-US"/>
          </a:p>
        </p:txBody>
      </p:sp>
      <p:sp>
        <p:nvSpPr>
          <p:cNvPr id="5" name="页脚占位符 4">
            <a:extLst>
              <a:ext uri="{FF2B5EF4-FFF2-40B4-BE49-F238E27FC236}">
                <a16:creationId xmlns:a16="http://schemas.microsoft.com/office/drawing/2014/main" id="{C9CFDF9B-2C06-0744-87DD-CDA9DE3C5A0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37045B30-E529-B64F-8343-B7BDDF013569}"/>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677876" y="1279510"/>
            <a:ext cx="5788248" cy="3876059"/>
          </a:xfrm>
          <a:prstGeom prst="rect">
            <a:avLst/>
          </a:prstGeom>
        </p:spPr>
      </p:pic>
    </p:spTree>
    <p:extLst>
      <p:ext uri="{BB962C8B-B14F-4D97-AF65-F5344CB8AC3E}">
        <p14:creationId xmlns:p14="http://schemas.microsoft.com/office/powerpoint/2010/main" val="23795924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AFA048-BF7C-3544-BAEF-6AB0F9111C4A}"/>
              </a:ext>
            </a:extLst>
          </p:cNvPr>
          <p:cNvSpPr>
            <a:spLocks noGrp="1"/>
          </p:cNvSpPr>
          <p:nvPr>
            <p:ph type="title"/>
          </p:nvPr>
        </p:nvSpPr>
        <p:spPr/>
        <p:txBody>
          <a:bodyPr>
            <a:normAutofit/>
          </a:bodyPr>
          <a:lstStyle/>
          <a:p>
            <a:r>
              <a:rPr kumimoji="1" lang="en-US" altLang="zh-CN" dirty="0" err="1"/>
              <a:t>SELinux</a:t>
            </a:r>
            <a:r>
              <a:rPr kumimoji="1" lang="zh-CN" altLang="en-US" dirty="0"/>
              <a:t>引入的概念</a:t>
            </a:r>
          </a:p>
        </p:txBody>
      </p:sp>
      <p:sp>
        <p:nvSpPr>
          <p:cNvPr id="3" name="内容占位符 2">
            <a:extLst>
              <a:ext uri="{FF2B5EF4-FFF2-40B4-BE49-F238E27FC236}">
                <a16:creationId xmlns:a16="http://schemas.microsoft.com/office/drawing/2014/main" id="{B28BAC9B-48E6-EF48-A2CB-111AB9B9F678}"/>
              </a:ext>
            </a:extLst>
          </p:cNvPr>
          <p:cNvSpPr>
            <a:spLocks noGrp="1"/>
          </p:cNvSpPr>
          <p:nvPr>
            <p:ph idx="1"/>
          </p:nvPr>
        </p:nvSpPr>
        <p:spPr/>
        <p:txBody>
          <a:bodyPr>
            <a:normAutofit/>
          </a:bodyPr>
          <a:lstStyle/>
          <a:p>
            <a:r>
              <a:rPr lang="zh-CN" altLang="en-US" sz="1800" dirty="0"/>
              <a:t>用户（</a:t>
            </a:r>
            <a:r>
              <a:rPr lang="en" altLang="zh-CN" sz="1800" dirty="0"/>
              <a:t>User</a:t>
            </a:r>
            <a:r>
              <a:rPr lang="zh-CN" altLang="en" sz="1800" dirty="0"/>
              <a:t>）</a:t>
            </a:r>
            <a:r>
              <a:rPr lang="zh-CN" altLang="en-US" sz="1800" dirty="0"/>
              <a:t>：指系统中的用户</a:t>
            </a:r>
            <a:endParaRPr lang="en-US" altLang="zh-CN" sz="1800" dirty="0"/>
          </a:p>
          <a:p>
            <a:pPr lvl="1"/>
            <a:r>
              <a:rPr lang="zh-CN" altLang="en-US" sz="1600" dirty="0"/>
              <a:t>与 </a:t>
            </a:r>
            <a:r>
              <a:rPr lang="en" altLang="zh-CN" sz="1600" dirty="0"/>
              <a:t>Linux </a:t>
            </a:r>
            <a:r>
              <a:rPr lang="zh-CN" altLang="en-US" sz="1600" dirty="0"/>
              <a:t>系统用户并没有关系</a:t>
            </a:r>
            <a:endParaRPr lang="en-US" altLang="zh-CN" sz="1600" dirty="0"/>
          </a:p>
          <a:p>
            <a:r>
              <a:rPr lang="zh-CN" altLang="en-US" sz="1800" dirty="0"/>
              <a:t>策略（</a:t>
            </a:r>
            <a:r>
              <a:rPr lang="en" altLang="zh-CN" sz="1800" dirty="0"/>
              <a:t>Policy</a:t>
            </a:r>
            <a:r>
              <a:rPr lang="zh-CN" altLang="en" sz="1800" dirty="0"/>
              <a:t>）</a:t>
            </a:r>
            <a:r>
              <a:rPr lang="zh-CN" altLang="en-US" sz="1800" dirty="0"/>
              <a:t>：一组规则（</a:t>
            </a:r>
            <a:r>
              <a:rPr lang="en" altLang="zh-CN" sz="1800" dirty="0"/>
              <a:t>Rule</a:t>
            </a:r>
            <a:r>
              <a:rPr lang="zh-CN" altLang="en" sz="1800" dirty="0"/>
              <a:t>）</a:t>
            </a:r>
            <a:r>
              <a:rPr lang="zh-CN" altLang="en-US" sz="1800" dirty="0"/>
              <a:t>的集合</a:t>
            </a:r>
            <a:endParaRPr lang="en-US" altLang="zh-CN" sz="1800" dirty="0"/>
          </a:p>
          <a:p>
            <a:pPr lvl="1"/>
            <a:r>
              <a:rPr lang="zh-CN" altLang="en-US" sz="1600" dirty="0"/>
              <a:t>默认是</a:t>
            </a:r>
            <a:r>
              <a:rPr lang="en-US" altLang="zh-CN" sz="1600" dirty="0"/>
              <a:t>"</a:t>
            </a:r>
            <a:r>
              <a:rPr lang="en" altLang="zh-CN" sz="1600" dirty="0"/>
              <a:t>Targeted"</a:t>
            </a:r>
            <a:r>
              <a:rPr lang="zh-CN" altLang="en-US" sz="1600" dirty="0"/>
              <a:t>策略，主要对服务进程进行访问控制</a:t>
            </a:r>
            <a:endParaRPr lang="en-US" altLang="zh-CN" sz="1600" dirty="0"/>
          </a:p>
          <a:p>
            <a:pPr lvl="1"/>
            <a:r>
              <a:rPr lang="en" altLang="zh-CN" sz="1600" dirty="0"/>
              <a:t>MLS </a:t>
            </a:r>
            <a:r>
              <a:rPr lang="zh-CN" altLang="en" sz="1600" dirty="0"/>
              <a:t>（</a:t>
            </a:r>
            <a:r>
              <a:rPr lang="en" altLang="zh-CN" sz="1600" dirty="0"/>
              <a:t>Multi-Level Security</a:t>
            </a:r>
            <a:r>
              <a:rPr lang="zh-CN" altLang="en" sz="1600" dirty="0"/>
              <a:t>），</a:t>
            </a:r>
            <a:r>
              <a:rPr lang="zh-CN" altLang="en-US" sz="1600" dirty="0"/>
              <a:t>实现了 </a:t>
            </a:r>
            <a:r>
              <a:rPr lang="en" altLang="zh-CN" sz="1600" dirty="0"/>
              <a:t>Bell-</a:t>
            </a:r>
            <a:r>
              <a:rPr lang="en" altLang="zh-CN" sz="1600" dirty="0" err="1"/>
              <a:t>LaPadula</a:t>
            </a:r>
            <a:r>
              <a:rPr lang="zh-CN" altLang="en-US" sz="1600" dirty="0"/>
              <a:t> </a:t>
            </a:r>
            <a:r>
              <a:rPr lang="zh-CN" altLang="en" sz="1600" dirty="0"/>
              <a:t>模型</a:t>
            </a:r>
            <a:endParaRPr lang="en-US" altLang="zh-CN" sz="1600" dirty="0"/>
          </a:p>
          <a:p>
            <a:pPr lvl="1"/>
            <a:r>
              <a:rPr lang="en" altLang="zh-CN" sz="1600" dirty="0"/>
              <a:t>Minimum</a:t>
            </a:r>
            <a:r>
              <a:rPr lang="zh-CN" altLang="en" sz="1600" dirty="0"/>
              <a:t>，</a:t>
            </a:r>
            <a:r>
              <a:rPr lang="zh-CN" altLang="en-US" sz="1600" dirty="0"/>
              <a:t>考虑资源消耗，仅应用了一些基础的策略规则，一般用于手机等平台</a:t>
            </a:r>
          </a:p>
          <a:p>
            <a:r>
              <a:rPr lang="zh-CN" altLang="en-US" sz="1800" dirty="0"/>
              <a:t>安全上下文：是主体和对象的标签（</a:t>
            </a:r>
            <a:r>
              <a:rPr lang="en" altLang="zh-CN" sz="1800" dirty="0"/>
              <a:t>Label</a:t>
            </a:r>
            <a:r>
              <a:rPr lang="zh-CN" altLang="en" sz="1800" dirty="0"/>
              <a:t>）</a:t>
            </a:r>
            <a:endParaRPr lang="en-US" altLang="zh-CN" sz="1800" dirty="0"/>
          </a:p>
          <a:p>
            <a:pPr lvl="1"/>
            <a:r>
              <a:rPr lang="zh-CN" altLang="en-US" sz="1600" dirty="0"/>
              <a:t>用于访问时的权限检查</a:t>
            </a:r>
            <a:endParaRPr lang="en-US" altLang="zh-CN" sz="1600" dirty="0"/>
          </a:p>
          <a:p>
            <a:pPr lvl="1"/>
            <a:r>
              <a:rPr lang="zh-CN" altLang="en-US" sz="1600" dirty="0"/>
              <a:t>可通过</a:t>
            </a:r>
            <a:r>
              <a:rPr lang="en-US" altLang="zh-CN" sz="1600" dirty="0"/>
              <a:t>"</a:t>
            </a:r>
            <a:r>
              <a:rPr lang="en" altLang="zh-CN" sz="1600" dirty="0"/>
              <a:t>ls -Z"</a:t>
            </a:r>
            <a:r>
              <a:rPr lang="zh-CN" altLang="en-US" sz="1600" dirty="0"/>
              <a:t>的命令来查看文件对应的安全上下文</a:t>
            </a:r>
          </a:p>
          <a:p>
            <a:endParaRPr kumimoji="1" lang="zh-CN" altLang="en-US" sz="1800" dirty="0"/>
          </a:p>
        </p:txBody>
      </p:sp>
      <p:sp>
        <p:nvSpPr>
          <p:cNvPr id="4" name="灯片编号占位符 3">
            <a:extLst>
              <a:ext uri="{FF2B5EF4-FFF2-40B4-BE49-F238E27FC236}">
                <a16:creationId xmlns:a16="http://schemas.microsoft.com/office/drawing/2014/main" id="{87B3CB3D-DFBE-2247-BC13-CA814E0671CE}"/>
              </a:ext>
            </a:extLst>
          </p:cNvPr>
          <p:cNvSpPr>
            <a:spLocks noGrp="1"/>
          </p:cNvSpPr>
          <p:nvPr>
            <p:ph type="sldNum" sz="quarter" idx="12"/>
          </p:nvPr>
        </p:nvSpPr>
        <p:spPr/>
        <p:txBody>
          <a:bodyPr/>
          <a:lstStyle/>
          <a:p>
            <a:fld id="{ADE361C3-C043-4A6E-BDCE-8DA1E7D90A3B}" type="slidenum">
              <a:rPr lang="zh-CN" altLang="en-US" smtClean="0"/>
              <a:t>15</a:t>
            </a:fld>
            <a:endParaRPr lang="zh-CN" altLang="en-US"/>
          </a:p>
        </p:txBody>
      </p:sp>
      <p:sp>
        <p:nvSpPr>
          <p:cNvPr id="5" name="页脚占位符 4">
            <a:extLst>
              <a:ext uri="{FF2B5EF4-FFF2-40B4-BE49-F238E27FC236}">
                <a16:creationId xmlns:a16="http://schemas.microsoft.com/office/drawing/2014/main" id="{FD96382A-2AF2-AC40-AB9F-F98FD81C00C8}"/>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367392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C0D87F-A3A6-854B-931D-93843E298ABF}"/>
              </a:ext>
            </a:extLst>
          </p:cNvPr>
          <p:cNvSpPr>
            <a:spLocks noGrp="1"/>
          </p:cNvSpPr>
          <p:nvPr>
            <p:ph type="title"/>
          </p:nvPr>
        </p:nvSpPr>
        <p:spPr/>
        <p:txBody>
          <a:bodyPr/>
          <a:lstStyle/>
          <a:p>
            <a:r>
              <a:rPr kumimoji="1" lang="en-US" altLang="zh-CN" dirty="0" err="1"/>
              <a:t>SELinux</a:t>
            </a:r>
            <a:r>
              <a:rPr kumimoji="1" lang="zh-CN" altLang="en-US" dirty="0"/>
              <a:t>的访问向量</a:t>
            </a:r>
          </a:p>
        </p:txBody>
      </p:sp>
      <p:sp>
        <p:nvSpPr>
          <p:cNvPr id="3" name="内容占位符 2">
            <a:extLst>
              <a:ext uri="{FF2B5EF4-FFF2-40B4-BE49-F238E27FC236}">
                <a16:creationId xmlns:a16="http://schemas.microsoft.com/office/drawing/2014/main" id="{4DB43B3A-A794-D74F-AE6E-C5286B4DB566}"/>
              </a:ext>
            </a:extLst>
          </p:cNvPr>
          <p:cNvSpPr>
            <a:spLocks noGrp="1"/>
          </p:cNvSpPr>
          <p:nvPr>
            <p:ph idx="1"/>
          </p:nvPr>
        </p:nvSpPr>
        <p:spPr/>
        <p:txBody>
          <a:bodyPr/>
          <a:lstStyle/>
          <a:p>
            <a:r>
              <a:rPr lang="en" altLang="zh-CN" dirty="0" err="1"/>
              <a:t>SELinux</a:t>
            </a:r>
            <a:r>
              <a:rPr lang="en" altLang="zh-CN" dirty="0"/>
              <a:t> </a:t>
            </a:r>
            <a:r>
              <a:rPr lang="zh-CN" altLang="en-US" dirty="0"/>
              <a:t>将访问控制抽象为一个问题：</a:t>
            </a:r>
            <a:endParaRPr lang="en-US" altLang="zh-CN" dirty="0"/>
          </a:p>
          <a:p>
            <a:pPr lvl="1"/>
            <a:r>
              <a:rPr lang="zh-CN" altLang="en-US" dirty="0"/>
              <a:t>一个 </a:t>
            </a:r>
            <a:r>
              <a:rPr lang="en-US" altLang="zh-CN" dirty="0"/>
              <a:t>&lt; </a:t>
            </a:r>
            <a:r>
              <a:rPr lang="zh-CN" altLang="en-US" b="1" dirty="0">
                <a:solidFill>
                  <a:schemeClr val="accent1"/>
                </a:solidFill>
              </a:rPr>
              <a:t>主体</a:t>
            </a:r>
            <a:r>
              <a:rPr lang="zh-CN" altLang="en-US" dirty="0"/>
              <a:t> </a:t>
            </a:r>
            <a:r>
              <a:rPr lang="en-US" altLang="zh-CN" dirty="0"/>
              <a:t>&gt; </a:t>
            </a:r>
            <a:r>
              <a:rPr lang="zh-CN" altLang="en-US" dirty="0"/>
              <a:t>是否可以在一个 </a:t>
            </a:r>
            <a:r>
              <a:rPr lang="en-US" altLang="zh-CN" dirty="0"/>
              <a:t>&lt; </a:t>
            </a:r>
            <a:r>
              <a:rPr lang="zh-CN" altLang="en-US" b="1" dirty="0">
                <a:solidFill>
                  <a:schemeClr val="accent1"/>
                </a:solidFill>
              </a:rPr>
              <a:t>对象</a:t>
            </a:r>
            <a:r>
              <a:rPr lang="zh-CN" altLang="en-US" dirty="0"/>
              <a:t> </a:t>
            </a:r>
            <a:r>
              <a:rPr lang="en-US" altLang="zh-CN" dirty="0"/>
              <a:t>&gt; </a:t>
            </a:r>
            <a:r>
              <a:rPr lang="zh-CN" altLang="en-US" dirty="0"/>
              <a:t>上做一个 </a:t>
            </a:r>
            <a:r>
              <a:rPr lang="en-US" altLang="zh-CN" dirty="0"/>
              <a:t>&lt; </a:t>
            </a:r>
            <a:r>
              <a:rPr lang="zh-CN" altLang="en-US" b="1" dirty="0">
                <a:solidFill>
                  <a:schemeClr val="accent1"/>
                </a:solidFill>
              </a:rPr>
              <a:t>操作</a:t>
            </a:r>
            <a:r>
              <a:rPr lang="zh-CN" altLang="en-US" dirty="0"/>
              <a:t> </a:t>
            </a:r>
            <a:r>
              <a:rPr lang="en-US" altLang="zh-CN" dirty="0"/>
              <a:t>&gt;</a:t>
            </a:r>
          </a:p>
          <a:p>
            <a:pPr lvl="1"/>
            <a:r>
              <a:rPr lang="en-US" altLang="zh-CN" dirty="0"/>
              <a:t>3W:</a:t>
            </a:r>
            <a:r>
              <a:rPr lang="zh-CN" altLang="en-US" dirty="0"/>
              <a:t> </a:t>
            </a:r>
            <a:r>
              <a:rPr lang="en-US" altLang="zh-CN" dirty="0">
                <a:solidFill>
                  <a:schemeClr val="accent1"/>
                </a:solidFill>
              </a:rPr>
              <a:t>W</a:t>
            </a:r>
            <a:r>
              <a:rPr lang="en-US" altLang="zh-CN" dirty="0"/>
              <a:t>ho,</a:t>
            </a:r>
            <a:r>
              <a:rPr lang="zh-CN" altLang="en-US" dirty="0"/>
              <a:t> </a:t>
            </a:r>
            <a:r>
              <a:rPr lang="en-US" altLang="zh-CN" dirty="0">
                <a:solidFill>
                  <a:schemeClr val="accent1"/>
                </a:solidFill>
              </a:rPr>
              <a:t>W</a:t>
            </a:r>
            <a:r>
              <a:rPr lang="en-US" altLang="zh-CN" dirty="0"/>
              <a:t>hich</a:t>
            </a:r>
            <a:r>
              <a:rPr lang="zh-CN" altLang="en-US" dirty="0"/>
              <a:t> </a:t>
            </a:r>
            <a:r>
              <a:rPr lang="en-US" altLang="zh-CN" dirty="0"/>
              <a:t>(obj),</a:t>
            </a:r>
            <a:r>
              <a:rPr lang="zh-CN" altLang="en-US" dirty="0"/>
              <a:t> </a:t>
            </a:r>
            <a:r>
              <a:rPr lang="en-US" altLang="zh-CN" dirty="0">
                <a:solidFill>
                  <a:schemeClr val="accent1"/>
                </a:solidFill>
              </a:rPr>
              <a:t>W</a:t>
            </a:r>
            <a:r>
              <a:rPr lang="en-US" altLang="zh-CN" dirty="0"/>
              <a:t>hat</a:t>
            </a:r>
            <a:r>
              <a:rPr lang="zh-CN" altLang="en-US" dirty="0"/>
              <a:t> </a:t>
            </a:r>
            <a:r>
              <a:rPr lang="en-US" altLang="zh-CN" dirty="0"/>
              <a:t>(operation)</a:t>
            </a:r>
          </a:p>
          <a:p>
            <a:r>
              <a:rPr lang="en" altLang="zh-CN" dirty="0"/>
              <a:t>AVC:</a:t>
            </a:r>
            <a:r>
              <a:rPr lang="zh-CN" altLang="en-US" dirty="0"/>
              <a:t> </a:t>
            </a:r>
            <a:r>
              <a:rPr lang="en" altLang="zh-CN" dirty="0"/>
              <a:t>Access Vector Cache</a:t>
            </a:r>
          </a:p>
          <a:p>
            <a:pPr lvl="1"/>
            <a:r>
              <a:rPr lang="en-US" altLang="zh-CN" dirty="0" err="1"/>
              <a:t>SELinux</a:t>
            </a:r>
            <a:r>
              <a:rPr lang="zh-CN" altLang="en-US" dirty="0"/>
              <a:t> 会先查询</a:t>
            </a:r>
            <a:r>
              <a:rPr lang="en-US" altLang="zh-CN" dirty="0"/>
              <a:t>AVC</a:t>
            </a:r>
            <a:r>
              <a:rPr lang="zh-CN" altLang="en-US" dirty="0"/>
              <a:t>，若查不到，则再查询安全服务器</a:t>
            </a:r>
            <a:endParaRPr lang="en-US" altLang="zh-CN" dirty="0"/>
          </a:p>
          <a:p>
            <a:pPr lvl="1"/>
            <a:r>
              <a:rPr lang="zh-CN" altLang="en-US" dirty="0"/>
              <a:t>安全服务器在策略数据库中查找相应的安全上下文进行判断</a:t>
            </a:r>
            <a:endParaRPr lang="en-US" altLang="zh-CN" dirty="0"/>
          </a:p>
          <a:p>
            <a:endParaRPr kumimoji="1" lang="zh-CN" altLang="en-US" dirty="0"/>
          </a:p>
        </p:txBody>
      </p:sp>
      <p:sp>
        <p:nvSpPr>
          <p:cNvPr id="4" name="灯片编号占位符 3">
            <a:extLst>
              <a:ext uri="{FF2B5EF4-FFF2-40B4-BE49-F238E27FC236}">
                <a16:creationId xmlns:a16="http://schemas.microsoft.com/office/drawing/2014/main" id="{3212D6D5-3510-6A46-8008-975C73EB4BD3}"/>
              </a:ext>
            </a:extLst>
          </p:cNvPr>
          <p:cNvSpPr>
            <a:spLocks noGrp="1"/>
          </p:cNvSpPr>
          <p:nvPr>
            <p:ph type="sldNum" sz="quarter" idx="12"/>
          </p:nvPr>
        </p:nvSpPr>
        <p:spPr/>
        <p:txBody>
          <a:bodyPr/>
          <a:lstStyle/>
          <a:p>
            <a:fld id="{ADE361C3-C043-4A6E-BDCE-8DA1E7D90A3B}" type="slidenum">
              <a:rPr lang="zh-CN" altLang="en-US" smtClean="0"/>
              <a:t>16</a:t>
            </a:fld>
            <a:endParaRPr lang="zh-CN" altLang="en-US"/>
          </a:p>
        </p:txBody>
      </p:sp>
      <p:sp>
        <p:nvSpPr>
          <p:cNvPr id="5" name="页脚占位符 4">
            <a:extLst>
              <a:ext uri="{FF2B5EF4-FFF2-40B4-BE49-F238E27FC236}">
                <a16:creationId xmlns:a16="http://schemas.microsoft.com/office/drawing/2014/main" id="{6614D2EA-FB42-4C4E-BDE0-160AA05E34D7}"/>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0189054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0AC6E-DB4A-9541-B1EB-B1446EDF987E}"/>
              </a:ext>
            </a:extLst>
          </p:cNvPr>
          <p:cNvSpPr>
            <a:spLocks noGrp="1"/>
          </p:cNvSpPr>
          <p:nvPr>
            <p:ph type="title"/>
          </p:nvPr>
        </p:nvSpPr>
        <p:spPr/>
        <p:txBody>
          <a:bodyPr/>
          <a:lstStyle/>
          <a:p>
            <a:r>
              <a:rPr kumimoji="1" lang="en-US" altLang="zh-CN" dirty="0" err="1"/>
              <a:t>SELinux</a:t>
            </a:r>
            <a:r>
              <a:rPr kumimoji="1" lang="zh-CN" altLang="en-US" dirty="0"/>
              <a:t>的安全上下文</a:t>
            </a:r>
          </a:p>
        </p:txBody>
      </p:sp>
      <p:sp>
        <p:nvSpPr>
          <p:cNvPr id="3" name="内容占位符 2">
            <a:extLst>
              <a:ext uri="{FF2B5EF4-FFF2-40B4-BE49-F238E27FC236}">
                <a16:creationId xmlns:a16="http://schemas.microsoft.com/office/drawing/2014/main" id="{9F2FDA17-0497-5241-A5F2-8DD0336EBC85}"/>
              </a:ext>
            </a:extLst>
          </p:cNvPr>
          <p:cNvSpPr>
            <a:spLocks noGrp="1"/>
          </p:cNvSpPr>
          <p:nvPr>
            <p:ph idx="1"/>
          </p:nvPr>
        </p:nvSpPr>
        <p:spPr/>
        <p:txBody>
          <a:bodyPr>
            <a:normAutofit lnSpcReduction="10000"/>
          </a:bodyPr>
          <a:lstStyle/>
          <a:p>
            <a:r>
              <a:rPr kumimoji="1" lang="en-US" altLang="zh-CN" sz="2000" dirty="0" err="1"/>
              <a:t>SELinux</a:t>
            </a:r>
            <a:r>
              <a:rPr kumimoji="1" lang="zh-CN" altLang="en-US" sz="2000" dirty="0"/>
              <a:t>本质上是一个标签系统</a:t>
            </a:r>
            <a:endParaRPr kumimoji="1" lang="en-US" altLang="zh-CN" sz="2000" dirty="0"/>
          </a:p>
          <a:p>
            <a:pPr lvl="1"/>
            <a:r>
              <a:rPr kumimoji="1" lang="zh-CN" altLang="en-US" sz="1800" dirty="0"/>
              <a:t>所有的主体和对象都对应了各自的标签</a:t>
            </a:r>
            <a:endParaRPr kumimoji="1" lang="en-US" altLang="zh-CN" sz="1800" dirty="0"/>
          </a:p>
          <a:p>
            <a:r>
              <a:rPr kumimoji="1" lang="zh-CN" altLang="en-US" sz="2000" dirty="0"/>
              <a:t>标签的格式 </a:t>
            </a:r>
            <a:r>
              <a:rPr kumimoji="1" lang="en-US" altLang="zh-CN" sz="2000" dirty="0"/>
              <a:t>&lt;</a:t>
            </a:r>
            <a:r>
              <a:rPr kumimoji="1" lang="zh-CN" altLang="en-US" sz="2000" dirty="0"/>
              <a:t>用户</a:t>
            </a:r>
            <a:r>
              <a:rPr kumimoji="1" lang="en-US" altLang="zh-CN" sz="2000" dirty="0"/>
              <a:t>:</a:t>
            </a:r>
            <a:r>
              <a:rPr kumimoji="1" lang="zh-CN" altLang="en-US" sz="2000" dirty="0"/>
              <a:t>角色</a:t>
            </a:r>
            <a:r>
              <a:rPr kumimoji="1" lang="en-US" altLang="zh-CN" sz="2000" dirty="0"/>
              <a:t>:</a:t>
            </a:r>
            <a:r>
              <a:rPr kumimoji="1" lang="zh-CN" altLang="en-US" sz="2000" dirty="0"/>
              <a:t>类型</a:t>
            </a:r>
            <a:r>
              <a:rPr kumimoji="1" lang="en-US" altLang="zh-CN" sz="2000" dirty="0"/>
              <a:t>:MLS</a:t>
            </a:r>
            <a:r>
              <a:rPr kumimoji="1" lang="zh-CN" altLang="en-US" sz="2000" dirty="0"/>
              <a:t>层级</a:t>
            </a:r>
            <a:r>
              <a:rPr kumimoji="1" lang="en-US" altLang="zh-CN" sz="2000" dirty="0"/>
              <a:t>&gt;</a:t>
            </a:r>
          </a:p>
          <a:p>
            <a:pPr lvl="1"/>
            <a:r>
              <a:rPr kumimoji="1" lang="zh-CN" altLang="en-US" sz="1800" dirty="0"/>
              <a:t>用户登录后，系统根据角色分配给用户一个安全上下文</a:t>
            </a:r>
            <a:endParaRPr kumimoji="1" lang="en-US" altLang="zh-CN" sz="1800" dirty="0"/>
          </a:p>
          <a:p>
            <a:pPr lvl="1"/>
            <a:r>
              <a:rPr kumimoji="1" lang="zh-CN" altLang="en-US" sz="1800" dirty="0"/>
              <a:t>类型（</a:t>
            </a:r>
            <a:r>
              <a:rPr kumimoji="1" lang="en-US" altLang="zh-CN" sz="1800" dirty="0"/>
              <a:t>Type</a:t>
            </a:r>
            <a:r>
              <a:rPr kumimoji="1" lang="zh-CN" altLang="en-US" sz="1800" dirty="0"/>
              <a:t>）用于实现访问控制</a:t>
            </a:r>
            <a:endParaRPr kumimoji="1" lang="en-US" altLang="zh-CN" sz="1800" dirty="0"/>
          </a:p>
          <a:p>
            <a:pPr lvl="2"/>
            <a:r>
              <a:rPr kumimoji="1" lang="zh-CN" altLang="en-US" sz="1800" dirty="0"/>
              <a:t>每个对象都有一个 </a:t>
            </a:r>
            <a:r>
              <a:rPr kumimoji="1" lang="en-US" altLang="zh-CN" sz="1800" b="1" dirty="0">
                <a:solidFill>
                  <a:schemeClr val="accent1"/>
                </a:solidFill>
              </a:rPr>
              <a:t>type</a:t>
            </a:r>
          </a:p>
          <a:p>
            <a:pPr lvl="2"/>
            <a:r>
              <a:rPr kumimoji="1" lang="zh-CN" altLang="en-US" sz="1800" dirty="0"/>
              <a:t>每个进程的</a:t>
            </a:r>
            <a:r>
              <a:rPr kumimoji="1" lang="en-US" altLang="zh-CN" sz="1800" dirty="0"/>
              <a:t>type</a:t>
            </a:r>
            <a:r>
              <a:rPr kumimoji="1" lang="zh-CN" altLang="en-US" sz="1800" dirty="0"/>
              <a:t>称为 </a:t>
            </a:r>
            <a:r>
              <a:rPr kumimoji="1" lang="en-US" altLang="zh-CN" sz="1800" b="1" dirty="0">
                <a:solidFill>
                  <a:schemeClr val="accent1"/>
                </a:solidFill>
              </a:rPr>
              <a:t>domain</a:t>
            </a:r>
          </a:p>
          <a:p>
            <a:pPr lvl="3"/>
            <a:r>
              <a:rPr kumimoji="1" lang="zh-CN" altLang="en-US" sz="1600" dirty="0"/>
              <a:t>一个角色对应一个</a:t>
            </a:r>
            <a:r>
              <a:rPr kumimoji="1" lang="en-US" altLang="zh-CN" sz="1600" dirty="0"/>
              <a:t>domain</a:t>
            </a:r>
          </a:p>
          <a:p>
            <a:pPr lvl="3"/>
            <a:r>
              <a:rPr kumimoji="1" lang="zh-CN" altLang="en-US" sz="1600" dirty="0"/>
              <a:t>重要的服务进程被标记为特定的</a:t>
            </a:r>
            <a:r>
              <a:rPr kumimoji="1" lang="en-US" altLang="zh-CN" sz="1600" dirty="0"/>
              <a:t>domain</a:t>
            </a:r>
          </a:p>
          <a:p>
            <a:pPr lvl="3">
              <a:lnSpc>
                <a:spcPct val="130000"/>
              </a:lnSpc>
            </a:pPr>
            <a:r>
              <a:rPr kumimoji="1" lang="zh-CN" altLang="en-US" sz="1600" dirty="0"/>
              <a:t>例如：</a:t>
            </a:r>
            <a:r>
              <a:rPr kumimoji="1" lang="en" altLang="zh-CN" sz="1600" dirty="0"/>
              <a:t>/</a:t>
            </a:r>
            <a:r>
              <a:rPr kumimoji="1" lang="en" altLang="zh-CN" sz="1600" dirty="0" err="1"/>
              <a:t>usr</a:t>
            </a:r>
            <a:r>
              <a:rPr kumimoji="1" lang="en" altLang="zh-CN" sz="1600" dirty="0"/>
              <a:t>/</a:t>
            </a:r>
            <a:r>
              <a:rPr kumimoji="1" lang="en" altLang="zh-CN" sz="1600" dirty="0" err="1"/>
              <a:t>sbin</a:t>
            </a:r>
            <a:r>
              <a:rPr kumimoji="1" lang="en" altLang="zh-CN" sz="1600" dirty="0"/>
              <a:t>/</a:t>
            </a:r>
            <a:r>
              <a:rPr kumimoji="1" lang="en" altLang="zh-CN" sz="1600" dirty="0" err="1"/>
              <a:t>sshd</a:t>
            </a:r>
            <a:r>
              <a:rPr kumimoji="1" lang="en" altLang="zh-CN" sz="1600" dirty="0"/>
              <a:t> </a:t>
            </a:r>
            <a:r>
              <a:rPr kumimoji="1" lang="zh-CN" altLang="en-US" sz="1600" dirty="0"/>
              <a:t>的类型为 </a:t>
            </a:r>
            <a:r>
              <a:rPr kumimoji="1" lang="en" altLang="zh-CN" sz="1600" dirty="0" err="1"/>
              <a:t>sshd_exec_t</a:t>
            </a:r>
            <a:endParaRPr kumimoji="1" lang="en" altLang="zh-CN" sz="1600" dirty="0"/>
          </a:p>
        </p:txBody>
      </p:sp>
      <p:sp>
        <p:nvSpPr>
          <p:cNvPr id="4" name="灯片编号占位符 3">
            <a:extLst>
              <a:ext uri="{FF2B5EF4-FFF2-40B4-BE49-F238E27FC236}">
                <a16:creationId xmlns:a16="http://schemas.microsoft.com/office/drawing/2014/main" id="{F969E274-FF27-EC4F-8836-7A79B9BCAAA6}"/>
              </a:ext>
            </a:extLst>
          </p:cNvPr>
          <p:cNvSpPr>
            <a:spLocks noGrp="1"/>
          </p:cNvSpPr>
          <p:nvPr>
            <p:ph type="sldNum" sz="quarter" idx="12"/>
          </p:nvPr>
        </p:nvSpPr>
        <p:spPr/>
        <p:txBody>
          <a:bodyPr/>
          <a:lstStyle/>
          <a:p>
            <a:fld id="{ADE361C3-C043-4A6E-BDCE-8DA1E7D90A3B}" type="slidenum">
              <a:rPr lang="zh-CN" altLang="en-US" smtClean="0"/>
              <a:t>17</a:t>
            </a:fld>
            <a:endParaRPr lang="zh-CN" altLang="en-US"/>
          </a:p>
        </p:txBody>
      </p:sp>
      <p:sp>
        <p:nvSpPr>
          <p:cNvPr id="5" name="页脚占位符 4">
            <a:extLst>
              <a:ext uri="{FF2B5EF4-FFF2-40B4-BE49-F238E27FC236}">
                <a16:creationId xmlns:a16="http://schemas.microsoft.com/office/drawing/2014/main" id="{34679918-0FEA-E341-923C-B8E8FB62EB9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8768507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D8724B-AD74-A74D-B926-131815AE3E72}"/>
              </a:ext>
            </a:extLst>
          </p:cNvPr>
          <p:cNvSpPr>
            <a:spLocks noGrp="1"/>
          </p:cNvSpPr>
          <p:nvPr>
            <p:ph type="title"/>
          </p:nvPr>
        </p:nvSpPr>
        <p:spPr/>
        <p:txBody>
          <a:bodyPr/>
          <a:lstStyle/>
          <a:p>
            <a:r>
              <a:rPr kumimoji="1" lang="zh-CN" altLang="en-US" dirty="0"/>
              <a:t>进程的</a:t>
            </a:r>
            <a:r>
              <a:rPr kumimoji="1" lang="en-US" altLang="zh-CN" dirty="0"/>
              <a:t>domain</a:t>
            </a:r>
            <a:r>
              <a:rPr kumimoji="1" lang="zh-CN" altLang="en-US" dirty="0"/>
              <a:t>与对象的</a:t>
            </a:r>
            <a:r>
              <a:rPr kumimoji="1" lang="en-US" altLang="zh-CN" dirty="0"/>
              <a:t>type</a:t>
            </a:r>
            <a:endParaRPr kumimoji="1" lang="zh-CN" altLang="en-US" dirty="0"/>
          </a:p>
        </p:txBody>
      </p:sp>
      <p:sp>
        <p:nvSpPr>
          <p:cNvPr id="4" name="灯片编号占位符 3">
            <a:extLst>
              <a:ext uri="{FF2B5EF4-FFF2-40B4-BE49-F238E27FC236}">
                <a16:creationId xmlns:a16="http://schemas.microsoft.com/office/drawing/2014/main" id="{A7F88968-2731-CD46-8EE6-B661C9D0ADD4}"/>
              </a:ext>
            </a:extLst>
          </p:cNvPr>
          <p:cNvSpPr>
            <a:spLocks noGrp="1"/>
          </p:cNvSpPr>
          <p:nvPr>
            <p:ph type="sldNum" sz="quarter" idx="12"/>
          </p:nvPr>
        </p:nvSpPr>
        <p:spPr/>
        <p:txBody>
          <a:bodyPr/>
          <a:lstStyle/>
          <a:p>
            <a:fld id="{ADE361C3-C043-4A6E-BDCE-8DA1E7D90A3B}" type="slidenum">
              <a:rPr lang="zh-CN" altLang="en-US" smtClean="0"/>
              <a:t>18</a:t>
            </a:fld>
            <a:endParaRPr lang="zh-CN" altLang="en-US"/>
          </a:p>
        </p:txBody>
      </p:sp>
      <p:sp>
        <p:nvSpPr>
          <p:cNvPr id="5" name="页脚占位符 4">
            <a:extLst>
              <a:ext uri="{FF2B5EF4-FFF2-40B4-BE49-F238E27FC236}">
                <a16:creationId xmlns:a16="http://schemas.microsoft.com/office/drawing/2014/main" id="{EABAC837-0ADB-7F43-986A-F67F267143C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FB46D5B5-8B85-9242-8D0D-424D2815FF0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475656" y="1306701"/>
            <a:ext cx="6567636" cy="3825236"/>
          </a:xfrm>
          <a:prstGeom prst="rect">
            <a:avLst/>
          </a:prstGeom>
        </p:spPr>
      </p:pic>
      <p:sp>
        <p:nvSpPr>
          <p:cNvPr id="7" name="矩形 6">
            <a:extLst>
              <a:ext uri="{FF2B5EF4-FFF2-40B4-BE49-F238E27FC236}">
                <a16:creationId xmlns:a16="http://schemas.microsoft.com/office/drawing/2014/main" id="{3E7266C1-9F99-3743-A197-EC1594731432}"/>
              </a:ext>
            </a:extLst>
          </p:cNvPr>
          <p:cNvSpPr/>
          <p:nvPr/>
        </p:nvSpPr>
        <p:spPr>
          <a:xfrm>
            <a:off x="4230216" y="4941855"/>
            <a:ext cx="4572000" cy="276999"/>
          </a:xfrm>
          <a:prstGeom prst="rect">
            <a:avLst/>
          </a:prstGeom>
        </p:spPr>
        <p:txBody>
          <a:bodyPr>
            <a:spAutoFit/>
          </a:bodyPr>
          <a:lstStyle/>
          <a:p>
            <a:r>
              <a:rPr lang="en" altLang="zh-CN" sz="1200" dirty="0">
                <a:solidFill>
                  <a:srgbClr val="000000"/>
                </a:solidFill>
              </a:rPr>
              <a:t>https://</a:t>
            </a:r>
            <a:r>
              <a:rPr lang="en" altLang="zh-CN" sz="1200" dirty="0" err="1">
                <a:solidFill>
                  <a:srgbClr val="000000"/>
                </a:solidFill>
              </a:rPr>
              <a:t>debian-handbook.info</a:t>
            </a:r>
            <a:r>
              <a:rPr lang="en" altLang="zh-CN" sz="1200" dirty="0">
                <a:solidFill>
                  <a:srgbClr val="000000"/>
                </a:solidFill>
              </a:rPr>
              <a:t>/browse/stable/</a:t>
            </a:r>
            <a:r>
              <a:rPr lang="en" altLang="zh-CN" sz="1200" dirty="0" err="1">
                <a:solidFill>
                  <a:srgbClr val="000000"/>
                </a:solidFill>
              </a:rPr>
              <a:t>sect.selinux.html</a:t>
            </a:r>
            <a:endParaRPr lang="en" altLang="zh-CN" sz="1200" dirty="0">
              <a:solidFill>
                <a:srgbClr val="000000"/>
              </a:solidFill>
            </a:endParaRPr>
          </a:p>
        </p:txBody>
      </p:sp>
    </p:spTree>
    <p:extLst>
      <p:ext uri="{BB962C8B-B14F-4D97-AF65-F5344CB8AC3E}">
        <p14:creationId xmlns:p14="http://schemas.microsoft.com/office/powerpoint/2010/main" val="11869155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85697FAF-3EFD-6146-8D1F-74050F26BD4F}"/>
              </a:ext>
            </a:extLst>
          </p:cNvPr>
          <p:cNvSpPr>
            <a:spLocks noGrp="1"/>
          </p:cNvSpPr>
          <p:nvPr>
            <p:ph type="sldNum" sz="quarter" idx="12"/>
          </p:nvPr>
        </p:nvSpPr>
        <p:spPr/>
        <p:txBody>
          <a:bodyPr/>
          <a:lstStyle/>
          <a:p>
            <a:fld id="{ADE361C3-C043-4A6E-BDCE-8DA1E7D90A3B}" type="slidenum">
              <a:rPr lang="zh-CN" altLang="en-US" smtClean="0"/>
              <a:t>19</a:t>
            </a:fld>
            <a:endParaRPr lang="zh-CN" altLang="en-US"/>
          </a:p>
        </p:txBody>
      </p:sp>
      <p:sp>
        <p:nvSpPr>
          <p:cNvPr id="5" name="页脚占位符 4">
            <a:extLst>
              <a:ext uri="{FF2B5EF4-FFF2-40B4-BE49-F238E27FC236}">
                <a16:creationId xmlns:a16="http://schemas.microsoft.com/office/drawing/2014/main" id="{6430FAD1-73EE-9841-9B28-E3B8ED3B7F62}"/>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
        <p:nvSpPr>
          <p:cNvPr id="7" name="标题 6">
            <a:extLst>
              <a:ext uri="{FF2B5EF4-FFF2-40B4-BE49-F238E27FC236}">
                <a16:creationId xmlns:a16="http://schemas.microsoft.com/office/drawing/2014/main" id="{E3F530DD-CEE2-6E4E-9FE4-679D2E081389}"/>
              </a:ext>
            </a:extLst>
          </p:cNvPr>
          <p:cNvSpPr>
            <a:spLocks noGrp="1"/>
          </p:cNvSpPr>
          <p:nvPr>
            <p:ph type="title"/>
          </p:nvPr>
        </p:nvSpPr>
        <p:spPr/>
        <p:txBody>
          <a:bodyPr/>
          <a:lstStyle/>
          <a:p>
            <a:r>
              <a:rPr lang="zh-CN" altLang="en-US" dirty="0"/>
              <a:t>实例</a:t>
            </a:r>
          </a:p>
        </p:txBody>
      </p:sp>
      <p:pic>
        <p:nvPicPr>
          <p:cNvPr id="6" name="内容占位符 5">
            <a:extLst>
              <a:ext uri="{FF2B5EF4-FFF2-40B4-BE49-F238E27FC236}">
                <a16:creationId xmlns:a16="http://schemas.microsoft.com/office/drawing/2014/main" id="{6D20B3AE-8E9E-BD42-90C2-3BCC0A9C23B6}"/>
              </a:ext>
            </a:extLst>
          </p:cNvPr>
          <p:cNvPicPr>
            <a:picLocks noGrp="1" noChangeAspect="1"/>
          </p:cNvPicPr>
          <p:nvPr>
            <p:ph idx="1"/>
          </p:nvPr>
        </p:nvPicPr>
        <p:blipFill>
          <a:blip r:embed="rId2" cstate="screen">
            <a:extLst>
              <a:ext uri="{28A0092B-C50C-407E-A947-70E740481C1C}">
                <a14:useLocalDpi xmlns:a14="http://schemas.microsoft.com/office/drawing/2010/main"/>
              </a:ext>
            </a:extLst>
          </a:blip>
          <a:stretch>
            <a:fillRect/>
          </a:stretch>
        </p:blipFill>
        <p:spPr>
          <a:xfrm>
            <a:off x="457200" y="3763149"/>
            <a:ext cx="8229600" cy="2881451"/>
          </a:xfrm>
          <a:prstGeom prst="rect">
            <a:avLst/>
          </a:prstGeom>
        </p:spPr>
      </p:pic>
      <p:pic>
        <p:nvPicPr>
          <p:cNvPr id="8" name="图片 7">
            <a:extLst>
              <a:ext uri="{FF2B5EF4-FFF2-40B4-BE49-F238E27FC236}">
                <a16:creationId xmlns:a16="http://schemas.microsoft.com/office/drawing/2014/main" id="{06C3EE11-2AAF-5545-AD76-E85F61BB908E}"/>
              </a:ext>
            </a:extLst>
          </p:cNvPr>
          <p:cNvPicPr>
            <a:picLocks noChangeAspect="1"/>
          </p:cNvPicPr>
          <p:nvPr/>
        </p:nvPicPr>
        <p:blipFill>
          <a:blip r:embed="rId3"/>
          <a:stretch>
            <a:fillRect/>
          </a:stretch>
        </p:blipFill>
        <p:spPr>
          <a:xfrm>
            <a:off x="1625600" y="265708"/>
            <a:ext cx="5994400" cy="1696676"/>
          </a:xfrm>
          <a:prstGeom prst="rect">
            <a:avLst/>
          </a:prstGeom>
        </p:spPr>
      </p:pic>
      <p:pic>
        <p:nvPicPr>
          <p:cNvPr id="9" name="图片 8">
            <a:extLst>
              <a:ext uri="{FF2B5EF4-FFF2-40B4-BE49-F238E27FC236}">
                <a16:creationId xmlns:a16="http://schemas.microsoft.com/office/drawing/2014/main" id="{A5EA320D-50EF-FB42-BBB5-21049D310657}"/>
              </a:ext>
            </a:extLst>
          </p:cNvPr>
          <p:cNvPicPr>
            <a:picLocks noChangeAspect="1"/>
          </p:cNvPicPr>
          <p:nvPr/>
        </p:nvPicPr>
        <p:blipFill>
          <a:blip r:embed="rId4"/>
          <a:stretch>
            <a:fillRect/>
          </a:stretch>
        </p:blipFill>
        <p:spPr>
          <a:xfrm>
            <a:off x="1621780" y="1962384"/>
            <a:ext cx="5994400" cy="1111140"/>
          </a:xfrm>
          <a:prstGeom prst="rect">
            <a:avLst/>
          </a:prstGeom>
        </p:spPr>
      </p:pic>
      <p:sp>
        <p:nvSpPr>
          <p:cNvPr id="2" name="矩形 1">
            <a:extLst>
              <a:ext uri="{FF2B5EF4-FFF2-40B4-BE49-F238E27FC236}">
                <a16:creationId xmlns:a16="http://schemas.microsoft.com/office/drawing/2014/main" id="{6FB12507-6599-8C4A-9600-74D889A61A5A}"/>
              </a:ext>
            </a:extLst>
          </p:cNvPr>
          <p:cNvSpPr/>
          <p:nvPr/>
        </p:nvSpPr>
        <p:spPr>
          <a:xfrm>
            <a:off x="1621780" y="2857500"/>
            <a:ext cx="5686524" cy="216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a:extLst>
              <a:ext uri="{FF2B5EF4-FFF2-40B4-BE49-F238E27FC236}">
                <a16:creationId xmlns:a16="http://schemas.microsoft.com/office/drawing/2014/main" id="{0C2DB97C-1E5D-444A-A83C-55A600B436D0}"/>
              </a:ext>
            </a:extLst>
          </p:cNvPr>
          <p:cNvSpPr txBox="1"/>
          <p:nvPr/>
        </p:nvSpPr>
        <p:spPr>
          <a:xfrm>
            <a:off x="0" y="3311034"/>
            <a:ext cx="9144000" cy="338554"/>
          </a:xfrm>
          <a:prstGeom prst="rect">
            <a:avLst/>
          </a:prstGeom>
          <a:noFill/>
        </p:spPr>
        <p:txBody>
          <a:bodyPr wrap="square" rtlCol="0">
            <a:spAutoFit/>
          </a:bodyPr>
          <a:lstStyle/>
          <a:p>
            <a:pPr algn="ctr"/>
            <a:r>
              <a:rPr kumimoji="1" lang="en-US" altLang="zh-CN" sz="1600" dirty="0">
                <a:latin typeface="+mn-ea"/>
              </a:rPr>
              <a:t>page-2.html</a:t>
            </a:r>
            <a:r>
              <a:rPr kumimoji="1" lang="zh-CN" altLang="en-US" sz="1600" dirty="0">
                <a:latin typeface="+mn-ea"/>
              </a:rPr>
              <a:t> 被标记为 </a:t>
            </a:r>
            <a:r>
              <a:rPr kumimoji="1" lang="en-US" altLang="zh-CN" sz="1600" dirty="0" err="1">
                <a:latin typeface="+mn-ea"/>
              </a:rPr>
              <a:t>admin_home_t</a:t>
            </a:r>
            <a:r>
              <a:rPr kumimoji="1" lang="zh-CN" altLang="en-US" sz="1600" dirty="0">
                <a:latin typeface="+mn-ea"/>
              </a:rPr>
              <a:t>，即使被错误放入网页目录，也无法被</a:t>
            </a:r>
            <a:r>
              <a:rPr kumimoji="1" lang="en-US" altLang="zh-CN" sz="1600" dirty="0">
                <a:latin typeface="+mn-ea"/>
              </a:rPr>
              <a:t>apache</a:t>
            </a:r>
            <a:r>
              <a:rPr kumimoji="1" lang="zh-CN" altLang="en-US" sz="1600" dirty="0">
                <a:latin typeface="+mn-ea"/>
              </a:rPr>
              <a:t>访问</a:t>
            </a:r>
          </a:p>
        </p:txBody>
      </p:sp>
    </p:spTree>
    <p:extLst>
      <p:ext uri="{BB962C8B-B14F-4D97-AF65-F5344CB8AC3E}">
        <p14:creationId xmlns:p14="http://schemas.microsoft.com/office/powerpoint/2010/main" val="1048511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41B4C6A2-53C9-774F-8C3F-C4245EF7B1B0}"/>
              </a:ext>
            </a:extLst>
          </p:cNvPr>
          <p:cNvSpPr>
            <a:spLocks noGrp="1"/>
          </p:cNvSpPr>
          <p:nvPr>
            <p:ph type="title"/>
          </p:nvPr>
        </p:nvSpPr>
        <p:spPr/>
        <p:txBody>
          <a:bodyPr/>
          <a:lstStyle/>
          <a:p>
            <a:r>
              <a:rPr lang="zh-CN" altLang="en-US" dirty="0"/>
              <a:t>操作系统的漏洞</a:t>
            </a:r>
          </a:p>
        </p:txBody>
      </p:sp>
      <p:sp>
        <p:nvSpPr>
          <p:cNvPr id="7" name="文本占位符 6">
            <a:extLst>
              <a:ext uri="{FF2B5EF4-FFF2-40B4-BE49-F238E27FC236}">
                <a16:creationId xmlns:a16="http://schemas.microsoft.com/office/drawing/2014/main" id="{1001879A-8D77-0849-BAE1-274647A1597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0A1AEBF-DFF0-1C4F-A317-6FA063F8EC3A}"/>
              </a:ext>
            </a:extLst>
          </p:cNvPr>
          <p:cNvSpPr>
            <a:spLocks noGrp="1"/>
          </p:cNvSpPr>
          <p:nvPr>
            <p:ph type="sldNum" sz="quarter" idx="12"/>
          </p:nvPr>
        </p:nvSpPr>
        <p:spPr/>
        <p:txBody>
          <a:bodyPr/>
          <a:lstStyle/>
          <a:p>
            <a:fld id="{ADE361C3-C043-4A6E-BDCE-8DA1E7D90A3B}" type="slidenum">
              <a:rPr lang="zh-CN" altLang="en-US" smtClean="0"/>
              <a:t>20</a:t>
            </a:fld>
            <a:endParaRPr lang="zh-CN" altLang="en-US"/>
          </a:p>
        </p:txBody>
      </p:sp>
      <p:sp>
        <p:nvSpPr>
          <p:cNvPr id="5" name="页脚占位符 4">
            <a:extLst>
              <a:ext uri="{FF2B5EF4-FFF2-40B4-BE49-F238E27FC236}">
                <a16:creationId xmlns:a16="http://schemas.microsoft.com/office/drawing/2014/main" id="{D45012F6-E2F3-664D-A2AB-A5EF14480A2C}"/>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9519908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707289F-D399-6347-BC82-583459A6C8F8}"/>
              </a:ext>
            </a:extLst>
          </p:cNvPr>
          <p:cNvSpPr>
            <a:spLocks noGrp="1"/>
          </p:cNvSpPr>
          <p:nvPr>
            <p:ph type="title"/>
          </p:nvPr>
        </p:nvSpPr>
        <p:spPr/>
        <p:txBody>
          <a:bodyPr>
            <a:normAutofit/>
          </a:bodyPr>
          <a:lstStyle/>
          <a:p>
            <a:r>
              <a:rPr kumimoji="1" lang="zh-CN" altLang="en-US" dirty="0"/>
              <a:t>漏洞分类的三个角度</a:t>
            </a:r>
          </a:p>
        </p:txBody>
      </p:sp>
      <p:sp>
        <p:nvSpPr>
          <p:cNvPr id="3" name="内容占位符 2">
            <a:extLst>
              <a:ext uri="{FF2B5EF4-FFF2-40B4-BE49-F238E27FC236}">
                <a16:creationId xmlns:a16="http://schemas.microsoft.com/office/drawing/2014/main" id="{83054752-C8B2-E049-A98F-1394978A8B73}"/>
              </a:ext>
            </a:extLst>
          </p:cNvPr>
          <p:cNvSpPr>
            <a:spLocks noGrp="1"/>
          </p:cNvSpPr>
          <p:nvPr>
            <p:ph idx="1"/>
          </p:nvPr>
        </p:nvSpPr>
        <p:spPr>
          <a:xfrm>
            <a:off x="457200" y="1333501"/>
            <a:ext cx="7931224" cy="3771636"/>
          </a:xfrm>
        </p:spPr>
        <p:txBody>
          <a:bodyPr>
            <a:normAutofit fontScale="77500" lnSpcReduction="20000"/>
          </a:bodyPr>
          <a:lstStyle/>
          <a:p>
            <a:pPr>
              <a:lnSpc>
                <a:spcPct val="134000"/>
              </a:lnSpc>
            </a:pPr>
            <a:r>
              <a:rPr kumimoji="1" lang="zh-CN" altLang="en-US" sz="3100" dirty="0"/>
              <a:t>漏洞类型（指攻击所利用的漏洞类型）</a:t>
            </a:r>
            <a:endParaRPr kumimoji="1" lang="en-US" altLang="zh-CN" dirty="0"/>
          </a:p>
          <a:p>
            <a:pPr lvl="1">
              <a:lnSpc>
                <a:spcPct val="134000"/>
              </a:lnSpc>
            </a:pPr>
            <a:r>
              <a:rPr kumimoji="1" lang="zh-CN" altLang="en-US" sz="2600" dirty="0"/>
              <a:t>栈</a:t>
            </a:r>
            <a:r>
              <a:rPr kumimoji="1" lang="en-US" altLang="zh-CN" sz="2600" dirty="0"/>
              <a:t>/</a:t>
            </a:r>
            <a:r>
              <a:rPr kumimoji="1" lang="zh-CN" altLang="en-US" sz="2600" dirty="0"/>
              <a:t>堆缓冲区溢出、整形溢出、空指针</a:t>
            </a:r>
            <a:r>
              <a:rPr kumimoji="1" lang="en-US" altLang="zh-CN" sz="2600" dirty="0"/>
              <a:t>/</a:t>
            </a:r>
            <a:r>
              <a:rPr kumimoji="1" lang="zh-CN" altLang="en-US" sz="2600" dirty="0"/>
              <a:t>指针计算错误、内存暴露、</a:t>
            </a:r>
            <a:r>
              <a:rPr kumimoji="1" lang="en" altLang="zh-CN" sz="2600" dirty="0"/>
              <a:t>use-after-free</a:t>
            </a:r>
            <a:r>
              <a:rPr kumimoji="1" lang="zh-CN" altLang="en-US" sz="2600" dirty="0"/>
              <a:t>、</a:t>
            </a:r>
            <a:r>
              <a:rPr kumimoji="1" lang="en-US" altLang="zh-CN" sz="2600" dirty="0"/>
              <a:t>double-free</a:t>
            </a:r>
            <a:r>
              <a:rPr kumimoji="1" lang="zh-CN" altLang="en-US" sz="2600" dirty="0"/>
              <a:t>、未初始化读取、格式化字符串错误、竞争条件错误、参数检查错误、认证检查错误，等等等等</a:t>
            </a:r>
          </a:p>
          <a:p>
            <a:pPr>
              <a:lnSpc>
                <a:spcPct val="134000"/>
              </a:lnSpc>
            </a:pPr>
            <a:r>
              <a:rPr kumimoji="1" lang="zh-CN" altLang="en-US" sz="3100" dirty="0"/>
              <a:t>攻击模块（指攻击所利用漏洞的所在的模块）</a:t>
            </a:r>
            <a:endParaRPr kumimoji="1" lang="en-US" altLang="zh-CN" sz="3100" dirty="0"/>
          </a:p>
          <a:p>
            <a:pPr lvl="1">
              <a:lnSpc>
                <a:spcPct val="134000"/>
              </a:lnSpc>
            </a:pPr>
            <a:r>
              <a:rPr kumimoji="1" lang="zh-CN" altLang="en-US" sz="2600" dirty="0"/>
              <a:t>调度模块、内存管理模块、通信模块、文件系统、设备驱动等</a:t>
            </a:r>
          </a:p>
          <a:p>
            <a:pPr>
              <a:lnSpc>
                <a:spcPct val="134000"/>
              </a:lnSpc>
            </a:pPr>
            <a:r>
              <a:rPr kumimoji="1" lang="zh-CN" altLang="en-US" sz="3100" dirty="0"/>
              <a:t>攻击效果（指攻击的目的或攻击导致的结果）</a:t>
            </a:r>
            <a:endParaRPr kumimoji="1" lang="en-US" altLang="zh-CN" sz="3100" dirty="0"/>
          </a:p>
          <a:p>
            <a:pPr lvl="1">
              <a:lnSpc>
                <a:spcPct val="134000"/>
              </a:lnSpc>
            </a:pPr>
            <a:r>
              <a:rPr kumimoji="1" lang="zh-CN" altLang="en-US" sz="2600" dirty="0"/>
              <a:t>执行任意代码、内存篡改、窃取数据、拒绝服务、破坏硬件等</a:t>
            </a:r>
          </a:p>
        </p:txBody>
      </p:sp>
      <p:sp>
        <p:nvSpPr>
          <p:cNvPr id="4" name="灯片编号占位符 3">
            <a:extLst>
              <a:ext uri="{FF2B5EF4-FFF2-40B4-BE49-F238E27FC236}">
                <a16:creationId xmlns:a16="http://schemas.microsoft.com/office/drawing/2014/main" id="{043E8A50-F3C1-BF4A-BFC1-2C03DECB038D}"/>
              </a:ext>
            </a:extLst>
          </p:cNvPr>
          <p:cNvSpPr>
            <a:spLocks noGrp="1"/>
          </p:cNvSpPr>
          <p:nvPr>
            <p:ph type="sldNum" sz="quarter" idx="12"/>
          </p:nvPr>
        </p:nvSpPr>
        <p:spPr/>
        <p:txBody>
          <a:bodyPr/>
          <a:lstStyle/>
          <a:p>
            <a:fld id="{ADE361C3-C043-4A6E-BDCE-8DA1E7D90A3B}" type="slidenum">
              <a:rPr lang="zh-CN" altLang="en-US" smtClean="0"/>
              <a:t>21</a:t>
            </a:fld>
            <a:endParaRPr lang="zh-CN" altLang="en-US"/>
          </a:p>
        </p:txBody>
      </p:sp>
      <p:sp>
        <p:nvSpPr>
          <p:cNvPr id="5" name="页脚占位符 4">
            <a:extLst>
              <a:ext uri="{FF2B5EF4-FFF2-40B4-BE49-F238E27FC236}">
                <a16:creationId xmlns:a16="http://schemas.microsoft.com/office/drawing/2014/main" id="{A07B2212-4F4A-094D-A2B3-16527CDD5D0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6053658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3DA237-118A-FE4D-8CC1-4D03E5850C9C}"/>
              </a:ext>
            </a:extLst>
          </p:cNvPr>
          <p:cNvSpPr>
            <a:spLocks noGrp="1"/>
          </p:cNvSpPr>
          <p:nvPr>
            <p:ph type="title"/>
          </p:nvPr>
        </p:nvSpPr>
        <p:spPr/>
        <p:txBody>
          <a:bodyPr/>
          <a:lstStyle/>
          <a:p>
            <a:r>
              <a:rPr kumimoji="1" lang="zh-CN" altLang="en-US" dirty="0"/>
              <a:t>操作系统安全很难指标化</a:t>
            </a:r>
          </a:p>
        </p:txBody>
      </p:sp>
      <p:sp>
        <p:nvSpPr>
          <p:cNvPr id="3" name="内容占位符 2">
            <a:extLst>
              <a:ext uri="{FF2B5EF4-FFF2-40B4-BE49-F238E27FC236}">
                <a16:creationId xmlns:a16="http://schemas.microsoft.com/office/drawing/2014/main" id="{F9F07E8C-2F38-CE44-AE23-59C2EB4B5B7E}"/>
              </a:ext>
            </a:extLst>
          </p:cNvPr>
          <p:cNvSpPr>
            <a:spLocks noGrp="1"/>
          </p:cNvSpPr>
          <p:nvPr>
            <p:ph idx="1"/>
          </p:nvPr>
        </p:nvSpPr>
        <p:spPr/>
        <p:txBody>
          <a:bodyPr>
            <a:normAutofit/>
          </a:bodyPr>
          <a:lstStyle/>
          <a:p>
            <a:r>
              <a:rPr kumimoji="1" lang="zh-CN" altLang="en-US" sz="2000" dirty="0"/>
              <a:t>如何评价某个操作系统比另一个更安全？</a:t>
            </a:r>
            <a:endParaRPr kumimoji="1" lang="en-US" altLang="zh-CN" sz="2000" dirty="0"/>
          </a:p>
          <a:p>
            <a:pPr lvl="1"/>
            <a:r>
              <a:rPr kumimoji="1" lang="zh-CN" altLang="en-US" sz="1800" dirty="0"/>
              <a:t>缺陷密度？缺陷数量？代码行数？</a:t>
            </a:r>
            <a:endParaRPr kumimoji="1" lang="en-US" altLang="zh-CN" sz="1800" dirty="0"/>
          </a:p>
          <a:p>
            <a:r>
              <a:rPr kumimoji="1" lang="zh-CN" altLang="en-US" sz="2000" dirty="0"/>
              <a:t>缺陷密度</a:t>
            </a:r>
            <a:endParaRPr kumimoji="1" lang="en-US" altLang="zh-CN" sz="2000" dirty="0"/>
          </a:p>
          <a:p>
            <a:pPr lvl="1"/>
            <a:r>
              <a:rPr kumimoji="1" lang="zh-CN" altLang="en-US" sz="1800" dirty="0"/>
              <a:t>常用指标：每 </a:t>
            </a:r>
            <a:r>
              <a:rPr kumimoji="1" lang="en-US" altLang="zh-CN" sz="1800" dirty="0"/>
              <a:t>1,000 </a:t>
            </a:r>
            <a:r>
              <a:rPr kumimoji="1" lang="zh-CN" altLang="en-US" sz="1800" dirty="0"/>
              <a:t>行代码的平均缺陷数量</a:t>
            </a:r>
            <a:endParaRPr kumimoji="1" lang="en-US" altLang="zh-CN" sz="1800" dirty="0"/>
          </a:p>
          <a:p>
            <a:pPr lvl="1"/>
            <a:r>
              <a:rPr kumimoji="1" lang="en-US" altLang="zh-CN" sz="1800" dirty="0"/>
              <a:t>Linux </a:t>
            </a:r>
            <a:r>
              <a:rPr kumimoji="1" lang="zh-CN" altLang="en-US" sz="1800" dirty="0"/>
              <a:t>的缺陷密度近年来已经小于 </a:t>
            </a:r>
            <a:r>
              <a:rPr kumimoji="1" lang="en-US" altLang="zh-CN" sz="1800" dirty="0"/>
              <a:t>0.5</a:t>
            </a:r>
          </a:p>
          <a:p>
            <a:pPr lvl="2"/>
            <a:r>
              <a:rPr kumimoji="1" lang="en-US" altLang="zh-CN" sz="1800" dirty="0"/>
              <a:t>GPU </a:t>
            </a:r>
            <a:r>
              <a:rPr kumimoji="1" lang="zh-CN" altLang="en-US" sz="1800" dirty="0"/>
              <a:t>驱动的缺陷密度仅为 </a:t>
            </a:r>
            <a:r>
              <a:rPr kumimoji="1" lang="en-US" altLang="zh-CN" sz="1800" dirty="0"/>
              <a:t>0.19</a:t>
            </a:r>
            <a:r>
              <a:rPr kumimoji="1" lang="zh-CN" altLang="en-US" sz="1800" dirty="0"/>
              <a:t>，</a:t>
            </a:r>
            <a:r>
              <a:rPr kumimoji="1" lang="en-US" altLang="zh-CN" sz="1800" dirty="0"/>
              <a:t> 160</a:t>
            </a:r>
            <a:r>
              <a:rPr kumimoji="1" lang="zh-CN" altLang="en-US" sz="1800" dirty="0"/>
              <a:t>个缺陷</a:t>
            </a:r>
            <a:endParaRPr kumimoji="1" lang="en-US" altLang="zh-CN" sz="1800" dirty="0"/>
          </a:p>
          <a:p>
            <a:pPr lvl="2"/>
            <a:r>
              <a:rPr kumimoji="1" lang="en-US" altLang="zh-CN" sz="1800" dirty="0"/>
              <a:t>SMACK</a:t>
            </a:r>
            <a:r>
              <a:rPr kumimoji="1" lang="zh-CN" altLang="en-US" sz="1800" dirty="0"/>
              <a:t>（</a:t>
            </a:r>
            <a:r>
              <a:rPr kumimoji="1" lang="en-US" altLang="zh-CN" sz="1800" dirty="0"/>
              <a:t>Linux </a:t>
            </a:r>
            <a:r>
              <a:rPr kumimoji="1" lang="zh-CN" altLang="en-US" sz="1800" dirty="0"/>
              <a:t>的一个安全模块）高达 </a:t>
            </a:r>
            <a:r>
              <a:rPr kumimoji="1" lang="en-US" altLang="zh-CN" sz="1800" dirty="0"/>
              <a:t>1.11</a:t>
            </a:r>
            <a:r>
              <a:rPr kumimoji="1" lang="zh-CN" altLang="en-US" sz="1800" dirty="0"/>
              <a:t>，</a:t>
            </a:r>
            <a:r>
              <a:rPr kumimoji="1" lang="en-US" altLang="zh-CN" sz="1800" dirty="0"/>
              <a:t>6</a:t>
            </a:r>
            <a:r>
              <a:rPr kumimoji="1" lang="zh-CN" altLang="en-US" sz="1800" dirty="0"/>
              <a:t>个缺陷</a:t>
            </a:r>
            <a:endParaRPr kumimoji="1" lang="en-US" altLang="zh-CN" sz="1800" dirty="0"/>
          </a:p>
        </p:txBody>
      </p:sp>
      <p:sp>
        <p:nvSpPr>
          <p:cNvPr id="4" name="灯片编号占位符 3">
            <a:extLst>
              <a:ext uri="{FF2B5EF4-FFF2-40B4-BE49-F238E27FC236}">
                <a16:creationId xmlns:a16="http://schemas.microsoft.com/office/drawing/2014/main" id="{1A2A869C-B717-DA46-94C1-4382783AA582}"/>
              </a:ext>
            </a:extLst>
          </p:cNvPr>
          <p:cNvSpPr>
            <a:spLocks noGrp="1"/>
          </p:cNvSpPr>
          <p:nvPr>
            <p:ph type="sldNum" sz="quarter" idx="12"/>
          </p:nvPr>
        </p:nvSpPr>
        <p:spPr/>
        <p:txBody>
          <a:bodyPr/>
          <a:lstStyle/>
          <a:p>
            <a:fld id="{ADE361C3-C043-4A6E-BDCE-8DA1E7D90A3B}" type="slidenum">
              <a:rPr lang="zh-CN" altLang="en-US" smtClean="0"/>
              <a:t>22</a:t>
            </a:fld>
            <a:endParaRPr lang="zh-CN" altLang="en-US"/>
          </a:p>
        </p:txBody>
      </p:sp>
      <p:sp>
        <p:nvSpPr>
          <p:cNvPr id="5" name="页脚占位符 4">
            <a:extLst>
              <a:ext uri="{FF2B5EF4-FFF2-40B4-BE49-F238E27FC236}">
                <a16:creationId xmlns:a16="http://schemas.microsoft.com/office/drawing/2014/main" id="{89ADB2A9-92A5-644D-84A3-8CB89997D4B8}"/>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8542232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7FCAC7-1C17-8143-A723-1046C195FEC1}"/>
              </a:ext>
            </a:extLst>
          </p:cNvPr>
          <p:cNvSpPr>
            <a:spLocks noGrp="1"/>
          </p:cNvSpPr>
          <p:nvPr>
            <p:ph type="title"/>
          </p:nvPr>
        </p:nvSpPr>
        <p:spPr/>
        <p:txBody>
          <a:bodyPr/>
          <a:lstStyle/>
          <a:p>
            <a:r>
              <a:rPr kumimoji="1" lang="zh-CN" altLang="en-US" dirty="0"/>
              <a:t>操作系统安全很难指标化</a:t>
            </a:r>
          </a:p>
        </p:txBody>
      </p:sp>
      <p:sp>
        <p:nvSpPr>
          <p:cNvPr id="3" name="内容占位符 2">
            <a:extLst>
              <a:ext uri="{FF2B5EF4-FFF2-40B4-BE49-F238E27FC236}">
                <a16:creationId xmlns:a16="http://schemas.microsoft.com/office/drawing/2014/main" id="{B049CE5F-5215-C54A-BC2B-74F2EB637CE1}"/>
              </a:ext>
            </a:extLst>
          </p:cNvPr>
          <p:cNvSpPr>
            <a:spLocks noGrp="1"/>
          </p:cNvSpPr>
          <p:nvPr>
            <p:ph idx="1"/>
          </p:nvPr>
        </p:nvSpPr>
        <p:spPr/>
        <p:txBody>
          <a:bodyPr>
            <a:noAutofit/>
          </a:bodyPr>
          <a:lstStyle/>
          <a:p>
            <a:r>
              <a:rPr kumimoji="1" lang="zh-CN" altLang="en-US" sz="2000" dirty="0"/>
              <a:t>缺陷数量</a:t>
            </a:r>
            <a:endParaRPr kumimoji="1" lang="en-US" altLang="zh-CN" sz="2000" dirty="0"/>
          </a:p>
          <a:p>
            <a:pPr lvl="1"/>
            <a:r>
              <a:rPr kumimoji="1" lang="zh-CN" altLang="en" sz="1800" dirty="0"/>
              <a:t>缺陷</a:t>
            </a:r>
            <a:r>
              <a:rPr kumimoji="1" lang="zh-CN" altLang="en-US" sz="1800" dirty="0"/>
              <a:t>的编号方法</a:t>
            </a:r>
            <a:endParaRPr kumimoji="1" lang="en" altLang="zh-CN" sz="1800" dirty="0"/>
          </a:p>
          <a:p>
            <a:pPr lvl="2"/>
            <a:r>
              <a:rPr kumimoji="1" lang="en" altLang="zh-CN" sz="1800" dirty="0"/>
              <a:t>CVE</a:t>
            </a:r>
            <a:r>
              <a:rPr kumimoji="1" lang="zh-CN" altLang="en" sz="1800" dirty="0"/>
              <a:t>（</a:t>
            </a:r>
            <a:r>
              <a:rPr kumimoji="1" lang="en" altLang="zh-CN" sz="1800" dirty="0"/>
              <a:t>Common Vulnerabilities and Exposures</a:t>
            </a:r>
            <a:r>
              <a:rPr kumimoji="1" lang="zh-CN" altLang="en" sz="1800" dirty="0"/>
              <a:t>）</a:t>
            </a:r>
            <a:endParaRPr kumimoji="1" lang="en-US" altLang="zh-CN" sz="1800" dirty="0"/>
          </a:p>
          <a:p>
            <a:pPr lvl="3"/>
            <a:r>
              <a:rPr kumimoji="1" lang="zh-CN" altLang="en-US" sz="1600" dirty="0"/>
              <a:t>一种常见的漏洞编号方式，</a:t>
            </a:r>
            <a:r>
              <a:rPr kumimoji="1" lang="en" altLang="zh-CN" sz="1600" dirty="0"/>
              <a:t>CVE-2020</a:t>
            </a:r>
            <a:r>
              <a:rPr kumimoji="1" lang="en-US" altLang="zh-CN" sz="1600" dirty="0"/>
              <a:t>-</a:t>
            </a:r>
            <a:r>
              <a:rPr kumimoji="1" lang="en" altLang="zh-CN" sz="1600" dirty="0"/>
              <a:t>10757</a:t>
            </a:r>
            <a:endParaRPr kumimoji="1" lang="en-US" altLang="zh-CN" sz="1600" dirty="0"/>
          </a:p>
          <a:p>
            <a:pPr lvl="2"/>
            <a:r>
              <a:rPr kumimoji="1" lang="zh-CN" altLang="en-US" sz="1800" dirty="0"/>
              <a:t>国家计算机网络应急处理协调中心的 </a:t>
            </a:r>
            <a:r>
              <a:rPr kumimoji="1" lang="en" altLang="zh-CN" sz="1800" dirty="0"/>
              <a:t>CNCVE </a:t>
            </a:r>
            <a:r>
              <a:rPr kumimoji="1" lang="zh-CN" altLang="en-US" sz="1800" dirty="0"/>
              <a:t>编号</a:t>
            </a:r>
            <a:endParaRPr kumimoji="1" lang="en-US" altLang="zh-CN" sz="1800" dirty="0"/>
          </a:p>
          <a:p>
            <a:pPr lvl="2"/>
            <a:r>
              <a:rPr kumimoji="1" lang="zh-CN" altLang="en-US" sz="1800" dirty="0"/>
              <a:t>国家信息安全漏洞共享平台的 </a:t>
            </a:r>
            <a:r>
              <a:rPr kumimoji="1" lang="en" altLang="zh-CN" sz="1800" dirty="0"/>
              <a:t>CNVD </a:t>
            </a:r>
            <a:r>
              <a:rPr kumimoji="1" lang="zh-CN" altLang="en-US" sz="1800" dirty="0"/>
              <a:t>编号</a:t>
            </a:r>
            <a:endParaRPr kumimoji="1" lang="en-US" altLang="zh-CN" sz="1800" dirty="0"/>
          </a:p>
          <a:p>
            <a:pPr lvl="2"/>
            <a:r>
              <a:rPr kumimoji="1" lang="zh-CN" altLang="en-US" sz="1800" dirty="0"/>
              <a:t>中国信息安全测评中心的 </a:t>
            </a:r>
            <a:r>
              <a:rPr kumimoji="1" lang="en" altLang="zh-CN" sz="1800" dirty="0"/>
              <a:t>CNNVD </a:t>
            </a:r>
            <a:r>
              <a:rPr kumimoji="1" lang="zh-CN" altLang="en-US" sz="1800" dirty="0"/>
              <a:t>编号</a:t>
            </a:r>
            <a:endParaRPr kumimoji="1" lang="en-US" altLang="zh-CN" sz="1800" dirty="0"/>
          </a:p>
          <a:p>
            <a:pPr lvl="1"/>
            <a:r>
              <a:rPr kumimoji="1" lang="zh-CN" altLang="en-US" sz="1800" dirty="0"/>
              <a:t>相对值直接比较也缺乏说服力</a:t>
            </a:r>
            <a:endParaRPr kumimoji="1" lang="en-US" altLang="zh-CN" sz="1800" dirty="0"/>
          </a:p>
          <a:p>
            <a:pPr lvl="2"/>
            <a:r>
              <a:rPr kumimoji="1" lang="en" altLang="zh-CN" sz="1800" dirty="0"/>
              <a:t>Linux </a:t>
            </a:r>
            <a:r>
              <a:rPr kumimoji="1" lang="zh-CN" altLang="en-US" sz="1800" dirty="0"/>
              <a:t>内核的 </a:t>
            </a:r>
            <a:r>
              <a:rPr kumimoji="1" lang="en" altLang="zh-CN" sz="1800" dirty="0"/>
              <a:t>CVE </a:t>
            </a:r>
            <a:r>
              <a:rPr kumimoji="1" lang="zh-CN" altLang="en-US" sz="1800" dirty="0"/>
              <a:t>数量目前排在第 </a:t>
            </a:r>
            <a:r>
              <a:rPr kumimoji="1" lang="en-US" altLang="zh-CN" sz="1800" dirty="0"/>
              <a:t>3 </a:t>
            </a:r>
            <a:r>
              <a:rPr kumimoji="1" lang="zh-CN" altLang="en-US" sz="1800" dirty="0"/>
              <a:t>位（</a:t>
            </a:r>
            <a:r>
              <a:rPr kumimoji="1" lang="en-US" altLang="zh-CN" sz="1800" dirty="0"/>
              <a:t>2,357 </a:t>
            </a:r>
            <a:r>
              <a:rPr kumimoji="1" lang="zh-CN" altLang="en-US" sz="1800" dirty="0"/>
              <a:t>个）</a:t>
            </a:r>
            <a:endParaRPr kumimoji="1" lang="en-US" altLang="zh-CN" sz="1800" dirty="0"/>
          </a:p>
          <a:p>
            <a:pPr lvl="2"/>
            <a:r>
              <a:rPr kumimoji="1" lang="en" altLang="zh-CN" sz="1800" dirty="0"/>
              <a:t>Windows XP </a:t>
            </a:r>
            <a:r>
              <a:rPr kumimoji="1" lang="zh-CN" altLang="en-US" sz="1800" dirty="0"/>
              <a:t>则排第 </a:t>
            </a:r>
            <a:r>
              <a:rPr kumimoji="1" lang="en-US" altLang="zh-CN" sz="1800" dirty="0"/>
              <a:t>28 </a:t>
            </a:r>
            <a:r>
              <a:rPr kumimoji="1" lang="zh-CN" altLang="en-US" sz="1800" dirty="0"/>
              <a:t>位（</a:t>
            </a:r>
            <a:r>
              <a:rPr kumimoji="1" lang="en-US" altLang="zh-CN" sz="1800" dirty="0"/>
              <a:t>741 </a:t>
            </a:r>
            <a:r>
              <a:rPr kumimoji="1" lang="zh-CN" altLang="en-US" sz="1800" dirty="0"/>
              <a:t>个），比</a:t>
            </a:r>
            <a:r>
              <a:rPr kumimoji="1" lang="en-US" altLang="zh-CN" sz="1800" dirty="0"/>
              <a:t>Linux</a:t>
            </a:r>
            <a:r>
              <a:rPr kumimoji="1" lang="zh-CN" altLang="en-US" sz="1800" dirty="0"/>
              <a:t>更安全？</a:t>
            </a:r>
          </a:p>
        </p:txBody>
      </p:sp>
      <p:sp>
        <p:nvSpPr>
          <p:cNvPr id="4" name="灯片编号占位符 3">
            <a:extLst>
              <a:ext uri="{FF2B5EF4-FFF2-40B4-BE49-F238E27FC236}">
                <a16:creationId xmlns:a16="http://schemas.microsoft.com/office/drawing/2014/main" id="{998AC6E2-C8BA-E84B-9B05-A91E0DDD768C}"/>
              </a:ext>
            </a:extLst>
          </p:cNvPr>
          <p:cNvSpPr>
            <a:spLocks noGrp="1"/>
          </p:cNvSpPr>
          <p:nvPr>
            <p:ph type="sldNum" sz="quarter" idx="12"/>
          </p:nvPr>
        </p:nvSpPr>
        <p:spPr/>
        <p:txBody>
          <a:bodyPr/>
          <a:lstStyle/>
          <a:p>
            <a:fld id="{ADE361C3-C043-4A6E-BDCE-8DA1E7D90A3B}" type="slidenum">
              <a:rPr lang="zh-CN" altLang="en-US" smtClean="0"/>
              <a:t>23</a:t>
            </a:fld>
            <a:endParaRPr lang="zh-CN" altLang="en-US"/>
          </a:p>
        </p:txBody>
      </p:sp>
      <p:sp>
        <p:nvSpPr>
          <p:cNvPr id="5" name="页脚占位符 4">
            <a:extLst>
              <a:ext uri="{FF2B5EF4-FFF2-40B4-BE49-F238E27FC236}">
                <a16:creationId xmlns:a16="http://schemas.microsoft.com/office/drawing/2014/main" id="{18398460-4D6E-5141-924D-679BF64CD314}"/>
              </a:ext>
            </a:extLst>
          </p:cNvPr>
          <p:cNvSpPr>
            <a:spLocks noGrp="1"/>
          </p:cNvSpPr>
          <p:nvPr>
            <p:ph type="ftr" sz="quarter" idx="3"/>
          </p:nvPr>
        </p:nvSpPr>
        <p:spPr/>
        <p:txBody>
          <a:bodyPr/>
          <a:lstStyle/>
          <a:p>
            <a:r>
              <a:rPr lang="zh-CN" altLang="en-US"/>
              <a:t>上海交通大学并行与分布式系统研究所（</a:t>
            </a:r>
            <a:r>
              <a:rPr lang="en-US" altLang="zh-CN"/>
              <a:t>IPADS@SJTU</a:t>
            </a:r>
            <a:r>
              <a:rPr lang="zh-CN" altLang="en-US"/>
              <a:t>）</a:t>
            </a:r>
            <a:endParaRPr lang="zh-CN" altLang="en-US" dirty="0"/>
          </a:p>
        </p:txBody>
      </p:sp>
    </p:spTree>
    <p:extLst>
      <p:ext uri="{BB962C8B-B14F-4D97-AF65-F5344CB8AC3E}">
        <p14:creationId xmlns:p14="http://schemas.microsoft.com/office/powerpoint/2010/main" val="25975497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41B4C6A2-53C9-774F-8C3F-C4245EF7B1B0}"/>
              </a:ext>
            </a:extLst>
          </p:cNvPr>
          <p:cNvSpPr>
            <a:spLocks noGrp="1"/>
          </p:cNvSpPr>
          <p:nvPr>
            <p:ph type="title"/>
          </p:nvPr>
        </p:nvSpPr>
        <p:spPr/>
        <p:txBody>
          <a:bodyPr/>
          <a:lstStyle/>
          <a:p>
            <a:r>
              <a:rPr lang="zh-CN" altLang="en-US" dirty="0"/>
              <a:t>操作系统内核攻防</a:t>
            </a:r>
          </a:p>
        </p:txBody>
      </p:sp>
      <p:sp>
        <p:nvSpPr>
          <p:cNvPr id="7" name="文本占位符 6">
            <a:extLst>
              <a:ext uri="{FF2B5EF4-FFF2-40B4-BE49-F238E27FC236}">
                <a16:creationId xmlns:a16="http://schemas.microsoft.com/office/drawing/2014/main" id="{1001879A-8D77-0849-BAE1-274647A1597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60A1AEBF-DFF0-1C4F-A317-6FA063F8EC3A}"/>
              </a:ext>
            </a:extLst>
          </p:cNvPr>
          <p:cNvSpPr>
            <a:spLocks noGrp="1"/>
          </p:cNvSpPr>
          <p:nvPr>
            <p:ph type="sldNum" sz="quarter" idx="12"/>
          </p:nvPr>
        </p:nvSpPr>
        <p:spPr/>
        <p:txBody>
          <a:bodyPr/>
          <a:lstStyle/>
          <a:p>
            <a:fld id="{ADE361C3-C043-4A6E-BDCE-8DA1E7D90A3B}" type="slidenum">
              <a:rPr lang="zh-CN" altLang="en-US" smtClean="0"/>
              <a:t>24</a:t>
            </a:fld>
            <a:endParaRPr lang="zh-CN" altLang="en-US"/>
          </a:p>
        </p:txBody>
      </p:sp>
      <p:sp>
        <p:nvSpPr>
          <p:cNvPr id="5" name="页脚占位符 4">
            <a:extLst>
              <a:ext uri="{FF2B5EF4-FFF2-40B4-BE49-F238E27FC236}">
                <a16:creationId xmlns:a16="http://schemas.microsoft.com/office/drawing/2014/main" id="{D45012F6-E2F3-664D-A2AB-A5EF14480A2C}"/>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638670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2AA770E-78C8-7F46-AC4C-95D0EDC5C6F4}"/>
              </a:ext>
            </a:extLst>
          </p:cNvPr>
          <p:cNvSpPr>
            <a:spLocks noGrp="1"/>
          </p:cNvSpPr>
          <p:nvPr>
            <p:ph type="title"/>
          </p:nvPr>
        </p:nvSpPr>
        <p:spPr/>
        <p:txBody>
          <a:bodyPr/>
          <a:lstStyle/>
          <a:p>
            <a:r>
              <a:rPr kumimoji="1" lang="zh-CN" altLang="en-US" dirty="0"/>
              <a:t>整形溢出漏洞</a:t>
            </a:r>
          </a:p>
        </p:txBody>
      </p:sp>
      <p:sp>
        <p:nvSpPr>
          <p:cNvPr id="4" name="灯片编号占位符 3">
            <a:extLst>
              <a:ext uri="{FF2B5EF4-FFF2-40B4-BE49-F238E27FC236}">
                <a16:creationId xmlns:a16="http://schemas.microsoft.com/office/drawing/2014/main" id="{BE9C830D-4678-844C-9945-7AE453B41E23}"/>
              </a:ext>
            </a:extLst>
          </p:cNvPr>
          <p:cNvSpPr>
            <a:spLocks noGrp="1"/>
          </p:cNvSpPr>
          <p:nvPr>
            <p:ph type="sldNum" sz="quarter" idx="12"/>
          </p:nvPr>
        </p:nvSpPr>
        <p:spPr/>
        <p:txBody>
          <a:bodyPr/>
          <a:lstStyle/>
          <a:p>
            <a:fld id="{ADE361C3-C043-4A6E-BDCE-8DA1E7D90A3B}" type="slidenum">
              <a:rPr lang="zh-CN" altLang="en-US" smtClean="0"/>
              <a:t>25</a:t>
            </a:fld>
            <a:endParaRPr lang="zh-CN" altLang="en-US"/>
          </a:p>
        </p:txBody>
      </p:sp>
      <p:sp>
        <p:nvSpPr>
          <p:cNvPr id="5" name="页脚占位符 4">
            <a:extLst>
              <a:ext uri="{FF2B5EF4-FFF2-40B4-BE49-F238E27FC236}">
                <a16:creationId xmlns:a16="http://schemas.microsoft.com/office/drawing/2014/main" id="{FEF3DDF5-00D2-F940-80B9-F916353C7DB0}"/>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3E9290DD-7E94-0D4C-BC45-244D6D407D71}"/>
              </a:ext>
            </a:extLst>
          </p:cNvPr>
          <p:cNvPicPr>
            <a:picLocks noChangeAspect="1"/>
          </p:cNvPicPr>
          <p:nvPr/>
        </p:nvPicPr>
        <p:blipFill>
          <a:blip r:embed="rId3"/>
          <a:stretch>
            <a:fillRect/>
          </a:stretch>
        </p:blipFill>
        <p:spPr>
          <a:xfrm>
            <a:off x="539552" y="1280014"/>
            <a:ext cx="8147248" cy="3154971"/>
          </a:xfrm>
          <a:prstGeom prst="rect">
            <a:avLst/>
          </a:prstGeom>
        </p:spPr>
      </p:pic>
      <p:sp>
        <p:nvSpPr>
          <p:cNvPr id="7" name="文本框 6">
            <a:extLst>
              <a:ext uri="{FF2B5EF4-FFF2-40B4-BE49-F238E27FC236}">
                <a16:creationId xmlns:a16="http://schemas.microsoft.com/office/drawing/2014/main" id="{EE9DB855-BBF6-EF47-9B80-3F3C12B4ADEC}"/>
              </a:ext>
            </a:extLst>
          </p:cNvPr>
          <p:cNvSpPr txBox="1"/>
          <p:nvPr/>
        </p:nvSpPr>
        <p:spPr>
          <a:xfrm>
            <a:off x="611560" y="4585691"/>
            <a:ext cx="7776864" cy="400110"/>
          </a:xfrm>
          <a:prstGeom prst="rect">
            <a:avLst/>
          </a:prstGeom>
          <a:noFill/>
        </p:spPr>
        <p:txBody>
          <a:bodyPr wrap="square">
            <a:spAutoFit/>
          </a:bodyPr>
          <a:lstStyle/>
          <a:p>
            <a:r>
              <a:rPr lang="zh-CN" altLang="en-US" sz="2000" b="1" dirty="0"/>
              <a:t>防御方法：</a:t>
            </a:r>
            <a:r>
              <a:rPr lang="zh-CN" altLang="en-US" sz="2000" dirty="0"/>
              <a:t>增加对溢出的检查代码；利用自动化工具查找并修复</a:t>
            </a:r>
          </a:p>
        </p:txBody>
      </p:sp>
    </p:spTree>
    <p:extLst>
      <p:ext uri="{BB962C8B-B14F-4D97-AF65-F5344CB8AC3E}">
        <p14:creationId xmlns:p14="http://schemas.microsoft.com/office/powerpoint/2010/main" val="36516527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D0A7E2-03D3-2C49-A44F-6732658B0935}"/>
              </a:ext>
            </a:extLst>
          </p:cNvPr>
          <p:cNvSpPr>
            <a:spLocks noGrp="1"/>
          </p:cNvSpPr>
          <p:nvPr>
            <p:ph type="title"/>
          </p:nvPr>
        </p:nvSpPr>
        <p:spPr/>
        <p:txBody>
          <a:bodyPr/>
          <a:lstStyle/>
          <a:p>
            <a:r>
              <a:rPr kumimoji="1" lang="en-US" altLang="zh-CN" dirty="0"/>
              <a:t>Return-to-user</a:t>
            </a:r>
            <a:r>
              <a:rPr kumimoji="1" lang="zh-CN" altLang="en-US" dirty="0"/>
              <a:t>攻击（</a:t>
            </a:r>
            <a:r>
              <a:rPr kumimoji="1" lang="en-US" altLang="zh-CN" dirty="0"/>
              <a:t>ret2usr</a:t>
            </a:r>
            <a:r>
              <a:rPr kumimoji="1" lang="zh-CN" altLang="en-US" dirty="0"/>
              <a:t>）</a:t>
            </a:r>
          </a:p>
        </p:txBody>
      </p:sp>
      <p:sp>
        <p:nvSpPr>
          <p:cNvPr id="3" name="内容占位符 2">
            <a:extLst>
              <a:ext uri="{FF2B5EF4-FFF2-40B4-BE49-F238E27FC236}">
                <a16:creationId xmlns:a16="http://schemas.microsoft.com/office/drawing/2014/main" id="{E2712FE1-FC15-3144-A023-ED16DD15F80C}"/>
              </a:ext>
            </a:extLst>
          </p:cNvPr>
          <p:cNvSpPr>
            <a:spLocks noGrp="1"/>
          </p:cNvSpPr>
          <p:nvPr>
            <p:ph idx="1"/>
          </p:nvPr>
        </p:nvSpPr>
        <p:spPr/>
        <p:txBody>
          <a:bodyPr>
            <a:normAutofit/>
          </a:bodyPr>
          <a:lstStyle/>
          <a:p>
            <a:r>
              <a:rPr lang="zh-CN" altLang="en-US" dirty="0"/>
              <a:t>内核错误地运行了用户态的代码</a:t>
            </a:r>
            <a:endParaRPr lang="en-US" altLang="zh-CN" dirty="0"/>
          </a:p>
          <a:p>
            <a:pPr lvl="1"/>
            <a:r>
              <a:rPr lang="zh-CN" altLang="en-US" dirty="0"/>
              <a:t>由于内核与应用程序共享同一个页表，内核运行时可以任意访问用户态的虚拟地址空间，内核可能执行位于用户态的代码</a:t>
            </a:r>
            <a:endParaRPr lang="en-US" altLang="zh-CN" dirty="0"/>
          </a:p>
          <a:p>
            <a:r>
              <a:rPr lang="zh-CN" altLang="en-US" dirty="0"/>
              <a:t>攻击者的常用方法</a:t>
            </a:r>
            <a:endParaRPr lang="en-US" altLang="zh-CN" dirty="0"/>
          </a:p>
          <a:p>
            <a:pPr lvl="1"/>
            <a:r>
              <a:rPr lang="zh-CN" altLang="en-US" dirty="0"/>
              <a:t>先在用户态中初始加载一段恶意代码，然后利用内核的某个漏洞，修改内核中的某个函数指针指向这段恶意代码的地址</a:t>
            </a:r>
          </a:p>
          <a:p>
            <a:pPr lvl="1"/>
            <a:r>
              <a:rPr lang="zh-CN" altLang="en-US" dirty="0"/>
              <a:t>也可以利用内核的栈溢出漏洞，覆盖栈上的返回地址为恶意代码的地址，使内核在执行 </a:t>
            </a:r>
            <a:r>
              <a:rPr lang="en" altLang="zh-CN" dirty="0"/>
              <a:t>ret </a:t>
            </a:r>
            <a:r>
              <a:rPr lang="zh-CN" altLang="en-US" dirty="0"/>
              <a:t>指令时跳转到位于用户态的代码</a:t>
            </a:r>
          </a:p>
          <a:p>
            <a:pPr lvl="1"/>
            <a:endParaRPr lang="zh-CN" altLang="en-US" dirty="0"/>
          </a:p>
          <a:p>
            <a:endParaRPr kumimoji="1" lang="zh-CN" altLang="en-US" dirty="0"/>
          </a:p>
        </p:txBody>
      </p:sp>
      <p:sp>
        <p:nvSpPr>
          <p:cNvPr id="4" name="灯片编号占位符 3">
            <a:extLst>
              <a:ext uri="{FF2B5EF4-FFF2-40B4-BE49-F238E27FC236}">
                <a16:creationId xmlns:a16="http://schemas.microsoft.com/office/drawing/2014/main" id="{03508C2C-6DD6-7149-85E5-101930C6090C}"/>
              </a:ext>
            </a:extLst>
          </p:cNvPr>
          <p:cNvSpPr>
            <a:spLocks noGrp="1"/>
          </p:cNvSpPr>
          <p:nvPr>
            <p:ph type="sldNum" sz="quarter" idx="12"/>
          </p:nvPr>
        </p:nvSpPr>
        <p:spPr/>
        <p:txBody>
          <a:bodyPr/>
          <a:lstStyle/>
          <a:p>
            <a:fld id="{ADE361C3-C043-4A6E-BDCE-8DA1E7D90A3B}" type="slidenum">
              <a:rPr lang="zh-CN" altLang="en-US" smtClean="0"/>
              <a:t>26</a:t>
            </a:fld>
            <a:endParaRPr lang="zh-CN" altLang="en-US"/>
          </a:p>
        </p:txBody>
      </p:sp>
      <p:sp>
        <p:nvSpPr>
          <p:cNvPr id="5" name="页脚占位符 4">
            <a:extLst>
              <a:ext uri="{FF2B5EF4-FFF2-40B4-BE49-F238E27FC236}">
                <a16:creationId xmlns:a16="http://schemas.microsoft.com/office/drawing/2014/main" id="{60D207AB-402A-644E-B177-C50ABDF3A681}"/>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34282103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E5C91D-FB67-A248-ABD1-56BBE0B6D097}"/>
              </a:ext>
            </a:extLst>
          </p:cNvPr>
          <p:cNvSpPr>
            <a:spLocks noGrp="1"/>
          </p:cNvSpPr>
          <p:nvPr>
            <p:ph type="title"/>
          </p:nvPr>
        </p:nvSpPr>
        <p:spPr/>
        <p:txBody>
          <a:bodyPr/>
          <a:lstStyle/>
          <a:p>
            <a:r>
              <a:rPr kumimoji="1" lang="en-US" altLang="zh-CN" dirty="0"/>
              <a:t>ret2usr</a:t>
            </a:r>
            <a:r>
              <a:rPr kumimoji="1" lang="zh-CN" altLang="en-US" dirty="0"/>
              <a:t>攻击的防御方法</a:t>
            </a:r>
          </a:p>
        </p:txBody>
      </p:sp>
      <p:sp>
        <p:nvSpPr>
          <p:cNvPr id="3" name="内容占位符 2">
            <a:extLst>
              <a:ext uri="{FF2B5EF4-FFF2-40B4-BE49-F238E27FC236}">
                <a16:creationId xmlns:a16="http://schemas.microsoft.com/office/drawing/2014/main" id="{36843757-847E-D047-B75D-E9024D9B3B90}"/>
              </a:ext>
            </a:extLst>
          </p:cNvPr>
          <p:cNvSpPr>
            <a:spLocks noGrp="1"/>
          </p:cNvSpPr>
          <p:nvPr>
            <p:ph idx="1"/>
          </p:nvPr>
        </p:nvSpPr>
        <p:spPr/>
        <p:txBody>
          <a:bodyPr>
            <a:normAutofit/>
          </a:bodyPr>
          <a:lstStyle/>
          <a:p>
            <a:r>
              <a:rPr lang="zh-CN" altLang="en-US" sz="1800" dirty="0"/>
              <a:t>方法一：仔细检查内核中的每个函数指针</a:t>
            </a:r>
            <a:endParaRPr lang="en-US" altLang="zh-CN" sz="1800" dirty="0"/>
          </a:p>
          <a:p>
            <a:pPr lvl="1"/>
            <a:r>
              <a:rPr lang="zh-CN" altLang="en-US" sz="1400" dirty="0"/>
              <a:t>需对内核所有模块进行检查，很难做到 </a:t>
            </a:r>
            <a:r>
              <a:rPr lang="en-US" altLang="zh-CN" sz="1400" dirty="0"/>
              <a:t>100% </a:t>
            </a:r>
            <a:r>
              <a:rPr lang="zh-CN" altLang="en-US" sz="1400" dirty="0"/>
              <a:t>的覆盖率</a:t>
            </a:r>
            <a:endParaRPr lang="en-US" altLang="zh-CN" sz="1400" dirty="0"/>
          </a:p>
          <a:p>
            <a:r>
              <a:rPr lang="zh-CN" altLang="en-US" sz="1800" dirty="0"/>
              <a:t>方法二：在陷入内核时修改页表，将用户态所有的内存都标记为不可执行</a:t>
            </a:r>
            <a:endParaRPr lang="en-US" altLang="zh-CN" sz="1800" dirty="0"/>
          </a:p>
          <a:p>
            <a:pPr lvl="1"/>
            <a:r>
              <a:rPr lang="zh-CN" altLang="en-US" sz="1400" dirty="0"/>
              <a:t>由于修改页表后必须要刷新 </a:t>
            </a:r>
            <a:r>
              <a:rPr lang="en" altLang="zh-CN" sz="1400" dirty="0"/>
              <a:t>TLB </a:t>
            </a:r>
            <a:r>
              <a:rPr lang="zh-CN" altLang="en-US" sz="1400" dirty="0"/>
              <a:t>才能生效，因 此修改页表、刷新 </a:t>
            </a:r>
            <a:r>
              <a:rPr lang="en" altLang="zh-CN" sz="1400" dirty="0"/>
              <a:t>TLB</a:t>
            </a:r>
            <a:r>
              <a:rPr lang="zh-CN" altLang="en" sz="1400" dirty="0"/>
              <a:t>，</a:t>
            </a:r>
            <a:r>
              <a:rPr lang="zh-CN" altLang="en-US" sz="1400" dirty="0"/>
              <a:t>以及后续运行触发 </a:t>
            </a:r>
            <a:r>
              <a:rPr lang="en" altLang="zh-CN" sz="1400" dirty="0"/>
              <a:t>TLB miss </a:t>
            </a:r>
            <a:r>
              <a:rPr lang="zh-CN" altLang="en-US" sz="1400" dirty="0"/>
              <a:t>都会导致性能下降</a:t>
            </a:r>
            <a:endParaRPr lang="en-US" altLang="zh-CN" sz="1400" dirty="0"/>
          </a:p>
          <a:p>
            <a:pPr lvl="1"/>
            <a:r>
              <a:rPr lang="zh-CN" altLang="en-US" sz="1400" dirty="0"/>
              <a:t>在返回用户态之前必须将页表恢复，并再次刷掉 </a:t>
            </a:r>
            <a:r>
              <a:rPr lang="en" altLang="zh-CN" sz="1400" dirty="0"/>
              <a:t>TLB</a:t>
            </a:r>
            <a:r>
              <a:rPr lang="zh-CN" altLang="en" sz="1400" dirty="0"/>
              <a:t>，</a:t>
            </a:r>
            <a:r>
              <a:rPr lang="zh-CN" altLang="en-US" sz="1400" dirty="0"/>
              <a:t>这样又会导致用户态执行时出现 </a:t>
            </a:r>
            <a:r>
              <a:rPr lang="en" altLang="zh-CN" sz="1400" dirty="0"/>
              <a:t>TLB miss</a:t>
            </a:r>
            <a:r>
              <a:rPr lang="zh-CN" altLang="en" sz="1400" dirty="0"/>
              <a:t>，</a:t>
            </a:r>
            <a:r>
              <a:rPr lang="zh-CN" altLang="en-US" sz="1400" dirty="0"/>
              <a:t>因此对性能的影响非常大</a:t>
            </a:r>
            <a:endParaRPr lang="en-US" altLang="zh-CN" sz="1400" dirty="0"/>
          </a:p>
          <a:p>
            <a:r>
              <a:rPr lang="zh-CN" altLang="en-US" sz="1800" dirty="0"/>
              <a:t>方法三：硬件保证</a:t>
            </a:r>
            <a:r>
              <a:rPr lang="en" altLang="zh-CN" sz="1800" dirty="0"/>
              <a:t>CPU</a:t>
            </a:r>
            <a:r>
              <a:rPr lang="zh-CN" altLang="en-US" sz="1800" dirty="0"/>
              <a:t>处于内核态时不得运行任何用户态的代码</a:t>
            </a:r>
            <a:endParaRPr lang="en-US" altLang="zh-CN" sz="1800" dirty="0"/>
          </a:p>
          <a:p>
            <a:pPr lvl="1"/>
            <a:r>
              <a:rPr lang="zh-CN" altLang="en" sz="1400" dirty="0"/>
              <a:t>如</a:t>
            </a:r>
            <a:r>
              <a:rPr lang="zh-CN" altLang="en-US" sz="1400" dirty="0"/>
              <a:t> </a:t>
            </a:r>
            <a:r>
              <a:rPr lang="en" altLang="zh-CN" sz="1400" dirty="0"/>
              <a:t>Intel </a:t>
            </a:r>
            <a:r>
              <a:rPr lang="zh-CN" altLang="en-US" sz="1400" dirty="0"/>
              <a:t>的 </a:t>
            </a:r>
            <a:r>
              <a:rPr lang="en" altLang="zh-CN" sz="1400" dirty="0">
                <a:solidFill>
                  <a:schemeClr val="accent1"/>
                </a:solidFill>
                <a:highlight>
                  <a:srgbClr val="FFFF00"/>
                </a:highlight>
              </a:rPr>
              <a:t>SMEP</a:t>
            </a:r>
            <a:r>
              <a:rPr lang="zh-CN" altLang="en" sz="1400" dirty="0"/>
              <a:t>（</a:t>
            </a:r>
            <a:r>
              <a:rPr lang="en" altLang="zh-CN" sz="1400" dirty="0"/>
              <a:t>Supervisor Mode Execution Prevention</a:t>
            </a:r>
            <a:r>
              <a:rPr lang="zh-CN" altLang="en" sz="1400" dirty="0"/>
              <a:t>）</a:t>
            </a:r>
            <a:r>
              <a:rPr lang="zh-CN" altLang="en-US" sz="1400" dirty="0"/>
              <a:t>技术</a:t>
            </a:r>
            <a:endParaRPr lang="en-US" altLang="zh-CN" sz="1400" dirty="0"/>
          </a:p>
          <a:p>
            <a:pPr lvl="1"/>
            <a:r>
              <a:rPr lang="en" altLang="zh-CN" sz="1400" dirty="0"/>
              <a:t>ARM </a:t>
            </a:r>
            <a:r>
              <a:rPr lang="zh-CN" altLang="en-US" sz="1400" dirty="0"/>
              <a:t>同样有类似 </a:t>
            </a:r>
            <a:r>
              <a:rPr lang="en" altLang="zh-CN" sz="1400" dirty="0"/>
              <a:t>SMEP </a:t>
            </a:r>
            <a:r>
              <a:rPr lang="zh-CN" altLang="en-US" sz="1400" dirty="0"/>
              <a:t>的技术，称为 </a:t>
            </a:r>
            <a:r>
              <a:rPr lang="en" altLang="zh-CN" sz="1400" dirty="0"/>
              <a:t>PXN</a:t>
            </a:r>
            <a:r>
              <a:rPr lang="zh-CN" altLang="en" sz="1400" dirty="0"/>
              <a:t>（</a:t>
            </a:r>
            <a:r>
              <a:rPr lang="en" altLang="zh-CN" sz="1400" dirty="0"/>
              <a:t>Privileged </a:t>
            </a:r>
            <a:r>
              <a:rPr lang="en" altLang="zh-CN" sz="1400" dirty="0" err="1"/>
              <a:t>eXecute</a:t>
            </a:r>
            <a:r>
              <a:rPr lang="en" altLang="zh-CN" sz="1400" dirty="0"/>
              <a:t>-Never</a:t>
            </a:r>
            <a:r>
              <a:rPr lang="zh-CN" altLang="en" sz="1400" dirty="0"/>
              <a:t>）</a:t>
            </a:r>
          </a:p>
          <a:p>
            <a:endParaRPr kumimoji="1" lang="zh-CN" altLang="en-US" sz="1800" dirty="0"/>
          </a:p>
        </p:txBody>
      </p:sp>
      <p:sp>
        <p:nvSpPr>
          <p:cNvPr id="4" name="灯片编号占位符 3">
            <a:extLst>
              <a:ext uri="{FF2B5EF4-FFF2-40B4-BE49-F238E27FC236}">
                <a16:creationId xmlns:a16="http://schemas.microsoft.com/office/drawing/2014/main" id="{E4556E52-B55F-4343-A452-44A0A4F5B41C}"/>
              </a:ext>
            </a:extLst>
          </p:cNvPr>
          <p:cNvSpPr>
            <a:spLocks noGrp="1"/>
          </p:cNvSpPr>
          <p:nvPr>
            <p:ph type="sldNum" sz="quarter" idx="12"/>
          </p:nvPr>
        </p:nvSpPr>
        <p:spPr/>
        <p:txBody>
          <a:bodyPr/>
          <a:lstStyle/>
          <a:p>
            <a:fld id="{ADE361C3-C043-4A6E-BDCE-8DA1E7D90A3B}" type="slidenum">
              <a:rPr lang="zh-CN" altLang="en-US" smtClean="0"/>
              <a:t>27</a:t>
            </a:fld>
            <a:endParaRPr lang="zh-CN" altLang="en-US"/>
          </a:p>
        </p:txBody>
      </p:sp>
      <p:sp>
        <p:nvSpPr>
          <p:cNvPr id="5" name="页脚占位符 4">
            <a:extLst>
              <a:ext uri="{FF2B5EF4-FFF2-40B4-BE49-F238E27FC236}">
                <a16:creationId xmlns:a16="http://schemas.microsoft.com/office/drawing/2014/main" id="{8D71E116-2C12-D34C-879E-F156A8BD91D5}"/>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001711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52800E-8BB7-074E-ACFE-C55FC79F5A5E}"/>
              </a:ext>
            </a:extLst>
          </p:cNvPr>
          <p:cNvSpPr>
            <a:spLocks noGrp="1"/>
          </p:cNvSpPr>
          <p:nvPr>
            <p:ph type="title"/>
          </p:nvPr>
        </p:nvSpPr>
        <p:spPr/>
        <p:txBody>
          <a:bodyPr/>
          <a:lstStyle/>
          <a:p>
            <a:r>
              <a:rPr lang="en" altLang="zh-CN" dirty="0"/>
              <a:t>SMEP </a:t>
            </a:r>
            <a:r>
              <a:rPr lang="zh-CN" altLang="en-US" dirty="0"/>
              <a:t>不能完全解决 </a:t>
            </a:r>
            <a:r>
              <a:rPr lang="en" altLang="zh-CN" dirty="0"/>
              <a:t>ret2usr</a:t>
            </a:r>
            <a:r>
              <a:rPr lang="zh-CN" altLang="en-US" dirty="0"/>
              <a:t>：</a:t>
            </a:r>
            <a:r>
              <a:rPr lang="en-US" altLang="zh-CN" dirty="0"/>
              <a:t>ret2dir</a:t>
            </a:r>
            <a:endParaRPr kumimoji="1" lang="zh-CN" altLang="en-US" dirty="0"/>
          </a:p>
        </p:txBody>
      </p:sp>
      <p:sp>
        <p:nvSpPr>
          <p:cNvPr id="3" name="内容占位符 2">
            <a:extLst>
              <a:ext uri="{FF2B5EF4-FFF2-40B4-BE49-F238E27FC236}">
                <a16:creationId xmlns:a16="http://schemas.microsoft.com/office/drawing/2014/main" id="{7B4A3F57-B5BF-8B49-B82B-F5569C6EB391}"/>
              </a:ext>
            </a:extLst>
          </p:cNvPr>
          <p:cNvSpPr>
            <a:spLocks noGrp="1"/>
          </p:cNvSpPr>
          <p:nvPr>
            <p:ph idx="1"/>
          </p:nvPr>
        </p:nvSpPr>
        <p:spPr/>
        <p:txBody>
          <a:bodyPr>
            <a:normAutofit/>
          </a:bodyPr>
          <a:lstStyle/>
          <a:p>
            <a:r>
              <a:rPr lang="zh-CN" altLang="en-US" sz="1800" dirty="0"/>
              <a:t>操作系统管理内存的方法</a:t>
            </a:r>
            <a:r>
              <a:rPr lang="en-US" altLang="zh-CN" sz="1800" dirty="0"/>
              <a:t>"</a:t>
            </a:r>
            <a:r>
              <a:rPr lang="zh-CN" altLang="en-US" sz="1800" dirty="0"/>
              <a:t>直接映射</a:t>
            </a:r>
            <a:r>
              <a:rPr lang="en-US" altLang="zh-CN" sz="1800" dirty="0"/>
              <a:t>"</a:t>
            </a:r>
          </a:p>
          <a:p>
            <a:pPr lvl="1"/>
            <a:r>
              <a:rPr lang="zh-CN" altLang="en-US" sz="1400" dirty="0"/>
              <a:t>将一部分或所有的物理内存映射到一段连续的内核态虚拟地址空间</a:t>
            </a:r>
            <a:endParaRPr lang="en-US" altLang="zh-CN" sz="1400" dirty="0"/>
          </a:p>
          <a:p>
            <a:pPr lvl="1"/>
            <a:r>
              <a:rPr lang="zh-CN" altLang="en-US" sz="1400" dirty="0"/>
              <a:t>分配给应用程序后，直接映射依然存在</a:t>
            </a:r>
            <a:endParaRPr lang="en-US" altLang="zh-CN" sz="1400" dirty="0"/>
          </a:p>
          <a:p>
            <a:pPr lvl="1"/>
            <a:r>
              <a:rPr lang="zh-CN" altLang="en-US" sz="1400" dirty="0"/>
              <a:t>因此，同一块物理内存在系统中有多个虚拟地址</a:t>
            </a:r>
            <a:endParaRPr lang="en-US" altLang="zh-CN" sz="1400" dirty="0"/>
          </a:p>
          <a:p>
            <a:pPr lvl="2"/>
            <a:r>
              <a:rPr lang="zh-CN" altLang="en-US" sz="1400" dirty="0"/>
              <a:t>例如，某个内存页分配给了应用程序，那么内核既可以通过应用程序的虚拟地址访问（前提是内核与应用在一个地址空间），也可以通过直接映射的虚拟地址访问</a:t>
            </a:r>
            <a:endParaRPr lang="en-US" altLang="zh-CN" sz="1400" dirty="0"/>
          </a:p>
          <a:p>
            <a:r>
              <a:rPr lang="zh-CN" altLang="en-US" sz="1800" dirty="0"/>
              <a:t>基于直接映射的攻击，可绕过</a:t>
            </a:r>
            <a:r>
              <a:rPr lang="en-US" altLang="zh-CN" sz="1800" dirty="0"/>
              <a:t>SMEP</a:t>
            </a:r>
          </a:p>
          <a:p>
            <a:pPr lvl="1"/>
            <a:r>
              <a:rPr lang="zh-CN" altLang="en-US" sz="1400" dirty="0"/>
              <a:t>攻击者首先推算出位于用户态的恶意代码在内核直接映射区域的虚拟地址，然后在 </a:t>
            </a:r>
            <a:r>
              <a:rPr lang="en" altLang="zh-CN" sz="1400" dirty="0"/>
              <a:t>ret2usr </a:t>
            </a:r>
            <a:r>
              <a:rPr lang="zh-CN" altLang="en-US" sz="1400" dirty="0"/>
              <a:t>攻击中让内核跳转到该地址执行（内容依然为攻击者控制）</a:t>
            </a:r>
            <a:endParaRPr lang="en-US" altLang="zh-CN" sz="1400" dirty="0"/>
          </a:p>
          <a:p>
            <a:pPr lvl="1"/>
            <a:r>
              <a:rPr lang="zh-CN" altLang="en-US" sz="1400" dirty="0"/>
              <a:t>攻击成功还有一个前提：直接映射区域必须是可执行的</a:t>
            </a:r>
            <a:endParaRPr lang="en-US" altLang="zh-CN" sz="1400" dirty="0"/>
          </a:p>
          <a:p>
            <a:pPr lvl="2"/>
            <a:r>
              <a:rPr lang="zh-CN" altLang="en-US" sz="1400" dirty="0"/>
              <a:t>在 </a:t>
            </a:r>
            <a:r>
              <a:rPr lang="en-US" altLang="zh-CN" sz="1400" dirty="0"/>
              <a:t>3.8.13 </a:t>
            </a:r>
            <a:r>
              <a:rPr lang="zh-CN" altLang="en-US" sz="1400" dirty="0"/>
              <a:t>以及 之前的 </a:t>
            </a:r>
            <a:r>
              <a:rPr lang="en" altLang="zh-CN" sz="1400" dirty="0"/>
              <a:t>Linux </a:t>
            </a:r>
            <a:r>
              <a:rPr lang="zh-CN" altLang="en-US" sz="1400" dirty="0"/>
              <a:t>版本，将直接映射区域的权限设置为了</a:t>
            </a:r>
            <a:r>
              <a:rPr lang="en-US" altLang="zh-CN" sz="1400" dirty="0"/>
              <a:t>"</a:t>
            </a:r>
            <a:r>
              <a:rPr lang="zh-CN" altLang="en-US" sz="1400" dirty="0"/>
              <a:t>可读</a:t>
            </a:r>
            <a:r>
              <a:rPr lang="en-US" altLang="zh-CN" sz="1400" dirty="0"/>
              <a:t>-</a:t>
            </a:r>
            <a:r>
              <a:rPr lang="zh-CN" altLang="en-US" sz="1400" dirty="0"/>
              <a:t>可写</a:t>
            </a:r>
            <a:r>
              <a:rPr lang="en-US" altLang="zh-CN" sz="1400" dirty="0"/>
              <a:t>-</a:t>
            </a:r>
            <a:r>
              <a:rPr lang="zh-CN" altLang="en-US" sz="1400" dirty="0"/>
              <a:t>可执行</a:t>
            </a:r>
            <a:r>
              <a:rPr lang="en-US" altLang="zh-CN" sz="1400" dirty="0"/>
              <a:t>"</a:t>
            </a:r>
          </a:p>
          <a:p>
            <a:pPr lvl="1"/>
            <a:r>
              <a:rPr lang="zh-CN" altLang="en-US" sz="1400" dirty="0"/>
              <a:t>这种利用直接映射区域的 </a:t>
            </a:r>
            <a:r>
              <a:rPr lang="en" altLang="zh-CN" sz="1400" dirty="0"/>
              <a:t>ret2usr </a:t>
            </a:r>
            <a:r>
              <a:rPr lang="zh-CN" altLang="en-US" sz="1400" dirty="0"/>
              <a:t>攻击被称为</a:t>
            </a:r>
            <a:r>
              <a:rPr lang="en-US" altLang="zh-CN" sz="1400" b="1" dirty="0">
                <a:solidFill>
                  <a:schemeClr val="accent1"/>
                </a:solidFill>
              </a:rPr>
              <a:t>"</a:t>
            </a:r>
            <a:r>
              <a:rPr lang="en" altLang="zh-CN" sz="1400" b="1" dirty="0">
                <a:solidFill>
                  <a:schemeClr val="accent1"/>
                </a:solidFill>
              </a:rPr>
              <a:t>ret2dir"</a:t>
            </a:r>
            <a:r>
              <a:rPr lang="zh-CN" altLang="en-US" sz="1400" b="1" dirty="0">
                <a:solidFill>
                  <a:schemeClr val="accent1"/>
                </a:solidFill>
              </a:rPr>
              <a:t>攻击</a:t>
            </a:r>
          </a:p>
        </p:txBody>
      </p:sp>
      <p:sp>
        <p:nvSpPr>
          <p:cNvPr id="4" name="灯片编号占位符 3">
            <a:extLst>
              <a:ext uri="{FF2B5EF4-FFF2-40B4-BE49-F238E27FC236}">
                <a16:creationId xmlns:a16="http://schemas.microsoft.com/office/drawing/2014/main" id="{7B172B67-8C61-A44F-A409-51B4E669285F}"/>
              </a:ext>
            </a:extLst>
          </p:cNvPr>
          <p:cNvSpPr>
            <a:spLocks noGrp="1"/>
          </p:cNvSpPr>
          <p:nvPr>
            <p:ph type="sldNum" sz="quarter" idx="12"/>
          </p:nvPr>
        </p:nvSpPr>
        <p:spPr/>
        <p:txBody>
          <a:bodyPr/>
          <a:lstStyle/>
          <a:p>
            <a:fld id="{ADE361C3-C043-4A6E-BDCE-8DA1E7D90A3B}" type="slidenum">
              <a:rPr lang="zh-CN" altLang="en-US" smtClean="0"/>
              <a:t>28</a:t>
            </a:fld>
            <a:endParaRPr lang="zh-CN" altLang="en-US"/>
          </a:p>
        </p:txBody>
      </p:sp>
      <p:sp>
        <p:nvSpPr>
          <p:cNvPr id="5" name="页脚占位符 4">
            <a:extLst>
              <a:ext uri="{FF2B5EF4-FFF2-40B4-BE49-F238E27FC236}">
                <a16:creationId xmlns:a16="http://schemas.microsoft.com/office/drawing/2014/main" id="{7ED2B54F-1FF9-A547-B0DF-AE1869A77EFB}"/>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030896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80C6FD-94FD-8346-AC06-1BE866E17A59}"/>
              </a:ext>
            </a:extLst>
          </p:cNvPr>
          <p:cNvSpPr>
            <a:spLocks noGrp="1"/>
          </p:cNvSpPr>
          <p:nvPr>
            <p:ph type="title"/>
          </p:nvPr>
        </p:nvSpPr>
        <p:spPr/>
        <p:txBody>
          <a:bodyPr/>
          <a:lstStyle/>
          <a:p>
            <a:r>
              <a:rPr kumimoji="1" lang="en-US" altLang="zh-CN" dirty="0"/>
              <a:t>Rootkit</a:t>
            </a:r>
            <a:r>
              <a:rPr kumimoji="1" lang="zh-CN" altLang="en-US" dirty="0"/>
              <a:t>：获取内核权限的恶意代码</a:t>
            </a:r>
          </a:p>
        </p:txBody>
      </p:sp>
      <p:sp>
        <p:nvSpPr>
          <p:cNvPr id="3" name="内容占位符 2">
            <a:extLst>
              <a:ext uri="{FF2B5EF4-FFF2-40B4-BE49-F238E27FC236}">
                <a16:creationId xmlns:a16="http://schemas.microsoft.com/office/drawing/2014/main" id="{748AD050-AA59-D245-9639-C29C78D31723}"/>
              </a:ext>
            </a:extLst>
          </p:cNvPr>
          <p:cNvSpPr>
            <a:spLocks noGrp="1"/>
          </p:cNvSpPr>
          <p:nvPr>
            <p:ph idx="1"/>
          </p:nvPr>
        </p:nvSpPr>
        <p:spPr/>
        <p:txBody>
          <a:bodyPr>
            <a:normAutofit/>
          </a:bodyPr>
          <a:lstStyle/>
          <a:p>
            <a:r>
              <a:rPr lang="en" altLang="zh-CN" sz="2000" dirty="0"/>
              <a:t>Rootkit </a:t>
            </a:r>
            <a:r>
              <a:rPr lang="zh-CN" altLang="en-US" sz="2000" dirty="0"/>
              <a:t>是指以得到 </a:t>
            </a:r>
            <a:r>
              <a:rPr lang="en" altLang="zh-CN" sz="2000" dirty="0"/>
              <a:t>root </a:t>
            </a:r>
            <a:r>
              <a:rPr lang="zh-CN" altLang="en-US" sz="2000" dirty="0"/>
              <a:t>权限为目的的恶意软件</a:t>
            </a:r>
            <a:endParaRPr lang="en-US" altLang="zh-CN" sz="2000" dirty="0"/>
          </a:p>
          <a:p>
            <a:pPr lvl="1"/>
            <a:r>
              <a:rPr lang="en" altLang="zh-CN" sz="1800" dirty="0"/>
              <a:t>Rootkit </a:t>
            </a:r>
            <a:r>
              <a:rPr lang="zh-CN" altLang="en-US" sz="1800" dirty="0"/>
              <a:t>可以运行在用户态，也可以运行在内核态</a:t>
            </a:r>
            <a:endParaRPr lang="en-US" altLang="zh-CN" sz="1800" dirty="0"/>
          </a:p>
          <a:p>
            <a:r>
              <a:rPr lang="zh-CN" altLang="en-US" sz="2000" dirty="0"/>
              <a:t>用户态的</a:t>
            </a:r>
            <a:r>
              <a:rPr lang="en-US" altLang="zh-CN" sz="2000" dirty="0"/>
              <a:t>R</a:t>
            </a:r>
            <a:r>
              <a:rPr lang="en" altLang="zh-CN" sz="2000" dirty="0" err="1"/>
              <a:t>ootkit</a:t>
            </a:r>
            <a:endParaRPr lang="en" altLang="zh-CN" sz="2000" dirty="0"/>
          </a:p>
          <a:p>
            <a:pPr lvl="1"/>
            <a:r>
              <a:rPr lang="zh-CN" altLang="en-US" sz="1800" dirty="0"/>
              <a:t>可以将自己注入到某个具有 </a:t>
            </a:r>
            <a:r>
              <a:rPr lang="en" altLang="zh-CN" sz="1800" dirty="0"/>
              <a:t>root </a:t>
            </a:r>
            <a:r>
              <a:rPr lang="zh-CN" altLang="en-US" sz="1800" dirty="0"/>
              <a:t>权限的进程中，并接收攻击者的命令</a:t>
            </a:r>
            <a:endParaRPr lang="en-US" altLang="zh-CN" sz="1800" dirty="0"/>
          </a:p>
          <a:p>
            <a:r>
              <a:rPr lang="zh-CN" altLang="en-US" sz="2000" dirty="0"/>
              <a:t>内核态的</a:t>
            </a:r>
            <a:r>
              <a:rPr lang="en-US" altLang="zh-CN" sz="2000" dirty="0"/>
              <a:t>Rootkit</a:t>
            </a:r>
          </a:p>
          <a:p>
            <a:pPr lvl="1"/>
            <a:r>
              <a:rPr lang="zh-CN" altLang="en-US" sz="1800" dirty="0"/>
              <a:t>可以 </a:t>
            </a:r>
            <a:r>
              <a:rPr lang="en" altLang="zh-CN" sz="1800" dirty="0"/>
              <a:t>hook </a:t>
            </a:r>
            <a:r>
              <a:rPr lang="zh-CN" altLang="en-US" sz="1800" dirty="0"/>
              <a:t>某个内核中的关键函数，从而在该函数被调用时触发运行</a:t>
            </a:r>
            <a:endParaRPr lang="en-US" altLang="zh-CN" sz="1800" dirty="0"/>
          </a:p>
          <a:p>
            <a:pPr lvl="1"/>
            <a:r>
              <a:rPr lang="zh-CN" altLang="en-US" sz="1800" dirty="0"/>
              <a:t>可以是以内核线程的方式运行</a:t>
            </a:r>
          </a:p>
          <a:p>
            <a:pPr lvl="1"/>
            <a:r>
              <a:rPr lang="zh-CN" altLang="en-US" sz="1800" dirty="0"/>
              <a:t>可以是修改内核中的系统调用表，用恶意代码来替换掉正常的系统调用</a:t>
            </a:r>
            <a:endParaRPr lang="en-US" altLang="zh-CN" sz="1800" dirty="0"/>
          </a:p>
        </p:txBody>
      </p:sp>
      <p:sp>
        <p:nvSpPr>
          <p:cNvPr id="4" name="灯片编号占位符 3">
            <a:extLst>
              <a:ext uri="{FF2B5EF4-FFF2-40B4-BE49-F238E27FC236}">
                <a16:creationId xmlns:a16="http://schemas.microsoft.com/office/drawing/2014/main" id="{0EB1BFCC-F3A3-3A47-9041-F86C28C87BAA}"/>
              </a:ext>
            </a:extLst>
          </p:cNvPr>
          <p:cNvSpPr>
            <a:spLocks noGrp="1"/>
          </p:cNvSpPr>
          <p:nvPr>
            <p:ph type="sldNum" sz="quarter" idx="12"/>
          </p:nvPr>
        </p:nvSpPr>
        <p:spPr/>
        <p:txBody>
          <a:bodyPr/>
          <a:lstStyle/>
          <a:p>
            <a:fld id="{ADE361C3-C043-4A6E-BDCE-8DA1E7D90A3B}" type="slidenum">
              <a:rPr lang="zh-CN" altLang="en-US" smtClean="0"/>
              <a:t>29</a:t>
            </a:fld>
            <a:endParaRPr lang="zh-CN" altLang="en-US"/>
          </a:p>
        </p:txBody>
      </p:sp>
      <p:sp>
        <p:nvSpPr>
          <p:cNvPr id="5" name="页脚占位符 4">
            <a:extLst>
              <a:ext uri="{FF2B5EF4-FFF2-40B4-BE49-F238E27FC236}">
                <a16:creationId xmlns:a16="http://schemas.microsoft.com/office/drawing/2014/main" id="{8CCB5F70-E873-B642-BFE2-FCEAB18B5D16}"/>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32948744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6D90B8-D3C4-F44F-9779-FBA5ED68B9F8}"/>
              </a:ext>
            </a:extLst>
          </p:cNvPr>
          <p:cNvSpPr>
            <a:spLocks noGrp="1"/>
          </p:cNvSpPr>
          <p:nvPr>
            <p:ph type="title"/>
          </p:nvPr>
        </p:nvSpPr>
        <p:spPr/>
        <p:txBody>
          <a:bodyPr/>
          <a:lstStyle/>
          <a:p>
            <a:r>
              <a:rPr kumimoji="1" lang="en-US" altLang="zh-CN" dirty="0"/>
              <a:t>KASLR</a:t>
            </a:r>
            <a:r>
              <a:rPr kumimoji="1" lang="zh-CN" altLang="en-US" dirty="0"/>
              <a:t>：内核地址布局随机化</a:t>
            </a:r>
          </a:p>
        </p:txBody>
      </p:sp>
      <p:sp>
        <p:nvSpPr>
          <p:cNvPr id="3" name="内容占位符 2">
            <a:extLst>
              <a:ext uri="{FF2B5EF4-FFF2-40B4-BE49-F238E27FC236}">
                <a16:creationId xmlns:a16="http://schemas.microsoft.com/office/drawing/2014/main" id="{12C6CA0C-FD9A-C846-A46D-0DF780B7A133}"/>
              </a:ext>
            </a:extLst>
          </p:cNvPr>
          <p:cNvSpPr>
            <a:spLocks noGrp="1"/>
          </p:cNvSpPr>
          <p:nvPr>
            <p:ph idx="1"/>
          </p:nvPr>
        </p:nvSpPr>
        <p:spPr/>
        <p:txBody>
          <a:bodyPr>
            <a:normAutofit/>
          </a:bodyPr>
          <a:lstStyle/>
          <a:p>
            <a:r>
              <a:rPr lang="en" altLang="zh-CN" dirty="0"/>
              <a:t>ASLR</a:t>
            </a:r>
            <a:r>
              <a:rPr lang="zh-CN" altLang="en-US" dirty="0"/>
              <a:t> 与 </a:t>
            </a:r>
            <a:r>
              <a:rPr lang="en-US" altLang="zh-CN" dirty="0"/>
              <a:t>KASLR</a:t>
            </a:r>
            <a:endParaRPr lang="en" altLang="zh-CN" dirty="0"/>
          </a:p>
          <a:p>
            <a:pPr lvl="1"/>
            <a:r>
              <a:rPr lang="en-US" altLang="zh-CN" dirty="0"/>
              <a:t>ASLR</a:t>
            </a:r>
            <a:r>
              <a:rPr lang="zh-CN" altLang="en-US" dirty="0"/>
              <a:t> 通过随机化地址空间布局来提高系统攻击难度</a:t>
            </a:r>
            <a:endParaRPr lang="en-US" altLang="zh-CN" dirty="0"/>
          </a:p>
          <a:p>
            <a:pPr lvl="1"/>
            <a:r>
              <a:rPr lang="en-US" altLang="zh-CN" dirty="0"/>
              <a:t>KASLR</a:t>
            </a:r>
            <a:r>
              <a:rPr lang="zh-CN" altLang="en-US" dirty="0"/>
              <a:t>是对内核启用地址随机化</a:t>
            </a:r>
            <a:endParaRPr lang="en-US" altLang="zh-CN" dirty="0"/>
          </a:p>
          <a:p>
            <a:r>
              <a:rPr lang="en" altLang="zh-CN" dirty="0"/>
              <a:t>KASLR</a:t>
            </a:r>
            <a:r>
              <a:rPr lang="zh-CN" altLang="en-US" dirty="0"/>
              <a:t> 可缓解 </a:t>
            </a:r>
            <a:r>
              <a:rPr lang="en-US" altLang="zh-CN" dirty="0"/>
              <a:t>ret2dir</a:t>
            </a:r>
            <a:r>
              <a:rPr lang="zh-CN" altLang="en-US" dirty="0"/>
              <a:t> 攻击</a:t>
            </a:r>
            <a:endParaRPr lang="en" altLang="zh-CN" dirty="0"/>
          </a:p>
          <a:p>
            <a:pPr lvl="1"/>
            <a:r>
              <a:rPr lang="zh-CN" altLang="en-US" dirty="0"/>
              <a:t>攻击者需要知道用户态恶意代码在内核中直接映射区域的地址</a:t>
            </a:r>
            <a:endParaRPr lang="en-US" altLang="zh-CN" dirty="0"/>
          </a:p>
          <a:p>
            <a:pPr lvl="1"/>
            <a:r>
              <a:rPr lang="en" altLang="zh-CN" dirty="0"/>
              <a:t>KASLR </a:t>
            </a:r>
            <a:r>
              <a:rPr lang="zh-CN" altLang="en-US" dirty="0"/>
              <a:t>通过将内核的虚拟地址布局进行随机化，使攻击者准确定位内核地址的难度大大提升</a:t>
            </a:r>
          </a:p>
          <a:p>
            <a:endParaRPr kumimoji="1" lang="zh-CN" altLang="en-US" dirty="0"/>
          </a:p>
        </p:txBody>
      </p:sp>
      <p:sp>
        <p:nvSpPr>
          <p:cNvPr id="4" name="灯片编号占位符 3">
            <a:extLst>
              <a:ext uri="{FF2B5EF4-FFF2-40B4-BE49-F238E27FC236}">
                <a16:creationId xmlns:a16="http://schemas.microsoft.com/office/drawing/2014/main" id="{13FA86EB-1598-2B46-8DC5-EDBB5DD0045B}"/>
              </a:ext>
            </a:extLst>
          </p:cNvPr>
          <p:cNvSpPr>
            <a:spLocks noGrp="1"/>
          </p:cNvSpPr>
          <p:nvPr>
            <p:ph type="sldNum" sz="quarter" idx="12"/>
          </p:nvPr>
        </p:nvSpPr>
        <p:spPr/>
        <p:txBody>
          <a:bodyPr/>
          <a:lstStyle/>
          <a:p>
            <a:fld id="{ADE361C3-C043-4A6E-BDCE-8DA1E7D90A3B}" type="slidenum">
              <a:rPr lang="zh-CN" altLang="en-US" smtClean="0"/>
              <a:t>30</a:t>
            </a:fld>
            <a:endParaRPr lang="zh-CN" altLang="en-US"/>
          </a:p>
        </p:txBody>
      </p:sp>
      <p:sp>
        <p:nvSpPr>
          <p:cNvPr id="5" name="页脚占位符 4">
            <a:extLst>
              <a:ext uri="{FF2B5EF4-FFF2-40B4-BE49-F238E27FC236}">
                <a16:creationId xmlns:a16="http://schemas.microsoft.com/office/drawing/2014/main" id="{4362E8A1-CD95-AB49-A267-F52337F26294}"/>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164999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EC9CDCC6-DB9C-BC4A-A313-862910B4FD35}"/>
              </a:ext>
            </a:extLst>
          </p:cNvPr>
          <p:cNvSpPr>
            <a:spLocks noGrp="1"/>
          </p:cNvSpPr>
          <p:nvPr>
            <p:ph type="title"/>
          </p:nvPr>
        </p:nvSpPr>
        <p:spPr/>
        <p:txBody>
          <a:bodyPr/>
          <a:lstStyle/>
          <a:p>
            <a:r>
              <a:rPr lang="zh-CN" altLang="en-US" dirty="0"/>
              <a:t>案例：</a:t>
            </a:r>
            <a:r>
              <a:rPr lang="en-US" altLang="zh-CN" dirty="0"/>
              <a:t>IOS</a:t>
            </a:r>
            <a:r>
              <a:rPr lang="zh-CN" altLang="en-US" dirty="0"/>
              <a:t>的系统安全</a:t>
            </a:r>
          </a:p>
        </p:txBody>
      </p:sp>
      <p:sp>
        <p:nvSpPr>
          <p:cNvPr id="7" name="文本占位符 6">
            <a:extLst>
              <a:ext uri="{FF2B5EF4-FFF2-40B4-BE49-F238E27FC236}">
                <a16:creationId xmlns:a16="http://schemas.microsoft.com/office/drawing/2014/main" id="{23982BAA-F039-C743-9B85-0113E485984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8349E08-09AF-514A-939C-AFB992D96B01}"/>
              </a:ext>
            </a:extLst>
          </p:cNvPr>
          <p:cNvSpPr>
            <a:spLocks noGrp="1"/>
          </p:cNvSpPr>
          <p:nvPr>
            <p:ph type="sldNum" sz="quarter" idx="12"/>
          </p:nvPr>
        </p:nvSpPr>
        <p:spPr/>
        <p:txBody>
          <a:bodyPr/>
          <a:lstStyle/>
          <a:p>
            <a:fld id="{ADE361C3-C043-4A6E-BDCE-8DA1E7D90A3B}" type="slidenum">
              <a:rPr lang="zh-CN" altLang="en-US" smtClean="0"/>
              <a:t>31</a:t>
            </a:fld>
            <a:endParaRPr lang="zh-CN" altLang="en-US"/>
          </a:p>
        </p:txBody>
      </p:sp>
      <p:sp>
        <p:nvSpPr>
          <p:cNvPr id="5" name="页脚占位符 4">
            <a:extLst>
              <a:ext uri="{FF2B5EF4-FFF2-40B4-BE49-F238E27FC236}">
                <a16:creationId xmlns:a16="http://schemas.microsoft.com/office/drawing/2014/main" id="{C4BA161B-BB4A-6948-915D-FC4018D73D2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616778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C55511B-6547-A14A-A118-1AFCEB7A4858}"/>
              </a:ext>
            </a:extLst>
          </p:cNvPr>
          <p:cNvSpPr>
            <a:spLocks noGrp="1"/>
          </p:cNvSpPr>
          <p:nvPr>
            <p:ph type="title"/>
          </p:nvPr>
        </p:nvSpPr>
        <p:spPr/>
        <p:txBody>
          <a:bodyPr/>
          <a:lstStyle/>
          <a:p>
            <a:r>
              <a:rPr kumimoji="1" lang="zh-CN" altLang="en-US" dirty="0"/>
              <a:t>文件加密保护机制</a:t>
            </a:r>
          </a:p>
        </p:txBody>
      </p:sp>
      <p:sp>
        <p:nvSpPr>
          <p:cNvPr id="3" name="内容占位符 2">
            <a:extLst>
              <a:ext uri="{FF2B5EF4-FFF2-40B4-BE49-F238E27FC236}">
                <a16:creationId xmlns:a16="http://schemas.microsoft.com/office/drawing/2014/main" id="{0619490B-1916-4C44-8562-0067B4C75813}"/>
              </a:ext>
            </a:extLst>
          </p:cNvPr>
          <p:cNvSpPr>
            <a:spLocks noGrp="1"/>
          </p:cNvSpPr>
          <p:nvPr>
            <p:ph idx="1"/>
          </p:nvPr>
        </p:nvSpPr>
        <p:spPr/>
        <p:txBody>
          <a:bodyPr/>
          <a:lstStyle/>
          <a:p>
            <a:r>
              <a:rPr lang="zh-CN" altLang="en-US" dirty="0"/>
              <a:t>每个文件都加密，且秘钥均不相同</a:t>
            </a:r>
            <a:endParaRPr lang="en-US" altLang="zh-CN" dirty="0"/>
          </a:p>
          <a:p>
            <a:pPr lvl="1"/>
            <a:r>
              <a:rPr lang="zh-CN" altLang="en-US" dirty="0"/>
              <a:t>创建文件时，系统会新建一个 </a:t>
            </a:r>
            <a:r>
              <a:rPr lang="en-US" altLang="zh-CN" dirty="0"/>
              <a:t>256-</a:t>
            </a:r>
            <a:r>
              <a:rPr lang="en" altLang="zh-CN" dirty="0"/>
              <a:t>bit </a:t>
            </a:r>
            <a:r>
              <a:rPr lang="zh-CN" altLang="en-US" dirty="0"/>
              <a:t>的秘钥用于该文件的加密</a:t>
            </a:r>
            <a:endParaRPr lang="en-US" altLang="zh-CN" dirty="0"/>
          </a:p>
          <a:p>
            <a:pPr lvl="1"/>
            <a:r>
              <a:rPr lang="zh-CN" altLang="en-US" dirty="0"/>
              <a:t>硬件的 </a:t>
            </a:r>
            <a:r>
              <a:rPr lang="en" altLang="zh-CN" dirty="0"/>
              <a:t>AES </a:t>
            </a:r>
            <a:r>
              <a:rPr lang="zh-CN" altLang="en-US" dirty="0"/>
              <a:t>引擎会在写 入文件时，使用该秘钥对文件进行 </a:t>
            </a:r>
            <a:r>
              <a:rPr lang="en" altLang="zh-CN" dirty="0"/>
              <a:t>AES CBC </a:t>
            </a:r>
            <a:r>
              <a:rPr lang="zh-CN" altLang="en-US" dirty="0"/>
              <a:t>模式加密，再写入到闪存中</a:t>
            </a:r>
            <a:endParaRPr lang="en-US" altLang="zh-CN" dirty="0"/>
          </a:p>
          <a:p>
            <a:pPr lvl="1"/>
            <a:r>
              <a:rPr lang="zh-CN" altLang="en-US" dirty="0"/>
              <a:t>加密过程中的初始化向量（</a:t>
            </a:r>
            <a:r>
              <a:rPr lang="en" altLang="zh-CN" dirty="0"/>
              <a:t>IV</a:t>
            </a:r>
            <a:r>
              <a:rPr lang="zh-CN" altLang="en" dirty="0"/>
              <a:t>，</a:t>
            </a:r>
            <a:r>
              <a:rPr lang="en" altLang="zh-CN" dirty="0"/>
              <a:t>Initialization Vector</a:t>
            </a:r>
            <a:r>
              <a:rPr lang="zh-CN" altLang="en" dirty="0"/>
              <a:t>）</a:t>
            </a:r>
            <a:r>
              <a:rPr lang="zh-CN" altLang="en-US" dirty="0"/>
              <a:t>使用了当前块在文件中的偏移，然后用文件秘钥的 </a:t>
            </a:r>
            <a:r>
              <a:rPr lang="en" altLang="zh-CN" dirty="0"/>
              <a:t>SHA-1 </a:t>
            </a:r>
            <a:r>
              <a:rPr lang="zh-CN" altLang="en-US" dirty="0"/>
              <a:t>值进行加密得到</a:t>
            </a:r>
          </a:p>
          <a:p>
            <a:endParaRPr kumimoji="1" lang="zh-CN" altLang="en-US" dirty="0"/>
          </a:p>
        </p:txBody>
      </p:sp>
      <p:sp>
        <p:nvSpPr>
          <p:cNvPr id="4" name="灯片编号占位符 3">
            <a:extLst>
              <a:ext uri="{FF2B5EF4-FFF2-40B4-BE49-F238E27FC236}">
                <a16:creationId xmlns:a16="http://schemas.microsoft.com/office/drawing/2014/main" id="{64C1B09A-D735-9D48-9509-C1878F20175B}"/>
              </a:ext>
            </a:extLst>
          </p:cNvPr>
          <p:cNvSpPr>
            <a:spLocks noGrp="1"/>
          </p:cNvSpPr>
          <p:nvPr>
            <p:ph type="sldNum" sz="quarter" idx="12"/>
          </p:nvPr>
        </p:nvSpPr>
        <p:spPr/>
        <p:txBody>
          <a:bodyPr/>
          <a:lstStyle/>
          <a:p>
            <a:fld id="{ADE361C3-C043-4A6E-BDCE-8DA1E7D90A3B}" type="slidenum">
              <a:rPr lang="zh-CN" altLang="en-US" smtClean="0"/>
              <a:t>32</a:t>
            </a:fld>
            <a:endParaRPr lang="zh-CN" altLang="en-US"/>
          </a:p>
        </p:txBody>
      </p:sp>
      <p:sp>
        <p:nvSpPr>
          <p:cNvPr id="5" name="页脚占位符 4">
            <a:extLst>
              <a:ext uri="{FF2B5EF4-FFF2-40B4-BE49-F238E27FC236}">
                <a16:creationId xmlns:a16="http://schemas.microsoft.com/office/drawing/2014/main" id="{6BE18635-D4DC-4143-9CC4-C6AAB39FB380}"/>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225577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D1008E-B21B-CF4C-9C72-63C4BA7E9271}"/>
              </a:ext>
            </a:extLst>
          </p:cNvPr>
          <p:cNvSpPr>
            <a:spLocks noGrp="1"/>
          </p:cNvSpPr>
          <p:nvPr>
            <p:ph type="title"/>
          </p:nvPr>
        </p:nvSpPr>
        <p:spPr/>
        <p:txBody>
          <a:bodyPr/>
          <a:lstStyle/>
          <a:p>
            <a:r>
              <a:rPr kumimoji="1" lang="zh-CN" altLang="en-US" dirty="0"/>
              <a:t>进程沙盒机制</a:t>
            </a:r>
          </a:p>
        </p:txBody>
      </p:sp>
      <p:sp>
        <p:nvSpPr>
          <p:cNvPr id="3" name="内容占位符 2">
            <a:extLst>
              <a:ext uri="{FF2B5EF4-FFF2-40B4-BE49-F238E27FC236}">
                <a16:creationId xmlns:a16="http://schemas.microsoft.com/office/drawing/2014/main" id="{6BC43D11-411F-6D40-BD98-15198B3F225B}"/>
              </a:ext>
            </a:extLst>
          </p:cNvPr>
          <p:cNvSpPr>
            <a:spLocks noGrp="1"/>
          </p:cNvSpPr>
          <p:nvPr>
            <p:ph idx="1"/>
          </p:nvPr>
        </p:nvSpPr>
        <p:spPr/>
        <p:txBody>
          <a:bodyPr>
            <a:normAutofit lnSpcReduction="10000"/>
          </a:bodyPr>
          <a:lstStyle/>
          <a:p>
            <a:r>
              <a:rPr lang="zh-CN" altLang="en-US" sz="2000" dirty="0"/>
              <a:t>所有第三方 </a:t>
            </a:r>
            <a:r>
              <a:rPr lang="en" altLang="zh-CN" sz="2000" dirty="0"/>
              <a:t>App </a:t>
            </a:r>
            <a:r>
              <a:rPr lang="zh-CN" altLang="en-US" sz="2000" dirty="0"/>
              <a:t>都运行在一个沙盒中</a:t>
            </a:r>
            <a:endParaRPr lang="en-US" altLang="zh-CN" sz="2000" dirty="0"/>
          </a:p>
          <a:p>
            <a:pPr lvl="1"/>
            <a:r>
              <a:rPr lang="zh-CN" altLang="en-US" sz="1800" dirty="0"/>
              <a:t>被限制访问其他应用程序存储的文件或对设备进行修改</a:t>
            </a:r>
            <a:endParaRPr lang="en-US" altLang="zh-CN" sz="1800" dirty="0"/>
          </a:p>
          <a:p>
            <a:pPr lvl="1"/>
            <a:r>
              <a:rPr lang="zh-CN" altLang="en-US" sz="1800" dirty="0"/>
              <a:t>若第三方 </a:t>
            </a:r>
            <a:r>
              <a:rPr lang="en" altLang="zh-CN" sz="1800" dirty="0"/>
              <a:t>App </a:t>
            </a:r>
            <a:r>
              <a:rPr lang="zh-CN" altLang="en-US" sz="1800" dirty="0"/>
              <a:t>需要访问其任何沙盒外部的数据， 只能显式地通过 </a:t>
            </a:r>
            <a:r>
              <a:rPr lang="en" altLang="zh-CN" sz="1800" dirty="0"/>
              <a:t>iOS </a:t>
            </a:r>
            <a:r>
              <a:rPr lang="zh-CN" altLang="en-US" sz="1800" dirty="0"/>
              <a:t>提供的 </a:t>
            </a:r>
            <a:r>
              <a:rPr lang="en" altLang="zh-CN" sz="1800" dirty="0"/>
              <a:t>API </a:t>
            </a:r>
            <a:r>
              <a:rPr lang="zh-CN" altLang="en-US" sz="1800" dirty="0"/>
              <a:t>来访问</a:t>
            </a:r>
            <a:endParaRPr lang="en-US" altLang="zh-CN" sz="1800" dirty="0"/>
          </a:p>
          <a:p>
            <a:pPr lvl="1"/>
            <a:r>
              <a:rPr lang="zh-CN" altLang="en-US" sz="1800" dirty="0"/>
              <a:t>因此 </a:t>
            </a:r>
            <a:r>
              <a:rPr lang="en" altLang="zh-CN" sz="1800" dirty="0"/>
              <a:t>iOS </a:t>
            </a:r>
            <a:r>
              <a:rPr lang="zh-CN" altLang="en-US" sz="1800" dirty="0"/>
              <a:t>可以在 </a:t>
            </a:r>
            <a:r>
              <a:rPr lang="en" altLang="zh-CN" sz="1800" dirty="0"/>
              <a:t>API</a:t>
            </a:r>
            <a:r>
              <a:rPr lang="zh-CN" altLang="en-US" sz="1800" dirty="0"/>
              <a:t>设置各种检查来进一步增强安全性</a:t>
            </a:r>
          </a:p>
          <a:p>
            <a:r>
              <a:rPr lang="zh-CN" altLang="en-US" sz="2000" dirty="0"/>
              <a:t>第三方 </a:t>
            </a:r>
            <a:r>
              <a:rPr lang="en" altLang="zh-CN" sz="2000" dirty="0"/>
              <a:t>App </a:t>
            </a:r>
            <a:r>
              <a:rPr lang="zh-CN" altLang="en-US" sz="2000" dirty="0"/>
              <a:t>都以</a:t>
            </a:r>
            <a:r>
              <a:rPr lang="en" altLang="zh-CN" sz="2000" dirty="0"/>
              <a:t>mobile</a:t>
            </a:r>
            <a:r>
              <a:rPr lang="zh-CN" altLang="en-US" sz="2000" dirty="0"/>
              <a:t>的非特权用户身份运行</a:t>
            </a:r>
            <a:endParaRPr lang="en-US" altLang="zh-CN" sz="2000" dirty="0"/>
          </a:p>
          <a:p>
            <a:pPr lvl="1"/>
            <a:r>
              <a:rPr lang="zh-CN" altLang="en-US" sz="1800" dirty="0"/>
              <a:t>整个 </a:t>
            </a:r>
            <a:r>
              <a:rPr lang="en" altLang="zh-CN" sz="1800" dirty="0"/>
              <a:t>OS </a:t>
            </a:r>
            <a:r>
              <a:rPr lang="zh-CN" altLang="en-US" sz="1800" dirty="0"/>
              <a:t>的分区以只读方式加载，所有的数据内存区域均使用 </a:t>
            </a:r>
            <a:r>
              <a:rPr lang="en" altLang="zh-CN" sz="1800" dirty="0"/>
              <a:t>ARM </a:t>
            </a:r>
            <a:r>
              <a:rPr lang="zh-CN" altLang="en-US" sz="1800" dirty="0"/>
              <a:t>的 </a:t>
            </a:r>
            <a:r>
              <a:rPr lang="en" altLang="zh-CN" sz="1800" dirty="0"/>
              <a:t>XN </a:t>
            </a:r>
            <a:r>
              <a:rPr lang="zh-CN" altLang="en-US" sz="1800" dirty="0"/>
              <a:t>机制（</a:t>
            </a:r>
            <a:r>
              <a:rPr lang="en" altLang="zh-CN" sz="1800" dirty="0"/>
              <a:t>Execute Never</a:t>
            </a:r>
            <a:r>
              <a:rPr lang="zh-CN" altLang="en" sz="1800" dirty="0"/>
              <a:t>）</a:t>
            </a:r>
            <a:r>
              <a:rPr lang="zh-CN" altLang="en-US" sz="1800" dirty="0"/>
              <a:t>标记为不可执行</a:t>
            </a:r>
            <a:endParaRPr lang="en-US" altLang="zh-CN" sz="1800" dirty="0"/>
          </a:p>
          <a:p>
            <a:pPr lvl="1"/>
            <a:r>
              <a:rPr lang="zh-CN" altLang="en-US" sz="1800" dirty="0"/>
              <a:t>只有很少部分的内存页被标记为可写可执行（例如 </a:t>
            </a:r>
            <a:r>
              <a:rPr lang="en" altLang="zh-CN" sz="1800" dirty="0"/>
              <a:t>Safari</a:t>
            </a:r>
            <a:r>
              <a:rPr lang="zh-CN" altLang="en" sz="1800" dirty="0"/>
              <a:t>，</a:t>
            </a:r>
            <a:r>
              <a:rPr lang="zh-CN" altLang="en-US" sz="1800" dirty="0"/>
              <a:t>用于 </a:t>
            </a:r>
            <a:r>
              <a:rPr lang="en" altLang="zh-CN" sz="1800" dirty="0"/>
              <a:t>JavaScript </a:t>
            </a:r>
            <a:r>
              <a:rPr lang="zh-CN" altLang="en-US" sz="1800" dirty="0"/>
              <a:t>的 </a:t>
            </a:r>
            <a:r>
              <a:rPr lang="en" altLang="zh-CN" sz="1800" dirty="0"/>
              <a:t>JIT</a:t>
            </a:r>
            <a:r>
              <a:rPr lang="zh-CN" altLang="en" sz="1800" dirty="0"/>
              <a:t>），</a:t>
            </a:r>
            <a:r>
              <a:rPr lang="zh-CN" altLang="en-US" sz="1800" dirty="0"/>
              <a:t>内核会仔细检查 </a:t>
            </a:r>
            <a:r>
              <a:rPr lang="en" altLang="zh-CN" sz="1800" dirty="0"/>
              <a:t>App </a:t>
            </a:r>
            <a:r>
              <a:rPr lang="zh-CN" altLang="en-US" sz="1800" dirty="0"/>
              <a:t>是否有权限做这样的映射</a:t>
            </a:r>
          </a:p>
        </p:txBody>
      </p:sp>
      <p:sp>
        <p:nvSpPr>
          <p:cNvPr id="4" name="灯片编号占位符 3">
            <a:extLst>
              <a:ext uri="{FF2B5EF4-FFF2-40B4-BE49-F238E27FC236}">
                <a16:creationId xmlns:a16="http://schemas.microsoft.com/office/drawing/2014/main" id="{80F1F74A-ABF5-BB48-B4A8-5A65BC4CE622}"/>
              </a:ext>
            </a:extLst>
          </p:cNvPr>
          <p:cNvSpPr>
            <a:spLocks noGrp="1"/>
          </p:cNvSpPr>
          <p:nvPr>
            <p:ph type="sldNum" sz="quarter" idx="12"/>
          </p:nvPr>
        </p:nvSpPr>
        <p:spPr/>
        <p:txBody>
          <a:bodyPr/>
          <a:lstStyle/>
          <a:p>
            <a:fld id="{ADE361C3-C043-4A6E-BDCE-8DA1E7D90A3B}" type="slidenum">
              <a:rPr lang="zh-CN" altLang="en-US" smtClean="0"/>
              <a:t>33</a:t>
            </a:fld>
            <a:endParaRPr lang="zh-CN" altLang="en-US"/>
          </a:p>
        </p:txBody>
      </p:sp>
      <p:sp>
        <p:nvSpPr>
          <p:cNvPr id="5" name="页脚占位符 4">
            <a:extLst>
              <a:ext uri="{FF2B5EF4-FFF2-40B4-BE49-F238E27FC236}">
                <a16:creationId xmlns:a16="http://schemas.microsoft.com/office/drawing/2014/main" id="{0AB5C5ED-8DD8-E041-A361-6B77E55EC437}"/>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72688862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EC9CDCC6-DB9C-BC4A-A313-862910B4FD35}"/>
              </a:ext>
            </a:extLst>
          </p:cNvPr>
          <p:cNvSpPr>
            <a:spLocks noGrp="1"/>
          </p:cNvSpPr>
          <p:nvPr>
            <p:ph type="title"/>
          </p:nvPr>
        </p:nvSpPr>
        <p:spPr/>
        <p:txBody>
          <a:bodyPr/>
          <a:lstStyle/>
          <a:p>
            <a:r>
              <a:rPr lang="zh-CN" altLang="en-US" dirty="0"/>
              <a:t>侧信道与隐秘信道</a:t>
            </a:r>
          </a:p>
        </p:txBody>
      </p:sp>
      <p:sp>
        <p:nvSpPr>
          <p:cNvPr id="7" name="文本占位符 6">
            <a:extLst>
              <a:ext uri="{FF2B5EF4-FFF2-40B4-BE49-F238E27FC236}">
                <a16:creationId xmlns:a16="http://schemas.microsoft.com/office/drawing/2014/main" id="{23982BAA-F039-C743-9B85-0113E485984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8349E08-09AF-514A-939C-AFB992D96B01}"/>
              </a:ext>
            </a:extLst>
          </p:cNvPr>
          <p:cNvSpPr>
            <a:spLocks noGrp="1"/>
          </p:cNvSpPr>
          <p:nvPr>
            <p:ph type="sldNum" sz="quarter" idx="12"/>
          </p:nvPr>
        </p:nvSpPr>
        <p:spPr/>
        <p:txBody>
          <a:bodyPr/>
          <a:lstStyle/>
          <a:p>
            <a:fld id="{ADE361C3-C043-4A6E-BDCE-8DA1E7D90A3B}" type="slidenum">
              <a:rPr lang="zh-CN" altLang="en-US" smtClean="0"/>
              <a:t>34</a:t>
            </a:fld>
            <a:endParaRPr lang="zh-CN" altLang="en-US"/>
          </a:p>
        </p:txBody>
      </p:sp>
      <p:sp>
        <p:nvSpPr>
          <p:cNvPr id="5" name="页脚占位符 4">
            <a:extLst>
              <a:ext uri="{FF2B5EF4-FFF2-40B4-BE49-F238E27FC236}">
                <a16:creationId xmlns:a16="http://schemas.microsoft.com/office/drawing/2014/main" id="{C4BA161B-BB4A-6948-915D-FC4018D73D2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83261036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D1008E-B21B-CF4C-9C72-63C4BA7E9271}"/>
              </a:ext>
            </a:extLst>
          </p:cNvPr>
          <p:cNvSpPr>
            <a:spLocks noGrp="1"/>
          </p:cNvSpPr>
          <p:nvPr>
            <p:ph type="title"/>
          </p:nvPr>
        </p:nvSpPr>
        <p:spPr/>
        <p:txBody>
          <a:bodyPr/>
          <a:lstStyle/>
          <a:p>
            <a:r>
              <a:rPr kumimoji="1" lang="zh-CN" altLang="en-US" dirty="0"/>
              <a:t>什么是隐秘信道？</a:t>
            </a:r>
          </a:p>
        </p:txBody>
      </p:sp>
      <p:sp>
        <p:nvSpPr>
          <p:cNvPr id="3" name="内容占位符 2">
            <a:extLst>
              <a:ext uri="{FF2B5EF4-FFF2-40B4-BE49-F238E27FC236}">
                <a16:creationId xmlns:a16="http://schemas.microsoft.com/office/drawing/2014/main" id="{6BC43D11-411F-6D40-BD98-15198B3F225B}"/>
              </a:ext>
            </a:extLst>
          </p:cNvPr>
          <p:cNvSpPr>
            <a:spLocks noGrp="1"/>
          </p:cNvSpPr>
          <p:nvPr>
            <p:ph idx="1"/>
          </p:nvPr>
        </p:nvSpPr>
        <p:spPr/>
        <p:txBody>
          <a:bodyPr>
            <a:normAutofit lnSpcReduction="10000"/>
          </a:bodyPr>
          <a:lstStyle/>
          <a:p>
            <a:r>
              <a:rPr kumimoji="1" lang="zh-CN" altLang="en-US" sz="2000" dirty="0"/>
              <a:t>隐秘信道（</a:t>
            </a:r>
            <a:r>
              <a:rPr kumimoji="1" lang="en-US" altLang="zh-CN" sz="2000" dirty="0"/>
              <a:t>Covert</a:t>
            </a:r>
            <a:r>
              <a:rPr kumimoji="1" lang="zh-CN" altLang="en-US" sz="2000" dirty="0"/>
              <a:t> </a:t>
            </a:r>
            <a:r>
              <a:rPr kumimoji="1" lang="en-US" altLang="zh-CN" sz="2000" dirty="0"/>
              <a:t>Channel</a:t>
            </a:r>
            <a:r>
              <a:rPr kumimoji="1" lang="zh-CN" altLang="en-US" sz="2000" dirty="0"/>
              <a:t>）</a:t>
            </a:r>
            <a:endParaRPr kumimoji="1" lang="en-US" altLang="zh-CN" sz="2000" dirty="0"/>
          </a:p>
          <a:p>
            <a:pPr lvl="1"/>
            <a:r>
              <a:rPr kumimoji="1" lang="zh-CN" altLang="en-US" sz="1800" dirty="0"/>
              <a:t>原本无法直接通信的两方，通过原本不被用于通信的机制进行数据传输</a:t>
            </a:r>
          </a:p>
          <a:p>
            <a:pPr lvl="1"/>
            <a:r>
              <a:rPr kumimoji="1" lang="zh-CN" altLang="en-US" sz="1800" dirty="0"/>
              <a:t>常见的隐秘信道：时间、功耗、电磁泄露、声音等</a:t>
            </a:r>
            <a:endParaRPr kumimoji="1" lang="en-US" altLang="zh-CN" sz="1800" dirty="0"/>
          </a:p>
          <a:p>
            <a:r>
              <a:rPr kumimoji="1" lang="zh-CN" altLang="en-US" sz="2000" dirty="0"/>
              <a:t>例：消费记录的应用 </a:t>
            </a:r>
            <a:r>
              <a:rPr kumimoji="1" lang="en" altLang="zh-CN" sz="2000" dirty="0"/>
              <a:t>A</a:t>
            </a:r>
            <a:r>
              <a:rPr kumimoji="1" lang="zh-CN" altLang="en-US" sz="2000" dirty="0"/>
              <a:t>，在没有网络的情况下如何把数据发出去？</a:t>
            </a:r>
            <a:endParaRPr kumimoji="1" lang="en-US" altLang="zh-CN" sz="2000" dirty="0"/>
          </a:p>
          <a:p>
            <a:pPr lvl="1"/>
            <a:r>
              <a:rPr kumimoji="1" lang="zh-CN" altLang="en-US" sz="1800" dirty="0"/>
              <a:t>假设有一个应用</a:t>
            </a:r>
            <a:r>
              <a:rPr kumimoji="1" lang="en-US" altLang="zh-CN" sz="1800" dirty="0"/>
              <a:t>B</a:t>
            </a:r>
            <a:r>
              <a:rPr kumimoji="1" lang="zh-CN" altLang="en-US" sz="1800" dirty="0"/>
              <a:t>运行在同一个手机</a:t>
            </a:r>
            <a:endParaRPr kumimoji="1" lang="en-US" altLang="zh-CN" sz="1600" dirty="0"/>
          </a:p>
          <a:p>
            <a:pPr lvl="1"/>
            <a:r>
              <a:rPr kumimoji="1" lang="zh-CN" altLang="en-US" sz="1600" dirty="0"/>
              <a:t>若</a:t>
            </a:r>
            <a:r>
              <a:rPr kumimoji="1" lang="en-US" altLang="zh-CN" sz="1600" dirty="0"/>
              <a:t>A</a:t>
            </a:r>
            <a:r>
              <a:rPr kumimoji="1" lang="zh-CN" altLang="en-US" sz="1600" dirty="0"/>
              <a:t>可播放声音，</a:t>
            </a:r>
            <a:r>
              <a:rPr kumimoji="1" lang="en-US" altLang="zh-CN" sz="1600" dirty="0"/>
              <a:t>B</a:t>
            </a:r>
            <a:r>
              <a:rPr kumimoji="1" lang="zh-CN" altLang="en-US" sz="1600" dirty="0"/>
              <a:t>可录音，则</a:t>
            </a:r>
            <a:r>
              <a:rPr kumimoji="1" lang="en-US" altLang="zh-CN" sz="1600" dirty="0"/>
              <a:t>A</a:t>
            </a:r>
            <a:r>
              <a:rPr kumimoji="1" lang="zh-CN" altLang="en-US" sz="1600" dirty="0"/>
              <a:t>把数据编码为声音发送给</a:t>
            </a:r>
            <a:r>
              <a:rPr kumimoji="1" lang="en-US" altLang="zh-CN" sz="1600" dirty="0"/>
              <a:t>B</a:t>
            </a:r>
          </a:p>
          <a:p>
            <a:pPr lvl="1"/>
            <a:r>
              <a:rPr kumimoji="1" lang="zh-CN" altLang="en-US" sz="1600" dirty="0"/>
              <a:t>若</a:t>
            </a:r>
            <a:r>
              <a:rPr kumimoji="1" lang="en-US" altLang="zh-CN" sz="1600" dirty="0"/>
              <a:t>A</a:t>
            </a:r>
            <a:r>
              <a:rPr kumimoji="1" lang="zh-CN" altLang="en-US" sz="1600" dirty="0"/>
              <a:t>可打开闪光灯，</a:t>
            </a:r>
            <a:r>
              <a:rPr kumimoji="1" lang="en-US" altLang="zh-CN" sz="1600" dirty="0"/>
              <a:t>B</a:t>
            </a:r>
            <a:r>
              <a:rPr kumimoji="1" lang="zh-CN" altLang="en-US" sz="1600" dirty="0"/>
              <a:t>可摄像，则</a:t>
            </a:r>
            <a:r>
              <a:rPr kumimoji="1" lang="en-US" altLang="zh-CN" sz="1600" dirty="0"/>
              <a:t>A</a:t>
            </a:r>
            <a:r>
              <a:rPr kumimoji="1" lang="zh-CN" altLang="en-US" sz="1600" dirty="0"/>
              <a:t>把数据编码为光的闪烁长短与频率发送给</a:t>
            </a:r>
            <a:r>
              <a:rPr kumimoji="1" lang="en-US" altLang="zh-CN" sz="1600" dirty="0"/>
              <a:t>B</a:t>
            </a:r>
          </a:p>
          <a:p>
            <a:pPr lvl="1"/>
            <a:r>
              <a:rPr kumimoji="1" lang="zh-CN" altLang="en-US" sz="1600" dirty="0"/>
              <a:t>若</a:t>
            </a:r>
            <a:r>
              <a:rPr kumimoji="1" lang="en-US" altLang="zh-CN" sz="1600" dirty="0"/>
              <a:t>A</a:t>
            </a:r>
            <a:r>
              <a:rPr kumimoji="1" lang="zh-CN" altLang="en-US" sz="1600" dirty="0"/>
              <a:t>可震动，</a:t>
            </a:r>
            <a:r>
              <a:rPr kumimoji="1" lang="en-US" altLang="zh-CN" sz="1600" dirty="0"/>
              <a:t>B</a:t>
            </a:r>
            <a:r>
              <a:rPr kumimoji="1" lang="zh-CN" altLang="en-US" sz="1600" dirty="0"/>
              <a:t>可访问运动传感器，则</a:t>
            </a:r>
            <a:r>
              <a:rPr kumimoji="1" lang="en-US" altLang="zh-CN" sz="1600" dirty="0"/>
              <a:t>A</a:t>
            </a:r>
            <a:r>
              <a:rPr kumimoji="1" lang="zh-CN" altLang="en-US" sz="1600" dirty="0"/>
              <a:t>把数据编码为震动频率发送给</a:t>
            </a:r>
            <a:r>
              <a:rPr kumimoji="1" lang="en-US" altLang="zh-CN" sz="1600" dirty="0"/>
              <a:t>B</a:t>
            </a:r>
          </a:p>
          <a:p>
            <a:pPr lvl="1"/>
            <a:r>
              <a:rPr kumimoji="1" lang="zh-CN" altLang="en-US" sz="1600" dirty="0"/>
              <a:t>若</a:t>
            </a:r>
            <a:r>
              <a:rPr kumimoji="1" lang="en-US" altLang="zh-CN" sz="1600" dirty="0"/>
              <a:t>B</a:t>
            </a:r>
            <a:r>
              <a:rPr kumimoji="1" lang="zh-CN" altLang="en-US" sz="1600" dirty="0"/>
              <a:t>可访问</a:t>
            </a:r>
            <a:r>
              <a:rPr kumimoji="1" lang="en-US" altLang="zh-CN" sz="1600" dirty="0"/>
              <a:t>CPU</a:t>
            </a:r>
            <a:r>
              <a:rPr kumimoji="1" lang="zh-CN" altLang="en-US" sz="1600" dirty="0"/>
              <a:t>温度，则</a:t>
            </a:r>
            <a:r>
              <a:rPr kumimoji="1" lang="en-US" altLang="zh-CN" sz="1600" dirty="0"/>
              <a:t>A</a:t>
            </a:r>
            <a:r>
              <a:rPr kumimoji="1" lang="zh-CN" altLang="en-US" sz="1600" dirty="0"/>
              <a:t>可长时间运行计算密集代码，</a:t>
            </a:r>
            <a:r>
              <a:rPr kumimoji="1" lang="en-US" altLang="zh-CN" sz="1600" dirty="0"/>
              <a:t>CPU</a:t>
            </a:r>
            <a:r>
              <a:rPr kumimoji="1" lang="zh-CN" altLang="en-US" sz="1600" dirty="0"/>
              <a:t>升温表示</a:t>
            </a:r>
            <a:r>
              <a:rPr kumimoji="1" lang="en-US" altLang="zh-CN" sz="1600" dirty="0"/>
              <a:t>1</a:t>
            </a:r>
            <a:r>
              <a:rPr kumimoji="1" lang="zh-CN" altLang="en-US" sz="1600" dirty="0"/>
              <a:t>，反之为</a:t>
            </a:r>
            <a:r>
              <a:rPr kumimoji="1" lang="en-US" altLang="zh-CN" sz="1600" dirty="0"/>
              <a:t>0</a:t>
            </a:r>
          </a:p>
          <a:p>
            <a:pPr lvl="1"/>
            <a:r>
              <a:rPr kumimoji="1" lang="en-US" altLang="zh-CN" sz="1800" dirty="0"/>
              <a:t>...</a:t>
            </a:r>
          </a:p>
        </p:txBody>
      </p:sp>
      <p:sp>
        <p:nvSpPr>
          <p:cNvPr id="4" name="灯片编号占位符 3">
            <a:extLst>
              <a:ext uri="{FF2B5EF4-FFF2-40B4-BE49-F238E27FC236}">
                <a16:creationId xmlns:a16="http://schemas.microsoft.com/office/drawing/2014/main" id="{80F1F74A-ABF5-BB48-B4A8-5A65BC4CE622}"/>
              </a:ext>
            </a:extLst>
          </p:cNvPr>
          <p:cNvSpPr>
            <a:spLocks noGrp="1"/>
          </p:cNvSpPr>
          <p:nvPr>
            <p:ph type="sldNum" sz="quarter" idx="12"/>
          </p:nvPr>
        </p:nvSpPr>
        <p:spPr/>
        <p:txBody>
          <a:bodyPr/>
          <a:lstStyle/>
          <a:p>
            <a:fld id="{ADE361C3-C043-4A6E-BDCE-8DA1E7D90A3B}" type="slidenum">
              <a:rPr lang="zh-CN" altLang="en-US" smtClean="0"/>
              <a:t>35</a:t>
            </a:fld>
            <a:endParaRPr lang="zh-CN" altLang="en-US"/>
          </a:p>
        </p:txBody>
      </p:sp>
      <p:sp>
        <p:nvSpPr>
          <p:cNvPr id="5" name="页脚占位符 4">
            <a:extLst>
              <a:ext uri="{FF2B5EF4-FFF2-40B4-BE49-F238E27FC236}">
                <a16:creationId xmlns:a16="http://schemas.microsoft.com/office/drawing/2014/main" id="{0AB5C5ED-8DD8-E041-A361-6B77E55EC437}"/>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3326208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kumimoji="1" lang="en-US" altLang="zh-CN" dirty="0"/>
              <a:t>Review: Guessing Password</a:t>
            </a:r>
            <a:r>
              <a:rPr kumimoji="1" lang="zh-CN" altLang="en-US" dirty="0"/>
              <a:t> </a:t>
            </a:r>
            <a:r>
              <a:rPr kumimoji="1" lang="en-US" altLang="zh-CN" dirty="0"/>
              <a:t>(Tenex)</a:t>
            </a:r>
            <a:endParaRPr kumimoji="1" lang="zh-CN" altLang="en-US" dirty="0"/>
          </a:p>
        </p:txBody>
      </p:sp>
      <p:sp>
        <p:nvSpPr>
          <p:cNvPr id="5" name="内容占位符 2"/>
          <p:cNvSpPr>
            <a:spLocks noGrp="1"/>
          </p:cNvSpPr>
          <p:nvPr>
            <p:ph idx="1"/>
          </p:nvPr>
        </p:nvSpPr>
        <p:spPr>
          <a:xfrm>
            <a:off x="457200" y="1268761"/>
            <a:ext cx="8229600" cy="2020787"/>
          </a:xfrm>
          <a:ln>
            <a:solidFill>
              <a:schemeClr val="tx1"/>
            </a:solidFill>
          </a:ln>
        </p:spPr>
        <p:txBody>
          <a:bodyPr>
            <a:normAutofit fontScale="92500" lnSpcReduction="20000"/>
          </a:bodyPr>
          <a:lstStyle/>
          <a:p>
            <a:pPr marL="0" indent="0">
              <a:lnSpc>
                <a:spcPct val="80000"/>
              </a:lnSpc>
              <a:buNone/>
            </a:pPr>
            <a:r>
              <a:rPr kumimoji="1" lang="en-US" altLang="zh-CN" sz="2000" dirty="0" err="1">
                <a:latin typeface="Consolas"/>
                <a:cs typeface="Consolas"/>
              </a:rPr>
              <a:t>checkpw</a:t>
            </a:r>
            <a:r>
              <a:rPr kumimoji="1" lang="zh-CN" altLang="en-US" sz="2000" dirty="0">
                <a:latin typeface="Consolas"/>
                <a:cs typeface="Consolas"/>
              </a:rPr>
              <a:t> </a:t>
            </a:r>
            <a:r>
              <a:rPr kumimoji="1" lang="en-US" altLang="zh-CN" sz="2000" dirty="0">
                <a:latin typeface="Consolas"/>
                <a:cs typeface="Consolas"/>
              </a:rPr>
              <a:t>(user, </a:t>
            </a:r>
            <a:r>
              <a:rPr kumimoji="1" lang="en-US" altLang="zh-CN" sz="2000" dirty="0" err="1">
                <a:latin typeface="Consolas"/>
                <a:cs typeface="Consolas"/>
              </a:rPr>
              <a:t>passwd</a:t>
            </a:r>
            <a:r>
              <a:rPr kumimoji="1" lang="en-US" altLang="zh-CN" sz="2000" dirty="0">
                <a:latin typeface="Consolas"/>
                <a:cs typeface="Consolas"/>
              </a:rPr>
              <a:t>):</a:t>
            </a:r>
          </a:p>
          <a:p>
            <a:pPr marL="0" indent="0">
              <a:lnSpc>
                <a:spcPct val="80000"/>
              </a:lnSpc>
              <a:buNone/>
            </a:pPr>
            <a:r>
              <a:rPr kumimoji="1" lang="en-US" altLang="zh-CN" sz="2000" dirty="0">
                <a:latin typeface="Consolas"/>
                <a:cs typeface="Consolas"/>
              </a:rPr>
              <a:t>      </a:t>
            </a:r>
            <a:r>
              <a:rPr kumimoji="1" lang="en-US" altLang="zh-CN" sz="2000" b="0" dirty="0">
                <a:latin typeface="Consolas"/>
                <a:cs typeface="Consolas"/>
              </a:rPr>
              <a:t>acct = accounts[user]</a:t>
            </a:r>
          </a:p>
          <a:p>
            <a:pPr marL="0" indent="0">
              <a:lnSpc>
                <a:spcPct val="80000"/>
              </a:lnSpc>
              <a:buNone/>
            </a:pPr>
            <a:r>
              <a:rPr kumimoji="1" lang="en-US" altLang="zh-CN" sz="2000" b="0" dirty="0">
                <a:latin typeface="Consolas"/>
                <a:cs typeface="Consolas"/>
              </a:rPr>
              <a:t>      for </a:t>
            </a:r>
            <a:r>
              <a:rPr kumimoji="1" lang="en-US" altLang="zh-CN" sz="2000" b="0" dirty="0" err="1">
                <a:latin typeface="Consolas"/>
                <a:cs typeface="Consolas"/>
              </a:rPr>
              <a:t>i</a:t>
            </a:r>
            <a:r>
              <a:rPr kumimoji="1" lang="en-US" altLang="zh-CN" sz="2000" b="0" dirty="0">
                <a:latin typeface="Consolas"/>
                <a:cs typeface="Consolas"/>
              </a:rPr>
              <a:t> in range(0, </a:t>
            </a:r>
            <a:r>
              <a:rPr kumimoji="1" lang="en-US" altLang="zh-CN" sz="2000" b="0" dirty="0" err="1">
                <a:latin typeface="Consolas"/>
                <a:cs typeface="Consolas"/>
              </a:rPr>
              <a:t>len</a:t>
            </a:r>
            <a:r>
              <a:rPr kumimoji="1" lang="en-US" altLang="zh-CN" sz="2000" b="0" dirty="0">
                <a:latin typeface="Consolas"/>
                <a:cs typeface="Consolas"/>
              </a:rPr>
              <a:t>(</a:t>
            </a:r>
            <a:r>
              <a:rPr kumimoji="1" lang="en-US" altLang="zh-CN" sz="2000" b="0" dirty="0" err="1">
                <a:latin typeface="Consolas"/>
                <a:cs typeface="Consolas"/>
              </a:rPr>
              <a:t>acct.pw</a:t>
            </a:r>
            <a:r>
              <a:rPr kumimoji="1" lang="en-US" altLang="zh-CN" sz="2000" b="0" dirty="0">
                <a:latin typeface="Consolas"/>
                <a:cs typeface="Consolas"/>
              </a:rPr>
              <a:t>)):</a:t>
            </a:r>
          </a:p>
          <a:p>
            <a:pPr marL="0" indent="0">
              <a:lnSpc>
                <a:spcPct val="80000"/>
              </a:lnSpc>
              <a:buNone/>
            </a:pPr>
            <a:r>
              <a:rPr kumimoji="1" lang="en-US" altLang="zh-CN" sz="2000" b="0" dirty="0">
                <a:latin typeface="Consolas"/>
                <a:cs typeface="Consolas"/>
              </a:rPr>
              <a:t>          if </a:t>
            </a:r>
            <a:r>
              <a:rPr kumimoji="1" lang="en-US" altLang="zh-CN" sz="2000" b="0" dirty="0" err="1">
                <a:latin typeface="Consolas"/>
                <a:cs typeface="Consolas"/>
              </a:rPr>
              <a:t>acct.pw</a:t>
            </a:r>
            <a:r>
              <a:rPr kumimoji="1" lang="en-US" altLang="zh-CN" sz="2000" b="0" dirty="0">
                <a:latin typeface="Consolas"/>
                <a:cs typeface="Consolas"/>
              </a:rPr>
              <a:t>[</a:t>
            </a:r>
            <a:r>
              <a:rPr kumimoji="1" lang="en-US" altLang="zh-CN" sz="2000" b="0" dirty="0" err="1">
                <a:latin typeface="Consolas"/>
                <a:cs typeface="Consolas"/>
              </a:rPr>
              <a:t>i</a:t>
            </a:r>
            <a:r>
              <a:rPr kumimoji="1" lang="en-US" altLang="zh-CN" sz="2000" b="0" dirty="0">
                <a:latin typeface="Consolas"/>
                <a:cs typeface="Consolas"/>
              </a:rPr>
              <a:t>] ≠ </a:t>
            </a:r>
            <a:r>
              <a:rPr kumimoji="1" lang="en-US" altLang="zh-CN" sz="2000" b="0" dirty="0" err="1">
                <a:latin typeface="Consolas"/>
                <a:cs typeface="Consolas"/>
              </a:rPr>
              <a:t>passwd</a:t>
            </a:r>
            <a:r>
              <a:rPr kumimoji="1" lang="en-US" altLang="zh-CN" sz="2000" b="0" dirty="0">
                <a:latin typeface="Consolas"/>
                <a:cs typeface="Consolas"/>
              </a:rPr>
              <a:t>[</a:t>
            </a:r>
            <a:r>
              <a:rPr kumimoji="1" lang="en-US" altLang="zh-CN" sz="2000" b="0" dirty="0" err="1">
                <a:latin typeface="Consolas"/>
                <a:cs typeface="Consolas"/>
              </a:rPr>
              <a:t>i</a:t>
            </a:r>
            <a:r>
              <a:rPr kumimoji="1" lang="en-US" altLang="zh-CN" sz="2000" b="0" dirty="0">
                <a:latin typeface="Consolas"/>
                <a:cs typeface="Consolas"/>
              </a:rPr>
              <a:t>]:</a:t>
            </a:r>
          </a:p>
          <a:p>
            <a:pPr marL="0" indent="0">
              <a:lnSpc>
                <a:spcPct val="80000"/>
              </a:lnSpc>
              <a:buNone/>
            </a:pPr>
            <a:r>
              <a:rPr kumimoji="1" lang="en-US" altLang="zh-CN" sz="2000" b="0" dirty="0">
                <a:latin typeface="Consolas"/>
                <a:cs typeface="Consolas"/>
              </a:rPr>
              <a:t>          	return False</a:t>
            </a:r>
          </a:p>
          <a:p>
            <a:pPr marL="0" indent="0">
              <a:lnSpc>
                <a:spcPct val="80000"/>
              </a:lnSpc>
              <a:buNone/>
            </a:pPr>
            <a:r>
              <a:rPr kumimoji="1" lang="en-US" altLang="zh-CN" sz="2000" b="0" dirty="0">
                <a:latin typeface="Consolas"/>
                <a:cs typeface="Consolas"/>
              </a:rPr>
              <a:t>      return True</a:t>
            </a:r>
            <a:endParaRPr kumimoji="1" lang="zh-CN" altLang="en-US" sz="2000" b="0" dirty="0">
              <a:latin typeface="Consolas"/>
              <a:cs typeface="Consolas"/>
            </a:endParaRPr>
          </a:p>
        </p:txBody>
      </p:sp>
      <p:sp>
        <p:nvSpPr>
          <p:cNvPr id="6" name="矩形 5"/>
          <p:cNvSpPr/>
          <p:nvPr/>
        </p:nvSpPr>
        <p:spPr>
          <a:xfrm>
            <a:off x="2818836"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P</a:t>
            </a:r>
            <a:endParaRPr lang="zh-CN" altLang="en-US" sz="3600" dirty="0">
              <a:solidFill>
                <a:srgbClr val="632523"/>
              </a:solidFill>
            </a:endParaRPr>
          </a:p>
        </p:txBody>
      </p:sp>
      <p:sp>
        <p:nvSpPr>
          <p:cNvPr id="7" name="矩形 6"/>
          <p:cNvSpPr/>
          <p:nvPr/>
        </p:nvSpPr>
        <p:spPr>
          <a:xfrm>
            <a:off x="3322892"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A</a:t>
            </a:r>
            <a:endParaRPr lang="zh-CN" altLang="en-US" sz="3600" dirty="0">
              <a:solidFill>
                <a:srgbClr val="632523"/>
              </a:solidFill>
            </a:endParaRPr>
          </a:p>
        </p:txBody>
      </p:sp>
      <p:sp>
        <p:nvSpPr>
          <p:cNvPr id="8" name="矩形 7"/>
          <p:cNvSpPr/>
          <p:nvPr/>
        </p:nvSpPr>
        <p:spPr>
          <a:xfrm>
            <a:off x="3826948"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S</a:t>
            </a:r>
            <a:endParaRPr lang="zh-CN" altLang="en-US" sz="3600" dirty="0">
              <a:solidFill>
                <a:srgbClr val="632523"/>
              </a:solidFill>
            </a:endParaRPr>
          </a:p>
        </p:txBody>
      </p:sp>
      <p:sp>
        <p:nvSpPr>
          <p:cNvPr id="9" name="矩形 8"/>
          <p:cNvSpPr/>
          <p:nvPr/>
        </p:nvSpPr>
        <p:spPr>
          <a:xfrm>
            <a:off x="4331004"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S</a:t>
            </a:r>
            <a:endParaRPr lang="zh-CN" altLang="en-US" sz="3600" dirty="0">
              <a:solidFill>
                <a:srgbClr val="632523"/>
              </a:solidFill>
            </a:endParaRPr>
          </a:p>
        </p:txBody>
      </p:sp>
      <p:sp>
        <p:nvSpPr>
          <p:cNvPr id="10" name="矩形 9"/>
          <p:cNvSpPr/>
          <p:nvPr/>
        </p:nvSpPr>
        <p:spPr>
          <a:xfrm>
            <a:off x="4835060"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FF0000"/>
                </a:solidFill>
              </a:rPr>
              <a:t>w</a:t>
            </a:r>
            <a:endParaRPr lang="zh-CN" altLang="en-US" sz="3600" dirty="0">
              <a:solidFill>
                <a:srgbClr val="FF0000"/>
              </a:solidFill>
            </a:endParaRPr>
          </a:p>
        </p:txBody>
      </p:sp>
      <p:sp>
        <p:nvSpPr>
          <p:cNvPr id="11" name="矩形 10"/>
          <p:cNvSpPr/>
          <p:nvPr/>
        </p:nvSpPr>
        <p:spPr>
          <a:xfrm>
            <a:off x="5339116"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O</a:t>
            </a:r>
            <a:endParaRPr lang="zh-CN" altLang="en-US" sz="3600" dirty="0">
              <a:solidFill>
                <a:srgbClr val="632523"/>
              </a:solidFill>
            </a:endParaRPr>
          </a:p>
        </p:txBody>
      </p:sp>
      <p:sp>
        <p:nvSpPr>
          <p:cNvPr id="12" name="矩形 11"/>
          <p:cNvSpPr/>
          <p:nvPr/>
        </p:nvSpPr>
        <p:spPr>
          <a:xfrm>
            <a:off x="5843172"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R</a:t>
            </a:r>
            <a:endParaRPr lang="zh-CN" altLang="en-US" sz="3600" dirty="0">
              <a:solidFill>
                <a:srgbClr val="632523"/>
              </a:solidFill>
            </a:endParaRPr>
          </a:p>
        </p:txBody>
      </p:sp>
      <p:sp>
        <p:nvSpPr>
          <p:cNvPr id="13" name="矩形 12"/>
          <p:cNvSpPr/>
          <p:nvPr/>
        </p:nvSpPr>
        <p:spPr>
          <a:xfrm>
            <a:off x="6347228" y="4801716"/>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D</a:t>
            </a:r>
            <a:endParaRPr lang="zh-CN" altLang="en-US" sz="3600" dirty="0">
              <a:solidFill>
                <a:srgbClr val="632523"/>
              </a:solidFill>
            </a:endParaRPr>
          </a:p>
        </p:txBody>
      </p:sp>
      <p:sp>
        <p:nvSpPr>
          <p:cNvPr id="14" name="矩形 13"/>
          <p:cNvSpPr/>
          <p:nvPr/>
        </p:nvSpPr>
        <p:spPr>
          <a:xfrm>
            <a:off x="2818836"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P</a:t>
            </a:r>
            <a:endParaRPr lang="zh-CN" altLang="en-US" sz="3600" dirty="0">
              <a:solidFill>
                <a:srgbClr val="632523"/>
              </a:solidFill>
            </a:endParaRPr>
          </a:p>
        </p:txBody>
      </p:sp>
      <p:sp>
        <p:nvSpPr>
          <p:cNvPr id="15" name="矩形 14"/>
          <p:cNvSpPr/>
          <p:nvPr/>
        </p:nvSpPr>
        <p:spPr>
          <a:xfrm>
            <a:off x="3322892"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A</a:t>
            </a:r>
            <a:endParaRPr lang="zh-CN" altLang="en-US" sz="3600" dirty="0">
              <a:solidFill>
                <a:srgbClr val="632523"/>
              </a:solidFill>
            </a:endParaRPr>
          </a:p>
        </p:txBody>
      </p:sp>
      <p:sp>
        <p:nvSpPr>
          <p:cNvPr id="16" name="矩形 15"/>
          <p:cNvSpPr/>
          <p:nvPr/>
        </p:nvSpPr>
        <p:spPr>
          <a:xfrm>
            <a:off x="3826948"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S</a:t>
            </a:r>
            <a:endParaRPr lang="zh-CN" altLang="en-US" sz="3600" dirty="0">
              <a:solidFill>
                <a:srgbClr val="632523"/>
              </a:solidFill>
            </a:endParaRPr>
          </a:p>
        </p:txBody>
      </p:sp>
      <p:sp>
        <p:nvSpPr>
          <p:cNvPr id="17" name="矩形 16"/>
          <p:cNvSpPr/>
          <p:nvPr/>
        </p:nvSpPr>
        <p:spPr>
          <a:xfrm>
            <a:off x="4331004"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S</a:t>
            </a:r>
            <a:endParaRPr lang="zh-CN" altLang="en-US" sz="3600" dirty="0">
              <a:solidFill>
                <a:srgbClr val="632523"/>
              </a:solidFill>
            </a:endParaRPr>
          </a:p>
        </p:txBody>
      </p:sp>
      <p:sp>
        <p:nvSpPr>
          <p:cNvPr id="18" name="矩形 17"/>
          <p:cNvSpPr/>
          <p:nvPr/>
        </p:nvSpPr>
        <p:spPr>
          <a:xfrm>
            <a:off x="4835060"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W</a:t>
            </a:r>
            <a:endParaRPr lang="zh-CN" altLang="en-US" sz="3600" dirty="0">
              <a:solidFill>
                <a:srgbClr val="632523"/>
              </a:solidFill>
            </a:endParaRPr>
          </a:p>
        </p:txBody>
      </p:sp>
      <p:sp>
        <p:nvSpPr>
          <p:cNvPr id="19" name="矩形 18"/>
          <p:cNvSpPr/>
          <p:nvPr/>
        </p:nvSpPr>
        <p:spPr>
          <a:xfrm>
            <a:off x="5339116"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O</a:t>
            </a:r>
            <a:endParaRPr lang="zh-CN" altLang="en-US" sz="3600" dirty="0">
              <a:solidFill>
                <a:srgbClr val="632523"/>
              </a:solidFill>
            </a:endParaRPr>
          </a:p>
        </p:txBody>
      </p:sp>
      <p:sp>
        <p:nvSpPr>
          <p:cNvPr id="20" name="矩形 19"/>
          <p:cNvSpPr/>
          <p:nvPr/>
        </p:nvSpPr>
        <p:spPr>
          <a:xfrm>
            <a:off x="5843172"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R</a:t>
            </a:r>
            <a:endParaRPr lang="zh-CN" altLang="en-US" sz="3600" dirty="0">
              <a:solidFill>
                <a:srgbClr val="632523"/>
              </a:solidFill>
            </a:endParaRPr>
          </a:p>
        </p:txBody>
      </p:sp>
      <p:sp>
        <p:nvSpPr>
          <p:cNvPr id="21" name="矩形 20"/>
          <p:cNvSpPr/>
          <p:nvPr/>
        </p:nvSpPr>
        <p:spPr>
          <a:xfrm>
            <a:off x="6347228" y="3649588"/>
            <a:ext cx="504056" cy="648072"/>
          </a:xfrm>
          <a:prstGeom prst="rect">
            <a:avLst/>
          </a:prstGeom>
          <a:solidFill>
            <a:schemeClr val="accent2">
              <a:lumMod val="60000"/>
              <a:lumOff val="4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dirty="0">
                <a:solidFill>
                  <a:srgbClr val="632523"/>
                </a:solidFill>
              </a:rPr>
              <a:t>D</a:t>
            </a:r>
            <a:endParaRPr lang="zh-CN" altLang="en-US" sz="3600" dirty="0">
              <a:solidFill>
                <a:srgbClr val="632523"/>
              </a:solidFill>
            </a:endParaRPr>
          </a:p>
        </p:txBody>
      </p:sp>
      <p:sp>
        <p:nvSpPr>
          <p:cNvPr id="22" name="矩形 21"/>
          <p:cNvSpPr/>
          <p:nvPr/>
        </p:nvSpPr>
        <p:spPr>
          <a:xfrm>
            <a:off x="1306668" y="3721596"/>
            <a:ext cx="1399742" cy="523220"/>
          </a:xfrm>
          <a:prstGeom prst="rect">
            <a:avLst/>
          </a:prstGeom>
        </p:spPr>
        <p:txBody>
          <a:bodyPr wrap="none">
            <a:spAutoFit/>
          </a:bodyPr>
          <a:lstStyle/>
          <a:p>
            <a:r>
              <a:rPr kumimoji="1" lang="en-US" altLang="zh-CN" sz="2800" dirty="0" err="1">
                <a:solidFill>
                  <a:schemeClr val="accent1">
                    <a:lumMod val="50000"/>
                  </a:schemeClr>
                </a:solidFill>
                <a:cs typeface="Arial Narrow"/>
              </a:rPr>
              <a:t>passwd</a:t>
            </a:r>
            <a:r>
              <a:rPr kumimoji="1" lang="en-US" altLang="zh-CN" sz="2800" dirty="0">
                <a:solidFill>
                  <a:schemeClr val="accent1">
                    <a:lumMod val="50000"/>
                  </a:schemeClr>
                </a:solidFill>
                <a:cs typeface="Arial Narrow"/>
              </a:rPr>
              <a:t>:</a:t>
            </a:r>
            <a:endParaRPr lang="zh-CN" altLang="en-US" sz="2800" dirty="0">
              <a:solidFill>
                <a:schemeClr val="accent1">
                  <a:lumMod val="50000"/>
                </a:schemeClr>
              </a:solidFill>
              <a:cs typeface="Arial Narrow"/>
            </a:endParaRPr>
          </a:p>
        </p:txBody>
      </p:sp>
      <p:sp>
        <p:nvSpPr>
          <p:cNvPr id="23" name="矩形 22"/>
          <p:cNvSpPr/>
          <p:nvPr/>
        </p:nvSpPr>
        <p:spPr>
          <a:xfrm>
            <a:off x="1306668" y="4860511"/>
            <a:ext cx="1417376" cy="523220"/>
          </a:xfrm>
          <a:prstGeom prst="rect">
            <a:avLst/>
          </a:prstGeom>
        </p:spPr>
        <p:txBody>
          <a:bodyPr wrap="none">
            <a:spAutoFit/>
          </a:bodyPr>
          <a:lstStyle/>
          <a:p>
            <a:r>
              <a:rPr lang="en-US" altLang="zh-CN" sz="2800" dirty="0" err="1">
                <a:solidFill>
                  <a:srgbClr val="254061"/>
                </a:solidFill>
                <a:cs typeface="Arial Narrow"/>
              </a:rPr>
              <a:t>acct.pw</a:t>
            </a:r>
            <a:r>
              <a:rPr lang="en-US" altLang="zh-CN" sz="2800" dirty="0">
                <a:solidFill>
                  <a:srgbClr val="254061"/>
                </a:solidFill>
                <a:cs typeface="Arial Narrow"/>
              </a:rPr>
              <a:t>:</a:t>
            </a:r>
            <a:endParaRPr lang="zh-CN" altLang="en-US" sz="2800" dirty="0">
              <a:solidFill>
                <a:srgbClr val="254061"/>
              </a:solidFill>
              <a:cs typeface="Arial Narrow"/>
            </a:endParaRPr>
          </a:p>
        </p:txBody>
      </p:sp>
      <p:cxnSp>
        <p:nvCxnSpPr>
          <p:cNvPr id="25" name="直线箭头连接符 24"/>
          <p:cNvCxnSpPr>
            <a:stCxn id="14" idx="2"/>
            <a:endCxn id="6" idx="0"/>
          </p:cNvCxnSpPr>
          <p:nvPr/>
        </p:nvCxnSpPr>
        <p:spPr>
          <a:xfrm>
            <a:off x="3070864" y="4297660"/>
            <a:ext cx="0" cy="504056"/>
          </a:xfrm>
          <a:prstGeom prst="straightConnector1">
            <a:avLst/>
          </a:prstGeom>
          <a:ln w="28575" cmpd="sng">
            <a:solidFill>
              <a:schemeClr val="accent1">
                <a:lumMod val="50000"/>
              </a:schemeClr>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26" name="直线箭头连接符 25"/>
          <p:cNvCxnSpPr>
            <a:stCxn id="15" idx="2"/>
            <a:endCxn id="7" idx="0"/>
          </p:cNvCxnSpPr>
          <p:nvPr/>
        </p:nvCxnSpPr>
        <p:spPr>
          <a:xfrm>
            <a:off x="3574920" y="4297660"/>
            <a:ext cx="0" cy="504056"/>
          </a:xfrm>
          <a:prstGeom prst="straightConnector1">
            <a:avLst/>
          </a:prstGeom>
          <a:ln w="28575" cmpd="sng">
            <a:solidFill>
              <a:schemeClr val="accent1">
                <a:lumMod val="50000"/>
              </a:schemeClr>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29" name="直线箭头连接符 28"/>
          <p:cNvCxnSpPr>
            <a:stCxn id="16" idx="2"/>
            <a:endCxn id="8" idx="0"/>
          </p:cNvCxnSpPr>
          <p:nvPr/>
        </p:nvCxnSpPr>
        <p:spPr>
          <a:xfrm>
            <a:off x="4078976" y="4297660"/>
            <a:ext cx="0" cy="504056"/>
          </a:xfrm>
          <a:prstGeom prst="straightConnector1">
            <a:avLst/>
          </a:prstGeom>
          <a:ln w="28575" cmpd="sng">
            <a:solidFill>
              <a:schemeClr val="accent1">
                <a:lumMod val="50000"/>
              </a:schemeClr>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32" name="直线箭头连接符 31"/>
          <p:cNvCxnSpPr>
            <a:stCxn id="17" idx="2"/>
            <a:endCxn id="9" idx="0"/>
          </p:cNvCxnSpPr>
          <p:nvPr/>
        </p:nvCxnSpPr>
        <p:spPr>
          <a:xfrm>
            <a:off x="4583032" y="4297660"/>
            <a:ext cx="0" cy="504056"/>
          </a:xfrm>
          <a:prstGeom prst="straightConnector1">
            <a:avLst/>
          </a:prstGeom>
          <a:ln w="28575" cmpd="sng">
            <a:solidFill>
              <a:schemeClr val="accent1">
                <a:lumMod val="50000"/>
              </a:schemeClr>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cxnSp>
        <p:nvCxnSpPr>
          <p:cNvPr id="35" name="直线箭头连接符 34"/>
          <p:cNvCxnSpPr>
            <a:stCxn id="18" idx="2"/>
            <a:endCxn id="10" idx="0"/>
          </p:cNvCxnSpPr>
          <p:nvPr/>
        </p:nvCxnSpPr>
        <p:spPr>
          <a:xfrm>
            <a:off x="5087088" y="4297660"/>
            <a:ext cx="0" cy="504056"/>
          </a:xfrm>
          <a:prstGeom prst="straightConnector1">
            <a:avLst/>
          </a:prstGeom>
          <a:ln w="28575" cmpd="sng">
            <a:solidFill>
              <a:schemeClr val="accent1">
                <a:lumMod val="50000"/>
              </a:schemeClr>
            </a:solidFill>
            <a:headEnd type="triangle" w="lg" len="lg"/>
            <a:tailEnd type="triangle" w="lg" len="lg"/>
          </a:ln>
        </p:spPr>
        <p:style>
          <a:lnRef idx="2">
            <a:schemeClr val="accent1"/>
          </a:lnRef>
          <a:fillRef idx="0">
            <a:schemeClr val="accent1"/>
          </a:fillRef>
          <a:effectRef idx="1">
            <a:schemeClr val="accent1"/>
          </a:effectRef>
          <a:fontRef idx="minor">
            <a:schemeClr val="tx1"/>
          </a:fontRef>
        </p:style>
      </p:cxnSp>
      <p:sp>
        <p:nvSpPr>
          <p:cNvPr id="38" name="矩形 37"/>
          <p:cNvSpPr/>
          <p:nvPr/>
        </p:nvSpPr>
        <p:spPr>
          <a:xfrm>
            <a:off x="5102098" y="4278496"/>
            <a:ext cx="391454" cy="523220"/>
          </a:xfrm>
          <a:prstGeom prst="rect">
            <a:avLst/>
          </a:prstGeom>
        </p:spPr>
        <p:txBody>
          <a:bodyPr wrap="none">
            <a:spAutoFit/>
          </a:bodyPr>
          <a:lstStyle/>
          <a:p>
            <a:r>
              <a:rPr lang="en-US" altLang="zh-CN" sz="2800" dirty="0">
                <a:solidFill>
                  <a:srgbClr val="632523"/>
                </a:solidFill>
                <a:cs typeface="Arial Narrow"/>
              </a:rPr>
              <a:t>X</a:t>
            </a:r>
            <a:endParaRPr lang="zh-CN" altLang="en-US" sz="2800" dirty="0">
              <a:solidFill>
                <a:srgbClr val="632523"/>
              </a:solidFill>
              <a:cs typeface="Arial Narrow"/>
            </a:endParaRPr>
          </a:p>
        </p:txBody>
      </p:sp>
    </p:spTree>
    <p:extLst>
      <p:ext uri="{BB962C8B-B14F-4D97-AF65-F5344CB8AC3E}">
        <p14:creationId xmlns:p14="http://schemas.microsoft.com/office/powerpoint/2010/main" val="28516235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B949FE4-9E3F-C344-9CEA-9D571B0893FA}"/>
              </a:ext>
            </a:extLst>
          </p:cNvPr>
          <p:cNvSpPr>
            <a:spLocks noGrp="1"/>
          </p:cNvSpPr>
          <p:nvPr>
            <p:ph type="title"/>
          </p:nvPr>
        </p:nvSpPr>
        <p:spPr/>
        <p:txBody>
          <a:bodyPr/>
          <a:lstStyle/>
          <a:p>
            <a:r>
              <a:rPr kumimoji="1" lang="zh-CN" altLang="en-US" dirty="0"/>
              <a:t>侧信道与隐秘信道的关系</a:t>
            </a:r>
          </a:p>
        </p:txBody>
      </p:sp>
      <p:sp>
        <p:nvSpPr>
          <p:cNvPr id="3" name="内容占位符 2">
            <a:extLst>
              <a:ext uri="{FF2B5EF4-FFF2-40B4-BE49-F238E27FC236}">
                <a16:creationId xmlns:a16="http://schemas.microsoft.com/office/drawing/2014/main" id="{461A032A-6BB6-1041-ABF8-3C1178E04B45}"/>
              </a:ext>
            </a:extLst>
          </p:cNvPr>
          <p:cNvSpPr>
            <a:spLocks noGrp="1"/>
          </p:cNvSpPr>
          <p:nvPr>
            <p:ph idx="1"/>
          </p:nvPr>
        </p:nvSpPr>
        <p:spPr/>
        <p:txBody>
          <a:bodyPr/>
          <a:lstStyle/>
          <a:p>
            <a:r>
              <a:rPr lang="zh-CN" altLang="en-US" dirty="0"/>
              <a:t>侧信道与隐秘信道很类似</a:t>
            </a:r>
            <a:endParaRPr lang="en-US" altLang="zh-CN" dirty="0"/>
          </a:p>
          <a:p>
            <a:pPr lvl="1"/>
            <a:r>
              <a:rPr lang="zh-CN" altLang="en-US" dirty="0"/>
              <a:t>两者都使用类似的方式（信道）进行数据的传递</a:t>
            </a:r>
            <a:endParaRPr lang="en-US" altLang="zh-CN" dirty="0"/>
          </a:p>
          <a:p>
            <a:r>
              <a:rPr lang="zh-CN" altLang="en-US" dirty="0"/>
              <a:t>侧信道攻击和隐秘信道攻击的不同</a:t>
            </a:r>
            <a:endParaRPr lang="en-US" altLang="zh-CN" dirty="0"/>
          </a:p>
          <a:p>
            <a:pPr lvl="1"/>
            <a:r>
              <a:rPr lang="zh-CN" altLang="en-US" dirty="0"/>
              <a:t>隐秘信道攻击：两方是互相串通的，其目的就是为了将信息从一方传给另一方</a:t>
            </a:r>
            <a:endParaRPr lang="en-US" altLang="zh-CN" dirty="0"/>
          </a:p>
          <a:p>
            <a:pPr lvl="1"/>
            <a:r>
              <a:rPr lang="zh-CN" altLang="en-US" dirty="0"/>
              <a:t>侧信道攻击：一方是攻击者，另一方是被攻击者，攻击者窃取被攻击者的数据</a:t>
            </a:r>
            <a:endParaRPr lang="en-US" altLang="zh-CN" dirty="0"/>
          </a:p>
          <a:p>
            <a:pPr lvl="2"/>
            <a:r>
              <a:rPr lang="zh-CN" altLang="en-US" dirty="0"/>
              <a:t>即被攻击者无意间通过侧信道泄露了自己的数据</a:t>
            </a:r>
            <a:endParaRPr lang="en-US" altLang="zh-CN" dirty="0"/>
          </a:p>
        </p:txBody>
      </p:sp>
      <p:sp>
        <p:nvSpPr>
          <p:cNvPr id="4" name="灯片编号占位符 3">
            <a:extLst>
              <a:ext uri="{FF2B5EF4-FFF2-40B4-BE49-F238E27FC236}">
                <a16:creationId xmlns:a16="http://schemas.microsoft.com/office/drawing/2014/main" id="{17CFA46A-33B1-9A4C-A446-3E605B0356F7}"/>
              </a:ext>
            </a:extLst>
          </p:cNvPr>
          <p:cNvSpPr>
            <a:spLocks noGrp="1"/>
          </p:cNvSpPr>
          <p:nvPr>
            <p:ph type="sldNum" sz="quarter" idx="12"/>
          </p:nvPr>
        </p:nvSpPr>
        <p:spPr/>
        <p:txBody>
          <a:bodyPr/>
          <a:lstStyle/>
          <a:p>
            <a:fld id="{ADE361C3-C043-4A6E-BDCE-8DA1E7D90A3B}" type="slidenum">
              <a:rPr lang="zh-CN" altLang="en-US" smtClean="0"/>
              <a:t>37</a:t>
            </a:fld>
            <a:endParaRPr lang="zh-CN" altLang="en-US"/>
          </a:p>
        </p:txBody>
      </p:sp>
      <p:sp>
        <p:nvSpPr>
          <p:cNvPr id="5" name="页脚占位符 4">
            <a:extLst>
              <a:ext uri="{FF2B5EF4-FFF2-40B4-BE49-F238E27FC236}">
                <a16:creationId xmlns:a16="http://schemas.microsoft.com/office/drawing/2014/main" id="{B83F076E-79A3-0945-96DF-508AA32CF058}"/>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212716450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92034A-C4CE-6841-A871-5574B136B903}"/>
              </a:ext>
            </a:extLst>
          </p:cNvPr>
          <p:cNvSpPr>
            <a:spLocks noGrp="1"/>
          </p:cNvSpPr>
          <p:nvPr>
            <p:ph type="title"/>
          </p:nvPr>
        </p:nvSpPr>
        <p:spPr/>
        <p:txBody>
          <a:bodyPr/>
          <a:lstStyle/>
          <a:p>
            <a:r>
              <a:rPr kumimoji="1" lang="zh-CN" altLang="en-US" dirty="0"/>
              <a:t>缓存信道（</a:t>
            </a:r>
            <a:r>
              <a:rPr kumimoji="1" lang="en-US" altLang="zh-CN" dirty="0"/>
              <a:t>Cache</a:t>
            </a:r>
            <a:r>
              <a:rPr kumimoji="1" lang="zh-CN" altLang="en-US" dirty="0"/>
              <a:t> </a:t>
            </a:r>
            <a:r>
              <a:rPr kumimoji="1" lang="en-US" altLang="zh-CN" dirty="0"/>
              <a:t>Channel</a:t>
            </a:r>
            <a:r>
              <a:rPr kumimoji="1" lang="zh-CN" altLang="en-US" dirty="0"/>
              <a:t>）</a:t>
            </a:r>
          </a:p>
        </p:txBody>
      </p:sp>
      <p:sp>
        <p:nvSpPr>
          <p:cNvPr id="3" name="内容占位符 2">
            <a:extLst>
              <a:ext uri="{FF2B5EF4-FFF2-40B4-BE49-F238E27FC236}">
                <a16:creationId xmlns:a16="http://schemas.microsoft.com/office/drawing/2014/main" id="{1CD20341-EAFC-7F46-8EDB-0FE1FD1AA778}"/>
              </a:ext>
            </a:extLst>
          </p:cNvPr>
          <p:cNvSpPr>
            <a:spLocks noGrp="1"/>
          </p:cNvSpPr>
          <p:nvPr>
            <p:ph idx="1"/>
          </p:nvPr>
        </p:nvSpPr>
        <p:spPr>
          <a:xfrm>
            <a:off x="457200" y="1333501"/>
            <a:ext cx="4978896" cy="3771636"/>
          </a:xfrm>
        </p:spPr>
        <p:txBody>
          <a:bodyPr>
            <a:normAutofit/>
          </a:bodyPr>
          <a:lstStyle/>
          <a:p>
            <a:r>
              <a:rPr kumimoji="1" lang="zh-CN" altLang="en-US" dirty="0"/>
              <a:t>利用缓存的状态推测执行的信息</a:t>
            </a:r>
            <a:endParaRPr kumimoji="1" lang="en-US" altLang="zh-CN" dirty="0"/>
          </a:p>
          <a:p>
            <a:pPr lvl="1"/>
            <a:r>
              <a:rPr kumimoji="1" lang="zh-CN" altLang="en-US" dirty="0"/>
              <a:t>例如：可根据 </a:t>
            </a:r>
            <a:r>
              <a:rPr kumimoji="1" lang="en-US" altLang="zh-CN" dirty="0" err="1"/>
              <a:t>func_a</a:t>
            </a:r>
            <a:r>
              <a:rPr kumimoji="1" lang="zh-CN" altLang="en-US" dirty="0"/>
              <a:t> 还是 </a:t>
            </a:r>
            <a:r>
              <a:rPr kumimoji="1" lang="en-US" altLang="zh-CN" dirty="0" err="1"/>
              <a:t>func_b</a:t>
            </a:r>
            <a:r>
              <a:rPr kumimoji="1" lang="zh-CN" altLang="en-US" dirty="0"/>
              <a:t> 的代码在缓存中，来判断 </a:t>
            </a:r>
            <a:r>
              <a:rPr kumimoji="1" lang="en-US" altLang="zh-CN" dirty="0" err="1"/>
              <a:t>i</a:t>
            </a:r>
            <a:r>
              <a:rPr kumimoji="1" lang="zh-CN" altLang="en-US" dirty="0"/>
              <a:t> 的值</a:t>
            </a:r>
            <a:endParaRPr kumimoji="1" lang="en-US" altLang="zh-CN" dirty="0"/>
          </a:p>
          <a:p>
            <a:pPr lvl="1"/>
            <a:r>
              <a:rPr kumimoji="1" lang="zh-CN" altLang="en-US" dirty="0"/>
              <a:t>判断方法：</a:t>
            </a:r>
            <a:r>
              <a:rPr kumimoji="1" lang="en-US" altLang="zh-CN" dirty="0" err="1"/>
              <a:t>func_a</a:t>
            </a:r>
            <a:r>
              <a:rPr kumimoji="1" lang="zh-CN" altLang="en-US" dirty="0"/>
              <a:t> 和 </a:t>
            </a:r>
            <a:r>
              <a:rPr kumimoji="1" lang="en-US" altLang="zh-CN" dirty="0" err="1"/>
              <a:t>func_b</a:t>
            </a:r>
            <a:r>
              <a:rPr kumimoji="1" lang="zh-CN" altLang="en-US" dirty="0"/>
              <a:t> 的时延</a:t>
            </a:r>
            <a:endParaRPr kumimoji="1" lang="en-US" altLang="zh-CN" dirty="0"/>
          </a:p>
          <a:p>
            <a:r>
              <a:rPr kumimoji="1" lang="zh-CN" altLang="en-US" dirty="0"/>
              <a:t>常见的四种攻击方式</a:t>
            </a:r>
            <a:endParaRPr kumimoji="1" lang="en-US" altLang="zh-CN" dirty="0"/>
          </a:p>
          <a:p>
            <a:pPr lvl="1"/>
            <a:r>
              <a:rPr kumimoji="1" lang="en" altLang="zh-CN" dirty="0"/>
              <a:t>Flush</a:t>
            </a:r>
            <a:r>
              <a:rPr kumimoji="1" lang="en-US" altLang="zh-CN" dirty="0"/>
              <a:t>+</a:t>
            </a:r>
            <a:r>
              <a:rPr kumimoji="1" lang="en" altLang="zh-CN" dirty="0"/>
              <a:t>reload</a:t>
            </a:r>
          </a:p>
          <a:p>
            <a:pPr lvl="1"/>
            <a:r>
              <a:rPr kumimoji="1" lang="en" altLang="zh-CN" dirty="0"/>
              <a:t>Flush</a:t>
            </a:r>
            <a:r>
              <a:rPr kumimoji="1" lang="en-US" altLang="zh-CN" dirty="0"/>
              <a:t>+</a:t>
            </a:r>
            <a:r>
              <a:rPr kumimoji="1" lang="en" altLang="zh-CN" dirty="0"/>
              <a:t>flush</a:t>
            </a:r>
          </a:p>
          <a:p>
            <a:pPr lvl="1"/>
            <a:r>
              <a:rPr kumimoji="1" lang="en" altLang="zh-CN" dirty="0"/>
              <a:t>Prime</a:t>
            </a:r>
            <a:r>
              <a:rPr kumimoji="1" lang="en-US" altLang="zh-CN" dirty="0"/>
              <a:t>+</a:t>
            </a:r>
            <a:r>
              <a:rPr kumimoji="1" lang="en" altLang="zh-CN" dirty="0"/>
              <a:t>probe</a:t>
            </a:r>
          </a:p>
          <a:p>
            <a:pPr lvl="1"/>
            <a:r>
              <a:rPr kumimoji="1" lang="en" altLang="zh-CN" dirty="0"/>
              <a:t>Evict</a:t>
            </a:r>
            <a:r>
              <a:rPr kumimoji="1" lang="en-US" altLang="zh-CN" dirty="0"/>
              <a:t>+</a:t>
            </a:r>
            <a:r>
              <a:rPr kumimoji="1" lang="en" altLang="zh-CN" dirty="0"/>
              <a:t>time</a:t>
            </a:r>
            <a:endParaRPr kumimoji="1" lang="zh-CN" altLang="en-US" dirty="0"/>
          </a:p>
        </p:txBody>
      </p:sp>
      <p:sp>
        <p:nvSpPr>
          <p:cNvPr id="4" name="灯片编号占位符 3">
            <a:extLst>
              <a:ext uri="{FF2B5EF4-FFF2-40B4-BE49-F238E27FC236}">
                <a16:creationId xmlns:a16="http://schemas.microsoft.com/office/drawing/2014/main" id="{F51375E1-2274-0F41-BE17-8E40776B241C}"/>
              </a:ext>
            </a:extLst>
          </p:cNvPr>
          <p:cNvSpPr>
            <a:spLocks noGrp="1"/>
          </p:cNvSpPr>
          <p:nvPr>
            <p:ph type="sldNum" sz="quarter" idx="12"/>
          </p:nvPr>
        </p:nvSpPr>
        <p:spPr/>
        <p:txBody>
          <a:bodyPr/>
          <a:lstStyle/>
          <a:p>
            <a:fld id="{ADE361C3-C043-4A6E-BDCE-8DA1E7D90A3B}" type="slidenum">
              <a:rPr lang="zh-CN" altLang="en-US" smtClean="0"/>
              <a:t>38</a:t>
            </a:fld>
            <a:endParaRPr lang="zh-CN" altLang="en-US"/>
          </a:p>
        </p:txBody>
      </p:sp>
      <p:sp>
        <p:nvSpPr>
          <p:cNvPr id="5" name="页脚占位符 4">
            <a:extLst>
              <a:ext uri="{FF2B5EF4-FFF2-40B4-BE49-F238E27FC236}">
                <a16:creationId xmlns:a16="http://schemas.microsoft.com/office/drawing/2014/main" id="{B8F060D1-3E8F-0248-8E31-99A618685770}"/>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B941145A-CA05-5740-84D1-9E00AE50473E}"/>
              </a:ext>
            </a:extLst>
          </p:cNvPr>
          <p:cNvPicPr>
            <a:picLocks noChangeAspect="1"/>
          </p:cNvPicPr>
          <p:nvPr/>
        </p:nvPicPr>
        <p:blipFill>
          <a:blip r:embed="rId2"/>
          <a:stretch>
            <a:fillRect/>
          </a:stretch>
        </p:blipFill>
        <p:spPr>
          <a:xfrm>
            <a:off x="5796136" y="1401951"/>
            <a:ext cx="2657277" cy="1383541"/>
          </a:xfrm>
          <a:prstGeom prst="rect">
            <a:avLst/>
          </a:prstGeom>
        </p:spPr>
      </p:pic>
    </p:spTree>
    <p:extLst>
      <p:ext uri="{BB962C8B-B14F-4D97-AF65-F5344CB8AC3E}">
        <p14:creationId xmlns:p14="http://schemas.microsoft.com/office/powerpoint/2010/main" val="42028587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80689E-150E-9749-BFEB-498AA982CC19}"/>
              </a:ext>
            </a:extLst>
          </p:cNvPr>
          <p:cNvSpPr>
            <a:spLocks noGrp="1"/>
          </p:cNvSpPr>
          <p:nvPr>
            <p:ph type="title"/>
          </p:nvPr>
        </p:nvSpPr>
        <p:spPr/>
        <p:txBody>
          <a:bodyPr/>
          <a:lstStyle/>
          <a:p>
            <a:r>
              <a:rPr kumimoji="1" lang="en-US" altLang="zh-CN" dirty="0" err="1"/>
              <a:t>Flush+Reload</a:t>
            </a:r>
            <a:endParaRPr kumimoji="1" lang="zh-CN" altLang="en-US" dirty="0"/>
          </a:p>
        </p:txBody>
      </p:sp>
      <p:sp>
        <p:nvSpPr>
          <p:cNvPr id="3" name="内容占位符 2">
            <a:extLst>
              <a:ext uri="{FF2B5EF4-FFF2-40B4-BE49-F238E27FC236}">
                <a16:creationId xmlns:a16="http://schemas.microsoft.com/office/drawing/2014/main" id="{92A6799B-DC9B-6F4A-9A45-891E29B6D0A8}"/>
              </a:ext>
            </a:extLst>
          </p:cNvPr>
          <p:cNvSpPr>
            <a:spLocks noGrp="1"/>
          </p:cNvSpPr>
          <p:nvPr>
            <p:ph idx="1"/>
          </p:nvPr>
        </p:nvSpPr>
        <p:spPr/>
        <p:txBody>
          <a:bodyPr>
            <a:normAutofit/>
          </a:bodyPr>
          <a:lstStyle/>
          <a:p>
            <a:r>
              <a:rPr kumimoji="1" lang="zh-CN" altLang="en-US" sz="1800" dirty="0"/>
              <a:t>假设：</a:t>
            </a:r>
            <a:r>
              <a:rPr kumimoji="1" lang="zh-CN" altLang="en-US" sz="1800" b="0" dirty="0"/>
              <a:t>攻击进程和目标进程共享一块内存</a:t>
            </a:r>
            <a:endParaRPr kumimoji="1" lang="en-US" altLang="zh-CN" sz="1800" b="0" dirty="0"/>
          </a:p>
          <a:p>
            <a:r>
              <a:rPr kumimoji="1" lang="zh-CN" altLang="en-US" sz="1800" dirty="0"/>
              <a:t>攻击步骤</a:t>
            </a:r>
            <a:endParaRPr kumimoji="1" lang="en-US" altLang="zh-CN" sz="1800" dirty="0"/>
          </a:p>
          <a:p>
            <a:pPr lvl="1"/>
            <a:r>
              <a:rPr lang="en-US" altLang="zh-CN" sz="1600" dirty="0"/>
              <a:t>1.</a:t>
            </a:r>
            <a:r>
              <a:rPr lang="zh-CN" altLang="en-US" sz="1600" dirty="0"/>
              <a:t> 攻击进程首先将 </a:t>
            </a:r>
            <a:r>
              <a:rPr lang="en" altLang="zh-CN" sz="1600" dirty="0"/>
              <a:t>cache </a:t>
            </a:r>
            <a:r>
              <a:rPr lang="zh-CN" altLang="en-US" sz="1600" dirty="0"/>
              <a:t>清空（如：不断访问其他内存占满</a:t>
            </a:r>
            <a:r>
              <a:rPr lang="en-US" altLang="zh-CN" sz="1600" dirty="0"/>
              <a:t>cache</a:t>
            </a:r>
            <a:r>
              <a:rPr lang="zh-CN" altLang="en-US" sz="1600" dirty="0"/>
              <a:t>或直接</a:t>
            </a:r>
            <a:r>
              <a:rPr lang="en-US" altLang="zh-CN" sz="1600" dirty="0"/>
              <a:t>flush</a:t>
            </a:r>
            <a:r>
              <a:rPr lang="zh-CN" altLang="en-US" sz="1600" dirty="0"/>
              <a:t>）</a:t>
            </a:r>
            <a:endParaRPr lang="en-US" altLang="zh-CN" sz="1600" dirty="0"/>
          </a:p>
          <a:p>
            <a:pPr lvl="1"/>
            <a:r>
              <a:rPr lang="en-US" altLang="zh-CN" sz="1600" dirty="0"/>
              <a:t>2.</a:t>
            </a:r>
            <a:r>
              <a:rPr lang="zh-CN" altLang="en-US" sz="1600" dirty="0"/>
              <a:t> 等待目标进程执行</a:t>
            </a:r>
            <a:endParaRPr lang="en-US" altLang="zh-CN" sz="1600" dirty="0"/>
          </a:p>
          <a:p>
            <a:pPr lvl="1"/>
            <a:r>
              <a:rPr lang="en-US" altLang="zh-CN" sz="1600" dirty="0"/>
              <a:t>3.</a:t>
            </a:r>
            <a:r>
              <a:rPr lang="zh-CN" altLang="en-US" sz="1600" dirty="0"/>
              <a:t> 攻击进程访问共享内存中的某个变量，并记录访问的时间</a:t>
            </a:r>
            <a:endParaRPr lang="en-US" altLang="zh-CN" sz="1600" dirty="0"/>
          </a:p>
          <a:p>
            <a:pPr lvl="2"/>
            <a:r>
              <a:rPr lang="zh-CN" altLang="en-US" sz="1600" dirty="0"/>
              <a:t>若时间长，则表示 </a:t>
            </a:r>
            <a:r>
              <a:rPr lang="en" altLang="zh-CN" sz="1600" dirty="0"/>
              <a:t>cache miss</a:t>
            </a:r>
            <a:r>
              <a:rPr lang="zh-CN" altLang="en" sz="1600" dirty="0"/>
              <a:t>，</a:t>
            </a:r>
            <a:r>
              <a:rPr lang="zh-CN" altLang="en-US" sz="1600" dirty="0"/>
              <a:t>意味着目标进程没有访问过该变量</a:t>
            </a:r>
            <a:endParaRPr lang="en-US" altLang="zh-CN" sz="1600" dirty="0"/>
          </a:p>
          <a:p>
            <a:pPr lvl="2"/>
            <a:r>
              <a:rPr lang="zh-CN" altLang="en-US" sz="1600" dirty="0"/>
              <a:t>若时间短，则表示 </a:t>
            </a:r>
            <a:r>
              <a:rPr lang="en" altLang="zh-CN" sz="1600" dirty="0"/>
              <a:t>cache hit</a:t>
            </a:r>
            <a:r>
              <a:rPr lang="zh-CN" altLang="en" sz="1600" dirty="0"/>
              <a:t>，</a:t>
            </a:r>
            <a:r>
              <a:rPr lang="zh-CN" altLang="en-US" sz="1600" dirty="0"/>
              <a:t>意味着目标进程访问过该变量</a:t>
            </a:r>
          </a:p>
          <a:p>
            <a:r>
              <a:rPr kumimoji="1" lang="zh-CN" altLang="en-US" sz="1800" dirty="0"/>
              <a:t>特点分析</a:t>
            </a:r>
            <a:endParaRPr kumimoji="1" lang="en-US" altLang="zh-CN" sz="1800" dirty="0"/>
          </a:p>
          <a:p>
            <a:pPr lvl="1"/>
            <a:r>
              <a:rPr kumimoji="1" lang="zh-CN" altLang="en-US" sz="1600" dirty="0"/>
              <a:t>优点：可以跨</a:t>
            </a:r>
            <a:r>
              <a:rPr kumimoji="1" lang="en-US" altLang="zh-CN" sz="1600" dirty="0"/>
              <a:t>CPU</a:t>
            </a:r>
            <a:r>
              <a:rPr kumimoji="1" lang="zh-CN" altLang="en-US" sz="1600" dirty="0"/>
              <a:t>核，甚至跨多个</a:t>
            </a:r>
            <a:r>
              <a:rPr kumimoji="1" lang="en-US" altLang="zh-CN" sz="1600" dirty="0"/>
              <a:t>CPU</a:t>
            </a:r>
            <a:r>
              <a:rPr kumimoji="1" lang="zh-CN" altLang="en-US" sz="1600" dirty="0"/>
              <a:t>；噪音低</a:t>
            </a:r>
            <a:endParaRPr kumimoji="1" lang="en-US" altLang="zh-CN" sz="1600" dirty="0"/>
          </a:p>
          <a:p>
            <a:pPr lvl="1"/>
            <a:r>
              <a:rPr kumimoji="1" lang="zh-CN" altLang="en-US" sz="1600" dirty="0"/>
              <a:t>缺点：攻击准备难度高，需构造与目标进程完全相同的内存页</a:t>
            </a:r>
          </a:p>
        </p:txBody>
      </p:sp>
      <p:sp>
        <p:nvSpPr>
          <p:cNvPr id="4" name="灯片编号占位符 3">
            <a:extLst>
              <a:ext uri="{FF2B5EF4-FFF2-40B4-BE49-F238E27FC236}">
                <a16:creationId xmlns:a16="http://schemas.microsoft.com/office/drawing/2014/main" id="{79D639C6-F75B-D74A-9776-28D7E4B16C0A}"/>
              </a:ext>
            </a:extLst>
          </p:cNvPr>
          <p:cNvSpPr>
            <a:spLocks noGrp="1"/>
          </p:cNvSpPr>
          <p:nvPr>
            <p:ph type="sldNum" sz="quarter" idx="12"/>
          </p:nvPr>
        </p:nvSpPr>
        <p:spPr/>
        <p:txBody>
          <a:bodyPr/>
          <a:lstStyle/>
          <a:p>
            <a:fld id="{ADE361C3-C043-4A6E-BDCE-8DA1E7D90A3B}" type="slidenum">
              <a:rPr lang="zh-CN" altLang="en-US" smtClean="0"/>
              <a:t>39</a:t>
            </a:fld>
            <a:endParaRPr lang="zh-CN" altLang="en-US"/>
          </a:p>
        </p:txBody>
      </p:sp>
      <p:sp>
        <p:nvSpPr>
          <p:cNvPr id="5" name="页脚占位符 4">
            <a:extLst>
              <a:ext uri="{FF2B5EF4-FFF2-40B4-BE49-F238E27FC236}">
                <a16:creationId xmlns:a16="http://schemas.microsoft.com/office/drawing/2014/main" id="{CC961DFD-B2BD-7749-B39F-7F3445291D88}"/>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5349586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8291FC5-F4F3-DD4B-9394-3587C725EB9E}"/>
              </a:ext>
            </a:extLst>
          </p:cNvPr>
          <p:cNvSpPr>
            <a:spLocks noGrp="1"/>
          </p:cNvSpPr>
          <p:nvPr>
            <p:ph type="title"/>
          </p:nvPr>
        </p:nvSpPr>
        <p:spPr/>
        <p:txBody>
          <a:bodyPr/>
          <a:lstStyle/>
          <a:p>
            <a:r>
              <a:rPr kumimoji="1" lang="en-US" altLang="zh-CN" dirty="0" err="1"/>
              <a:t>Flush+Flush</a:t>
            </a:r>
            <a:endParaRPr kumimoji="1" lang="zh-CN" altLang="en-US" dirty="0"/>
          </a:p>
        </p:txBody>
      </p:sp>
      <p:sp>
        <p:nvSpPr>
          <p:cNvPr id="3" name="内容占位符 2">
            <a:extLst>
              <a:ext uri="{FF2B5EF4-FFF2-40B4-BE49-F238E27FC236}">
                <a16:creationId xmlns:a16="http://schemas.microsoft.com/office/drawing/2014/main" id="{0C72E334-5A71-0343-ACF1-2FE744DD0EF2}"/>
              </a:ext>
            </a:extLst>
          </p:cNvPr>
          <p:cNvSpPr>
            <a:spLocks noGrp="1"/>
          </p:cNvSpPr>
          <p:nvPr>
            <p:ph idx="1"/>
          </p:nvPr>
        </p:nvSpPr>
        <p:spPr/>
        <p:txBody>
          <a:bodyPr>
            <a:normAutofit/>
          </a:bodyPr>
          <a:lstStyle/>
          <a:p>
            <a:r>
              <a:rPr lang="zh-CN" altLang="en-US" sz="2000" dirty="0"/>
              <a:t>基于缓存刷新时间（如</a:t>
            </a:r>
            <a:r>
              <a:rPr lang="en" altLang="zh-CN" sz="2000" dirty="0" err="1"/>
              <a:t>clflush</a:t>
            </a:r>
            <a:r>
              <a:rPr lang="zh-CN" altLang="en" sz="2000" dirty="0"/>
              <a:t>）</a:t>
            </a:r>
            <a:r>
              <a:rPr lang="zh-CN" altLang="en-US" sz="2000" dirty="0"/>
              <a:t>来推测数据在缓存中的状态</a:t>
            </a:r>
          </a:p>
          <a:p>
            <a:pPr lvl="1"/>
            <a:r>
              <a:rPr lang="en-US" altLang="zh-CN" sz="1800" dirty="0"/>
              <a:t>1. </a:t>
            </a:r>
            <a:r>
              <a:rPr lang="zh-CN" altLang="en-US" sz="1800" dirty="0"/>
              <a:t>攻击进程首先将 </a:t>
            </a:r>
            <a:r>
              <a:rPr lang="en" altLang="zh-CN" sz="1800" dirty="0"/>
              <a:t>cache </a:t>
            </a:r>
            <a:r>
              <a:rPr lang="zh-CN" altLang="en-US" sz="1800" dirty="0"/>
              <a:t>清空（</a:t>
            </a:r>
            <a:r>
              <a:rPr lang="en" altLang="zh-CN" sz="1800" dirty="0"/>
              <a:t>Flush</a:t>
            </a:r>
            <a:r>
              <a:rPr lang="zh-CN" altLang="en" sz="1800" dirty="0"/>
              <a:t>）</a:t>
            </a:r>
            <a:endParaRPr lang="en" altLang="zh-CN" sz="1800" dirty="0"/>
          </a:p>
          <a:p>
            <a:pPr lvl="1"/>
            <a:r>
              <a:rPr lang="en" altLang="zh-CN" sz="1800" dirty="0"/>
              <a:t>2. </a:t>
            </a:r>
            <a:r>
              <a:rPr lang="zh-CN" altLang="en-US" sz="1800" dirty="0"/>
              <a:t>等待目标进程执行</a:t>
            </a:r>
            <a:endParaRPr lang="en-US" altLang="zh-CN" sz="1800" dirty="0"/>
          </a:p>
          <a:p>
            <a:pPr lvl="1"/>
            <a:r>
              <a:rPr lang="en-US" altLang="zh-CN" sz="1800" dirty="0"/>
              <a:t>3. </a:t>
            </a:r>
            <a:r>
              <a:rPr lang="zh-CN" altLang="en-US" sz="1800" dirty="0"/>
              <a:t>运行</a:t>
            </a:r>
            <a:r>
              <a:rPr lang="en" altLang="zh-CN" sz="1800" dirty="0" err="1"/>
              <a:t>clflush</a:t>
            </a:r>
            <a:r>
              <a:rPr lang="zh-CN" altLang="en-US" sz="1800" dirty="0"/>
              <a:t>再次清空不同的缓存区域</a:t>
            </a:r>
            <a:endParaRPr lang="en-US" altLang="zh-CN" sz="1800" dirty="0"/>
          </a:p>
          <a:p>
            <a:pPr lvl="2"/>
            <a:r>
              <a:rPr lang="zh-CN" altLang="en-US" sz="1800" dirty="0"/>
              <a:t>若时间较短说明缓存中无数据</a:t>
            </a:r>
            <a:endParaRPr lang="en-US" altLang="zh-CN" sz="1800" dirty="0"/>
          </a:p>
          <a:p>
            <a:pPr lvl="2"/>
            <a:r>
              <a:rPr lang="zh-CN" altLang="en-US" sz="1800" dirty="0"/>
              <a:t>时间较长则说明缓存中有数据，目标进程曾访问对应的内存</a:t>
            </a:r>
            <a:endParaRPr lang="en-US" altLang="zh-CN" sz="1800" dirty="0"/>
          </a:p>
          <a:p>
            <a:r>
              <a:rPr lang="zh-CN" altLang="en-US" sz="2000" dirty="0"/>
              <a:t>特点分析</a:t>
            </a:r>
            <a:endParaRPr lang="en-US" altLang="zh-CN" sz="2000" dirty="0"/>
          </a:p>
          <a:p>
            <a:pPr lvl="1"/>
            <a:r>
              <a:rPr lang="zh-CN" altLang="en-US" sz="1800" dirty="0"/>
              <a:t>优点：只需清空缓存而不需实际访存，因此具有一定的隐蔽性</a:t>
            </a:r>
            <a:endParaRPr lang="en-US" altLang="zh-CN" sz="1800" dirty="0"/>
          </a:p>
          <a:p>
            <a:pPr lvl="1"/>
            <a:r>
              <a:rPr lang="zh-CN" altLang="en-US" sz="1800" dirty="0"/>
              <a:t>缺点：</a:t>
            </a:r>
            <a:r>
              <a:rPr lang="en" altLang="zh-CN" sz="1800" dirty="0" err="1"/>
              <a:t>clflush</a:t>
            </a:r>
            <a:r>
              <a:rPr lang="zh-CN" altLang="en-US" sz="1800" dirty="0"/>
              <a:t>对于有数据和无数据的时间差异不明显，攻击精度不高</a:t>
            </a:r>
          </a:p>
          <a:p>
            <a:pPr lvl="1"/>
            <a:endParaRPr kumimoji="1" lang="zh-CN" altLang="en-US" sz="1800" dirty="0"/>
          </a:p>
        </p:txBody>
      </p:sp>
      <p:sp>
        <p:nvSpPr>
          <p:cNvPr id="4" name="灯片编号占位符 3">
            <a:extLst>
              <a:ext uri="{FF2B5EF4-FFF2-40B4-BE49-F238E27FC236}">
                <a16:creationId xmlns:a16="http://schemas.microsoft.com/office/drawing/2014/main" id="{EC03B279-A6ED-A24D-8BB1-EAB1C7562014}"/>
              </a:ext>
            </a:extLst>
          </p:cNvPr>
          <p:cNvSpPr>
            <a:spLocks noGrp="1"/>
          </p:cNvSpPr>
          <p:nvPr>
            <p:ph type="sldNum" sz="quarter" idx="12"/>
          </p:nvPr>
        </p:nvSpPr>
        <p:spPr/>
        <p:txBody>
          <a:bodyPr/>
          <a:lstStyle/>
          <a:p>
            <a:fld id="{ADE361C3-C043-4A6E-BDCE-8DA1E7D90A3B}" type="slidenum">
              <a:rPr lang="zh-CN" altLang="en-US" smtClean="0"/>
              <a:t>40</a:t>
            </a:fld>
            <a:endParaRPr lang="zh-CN" altLang="en-US"/>
          </a:p>
        </p:txBody>
      </p:sp>
      <p:sp>
        <p:nvSpPr>
          <p:cNvPr id="5" name="页脚占位符 4">
            <a:extLst>
              <a:ext uri="{FF2B5EF4-FFF2-40B4-BE49-F238E27FC236}">
                <a16:creationId xmlns:a16="http://schemas.microsoft.com/office/drawing/2014/main" id="{BA9F2327-F5C3-C14D-910D-50203669E1B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10431970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6C4E0DB-279F-5942-A36C-845842FABC4B}"/>
              </a:ext>
            </a:extLst>
          </p:cNvPr>
          <p:cNvSpPr>
            <a:spLocks noGrp="1"/>
          </p:cNvSpPr>
          <p:nvPr>
            <p:ph type="title"/>
          </p:nvPr>
        </p:nvSpPr>
        <p:spPr/>
        <p:txBody>
          <a:bodyPr/>
          <a:lstStyle/>
          <a:p>
            <a:r>
              <a:rPr kumimoji="1" lang="en-US" altLang="zh-CN" dirty="0" err="1"/>
              <a:t>Evict+Reload</a:t>
            </a:r>
            <a:endParaRPr kumimoji="1" lang="zh-CN" altLang="en-US" dirty="0"/>
          </a:p>
        </p:txBody>
      </p:sp>
      <p:sp>
        <p:nvSpPr>
          <p:cNvPr id="3" name="内容占位符 2">
            <a:extLst>
              <a:ext uri="{FF2B5EF4-FFF2-40B4-BE49-F238E27FC236}">
                <a16:creationId xmlns:a16="http://schemas.microsoft.com/office/drawing/2014/main" id="{B4905F11-2578-104D-B09B-71215EA8DE3A}"/>
              </a:ext>
            </a:extLst>
          </p:cNvPr>
          <p:cNvSpPr>
            <a:spLocks noGrp="1"/>
          </p:cNvSpPr>
          <p:nvPr>
            <p:ph idx="1"/>
          </p:nvPr>
        </p:nvSpPr>
        <p:spPr/>
        <p:txBody>
          <a:bodyPr>
            <a:normAutofit/>
          </a:bodyPr>
          <a:lstStyle/>
          <a:p>
            <a:r>
              <a:rPr kumimoji="1" lang="zh-CN" altLang="en-US" sz="1800" dirty="0"/>
              <a:t>场景：</a:t>
            </a:r>
            <a:r>
              <a:rPr kumimoji="1" lang="en-US" altLang="zh-CN" sz="1800" dirty="0"/>
              <a:t>CPU</a:t>
            </a:r>
            <a:r>
              <a:rPr kumimoji="1" lang="zh-CN" altLang="en-US" sz="1800" dirty="0"/>
              <a:t>没有 </a:t>
            </a:r>
            <a:r>
              <a:rPr kumimoji="1" lang="en-US" altLang="zh-CN" sz="1800" dirty="0" err="1"/>
              <a:t>clflush</a:t>
            </a:r>
            <a:r>
              <a:rPr kumimoji="1" lang="zh-CN" altLang="en-US" sz="1800" dirty="0"/>
              <a:t> 指令</a:t>
            </a:r>
            <a:endParaRPr kumimoji="1" lang="en-US" altLang="zh-CN" sz="1800" dirty="0"/>
          </a:p>
          <a:p>
            <a:pPr lvl="1"/>
            <a:r>
              <a:rPr kumimoji="1" lang="en-US" altLang="zh-CN" sz="1600" dirty="0"/>
              <a:t>1.</a:t>
            </a:r>
            <a:r>
              <a:rPr kumimoji="1" lang="zh-CN" altLang="en-US" sz="1600" dirty="0"/>
              <a:t> 将关键数据所在的 </a:t>
            </a:r>
            <a:r>
              <a:rPr kumimoji="1" lang="en" altLang="zh-CN" sz="1600" dirty="0"/>
              <a:t>cache set </a:t>
            </a:r>
            <a:r>
              <a:rPr kumimoji="1" lang="zh-CN" altLang="en-US" sz="1600" dirty="0"/>
              <a:t>都替换成攻击进程的数据</a:t>
            </a:r>
            <a:endParaRPr kumimoji="1" lang="en-US" altLang="zh-CN" sz="1600" dirty="0"/>
          </a:p>
          <a:p>
            <a:pPr lvl="2"/>
            <a:r>
              <a:rPr kumimoji="1" lang="zh-CN" altLang="en-US" sz="1600" dirty="0"/>
              <a:t>前提：攻击者知道关键数据的内存地址，以及</a:t>
            </a:r>
            <a:r>
              <a:rPr kumimoji="1" lang="en-US" altLang="zh-CN" sz="1600" dirty="0"/>
              <a:t>CPU</a:t>
            </a:r>
            <a:r>
              <a:rPr kumimoji="1" lang="zh-CN" altLang="en-US" sz="1600" dirty="0"/>
              <a:t>上内存</a:t>
            </a:r>
            <a:r>
              <a:rPr kumimoji="1" lang="en-US" altLang="zh-CN" sz="1600" dirty="0"/>
              <a:t>-cache</a:t>
            </a:r>
            <a:r>
              <a:rPr kumimoji="1" lang="zh-CN" altLang="en-US" sz="1600" dirty="0"/>
              <a:t>的映射机制</a:t>
            </a:r>
            <a:endParaRPr kumimoji="1" lang="en-US" altLang="zh-CN" sz="1600" dirty="0"/>
          </a:p>
          <a:p>
            <a:pPr lvl="1"/>
            <a:r>
              <a:rPr kumimoji="1" lang="en-US" altLang="zh-CN" sz="1600" dirty="0"/>
              <a:t>2.</a:t>
            </a:r>
            <a:r>
              <a:rPr kumimoji="1" lang="zh-CN" altLang="en-US" sz="1600" dirty="0"/>
              <a:t> 等待目标进程执行</a:t>
            </a:r>
            <a:endParaRPr kumimoji="1" lang="en-US" altLang="zh-CN" sz="1600" dirty="0"/>
          </a:p>
          <a:p>
            <a:pPr lvl="1"/>
            <a:r>
              <a:rPr kumimoji="1" lang="en-US" altLang="zh-CN" sz="1600" dirty="0"/>
              <a:t>3. </a:t>
            </a:r>
            <a:r>
              <a:rPr kumimoji="1" lang="zh-CN" altLang="en-US" sz="1600" dirty="0"/>
              <a:t>访问 </a:t>
            </a:r>
            <a:r>
              <a:rPr kumimoji="1" lang="en" altLang="zh-CN" sz="1600" dirty="0"/>
              <a:t>cache set </a:t>
            </a:r>
            <a:r>
              <a:rPr kumimoji="1" lang="zh-CN" altLang="en-US" sz="1600" dirty="0"/>
              <a:t>中的某个数据</a:t>
            </a:r>
            <a:endParaRPr kumimoji="1" lang="en-US" altLang="zh-CN" sz="1600" dirty="0"/>
          </a:p>
          <a:p>
            <a:pPr lvl="2"/>
            <a:r>
              <a:rPr kumimoji="1" lang="zh-CN" altLang="en-US" sz="1600" dirty="0"/>
              <a:t>若时间很短，说明目标进程没有将该数据 </a:t>
            </a:r>
            <a:r>
              <a:rPr kumimoji="1" lang="en" altLang="zh-CN" sz="1600" dirty="0"/>
              <a:t>evict</a:t>
            </a:r>
            <a:r>
              <a:rPr kumimoji="1" lang="zh-CN" altLang="en" sz="1600" dirty="0"/>
              <a:t>，</a:t>
            </a:r>
            <a:r>
              <a:rPr kumimoji="1" lang="zh-CN" altLang="en-US" sz="1600" dirty="0"/>
              <a:t>即没有访问过某个关键数据</a:t>
            </a:r>
            <a:endParaRPr kumimoji="1" lang="en-US" altLang="zh-CN" sz="1600" dirty="0"/>
          </a:p>
          <a:p>
            <a:pPr lvl="2"/>
            <a:r>
              <a:rPr kumimoji="1" lang="zh-CN" altLang="en-US" sz="1600" dirty="0"/>
              <a:t>反之，则说明目标进程访问了某个关键数据</a:t>
            </a:r>
            <a:endParaRPr kumimoji="1" lang="en-US" altLang="zh-CN" sz="1600" dirty="0"/>
          </a:p>
          <a:p>
            <a:r>
              <a:rPr kumimoji="1" lang="zh-CN" altLang="en-US" sz="1800" dirty="0"/>
              <a:t>特点分析</a:t>
            </a:r>
            <a:endParaRPr kumimoji="1" lang="en-US" altLang="zh-CN" sz="1800" dirty="0"/>
          </a:p>
          <a:p>
            <a:pPr lvl="1"/>
            <a:r>
              <a:rPr kumimoji="1" lang="zh-CN" altLang="en-US" sz="1600" dirty="0"/>
              <a:t>优点：无需依赖 </a:t>
            </a:r>
            <a:r>
              <a:rPr kumimoji="1" lang="en-US" altLang="zh-CN" sz="1600" dirty="0"/>
              <a:t>flush</a:t>
            </a:r>
            <a:r>
              <a:rPr kumimoji="1" lang="zh-CN" altLang="en-US" sz="1600" dirty="0"/>
              <a:t> 指令</a:t>
            </a:r>
            <a:endParaRPr kumimoji="1" lang="en-US" altLang="zh-CN" sz="1600" dirty="0"/>
          </a:p>
          <a:p>
            <a:pPr lvl="1"/>
            <a:r>
              <a:rPr kumimoji="1" lang="zh-CN" altLang="en-US" sz="1600" dirty="0"/>
              <a:t>缺点：无法支持动态分配的内存；需要了解 </a:t>
            </a:r>
            <a:r>
              <a:rPr kumimoji="1" lang="en" altLang="zh-CN" sz="1600" dirty="0"/>
              <a:t>LLC </a:t>
            </a:r>
            <a:r>
              <a:rPr kumimoji="1" lang="zh-CN" altLang="en-US" sz="1600" dirty="0"/>
              <a:t>的 </a:t>
            </a:r>
            <a:r>
              <a:rPr kumimoji="1" lang="en" altLang="zh-CN" sz="1600" dirty="0"/>
              <a:t>eviction </a:t>
            </a:r>
            <a:r>
              <a:rPr kumimoji="1" lang="zh-CN" altLang="en-US" sz="1600" dirty="0"/>
              <a:t>策略；</a:t>
            </a:r>
            <a:r>
              <a:rPr kumimoji="1" lang="en" altLang="zh-CN" sz="1600" dirty="0"/>
              <a:t>Cache </a:t>
            </a:r>
            <a:r>
              <a:rPr kumimoji="1" lang="zh-CN" altLang="en-US" sz="1600" dirty="0"/>
              <a:t>必须是 </a:t>
            </a:r>
            <a:r>
              <a:rPr kumimoji="1" lang="en" altLang="zh-CN" sz="1600" dirty="0"/>
              <a:t>inclusive</a:t>
            </a:r>
            <a:r>
              <a:rPr kumimoji="1" lang="zh-CN" altLang="en-US" sz="1600" dirty="0"/>
              <a:t>；无法很好地支持多 </a:t>
            </a:r>
            <a:r>
              <a:rPr kumimoji="1" lang="en" altLang="zh-CN" sz="1600" dirty="0"/>
              <a:t>CPU</a:t>
            </a:r>
            <a:endParaRPr kumimoji="1" lang="zh-CN" altLang="en-US" sz="1600" dirty="0"/>
          </a:p>
        </p:txBody>
      </p:sp>
      <p:sp>
        <p:nvSpPr>
          <p:cNvPr id="4" name="灯片编号占位符 3">
            <a:extLst>
              <a:ext uri="{FF2B5EF4-FFF2-40B4-BE49-F238E27FC236}">
                <a16:creationId xmlns:a16="http://schemas.microsoft.com/office/drawing/2014/main" id="{CB1B3667-A3D7-FF40-AD2E-AE2DCD49E06B}"/>
              </a:ext>
            </a:extLst>
          </p:cNvPr>
          <p:cNvSpPr>
            <a:spLocks noGrp="1"/>
          </p:cNvSpPr>
          <p:nvPr>
            <p:ph type="sldNum" sz="quarter" idx="12"/>
          </p:nvPr>
        </p:nvSpPr>
        <p:spPr/>
        <p:txBody>
          <a:bodyPr/>
          <a:lstStyle/>
          <a:p>
            <a:fld id="{ADE361C3-C043-4A6E-BDCE-8DA1E7D90A3B}" type="slidenum">
              <a:rPr lang="zh-CN" altLang="en-US" smtClean="0"/>
              <a:t>41</a:t>
            </a:fld>
            <a:endParaRPr lang="zh-CN" altLang="en-US"/>
          </a:p>
        </p:txBody>
      </p:sp>
      <p:sp>
        <p:nvSpPr>
          <p:cNvPr id="5" name="页脚占位符 4">
            <a:extLst>
              <a:ext uri="{FF2B5EF4-FFF2-40B4-BE49-F238E27FC236}">
                <a16:creationId xmlns:a16="http://schemas.microsoft.com/office/drawing/2014/main" id="{7E3DFE01-1B45-9B48-80BF-11CFF93519C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5691002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37036B0-0661-D34D-8398-D331F583BDEB}"/>
              </a:ext>
            </a:extLst>
          </p:cNvPr>
          <p:cNvSpPr>
            <a:spLocks noGrp="1"/>
          </p:cNvSpPr>
          <p:nvPr>
            <p:ph type="title"/>
          </p:nvPr>
        </p:nvSpPr>
        <p:spPr/>
        <p:txBody>
          <a:bodyPr/>
          <a:lstStyle/>
          <a:p>
            <a:r>
              <a:rPr kumimoji="1" lang="en-US" altLang="zh-CN" dirty="0" err="1"/>
              <a:t>Prime+Probe</a:t>
            </a:r>
            <a:endParaRPr kumimoji="1" lang="zh-CN" altLang="en-US" dirty="0"/>
          </a:p>
        </p:txBody>
      </p:sp>
      <p:sp>
        <p:nvSpPr>
          <p:cNvPr id="3" name="内容占位符 2">
            <a:extLst>
              <a:ext uri="{FF2B5EF4-FFF2-40B4-BE49-F238E27FC236}">
                <a16:creationId xmlns:a16="http://schemas.microsoft.com/office/drawing/2014/main" id="{CE840A8D-6825-944A-AEB6-A5970A4A3265}"/>
              </a:ext>
            </a:extLst>
          </p:cNvPr>
          <p:cNvSpPr>
            <a:spLocks noGrp="1"/>
          </p:cNvSpPr>
          <p:nvPr>
            <p:ph idx="1"/>
          </p:nvPr>
        </p:nvSpPr>
        <p:spPr/>
        <p:txBody>
          <a:bodyPr>
            <a:normAutofit/>
          </a:bodyPr>
          <a:lstStyle/>
          <a:p>
            <a:r>
              <a:rPr kumimoji="1" lang="zh-CN" altLang="en-US" sz="1800" dirty="0"/>
              <a:t>攻击的具体步骤如下</a:t>
            </a:r>
            <a:r>
              <a:rPr kumimoji="1" lang="en-US" altLang="zh-CN" sz="1800" dirty="0"/>
              <a:t>:</a:t>
            </a:r>
          </a:p>
          <a:p>
            <a:pPr lvl="1"/>
            <a:r>
              <a:rPr kumimoji="1" lang="en-US" altLang="zh-CN" sz="1600" dirty="0"/>
              <a:t>1.</a:t>
            </a:r>
            <a:r>
              <a:rPr kumimoji="1" lang="zh-CN" altLang="en-US" sz="1600" dirty="0"/>
              <a:t> 攻击进程用自己的数据将 </a:t>
            </a:r>
            <a:r>
              <a:rPr kumimoji="1" lang="en" altLang="zh-CN" sz="1600" dirty="0"/>
              <a:t>cache set </a:t>
            </a:r>
            <a:r>
              <a:rPr kumimoji="1" lang="zh-CN" altLang="en-US" sz="1600" dirty="0"/>
              <a:t>填满（</a:t>
            </a:r>
            <a:r>
              <a:rPr kumimoji="1" lang="en" altLang="zh-CN" sz="1600" dirty="0"/>
              <a:t>Prime</a:t>
            </a:r>
            <a:r>
              <a:rPr kumimoji="1" lang="zh-CN" altLang="en" sz="1600" dirty="0"/>
              <a:t>）</a:t>
            </a:r>
            <a:endParaRPr kumimoji="1" lang="en" altLang="zh-CN" sz="1600" dirty="0"/>
          </a:p>
          <a:p>
            <a:pPr lvl="1"/>
            <a:r>
              <a:rPr kumimoji="1" lang="en" altLang="zh-CN" sz="1600" dirty="0"/>
              <a:t>2. </a:t>
            </a:r>
            <a:r>
              <a:rPr kumimoji="1" lang="zh-CN" altLang="en-US" sz="1600" dirty="0"/>
              <a:t>等待目标进程执行</a:t>
            </a:r>
            <a:endParaRPr kumimoji="1" lang="en-US" altLang="zh-CN" sz="1600" dirty="0"/>
          </a:p>
          <a:p>
            <a:pPr lvl="1"/>
            <a:r>
              <a:rPr kumimoji="1" lang="en-US" altLang="zh-CN" sz="1600" dirty="0"/>
              <a:t>3. </a:t>
            </a:r>
            <a:r>
              <a:rPr kumimoji="1" lang="zh-CN" altLang="en-US" sz="1600" dirty="0"/>
              <a:t>再次访问自己的数据</a:t>
            </a:r>
            <a:endParaRPr kumimoji="1" lang="en-US" altLang="zh-CN" sz="1600" dirty="0"/>
          </a:p>
          <a:p>
            <a:pPr lvl="2"/>
            <a:r>
              <a:rPr kumimoji="1" lang="zh-CN" altLang="en-US" sz="1600" dirty="0"/>
              <a:t>若时间很短，说明目标进程没有将该数据 </a:t>
            </a:r>
            <a:r>
              <a:rPr kumimoji="1" lang="en" altLang="zh-CN" sz="1600" dirty="0"/>
              <a:t>evict</a:t>
            </a:r>
            <a:r>
              <a:rPr kumimoji="1" lang="zh-CN" altLang="en" sz="1600" dirty="0"/>
              <a:t>，</a:t>
            </a:r>
            <a:r>
              <a:rPr kumimoji="1" lang="zh-CN" altLang="en-US" sz="1600" dirty="0"/>
              <a:t>即没有访问过某个关键数据</a:t>
            </a:r>
            <a:endParaRPr kumimoji="1" lang="en-US" altLang="zh-CN" sz="1600" dirty="0"/>
          </a:p>
          <a:p>
            <a:pPr lvl="2"/>
            <a:r>
              <a:rPr kumimoji="1" lang="zh-CN" altLang="en-US" sz="1600" dirty="0"/>
              <a:t>反之，则说明目标进程访问了某个关键数据</a:t>
            </a:r>
            <a:endParaRPr kumimoji="1" lang="en-US" altLang="zh-CN" sz="1600" dirty="0"/>
          </a:p>
          <a:p>
            <a:r>
              <a:rPr kumimoji="1" lang="zh-CN" altLang="en-US" sz="1800" dirty="0"/>
              <a:t>特点分析：</a:t>
            </a:r>
            <a:endParaRPr kumimoji="1" lang="en-US" altLang="zh-CN" sz="1800" dirty="0"/>
          </a:p>
          <a:p>
            <a:pPr lvl="1"/>
            <a:r>
              <a:rPr kumimoji="1" lang="zh-CN" altLang="en-US" sz="1600" dirty="0"/>
              <a:t>优点：不需要共享内存</a:t>
            </a:r>
            <a:r>
              <a:rPr kumimoji="1" lang="en-US" altLang="zh-CN" sz="1600" dirty="0"/>
              <a:t>;</a:t>
            </a:r>
            <a:r>
              <a:rPr kumimoji="1" lang="zh-CN" altLang="en-US" sz="1600" dirty="0"/>
              <a:t>支持动态和静态分配的内存</a:t>
            </a:r>
            <a:endParaRPr kumimoji="1" lang="en-US" altLang="zh-CN" sz="1600" dirty="0"/>
          </a:p>
          <a:p>
            <a:pPr lvl="1"/>
            <a:r>
              <a:rPr kumimoji="1" lang="zh-CN" altLang="en-US" sz="1600" dirty="0"/>
              <a:t>缺点：噪音更多；需要考虑 </a:t>
            </a:r>
            <a:r>
              <a:rPr kumimoji="1" lang="en" altLang="zh-CN" sz="1600" dirty="0"/>
              <a:t>LLC </a:t>
            </a:r>
            <a:r>
              <a:rPr kumimoji="1" lang="zh-CN" altLang="en-US" sz="1600" dirty="0"/>
              <a:t>的实现细节，如组相连等；</a:t>
            </a:r>
            <a:r>
              <a:rPr kumimoji="1" lang="en" altLang="zh-CN" sz="1600" dirty="0"/>
              <a:t>Cache </a:t>
            </a:r>
            <a:r>
              <a:rPr kumimoji="1" lang="zh-CN" altLang="en-US" sz="1600" dirty="0"/>
              <a:t>必须是 </a:t>
            </a:r>
            <a:r>
              <a:rPr kumimoji="1" lang="en" altLang="zh-CN" sz="1600" dirty="0"/>
              <a:t>inclusive;</a:t>
            </a:r>
            <a:r>
              <a:rPr kumimoji="1" lang="zh-CN" altLang="en-US" sz="1600" dirty="0"/>
              <a:t>无法很好地支持多</a:t>
            </a:r>
            <a:r>
              <a:rPr kumimoji="1" lang="en" altLang="zh-CN" sz="1600" dirty="0"/>
              <a:t>CPU</a:t>
            </a:r>
            <a:r>
              <a:rPr kumimoji="1" lang="zh-CN" altLang="en-US" sz="1600" dirty="0"/>
              <a:t>；需要首先定位目标进程使用的</a:t>
            </a:r>
            <a:r>
              <a:rPr kumimoji="1" lang="en" altLang="zh-CN" sz="1600" dirty="0"/>
              <a:t>cache set</a:t>
            </a:r>
            <a:endParaRPr kumimoji="1" lang="zh-CN" altLang="en-US" sz="1600" dirty="0"/>
          </a:p>
        </p:txBody>
      </p:sp>
      <p:sp>
        <p:nvSpPr>
          <p:cNvPr id="4" name="灯片编号占位符 3">
            <a:extLst>
              <a:ext uri="{FF2B5EF4-FFF2-40B4-BE49-F238E27FC236}">
                <a16:creationId xmlns:a16="http://schemas.microsoft.com/office/drawing/2014/main" id="{0821D94B-6A6D-BE49-837A-FCC4FA05262A}"/>
              </a:ext>
            </a:extLst>
          </p:cNvPr>
          <p:cNvSpPr>
            <a:spLocks noGrp="1"/>
          </p:cNvSpPr>
          <p:nvPr>
            <p:ph type="sldNum" sz="quarter" idx="12"/>
          </p:nvPr>
        </p:nvSpPr>
        <p:spPr/>
        <p:txBody>
          <a:bodyPr/>
          <a:lstStyle/>
          <a:p>
            <a:fld id="{ADE361C3-C043-4A6E-BDCE-8DA1E7D90A3B}" type="slidenum">
              <a:rPr lang="zh-CN" altLang="en-US" smtClean="0"/>
              <a:t>42</a:t>
            </a:fld>
            <a:endParaRPr lang="zh-CN" altLang="en-US"/>
          </a:p>
        </p:txBody>
      </p:sp>
      <p:sp>
        <p:nvSpPr>
          <p:cNvPr id="5" name="页脚占位符 4">
            <a:extLst>
              <a:ext uri="{FF2B5EF4-FFF2-40B4-BE49-F238E27FC236}">
                <a16:creationId xmlns:a16="http://schemas.microsoft.com/office/drawing/2014/main" id="{8855768B-E3FF-704A-905E-31CDE44BE0FB}"/>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349011571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6777B3-A1E1-6647-8A50-FABA969339A8}"/>
              </a:ext>
            </a:extLst>
          </p:cNvPr>
          <p:cNvSpPr>
            <a:spLocks noGrp="1"/>
          </p:cNvSpPr>
          <p:nvPr>
            <p:ph type="title"/>
          </p:nvPr>
        </p:nvSpPr>
        <p:spPr/>
        <p:txBody>
          <a:bodyPr/>
          <a:lstStyle/>
          <a:p>
            <a:r>
              <a:rPr kumimoji="1" lang="zh-CN" altLang="en-US" dirty="0"/>
              <a:t>侧信道攻击的防御</a:t>
            </a:r>
          </a:p>
        </p:txBody>
      </p:sp>
      <p:sp>
        <p:nvSpPr>
          <p:cNvPr id="3" name="内容占位符 2">
            <a:extLst>
              <a:ext uri="{FF2B5EF4-FFF2-40B4-BE49-F238E27FC236}">
                <a16:creationId xmlns:a16="http://schemas.microsoft.com/office/drawing/2014/main" id="{FA4D19B7-EA05-C64F-92AC-EC9801ACFFCE}"/>
              </a:ext>
            </a:extLst>
          </p:cNvPr>
          <p:cNvSpPr>
            <a:spLocks noGrp="1"/>
          </p:cNvSpPr>
          <p:nvPr>
            <p:ph idx="1"/>
          </p:nvPr>
        </p:nvSpPr>
        <p:spPr/>
        <p:txBody>
          <a:bodyPr>
            <a:normAutofit/>
          </a:bodyPr>
          <a:lstStyle/>
          <a:p>
            <a:r>
              <a:rPr kumimoji="1" lang="zh-CN" altLang="en-US" sz="2000" dirty="0"/>
              <a:t>侧信道攻击很难被完全防御住，根本原因在于共享</a:t>
            </a:r>
            <a:endParaRPr kumimoji="1" lang="en-US" altLang="zh-CN" sz="2000" dirty="0"/>
          </a:p>
          <a:p>
            <a:pPr lvl="1"/>
            <a:r>
              <a:rPr kumimoji="1" lang="zh-CN" altLang="en-US" sz="1800" dirty="0"/>
              <a:t>当被攻击者在做了某个操作后，对系统整体产生了影响</a:t>
            </a:r>
            <a:endParaRPr kumimoji="1" lang="en-US" altLang="zh-CN" sz="1800" dirty="0"/>
          </a:p>
          <a:p>
            <a:pPr lvl="1"/>
            <a:r>
              <a:rPr kumimoji="1" lang="zh-CN" altLang="en-US" sz="1800" dirty="0"/>
              <a:t>这个影响能够被使用同样系统的攻击者发现，那么就构成了一个最简单的侧信道：发现影响和没发现影响（即做了操作和没做操作）可以被编码为 </a:t>
            </a:r>
            <a:r>
              <a:rPr kumimoji="1" lang="en-US" altLang="zh-CN" sz="1800" dirty="0"/>
              <a:t>0 </a:t>
            </a:r>
            <a:r>
              <a:rPr kumimoji="1" lang="zh-CN" altLang="en-US" sz="1800" dirty="0"/>
              <a:t>和 </a:t>
            </a:r>
            <a:r>
              <a:rPr kumimoji="1" lang="en-US" altLang="zh-CN" sz="1800" dirty="0"/>
              <a:t>1</a:t>
            </a:r>
          </a:p>
          <a:p>
            <a:r>
              <a:rPr kumimoji="1" lang="zh-CN" altLang="en-US" sz="2000" dirty="0"/>
              <a:t>防御侧信道的根本方法：不共享</a:t>
            </a:r>
            <a:endParaRPr kumimoji="1" lang="en-US" altLang="zh-CN" sz="2000" dirty="0"/>
          </a:p>
          <a:p>
            <a:pPr lvl="1"/>
            <a:r>
              <a:rPr kumimoji="1" lang="zh-CN" altLang="en-US" sz="1800" dirty="0"/>
              <a:t>将攻击者和被攻击者运行在完全隔离的物理主机，使其没有任何共享，包括计算硬件、网络，甚至空间（光、温度、声音）</a:t>
            </a:r>
            <a:endParaRPr kumimoji="1" lang="en-US" altLang="zh-CN" sz="1800" dirty="0"/>
          </a:p>
          <a:p>
            <a:pPr lvl="1"/>
            <a:r>
              <a:rPr kumimoji="1" lang="zh-CN" altLang="en-US" sz="1800" dirty="0"/>
              <a:t>更实际的方法是针对常见攻击进行防御</a:t>
            </a:r>
          </a:p>
        </p:txBody>
      </p:sp>
      <p:sp>
        <p:nvSpPr>
          <p:cNvPr id="4" name="灯片编号占位符 3">
            <a:extLst>
              <a:ext uri="{FF2B5EF4-FFF2-40B4-BE49-F238E27FC236}">
                <a16:creationId xmlns:a16="http://schemas.microsoft.com/office/drawing/2014/main" id="{BEEB3C15-398F-D74A-9ECD-9E6CDC96EF39}"/>
              </a:ext>
            </a:extLst>
          </p:cNvPr>
          <p:cNvSpPr>
            <a:spLocks noGrp="1"/>
          </p:cNvSpPr>
          <p:nvPr>
            <p:ph type="sldNum" sz="quarter" idx="12"/>
          </p:nvPr>
        </p:nvSpPr>
        <p:spPr/>
        <p:txBody>
          <a:bodyPr/>
          <a:lstStyle/>
          <a:p>
            <a:fld id="{ADE361C3-C043-4A6E-BDCE-8DA1E7D90A3B}" type="slidenum">
              <a:rPr lang="zh-CN" altLang="en-US" smtClean="0"/>
              <a:t>43</a:t>
            </a:fld>
            <a:endParaRPr lang="zh-CN" altLang="en-US"/>
          </a:p>
        </p:txBody>
      </p:sp>
      <p:sp>
        <p:nvSpPr>
          <p:cNvPr id="5" name="页脚占位符 4">
            <a:extLst>
              <a:ext uri="{FF2B5EF4-FFF2-40B4-BE49-F238E27FC236}">
                <a16:creationId xmlns:a16="http://schemas.microsoft.com/office/drawing/2014/main" id="{7DD51913-7700-4D41-9888-2C69FA31537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9256087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536192-F448-DF40-9999-945DFA5F3DE3}"/>
              </a:ext>
            </a:extLst>
          </p:cNvPr>
          <p:cNvSpPr>
            <a:spLocks noGrp="1"/>
          </p:cNvSpPr>
          <p:nvPr>
            <p:ph type="title"/>
          </p:nvPr>
        </p:nvSpPr>
        <p:spPr/>
        <p:txBody>
          <a:bodyPr/>
          <a:lstStyle/>
          <a:p>
            <a:r>
              <a:rPr kumimoji="1" lang="zh-CN" altLang="en-US" dirty="0"/>
              <a:t>常量时间（</a:t>
            </a:r>
            <a:r>
              <a:rPr kumimoji="1" lang="en-US" altLang="zh-CN" dirty="0"/>
              <a:t>Constant</a:t>
            </a:r>
            <a:r>
              <a:rPr kumimoji="1" lang="zh-CN" altLang="en-US" dirty="0"/>
              <a:t> </a:t>
            </a:r>
            <a:r>
              <a:rPr kumimoji="1" lang="en-US" altLang="zh-CN" dirty="0"/>
              <a:t>Time</a:t>
            </a:r>
            <a:r>
              <a:rPr kumimoji="1" lang="zh-CN" altLang="en-US" dirty="0"/>
              <a:t>）算法</a:t>
            </a:r>
          </a:p>
        </p:txBody>
      </p:sp>
      <p:sp>
        <p:nvSpPr>
          <p:cNvPr id="3" name="内容占位符 2">
            <a:extLst>
              <a:ext uri="{FF2B5EF4-FFF2-40B4-BE49-F238E27FC236}">
                <a16:creationId xmlns:a16="http://schemas.microsoft.com/office/drawing/2014/main" id="{2C5BAEDF-EF64-724B-A176-36A68D3F00CC}"/>
              </a:ext>
            </a:extLst>
          </p:cNvPr>
          <p:cNvSpPr>
            <a:spLocks noGrp="1"/>
          </p:cNvSpPr>
          <p:nvPr>
            <p:ph idx="1"/>
          </p:nvPr>
        </p:nvSpPr>
        <p:spPr>
          <a:xfrm>
            <a:off x="457200" y="1333500"/>
            <a:ext cx="4330824" cy="3972271"/>
          </a:xfrm>
        </p:spPr>
        <p:txBody>
          <a:bodyPr>
            <a:normAutofit/>
          </a:bodyPr>
          <a:lstStyle/>
          <a:p>
            <a:r>
              <a:rPr lang="zh-CN" altLang="en-US" sz="2000" dirty="0"/>
              <a:t>算法的运行时间与输入无关</a:t>
            </a:r>
          </a:p>
          <a:p>
            <a:pPr lvl="1"/>
            <a:r>
              <a:rPr kumimoji="1" lang="zh-CN" altLang="en-US" sz="1800" dirty="0"/>
              <a:t>无法通过运行时间得到与输入相关的任何信息</a:t>
            </a:r>
            <a:endParaRPr kumimoji="1" lang="en-US" altLang="zh-CN" sz="1800" dirty="0"/>
          </a:p>
          <a:p>
            <a:pPr lvl="1"/>
            <a:r>
              <a:rPr kumimoji="1" lang="zh-CN" altLang="en-US" sz="1800" dirty="0"/>
              <a:t>代码执行没有分支跳转</a:t>
            </a:r>
            <a:endParaRPr kumimoji="1" lang="en-US" altLang="zh-CN" sz="1800" dirty="0"/>
          </a:p>
          <a:p>
            <a:r>
              <a:rPr kumimoji="1" lang="zh-CN" altLang="en-US" sz="2200" dirty="0"/>
              <a:t>常见的实现方法：</a:t>
            </a:r>
            <a:r>
              <a:rPr kumimoji="1" lang="en-US" altLang="zh-CN" sz="2200" dirty="0" err="1"/>
              <a:t>cmov</a:t>
            </a:r>
            <a:endParaRPr kumimoji="1" lang="en-US" altLang="zh-CN" sz="2200" dirty="0"/>
          </a:p>
          <a:p>
            <a:pPr lvl="1"/>
            <a:r>
              <a:rPr kumimoji="1" lang="en-US" altLang="zh-CN" sz="1800" dirty="0"/>
              <a:t>Conditional</a:t>
            </a:r>
            <a:r>
              <a:rPr kumimoji="1" lang="zh-CN" altLang="en-US" sz="1800" dirty="0"/>
              <a:t> </a:t>
            </a:r>
            <a:r>
              <a:rPr kumimoji="1" lang="en-US" altLang="zh-CN" sz="1800" dirty="0"/>
              <a:t>MOV</a:t>
            </a:r>
          </a:p>
          <a:p>
            <a:r>
              <a:rPr kumimoji="1" lang="zh-CN" altLang="en-US" sz="2200" dirty="0"/>
              <a:t>缺点：计算变得更慢</a:t>
            </a:r>
            <a:endParaRPr kumimoji="1" lang="en-US" altLang="zh-CN" sz="2200" dirty="0"/>
          </a:p>
          <a:p>
            <a:pPr lvl="1"/>
            <a:r>
              <a:rPr kumimoji="1" lang="zh-CN" altLang="en-US" sz="1800" dirty="0"/>
              <a:t>需要做两份运算</a:t>
            </a:r>
          </a:p>
        </p:txBody>
      </p:sp>
      <p:sp>
        <p:nvSpPr>
          <p:cNvPr id="4" name="灯片编号占位符 3">
            <a:extLst>
              <a:ext uri="{FF2B5EF4-FFF2-40B4-BE49-F238E27FC236}">
                <a16:creationId xmlns:a16="http://schemas.microsoft.com/office/drawing/2014/main" id="{A5DD48A3-6682-6640-B943-5F0DAE05E2D1}"/>
              </a:ext>
            </a:extLst>
          </p:cNvPr>
          <p:cNvSpPr>
            <a:spLocks noGrp="1"/>
          </p:cNvSpPr>
          <p:nvPr>
            <p:ph type="sldNum" sz="quarter" idx="12"/>
          </p:nvPr>
        </p:nvSpPr>
        <p:spPr/>
        <p:txBody>
          <a:bodyPr/>
          <a:lstStyle/>
          <a:p>
            <a:fld id="{ADE361C3-C043-4A6E-BDCE-8DA1E7D90A3B}" type="slidenum">
              <a:rPr lang="zh-CN" altLang="en-US" smtClean="0"/>
              <a:t>44</a:t>
            </a:fld>
            <a:endParaRPr lang="zh-CN" altLang="en-US"/>
          </a:p>
        </p:txBody>
      </p:sp>
      <p:sp>
        <p:nvSpPr>
          <p:cNvPr id="5" name="页脚占位符 4">
            <a:extLst>
              <a:ext uri="{FF2B5EF4-FFF2-40B4-BE49-F238E27FC236}">
                <a16:creationId xmlns:a16="http://schemas.microsoft.com/office/drawing/2014/main" id="{F368B56D-2438-EF4C-8F4A-5E900236059C}"/>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pic>
        <p:nvPicPr>
          <p:cNvPr id="6" name="图片 5">
            <a:extLst>
              <a:ext uri="{FF2B5EF4-FFF2-40B4-BE49-F238E27FC236}">
                <a16:creationId xmlns:a16="http://schemas.microsoft.com/office/drawing/2014/main" id="{60D7BFB5-9DAC-5048-B572-4E395905811F}"/>
              </a:ext>
            </a:extLst>
          </p:cNvPr>
          <p:cNvPicPr>
            <a:picLocks noChangeAspect="1"/>
          </p:cNvPicPr>
          <p:nvPr/>
        </p:nvPicPr>
        <p:blipFill>
          <a:blip r:embed="rId2"/>
          <a:stretch>
            <a:fillRect/>
          </a:stretch>
        </p:blipFill>
        <p:spPr>
          <a:xfrm>
            <a:off x="4788024" y="1490410"/>
            <a:ext cx="4038600" cy="3378200"/>
          </a:xfrm>
          <a:prstGeom prst="rect">
            <a:avLst/>
          </a:prstGeom>
        </p:spPr>
      </p:pic>
    </p:spTree>
    <p:extLst>
      <p:ext uri="{BB962C8B-B14F-4D97-AF65-F5344CB8AC3E}">
        <p14:creationId xmlns:p14="http://schemas.microsoft.com/office/powerpoint/2010/main" val="28455155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134998-405E-124D-A3ED-345DAAEB6F15}"/>
              </a:ext>
            </a:extLst>
          </p:cNvPr>
          <p:cNvSpPr>
            <a:spLocks noGrp="1"/>
          </p:cNvSpPr>
          <p:nvPr>
            <p:ph type="title"/>
          </p:nvPr>
        </p:nvSpPr>
        <p:spPr/>
        <p:txBody>
          <a:bodyPr/>
          <a:lstStyle/>
          <a:p>
            <a:r>
              <a:rPr kumimoji="1" lang="zh-CN" altLang="en-US" dirty="0"/>
              <a:t>不经意随机访问内存（</a:t>
            </a:r>
            <a:r>
              <a:rPr kumimoji="1" lang="en-US" altLang="zh-CN" dirty="0"/>
              <a:t>ORAM</a:t>
            </a:r>
            <a:r>
              <a:rPr kumimoji="1" lang="zh-CN" altLang="en-US" dirty="0"/>
              <a:t>）</a:t>
            </a:r>
          </a:p>
        </p:txBody>
      </p:sp>
      <p:sp>
        <p:nvSpPr>
          <p:cNvPr id="3" name="内容占位符 2">
            <a:extLst>
              <a:ext uri="{FF2B5EF4-FFF2-40B4-BE49-F238E27FC236}">
                <a16:creationId xmlns:a16="http://schemas.microsoft.com/office/drawing/2014/main" id="{B822EFFD-283F-ED4B-B6C7-0963DBB285A2}"/>
              </a:ext>
            </a:extLst>
          </p:cNvPr>
          <p:cNvSpPr>
            <a:spLocks noGrp="1"/>
          </p:cNvSpPr>
          <p:nvPr>
            <p:ph idx="1"/>
          </p:nvPr>
        </p:nvSpPr>
        <p:spPr/>
        <p:txBody>
          <a:bodyPr>
            <a:normAutofit/>
          </a:bodyPr>
          <a:lstStyle/>
          <a:p>
            <a:r>
              <a:rPr lang="en" altLang="zh-CN" sz="1800" dirty="0"/>
              <a:t>ORAM </a:t>
            </a:r>
            <a:r>
              <a:rPr lang="zh-CN" altLang="en-US" sz="1800" dirty="0"/>
              <a:t>将访存行为与程序执行过程解耦</a:t>
            </a:r>
            <a:endParaRPr lang="en-US" altLang="zh-CN" sz="1800" dirty="0"/>
          </a:p>
          <a:p>
            <a:pPr lvl="1"/>
            <a:r>
              <a:rPr lang="zh-CN" altLang="en-US" sz="1400" dirty="0"/>
              <a:t>攻击者即使能够观察到所有的访存请求，也无法反推出与程序执行相关的信息</a:t>
            </a:r>
            <a:endParaRPr lang="en-US" altLang="zh-CN" sz="1400" dirty="0"/>
          </a:p>
          <a:p>
            <a:r>
              <a:rPr lang="zh-CN" altLang="en-US" sz="1800" dirty="0"/>
              <a:t>最简单的实现：定时、定量、定位的访问方式</a:t>
            </a:r>
            <a:endParaRPr lang="en-US" altLang="zh-CN" sz="1800" dirty="0"/>
          </a:p>
          <a:p>
            <a:pPr lvl="1"/>
            <a:r>
              <a:rPr lang="zh-CN" altLang="en-US" sz="1400" dirty="0"/>
              <a:t>无论实际是否有访存需求，均以</a:t>
            </a:r>
            <a:r>
              <a:rPr lang="zh-CN" altLang="en-US" sz="1400" b="1" dirty="0">
                <a:solidFill>
                  <a:schemeClr val="accent1"/>
                </a:solidFill>
              </a:rPr>
              <a:t>固定周期</a:t>
            </a:r>
            <a:r>
              <a:rPr lang="zh-CN" altLang="en-US" sz="1400" dirty="0"/>
              <a:t>，访问</a:t>
            </a:r>
            <a:r>
              <a:rPr lang="zh-CN" altLang="en-US" sz="1400" b="1" dirty="0">
                <a:solidFill>
                  <a:schemeClr val="accent1"/>
                </a:solidFill>
              </a:rPr>
              <a:t>固定位置</a:t>
            </a:r>
            <a:r>
              <a:rPr lang="zh-CN" altLang="en-US" sz="1400" dirty="0"/>
              <a:t>，每次访问</a:t>
            </a:r>
            <a:r>
              <a:rPr lang="zh-CN" altLang="en-US" sz="1400" b="1" dirty="0">
                <a:solidFill>
                  <a:schemeClr val="accent1"/>
                </a:solidFill>
              </a:rPr>
              <a:t>固定的大小</a:t>
            </a:r>
            <a:endParaRPr lang="en-US" altLang="zh-CN" sz="1400" b="1" dirty="0">
              <a:solidFill>
                <a:schemeClr val="accent1"/>
              </a:solidFill>
            </a:endParaRPr>
          </a:p>
          <a:p>
            <a:pPr lvl="1"/>
            <a:r>
              <a:rPr lang="zh-CN" altLang="en-US" sz="1400" dirty="0"/>
              <a:t>例如， </a:t>
            </a:r>
            <a:r>
              <a:rPr lang="en" altLang="zh-CN" sz="1400" dirty="0"/>
              <a:t>CPU </a:t>
            </a:r>
            <a:r>
              <a:rPr lang="zh-CN" altLang="en-US" sz="1400" dirty="0"/>
              <a:t>顺序循环访问所有的有效内存区域，程序按需获得真正想要访问的数据，若还没访问到则等待，若已经访问过了则等待下次循环</a:t>
            </a:r>
            <a:endParaRPr lang="en-US" altLang="zh-CN" sz="1400" dirty="0"/>
          </a:p>
          <a:p>
            <a:pPr lvl="1"/>
            <a:r>
              <a:rPr lang="zh-CN" altLang="en-US" sz="1400" dirty="0"/>
              <a:t>类似上海和北京之间的高铁，无论乘客是谁，都按照时刻表运行，哪怕有时候位子没坐满也发车，因此根据高铁的班次并不能反推出谁坐了高铁</a:t>
            </a:r>
            <a:endParaRPr lang="en-US" altLang="zh-CN" sz="1400" dirty="0"/>
          </a:p>
          <a:p>
            <a:r>
              <a:rPr lang="en" altLang="zh-CN" sz="1800" dirty="0"/>
              <a:t>ORAM </a:t>
            </a:r>
            <a:r>
              <a:rPr lang="zh-CN" altLang="en-US" sz="1800" dirty="0"/>
              <a:t>会引入很大的额外负载</a:t>
            </a:r>
            <a:endParaRPr lang="en-US" altLang="zh-CN" sz="1800" dirty="0"/>
          </a:p>
          <a:p>
            <a:pPr lvl="1"/>
            <a:r>
              <a:rPr lang="zh-CN" altLang="en-US" sz="1400" dirty="0"/>
              <a:t>产生大量的无效内存访 问，导致有效访存的吞吐率下降</a:t>
            </a:r>
            <a:endParaRPr lang="en-US" altLang="zh-CN" sz="1400" dirty="0"/>
          </a:p>
          <a:p>
            <a:pPr lvl="1"/>
            <a:r>
              <a:rPr lang="zh-CN" altLang="en-US" sz="1400" dirty="0"/>
              <a:t>访存需要等待一定的时刻，导致时延大幅度增加</a:t>
            </a:r>
          </a:p>
          <a:p>
            <a:endParaRPr kumimoji="1" lang="zh-CN" altLang="en-US" sz="1800" dirty="0"/>
          </a:p>
        </p:txBody>
      </p:sp>
      <p:sp>
        <p:nvSpPr>
          <p:cNvPr id="4" name="灯片编号占位符 3">
            <a:extLst>
              <a:ext uri="{FF2B5EF4-FFF2-40B4-BE49-F238E27FC236}">
                <a16:creationId xmlns:a16="http://schemas.microsoft.com/office/drawing/2014/main" id="{8EDAEF91-A3F5-674E-B957-43502827021C}"/>
              </a:ext>
            </a:extLst>
          </p:cNvPr>
          <p:cNvSpPr>
            <a:spLocks noGrp="1"/>
          </p:cNvSpPr>
          <p:nvPr>
            <p:ph type="sldNum" sz="quarter" idx="12"/>
          </p:nvPr>
        </p:nvSpPr>
        <p:spPr/>
        <p:txBody>
          <a:bodyPr/>
          <a:lstStyle/>
          <a:p>
            <a:fld id="{ADE361C3-C043-4A6E-BDCE-8DA1E7D90A3B}" type="slidenum">
              <a:rPr lang="zh-CN" altLang="en-US" smtClean="0"/>
              <a:t>45</a:t>
            </a:fld>
            <a:endParaRPr lang="zh-CN" altLang="en-US"/>
          </a:p>
        </p:txBody>
      </p:sp>
      <p:sp>
        <p:nvSpPr>
          <p:cNvPr id="5" name="页脚占位符 4">
            <a:extLst>
              <a:ext uri="{FF2B5EF4-FFF2-40B4-BE49-F238E27FC236}">
                <a16:creationId xmlns:a16="http://schemas.microsoft.com/office/drawing/2014/main" id="{889A580E-6562-C641-9BFE-80F934B473B5}"/>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10698328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EC9CDCC6-DB9C-BC4A-A313-862910B4FD35}"/>
              </a:ext>
            </a:extLst>
          </p:cNvPr>
          <p:cNvSpPr>
            <a:spLocks noGrp="1"/>
          </p:cNvSpPr>
          <p:nvPr>
            <p:ph type="title"/>
          </p:nvPr>
        </p:nvSpPr>
        <p:spPr/>
        <p:txBody>
          <a:bodyPr/>
          <a:lstStyle/>
          <a:p>
            <a:r>
              <a:rPr lang="zh-CN" altLang="en-US" dirty="0"/>
              <a:t>案例分析：</a:t>
            </a:r>
            <a:r>
              <a:rPr lang="en-US" altLang="zh-CN" dirty="0"/>
              <a:t>Meltdown</a:t>
            </a:r>
            <a:endParaRPr lang="zh-CN" altLang="en-US" dirty="0"/>
          </a:p>
        </p:txBody>
      </p:sp>
      <p:sp>
        <p:nvSpPr>
          <p:cNvPr id="7" name="文本占位符 6">
            <a:extLst>
              <a:ext uri="{FF2B5EF4-FFF2-40B4-BE49-F238E27FC236}">
                <a16:creationId xmlns:a16="http://schemas.microsoft.com/office/drawing/2014/main" id="{23982BAA-F039-C743-9B85-0113E485984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C8349E08-09AF-514A-939C-AFB992D96B01}"/>
              </a:ext>
            </a:extLst>
          </p:cNvPr>
          <p:cNvSpPr>
            <a:spLocks noGrp="1"/>
          </p:cNvSpPr>
          <p:nvPr>
            <p:ph type="sldNum" sz="quarter" idx="12"/>
          </p:nvPr>
        </p:nvSpPr>
        <p:spPr/>
        <p:txBody>
          <a:bodyPr/>
          <a:lstStyle/>
          <a:p>
            <a:fld id="{ADE361C3-C043-4A6E-BDCE-8DA1E7D90A3B}" type="slidenum">
              <a:rPr lang="zh-CN" altLang="en-US" smtClean="0"/>
              <a:t>46</a:t>
            </a:fld>
            <a:endParaRPr lang="zh-CN" altLang="en-US"/>
          </a:p>
        </p:txBody>
      </p:sp>
      <p:sp>
        <p:nvSpPr>
          <p:cNvPr id="5" name="页脚占位符 4">
            <a:extLst>
              <a:ext uri="{FF2B5EF4-FFF2-40B4-BE49-F238E27FC236}">
                <a16:creationId xmlns:a16="http://schemas.microsoft.com/office/drawing/2014/main" id="{C4BA161B-BB4A-6948-915D-FC4018D73D2E}"/>
              </a:ext>
            </a:extLst>
          </p:cNvPr>
          <p:cNvSpPr>
            <a:spLocks noGrp="1"/>
          </p:cNvSpPr>
          <p:nvPr>
            <p:ph type="ftr" sz="quarter" idx="3"/>
          </p:nvPr>
        </p:nvSpPr>
        <p:spPr/>
        <p:txBody>
          <a:bodyPr/>
          <a:lstStyle/>
          <a:p>
            <a:r>
              <a:rPr lang="zh-CN" altLang="en-US" dirty="0"/>
              <a:t>上海交通大学并行与分布式系统研究所（</a:t>
            </a:r>
            <a:r>
              <a:rPr lang="en-US" altLang="zh-CN" dirty="0"/>
              <a:t>IPADS@SJTU</a:t>
            </a:r>
            <a:r>
              <a:rPr lang="zh-CN" altLang="en-US" dirty="0"/>
              <a:t>）</a:t>
            </a:r>
          </a:p>
        </p:txBody>
      </p:sp>
    </p:spTree>
    <p:extLst>
      <p:ext uri="{BB962C8B-B14F-4D97-AF65-F5344CB8AC3E}">
        <p14:creationId xmlns:p14="http://schemas.microsoft.com/office/powerpoint/2010/main" val="400413032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mn-lt"/>
              </a:rPr>
              <a:t>Meltdown</a:t>
            </a:r>
            <a:r>
              <a:rPr lang="zh-CN" altLang="en-US" dirty="0">
                <a:latin typeface="+mn-lt"/>
              </a:rPr>
              <a:t>漏洞</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47</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229600" cy="4267732"/>
          </a:xfrm>
        </p:spPr>
        <p:txBody>
          <a:bodyPr>
            <a:noAutofit/>
          </a:bodyPr>
          <a:lstStyle/>
          <a:p>
            <a:r>
              <a:rPr lang="en" altLang="zh-CN" sz="2400" dirty="0"/>
              <a:t>Meltdown</a:t>
            </a:r>
            <a:r>
              <a:rPr lang="zh-CN" altLang="en-US" sz="2400" dirty="0"/>
              <a:t>（熔断） 漏洞</a:t>
            </a:r>
            <a:endParaRPr lang="en-US" altLang="zh-CN" sz="2400" dirty="0"/>
          </a:p>
          <a:p>
            <a:pPr lvl="1"/>
            <a:r>
              <a:rPr lang="zh-CN" altLang="en-US" sz="2200" dirty="0"/>
              <a:t>和 </a:t>
            </a:r>
            <a:r>
              <a:rPr lang="en" altLang="zh-CN" sz="2200" dirty="0"/>
              <a:t>Spectre</a:t>
            </a:r>
            <a:r>
              <a:rPr lang="zh-CN" altLang="en-US" sz="2200" dirty="0"/>
              <a:t>（幽灵）</a:t>
            </a:r>
            <a:r>
              <a:rPr lang="en-US" altLang="zh-CN" sz="2200" dirty="0"/>
              <a:t> </a:t>
            </a:r>
            <a:r>
              <a:rPr lang="zh-CN" altLang="en-US" sz="2200" dirty="0"/>
              <a:t>漏洞一同被公布</a:t>
            </a:r>
            <a:endParaRPr lang="en-US" altLang="zh-CN" sz="2200" dirty="0"/>
          </a:p>
          <a:p>
            <a:pPr lvl="1"/>
            <a:r>
              <a:rPr lang="zh-CN" altLang="en-US" sz="2000" dirty="0"/>
              <a:t>在 </a:t>
            </a:r>
            <a:r>
              <a:rPr lang="en-US" altLang="zh-CN" sz="2000" dirty="0"/>
              <a:t>2017 </a:t>
            </a:r>
            <a:r>
              <a:rPr lang="zh-CN" altLang="en-US" sz="2000" dirty="0"/>
              <a:t>年被发现，在 </a:t>
            </a:r>
            <a:r>
              <a:rPr lang="en-US" altLang="zh-CN" sz="2000" dirty="0"/>
              <a:t>2018 </a:t>
            </a:r>
            <a:r>
              <a:rPr lang="zh-CN" altLang="en-US" sz="2000" dirty="0"/>
              <a:t>年被公布</a:t>
            </a:r>
            <a:endParaRPr lang="en-US" altLang="zh-CN" dirty="0"/>
          </a:p>
          <a:p>
            <a:r>
              <a:rPr lang="zh-CN" altLang="en-US" sz="2400" dirty="0"/>
              <a:t>效果：允许应用程序</a:t>
            </a:r>
            <a:r>
              <a:rPr lang="zh-CN" altLang="en-US" sz="2400" dirty="0">
                <a:solidFill>
                  <a:srgbClr val="C00000"/>
                </a:solidFill>
              </a:rPr>
              <a:t>读取任意内核内存数据</a:t>
            </a:r>
            <a:endParaRPr lang="en-US" altLang="zh-CN" sz="2400" dirty="0">
              <a:solidFill>
                <a:srgbClr val="C00000"/>
              </a:solidFill>
            </a:endParaRPr>
          </a:p>
          <a:p>
            <a:pPr lvl="1"/>
            <a:r>
              <a:rPr lang="zh-CN" altLang="en-US" sz="2000" dirty="0"/>
              <a:t>利用了 </a:t>
            </a:r>
            <a:r>
              <a:rPr lang="en" altLang="zh-CN" sz="2000" dirty="0"/>
              <a:t>CPU </a:t>
            </a:r>
            <a:r>
              <a:rPr lang="zh-CN" altLang="en-US" sz="2000" dirty="0"/>
              <a:t>的</a:t>
            </a:r>
            <a:r>
              <a:rPr lang="zh-CN" altLang="en-US" dirty="0"/>
              <a:t>投机</a:t>
            </a:r>
            <a:r>
              <a:rPr lang="zh-CN" altLang="en-US" sz="2000" dirty="0"/>
              <a:t>执行机制</a:t>
            </a:r>
            <a:endParaRPr lang="en-US" altLang="zh-CN" sz="2000" dirty="0"/>
          </a:p>
          <a:p>
            <a:pPr lvl="2"/>
            <a:r>
              <a:rPr lang="zh-CN" altLang="en-US" sz="1600" dirty="0"/>
              <a:t>漏洞利用简单、攻击效果显著</a:t>
            </a:r>
            <a:endParaRPr lang="en-US" altLang="zh-CN" sz="1600" dirty="0"/>
          </a:p>
          <a:p>
            <a:pPr lvl="1"/>
            <a:r>
              <a:rPr lang="zh-CN" altLang="en-US" sz="2000" dirty="0"/>
              <a:t>几乎所有的主流 </a:t>
            </a:r>
            <a:r>
              <a:rPr lang="en" altLang="zh-CN" sz="2000" dirty="0"/>
              <a:t>CPU </a:t>
            </a:r>
            <a:r>
              <a:rPr lang="zh-CN" altLang="en-US" sz="2000" dirty="0"/>
              <a:t>都受到了影响</a:t>
            </a:r>
            <a:endParaRPr lang="en-US" altLang="zh-CN" sz="2000" dirty="0"/>
          </a:p>
          <a:p>
            <a:pPr lvl="2"/>
            <a:r>
              <a:rPr lang="zh-CN" altLang="en-US" sz="1600" dirty="0"/>
              <a:t>包括</a:t>
            </a:r>
            <a:r>
              <a:rPr lang="en" altLang="zh-CN" sz="1600" dirty="0"/>
              <a:t>Intel</a:t>
            </a:r>
            <a:r>
              <a:rPr lang="zh-CN" altLang="en" sz="1600" dirty="0"/>
              <a:t>、</a:t>
            </a:r>
            <a:r>
              <a:rPr lang="en" altLang="zh-CN" sz="1600" dirty="0"/>
              <a:t>AMD</a:t>
            </a:r>
            <a:r>
              <a:rPr lang="zh-CN" altLang="en-US" sz="1600" dirty="0"/>
              <a:t>和部分</a:t>
            </a:r>
            <a:r>
              <a:rPr lang="en" altLang="zh-CN" sz="1600" dirty="0"/>
              <a:t>ARM</a:t>
            </a:r>
            <a:r>
              <a:rPr lang="zh-CN" altLang="en-US" sz="1600" dirty="0"/>
              <a:t>处理器</a:t>
            </a:r>
            <a:endParaRPr lang="en-US" altLang="zh-CN" sz="1600" dirty="0"/>
          </a:p>
          <a:p>
            <a:pPr lvl="1"/>
            <a:r>
              <a:rPr lang="zh-CN" altLang="en-US" sz="2000" dirty="0"/>
              <a:t>许多软件厂商不得不紧急打补丁并做出对应的防御措施</a:t>
            </a:r>
            <a:endParaRPr lang="en-US" altLang="zh-CN" sz="2000" dirty="0"/>
          </a:p>
        </p:txBody>
      </p:sp>
    </p:spTree>
    <p:extLst>
      <p:ext uri="{BB962C8B-B14F-4D97-AF65-F5344CB8AC3E}">
        <p14:creationId xmlns:p14="http://schemas.microsoft.com/office/powerpoint/2010/main" val="10018480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mn-ea"/>
                <a:ea typeface="+mn-ea"/>
              </a:rPr>
              <a:t>背景</a:t>
            </a:r>
            <a:r>
              <a:rPr lang="en-US" altLang="zh-CN" dirty="0">
                <a:latin typeface="+mn-ea"/>
                <a:ea typeface="+mn-ea"/>
              </a:rPr>
              <a:t>-1</a:t>
            </a:r>
            <a:r>
              <a:rPr lang="zh-CN" altLang="en-US" dirty="0">
                <a:latin typeface="+mn-ea"/>
                <a:ea typeface="+mn-ea"/>
              </a:rPr>
              <a:t>：基于页表权限的内核数据保护</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ea"/>
                <a:ea typeface="+mn-ea"/>
              </a:rPr>
              <a:t>48</a:t>
            </a:fld>
            <a:endParaRPr lang="zh-CN" altLang="en-US" dirty="0">
              <a:latin typeface="+mn-ea"/>
              <a:ea typeface="+mn-ea"/>
            </a:endParaRPr>
          </a:p>
        </p:txBody>
      </p:sp>
      <p:cxnSp>
        <p:nvCxnSpPr>
          <p:cNvPr id="8" name="直线连接符 7">
            <a:extLst>
              <a:ext uri="{FF2B5EF4-FFF2-40B4-BE49-F238E27FC236}">
                <a16:creationId xmlns:a16="http://schemas.microsoft.com/office/drawing/2014/main" id="{9E05C770-678B-984D-BDB9-8FFF994D8BA2}"/>
              </a:ext>
            </a:extLst>
          </p:cNvPr>
          <p:cNvCxnSpPr>
            <a:cxnSpLocks/>
          </p:cNvCxnSpPr>
          <p:nvPr/>
        </p:nvCxnSpPr>
        <p:spPr>
          <a:xfrm flipH="1">
            <a:off x="179512" y="3220454"/>
            <a:ext cx="2304256" cy="0"/>
          </a:xfrm>
          <a:prstGeom prst="line">
            <a:avLst/>
          </a:prstGeom>
          <a:ln w="12700">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88AC68CC-AE9A-2D46-935F-176C73E90885}"/>
              </a:ext>
            </a:extLst>
          </p:cNvPr>
          <p:cNvSpPr/>
          <p:nvPr/>
        </p:nvSpPr>
        <p:spPr>
          <a:xfrm>
            <a:off x="3857431" y="1917452"/>
            <a:ext cx="1368152" cy="1303003"/>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16" name="矩形 15">
            <a:extLst>
              <a:ext uri="{FF2B5EF4-FFF2-40B4-BE49-F238E27FC236}">
                <a16:creationId xmlns:a16="http://schemas.microsoft.com/office/drawing/2014/main" id="{4196295E-15CC-8646-BD41-7B4F21ADF6B2}"/>
              </a:ext>
            </a:extLst>
          </p:cNvPr>
          <p:cNvSpPr/>
          <p:nvPr/>
        </p:nvSpPr>
        <p:spPr>
          <a:xfrm>
            <a:off x="3857431" y="3220454"/>
            <a:ext cx="1368152" cy="2076507"/>
          </a:xfrm>
          <a:prstGeom prst="rect">
            <a:avLst/>
          </a:prstGeom>
          <a:solidFill>
            <a:srgbClr val="FFC6DC"/>
          </a:solidFill>
          <a:ln w="25400">
            <a:solidFill>
              <a:schemeClr val="tx1">
                <a:lumMod val="95000"/>
                <a:lumOff val="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18" name="文本框 17">
            <a:extLst>
              <a:ext uri="{FF2B5EF4-FFF2-40B4-BE49-F238E27FC236}">
                <a16:creationId xmlns:a16="http://schemas.microsoft.com/office/drawing/2014/main" id="{F2140EFA-5C74-9542-AE3F-1623E3721C6C}"/>
              </a:ext>
            </a:extLst>
          </p:cNvPr>
          <p:cNvSpPr txBox="1"/>
          <p:nvPr/>
        </p:nvSpPr>
        <p:spPr>
          <a:xfrm>
            <a:off x="3817779" y="1455890"/>
            <a:ext cx="1447456" cy="338554"/>
          </a:xfrm>
          <a:prstGeom prst="rect">
            <a:avLst/>
          </a:prstGeom>
          <a:noFill/>
        </p:spPr>
        <p:txBody>
          <a:bodyPr wrap="square" rtlCol="0">
            <a:spAutoFit/>
          </a:bodyPr>
          <a:lstStyle/>
          <a:p>
            <a:pPr algn="ctr"/>
            <a:r>
              <a:rPr kumimoji="1" lang="zh-CN" altLang="en-US" sz="1600" b="1" dirty="0">
                <a:latin typeface="+mn-ea"/>
                <a:cs typeface="DengXian" charset="-122"/>
              </a:rPr>
              <a:t>虚拟地址空间</a:t>
            </a:r>
          </a:p>
        </p:txBody>
      </p:sp>
      <p:sp>
        <p:nvSpPr>
          <p:cNvPr id="24" name="文本框 23">
            <a:extLst>
              <a:ext uri="{FF2B5EF4-FFF2-40B4-BE49-F238E27FC236}">
                <a16:creationId xmlns:a16="http://schemas.microsoft.com/office/drawing/2014/main" id="{BBBA58CF-537A-CA48-BAFC-E93D1762B7E0}"/>
              </a:ext>
            </a:extLst>
          </p:cNvPr>
          <p:cNvSpPr txBox="1"/>
          <p:nvPr/>
        </p:nvSpPr>
        <p:spPr>
          <a:xfrm>
            <a:off x="3857431" y="1961728"/>
            <a:ext cx="1368152" cy="338554"/>
          </a:xfrm>
          <a:prstGeom prst="rect">
            <a:avLst/>
          </a:prstGeom>
          <a:noFill/>
        </p:spPr>
        <p:txBody>
          <a:bodyPr wrap="square" rtlCol="0">
            <a:spAutoFit/>
          </a:bodyPr>
          <a:lstStyle/>
          <a:p>
            <a:pPr algn="ctr"/>
            <a:r>
              <a:rPr kumimoji="1" lang="zh-CN" altLang="en-US" sz="1600" dirty="0">
                <a:latin typeface="+mn-ea"/>
                <a:cs typeface="DengXian" charset="-122"/>
              </a:rPr>
              <a:t>内核内存</a:t>
            </a:r>
          </a:p>
        </p:txBody>
      </p:sp>
      <p:sp>
        <p:nvSpPr>
          <p:cNvPr id="27" name="文本框 26">
            <a:extLst>
              <a:ext uri="{FF2B5EF4-FFF2-40B4-BE49-F238E27FC236}">
                <a16:creationId xmlns:a16="http://schemas.microsoft.com/office/drawing/2014/main" id="{9C11543D-E60F-9644-B405-624C4C645DB4}"/>
              </a:ext>
            </a:extLst>
          </p:cNvPr>
          <p:cNvSpPr txBox="1"/>
          <p:nvPr/>
        </p:nvSpPr>
        <p:spPr>
          <a:xfrm>
            <a:off x="3857431" y="4089431"/>
            <a:ext cx="1368152" cy="338554"/>
          </a:xfrm>
          <a:prstGeom prst="rect">
            <a:avLst/>
          </a:prstGeom>
          <a:noFill/>
        </p:spPr>
        <p:txBody>
          <a:bodyPr wrap="square" rtlCol="0">
            <a:spAutoFit/>
          </a:bodyPr>
          <a:lstStyle/>
          <a:p>
            <a:pPr algn="ctr"/>
            <a:r>
              <a:rPr kumimoji="1" lang="zh-CN" altLang="en-US" sz="1600" dirty="0">
                <a:latin typeface="+mn-ea"/>
                <a:cs typeface="DengXian" charset="-122"/>
              </a:rPr>
              <a:t>用户内存</a:t>
            </a:r>
          </a:p>
        </p:txBody>
      </p:sp>
      <p:sp>
        <p:nvSpPr>
          <p:cNvPr id="30" name="矩形 29">
            <a:extLst>
              <a:ext uri="{FF2B5EF4-FFF2-40B4-BE49-F238E27FC236}">
                <a16:creationId xmlns:a16="http://schemas.microsoft.com/office/drawing/2014/main" id="{4738FBC3-F63D-2B4C-981F-1248C60B14B4}"/>
              </a:ext>
            </a:extLst>
          </p:cNvPr>
          <p:cNvSpPr/>
          <p:nvPr/>
        </p:nvSpPr>
        <p:spPr>
          <a:xfrm>
            <a:off x="6876256" y="1917452"/>
            <a:ext cx="1368152" cy="130300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31" name="矩形 30">
            <a:extLst>
              <a:ext uri="{FF2B5EF4-FFF2-40B4-BE49-F238E27FC236}">
                <a16:creationId xmlns:a16="http://schemas.microsoft.com/office/drawing/2014/main" id="{EC960D70-7FB2-4B44-8B44-70897EA88A37}"/>
              </a:ext>
            </a:extLst>
          </p:cNvPr>
          <p:cNvSpPr/>
          <p:nvPr/>
        </p:nvSpPr>
        <p:spPr>
          <a:xfrm>
            <a:off x="6876256" y="1917452"/>
            <a:ext cx="1368152" cy="3379509"/>
          </a:xfrm>
          <a:prstGeom prst="rect">
            <a:avLst/>
          </a:prstGeom>
          <a:solidFill>
            <a:schemeClr val="bg1"/>
          </a:solidFill>
          <a:ln w="25400">
            <a:solidFill>
              <a:schemeClr val="tx1">
                <a:lumMod val="95000"/>
                <a:lumOff val="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34" name="文本框 33">
            <a:extLst>
              <a:ext uri="{FF2B5EF4-FFF2-40B4-BE49-F238E27FC236}">
                <a16:creationId xmlns:a16="http://schemas.microsoft.com/office/drawing/2014/main" id="{BD11F212-6C39-DD47-8D52-4C0F35A6EEAB}"/>
              </a:ext>
            </a:extLst>
          </p:cNvPr>
          <p:cNvSpPr txBox="1"/>
          <p:nvPr/>
        </p:nvSpPr>
        <p:spPr>
          <a:xfrm>
            <a:off x="6836604" y="1455890"/>
            <a:ext cx="1447456" cy="338554"/>
          </a:xfrm>
          <a:prstGeom prst="rect">
            <a:avLst/>
          </a:prstGeom>
          <a:noFill/>
        </p:spPr>
        <p:txBody>
          <a:bodyPr wrap="square" rtlCol="0">
            <a:spAutoFit/>
          </a:bodyPr>
          <a:lstStyle/>
          <a:p>
            <a:pPr algn="ctr"/>
            <a:r>
              <a:rPr kumimoji="1" lang="zh-CN" altLang="en-US" sz="1600" b="1" dirty="0">
                <a:latin typeface="+mn-ea"/>
                <a:cs typeface="DengXian" charset="-122"/>
              </a:rPr>
              <a:t>物理地址空间</a:t>
            </a:r>
          </a:p>
        </p:txBody>
      </p:sp>
      <p:sp>
        <p:nvSpPr>
          <p:cNvPr id="37" name="矩形 36">
            <a:extLst>
              <a:ext uri="{FF2B5EF4-FFF2-40B4-BE49-F238E27FC236}">
                <a16:creationId xmlns:a16="http://schemas.microsoft.com/office/drawing/2014/main" id="{A7483162-1019-A746-9D76-1157C0BE7B5B}"/>
              </a:ext>
            </a:extLst>
          </p:cNvPr>
          <p:cNvSpPr/>
          <p:nvPr/>
        </p:nvSpPr>
        <p:spPr>
          <a:xfrm>
            <a:off x="6876256" y="3853445"/>
            <a:ext cx="1368152" cy="574540"/>
          </a:xfrm>
          <a:prstGeom prst="rect">
            <a:avLst/>
          </a:prstGeom>
          <a:solidFill>
            <a:schemeClr val="bg1">
              <a:lumMod val="75000"/>
            </a:schemeClr>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grpSp>
        <p:nvGrpSpPr>
          <p:cNvPr id="42" name="组合 41">
            <a:extLst>
              <a:ext uri="{FF2B5EF4-FFF2-40B4-BE49-F238E27FC236}">
                <a16:creationId xmlns:a16="http://schemas.microsoft.com/office/drawing/2014/main" id="{9E34BEA1-95AE-C74E-99AD-009BF16A0DC7}"/>
              </a:ext>
            </a:extLst>
          </p:cNvPr>
          <p:cNvGrpSpPr/>
          <p:nvPr/>
        </p:nvGrpSpPr>
        <p:grpSpPr>
          <a:xfrm>
            <a:off x="7036971" y="3930287"/>
            <a:ext cx="1046723" cy="411488"/>
            <a:chOff x="6602216" y="3930287"/>
            <a:chExt cx="1046723" cy="411488"/>
          </a:xfrm>
        </p:grpSpPr>
        <p:pic>
          <p:nvPicPr>
            <p:cNvPr id="32" name="图片 31">
              <a:extLst>
                <a:ext uri="{FF2B5EF4-FFF2-40B4-BE49-F238E27FC236}">
                  <a16:creationId xmlns:a16="http://schemas.microsoft.com/office/drawing/2014/main" id="{FB7DCC3A-FD53-5C47-8BE1-4135C6426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2216" y="3930287"/>
              <a:ext cx="278050" cy="411488"/>
            </a:xfrm>
            <a:prstGeom prst="rect">
              <a:avLst/>
            </a:prstGeom>
          </p:spPr>
        </p:pic>
        <p:sp>
          <p:nvSpPr>
            <p:cNvPr id="33" name="文本框 32">
              <a:extLst>
                <a:ext uri="{FF2B5EF4-FFF2-40B4-BE49-F238E27FC236}">
                  <a16:creationId xmlns:a16="http://schemas.microsoft.com/office/drawing/2014/main" id="{B052261D-32B4-7D4F-9DF4-077B2D3E2964}"/>
                </a:ext>
              </a:extLst>
            </p:cNvPr>
            <p:cNvSpPr txBox="1"/>
            <p:nvPr/>
          </p:nvSpPr>
          <p:spPr>
            <a:xfrm>
              <a:off x="6878336" y="3966754"/>
              <a:ext cx="770603" cy="338554"/>
            </a:xfrm>
            <a:prstGeom prst="rect">
              <a:avLst/>
            </a:prstGeom>
            <a:noFill/>
          </p:spPr>
          <p:txBody>
            <a:bodyPr wrap="square" lIns="0" rIns="0" rtlCol="0" anchor="ctr" anchorCtr="0">
              <a:noAutofit/>
            </a:bodyPr>
            <a:lstStyle/>
            <a:p>
              <a:pPr algn="ctr"/>
              <a:r>
                <a:rPr kumimoji="1" lang="en-US" altLang="zh-CN" sz="1200" dirty="0">
                  <a:latin typeface="+mn-ea"/>
                  <a:cs typeface="DengXian" charset="-122"/>
                </a:rPr>
                <a:t>(key</a:t>
              </a:r>
              <a:r>
                <a:rPr kumimoji="1" lang="zh-CN" altLang="en-US" sz="1200" dirty="0">
                  <a:latin typeface="+mn-ea"/>
                  <a:cs typeface="DengXian" charset="-122"/>
                </a:rPr>
                <a:t> </a:t>
              </a:r>
              <a:r>
                <a:rPr kumimoji="1" lang="en-US" altLang="zh-CN" sz="1200" dirty="0">
                  <a:latin typeface="+mn-ea"/>
                  <a:cs typeface="DengXian" charset="-122"/>
                </a:rPr>
                <a:t>=</a:t>
              </a:r>
              <a:r>
                <a:rPr kumimoji="1" lang="zh-CN" altLang="en-US" sz="1200" dirty="0">
                  <a:latin typeface="+mn-ea"/>
                  <a:cs typeface="DengXian" charset="-122"/>
                </a:rPr>
                <a:t> </a:t>
              </a:r>
              <a:r>
                <a:rPr kumimoji="1" lang="en-US" altLang="zh-CN" sz="1200" dirty="0">
                  <a:latin typeface="+mn-ea"/>
                  <a:cs typeface="DengXian" charset="-122"/>
                </a:rPr>
                <a:t>1)</a:t>
              </a:r>
              <a:endParaRPr kumimoji="1" lang="zh-CN" altLang="en-US" dirty="0">
                <a:latin typeface="+mn-ea"/>
                <a:cs typeface="DengXian" charset="-122"/>
              </a:endParaRPr>
            </a:p>
          </p:txBody>
        </p:sp>
      </p:grpSp>
      <p:sp>
        <p:nvSpPr>
          <p:cNvPr id="39" name="矩形 38">
            <a:extLst>
              <a:ext uri="{FF2B5EF4-FFF2-40B4-BE49-F238E27FC236}">
                <a16:creationId xmlns:a16="http://schemas.microsoft.com/office/drawing/2014/main" id="{23BCE59D-A88F-3248-B254-741F5422030B}"/>
              </a:ext>
            </a:extLst>
          </p:cNvPr>
          <p:cNvSpPr/>
          <p:nvPr/>
        </p:nvSpPr>
        <p:spPr>
          <a:xfrm>
            <a:off x="3857431" y="2423290"/>
            <a:ext cx="1368152" cy="574540"/>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grpSp>
        <p:nvGrpSpPr>
          <p:cNvPr id="29" name="组合 28">
            <a:extLst>
              <a:ext uri="{FF2B5EF4-FFF2-40B4-BE49-F238E27FC236}">
                <a16:creationId xmlns:a16="http://schemas.microsoft.com/office/drawing/2014/main" id="{A69B60D2-2A31-DD49-B4F9-12EC95FB235B}"/>
              </a:ext>
            </a:extLst>
          </p:cNvPr>
          <p:cNvGrpSpPr/>
          <p:nvPr/>
        </p:nvGrpSpPr>
        <p:grpSpPr>
          <a:xfrm>
            <a:off x="4018146" y="2500132"/>
            <a:ext cx="1046723" cy="411488"/>
            <a:chOff x="4035289" y="2500132"/>
            <a:chExt cx="1046723" cy="411488"/>
          </a:xfrm>
        </p:grpSpPr>
        <p:pic>
          <p:nvPicPr>
            <p:cNvPr id="40" name="图片 39">
              <a:extLst>
                <a:ext uri="{FF2B5EF4-FFF2-40B4-BE49-F238E27FC236}">
                  <a16:creationId xmlns:a16="http://schemas.microsoft.com/office/drawing/2014/main" id="{0A5E9E00-C2F3-BD45-9FC8-CAD24BA196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5289" y="2500132"/>
              <a:ext cx="278050" cy="411488"/>
            </a:xfrm>
            <a:prstGeom prst="rect">
              <a:avLst/>
            </a:prstGeom>
          </p:spPr>
        </p:pic>
        <p:sp>
          <p:nvSpPr>
            <p:cNvPr id="41" name="文本框 40">
              <a:extLst>
                <a:ext uri="{FF2B5EF4-FFF2-40B4-BE49-F238E27FC236}">
                  <a16:creationId xmlns:a16="http://schemas.microsoft.com/office/drawing/2014/main" id="{56B0AFA6-7B80-7D4F-A754-CBD717C25294}"/>
                </a:ext>
              </a:extLst>
            </p:cNvPr>
            <p:cNvSpPr txBox="1"/>
            <p:nvPr/>
          </p:nvSpPr>
          <p:spPr>
            <a:xfrm>
              <a:off x="4311409" y="2536599"/>
              <a:ext cx="770603" cy="338554"/>
            </a:xfrm>
            <a:prstGeom prst="rect">
              <a:avLst/>
            </a:prstGeom>
            <a:noFill/>
          </p:spPr>
          <p:txBody>
            <a:bodyPr wrap="square" lIns="0" rIns="0" rtlCol="0" anchor="ctr" anchorCtr="0">
              <a:noAutofit/>
            </a:bodyPr>
            <a:lstStyle/>
            <a:p>
              <a:pPr algn="ctr"/>
              <a:r>
                <a:rPr kumimoji="1" lang="en-US" altLang="zh-CN" sz="1200" dirty="0">
                  <a:latin typeface="+mn-ea"/>
                  <a:cs typeface="DengXian" charset="-122"/>
                </a:rPr>
                <a:t>(key</a:t>
              </a:r>
              <a:r>
                <a:rPr kumimoji="1" lang="zh-CN" altLang="en-US" sz="1200" dirty="0">
                  <a:latin typeface="+mn-ea"/>
                  <a:cs typeface="DengXian" charset="-122"/>
                </a:rPr>
                <a:t> </a:t>
              </a:r>
              <a:r>
                <a:rPr kumimoji="1" lang="en-US" altLang="zh-CN" sz="1200" dirty="0">
                  <a:latin typeface="+mn-ea"/>
                  <a:cs typeface="DengXian" charset="-122"/>
                </a:rPr>
                <a:t>=</a:t>
              </a:r>
              <a:r>
                <a:rPr kumimoji="1" lang="zh-CN" altLang="en-US" sz="1200" dirty="0">
                  <a:latin typeface="+mn-ea"/>
                  <a:cs typeface="DengXian" charset="-122"/>
                </a:rPr>
                <a:t> </a:t>
              </a:r>
              <a:r>
                <a:rPr kumimoji="1" lang="en-US" altLang="zh-CN" sz="1200" dirty="0">
                  <a:latin typeface="+mn-ea"/>
                  <a:cs typeface="DengXian" charset="-122"/>
                </a:rPr>
                <a:t>1)</a:t>
              </a:r>
              <a:endParaRPr kumimoji="1" lang="zh-CN" altLang="en-US" dirty="0">
                <a:latin typeface="+mn-ea"/>
                <a:cs typeface="DengXian" charset="-122"/>
              </a:endParaRPr>
            </a:p>
          </p:txBody>
        </p:sp>
      </p:grpSp>
      <p:cxnSp>
        <p:nvCxnSpPr>
          <p:cNvPr id="47" name="直线连接符 46">
            <a:extLst>
              <a:ext uri="{FF2B5EF4-FFF2-40B4-BE49-F238E27FC236}">
                <a16:creationId xmlns:a16="http://schemas.microsoft.com/office/drawing/2014/main" id="{E4A6E20A-7E75-B54E-8E45-F87580CB15A0}"/>
              </a:ext>
            </a:extLst>
          </p:cNvPr>
          <p:cNvCxnSpPr>
            <a:stCxn id="39" idx="3"/>
            <a:endCxn id="37" idx="1"/>
          </p:cNvCxnSpPr>
          <p:nvPr/>
        </p:nvCxnSpPr>
        <p:spPr>
          <a:xfrm>
            <a:off x="5225583" y="2710560"/>
            <a:ext cx="1650673" cy="1430155"/>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0D76313E-80E7-B845-9418-52E2D23FEFE2}"/>
              </a:ext>
            </a:extLst>
          </p:cNvPr>
          <p:cNvSpPr txBox="1"/>
          <p:nvPr/>
        </p:nvSpPr>
        <p:spPr>
          <a:xfrm>
            <a:off x="5317786" y="1461278"/>
            <a:ext cx="1447456" cy="338554"/>
          </a:xfrm>
          <a:prstGeom prst="rect">
            <a:avLst/>
          </a:prstGeom>
          <a:noFill/>
        </p:spPr>
        <p:txBody>
          <a:bodyPr wrap="square" rtlCol="0">
            <a:spAutoFit/>
          </a:bodyPr>
          <a:lstStyle/>
          <a:p>
            <a:pPr algn="ctr"/>
            <a:r>
              <a:rPr kumimoji="1" lang="zh-CN" altLang="en-US" sz="1600" dirty="0">
                <a:latin typeface="+mn-ea"/>
                <a:cs typeface="DengXian" charset="-122"/>
              </a:rPr>
              <a:t>页表 </a:t>
            </a:r>
          </a:p>
        </p:txBody>
      </p:sp>
      <p:sp>
        <p:nvSpPr>
          <p:cNvPr id="52" name="文本框 51">
            <a:extLst>
              <a:ext uri="{FF2B5EF4-FFF2-40B4-BE49-F238E27FC236}">
                <a16:creationId xmlns:a16="http://schemas.microsoft.com/office/drawing/2014/main" id="{5365ECD2-18F0-1F4D-BEDE-C6313B67FF29}"/>
              </a:ext>
            </a:extLst>
          </p:cNvPr>
          <p:cNvSpPr txBox="1"/>
          <p:nvPr/>
        </p:nvSpPr>
        <p:spPr>
          <a:xfrm>
            <a:off x="885124" y="1461278"/>
            <a:ext cx="1447456" cy="338554"/>
          </a:xfrm>
          <a:prstGeom prst="rect">
            <a:avLst/>
          </a:prstGeom>
          <a:noFill/>
        </p:spPr>
        <p:txBody>
          <a:bodyPr wrap="square" rtlCol="0">
            <a:spAutoFit/>
          </a:bodyPr>
          <a:lstStyle/>
          <a:p>
            <a:pPr algn="ctr"/>
            <a:r>
              <a:rPr kumimoji="1" lang="zh-CN" altLang="en-US" sz="1600" b="1" dirty="0">
                <a:latin typeface="+mn-ea"/>
                <a:cs typeface="DengXian" charset="-122"/>
              </a:rPr>
              <a:t>特权级别</a:t>
            </a:r>
          </a:p>
        </p:txBody>
      </p:sp>
      <p:sp>
        <p:nvSpPr>
          <p:cNvPr id="53" name="矩形 52">
            <a:extLst>
              <a:ext uri="{FF2B5EF4-FFF2-40B4-BE49-F238E27FC236}">
                <a16:creationId xmlns:a16="http://schemas.microsoft.com/office/drawing/2014/main" id="{D0B5B83E-EFB6-A641-BF58-DBD8729C8947}"/>
              </a:ext>
            </a:extLst>
          </p:cNvPr>
          <p:cNvSpPr/>
          <p:nvPr/>
        </p:nvSpPr>
        <p:spPr>
          <a:xfrm>
            <a:off x="924776" y="2092955"/>
            <a:ext cx="1368152" cy="904869"/>
          </a:xfrm>
          <a:prstGeom prst="rect">
            <a:avLst/>
          </a:prstGeom>
          <a:solidFill>
            <a:srgbClr val="C8EFFD"/>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zh-CN" altLang="en-US" sz="1600" dirty="0">
                <a:solidFill>
                  <a:schemeClr val="tx1"/>
                </a:solidFill>
                <a:latin typeface="+mn-ea"/>
              </a:rPr>
              <a:t>操作系统</a:t>
            </a:r>
          </a:p>
        </p:txBody>
      </p:sp>
      <p:sp>
        <p:nvSpPr>
          <p:cNvPr id="54" name="矩形 53">
            <a:extLst>
              <a:ext uri="{FF2B5EF4-FFF2-40B4-BE49-F238E27FC236}">
                <a16:creationId xmlns:a16="http://schemas.microsoft.com/office/drawing/2014/main" id="{08E7F340-1D9F-0347-AD5F-42C860988E1E}"/>
              </a:ext>
            </a:extLst>
          </p:cNvPr>
          <p:cNvSpPr/>
          <p:nvPr/>
        </p:nvSpPr>
        <p:spPr>
          <a:xfrm>
            <a:off x="924776" y="3450767"/>
            <a:ext cx="1368152" cy="402675"/>
          </a:xfrm>
          <a:prstGeom prst="rect">
            <a:avLst/>
          </a:prstGeom>
          <a:solidFill>
            <a:srgbClr val="FFC5DC"/>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dirty="0">
                <a:solidFill>
                  <a:schemeClr val="tx1"/>
                </a:solidFill>
                <a:latin typeface="+mn-ea"/>
              </a:rPr>
              <a:t>恶意应用</a:t>
            </a:r>
          </a:p>
        </p:txBody>
      </p:sp>
      <p:sp>
        <p:nvSpPr>
          <p:cNvPr id="55" name="矩形 54">
            <a:extLst>
              <a:ext uri="{FF2B5EF4-FFF2-40B4-BE49-F238E27FC236}">
                <a16:creationId xmlns:a16="http://schemas.microsoft.com/office/drawing/2014/main" id="{10903146-A065-9044-B612-1BC1F23DE3B5}"/>
              </a:ext>
            </a:extLst>
          </p:cNvPr>
          <p:cNvSpPr/>
          <p:nvPr/>
        </p:nvSpPr>
        <p:spPr>
          <a:xfrm>
            <a:off x="924776" y="4025310"/>
            <a:ext cx="1368152" cy="402675"/>
          </a:xfrm>
          <a:prstGeom prst="rect">
            <a:avLst/>
          </a:prstGeom>
          <a:solidFill>
            <a:schemeClr val="bg1"/>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dirty="0">
                <a:solidFill>
                  <a:schemeClr val="tx1"/>
                </a:solidFill>
                <a:latin typeface="+mn-ea"/>
              </a:rPr>
              <a:t>应用</a:t>
            </a:r>
          </a:p>
        </p:txBody>
      </p:sp>
      <p:sp>
        <p:nvSpPr>
          <p:cNvPr id="58" name="文本框 57">
            <a:extLst>
              <a:ext uri="{FF2B5EF4-FFF2-40B4-BE49-F238E27FC236}">
                <a16:creationId xmlns:a16="http://schemas.microsoft.com/office/drawing/2014/main" id="{FD1A7533-FBE6-E54C-AD25-16530CCE7B1B}"/>
              </a:ext>
            </a:extLst>
          </p:cNvPr>
          <p:cNvSpPr txBox="1"/>
          <p:nvPr/>
        </p:nvSpPr>
        <p:spPr>
          <a:xfrm>
            <a:off x="179512" y="2806978"/>
            <a:ext cx="720080" cy="307777"/>
          </a:xfrm>
          <a:prstGeom prst="rect">
            <a:avLst/>
          </a:prstGeom>
          <a:noFill/>
        </p:spPr>
        <p:txBody>
          <a:bodyPr wrap="square" rtlCol="0">
            <a:spAutoFit/>
          </a:bodyPr>
          <a:lstStyle/>
          <a:p>
            <a:pPr algn="ctr"/>
            <a:r>
              <a:rPr kumimoji="1" lang="zh-CN" altLang="en-US" sz="1400" dirty="0">
                <a:latin typeface="+mn-ea"/>
                <a:cs typeface="DengXian" charset="-122"/>
              </a:rPr>
              <a:t>内核态</a:t>
            </a:r>
          </a:p>
        </p:txBody>
      </p:sp>
      <p:sp>
        <p:nvSpPr>
          <p:cNvPr id="60" name="文本框 59">
            <a:extLst>
              <a:ext uri="{FF2B5EF4-FFF2-40B4-BE49-F238E27FC236}">
                <a16:creationId xmlns:a16="http://schemas.microsoft.com/office/drawing/2014/main" id="{50833DD7-048D-5848-A209-B98A2916946E}"/>
              </a:ext>
            </a:extLst>
          </p:cNvPr>
          <p:cNvSpPr txBox="1"/>
          <p:nvPr/>
        </p:nvSpPr>
        <p:spPr>
          <a:xfrm>
            <a:off x="179512" y="3249407"/>
            <a:ext cx="720080" cy="307777"/>
          </a:xfrm>
          <a:prstGeom prst="rect">
            <a:avLst/>
          </a:prstGeom>
          <a:noFill/>
        </p:spPr>
        <p:txBody>
          <a:bodyPr wrap="square" rtlCol="0">
            <a:spAutoFit/>
          </a:bodyPr>
          <a:lstStyle/>
          <a:p>
            <a:pPr algn="ctr"/>
            <a:r>
              <a:rPr kumimoji="1" lang="zh-CN" altLang="en-US" sz="1400" dirty="0">
                <a:latin typeface="+mn-ea"/>
                <a:cs typeface="DengXian" charset="-122"/>
              </a:rPr>
              <a:t>用户态</a:t>
            </a:r>
          </a:p>
        </p:txBody>
      </p:sp>
      <p:sp>
        <p:nvSpPr>
          <p:cNvPr id="62" name="矩形 61">
            <a:extLst>
              <a:ext uri="{FF2B5EF4-FFF2-40B4-BE49-F238E27FC236}">
                <a16:creationId xmlns:a16="http://schemas.microsoft.com/office/drawing/2014/main" id="{7004183E-010A-B24A-87C9-D305FA922C48}"/>
              </a:ext>
            </a:extLst>
          </p:cNvPr>
          <p:cNvSpPr/>
          <p:nvPr/>
        </p:nvSpPr>
        <p:spPr>
          <a:xfrm>
            <a:off x="921295" y="4599853"/>
            <a:ext cx="1368152" cy="402675"/>
          </a:xfrm>
          <a:prstGeom prst="rect">
            <a:avLst/>
          </a:prstGeom>
          <a:solidFill>
            <a:schemeClr val="bg1"/>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dirty="0">
                <a:solidFill>
                  <a:schemeClr val="tx1"/>
                </a:solidFill>
                <a:latin typeface="+mn-ea"/>
              </a:rPr>
              <a:t>应用</a:t>
            </a:r>
          </a:p>
        </p:txBody>
      </p:sp>
      <p:cxnSp>
        <p:nvCxnSpPr>
          <p:cNvPr id="64" name="直线箭头连接符 63">
            <a:extLst>
              <a:ext uri="{FF2B5EF4-FFF2-40B4-BE49-F238E27FC236}">
                <a16:creationId xmlns:a16="http://schemas.microsoft.com/office/drawing/2014/main" id="{B698FA99-702C-5A4E-8A7F-44A9D6DC0389}"/>
              </a:ext>
            </a:extLst>
          </p:cNvPr>
          <p:cNvCxnSpPr>
            <a:cxnSpLocks/>
          </p:cNvCxnSpPr>
          <p:nvPr/>
        </p:nvCxnSpPr>
        <p:spPr>
          <a:xfrm>
            <a:off x="2332580" y="2609286"/>
            <a:ext cx="1524851"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49AB8AB1-F820-EB4E-8902-F220E0DB8C03}"/>
              </a:ext>
            </a:extLst>
          </p:cNvPr>
          <p:cNvSpPr txBox="1"/>
          <p:nvPr/>
        </p:nvSpPr>
        <p:spPr>
          <a:xfrm>
            <a:off x="2452283" y="2117562"/>
            <a:ext cx="1159623" cy="477054"/>
          </a:xfrm>
          <a:prstGeom prst="rect">
            <a:avLst/>
          </a:prstGeom>
          <a:noFill/>
        </p:spPr>
        <p:txBody>
          <a:bodyPr wrap="square" rtlCol="0">
            <a:spAutoFit/>
          </a:bodyPr>
          <a:lstStyle/>
          <a:p>
            <a:pPr algn="ctr"/>
            <a:r>
              <a:rPr kumimoji="1" lang="en-US" altLang="zh-CN" sz="1400" dirty="0">
                <a:latin typeface="+mn-ea"/>
                <a:cs typeface="DengXian" charset="-122"/>
              </a:rPr>
              <a:t>access</a:t>
            </a:r>
            <a:r>
              <a:rPr kumimoji="1" lang="zh-CN" altLang="en-US" sz="1400" dirty="0">
                <a:latin typeface="+mn-ea"/>
                <a:cs typeface="DengXian" charset="-122"/>
              </a:rPr>
              <a:t> </a:t>
            </a:r>
            <a:r>
              <a:rPr kumimoji="1" lang="en-US" altLang="zh-CN" sz="1400" b="1" dirty="0">
                <a:solidFill>
                  <a:srgbClr val="FF2F92"/>
                </a:solidFill>
                <a:latin typeface="+mn-ea"/>
                <a:cs typeface="DengXian" charset="-122"/>
              </a:rPr>
              <a:t>key</a:t>
            </a:r>
          </a:p>
          <a:p>
            <a:pPr algn="ctr"/>
            <a:r>
              <a:rPr kumimoji="1" lang="zh-CN" altLang="en-US" sz="1100" dirty="0">
                <a:latin typeface="+mn-ea"/>
                <a:cs typeface="DengXian" charset="-122"/>
              </a:rPr>
              <a:t>（</a:t>
            </a:r>
            <a:r>
              <a:rPr kumimoji="1" lang="en-US" altLang="zh-CN" sz="1100" dirty="0">
                <a:latin typeface="+mn-ea"/>
                <a:cs typeface="DengXian" charset="-122"/>
              </a:rPr>
              <a:t>user</a:t>
            </a:r>
            <a:r>
              <a:rPr kumimoji="1" lang="zh-CN" altLang="en-US" sz="1100" dirty="0">
                <a:latin typeface="+mn-ea"/>
                <a:cs typeface="DengXian" charset="-122"/>
              </a:rPr>
              <a:t> </a:t>
            </a:r>
            <a:r>
              <a:rPr kumimoji="1" lang="en-US" altLang="zh-CN" sz="1100" dirty="0">
                <a:latin typeface="+mn-ea"/>
                <a:cs typeface="DengXian" charset="-122"/>
              </a:rPr>
              <a:t>bit</a:t>
            </a:r>
            <a:r>
              <a:rPr kumimoji="1" lang="zh-CN" altLang="en-US" sz="1100" dirty="0">
                <a:latin typeface="+mn-ea"/>
                <a:cs typeface="DengXian" charset="-122"/>
              </a:rPr>
              <a:t> </a:t>
            </a:r>
            <a:r>
              <a:rPr kumimoji="1" lang="en-US" altLang="zh-CN" sz="1100" dirty="0">
                <a:latin typeface="+mn-ea"/>
                <a:cs typeface="DengXian" charset="-122"/>
              </a:rPr>
              <a:t>=</a:t>
            </a:r>
            <a:r>
              <a:rPr kumimoji="1" lang="zh-CN" altLang="en-US" sz="1100" dirty="0">
                <a:latin typeface="+mn-ea"/>
                <a:cs typeface="DengXian" charset="-122"/>
              </a:rPr>
              <a:t> </a:t>
            </a:r>
            <a:r>
              <a:rPr kumimoji="1" lang="en-US" altLang="zh-CN" sz="1100" dirty="0">
                <a:latin typeface="+mn-ea"/>
                <a:cs typeface="DengXian" charset="-122"/>
              </a:rPr>
              <a:t>0)</a:t>
            </a:r>
            <a:endParaRPr kumimoji="1" lang="zh-CN" altLang="en-US" sz="1100" dirty="0">
              <a:latin typeface="+mn-ea"/>
              <a:cs typeface="DengXian" charset="-122"/>
            </a:endParaRPr>
          </a:p>
        </p:txBody>
      </p:sp>
      <p:sp>
        <p:nvSpPr>
          <p:cNvPr id="66" name="文本框 65">
            <a:extLst>
              <a:ext uri="{FF2B5EF4-FFF2-40B4-BE49-F238E27FC236}">
                <a16:creationId xmlns:a16="http://schemas.microsoft.com/office/drawing/2014/main" id="{00857A1E-0873-A242-BE1C-6B2289D775A6}"/>
              </a:ext>
            </a:extLst>
          </p:cNvPr>
          <p:cNvSpPr txBox="1"/>
          <p:nvPr/>
        </p:nvSpPr>
        <p:spPr>
          <a:xfrm>
            <a:off x="5501261" y="2412295"/>
            <a:ext cx="1084388" cy="449961"/>
          </a:xfrm>
          <a:prstGeom prst="rect">
            <a:avLst/>
          </a:prstGeom>
          <a:solidFill>
            <a:schemeClr val="bg1"/>
          </a:solidFill>
        </p:spPr>
        <p:txBody>
          <a:bodyPr wrap="square" lIns="0" tIns="0" rIns="0" bIns="0" rtlCol="0" anchor="ctr" anchorCtr="0">
            <a:noAutofit/>
          </a:bodyPr>
          <a:lstStyle/>
          <a:p>
            <a:pPr algn="ctr"/>
            <a:r>
              <a:rPr kumimoji="1" lang="en-US" altLang="zh-CN" sz="1400" b="1" dirty="0">
                <a:solidFill>
                  <a:srgbClr val="00B050"/>
                </a:solidFill>
                <a:cs typeface="DengXian" charset="-122"/>
              </a:rPr>
              <a:t>Permission</a:t>
            </a:r>
            <a:r>
              <a:rPr kumimoji="1" lang="zh-CN" altLang="en-US" sz="1400" b="1" dirty="0">
                <a:solidFill>
                  <a:srgbClr val="00B050"/>
                </a:solidFill>
                <a:cs typeface="DengXian" charset="-122"/>
              </a:rPr>
              <a:t> </a:t>
            </a:r>
            <a:endParaRPr kumimoji="1" lang="en-US" altLang="zh-CN" sz="1400" b="1" dirty="0">
              <a:solidFill>
                <a:srgbClr val="00B050"/>
              </a:solidFill>
              <a:cs typeface="DengXian" charset="-122"/>
            </a:endParaRPr>
          </a:p>
          <a:p>
            <a:pPr algn="ctr"/>
            <a:r>
              <a:rPr kumimoji="1" lang="en-US" altLang="zh-CN" sz="1400" b="1" dirty="0">
                <a:solidFill>
                  <a:srgbClr val="00B050"/>
                </a:solidFill>
                <a:cs typeface="DengXian" charset="-122"/>
              </a:rPr>
              <a:t>Check</a:t>
            </a:r>
            <a:r>
              <a:rPr kumimoji="1" lang="zh-CN" altLang="en-US" sz="1400" b="1" dirty="0">
                <a:solidFill>
                  <a:srgbClr val="00B050"/>
                </a:solidFill>
                <a:cs typeface="DengXian" charset="-122"/>
              </a:rPr>
              <a:t> </a:t>
            </a:r>
            <a:r>
              <a:rPr kumimoji="1" lang="zh-CN" altLang="en-US" b="1" dirty="0">
                <a:solidFill>
                  <a:srgbClr val="00B050"/>
                </a:solidFill>
                <a:cs typeface="DengXian" charset="-122"/>
              </a:rPr>
              <a:t>✓</a:t>
            </a:r>
            <a:endParaRPr kumimoji="1" lang="zh-CN" altLang="en-US" sz="500" b="1" dirty="0">
              <a:solidFill>
                <a:srgbClr val="00B050"/>
              </a:solidFill>
              <a:cs typeface="DengXian" charset="-122"/>
            </a:endParaRPr>
          </a:p>
        </p:txBody>
      </p:sp>
      <p:sp>
        <p:nvSpPr>
          <p:cNvPr id="69" name="矩形 68">
            <a:extLst>
              <a:ext uri="{FF2B5EF4-FFF2-40B4-BE49-F238E27FC236}">
                <a16:creationId xmlns:a16="http://schemas.microsoft.com/office/drawing/2014/main" id="{27A46A72-D316-2E48-885B-F2027BC0584A}"/>
              </a:ext>
            </a:extLst>
          </p:cNvPr>
          <p:cNvSpPr/>
          <p:nvPr/>
        </p:nvSpPr>
        <p:spPr>
          <a:xfrm>
            <a:off x="5021283" y="3344666"/>
            <a:ext cx="2071013" cy="280603"/>
          </a:xfrm>
          <a:prstGeom prst="rect">
            <a:avLst/>
          </a:prstGeom>
          <a:solidFill>
            <a:schemeClr val="bg1"/>
          </a:solidFill>
          <a:ln>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71" name="矩形 70">
            <a:extLst>
              <a:ext uri="{FF2B5EF4-FFF2-40B4-BE49-F238E27FC236}">
                <a16:creationId xmlns:a16="http://schemas.microsoft.com/office/drawing/2014/main" id="{1FAAEEAF-45AB-834C-B103-9B4FC4DF1B6B}"/>
              </a:ext>
            </a:extLst>
          </p:cNvPr>
          <p:cNvSpPr/>
          <p:nvPr/>
        </p:nvSpPr>
        <p:spPr>
          <a:xfrm>
            <a:off x="5024016" y="3339939"/>
            <a:ext cx="137834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solidFill>
              </a:rPr>
              <a:t>0xbeef0</a:t>
            </a:r>
            <a:endParaRPr kumimoji="1" lang="zh-CN" altLang="en-US" sz="1400" dirty="0">
              <a:solidFill>
                <a:schemeClr val="tx1"/>
              </a:solidFill>
            </a:endParaRPr>
          </a:p>
        </p:txBody>
      </p:sp>
      <p:sp>
        <p:nvSpPr>
          <p:cNvPr id="74" name="矩形 73">
            <a:extLst>
              <a:ext uri="{FF2B5EF4-FFF2-40B4-BE49-F238E27FC236}">
                <a16:creationId xmlns:a16="http://schemas.microsoft.com/office/drawing/2014/main" id="{6E59F55C-1F34-944B-89B9-D130D8A12D58}"/>
              </a:ext>
            </a:extLst>
          </p:cNvPr>
          <p:cNvSpPr/>
          <p:nvPr/>
        </p:nvSpPr>
        <p:spPr>
          <a:xfrm>
            <a:off x="6402356" y="3344121"/>
            <a:ext cx="264582"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400" dirty="0">
                <a:solidFill>
                  <a:schemeClr val="tx1"/>
                </a:solidFill>
              </a:rPr>
              <a:t>…</a:t>
            </a:r>
            <a:endParaRPr kumimoji="1" lang="zh-CN" altLang="en-US" sz="1400" dirty="0">
              <a:solidFill>
                <a:schemeClr val="tx1"/>
              </a:solidFill>
            </a:endParaRPr>
          </a:p>
        </p:txBody>
      </p:sp>
      <p:sp>
        <p:nvSpPr>
          <p:cNvPr id="76" name="矩形 75">
            <a:extLst>
              <a:ext uri="{FF2B5EF4-FFF2-40B4-BE49-F238E27FC236}">
                <a16:creationId xmlns:a16="http://schemas.microsoft.com/office/drawing/2014/main" id="{F73BEDEE-EB96-D645-94CE-ADA2284E2A37}"/>
              </a:ext>
            </a:extLst>
          </p:cNvPr>
          <p:cNvSpPr/>
          <p:nvPr/>
        </p:nvSpPr>
        <p:spPr>
          <a:xfrm>
            <a:off x="6666938" y="3344121"/>
            <a:ext cx="14400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400" dirty="0">
                <a:solidFill>
                  <a:schemeClr val="tx1"/>
                </a:solidFill>
              </a:rPr>
              <a:t>0</a:t>
            </a:r>
            <a:endParaRPr kumimoji="1" lang="zh-CN" altLang="en-US" sz="1400" dirty="0">
              <a:solidFill>
                <a:schemeClr val="tx1"/>
              </a:solidFill>
            </a:endParaRPr>
          </a:p>
        </p:txBody>
      </p:sp>
      <p:sp>
        <p:nvSpPr>
          <p:cNvPr id="79" name="矩形 78">
            <a:extLst>
              <a:ext uri="{FF2B5EF4-FFF2-40B4-BE49-F238E27FC236}">
                <a16:creationId xmlns:a16="http://schemas.microsoft.com/office/drawing/2014/main" id="{AD1BC875-824C-3045-9103-F4BFA10089F6}"/>
              </a:ext>
            </a:extLst>
          </p:cNvPr>
          <p:cNvSpPr/>
          <p:nvPr/>
        </p:nvSpPr>
        <p:spPr>
          <a:xfrm>
            <a:off x="6810938" y="3344121"/>
            <a:ext cx="14400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kumimoji="1" lang="zh-CN" altLang="en-US" sz="1400" dirty="0">
              <a:solidFill>
                <a:schemeClr val="tx1"/>
              </a:solidFill>
            </a:endParaRPr>
          </a:p>
        </p:txBody>
      </p:sp>
      <p:sp>
        <p:nvSpPr>
          <p:cNvPr id="80" name="矩形 79">
            <a:extLst>
              <a:ext uri="{FF2B5EF4-FFF2-40B4-BE49-F238E27FC236}">
                <a16:creationId xmlns:a16="http://schemas.microsoft.com/office/drawing/2014/main" id="{CD6167DB-9D55-C747-8BBE-5E8E7C027CBC}"/>
              </a:ext>
            </a:extLst>
          </p:cNvPr>
          <p:cNvSpPr/>
          <p:nvPr/>
        </p:nvSpPr>
        <p:spPr>
          <a:xfrm>
            <a:off x="6954938" y="3344121"/>
            <a:ext cx="14400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kumimoji="1" lang="zh-CN" altLang="en-US" sz="1400" dirty="0">
              <a:solidFill>
                <a:schemeClr val="tx1"/>
              </a:solidFill>
            </a:endParaRPr>
          </a:p>
        </p:txBody>
      </p:sp>
      <p:sp>
        <p:nvSpPr>
          <p:cNvPr id="81" name="文本框 80">
            <a:extLst>
              <a:ext uri="{FF2B5EF4-FFF2-40B4-BE49-F238E27FC236}">
                <a16:creationId xmlns:a16="http://schemas.microsoft.com/office/drawing/2014/main" id="{8464B6BE-792D-BE44-BA53-02F7573ABB79}"/>
              </a:ext>
            </a:extLst>
          </p:cNvPr>
          <p:cNvSpPr txBox="1"/>
          <p:nvPr/>
        </p:nvSpPr>
        <p:spPr>
          <a:xfrm>
            <a:off x="6073431" y="2971468"/>
            <a:ext cx="755630" cy="251193"/>
          </a:xfrm>
          <a:prstGeom prst="rect">
            <a:avLst/>
          </a:prstGeom>
          <a:solidFill>
            <a:schemeClr val="bg1"/>
          </a:solidFill>
        </p:spPr>
        <p:txBody>
          <a:bodyPr wrap="square" tIns="0" bIns="0" rtlCol="0" anchor="ctr" anchorCtr="0">
            <a:noAutofit/>
          </a:bodyPr>
          <a:lstStyle/>
          <a:p>
            <a:pPr algn="ctr">
              <a:lnSpc>
                <a:spcPct val="150000"/>
              </a:lnSpc>
            </a:pPr>
            <a:r>
              <a:rPr kumimoji="1" lang="en-US" altLang="zh-CN" sz="1200" dirty="0">
                <a:latin typeface="+mn-ea"/>
                <a:cs typeface="DengXian" charset="-122"/>
              </a:rPr>
              <a:t>User</a:t>
            </a:r>
            <a:r>
              <a:rPr kumimoji="1" lang="zh-CN" altLang="en-US" sz="1200" dirty="0">
                <a:latin typeface="+mn-ea"/>
                <a:cs typeface="DengXian" charset="-122"/>
              </a:rPr>
              <a:t> </a:t>
            </a:r>
            <a:r>
              <a:rPr kumimoji="1" lang="en-US" altLang="zh-CN" sz="1200" dirty="0">
                <a:latin typeface="+mn-ea"/>
                <a:cs typeface="DengXian" charset="-122"/>
              </a:rPr>
              <a:t>Bit</a:t>
            </a:r>
            <a:endParaRPr kumimoji="1" lang="zh-CN" altLang="en-US" sz="1200" dirty="0">
              <a:latin typeface="+mn-ea"/>
              <a:cs typeface="DengXian" charset="-122"/>
            </a:endParaRPr>
          </a:p>
        </p:txBody>
      </p:sp>
      <p:sp>
        <p:nvSpPr>
          <p:cNvPr id="83" name="文本框 82">
            <a:extLst>
              <a:ext uri="{FF2B5EF4-FFF2-40B4-BE49-F238E27FC236}">
                <a16:creationId xmlns:a16="http://schemas.microsoft.com/office/drawing/2014/main" id="{1D7AD9AA-F9C6-BE42-88EF-6E9AE63006AC}"/>
              </a:ext>
            </a:extLst>
          </p:cNvPr>
          <p:cNvSpPr txBox="1"/>
          <p:nvPr/>
        </p:nvSpPr>
        <p:spPr>
          <a:xfrm>
            <a:off x="8231707" y="3726926"/>
            <a:ext cx="973202" cy="239790"/>
          </a:xfrm>
          <a:prstGeom prst="rect">
            <a:avLst/>
          </a:prstGeom>
          <a:noFill/>
        </p:spPr>
        <p:txBody>
          <a:bodyPr wrap="square" lIns="0" rIns="0" rtlCol="0" anchor="ctr" anchorCtr="0">
            <a:noAutofit/>
          </a:bodyPr>
          <a:lstStyle/>
          <a:p>
            <a:pPr algn="ctr">
              <a:lnSpc>
                <a:spcPct val="150000"/>
              </a:lnSpc>
            </a:pPr>
            <a:r>
              <a:rPr kumimoji="1" lang="en-US" altLang="zh-CN" sz="1200" dirty="0">
                <a:latin typeface="+mn-ea"/>
                <a:cs typeface="DengXian" charset="-122"/>
              </a:rPr>
              <a:t>0xbeef0000</a:t>
            </a:r>
            <a:endParaRPr kumimoji="1" lang="zh-CN" altLang="en-US" sz="1200" dirty="0">
              <a:latin typeface="+mn-ea"/>
              <a:cs typeface="DengXian" charset="-122"/>
            </a:endParaRPr>
          </a:p>
        </p:txBody>
      </p:sp>
      <p:sp>
        <p:nvSpPr>
          <p:cNvPr id="84" name="文本框 83">
            <a:extLst>
              <a:ext uri="{FF2B5EF4-FFF2-40B4-BE49-F238E27FC236}">
                <a16:creationId xmlns:a16="http://schemas.microsoft.com/office/drawing/2014/main" id="{9CB8466E-DB78-EB46-8094-7E2534696F70}"/>
              </a:ext>
            </a:extLst>
          </p:cNvPr>
          <p:cNvSpPr txBox="1"/>
          <p:nvPr/>
        </p:nvSpPr>
        <p:spPr>
          <a:xfrm>
            <a:off x="5268093" y="3884838"/>
            <a:ext cx="1173504" cy="380088"/>
          </a:xfrm>
          <a:prstGeom prst="rect">
            <a:avLst/>
          </a:prstGeom>
          <a:noFill/>
        </p:spPr>
        <p:txBody>
          <a:bodyPr wrap="square" tIns="0" bIns="0" rtlCol="0" anchor="ctr" anchorCtr="0">
            <a:noAutofit/>
          </a:bodyPr>
          <a:lstStyle/>
          <a:p>
            <a:pPr algn="ctr"/>
            <a:r>
              <a:rPr kumimoji="1" lang="en-US" altLang="zh-CN" sz="1200" dirty="0">
                <a:latin typeface="+mn-ea"/>
                <a:cs typeface="DengXian" charset="-122"/>
              </a:rPr>
              <a:t>Physical</a:t>
            </a:r>
            <a:r>
              <a:rPr kumimoji="1" lang="zh-CN" altLang="en-US" sz="1200" dirty="0">
                <a:latin typeface="+mn-ea"/>
                <a:cs typeface="DengXian" charset="-122"/>
              </a:rPr>
              <a:t> </a:t>
            </a:r>
            <a:r>
              <a:rPr kumimoji="1" lang="en-US" altLang="zh-CN" sz="1200" dirty="0">
                <a:latin typeface="+mn-ea"/>
                <a:cs typeface="DengXian" charset="-122"/>
              </a:rPr>
              <a:t>Page</a:t>
            </a:r>
            <a:r>
              <a:rPr kumimoji="1" lang="zh-CN" altLang="en-US" sz="1200" dirty="0">
                <a:latin typeface="+mn-ea"/>
                <a:cs typeface="DengXian" charset="-122"/>
              </a:rPr>
              <a:t> </a:t>
            </a:r>
            <a:r>
              <a:rPr kumimoji="1" lang="en-US" altLang="zh-CN" sz="1200" dirty="0">
                <a:latin typeface="+mn-ea"/>
                <a:cs typeface="DengXian" charset="-122"/>
              </a:rPr>
              <a:t>Number</a:t>
            </a:r>
            <a:endParaRPr kumimoji="1" lang="zh-CN" altLang="en-US" sz="1200" dirty="0">
              <a:latin typeface="+mn-ea"/>
              <a:cs typeface="DengXian" charset="-122"/>
            </a:endParaRPr>
          </a:p>
        </p:txBody>
      </p:sp>
      <p:cxnSp>
        <p:nvCxnSpPr>
          <p:cNvPr id="86" name="直线连接符 85">
            <a:extLst>
              <a:ext uri="{FF2B5EF4-FFF2-40B4-BE49-F238E27FC236}">
                <a16:creationId xmlns:a16="http://schemas.microsoft.com/office/drawing/2014/main" id="{2D79327D-56E4-244E-9209-97AAEA118264}"/>
              </a:ext>
            </a:extLst>
          </p:cNvPr>
          <p:cNvCxnSpPr>
            <a:cxnSpLocks/>
            <a:stCxn id="81" idx="2"/>
            <a:endCxn id="76" idx="0"/>
          </p:cNvCxnSpPr>
          <p:nvPr/>
        </p:nvCxnSpPr>
        <p:spPr>
          <a:xfrm>
            <a:off x="6451246" y="3222661"/>
            <a:ext cx="287692" cy="12146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直线连接符 87">
            <a:extLst>
              <a:ext uri="{FF2B5EF4-FFF2-40B4-BE49-F238E27FC236}">
                <a16:creationId xmlns:a16="http://schemas.microsoft.com/office/drawing/2014/main" id="{AB40B3A7-6980-6642-8CB4-621F29642ED1}"/>
              </a:ext>
            </a:extLst>
          </p:cNvPr>
          <p:cNvCxnSpPr>
            <a:cxnSpLocks/>
            <a:stCxn id="84" idx="0"/>
            <a:endCxn id="71" idx="2"/>
          </p:cNvCxnSpPr>
          <p:nvPr/>
        </p:nvCxnSpPr>
        <p:spPr>
          <a:xfrm flipH="1" flipV="1">
            <a:off x="5713186" y="3620542"/>
            <a:ext cx="141659" cy="26429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3" name="直线箭头连接符 102">
            <a:extLst>
              <a:ext uri="{FF2B5EF4-FFF2-40B4-BE49-F238E27FC236}">
                <a16:creationId xmlns:a16="http://schemas.microsoft.com/office/drawing/2014/main" id="{150BE223-6EB3-B245-B073-EAAF5246203D}"/>
              </a:ext>
            </a:extLst>
          </p:cNvPr>
          <p:cNvCxnSpPr>
            <a:cxnSpLocks/>
          </p:cNvCxnSpPr>
          <p:nvPr/>
        </p:nvCxnSpPr>
        <p:spPr>
          <a:xfrm>
            <a:off x="2332580" y="2857500"/>
            <a:ext cx="1524851" cy="0"/>
          </a:xfrm>
          <a:prstGeom prst="straightConnector1">
            <a:avLst/>
          </a:prstGeom>
          <a:ln w="25400">
            <a:solidFill>
              <a:schemeClr val="tx1"/>
            </a:solidFill>
            <a:headEnd type="triangle" w="med" len="med"/>
            <a:tailEnd type="none"/>
          </a:ln>
        </p:spPr>
        <p:style>
          <a:lnRef idx="1">
            <a:schemeClr val="accent1"/>
          </a:lnRef>
          <a:fillRef idx="0">
            <a:schemeClr val="accent1"/>
          </a:fillRef>
          <a:effectRef idx="0">
            <a:schemeClr val="accent1"/>
          </a:effectRef>
          <a:fontRef idx="minor">
            <a:schemeClr val="tx1"/>
          </a:fontRef>
        </p:style>
      </p:cxnSp>
      <p:sp>
        <p:nvSpPr>
          <p:cNvPr id="104" name="文本框 103">
            <a:extLst>
              <a:ext uri="{FF2B5EF4-FFF2-40B4-BE49-F238E27FC236}">
                <a16:creationId xmlns:a16="http://schemas.microsoft.com/office/drawing/2014/main" id="{35303BB9-2775-CE44-8984-0AB8BF94378F}"/>
              </a:ext>
            </a:extLst>
          </p:cNvPr>
          <p:cNvSpPr txBox="1"/>
          <p:nvPr/>
        </p:nvSpPr>
        <p:spPr>
          <a:xfrm>
            <a:off x="2526830" y="2839382"/>
            <a:ext cx="1159623" cy="307777"/>
          </a:xfrm>
          <a:prstGeom prst="rect">
            <a:avLst/>
          </a:prstGeom>
          <a:noFill/>
        </p:spPr>
        <p:txBody>
          <a:bodyPr wrap="square" rtlCol="0">
            <a:spAutoFit/>
          </a:bodyPr>
          <a:lstStyle/>
          <a:p>
            <a:pPr algn="ctr"/>
            <a:r>
              <a:rPr kumimoji="1" lang="en-US" altLang="zh-CN" sz="1400" dirty="0">
                <a:latin typeface="+mn-ea"/>
                <a:cs typeface="DengXian" charset="-122"/>
              </a:rPr>
              <a:t>key</a:t>
            </a:r>
            <a:r>
              <a:rPr kumimoji="1" lang="zh-CN" altLang="en-US" sz="1400" dirty="0">
                <a:latin typeface="+mn-ea"/>
                <a:cs typeface="DengXian" charset="-122"/>
              </a:rPr>
              <a:t> </a:t>
            </a:r>
            <a:r>
              <a:rPr kumimoji="1" lang="en-US" altLang="zh-CN" sz="1400" dirty="0">
                <a:latin typeface="+mn-ea"/>
                <a:cs typeface="DengXian" charset="-122"/>
              </a:rPr>
              <a:t>=</a:t>
            </a:r>
            <a:r>
              <a:rPr kumimoji="1" lang="zh-CN" altLang="en-US" sz="1400" dirty="0">
                <a:latin typeface="+mn-ea"/>
                <a:cs typeface="DengXian" charset="-122"/>
              </a:rPr>
              <a:t> </a:t>
            </a:r>
            <a:r>
              <a:rPr kumimoji="1" lang="en-US" altLang="zh-CN" sz="1400" dirty="0">
                <a:latin typeface="+mn-ea"/>
                <a:cs typeface="DengXian" charset="-122"/>
              </a:rPr>
              <a:t>1</a:t>
            </a:r>
            <a:endParaRPr kumimoji="1" lang="zh-CN" altLang="en-US" sz="1100" dirty="0">
              <a:latin typeface="+mn-ea"/>
              <a:cs typeface="DengXian" charset="-122"/>
            </a:endParaRPr>
          </a:p>
        </p:txBody>
      </p:sp>
    </p:spTree>
    <p:extLst>
      <p:ext uri="{BB962C8B-B14F-4D97-AF65-F5344CB8AC3E}">
        <p14:creationId xmlns:p14="http://schemas.microsoft.com/office/powerpoint/2010/main" val="2320946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wipe(up)">
                                      <p:cBhvr>
                                        <p:cTn id="7" dur="500"/>
                                        <p:tgtEl>
                                          <p:spTgt spid="47"/>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6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64"/>
                                        </p:tgtEl>
                                        <p:attrNameLst>
                                          <p:attrName>style.visibility</p:attrName>
                                        </p:attrNameLst>
                                      </p:cBhvr>
                                      <p:to>
                                        <p:strVal val="visible"/>
                                      </p:to>
                                    </p:set>
                                    <p:animEffect transition="in" filter="wipe(left)">
                                      <p:cBhvr>
                                        <p:cTn id="53" dur="500"/>
                                        <p:tgtEl>
                                          <p:spTgt spid="64"/>
                                        </p:tgtEl>
                                      </p:cBhvr>
                                    </p:animEffect>
                                  </p:childTnLst>
                                </p:cTn>
                              </p:par>
                            </p:childTnLst>
                          </p:cTn>
                        </p:par>
                        <p:par>
                          <p:cTn id="54" fill="hold">
                            <p:stCondLst>
                              <p:cond delay="500"/>
                            </p:stCondLst>
                            <p:childTnLst>
                              <p:par>
                                <p:cTn id="55" presetID="1" presetClass="entr" presetSubtype="0" fill="hold" grpId="0" nodeType="afterEffect">
                                  <p:stCondLst>
                                    <p:cond delay="0"/>
                                  </p:stCondLst>
                                  <p:childTnLst>
                                    <p:set>
                                      <p:cBhvr>
                                        <p:cTn id="56" dur="1" fill="hold">
                                          <p:stCondLst>
                                            <p:cond delay="0"/>
                                          </p:stCondLst>
                                        </p:cTn>
                                        <p:tgtEl>
                                          <p:spTgt spid="6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3" presetClass="emph" presetSubtype="2" fill="hold" grpId="1" nodeType="clickEffect">
                                  <p:stCondLst>
                                    <p:cond delay="0"/>
                                  </p:stCondLst>
                                  <p:childTnLst>
                                    <p:animClr clrSpc="rgb" dir="cw">
                                      <p:cBhvr override="childStyle">
                                        <p:cTn id="60" dur="500" fill="hold"/>
                                        <p:tgtEl>
                                          <p:spTgt spid="81"/>
                                        </p:tgtEl>
                                        <p:attrNameLst>
                                          <p:attrName>style.color</p:attrName>
                                        </p:attrNameLst>
                                      </p:cBhvr>
                                      <p:to>
                                        <a:srgbClr val="009051"/>
                                      </p:to>
                                    </p:animClr>
                                  </p:childTnLst>
                                </p:cTn>
                              </p:par>
                              <p:par>
                                <p:cTn id="61" presetID="3" presetClass="emph" presetSubtype="2" fill="hold" grpId="1" nodeType="withEffect">
                                  <p:stCondLst>
                                    <p:cond delay="0"/>
                                  </p:stCondLst>
                                  <p:childTnLst>
                                    <p:animClr clrSpc="rgb" dir="cw">
                                      <p:cBhvr override="childStyle">
                                        <p:cTn id="62" dur="500" fill="hold"/>
                                        <p:tgtEl>
                                          <p:spTgt spid="76"/>
                                        </p:tgtEl>
                                        <p:attrNameLst>
                                          <p:attrName>style.color</p:attrName>
                                        </p:attrNameLst>
                                      </p:cBhvr>
                                      <p:to>
                                        <a:srgbClr val="009051"/>
                                      </p:to>
                                    </p:animClr>
                                  </p:childTnLst>
                                </p:cTn>
                              </p:par>
                              <p:par>
                                <p:cTn id="63" presetID="1" presetClass="entr" presetSubtype="0" fill="hold" grpId="0" nodeType="withEffect">
                                  <p:stCondLst>
                                    <p:cond delay="0"/>
                                  </p:stCondLst>
                                  <p:childTnLst>
                                    <p:set>
                                      <p:cBhvr>
                                        <p:cTn id="64" dur="1" fill="hold">
                                          <p:stCondLst>
                                            <p:cond delay="0"/>
                                          </p:stCondLst>
                                        </p:cTn>
                                        <p:tgtEl>
                                          <p:spTgt spid="6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2" fill="hold" nodeType="clickEffect">
                                  <p:stCondLst>
                                    <p:cond delay="0"/>
                                  </p:stCondLst>
                                  <p:childTnLst>
                                    <p:set>
                                      <p:cBhvr>
                                        <p:cTn id="68" dur="1" fill="hold">
                                          <p:stCondLst>
                                            <p:cond delay="0"/>
                                          </p:stCondLst>
                                        </p:cTn>
                                        <p:tgtEl>
                                          <p:spTgt spid="103"/>
                                        </p:tgtEl>
                                        <p:attrNameLst>
                                          <p:attrName>style.visibility</p:attrName>
                                        </p:attrNameLst>
                                      </p:cBhvr>
                                      <p:to>
                                        <p:strVal val="visible"/>
                                      </p:to>
                                    </p:set>
                                    <p:animEffect transition="in" filter="wipe(right)">
                                      <p:cBhvr>
                                        <p:cTn id="69" dur="500"/>
                                        <p:tgtEl>
                                          <p:spTgt spid="103"/>
                                        </p:tgtEl>
                                      </p:cBhvr>
                                    </p:animEffect>
                                  </p:childTnLst>
                                </p:cTn>
                              </p:par>
                            </p:childTnLst>
                          </p:cTn>
                        </p:par>
                        <p:par>
                          <p:cTn id="70" fill="hold">
                            <p:stCondLst>
                              <p:cond delay="500"/>
                            </p:stCondLst>
                            <p:childTnLst>
                              <p:par>
                                <p:cTn id="71" presetID="1" presetClass="entr" presetSubtype="0" fill="hold" grpId="0" nodeType="afterEffect">
                                  <p:stCondLst>
                                    <p:cond delay="0"/>
                                  </p:stCondLst>
                                  <p:childTnLst>
                                    <p:set>
                                      <p:cBhvr>
                                        <p:cTn id="72"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2" grpId="0"/>
      <p:bldP spid="53" grpId="0" animBg="1"/>
      <p:bldP spid="54" grpId="0" animBg="1"/>
      <p:bldP spid="55" grpId="0" animBg="1"/>
      <p:bldP spid="58" grpId="0"/>
      <p:bldP spid="60" grpId="0"/>
      <p:bldP spid="62" grpId="0" animBg="1"/>
      <p:bldP spid="65" grpId="0"/>
      <p:bldP spid="66" grpId="0" animBg="1"/>
      <p:bldP spid="69" grpId="0" animBg="1"/>
      <p:bldP spid="71" grpId="0" animBg="1"/>
      <p:bldP spid="74" grpId="0" animBg="1"/>
      <p:bldP spid="76" grpId="0" animBg="1"/>
      <p:bldP spid="76" grpId="1" animBg="1"/>
      <p:bldP spid="79" grpId="0" animBg="1"/>
      <p:bldP spid="80" grpId="0" animBg="1"/>
      <p:bldP spid="81" grpId="0" animBg="1"/>
      <p:bldP spid="81" grpId="1" animBg="1"/>
      <p:bldP spid="84" grpId="0"/>
      <p:bldP spid="104"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mn-ea"/>
              </a:rPr>
              <a:t>背景</a:t>
            </a:r>
            <a:r>
              <a:rPr lang="en-US" altLang="zh-CN" dirty="0">
                <a:latin typeface="+mn-ea"/>
              </a:rPr>
              <a:t>-1</a:t>
            </a:r>
            <a:r>
              <a:rPr lang="zh-CN" altLang="en-US" dirty="0">
                <a:latin typeface="+mn-ea"/>
              </a:rPr>
              <a:t>：</a:t>
            </a:r>
            <a:r>
              <a:rPr lang="zh-CN" altLang="en-US" dirty="0">
                <a:latin typeface="+mn-ea"/>
                <a:ea typeface="+mn-ea"/>
              </a:rPr>
              <a:t>基于页表权限的内核数据保护</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ea"/>
                <a:ea typeface="+mn-ea"/>
              </a:rPr>
              <a:t>49</a:t>
            </a:fld>
            <a:endParaRPr lang="zh-CN" altLang="en-US" dirty="0">
              <a:latin typeface="+mn-ea"/>
              <a:ea typeface="+mn-ea"/>
            </a:endParaRPr>
          </a:p>
        </p:txBody>
      </p:sp>
      <p:cxnSp>
        <p:nvCxnSpPr>
          <p:cNvPr id="8" name="直线连接符 7">
            <a:extLst>
              <a:ext uri="{FF2B5EF4-FFF2-40B4-BE49-F238E27FC236}">
                <a16:creationId xmlns:a16="http://schemas.microsoft.com/office/drawing/2014/main" id="{9E05C770-678B-984D-BDB9-8FFF994D8BA2}"/>
              </a:ext>
            </a:extLst>
          </p:cNvPr>
          <p:cNvCxnSpPr>
            <a:cxnSpLocks/>
          </p:cNvCxnSpPr>
          <p:nvPr/>
        </p:nvCxnSpPr>
        <p:spPr>
          <a:xfrm flipH="1">
            <a:off x="179512" y="3220454"/>
            <a:ext cx="2304256" cy="0"/>
          </a:xfrm>
          <a:prstGeom prst="line">
            <a:avLst/>
          </a:prstGeom>
          <a:ln w="12700">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88AC68CC-AE9A-2D46-935F-176C73E90885}"/>
              </a:ext>
            </a:extLst>
          </p:cNvPr>
          <p:cNvSpPr/>
          <p:nvPr/>
        </p:nvSpPr>
        <p:spPr>
          <a:xfrm>
            <a:off x="3857431" y="1917452"/>
            <a:ext cx="1368152" cy="1303003"/>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16" name="矩形 15">
            <a:extLst>
              <a:ext uri="{FF2B5EF4-FFF2-40B4-BE49-F238E27FC236}">
                <a16:creationId xmlns:a16="http://schemas.microsoft.com/office/drawing/2014/main" id="{4196295E-15CC-8646-BD41-7B4F21ADF6B2}"/>
              </a:ext>
            </a:extLst>
          </p:cNvPr>
          <p:cNvSpPr/>
          <p:nvPr/>
        </p:nvSpPr>
        <p:spPr>
          <a:xfrm>
            <a:off x="3857431" y="3220454"/>
            <a:ext cx="1368152" cy="2076507"/>
          </a:xfrm>
          <a:prstGeom prst="rect">
            <a:avLst/>
          </a:prstGeom>
          <a:solidFill>
            <a:srgbClr val="FFC6DC"/>
          </a:solidFill>
          <a:ln w="25400">
            <a:solidFill>
              <a:schemeClr val="tx1">
                <a:lumMod val="95000"/>
                <a:lumOff val="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18" name="文本框 17">
            <a:extLst>
              <a:ext uri="{FF2B5EF4-FFF2-40B4-BE49-F238E27FC236}">
                <a16:creationId xmlns:a16="http://schemas.microsoft.com/office/drawing/2014/main" id="{F2140EFA-5C74-9542-AE3F-1623E3721C6C}"/>
              </a:ext>
            </a:extLst>
          </p:cNvPr>
          <p:cNvSpPr txBox="1"/>
          <p:nvPr/>
        </p:nvSpPr>
        <p:spPr>
          <a:xfrm>
            <a:off x="3817779" y="1455890"/>
            <a:ext cx="1447456" cy="338554"/>
          </a:xfrm>
          <a:prstGeom prst="rect">
            <a:avLst/>
          </a:prstGeom>
          <a:noFill/>
        </p:spPr>
        <p:txBody>
          <a:bodyPr wrap="square" rtlCol="0">
            <a:spAutoFit/>
          </a:bodyPr>
          <a:lstStyle/>
          <a:p>
            <a:pPr algn="ctr"/>
            <a:r>
              <a:rPr kumimoji="1" lang="zh-CN" altLang="en-US" sz="1600" b="1" dirty="0">
                <a:latin typeface="+mn-ea"/>
                <a:cs typeface="DengXian" charset="-122"/>
              </a:rPr>
              <a:t>虚拟地址空间</a:t>
            </a:r>
          </a:p>
        </p:txBody>
      </p:sp>
      <p:sp>
        <p:nvSpPr>
          <p:cNvPr id="24" name="文本框 23">
            <a:extLst>
              <a:ext uri="{FF2B5EF4-FFF2-40B4-BE49-F238E27FC236}">
                <a16:creationId xmlns:a16="http://schemas.microsoft.com/office/drawing/2014/main" id="{BBBA58CF-537A-CA48-BAFC-E93D1762B7E0}"/>
              </a:ext>
            </a:extLst>
          </p:cNvPr>
          <p:cNvSpPr txBox="1"/>
          <p:nvPr/>
        </p:nvSpPr>
        <p:spPr>
          <a:xfrm>
            <a:off x="3857431" y="1961728"/>
            <a:ext cx="1368152" cy="338554"/>
          </a:xfrm>
          <a:prstGeom prst="rect">
            <a:avLst/>
          </a:prstGeom>
          <a:noFill/>
        </p:spPr>
        <p:txBody>
          <a:bodyPr wrap="square" rtlCol="0">
            <a:spAutoFit/>
          </a:bodyPr>
          <a:lstStyle/>
          <a:p>
            <a:pPr algn="ctr"/>
            <a:r>
              <a:rPr kumimoji="1" lang="zh-CN" altLang="en-US" sz="1600" dirty="0">
                <a:latin typeface="+mn-ea"/>
                <a:cs typeface="DengXian" charset="-122"/>
              </a:rPr>
              <a:t>内核内存</a:t>
            </a:r>
          </a:p>
        </p:txBody>
      </p:sp>
      <p:sp>
        <p:nvSpPr>
          <p:cNvPr id="27" name="文本框 26">
            <a:extLst>
              <a:ext uri="{FF2B5EF4-FFF2-40B4-BE49-F238E27FC236}">
                <a16:creationId xmlns:a16="http://schemas.microsoft.com/office/drawing/2014/main" id="{9C11543D-E60F-9644-B405-624C4C645DB4}"/>
              </a:ext>
            </a:extLst>
          </p:cNvPr>
          <p:cNvSpPr txBox="1"/>
          <p:nvPr/>
        </p:nvSpPr>
        <p:spPr>
          <a:xfrm>
            <a:off x="3857431" y="4089431"/>
            <a:ext cx="1368152" cy="338554"/>
          </a:xfrm>
          <a:prstGeom prst="rect">
            <a:avLst/>
          </a:prstGeom>
          <a:noFill/>
        </p:spPr>
        <p:txBody>
          <a:bodyPr wrap="square" rtlCol="0">
            <a:spAutoFit/>
          </a:bodyPr>
          <a:lstStyle/>
          <a:p>
            <a:pPr algn="ctr"/>
            <a:r>
              <a:rPr kumimoji="1" lang="zh-CN" altLang="en-US" sz="1600" dirty="0">
                <a:latin typeface="+mn-ea"/>
                <a:cs typeface="DengXian" charset="-122"/>
              </a:rPr>
              <a:t>用户内存</a:t>
            </a:r>
          </a:p>
        </p:txBody>
      </p:sp>
      <p:sp>
        <p:nvSpPr>
          <p:cNvPr id="30" name="矩形 29">
            <a:extLst>
              <a:ext uri="{FF2B5EF4-FFF2-40B4-BE49-F238E27FC236}">
                <a16:creationId xmlns:a16="http://schemas.microsoft.com/office/drawing/2014/main" id="{4738FBC3-F63D-2B4C-981F-1248C60B14B4}"/>
              </a:ext>
            </a:extLst>
          </p:cNvPr>
          <p:cNvSpPr/>
          <p:nvPr/>
        </p:nvSpPr>
        <p:spPr>
          <a:xfrm>
            <a:off x="6876256" y="1917452"/>
            <a:ext cx="1368152" cy="130300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31" name="矩形 30">
            <a:extLst>
              <a:ext uri="{FF2B5EF4-FFF2-40B4-BE49-F238E27FC236}">
                <a16:creationId xmlns:a16="http://schemas.microsoft.com/office/drawing/2014/main" id="{EC960D70-7FB2-4B44-8B44-70897EA88A37}"/>
              </a:ext>
            </a:extLst>
          </p:cNvPr>
          <p:cNvSpPr/>
          <p:nvPr/>
        </p:nvSpPr>
        <p:spPr>
          <a:xfrm>
            <a:off x="6876256" y="1917452"/>
            <a:ext cx="1368152" cy="3379509"/>
          </a:xfrm>
          <a:prstGeom prst="rect">
            <a:avLst/>
          </a:prstGeom>
          <a:solidFill>
            <a:schemeClr val="bg1"/>
          </a:solidFill>
          <a:ln w="25400">
            <a:solidFill>
              <a:schemeClr val="tx1">
                <a:lumMod val="95000"/>
                <a:lumOff val="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34" name="文本框 33">
            <a:extLst>
              <a:ext uri="{FF2B5EF4-FFF2-40B4-BE49-F238E27FC236}">
                <a16:creationId xmlns:a16="http://schemas.microsoft.com/office/drawing/2014/main" id="{BD11F212-6C39-DD47-8D52-4C0F35A6EEAB}"/>
              </a:ext>
            </a:extLst>
          </p:cNvPr>
          <p:cNvSpPr txBox="1"/>
          <p:nvPr/>
        </p:nvSpPr>
        <p:spPr>
          <a:xfrm>
            <a:off x="6836604" y="1455890"/>
            <a:ext cx="1447456" cy="338554"/>
          </a:xfrm>
          <a:prstGeom prst="rect">
            <a:avLst/>
          </a:prstGeom>
          <a:noFill/>
        </p:spPr>
        <p:txBody>
          <a:bodyPr wrap="square" rtlCol="0">
            <a:spAutoFit/>
          </a:bodyPr>
          <a:lstStyle/>
          <a:p>
            <a:pPr algn="ctr"/>
            <a:r>
              <a:rPr kumimoji="1" lang="zh-CN" altLang="en-US" sz="1600" b="1" dirty="0">
                <a:latin typeface="+mn-ea"/>
                <a:cs typeface="DengXian" charset="-122"/>
              </a:rPr>
              <a:t>物理地址空间</a:t>
            </a:r>
          </a:p>
        </p:txBody>
      </p:sp>
      <p:sp>
        <p:nvSpPr>
          <p:cNvPr id="37" name="矩形 36">
            <a:extLst>
              <a:ext uri="{FF2B5EF4-FFF2-40B4-BE49-F238E27FC236}">
                <a16:creationId xmlns:a16="http://schemas.microsoft.com/office/drawing/2014/main" id="{A7483162-1019-A746-9D76-1157C0BE7B5B}"/>
              </a:ext>
            </a:extLst>
          </p:cNvPr>
          <p:cNvSpPr/>
          <p:nvPr/>
        </p:nvSpPr>
        <p:spPr>
          <a:xfrm>
            <a:off x="6876256" y="3853445"/>
            <a:ext cx="1368152" cy="574540"/>
          </a:xfrm>
          <a:prstGeom prst="rect">
            <a:avLst/>
          </a:prstGeom>
          <a:solidFill>
            <a:schemeClr val="bg1">
              <a:lumMod val="75000"/>
            </a:schemeClr>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grpSp>
        <p:nvGrpSpPr>
          <p:cNvPr id="42" name="组合 41">
            <a:extLst>
              <a:ext uri="{FF2B5EF4-FFF2-40B4-BE49-F238E27FC236}">
                <a16:creationId xmlns:a16="http://schemas.microsoft.com/office/drawing/2014/main" id="{9E34BEA1-95AE-C74E-99AD-009BF16A0DC7}"/>
              </a:ext>
            </a:extLst>
          </p:cNvPr>
          <p:cNvGrpSpPr/>
          <p:nvPr/>
        </p:nvGrpSpPr>
        <p:grpSpPr>
          <a:xfrm>
            <a:off x="7036971" y="3930287"/>
            <a:ext cx="1046723" cy="411488"/>
            <a:chOff x="6602216" y="3930287"/>
            <a:chExt cx="1046723" cy="411488"/>
          </a:xfrm>
        </p:grpSpPr>
        <p:pic>
          <p:nvPicPr>
            <p:cNvPr id="32" name="图片 31">
              <a:extLst>
                <a:ext uri="{FF2B5EF4-FFF2-40B4-BE49-F238E27FC236}">
                  <a16:creationId xmlns:a16="http://schemas.microsoft.com/office/drawing/2014/main" id="{FB7DCC3A-FD53-5C47-8BE1-4135C6426C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02216" y="3930287"/>
              <a:ext cx="278050" cy="411488"/>
            </a:xfrm>
            <a:prstGeom prst="rect">
              <a:avLst/>
            </a:prstGeom>
          </p:spPr>
        </p:pic>
        <p:sp>
          <p:nvSpPr>
            <p:cNvPr id="33" name="文本框 32">
              <a:extLst>
                <a:ext uri="{FF2B5EF4-FFF2-40B4-BE49-F238E27FC236}">
                  <a16:creationId xmlns:a16="http://schemas.microsoft.com/office/drawing/2014/main" id="{B052261D-32B4-7D4F-9DF4-077B2D3E2964}"/>
                </a:ext>
              </a:extLst>
            </p:cNvPr>
            <p:cNvSpPr txBox="1"/>
            <p:nvPr/>
          </p:nvSpPr>
          <p:spPr>
            <a:xfrm>
              <a:off x="6878336" y="3966754"/>
              <a:ext cx="770603" cy="338554"/>
            </a:xfrm>
            <a:prstGeom prst="rect">
              <a:avLst/>
            </a:prstGeom>
            <a:noFill/>
          </p:spPr>
          <p:txBody>
            <a:bodyPr wrap="square" lIns="0" rIns="0" rtlCol="0" anchor="ctr" anchorCtr="0">
              <a:noAutofit/>
            </a:bodyPr>
            <a:lstStyle/>
            <a:p>
              <a:pPr algn="ctr"/>
              <a:r>
                <a:rPr kumimoji="1" lang="en-US" altLang="zh-CN" sz="1200" dirty="0">
                  <a:latin typeface="+mn-ea"/>
                  <a:cs typeface="DengXian" charset="-122"/>
                </a:rPr>
                <a:t>(key</a:t>
              </a:r>
              <a:r>
                <a:rPr kumimoji="1" lang="zh-CN" altLang="en-US" sz="1200" dirty="0">
                  <a:latin typeface="+mn-ea"/>
                  <a:cs typeface="DengXian" charset="-122"/>
                </a:rPr>
                <a:t> </a:t>
              </a:r>
              <a:r>
                <a:rPr kumimoji="1" lang="en-US" altLang="zh-CN" sz="1200" dirty="0">
                  <a:latin typeface="+mn-ea"/>
                  <a:cs typeface="DengXian" charset="-122"/>
                </a:rPr>
                <a:t>=</a:t>
              </a:r>
              <a:r>
                <a:rPr kumimoji="1" lang="zh-CN" altLang="en-US" sz="1200" dirty="0">
                  <a:latin typeface="+mn-ea"/>
                  <a:cs typeface="DengXian" charset="-122"/>
                </a:rPr>
                <a:t> </a:t>
              </a:r>
              <a:r>
                <a:rPr kumimoji="1" lang="en-US" altLang="zh-CN" sz="1200" dirty="0">
                  <a:latin typeface="+mn-ea"/>
                  <a:cs typeface="DengXian" charset="-122"/>
                </a:rPr>
                <a:t>1)</a:t>
              </a:r>
              <a:endParaRPr kumimoji="1" lang="zh-CN" altLang="en-US" dirty="0">
                <a:latin typeface="+mn-ea"/>
                <a:cs typeface="DengXian" charset="-122"/>
              </a:endParaRPr>
            </a:p>
          </p:txBody>
        </p:sp>
      </p:grpSp>
      <p:sp>
        <p:nvSpPr>
          <p:cNvPr id="39" name="矩形 38">
            <a:extLst>
              <a:ext uri="{FF2B5EF4-FFF2-40B4-BE49-F238E27FC236}">
                <a16:creationId xmlns:a16="http://schemas.microsoft.com/office/drawing/2014/main" id="{23BCE59D-A88F-3248-B254-741F5422030B}"/>
              </a:ext>
            </a:extLst>
          </p:cNvPr>
          <p:cNvSpPr/>
          <p:nvPr/>
        </p:nvSpPr>
        <p:spPr>
          <a:xfrm>
            <a:off x="3857431" y="2423290"/>
            <a:ext cx="1368152" cy="574540"/>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grpSp>
        <p:nvGrpSpPr>
          <p:cNvPr id="29" name="组合 28">
            <a:extLst>
              <a:ext uri="{FF2B5EF4-FFF2-40B4-BE49-F238E27FC236}">
                <a16:creationId xmlns:a16="http://schemas.microsoft.com/office/drawing/2014/main" id="{A69B60D2-2A31-DD49-B4F9-12EC95FB235B}"/>
              </a:ext>
            </a:extLst>
          </p:cNvPr>
          <p:cNvGrpSpPr/>
          <p:nvPr/>
        </p:nvGrpSpPr>
        <p:grpSpPr>
          <a:xfrm>
            <a:off x="4018146" y="2500132"/>
            <a:ext cx="1046723" cy="411488"/>
            <a:chOff x="4035289" y="2500132"/>
            <a:chExt cx="1046723" cy="411488"/>
          </a:xfrm>
        </p:grpSpPr>
        <p:pic>
          <p:nvPicPr>
            <p:cNvPr id="40" name="图片 39">
              <a:extLst>
                <a:ext uri="{FF2B5EF4-FFF2-40B4-BE49-F238E27FC236}">
                  <a16:creationId xmlns:a16="http://schemas.microsoft.com/office/drawing/2014/main" id="{0A5E9E00-C2F3-BD45-9FC8-CAD24BA196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5289" y="2500132"/>
              <a:ext cx="278050" cy="411488"/>
            </a:xfrm>
            <a:prstGeom prst="rect">
              <a:avLst/>
            </a:prstGeom>
          </p:spPr>
        </p:pic>
        <p:sp>
          <p:nvSpPr>
            <p:cNvPr id="41" name="文本框 40">
              <a:extLst>
                <a:ext uri="{FF2B5EF4-FFF2-40B4-BE49-F238E27FC236}">
                  <a16:creationId xmlns:a16="http://schemas.microsoft.com/office/drawing/2014/main" id="{56B0AFA6-7B80-7D4F-A754-CBD717C25294}"/>
                </a:ext>
              </a:extLst>
            </p:cNvPr>
            <p:cNvSpPr txBox="1"/>
            <p:nvPr/>
          </p:nvSpPr>
          <p:spPr>
            <a:xfrm>
              <a:off x="4311409" y="2536599"/>
              <a:ext cx="770603" cy="338554"/>
            </a:xfrm>
            <a:prstGeom prst="rect">
              <a:avLst/>
            </a:prstGeom>
            <a:noFill/>
          </p:spPr>
          <p:txBody>
            <a:bodyPr wrap="square" lIns="0" rIns="0" rtlCol="0" anchor="ctr" anchorCtr="0">
              <a:noAutofit/>
            </a:bodyPr>
            <a:lstStyle/>
            <a:p>
              <a:pPr algn="ctr"/>
              <a:r>
                <a:rPr kumimoji="1" lang="en-US" altLang="zh-CN" sz="1200" dirty="0">
                  <a:latin typeface="+mn-ea"/>
                  <a:cs typeface="DengXian" charset="-122"/>
                </a:rPr>
                <a:t>(key</a:t>
              </a:r>
              <a:r>
                <a:rPr kumimoji="1" lang="zh-CN" altLang="en-US" sz="1200" dirty="0">
                  <a:latin typeface="+mn-ea"/>
                  <a:cs typeface="DengXian" charset="-122"/>
                </a:rPr>
                <a:t> </a:t>
              </a:r>
              <a:r>
                <a:rPr kumimoji="1" lang="en-US" altLang="zh-CN" sz="1200" dirty="0">
                  <a:latin typeface="+mn-ea"/>
                  <a:cs typeface="DengXian" charset="-122"/>
                </a:rPr>
                <a:t>=</a:t>
              </a:r>
              <a:r>
                <a:rPr kumimoji="1" lang="zh-CN" altLang="en-US" sz="1200" dirty="0">
                  <a:latin typeface="+mn-ea"/>
                  <a:cs typeface="DengXian" charset="-122"/>
                </a:rPr>
                <a:t> </a:t>
              </a:r>
              <a:r>
                <a:rPr kumimoji="1" lang="en-US" altLang="zh-CN" sz="1200" dirty="0">
                  <a:latin typeface="+mn-ea"/>
                  <a:cs typeface="DengXian" charset="-122"/>
                </a:rPr>
                <a:t>1)</a:t>
              </a:r>
              <a:endParaRPr kumimoji="1" lang="zh-CN" altLang="en-US" dirty="0">
                <a:latin typeface="+mn-ea"/>
                <a:cs typeface="DengXian" charset="-122"/>
              </a:endParaRPr>
            </a:p>
          </p:txBody>
        </p:sp>
      </p:grpSp>
      <p:cxnSp>
        <p:nvCxnSpPr>
          <p:cNvPr id="47" name="直线连接符 46">
            <a:extLst>
              <a:ext uri="{FF2B5EF4-FFF2-40B4-BE49-F238E27FC236}">
                <a16:creationId xmlns:a16="http://schemas.microsoft.com/office/drawing/2014/main" id="{E4A6E20A-7E75-B54E-8E45-F87580CB15A0}"/>
              </a:ext>
            </a:extLst>
          </p:cNvPr>
          <p:cNvCxnSpPr>
            <a:stCxn id="39" idx="3"/>
            <a:endCxn id="37" idx="1"/>
          </p:cNvCxnSpPr>
          <p:nvPr/>
        </p:nvCxnSpPr>
        <p:spPr>
          <a:xfrm>
            <a:off x="5225583" y="2710560"/>
            <a:ext cx="1650673" cy="1430155"/>
          </a:xfrm>
          <a:prstGeom prst="line">
            <a:avLst/>
          </a:prstGeom>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0" name="文本框 49">
            <a:extLst>
              <a:ext uri="{FF2B5EF4-FFF2-40B4-BE49-F238E27FC236}">
                <a16:creationId xmlns:a16="http://schemas.microsoft.com/office/drawing/2014/main" id="{0D76313E-80E7-B845-9418-52E2D23FEFE2}"/>
              </a:ext>
            </a:extLst>
          </p:cNvPr>
          <p:cNvSpPr txBox="1"/>
          <p:nvPr/>
        </p:nvSpPr>
        <p:spPr>
          <a:xfrm>
            <a:off x="5317786" y="1461278"/>
            <a:ext cx="1447456" cy="338554"/>
          </a:xfrm>
          <a:prstGeom prst="rect">
            <a:avLst/>
          </a:prstGeom>
          <a:noFill/>
        </p:spPr>
        <p:txBody>
          <a:bodyPr wrap="square" rtlCol="0">
            <a:spAutoFit/>
          </a:bodyPr>
          <a:lstStyle/>
          <a:p>
            <a:pPr algn="ctr"/>
            <a:r>
              <a:rPr kumimoji="1" lang="zh-CN" altLang="en-US" sz="1600" dirty="0">
                <a:latin typeface="+mn-ea"/>
                <a:cs typeface="DengXian" charset="-122"/>
              </a:rPr>
              <a:t>页表 </a:t>
            </a:r>
          </a:p>
        </p:txBody>
      </p:sp>
      <p:sp>
        <p:nvSpPr>
          <p:cNvPr id="52" name="文本框 51">
            <a:extLst>
              <a:ext uri="{FF2B5EF4-FFF2-40B4-BE49-F238E27FC236}">
                <a16:creationId xmlns:a16="http://schemas.microsoft.com/office/drawing/2014/main" id="{5365ECD2-18F0-1F4D-BEDE-C6313B67FF29}"/>
              </a:ext>
            </a:extLst>
          </p:cNvPr>
          <p:cNvSpPr txBox="1"/>
          <p:nvPr/>
        </p:nvSpPr>
        <p:spPr>
          <a:xfrm>
            <a:off x="885124" y="1461278"/>
            <a:ext cx="1447456" cy="338554"/>
          </a:xfrm>
          <a:prstGeom prst="rect">
            <a:avLst/>
          </a:prstGeom>
          <a:noFill/>
        </p:spPr>
        <p:txBody>
          <a:bodyPr wrap="square" rtlCol="0">
            <a:spAutoFit/>
          </a:bodyPr>
          <a:lstStyle/>
          <a:p>
            <a:pPr algn="ctr"/>
            <a:r>
              <a:rPr kumimoji="1" lang="zh-CN" altLang="en-US" sz="1600" b="1" dirty="0">
                <a:latin typeface="+mn-ea"/>
                <a:cs typeface="DengXian" charset="-122"/>
              </a:rPr>
              <a:t>特权级别</a:t>
            </a:r>
          </a:p>
        </p:txBody>
      </p:sp>
      <p:sp>
        <p:nvSpPr>
          <p:cNvPr id="53" name="矩形 52">
            <a:extLst>
              <a:ext uri="{FF2B5EF4-FFF2-40B4-BE49-F238E27FC236}">
                <a16:creationId xmlns:a16="http://schemas.microsoft.com/office/drawing/2014/main" id="{D0B5B83E-EFB6-A641-BF58-DBD8729C8947}"/>
              </a:ext>
            </a:extLst>
          </p:cNvPr>
          <p:cNvSpPr/>
          <p:nvPr/>
        </p:nvSpPr>
        <p:spPr>
          <a:xfrm>
            <a:off x="924776" y="2092955"/>
            <a:ext cx="1368152" cy="904869"/>
          </a:xfrm>
          <a:prstGeom prst="rect">
            <a:avLst/>
          </a:prstGeom>
          <a:solidFill>
            <a:srgbClr val="C8EFFD"/>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p>
            <a:pPr algn="ctr"/>
            <a:r>
              <a:rPr lang="zh-CN" altLang="en-US" sz="1600" dirty="0">
                <a:solidFill>
                  <a:schemeClr val="tx1"/>
                </a:solidFill>
                <a:latin typeface="+mn-ea"/>
              </a:rPr>
              <a:t>操作系统</a:t>
            </a:r>
          </a:p>
        </p:txBody>
      </p:sp>
      <p:sp>
        <p:nvSpPr>
          <p:cNvPr id="54" name="矩形 53">
            <a:extLst>
              <a:ext uri="{FF2B5EF4-FFF2-40B4-BE49-F238E27FC236}">
                <a16:creationId xmlns:a16="http://schemas.microsoft.com/office/drawing/2014/main" id="{08E7F340-1D9F-0347-AD5F-42C860988E1E}"/>
              </a:ext>
            </a:extLst>
          </p:cNvPr>
          <p:cNvSpPr/>
          <p:nvPr/>
        </p:nvSpPr>
        <p:spPr>
          <a:xfrm>
            <a:off x="924776" y="3450767"/>
            <a:ext cx="1368152" cy="402675"/>
          </a:xfrm>
          <a:prstGeom prst="rect">
            <a:avLst/>
          </a:prstGeom>
          <a:solidFill>
            <a:srgbClr val="FFC5DC"/>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dirty="0">
                <a:solidFill>
                  <a:schemeClr val="tx1"/>
                </a:solidFill>
                <a:latin typeface="+mn-ea"/>
              </a:rPr>
              <a:t>恶意应用</a:t>
            </a:r>
          </a:p>
        </p:txBody>
      </p:sp>
      <p:sp>
        <p:nvSpPr>
          <p:cNvPr id="55" name="矩形 54">
            <a:extLst>
              <a:ext uri="{FF2B5EF4-FFF2-40B4-BE49-F238E27FC236}">
                <a16:creationId xmlns:a16="http://schemas.microsoft.com/office/drawing/2014/main" id="{10903146-A065-9044-B612-1BC1F23DE3B5}"/>
              </a:ext>
            </a:extLst>
          </p:cNvPr>
          <p:cNvSpPr/>
          <p:nvPr/>
        </p:nvSpPr>
        <p:spPr>
          <a:xfrm>
            <a:off x="924776" y="4025310"/>
            <a:ext cx="1368152" cy="402675"/>
          </a:xfrm>
          <a:prstGeom prst="rect">
            <a:avLst/>
          </a:prstGeom>
          <a:solidFill>
            <a:schemeClr val="bg1"/>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dirty="0">
                <a:solidFill>
                  <a:schemeClr val="tx1"/>
                </a:solidFill>
                <a:latin typeface="+mn-ea"/>
              </a:rPr>
              <a:t>应用</a:t>
            </a:r>
          </a:p>
        </p:txBody>
      </p:sp>
      <p:sp>
        <p:nvSpPr>
          <p:cNvPr id="58" name="文本框 57">
            <a:extLst>
              <a:ext uri="{FF2B5EF4-FFF2-40B4-BE49-F238E27FC236}">
                <a16:creationId xmlns:a16="http://schemas.microsoft.com/office/drawing/2014/main" id="{FD1A7533-FBE6-E54C-AD25-16530CCE7B1B}"/>
              </a:ext>
            </a:extLst>
          </p:cNvPr>
          <p:cNvSpPr txBox="1"/>
          <p:nvPr/>
        </p:nvSpPr>
        <p:spPr>
          <a:xfrm>
            <a:off x="179512" y="2806978"/>
            <a:ext cx="720080" cy="307777"/>
          </a:xfrm>
          <a:prstGeom prst="rect">
            <a:avLst/>
          </a:prstGeom>
          <a:noFill/>
        </p:spPr>
        <p:txBody>
          <a:bodyPr wrap="square" rtlCol="0">
            <a:spAutoFit/>
          </a:bodyPr>
          <a:lstStyle/>
          <a:p>
            <a:pPr algn="ctr"/>
            <a:r>
              <a:rPr kumimoji="1" lang="zh-CN" altLang="en-US" sz="1400" dirty="0">
                <a:latin typeface="+mn-ea"/>
                <a:cs typeface="DengXian" charset="-122"/>
              </a:rPr>
              <a:t>内核态</a:t>
            </a:r>
          </a:p>
        </p:txBody>
      </p:sp>
      <p:sp>
        <p:nvSpPr>
          <p:cNvPr id="60" name="文本框 59">
            <a:extLst>
              <a:ext uri="{FF2B5EF4-FFF2-40B4-BE49-F238E27FC236}">
                <a16:creationId xmlns:a16="http://schemas.microsoft.com/office/drawing/2014/main" id="{50833DD7-048D-5848-A209-B98A2916946E}"/>
              </a:ext>
            </a:extLst>
          </p:cNvPr>
          <p:cNvSpPr txBox="1"/>
          <p:nvPr/>
        </p:nvSpPr>
        <p:spPr>
          <a:xfrm>
            <a:off x="179512" y="3249407"/>
            <a:ext cx="720080" cy="307777"/>
          </a:xfrm>
          <a:prstGeom prst="rect">
            <a:avLst/>
          </a:prstGeom>
          <a:noFill/>
        </p:spPr>
        <p:txBody>
          <a:bodyPr wrap="square" rtlCol="0">
            <a:spAutoFit/>
          </a:bodyPr>
          <a:lstStyle/>
          <a:p>
            <a:pPr algn="ctr"/>
            <a:r>
              <a:rPr kumimoji="1" lang="zh-CN" altLang="en-US" sz="1400" dirty="0">
                <a:latin typeface="+mn-ea"/>
                <a:cs typeface="DengXian" charset="-122"/>
              </a:rPr>
              <a:t>用户态</a:t>
            </a:r>
          </a:p>
        </p:txBody>
      </p:sp>
      <p:sp>
        <p:nvSpPr>
          <p:cNvPr id="62" name="矩形 61">
            <a:extLst>
              <a:ext uri="{FF2B5EF4-FFF2-40B4-BE49-F238E27FC236}">
                <a16:creationId xmlns:a16="http://schemas.microsoft.com/office/drawing/2014/main" id="{7004183E-010A-B24A-87C9-D305FA922C48}"/>
              </a:ext>
            </a:extLst>
          </p:cNvPr>
          <p:cNvSpPr/>
          <p:nvPr/>
        </p:nvSpPr>
        <p:spPr>
          <a:xfrm>
            <a:off x="921295" y="4599853"/>
            <a:ext cx="1368152" cy="402675"/>
          </a:xfrm>
          <a:prstGeom prst="rect">
            <a:avLst/>
          </a:prstGeom>
          <a:solidFill>
            <a:schemeClr val="bg1"/>
          </a:solidFill>
          <a:effectLst>
            <a:outerShdw blurRad="63500" sx="102000" sy="102000" algn="ctr"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lIns="0" tIns="0" rIns="0" bIns="0" rtlCol="0" anchor="ctr"/>
          <a:lstStyle>
            <a:defPPr>
              <a:defRPr lang="zh-CN"/>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zh-CN" altLang="en-US" sz="1600" dirty="0">
                <a:solidFill>
                  <a:schemeClr val="tx1"/>
                </a:solidFill>
                <a:latin typeface="+mn-ea"/>
              </a:rPr>
              <a:t>应用</a:t>
            </a:r>
          </a:p>
        </p:txBody>
      </p:sp>
      <p:cxnSp>
        <p:nvCxnSpPr>
          <p:cNvPr id="64" name="直线箭头连接符 63">
            <a:extLst>
              <a:ext uri="{FF2B5EF4-FFF2-40B4-BE49-F238E27FC236}">
                <a16:creationId xmlns:a16="http://schemas.microsoft.com/office/drawing/2014/main" id="{B698FA99-702C-5A4E-8A7F-44A9D6DC0389}"/>
              </a:ext>
            </a:extLst>
          </p:cNvPr>
          <p:cNvCxnSpPr>
            <a:cxnSpLocks/>
            <a:stCxn id="54" idx="3"/>
          </p:cNvCxnSpPr>
          <p:nvPr/>
        </p:nvCxnSpPr>
        <p:spPr>
          <a:xfrm flipV="1">
            <a:off x="2292928" y="2609286"/>
            <a:ext cx="1564503" cy="1042819"/>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5" name="文本框 64">
            <a:extLst>
              <a:ext uri="{FF2B5EF4-FFF2-40B4-BE49-F238E27FC236}">
                <a16:creationId xmlns:a16="http://schemas.microsoft.com/office/drawing/2014/main" id="{49AB8AB1-F820-EB4E-8902-F220E0DB8C03}"/>
              </a:ext>
            </a:extLst>
          </p:cNvPr>
          <p:cNvSpPr txBox="1"/>
          <p:nvPr/>
        </p:nvSpPr>
        <p:spPr>
          <a:xfrm rot="19560000">
            <a:off x="2300901" y="2682041"/>
            <a:ext cx="1159623" cy="477054"/>
          </a:xfrm>
          <a:prstGeom prst="rect">
            <a:avLst/>
          </a:prstGeom>
          <a:noFill/>
        </p:spPr>
        <p:txBody>
          <a:bodyPr wrap="square" rtlCol="0">
            <a:spAutoFit/>
          </a:bodyPr>
          <a:lstStyle/>
          <a:p>
            <a:pPr algn="ctr"/>
            <a:r>
              <a:rPr kumimoji="1" lang="en-US" altLang="zh-CN" sz="1400" dirty="0">
                <a:latin typeface="+mn-ea"/>
                <a:cs typeface="DengXian" charset="-122"/>
              </a:rPr>
              <a:t>access</a:t>
            </a:r>
            <a:r>
              <a:rPr kumimoji="1" lang="zh-CN" altLang="en-US" sz="1400" dirty="0">
                <a:latin typeface="+mn-ea"/>
                <a:cs typeface="DengXian" charset="-122"/>
              </a:rPr>
              <a:t> </a:t>
            </a:r>
            <a:r>
              <a:rPr kumimoji="1" lang="en-US" altLang="zh-CN" sz="1400" b="1" dirty="0">
                <a:solidFill>
                  <a:srgbClr val="FF2F92"/>
                </a:solidFill>
                <a:latin typeface="+mn-ea"/>
                <a:cs typeface="DengXian" charset="-122"/>
              </a:rPr>
              <a:t>key</a:t>
            </a:r>
          </a:p>
          <a:p>
            <a:pPr algn="ctr"/>
            <a:r>
              <a:rPr kumimoji="1" lang="zh-CN" altLang="en-US" sz="1100" dirty="0">
                <a:latin typeface="+mn-ea"/>
                <a:cs typeface="DengXian" charset="-122"/>
              </a:rPr>
              <a:t>（</a:t>
            </a:r>
            <a:r>
              <a:rPr kumimoji="1" lang="en-US" altLang="zh-CN" sz="1100" dirty="0">
                <a:latin typeface="+mn-ea"/>
                <a:cs typeface="DengXian" charset="-122"/>
              </a:rPr>
              <a:t>user</a:t>
            </a:r>
            <a:r>
              <a:rPr kumimoji="1" lang="zh-CN" altLang="en-US" sz="1100" dirty="0">
                <a:latin typeface="+mn-ea"/>
                <a:cs typeface="DengXian" charset="-122"/>
              </a:rPr>
              <a:t> </a:t>
            </a:r>
            <a:r>
              <a:rPr kumimoji="1" lang="en-US" altLang="zh-CN" sz="1100" dirty="0">
                <a:latin typeface="+mn-ea"/>
                <a:cs typeface="DengXian" charset="-122"/>
              </a:rPr>
              <a:t>bit</a:t>
            </a:r>
            <a:r>
              <a:rPr kumimoji="1" lang="zh-CN" altLang="en-US" sz="1100" dirty="0">
                <a:latin typeface="+mn-ea"/>
                <a:cs typeface="DengXian" charset="-122"/>
              </a:rPr>
              <a:t> </a:t>
            </a:r>
            <a:r>
              <a:rPr kumimoji="1" lang="en-US" altLang="zh-CN" sz="1100" dirty="0">
                <a:latin typeface="+mn-ea"/>
                <a:cs typeface="DengXian" charset="-122"/>
              </a:rPr>
              <a:t>=</a:t>
            </a:r>
            <a:r>
              <a:rPr kumimoji="1" lang="zh-CN" altLang="en-US" sz="1100" dirty="0">
                <a:latin typeface="+mn-ea"/>
                <a:cs typeface="DengXian" charset="-122"/>
              </a:rPr>
              <a:t> </a:t>
            </a:r>
            <a:r>
              <a:rPr kumimoji="1" lang="en-US" altLang="zh-CN" sz="1100" dirty="0">
                <a:latin typeface="+mn-ea"/>
                <a:cs typeface="DengXian" charset="-122"/>
              </a:rPr>
              <a:t>1)</a:t>
            </a:r>
            <a:endParaRPr kumimoji="1" lang="zh-CN" altLang="en-US" sz="1100" dirty="0">
              <a:latin typeface="+mn-ea"/>
              <a:cs typeface="DengXian" charset="-122"/>
            </a:endParaRPr>
          </a:p>
        </p:txBody>
      </p:sp>
      <p:sp>
        <p:nvSpPr>
          <p:cNvPr id="66" name="文本框 65">
            <a:extLst>
              <a:ext uri="{FF2B5EF4-FFF2-40B4-BE49-F238E27FC236}">
                <a16:creationId xmlns:a16="http://schemas.microsoft.com/office/drawing/2014/main" id="{00857A1E-0873-A242-BE1C-6B2289D775A6}"/>
              </a:ext>
            </a:extLst>
          </p:cNvPr>
          <p:cNvSpPr txBox="1"/>
          <p:nvPr/>
        </p:nvSpPr>
        <p:spPr>
          <a:xfrm>
            <a:off x="5501261" y="2412295"/>
            <a:ext cx="1084388" cy="449961"/>
          </a:xfrm>
          <a:prstGeom prst="rect">
            <a:avLst/>
          </a:prstGeom>
          <a:solidFill>
            <a:schemeClr val="bg1"/>
          </a:solidFill>
        </p:spPr>
        <p:txBody>
          <a:bodyPr wrap="square" lIns="0" tIns="0" rIns="0" bIns="0" rtlCol="0" anchor="ctr" anchorCtr="0">
            <a:noAutofit/>
          </a:bodyPr>
          <a:lstStyle/>
          <a:p>
            <a:pPr algn="ctr"/>
            <a:r>
              <a:rPr kumimoji="1" lang="en-US" altLang="zh-CN" sz="1400" b="1" dirty="0">
                <a:solidFill>
                  <a:srgbClr val="C00000"/>
                </a:solidFill>
                <a:cs typeface="DengXian" charset="-122"/>
              </a:rPr>
              <a:t>Permission</a:t>
            </a:r>
            <a:r>
              <a:rPr kumimoji="1" lang="zh-CN" altLang="en-US" sz="1400" b="1" dirty="0">
                <a:solidFill>
                  <a:srgbClr val="C00000"/>
                </a:solidFill>
                <a:cs typeface="DengXian" charset="-122"/>
              </a:rPr>
              <a:t> </a:t>
            </a:r>
            <a:endParaRPr kumimoji="1" lang="en-US" altLang="zh-CN" sz="1400" b="1" dirty="0">
              <a:solidFill>
                <a:srgbClr val="C00000"/>
              </a:solidFill>
              <a:cs typeface="DengXian" charset="-122"/>
            </a:endParaRPr>
          </a:p>
          <a:p>
            <a:pPr algn="ctr"/>
            <a:r>
              <a:rPr kumimoji="1" lang="en-US" altLang="zh-CN" sz="1400" b="1" dirty="0">
                <a:solidFill>
                  <a:srgbClr val="C00000"/>
                </a:solidFill>
                <a:cs typeface="DengXian" charset="-122"/>
              </a:rPr>
              <a:t>Check</a:t>
            </a:r>
            <a:r>
              <a:rPr kumimoji="1" lang="zh-CN" altLang="en-US" sz="1400" b="1" dirty="0">
                <a:solidFill>
                  <a:srgbClr val="C00000"/>
                </a:solidFill>
                <a:cs typeface="DengXian" charset="-122"/>
              </a:rPr>
              <a:t> </a:t>
            </a:r>
            <a:r>
              <a:rPr kumimoji="1" lang="zh-CN" altLang="en-US" b="1" dirty="0">
                <a:solidFill>
                  <a:srgbClr val="C00000"/>
                </a:solidFill>
                <a:cs typeface="DengXian" charset="-122"/>
              </a:rPr>
              <a:t>✗</a:t>
            </a:r>
            <a:endParaRPr kumimoji="1" lang="zh-CN" altLang="en-US" sz="500" b="1" dirty="0">
              <a:solidFill>
                <a:srgbClr val="C00000"/>
              </a:solidFill>
              <a:cs typeface="DengXian" charset="-122"/>
            </a:endParaRPr>
          </a:p>
        </p:txBody>
      </p:sp>
      <p:sp>
        <p:nvSpPr>
          <p:cNvPr id="69" name="矩形 68">
            <a:extLst>
              <a:ext uri="{FF2B5EF4-FFF2-40B4-BE49-F238E27FC236}">
                <a16:creationId xmlns:a16="http://schemas.microsoft.com/office/drawing/2014/main" id="{27A46A72-D316-2E48-885B-F2027BC0584A}"/>
              </a:ext>
            </a:extLst>
          </p:cNvPr>
          <p:cNvSpPr/>
          <p:nvPr/>
        </p:nvSpPr>
        <p:spPr>
          <a:xfrm>
            <a:off x="5021283" y="3344666"/>
            <a:ext cx="2071013" cy="280603"/>
          </a:xfrm>
          <a:prstGeom prst="rect">
            <a:avLst/>
          </a:prstGeom>
          <a:solidFill>
            <a:schemeClr val="bg1"/>
          </a:solidFill>
          <a:ln>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p>
        </p:txBody>
      </p:sp>
      <p:sp>
        <p:nvSpPr>
          <p:cNvPr id="71" name="矩形 70">
            <a:extLst>
              <a:ext uri="{FF2B5EF4-FFF2-40B4-BE49-F238E27FC236}">
                <a16:creationId xmlns:a16="http://schemas.microsoft.com/office/drawing/2014/main" id="{1FAAEEAF-45AB-834C-B103-9B4FC4DF1B6B}"/>
              </a:ext>
            </a:extLst>
          </p:cNvPr>
          <p:cNvSpPr/>
          <p:nvPr/>
        </p:nvSpPr>
        <p:spPr>
          <a:xfrm>
            <a:off x="5024016" y="3339939"/>
            <a:ext cx="137834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1400" dirty="0">
                <a:solidFill>
                  <a:schemeClr val="tx1"/>
                </a:solidFill>
              </a:rPr>
              <a:t>0xbeef0</a:t>
            </a:r>
            <a:endParaRPr kumimoji="1" lang="zh-CN" altLang="en-US" sz="1400" dirty="0">
              <a:solidFill>
                <a:schemeClr val="tx1"/>
              </a:solidFill>
            </a:endParaRPr>
          </a:p>
        </p:txBody>
      </p:sp>
      <p:sp>
        <p:nvSpPr>
          <p:cNvPr id="74" name="矩形 73">
            <a:extLst>
              <a:ext uri="{FF2B5EF4-FFF2-40B4-BE49-F238E27FC236}">
                <a16:creationId xmlns:a16="http://schemas.microsoft.com/office/drawing/2014/main" id="{6E59F55C-1F34-944B-89B9-D130D8A12D58}"/>
              </a:ext>
            </a:extLst>
          </p:cNvPr>
          <p:cNvSpPr/>
          <p:nvPr/>
        </p:nvSpPr>
        <p:spPr>
          <a:xfrm>
            <a:off x="6402356" y="3344121"/>
            <a:ext cx="264582"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400" dirty="0">
                <a:solidFill>
                  <a:schemeClr val="tx1"/>
                </a:solidFill>
              </a:rPr>
              <a:t>…</a:t>
            </a:r>
            <a:endParaRPr kumimoji="1" lang="zh-CN" altLang="en-US" sz="1400" dirty="0">
              <a:solidFill>
                <a:schemeClr val="tx1"/>
              </a:solidFill>
            </a:endParaRPr>
          </a:p>
        </p:txBody>
      </p:sp>
      <p:sp>
        <p:nvSpPr>
          <p:cNvPr id="76" name="矩形 75">
            <a:extLst>
              <a:ext uri="{FF2B5EF4-FFF2-40B4-BE49-F238E27FC236}">
                <a16:creationId xmlns:a16="http://schemas.microsoft.com/office/drawing/2014/main" id="{F73BEDEE-EB96-D645-94CE-ADA2284E2A37}"/>
              </a:ext>
            </a:extLst>
          </p:cNvPr>
          <p:cNvSpPr/>
          <p:nvPr/>
        </p:nvSpPr>
        <p:spPr>
          <a:xfrm>
            <a:off x="6666938" y="3344121"/>
            <a:ext cx="14400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400" dirty="0">
                <a:solidFill>
                  <a:schemeClr val="tx1"/>
                </a:solidFill>
              </a:rPr>
              <a:t>0</a:t>
            </a:r>
            <a:endParaRPr kumimoji="1" lang="zh-CN" altLang="en-US" sz="1400" dirty="0">
              <a:solidFill>
                <a:schemeClr val="tx1"/>
              </a:solidFill>
            </a:endParaRPr>
          </a:p>
        </p:txBody>
      </p:sp>
      <p:sp>
        <p:nvSpPr>
          <p:cNvPr id="79" name="矩形 78">
            <a:extLst>
              <a:ext uri="{FF2B5EF4-FFF2-40B4-BE49-F238E27FC236}">
                <a16:creationId xmlns:a16="http://schemas.microsoft.com/office/drawing/2014/main" id="{AD1BC875-824C-3045-9103-F4BFA10089F6}"/>
              </a:ext>
            </a:extLst>
          </p:cNvPr>
          <p:cNvSpPr/>
          <p:nvPr/>
        </p:nvSpPr>
        <p:spPr>
          <a:xfrm>
            <a:off x="6810938" y="3344121"/>
            <a:ext cx="14400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kumimoji="1" lang="zh-CN" altLang="en-US" sz="1400" dirty="0">
              <a:solidFill>
                <a:schemeClr val="tx1"/>
              </a:solidFill>
            </a:endParaRPr>
          </a:p>
        </p:txBody>
      </p:sp>
      <p:sp>
        <p:nvSpPr>
          <p:cNvPr id="80" name="矩形 79">
            <a:extLst>
              <a:ext uri="{FF2B5EF4-FFF2-40B4-BE49-F238E27FC236}">
                <a16:creationId xmlns:a16="http://schemas.microsoft.com/office/drawing/2014/main" id="{CD6167DB-9D55-C747-8BBE-5E8E7C027CBC}"/>
              </a:ext>
            </a:extLst>
          </p:cNvPr>
          <p:cNvSpPr/>
          <p:nvPr/>
        </p:nvSpPr>
        <p:spPr>
          <a:xfrm>
            <a:off x="6954938" y="3344121"/>
            <a:ext cx="144000" cy="28060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kumimoji="1" lang="zh-CN" altLang="en-US" sz="1400" dirty="0">
              <a:solidFill>
                <a:schemeClr val="tx1"/>
              </a:solidFill>
            </a:endParaRPr>
          </a:p>
        </p:txBody>
      </p:sp>
      <p:sp>
        <p:nvSpPr>
          <p:cNvPr id="81" name="文本框 80">
            <a:extLst>
              <a:ext uri="{FF2B5EF4-FFF2-40B4-BE49-F238E27FC236}">
                <a16:creationId xmlns:a16="http://schemas.microsoft.com/office/drawing/2014/main" id="{8464B6BE-792D-BE44-BA53-02F7573ABB79}"/>
              </a:ext>
            </a:extLst>
          </p:cNvPr>
          <p:cNvSpPr txBox="1"/>
          <p:nvPr/>
        </p:nvSpPr>
        <p:spPr>
          <a:xfrm>
            <a:off x="6073431" y="2971468"/>
            <a:ext cx="755630" cy="251193"/>
          </a:xfrm>
          <a:prstGeom prst="rect">
            <a:avLst/>
          </a:prstGeom>
          <a:solidFill>
            <a:schemeClr val="bg1"/>
          </a:solidFill>
        </p:spPr>
        <p:txBody>
          <a:bodyPr wrap="square" tIns="0" bIns="0" rtlCol="0" anchor="ctr" anchorCtr="0">
            <a:noAutofit/>
          </a:bodyPr>
          <a:lstStyle/>
          <a:p>
            <a:pPr algn="ctr">
              <a:lnSpc>
                <a:spcPct val="150000"/>
              </a:lnSpc>
            </a:pPr>
            <a:r>
              <a:rPr kumimoji="1" lang="en-US" altLang="zh-CN" sz="1200" dirty="0">
                <a:latin typeface="+mn-ea"/>
                <a:cs typeface="DengXian" charset="-122"/>
              </a:rPr>
              <a:t>User</a:t>
            </a:r>
            <a:r>
              <a:rPr kumimoji="1" lang="zh-CN" altLang="en-US" sz="1200" dirty="0">
                <a:latin typeface="+mn-ea"/>
                <a:cs typeface="DengXian" charset="-122"/>
              </a:rPr>
              <a:t> </a:t>
            </a:r>
            <a:r>
              <a:rPr kumimoji="1" lang="en-US" altLang="zh-CN" sz="1200" dirty="0">
                <a:latin typeface="+mn-ea"/>
                <a:cs typeface="DengXian" charset="-122"/>
              </a:rPr>
              <a:t>Bit</a:t>
            </a:r>
            <a:endParaRPr kumimoji="1" lang="zh-CN" altLang="en-US" sz="1200" dirty="0">
              <a:latin typeface="+mn-ea"/>
              <a:cs typeface="DengXian" charset="-122"/>
            </a:endParaRPr>
          </a:p>
        </p:txBody>
      </p:sp>
      <p:sp>
        <p:nvSpPr>
          <p:cNvPr id="83" name="文本框 82">
            <a:extLst>
              <a:ext uri="{FF2B5EF4-FFF2-40B4-BE49-F238E27FC236}">
                <a16:creationId xmlns:a16="http://schemas.microsoft.com/office/drawing/2014/main" id="{1D7AD9AA-F9C6-BE42-88EF-6E9AE63006AC}"/>
              </a:ext>
            </a:extLst>
          </p:cNvPr>
          <p:cNvSpPr txBox="1"/>
          <p:nvPr/>
        </p:nvSpPr>
        <p:spPr>
          <a:xfrm>
            <a:off x="8231707" y="3726926"/>
            <a:ext cx="973202" cy="239790"/>
          </a:xfrm>
          <a:prstGeom prst="rect">
            <a:avLst/>
          </a:prstGeom>
          <a:noFill/>
        </p:spPr>
        <p:txBody>
          <a:bodyPr wrap="square" lIns="0" rIns="0" rtlCol="0" anchor="ctr" anchorCtr="0">
            <a:noAutofit/>
          </a:bodyPr>
          <a:lstStyle/>
          <a:p>
            <a:pPr algn="ctr">
              <a:lnSpc>
                <a:spcPct val="150000"/>
              </a:lnSpc>
            </a:pPr>
            <a:r>
              <a:rPr kumimoji="1" lang="en-US" altLang="zh-CN" sz="1200" dirty="0">
                <a:latin typeface="+mn-ea"/>
                <a:cs typeface="DengXian" charset="-122"/>
              </a:rPr>
              <a:t>0xbeef0000</a:t>
            </a:r>
            <a:endParaRPr kumimoji="1" lang="zh-CN" altLang="en-US" sz="1200" dirty="0">
              <a:latin typeface="+mn-ea"/>
              <a:cs typeface="DengXian" charset="-122"/>
            </a:endParaRPr>
          </a:p>
        </p:txBody>
      </p:sp>
      <p:sp>
        <p:nvSpPr>
          <p:cNvPr id="84" name="文本框 83">
            <a:extLst>
              <a:ext uri="{FF2B5EF4-FFF2-40B4-BE49-F238E27FC236}">
                <a16:creationId xmlns:a16="http://schemas.microsoft.com/office/drawing/2014/main" id="{9CB8466E-DB78-EB46-8094-7E2534696F70}"/>
              </a:ext>
            </a:extLst>
          </p:cNvPr>
          <p:cNvSpPr txBox="1"/>
          <p:nvPr/>
        </p:nvSpPr>
        <p:spPr>
          <a:xfrm>
            <a:off x="5268093" y="3884838"/>
            <a:ext cx="1173504" cy="380088"/>
          </a:xfrm>
          <a:prstGeom prst="rect">
            <a:avLst/>
          </a:prstGeom>
          <a:noFill/>
        </p:spPr>
        <p:txBody>
          <a:bodyPr wrap="square" tIns="0" bIns="0" rtlCol="0" anchor="ctr" anchorCtr="0">
            <a:noAutofit/>
          </a:bodyPr>
          <a:lstStyle/>
          <a:p>
            <a:pPr algn="ctr"/>
            <a:r>
              <a:rPr kumimoji="1" lang="en-US" altLang="zh-CN" sz="1200" dirty="0">
                <a:latin typeface="+mn-ea"/>
                <a:cs typeface="DengXian" charset="-122"/>
              </a:rPr>
              <a:t>Physical</a:t>
            </a:r>
            <a:r>
              <a:rPr kumimoji="1" lang="zh-CN" altLang="en-US" sz="1200" dirty="0">
                <a:latin typeface="+mn-ea"/>
                <a:cs typeface="DengXian" charset="-122"/>
              </a:rPr>
              <a:t> </a:t>
            </a:r>
            <a:r>
              <a:rPr kumimoji="1" lang="en-US" altLang="zh-CN" sz="1200" dirty="0">
                <a:latin typeface="+mn-ea"/>
                <a:cs typeface="DengXian" charset="-122"/>
              </a:rPr>
              <a:t>Page</a:t>
            </a:r>
            <a:r>
              <a:rPr kumimoji="1" lang="zh-CN" altLang="en-US" sz="1200" dirty="0">
                <a:latin typeface="+mn-ea"/>
                <a:cs typeface="DengXian" charset="-122"/>
              </a:rPr>
              <a:t> </a:t>
            </a:r>
            <a:r>
              <a:rPr kumimoji="1" lang="en-US" altLang="zh-CN" sz="1200" dirty="0">
                <a:latin typeface="+mn-ea"/>
                <a:cs typeface="DengXian" charset="-122"/>
              </a:rPr>
              <a:t>Number</a:t>
            </a:r>
            <a:endParaRPr kumimoji="1" lang="zh-CN" altLang="en-US" sz="1200" dirty="0">
              <a:latin typeface="+mn-ea"/>
              <a:cs typeface="DengXian" charset="-122"/>
            </a:endParaRPr>
          </a:p>
        </p:txBody>
      </p:sp>
      <p:cxnSp>
        <p:nvCxnSpPr>
          <p:cNvPr id="86" name="直线连接符 85">
            <a:extLst>
              <a:ext uri="{FF2B5EF4-FFF2-40B4-BE49-F238E27FC236}">
                <a16:creationId xmlns:a16="http://schemas.microsoft.com/office/drawing/2014/main" id="{2D79327D-56E4-244E-9209-97AAEA118264}"/>
              </a:ext>
            </a:extLst>
          </p:cNvPr>
          <p:cNvCxnSpPr>
            <a:cxnSpLocks/>
            <a:stCxn id="81" idx="2"/>
            <a:endCxn id="76" idx="0"/>
          </p:cNvCxnSpPr>
          <p:nvPr/>
        </p:nvCxnSpPr>
        <p:spPr>
          <a:xfrm>
            <a:off x="6451246" y="3222661"/>
            <a:ext cx="287692" cy="12146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直线连接符 87">
            <a:extLst>
              <a:ext uri="{FF2B5EF4-FFF2-40B4-BE49-F238E27FC236}">
                <a16:creationId xmlns:a16="http://schemas.microsoft.com/office/drawing/2014/main" id="{AB40B3A7-6980-6642-8CB4-621F29642ED1}"/>
              </a:ext>
            </a:extLst>
          </p:cNvPr>
          <p:cNvCxnSpPr>
            <a:cxnSpLocks/>
            <a:stCxn id="84" idx="0"/>
            <a:endCxn id="71" idx="2"/>
          </p:cNvCxnSpPr>
          <p:nvPr/>
        </p:nvCxnSpPr>
        <p:spPr>
          <a:xfrm flipH="1" flipV="1">
            <a:off x="5713186" y="3620542"/>
            <a:ext cx="141659" cy="26429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03" name="直线箭头连接符 102">
            <a:extLst>
              <a:ext uri="{FF2B5EF4-FFF2-40B4-BE49-F238E27FC236}">
                <a16:creationId xmlns:a16="http://schemas.microsoft.com/office/drawing/2014/main" id="{150BE223-6EB3-B245-B073-EAAF5246203D}"/>
              </a:ext>
            </a:extLst>
          </p:cNvPr>
          <p:cNvCxnSpPr>
            <a:cxnSpLocks/>
          </p:cNvCxnSpPr>
          <p:nvPr/>
        </p:nvCxnSpPr>
        <p:spPr>
          <a:xfrm flipV="1">
            <a:off x="2332580" y="2857500"/>
            <a:ext cx="1524851" cy="995942"/>
          </a:xfrm>
          <a:prstGeom prst="straightConnector1">
            <a:avLst/>
          </a:prstGeom>
          <a:ln w="25400">
            <a:solidFill>
              <a:schemeClr val="tx1"/>
            </a:solidFill>
            <a:headEnd type="triangle" w="med" len="med"/>
            <a:tailEnd type="none"/>
          </a:ln>
        </p:spPr>
        <p:style>
          <a:lnRef idx="1">
            <a:schemeClr val="accent1"/>
          </a:lnRef>
          <a:fillRef idx="0">
            <a:schemeClr val="accent1"/>
          </a:fillRef>
          <a:effectRef idx="0">
            <a:schemeClr val="accent1"/>
          </a:effectRef>
          <a:fontRef idx="minor">
            <a:schemeClr val="tx1"/>
          </a:fontRef>
        </p:style>
      </p:cxnSp>
      <p:sp>
        <p:nvSpPr>
          <p:cNvPr id="104" name="文本框 103">
            <a:extLst>
              <a:ext uri="{FF2B5EF4-FFF2-40B4-BE49-F238E27FC236}">
                <a16:creationId xmlns:a16="http://schemas.microsoft.com/office/drawing/2014/main" id="{35303BB9-2775-CE44-8984-0AB8BF94378F}"/>
              </a:ext>
            </a:extLst>
          </p:cNvPr>
          <p:cNvSpPr txBox="1"/>
          <p:nvPr/>
        </p:nvSpPr>
        <p:spPr>
          <a:xfrm rot="19560000">
            <a:off x="2689234" y="3286770"/>
            <a:ext cx="1159623" cy="307777"/>
          </a:xfrm>
          <a:prstGeom prst="rect">
            <a:avLst/>
          </a:prstGeom>
          <a:noFill/>
        </p:spPr>
        <p:txBody>
          <a:bodyPr wrap="square" rtlCol="0">
            <a:spAutoFit/>
          </a:bodyPr>
          <a:lstStyle/>
          <a:p>
            <a:pPr algn="ctr"/>
            <a:r>
              <a:rPr kumimoji="1" lang="en-US" altLang="zh-CN" sz="1400" dirty="0">
                <a:solidFill>
                  <a:srgbClr val="C00000"/>
                </a:solidFill>
                <a:latin typeface="+mn-ea"/>
                <a:cs typeface="DengXian" charset="-122"/>
              </a:rPr>
              <a:t>Exception</a:t>
            </a:r>
            <a:endParaRPr kumimoji="1" lang="zh-CN" altLang="en-US" sz="1100" dirty="0">
              <a:solidFill>
                <a:srgbClr val="C00000"/>
              </a:solidFill>
              <a:latin typeface="+mn-ea"/>
              <a:cs typeface="DengXian" charset="-122"/>
            </a:endParaRPr>
          </a:p>
        </p:txBody>
      </p:sp>
    </p:spTree>
    <p:extLst>
      <p:ext uri="{BB962C8B-B14F-4D97-AF65-F5344CB8AC3E}">
        <p14:creationId xmlns:p14="http://schemas.microsoft.com/office/powerpoint/2010/main" val="4066245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wipe(left)">
                                      <p:cBhvr>
                                        <p:cTn id="7" dur="500"/>
                                        <p:tgtEl>
                                          <p:spTgt spid="64"/>
                                        </p:tgtEl>
                                      </p:cBhvr>
                                    </p:animEffect>
                                  </p:childTnLst>
                                </p:cTn>
                              </p:par>
                            </p:childTnLst>
                          </p:cTn>
                        </p:par>
                        <p:par>
                          <p:cTn id="8" fill="hold">
                            <p:stCondLst>
                              <p:cond delay="500"/>
                            </p:stCondLst>
                            <p:childTnLst>
                              <p:par>
                                <p:cTn id="9" presetID="1" presetClass="entr" presetSubtype="0" fill="hold" grpId="0" nodeType="after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mph" presetSubtype="2" fill="hold" grpId="0" nodeType="clickEffect">
                                  <p:stCondLst>
                                    <p:cond delay="0"/>
                                  </p:stCondLst>
                                  <p:childTnLst>
                                    <p:animClr clrSpc="rgb" dir="cw">
                                      <p:cBhvr override="childStyle">
                                        <p:cTn id="14" dur="500" fill="hold"/>
                                        <p:tgtEl>
                                          <p:spTgt spid="81"/>
                                        </p:tgtEl>
                                        <p:attrNameLst>
                                          <p:attrName>style.color</p:attrName>
                                        </p:attrNameLst>
                                      </p:cBhvr>
                                      <p:to>
                                        <a:srgbClr val="C00000"/>
                                      </p:to>
                                    </p:animClr>
                                  </p:childTnLst>
                                </p:cTn>
                              </p:par>
                              <p:par>
                                <p:cTn id="15" presetID="3" presetClass="emph" presetSubtype="2" fill="hold" grpId="0" nodeType="withEffect">
                                  <p:stCondLst>
                                    <p:cond delay="0"/>
                                  </p:stCondLst>
                                  <p:childTnLst>
                                    <p:animClr clrSpc="rgb" dir="cw">
                                      <p:cBhvr override="childStyle">
                                        <p:cTn id="16" dur="500" fill="hold"/>
                                        <p:tgtEl>
                                          <p:spTgt spid="76"/>
                                        </p:tgtEl>
                                        <p:attrNameLst>
                                          <p:attrName>style.color</p:attrName>
                                        </p:attrNameLst>
                                      </p:cBhvr>
                                      <p:to>
                                        <a:srgbClr val="C00000"/>
                                      </p:to>
                                    </p:animClr>
                                  </p:childTnLst>
                                </p:cTn>
                              </p:par>
                              <p:par>
                                <p:cTn id="17" presetID="1" presetClass="entr" presetSubtype="0" fill="hold" grpId="0" nodeType="withEffect">
                                  <p:stCondLst>
                                    <p:cond delay="0"/>
                                  </p:stCondLst>
                                  <p:childTnLst>
                                    <p:set>
                                      <p:cBhvr>
                                        <p:cTn id="18" dur="1" fill="hold">
                                          <p:stCondLst>
                                            <p:cond delay="0"/>
                                          </p:stCondLst>
                                        </p:cTn>
                                        <p:tgtEl>
                                          <p:spTgt spid="6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2" fill="hold" nodeType="clickEffect">
                                  <p:stCondLst>
                                    <p:cond delay="0"/>
                                  </p:stCondLst>
                                  <p:childTnLst>
                                    <p:set>
                                      <p:cBhvr>
                                        <p:cTn id="22" dur="1" fill="hold">
                                          <p:stCondLst>
                                            <p:cond delay="0"/>
                                          </p:stCondLst>
                                        </p:cTn>
                                        <p:tgtEl>
                                          <p:spTgt spid="103"/>
                                        </p:tgtEl>
                                        <p:attrNameLst>
                                          <p:attrName>style.visibility</p:attrName>
                                        </p:attrNameLst>
                                      </p:cBhvr>
                                      <p:to>
                                        <p:strVal val="visible"/>
                                      </p:to>
                                    </p:set>
                                    <p:animEffect transition="in" filter="wipe(right)">
                                      <p:cBhvr>
                                        <p:cTn id="23" dur="500"/>
                                        <p:tgtEl>
                                          <p:spTgt spid="103"/>
                                        </p:tgtEl>
                                      </p:cBhvr>
                                    </p:animEffect>
                                  </p:childTnLst>
                                </p:cTn>
                              </p:par>
                            </p:childTnLst>
                          </p:cTn>
                        </p:par>
                        <p:par>
                          <p:cTn id="24" fill="hold">
                            <p:stCondLst>
                              <p:cond delay="500"/>
                            </p:stCondLst>
                            <p:childTnLst>
                              <p:par>
                                <p:cTn id="25" presetID="1" presetClass="entr" presetSubtype="0" fill="hold" grpId="0" nodeType="afterEffect">
                                  <p:stCondLst>
                                    <p:cond delay="0"/>
                                  </p:stCondLst>
                                  <p:childTnLst>
                                    <p:set>
                                      <p:cBhvr>
                                        <p:cTn id="26" dur="1" fill="hold">
                                          <p:stCondLst>
                                            <p:cond delay="0"/>
                                          </p:stCondLst>
                                        </p:cTn>
                                        <p:tgtEl>
                                          <p:spTgt spid="1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animBg="1"/>
      <p:bldP spid="76" grpId="0" animBg="1"/>
      <p:bldP spid="81" grpId="0" animBg="1"/>
      <p:bldP spid="104"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latin typeface="+mn-ea"/>
              </a:rPr>
              <a:t>背景</a:t>
            </a:r>
            <a:r>
              <a:rPr lang="en-US" altLang="zh-CN" dirty="0">
                <a:latin typeface="+mn-ea"/>
              </a:rPr>
              <a:t>-2</a:t>
            </a:r>
            <a:r>
              <a:rPr lang="zh-CN" altLang="en-US" dirty="0">
                <a:latin typeface="+mn-ea"/>
              </a:rPr>
              <a:t>：</a:t>
            </a:r>
            <a:r>
              <a:rPr lang="en-US" altLang="zh-CN" dirty="0">
                <a:latin typeface="+mn-lt"/>
              </a:rPr>
              <a:t>CPU</a:t>
            </a:r>
            <a:r>
              <a:rPr lang="zh-CN" altLang="en-US" dirty="0">
                <a:latin typeface="+mn-lt"/>
              </a:rPr>
              <a:t>投机执行（预测执行）</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50</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363272" cy="4267732"/>
          </a:xfrm>
        </p:spPr>
        <p:txBody>
          <a:bodyPr>
            <a:noAutofit/>
          </a:bodyPr>
          <a:lstStyle/>
          <a:p>
            <a:r>
              <a:rPr lang="en" altLang="zh-CN" sz="2000" dirty="0"/>
              <a:t>CPU</a:t>
            </a:r>
            <a:r>
              <a:rPr lang="zh-CN" altLang="en" sz="2000" dirty="0"/>
              <a:t>为了</a:t>
            </a:r>
            <a:r>
              <a:rPr lang="zh-CN" altLang="en-US" sz="2000" dirty="0"/>
              <a:t>性能会进行投机执行</a:t>
            </a:r>
            <a:endParaRPr lang="en-US" altLang="zh-CN" sz="2000" dirty="0"/>
          </a:p>
          <a:p>
            <a:pPr lvl="1"/>
            <a:r>
              <a:rPr lang="zh-CN" altLang="en" dirty="0"/>
              <a:t>处理器</a:t>
            </a:r>
            <a:r>
              <a:rPr lang="zh-CN" altLang="en-US" dirty="0"/>
              <a:t>内部会并发执行多条指令，无依赖关系的邻近指令在处理器内部的执行顺序会被打乱，部分指令会被提前</a:t>
            </a:r>
            <a:endParaRPr lang="en-US" altLang="zh-CN" dirty="0"/>
          </a:p>
          <a:p>
            <a:r>
              <a:rPr lang="zh-CN" altLang="en" sz="2000" dirty="0"/>
              <a:t>问</a:t>
            </a:r>
            <a:r>
              <a:rPr lang="zh-CN" altLang="en-US" sz="2000" dirty="0"/>
              <a:t>：若提前执行了错误指令怎么办？</a:t>
            </a:r>
            <a:endParaRPr lang="en-US" altLang="zh-CN" sz="2000" dirty="0"/>
          </a:p>
          <a:p>
            <a:pPr lvl="1"/>
            <a:r>
              <a:rPr lang="zh-CN" altLang="en-US" dirty="0"/>
              <a:t>如前一条指令异常，处理器投机执行了后续本不应被执行的指令</a:t>
            </a:r>
            <a:endParaRPr lang="en-US" altLang="zh-CN" dirty="0"/>
          </a:p>
          <a:p>
            <a:r>
              <a:rPr lang="zh-CN" altLang="en-US" sz="2000" dirty="0"/>
              <a:t>答：执行结果丢弃</a:t>
            </a:r>
            <a:r>
              <a:rPr lang="en-US" altLang="zh-CN" sz="2000" dirty="0"/>
              <a:t>/</a:t>
            </a:r>
            <a:r>
              <a:rPr lang="zh-CN" altLang="en-US" sz="2000" dirty="0"/>
              <a:t>回滚</a:t>
            </a:r>
            <a:endParaRPr lang="en" altLang="zh-CN" sz="2000" dirty="0"/>
          </a:p>
          <a:p>
            <a:pPr lvl="1"/>
            <a:r>
              <a:rPr lang="zh-CN" altLang="en-US" dirty="0"/>
              <a:t>对于不应被执行的指令，处理器会丢弃</a:t>
            </a:r>
            <a:r>
              <a:rPr lang="en-US" altLang="zh-CN" dirty="0"/>
              <a:t>/</a:t>
            </a:r>
            <a:r>
              <a:rPr lang="zh-CN" altLang="en-US" dirty="0"/>
              <a:t>回滚其对寄存器、内存等执行状态的修改</a:t>
            </a:r>
            <a:endParaRPr lang="en-US" altLang="zh-CN" dirty="0"/>
          </a:p>
          <a:p>
            <a:r>
              <a:rPr lang="zh-CN" altLang="en-US" dirty="0">
                <a:solidFill>
                  <a:srgbClr val="FF2F92"/>
                </a:solidFill>
              </a:rPr>
              <a:t>复杂的</a:t>
            </a:r>
            <a:r>
              <a:rPr lang="en" altLang="zh-CN" dirty="0">
                <a:solidFill>
                  <a:srgbClr val="FF2F92"/>
                </a:solidFill>
              </a:rPr>
              <a:t>CPU</a:t>
            </a:r>
            <a:r>
              <a:rPr lang="zh-CN" altLang="en-US" dirty="0">
                <a:solidFill>
                  <a:srgbClr val="FF2F92"/>
                </a:solidFill>
              </a:rPr>
              <a:t>能确保所有状态均正确丢弃</a:t>
            </a:r>
            <a:r>
              <a:rPr lang="en-US" altLang="zh-CN" dirty="0">
                <a:solidFill>
                  <a:srgbClr val="FF2F92"/>
                </a:solidFill>
              </a:rPr>
              <a:t>/</a:t>
            </a:r>
            <a:r>
              <a:rPr lang="zh-CN" altLang="en-US" dirty="0">
                <a:solidFill>
                  <a:srgbClr val="FF2F92"/>
                </a:solidFill>
              </a:rPr>
              <a:t>回滚吗？不能</a:t>
            </a:r>
          </a:p>
          <a:p>
            <a:endParaRPr lang="en" altLang="zh-CN" dirty="0">
              <a:solidFill>
                <a:srgbClr val="FF2F92"/>
              </a:solidFill>
            </a:endParaRPr>
          </a:p>
        </p:txBody>
      </p:sp>
    </p:spTree>
    <p:extLst>
      <p:ext uri="{BB962C8B-B14F-4D97-AF65-F5344CB8AC3E}">
        <p14:creationId xmlns:p14="http://schemas.microsoft.com/office/powerpoint/2010/main" val="3322536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9">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mn-lt"/>
              </a:rPr>
              <a:t>Meltdown</a:t>
            </a:r>
            <a:r>
              <a:rPr lang="zh-CN" altLang="en-US" dirty="0">
                <a:latin typeface="+mn-lt"/>
              </a:rPr>
              <a:t>漏洞原理</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51</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363272" cy="4502988"/>
          </a:xfrm>
        </p:spPr>
        <p:txBody>
          <a:bodyPr>
            <a:noAutofit/>
          </a:bodyPr>
          <a:lstStyle/>
          <a:p>
            <a:r>
              <a:rPr lang="zh-CN" altLang="en" sz="2000" dirty="0"/>
              <a:t>起因</a:t>
            </a:r>
            <a:r>
              <a:rPr lang="zh-CN" altLang="en-US" sz="2000" dirty="0"/>
              <a:t>：</a:t>
            </a:r>
            <a:r>
              <a:rPr lang="zh-CN" altLang="en-US" sz="2000" dirty="0">
                <a:solidFill>
                  <a:srgbClr val="FF2F92"/>
                </a:solidFill>
              </a:rPr>
              <a:t>迟到的内存访问异常</a:t>
            </a:r>
            <a:endParaRPr lang="en-US" altLang="zh-CN" sz="2000" dirty="0">
              <a:solidFill>
                <a:srgbClr val="FF2F92"/>
              </a:solidFill>
            </a:endParaRPr>
          </a:p>
          <a:p>
            <a:pPr lvl="1"/>
            <a:r>
              <a:rPr lang="zh-CN" altLang="en-US" dirty="0"/>
              <a:t>在投机执行期间，跨权限的内存访问不会立刻触发异常，而是仍会继续执行后续指令</a:t>
            </a:r>
            <a:endParaRPr lang="en-US" altLang="zh-CN" dirty="0"/>
          </a:p>
          <a:p>
            <a:r>
              <a:rPr lang="zh-CN" altLang="en-US" sz="2000" dirty="0"/>
              <a:t>故障：</a:t>
            </a:r>
            <a:r>
              <a:rPr lang="zh-CN" altLang="en-US" sz="2000" dirty="0">
                <a:solidFill>
                  <a:srgbClr val="FF2F92"/>
                </a:solidFill>
              </a:rPr>
              <a:t>遗漏的缓存状态回滚</a:t>
            </a:r>
            <a:endParaRPr lang="en-US" altLang="zh-CN" sz="2000" dirty="0">
              <a:solidFill>
                <a:srgbClr val="FF2F92"/>
              </a:solidFill>
            </a:endParaRPr>
          </a:p>
          <a:p>
            <a:pPr lvl="1"/>
            <a:r>
              <a:rPr lang="zh-CN" altLang="en-US" dirty="0"/>
              <a:t>当硬件抛出内存访问异常时，</a:t>
            </a:r>
            <a:r>
              <a:rPr lang="en-US" altLang="zh-CN" dirty="0"/>
              <a:t>CPU</a:t>
            </a:r>
            <a:r>
              <a:rPr lang="zh-CN" altLang="en-US" dirty="0"/>
              <a:t>理应回滚被错误执行指令对所有状态的修改</a:t>
            </a:r>
            <a:endParaRPr lang="en-US" altLang="zh-CN" dirty="0"/>
          </a:p>
          <a:p>
            <a:pPr lvl="1"/>
            <a:r>
              <a:rPr lang="zh-CN" altLang="en-US" dirty="0">
                <a:solidFill>
                  <a:srgbClr val="FF2F92"/>
                </a:solidFill>
              </a:rPr>
              <a:t>但是，实际上</a:t>
            </a:r>
            <a:r>
              <a:rPr lang="en-US" altLang="zh-CN" dirty="0">
                <a:solidFill>
                  <a:srgbClr val="FF2F92"/>
                </a:solidFill>
              </a:rPr>
              <a:t>CPU</a:t>
            </a:r>
            <a:r>
              <a:rPr lang="zh-CN" altLang="en-US" dirty="0">
                <a:solidFill>
                  <a:srgbClr val="FF2F92"/>
                </a:solidFill>
              </a:rPr>
              <a:t>未回滚被错误执行指令对</a:t>
            </a:r>
            <a:r>
              <a:rPr lang="en-US" altLang="zh-CN" dirty="0">
                <a:solidFill>
                  <a:srgbClr val="FF2F92"/>
                </a:solidFill>
              </a:rPr>
              <a:t>CPU</a:t>
            </a:r>
            <a:r>
              <a:rPr lang="zh-CN" altLang="en-US" dirty="0">
                <a:solidFill>
                  <a:srgbClr val="FF2F92"/>
                </a:solidFill>
              </a:rPr>
              <a:t>缓存的状态修改</a:t>
            </a:r>
            <a:endParaRPr lang="en-US" altLang="zh-CN" dirty="0">
              <a:solidFill>
                <a:srgbClr val="FF2F92"/>
              </a:solidFill>
            </a:endParaRPr>
          </a:p>
          <a:p>
            <a:r>
              <a:rPr lang="zh-CN" altLang="en-US" sz="2000" dirty="0"/>
              <a:t>结果：</a:t>
            </a:r>
            <a:r>
              <a:rPr lang="zh-CN" altLang="en-US" sz="2000" dirty="0">
                <a:solidFill>
                  <a:srgbClr val="FF2F92"/>
                </a:solidFill>
              </a:rPr>
              <a:t>应用可任意读取操作系统内存</a:t>
            </a:r>
            <a:endParaRPr lang="en-US" altLang="zh-CN" sz="2000" dirty="0">
              <a:solidFill>
                <a:srgbClr val="FF2F92"/>
              </a:solidFill>
            </a:endParaRPr>
          </a:p>
          <a:p>
            <a:pPr lvl="1"/>
            <a:r>
              <a:rPr lang="zh-CN" altLang="en-US" dirty="0"/>
              <a:t>利用缓存隐秘信道，窃取非法访问到的内核数据</a:t>
            </a:r>
            <a:endParaRPr lang="en-US" altLang="zh-CN" dirty="0"/>
          </a:p>
        </p:txBody>
      </p:sp>
    </p:spTree>
    <p:extLst>
      <p:ext uri="{BB962C8B-B14F-4D97-AF65-F5344CB8AC3E}">
        <p14:creationId xmlns:p14="http://schemas.microsoft.com/office/powerpoint/2010/main" val="3381505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9">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剪去单角的矩形 15"/>
          <p:cNvSpPr/>
          <p:nvPr/>
        </p:nvSpPr>
        <p:spPr>
          <a:xfrm>
            <a:off x="3595483" y="1366358"/>
            <a:ext cx="4091413" cy="2002178"/>
          </a:xfrm>
          <a:prstGeom prst="snip1Rect">
            <a:avLst>
              <a:gd name="adj" fmla="val 0"/>
            </a:avLst>
          </a:prstGeom>
          <a:solidFill>
            <a:schemeClr val="bg1"/>
          </a:solidFill>
          <a:ln w="15875">
            <a:solidFill>
              <a:schemeClr val="tx1"/>
            </a:solidFill>
            <a:prstDash val="dash"/>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ea typeface="Bangla MN" charset="0"/>
              <a:cs typeface="Bangla MN" charset="0"/>
            </a:endParaRPr>
          </a:p>
        </p:txBody>
      </p:sp>
      <p:sp>
        <p:nvSpPr>
          <p:cNvPr id="4" name="Slide Number Placeholder 3"/>
          <p:cNvSpPr>
            <a:spLocks noGrp="1"/>
          </p:cNvSpPr>
          <p:nvPr>
            <p:ph type="sldNum" sz="quarter" idx="12"/>
          </p:nvPr>
        </p:nvSpPr>
        <p:spPr>
          <a:xfrm>
            <a:off x="8316416" y="5067933"/>
            <a:ext cx="648072" cy="273844"/>
          </a:xfrm>
        </p:spPr>
        <p:txBody>
          <a:bodyPr/>
          <a:lstStyle/>
          <a:p>
            <a:r>
              <a:rPr lang="en-US" altLang="zh-CN" sz="1800" dirty="0">
                <a:solidFill>
                  <a:schemeClr val="tx1"/>
                </a:solidFill>
              </a:rPr>
              <a:t>3</a:t>
            </a:r>
            <a:endParaRPr lang="zh-CN" altLang="en-US" sz="1800" dirty="0">
              <a:solidFill>
                <a:schemeClr val="tx1"/>
              </a:solidFill>
            </a:endParaRPr>
          </a:p>
        </p:txBody>
      </p:sp>
      <p:sp>
        <p:nvSpPr>
          <p:cNvPr id="7" name="文本框 6"/>
          <p:cNvSpPr txBox="1"/>
          <p:nvPr/>
        </p:nvSpPr>
        <p:spPr>
          <a:xfrm>
            <a:off x="1115617" y="4024761"/>
            <a:ext cx="1142163" cy="276999"/>
          </a:xfrm>
          <a:prstGeom prst="rect">
            <a:avLst/>
          </a:prstGeom>
          <a:noFill/>
        </p:spPr>
        <p:txBody>
          <a:bodyPr wrap="square" rtlCol="0">
            <a:spAutoFit/>
          </a:bodyPr>
          <a:lstStyle/>
          <a:p>
            <a:r>
              <a:rPr kumimoji="1" lang="en-US" altLang="zh-CN" sz="1200" b="1" dirty="0">
                <a:solidFill>
                  <a:srgbClr val="FF0066"/>
                </a:solidFill>
                <a:ea typeface="DengXian" charset="-122"/>
                <a:cs typeface="DengXian" charset="-122"/>
              </a:rPr>
              <a:t>key </a:t>
            </a:r>
            <a:r>
              <a:rPr kumimoji="1" lang="en-US" altLang="zh-CN" sz="1200" b="1" dirty="0">
                <a:ea typeface="DengXian" charset="-122"/>
                <a:cs typeface="DengXian" charset="-122"/>
              </a:rPr>
              <a:t>= 0x01</a:t>
            </a:r>
          </a:p>
        </p:txBody>
      </p:sp>
      <p:sp>
        <p:nvSpPr>
          <p:cNvPr id="8" name="文本框 7"/>
          <p:cNvSpPr txBox="1"/>
          <p:nvPr/>
        </p:nvSpPr>
        <p:spPr>
          <a:xfrm>
            <a:off x="32048" y="4184358"/>
            <a:ext cx="780224" cy="261610"/>
          </a:xfrm>
          <a:prstGeom prst="rect">
            <a:avLst/>
          </a:prstGeom>
          <a:noFill/>
        </p:spPr>
        <p:txBody>
          <a:bodyPr wrap="square" rtlCol="0">
            <a:spAutoFit/>
          </a:bodyPr>
          <a:lstStyle/>
          <a:p>
            <a:pPr algn="ctr"/>
            <a:r>
              <a:rPr kumimoji="1" lang="en-US" altLang="zh-CN" sz="1100" dirty="0">
                <a:ea typeface="DengXian" charset="-122"/>
                <a:cs typeface="DengXian" charset="-122"/>
              </a:rPr>
              <a:t>Kernel</a:t>
            </a:r>
            <a:endParaRPr kumimoji="1" lang="zh-CN" altLang="en-US" sz="1600" dirty="0">
              <a:ea typeface="DengXian" charset="-122"/>
              <a:cs typeface="DengXian" charset="-122"/>
            </a:endParaRPr>
          </a:p>
        </p:txBody>
      </p:sp>
      <p:sp>
        <p:nvSpPr>
          <p:cNvPr id="9" name="文本框 8"/>
          <p:cNvSpPr txBox="1"/>
          <p:nvPr/>
        </p:nvSpPr>
        <p:spPr>
          <a:xfrm>
            <a:off x="90174" y="4558429"/>
            <a:ext cx="586684" cy="261610"/>
          </a:xfrm>
          <a:prstGeom prst="rect">
            <a:avLst/>
          </a:prstGeom>
          <a:noFill/>
        </p:spPr>
        <p:txBody>
          <a:bodyPr wrap="square" rtlCol="0">
            <a:spAutoFit/>
          </a:bodyPr>
          <a:lstStyle/>
          <a:p>
            <a:pPr algn="ctr"/>
            <a:r>
              <a:rPr kumimoji="1" lang="en-US" altLang="zh-CN" sz="1100" dirty="0">
                <a:ea typeface="DengXian" charset="-122"/>
                <a:cs typeface="DengXian" charset="-122"/>
              </a:rPr>
              <a:t>User</a:t>
            </a:r>
            <a:endParaRPr kumimoji="1" lang="zh-CN" altLang="en-US" sz="1600" dirty="0">
              <a:ea typeface="DengXian" charset="-122"/>
              <a:cs typeface="DengXian" charset="-122"/>
            </a:endParaRPr>
          </a:p>
        </p:txBody>
      </p:sp>
      <p:cxnSp>
        <p:nvCxnSpPr>
          <p:cNvPr id="10" name="直线连接符 9"/>
          <p:cNvCxnSpPr/>
          <p:nvPr/>
        </p:nvCxnSpPr>
        <p:spPr>
          <a:xfrm>
            <a:off x="380433" y="4499874"/>
            <a:ext cx="1769250"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540" y="3904256"/>
            <a:ext cx="311664" cy="461233"/>
          </a:xfrm>
          <a:prstGeom prst="rect">
            <a:avLst/>
          </a:prstGeom>
          <a:solidFill>
            <a:schemeClr val="bg1"/>
          </a:solidFill>
        </p:spPr>
      </p:pic>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9262" y="1078287"/>
            <a:ext cx="546620" cy="546620"/>
          </a:xfrm>
          <a:prstGeom prst="rect">
            <a:avLst/>
          </a:prstGeom>
        </p:spPr>
      </p:pic>
      <p:sp>
        <p:nvSpPr>
          <p:cNvPr id="22" name="文本框 21"/>
          <p:cNvSpPr txBox="1"/>
          <p:nvPr/>
        </p:nvSpPr>
        <p:spPr>
          <a:xfrm>
            <a:off x="4129162" y="1421455"/>
            <a:ext cx="1162919" cy="307777"/>
          </a:xfrm>
          <a:prstGeom prst="rect">
            <a:avLst/>
          </a:prstGeom>
          <a:noFill/>
        </p:spPr>
        <p:txBody>
          <a:bodyPr wrap="square" rtlCol="0">
            <a:spAutoFit/>
          </a:bodyPr>
          <a:lstStyle/>
          <a:p>
            <a:pPr algn="ctr"/>
            <a:r>
              <a:rPr kumimoji="1" lang="en-US" altLang="zh-CN" sz="1400" dirty="0">
                <a:ea typeface="Bangla MN" charset="0"/>
                <a:cs typeface="Bangla MN" charset="0"/>
              </a:rPr>
              <a:t>Instruction</a:t>
            </a:r>
            <a:endParaRPr kumimoji="1" lang="zh-CN" altLang="en-US" sz="1400" dirty="0">
              <a:ea typeface="Bangla MN" charset="0"/>
              <a:cs typeface="Bangla MN" charset="0"/>
            </a:endParaRPr>
          </a:p>
        </p:txBody>
      </p:sp>
      <p:sp>
        <p:nvSpPr>
          <p:cNvPr id="23" name="文本框 22"/>
          <p:cNvSpPr txBox="1"/>
          <p:nvPr/>
        </p:nvSpPr>
        <p:spPr>
          <a:xfrm>
            <a:off x="6236162" y="1407252"/>
            <a:ext cx="1000135" cy="307777"/>
          </a:xfrm>
          <a:prstGeom prst="rect">
            <a:avLst/>
          </a:prstGeom>
          <a:noFill/>
        </p:spPr>
        <p:txBody>
          <a:bodyPr wrap="square" rtlCol="0">
            <a:spAutoFit/>
          </a:bodyPr>
          <a:lstStyle/>
          <a:p>
            <a:pPr algn="ctr"/>
            <a:r>
              <a:rPr kumimoji="1" lang="en-US" altLang="zh-CN" sz="1400" dirty="0">
                <a:ea typeface="Bangla MN" charset="0"/>
                <a:cs typeface="Bangla MN" charset="0"/>
              </a:rPr>
              <a:t>Effect</a:t>
            </a:r>
            <a:endParaRPr kumimoji="1" lang="zh-CN" altLang="en-US" sz="1400" dirty="0">
              <a:ea typeface="Bangla MN" charset="0"/>
              <a:cs typeface="Bangla MN" charset="0"/>
            </a:endParaRPr>
          </a:p>
        </p:txBody>
      </p:sp>
      <p:sp>
        <p:nvSpPr>
          <p:cNvPr id="30" name="文本框 29"/>
          <p:cNvSpPr txBox="1"/>
          <p:nvPr/>
        </p:nvSpPr>
        <p:spPr>
          <a:xfrm>
            <a:off x="3275857" y="3793605"/>
            <a:ext cx="876921" cy="307777"/>
          </a:xfrm>
          <a:prstGeom prst="rect">
            <a:avLst/>
          </a:prstGeom>
          <a:solidFill>
            <a:schemeClr val="bg1"/>
          </a:solidFill>
        </p:spPr>
        <p:txBody>
          <a:bodyPr wrap="square" rtlCol="0">
            <a:spAutoFit/>
          </a:bodyPr>
          <a:lstStyle/>
          <a:p>
            <a:pPr algn="ctr"/>
            <a:r>
              <a:rPr kumimoji="1" lang="en-US" altLang="zh-CN" sz="1400" b="1" dirty="0">
                <a:ea typeface="Bangla MN" charset="0"/>
                <a:cs typeface="Bangla MN" charset="0"/>
              </a:rPr>
              <a:t>Cache</a:t>
            </a:r>
            <a:endParaRPr kumimoji="1" lang="zh-CN" altLang="en-US" sz="1400" b="1" dirty="0">
              <a:ea typeface="Bangla MN" charset="0"/>
              <a:cs typeface="Bangla MN" charset="0"/>
            </a:endParaRPr>
          </a:p>
        </p:txBody>
      </p:sp>
      <p:sp>
        <p:nvSpPr>
          <p:cNvPr id="31" name="文本框 30"/>
          <p:cNvSpPr txBox="1"/>
          <p:nvPr/>
        </p:nvSpPr>
        <p:spPr>
          <a:xfrm>
            <a:off x="5681615" y="3793605"/>
            <a:ext cx="1047414" cy="307777"/>
          </a:xfrm>
          <a:prstGeom prst="rect">
            <a:avLst/>
          </a:prstGeom>
          <a:solidFill>
            <a:schemeClr val="bg1"/>
          </a:solidFill>
        </p:spPr>
        <p:txBody>
          <a:bodyPr wrap="square" rtlCol="0">
            <a:spAutoFit/>
          </a:bodyPr>
          <a:lstStyle/>
          <a:p>
            <a:r>
              <a:rPr kumimoji="1" lang="en-US" altLang="zh-CN" sz="1400" b="1" dirty="0">
                <a:ea typeface="Bangla MN" charset="0"/>
                <a:cs typeface="Bangla MN" charset="0"/>
              </a:rPr>
              <a:t>Memory</a:t>
            </a:r>
            <a:r>
              <a:rPr kumimoji="1" lang="zh-CN" altLang="en-US" sz="1400" b="1" dirty="0">
                <a:ea typeface="Bangla MN" charset="0"/>
                <a:cs typeface="Bangla MN" charset="0"/>
              </a:rPr>
              <a:t> </a:t>
            </a:r>
          </a:p>
        </p:txBody>
      </p:sp>
      <p:pic>
        <p:nvPicPr>
          <p:cNvPr id="41" name="图片 4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642" y="4696928"/>
            <a:ext cx="369461" cy="604390"/>
          </a:xfrm>
          <a:prstGeom prst="rect">
            <a:avLst/>
          </a:prstGeom>
        </p:spPr>
      </p:pic>
      <p:sp>
        <p:nvSpPr>
          <p:cNvPr id="42" name="文本框 41"/>
          <p:cNvSpPr txBox="1"/>
          <p:nvPr/>
        </p:nvSpPr>
        <p:spPr>
          <a:xfrm>
            <a:off x="1115617" y="4796539"/>
            <a:ext cx="1142163" cy="276999"/>
          </a:xfrm>
          <a:prstGeom prst="rect">
            <a:avLst/>
          </a:prstGeom>
          <a:noFill/>
        </p:spPr>
        <p:txBody>
          <a:bodyPr wrap="square" rtlCol="0">
            <a:spAutoFit/>
          </a:bodyPr>
          <a:lstStyle/>
          <a:p>
            <a:r>
              <a:rPr kumimoji="1" lang="en-US" altLang="zh-CN" sz="1200" b="1" dirty="0">
                <a:ea typeface="DengXian" charset="-122"/>
                <a:cs typeface="DengXian" charset="-122"/>
              </a:rPr>
              <a:t>Meltdown</a:t>
            </a:r>
          </a:p>
        </p:txBody>
      </p:sp>
      <p:graphicFrame>
        <p:nvGraphicFramePr>
          <p:cNvPr id="48" name="表格 47"/>
          <p:cNvGraphicFramePr>
            <a:graphicFrameLocks noGrp="1"/>
          </p:cNvGraphicFramePr>
          <p:nvPr/>
        </p:nvGraphicFramePr>
        <p:xfrm>
          <a:off x="5926351" y="4172493"/>
          <a:ext cx="2520000" cy="340268"/>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3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360000">
                  <a:extLst>
                    <a:ext uri="{9D8B030D-6E8A-4147-A177-3AD203B41FA5}">
                      <a16:colId xmlns:a16="http://schemas.microsoft.com/office/drawing/2014/main" val="20006"/>
                    </a:ext>
                  </a:extLst>
                </a:gridCol>
              </a:tblGrid>
              <a:tr h="340268">
                <a:tc>
                  <a:txBody>
                    <a:bodyPr/>
                    <a:lstStyle/>
                    <a:p>
                      <a:pPr algn="ct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900" dirty="0">
                        <a:solidFill>
                          <a:schemeClr val="tx1"/>
                        </a:solidFill>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900" dirty="0">
                        <a:solidFill>
                          <a:schemeClr val="tx1"/>
                        </a:solidFill>
                      </a:endParaRPr>
                    </a:p>
                  </a:txBody>
                  <a:tcPr marL="0" marR="0" marT="0"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graphicFrame>
        <p:nvGraphicFramePr>
          <p:cNvPr id="46" name="表格 45"/>
          <p:cNvGraphicFramePr>
            <a:graphicFrameLocks noGrp="1"/>
          </p:cNvGraphicFramePr>
          <p:nvPr/>
        </p:nvGraphicFramePr>
        <p:xfrm>
          <a:off x="3579299" y="4172493"/>
          <a:ext cx="1157165" cy="822960"/>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1157165">
                  <a:extLst>
                    <a:ext uri="{9D8B030D-6E8A-4147-A177-3AD203B41FA5}">
                      <a16:colId xmlns:a16="http://schemas.microsoft.com/office/drawing/2014/main" val="20000"/>
                    </a:ext>
                  </a:extLst>
                </a:gridCol>
              </a:tblGrid>
              <a:tr h="117404">
                <a:tc>
                  <a:txBody>
                    <a:bodyPr/>
                    <a:lstStyle/>
                    <a:p>
                      <a:pPr algn="ctr"/>
                      <a:endParaRPr lang="zh-CN" altLang="en-US" sz="900" dirty="0">
                        <a:solidFill>
                          <a:schemeClr val="tx1"/>
                        </a:solidFill>
                      </a:endParaRPr>
                    </a:p>
                  </a:txBody>
                  <a:tcPr marL="72000" marR="72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17404">
                <a:tc>
                  <a:txBody>
                    <a:bodyPr/>
                    <a:lstStyle/>
                    <a:p>
                      <a:pPr algn="ctr"/>
                      <a:endParaRPr lang="zh-CN" altLang="en-US" sz="900" dirty="0">
                        <a:solidFill>
                          <a:schemeClr val="tx1"/>
                        </a:solidFill>
                      </a:endParaRPr>
                    </a:p>
                  </a:txBody>
                  <a:tcPr marL="72000" marR="72000" marT="0" marB="0">
                    <a:lnT w="9525"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102870">
                <a:tc>
                  <a:txBody>
                    <a:bodyPr/>
                    <a:lstStyle/>
                    <a:p>
                      <a:pPr algn="ctr"/>
                      <a:endParaRPr lang="zh-CN" altLang="en-US" sz="900" b="1" dirty="0">
                        <a:solidFill>
                          <a:schemeClr val="tx1"/>
                        </a:solidFill>
                      </a:endParaRPr>
                    </a:p>
                  </a:txBody>
                  <a:tcPr marL="72000" marR="72000" marT="0" marB="0">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2870">
                <a:tc>
                  <a:txBody>
                    <a:bodyPr/>
                    <a:lstStyle/>
                    <a:p>
                      <a:pPr algn="ctr"/>
                      <a:endParaRPr lang="zh-CN" altLang="en-US" sz="900" b="1" dirty="0">
                        <a:solidFill>
                          <a:schemeClr val="tx1"/>
                        </a:solidFill>
                      </a:endParaRPr>
                    </a:p>
                  </a:txBody>
                  <a:tcPr marL="72000" marR="72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02870">
                <a:tc>
                  <a:txBody>
                    <a:bodyPr/>
                    <a:lstStyle/>
                    <a:p>
                      <a:pPr algn="ctr"/>
                      <a:endParaRPr lang="zh-CN" altLang="en-US" sz="900" b="1" dirty="0">
                        <a:solidFill>
                          <a:schemeClr val="tx1"/>
                        </a:solidFill>
                      </a:endParaRPr>
                    </a:p>
                  </a:txBody>
                  <a:tcPr marL="72000" marR="72000" marT="0" marB="0">
                    <a:lnT w="9525"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4"/>
                  </a:ext>
                </a:extLst>
              </a:tr>
              <a:tr h="102870">
                <a:tc>
                  <a:txBody>
                    <a:bodyPr/>
                    <a:lstStyle/>
                    <a:p>
                      <a:pPr algn="ctr"/>
                      <a:endParaRPr lang="zh-CN" altLang="en-US" sz="900" b="1" dirty="0">
                        <a:solidFill>
                          <a:schemeClr val="tx1"/>
                        </a:solidFill>
                      </a:endParaRPr>
                    </a:p>
                  </a:txBody>
                  <a:tcPr marL="72000" marR="72000" marT="0" marB="0">
                    <a:solidFill>
                      <a:schemeClr val="bg1"/>
                    </a:solidFill>
                  </a:tcPr>
                </a:tc>
                <a:extLst>
                  <a:ext uri="{0D108BD9-81ED-4DB2-BD59-A6C34878D82A}">
                    <a16:rowId xmlns:a16="http://schemas.microsoft.com/office/drawing/2014/main" val="10005"/>
                  </a:ext>
                </a:extLst>
              </a:tr>
            </a:tbl>
          </a:graphicData>
        </a:graphic>
      </p:graphicFrame>
      <p:sp>
        <p:nvSpPr>
          <p:cNvPr id="24" name="标题 1">
            <a:extLst>
              <a:ext uri="{FF2B5EF4-FFF2-40B4-BE49-F238E27FC236}">
                <a16:creationId xmlns:a16="http://schemas.microsoft.com/office/drawing/2014/main" id="{DEDD8407-8A6D-684C-A7A2-6AA1F858F9F6}"/>
              </a:ext>
            </a:extLst>
          </p:cNvPr>
          <p:cNvSpPr>
            <a:spLocks noGrp="1"/>
          </p:cNvSpPr>
          <p:nvPr>
            <p:ph type="title"/>
          </p:nvPr>
        </p:nvSpPr>
        <p:spPr>
          <a:xfrm>
            <a:off x="457200" y="228866"/>
            <a:ext cx="8229600" cy="900442"/>
          </a:xfrm>
        </p:spPr>
        <p:txBody>
          <a:bodyPr>
            <a:normAutofit/>
          </a:bodyPr>
          <a:lstStyle/>
          <a:p>
            <a:r>
              <a:rPr lang="en-US" altLang="zh-CN" dirty="0">
                <a:latin typeface="+mn-lt"/>
              </a:rPr>
              <a:t>Meltdown</a:t>
            </a:r>
            <a:r>
              <a:rPr lang="zh-CN" altLang="en-US" dirty="0">
                <a:latin typeface="+mn-lt"/>
              </a:rPr>
              <a:t>漏洞原理</a:t>
            </a:r>
          </a:p>
        </p:txBody>
      </p:sp>
    </p:spTree>
    <p:extLst>
      <p:ext uri="{BB962C8B-B14F-4D97-AF65-F5344CB8AC3E}">
        <p14:creationId xmlns:p14="http://schemas.microsoft.com/office/powerpoint/2010/main" val="158875899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剪去单角的矩形 15"/>
          <p:cNvSpPr/>
          <p:nvPr/>
        </p:nvSpPr>
        <p:spPr>
          <a:xfrm>
            <a:off x="3595483" y="1366358"/>
            <a:ext cx="4091413" cy="2002178"/>
          </a:xfrm>
          <a:prstGeom prst="snip1Rect">
            <a:avLst>
              <a:gd name="adj" fmla="val 0"/>
            </a:avLst>
          </a:prstGeom>
          <a:solidFill>
            <a:schemeClr val="bg1"/>
          </a:solidFill>
          <a:ln w="15875">
            <a:solidFill>
              <a:schemeClr val="tx1"/>
            </a:solidFill>
            <a:prstDash val="dash"/>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ea typeface="Bangla MN" charset="0"/>
              <a:cs typeface="Bangla MN" charset="0"/>
            </a:endParaRPr>
          </a:p>
        </p:txBody>
      </p:sp>
      <p:sp>
        <p:nvSpPr>
          <p:cNvPr id="4" name="Slide Number Placeholder 3"/>
          <p:cNvSpPr>
            <a:spLocks noGrp="1"/>
          </p:cNvSpPr>
          <p:nvPr>
            <p:ph type="sldNum" sz="quarter" idx="12"/>
          </p:nvPr>
        </p:nvSpPr>
        <p:spPr>
          <a:xfrm>
            <a:off x="8316416" y="5067933"/>
            <a:ext cx="648072" cy="273844"/>
          </a:xfrm>
        </p:spPr>
        <p:txBody>
          <a:bodyPr/>
          <a:lstStyle/>
          <a:p>
            <a:r>
              <a:rPr lang="en-US" altLang="zh-CN" sz="1800" dirty="0">
                <a:solidFill>
                  <a:schemeClr val="tx1"/>
                </a:solidFill>
              </a:rPr>
              <a:t>3</a:t>
            </a:r>
            <a:endParaRPr lang="zh-CN" altLang="en-US" sz="1800" dirty="0">
              <a:solidFill>
                <a:schemeClr val="tx1"/>
              </a:solidFill>
            </a:endParaRPr>
          </a:p>
        </p:txBody>
      </p:sp>
      <p:sp>
        <p:nvSpPr>
          <p:cNvPr id="7" name="文本框 6"/>
          <p:cNvSpPr txBox="1"/>
          <p:nvPr/>
        </p:nvSpPr>
        <p:spPr>
          <a:xfrm>
            <a:off x="1115617" y="4024761"/>
            <a:ext cx="1142163" cy="276999"/>
          </a:xfrm>
          <a:prstGeom prst="rect">
            <a:avLst/>
          </a:prstGeom>
          <a:noFill/>
        </p:spPr>
        <p:txBody>
          <a:bodyPr wrap="square" rtlCol="0">
            <a:spAutoFit/>
          </a:bodyPr>
          <a:lstStyle/>
          <a:p>
            <a:r>
              <a:rPr kumimoji="1" lang="en-US" altLang="zh-CN" sz="1200" b="1" dirty="0">
                <a:solidFill>
                  <a:srgbClr val="FF0066"/>
                </a:solidFill>
                <a:ea typeface="DengXian" charset="-122"/>
                <a:cs typeface="DengXian" charset="-122"/>
              </a:rPr>
              <a:t>key </a:t>
            </a:r>
            <a:r>
              <a:rPr kumimoji="1" lang="en-US" altLang="zh-CN" sz="1200" b="1" dirty="0">
                <a:ea typeface="DengXian" charset="-122"/>
                <a:cs typeface="DengXian" charset="-122"/>
              </a:rPr>
              <a:t>= 0x01</a:t>
            </a:r>
          </a:p>
        </p:txBody>
      </p:sp>
      <p:sp>
        <p:nvSpPr>
          <p:cNvPr id="8" name="文本框 7"/>
          <p:cNvSpPr txBox="1"/>
          <p:nvPr/>
        </p:nvSpPr>
        <p:spPr>
          <a:xfrm>
            <a:off x="32048" y="4184358"/>
            <a:ext cx="780224" cy="261610"/>
          </a:xfrm>
          <a:prstGeom prst="rect">
            <a:avLst/>
          </a:prstGeom>
          <a:noFill/>
        </p:spPr>
        <p:txBody>
          <a:bodyPr wrap="square" rtlCol="0">
            <a:spAutoFit/>
          </a:bodyPr>
          <a:lstStyle/>
          <a:p>
            <a:pPr algn="ctr"/>
            <a:r>
              <a:rPr kumimoji="1" lang="en-US" altLang="zh-CN" sz="1100" dirty="0">
                <a:ea typeface="DengXian" charset="-122"/>
                <a:cs typeface="DengXian" charset="-122"/>
              </a:rPr>
              <a:t>Kernel</a:t>
            </a:r>
            <a:endParaRPr kumimoji="1" lang="zh-CN" altLang="en-US" sz="1600" dirty="0">
              <a:ea typeface="DengXian" charset="-122"/>
              <a:cs typeface="DengXian" charset="-122"/>
            </a:endParaRPr>
          </a:p>
        </p:txBody>
      </p:sp>
      <p:sp>
        <p:nvSpPr>
          <p:cNvPr id="9" name="文本框 8"/>
          <p:cNvSpPr txBox="1"/>
          <p:nvPr/>
        </p:nvSpPr>
        <p:spPr>
          <a:xfrm>
            <a:off x="90174" y="4558429"/>
            <a:ext cx="586684" cy="261610"/>
          </a:xfrm>
          <a:prstGeom prst="rect">
            <a:avLst/>
          </a:prstGeom>
          <a:noFill/>
        </p:spPr>
        <p:txBody>
          <a:bodyPr wrap="square" rtlCol="0">
            <a:spAutoFit/>
          </a:bodyPr>
          <a:lstStyle/>
          <a:p>
            <a:pPr algn="ctr"/>
            <a:r>
              <a:rPr kumimoji="1" lang="en-US" altLang="zh-CN" sz="1100" dirty="0">
                <a:ea typeface="DengXian" charset="-122"/>
                <a:cs typeface="DengXian" charset="-122"/>
              </a:rPr>
              <a:t>User</a:t>
            </a:r>
            <a:endParaRPr kumimoji="1" lang="zh-CN" altLang="en-US" sz="1600" dirty="0">
              <a:ea typeface="DengXian" charset="-122"/>
              <a:cs typeface="DengXian" charset="-122"/>
            </a:endParaRPr>
          </a:p>
        </p:txBody>
      </p:sp>
      <p:cxnSp>
        <p:nvCxnSpPr>
          <p:cNvPr id="10" name="直线连接符 9"/>
          <p:cNvCxnSpPr/>
          <p:nvPr/>
        </p:nvCxnSpPr>
        <p:spPr>
          <a:xfrm>
            <a:off x="380433" y="4499874"/>
            <a:ext cx="1769250"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540" y="3904256"/>
            <a:ext cx="311664" cy="461233"/>
          </a:xfrm>
          <a:prstGeom prst="rect">
            <a:avLst/>
          </a:prstGeom>
          <a:solidFill>
            <a:schemeClr val="bg1"/>
          </a:solidFill>
        </p:spPr>
      </p:pic>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9262" y="1078287"/>
            <a:ext cx="546620" cy="546620"/>
          </a:xfrm>
          <a:prstGeom prst="rect">
            <a:avLst/>
          </a:prstGeom>
        </p:spPr>
      </p:pic>
      <p:cxnSp>
        <p:nvCxnSpPr>
          <p:cNvPr id="19" name="直线连接符 18"/>
          <p:cNvCxnSpPr/>
          <p:nvPr/>
        </p:nvCxnSpPr>
        <p:spPr>
          <a:xfrm>
            <a:off x="6012160" y="1505262"/>
            <a:ext cx="0" cy="12082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972526" y="1849389"/>
            <a:ext cx="1986832" cy="307777"/>
          </a:xfrm>
          <a:prstGeom prst="rect">
            <a:avLst/>
          </a:prstGeom>
          <a:noFill/>
        </p:spPr>
        <p:txBody>
          <a:bodyPr wrap="square" rtlCol="0">
            <a:spAutoFit/>
          </a:bodyPr>
          <a:lstStyle/>
          <a:p>
            <a:r>
              <a:rPr kumimoji="1" lang="en-US" altLang="zh-CN" sz="1400" dirty="0">
                <a:ea typeface="Bangla MN" charset="0"/>
                <a:cs typeface="Bangla MN" charset="0"/>
              </a:rPr>
              <a:t>Load </a:t>
            </a:r>
            <a:r>
              <a:rPr kumimoji="1" lang="en-US" altLang="zh-CN" sz="1400" b="1" dirty="0">
                <a:solidFill>
                  <a:srgbClr val="FF0066"/>
                </a:solidFill>
                <a:ea typeface="Bangla MN" charset="0"/>
                <a:cs typeface="Bangla MN" charset="0"/>
              </a:rPr>
              <a:t>key</a:t>
            </a:r>
            <a:r>
              <a:rPr kumimoji="1" lang="en-US" altLang="zh-CN" sz="1400" dirty="0">
                <a:ea typeface="Bangla MN" charset="0"/>
                <a:cs typeface="Bangla MN" charset="0"/>
              </a:rPr>
              <a:t>, %</a:t>
            </a:r>
            <a:r>
              <a:rPr kumimoji="1" lang="en-US" altLang="zh-CN" sz="1400" dirty="0" err="1">
                <a:ea typeface="Bangla MN" charset="0"/>
                <a:cs typeface="Bangla MN" charset="0"/>
              </a:rPr>
              <a:t>rax</a:t>
            </a:r>
            <a:endParaRPr kumimoji="1" lang="en-US" altLang="zh-CN" sz="1400" dirty="0">
              <a:ea typeface="Bangla MN" charset="0"/>
              <a:cs typeface="Bangla MN" charset="0"/>
            </a:endParaRPr>
          </a:p>
        </p:txBody>
      </p:sp>
      <p:sp>
        <p:nvSpPr>
          <p:cNvPr id="21" name="文本框 20"/>
          <p:cNvSpPr txBox="1"/>
          <p:nvPr/>
        </p:nvSpPr>
        <p:spPr>
          <a:xfrm>
            <a:off x="6084822" y="1849389"/>
            <a:ext cx="1439506" cy="307777"/>
          </a:xfrm>
          <a:prstGeom prst="rect">
            <a:avLst/>
          </a:prstGeom>
          <a:noFill/>
        </p:spPr>
        <p:txBody>
          <a:bodyPr wrap="square" rtlCol="0">
            <a:spAutoFit/>
          </a:bodyPr>
          <a:lstStyle/>
          <a:p>
            <a:r>
              <a:rPr kumimoji="1" lang="en-US" altLang="zh-CN" sz="1400" dirty="0">
                <a:ea typeface="Bangla MN" charset="0"/>
                <a:cs typeface="Bangla MN" charset="0"/>
              </a:rPr>
              <a:t>%</a:t>
            </a:r>
            <a:r>
              <a:rPr kumimoji="1" lang="en-US" altLang="zh-CN" sz="1400" dirty="0" err="1">
                <a:ea typeface="Bangla MN" charset="0"/>
                <a:cs typeface="Bangla MN" charset="0"/>
              </a:rPr>
              <a:t>rax</a:t>
            </a:r>
            <a:r>
              <a:rPr kumimoji="1" lang="en-US" altLang="zh-CN" sz="1400" dirty="0">
                <a:ea typeface="Bangla MN" charset="0"/>
                <a:cs typeface="Bangla MN" charset="0"/>
              </a:rPr>
              <a:t> = </a:t>
            </a:r>
            <a:r>
              <a:rPr kumimoji="1" lang="en-US" altLang="zh-CN" sz="1400" b="1" dirty="0">
                <a:effectLst>
                  <a:outerShdw blurRad="63500" sx="102000" sy="102000" algn="ctr" rotWithShape="0">
                    <a:prstClr val="black">
                      <a:alpha val="40000"/>
                    </a:prstClr>
                  </a:outerShdw>
                </a:effectLst>
                <a:ea typeface="Bangla MN" charset="0"/>
                <a:cs typeface="Bangla MN" charset="0"/>
              </a:rPr>
              <a:t>1</a:t>
            </a:r>
            <a:endParaRPr kumimoji="1" lang="en-US" altLang="zh-CN" sz="1400" dirty="0">
              <a:ea typeface="Bangla MN" charset="0"/>
              <a:cs typeface="Bangla MN" charset="0"/>
              <a:sym typeface="Wingdings"/>
            </a:endParaRPr>
          </a:p>
        </p:txBody>
      </p:sp>
      <p:sp>
        <p:nvSpPr>
          <p:cNvPr id="22" name="文本框 21"/>
          <p:cNvSpPr txBox="1"/>
          <p:nvPr/>
        </p:nvSpPr>
        <p:spPr>
          <a:xfrm>
            <a:off x="4129162" y="1421455"/>
            <a:ext cx="1162919" cy="307777"/>
          </a:xfrm>
          <a:prstGeom prst="rect">
            <a:avLst/>
          </a:prstGeom>
          <a:noFill/>
        </p:spPr>
        <p:txBody>
          <a:bodyPr wrap="square" rtlCol="0">
            <a:spAutoFit/>
          </a:bodyPr>
          <a:lstStyle/>
          <a:p>
            <a:pPr algn="ctr"/>
            <a:r>
              <a:rPr kumimoji="1" lang="en-US" altLang="zh-CN" sz="1400" dirty="0">
                <a:ea typeface="Bangla MN" charset="0"/>
                <a:cs typeface="Bangla MN" charset="0"/>
              </a:rPr>
              <a:t>Instruction</a:t>
            </a:r>
            <a:endParaRPr kumimoji="1" lang="zh-CN" altLang="en-US" sz="1400" dirty="0">
              <a:ea typeface="Bangla MN" charset="0"/>
              <a:cs typeface="Bangla MN" charset="0"/>
            </a:endParaRPr>
          </a:p>
        </p:txBody>
      </p:sp>
      <p:sp>
        <p:nvSpPr>
          <p:cNvPr id="23" name="文本框 22"/>
          <p:cNvSpPr txBox="1"/>
          <p:nvPr/>
        </p:nvSpPr>
        <p:spPr>
          <a:xfrm>
            <a:off x="6236162" y="1407252"/>
            <a:ext cx="1000135" cy="307777"/>
          </a:xfrm>
          <a:prstGeom prst="rect">
            <a:avLst/>
          </a:prstGeom>
          <a:noFill/>
        </p:spPr>
        <p:txBody>
          <a:bodyPr wrap="square" rtlCol="0">
            <a:spAutoFit/>
          </a:bodyPr>
          <a:lstStyle/>
          <a:p>
            <a:pPr algn="ctr"/>
            <a:r>
              <a:rPr kumimoji="1" lang="en-US" altLang="zh-CN" sz="1400" dirty="0">
                <a:ea typeface="Bangla MN" charset="0"/>
                <a:cs typeface="Bangla MN" charset="0"/>
              </a:rPr>
              <a:t>Effect</a:t>
            </a:r>
            <a:endParaRPr kumimoji="1" lang="zh-CN" altLang="en-US" sz="1400" dirty="0">
              <a:ea typeface="Bangla MN" charset="0"/>
              <a:cs typeface="Bangla MN" charset="0"/>
            </a:endParaRPr>
          </a:p>
        </p:txBody>
      </p:sp>
      <p:sp>
        <p:nvSpPr>
          <p:cNvPr id="24" name="文本框 23"/>
          <p:cNvSpPr txBox="1"/>
          <p:nvPr/>
        </p:nvSpPr>
        <p:spPr>
          <a:xfrm>
            <a:off x="2041718" y="2397249"/>
            <a:ext cx="1126169" cy="307777"/>
          </a:xfrm>
          <a:prstGeom prst="rect">
            <a:avLst/>
          </a:prstGeom>
          <a:noFill/>
        </p:spPr>
        <p:txBody>
          <a:bodyPr wrap="square" rtlCol="0" anchor="ctr" anchorCtr="0">
            <a:spAutoFit/>
          </a:bodyPr>
          <a:lstStyle/>
          <a:p>
            <a:pPr algn="ctr"/>
            <a:r>
              <a:rPr kumimoji="1" lang="zh-CN" altLang="en-US" sz="1400" dirty="0">
                <a:ea typeface="Bangla MN" charset="0"/>
                <a:cs typeface="Bangla MN" charset="0"/>
              </a:rPr>
              <a:t>投机执行</a:t>
            </a:r>
          </a:p>
        </p:txBody>
      </p:sp>
      <p:cxnSp>
        <p:nvCxnSpPr>
          <p:cNvPr id="25" name="直线箭头连接符 24"/>
          <p:cNvCxnSpPr/>
          <p:nvPr/>
        </p:nvCxnSpPr>
        <p:spPr>
          <a:xfrm>
            <a:off x="3361254" y="2209428"/>
            <a:ext cx="0" cy="7255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线连接符 25"/>
          <p:cNvCxnSpPr/>
          <p:nvPr/>
        </p:nvCxnSpPr>
        <p:spPr>
          <a:xfrm>
            <a:off x="3266819" y="2209428"/>
            <a:ext cx="1888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文本框 26"/>
          <p:cNvSpPr txBox="1"/>
          <p:nvPr/>
        </p:nvSpPr>
        <p:spPr>
          <a:xfrm>
            <a:off x="1803725" y="1737331"/>
            <a:ext cx="1602154" cy="523220"/>
          </a:xfrm>
          <a:prstGeom prst="rect">
            <a:avLst/>
          </a:prstGeom>
          <a:noFill/>
        </p:spPr>
        <p:txBody>
          <a:bodyPr wrap="square" rtlCol="0" anchor="ctr" anchorCtr="0">
            <a:spAutoFit/>
          </a:bodyPr>
          <a:lstStyle/>
          <a:p>
            <a:pPr algn="ctr"/>
            <a:r>
              <a:rPr kumimoji="1" lang="zh-CN" altLang="en-US" sz="1400" dirty="0">
                <a:solidFill>
                  <a:srgbClr val="FF0066"/>
                </a:solidFill>
                <a:ea typeface="Bangla MN" charset="0"/>
                <a:cs typeface="Bangla MN" charset="0"/>
              </a:rPr>
              <a:t>非法内核内存</a:t>
            </a:r>
            <a:endParaRPr kumimoji="1" lang="en-US" altLang="zh-CN" sz="1400" dirty="0">
              <a:solidFill>
                <a:srgbClr val="FF0066"/>
              </a:solidFill>
              <a:ea typeface="Bangla MN" charset="0"/>
              <a:cs typeface="Bangla MN" charset="0"/>
            </a:endParaRPr>
          </a:p>
          <a:p>
            <a:pPr algn="ctr"/>
            <a:r>
              <a:rPr kumimoji="1" lang="zh-CN" altLang="en-US" sz="1400" dirty="0">
                <a:solidFill>
                  <a:srgbClr val="FF0066"/>
                </a:solidFill>
                <a:ea typeface="Bangla MN" charset="0"/>
                <a:cs typeface="Bangla MN" charset="0"/>
              </a:rPr>
              <a:t>访问！</a:t>
            </a:r>
          </a:p>
        </p:txBody>
      </p:sp>
      <p:sp>
        <p:nvSpPr>
          <p:cNvPr id="28" name="椭圆 27"/>
          <p:cNvSpPr/>
          <p:nvPr/>
        </p:nvSpPr>
        <p:spPr>
          <a:xfrm>
            <a:off x="3707904" y="1893193"/>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1</a:t>
            </a:r>
            <a:endParaRPr kumimoji="1" lang="zh-CN" altLang="en-US" b="1" dirty="0">
              <a:solidFill>
                <a:srgbClr val="FF0066"/>
              </a:solidFill>
              <a:ea typeface="Bangla MN" charset="0"/>
              <a:cs typeface="Bangla MN" charset="0"/>
            </a:endParaRPr>
          </a:p>
        </p:txBody>
      </p:sp>
      <p:sp>
        <p:nvSpPr>
          <p:cNvPr id="29" name="椭圆 28"/>
          <p:cNvSpPr/>
          <p:nvPr/>
        </p:nvSpPr>
        <p:spPr>
          <a:xfrm>
            <a:off x="3707904" y="2397249"/>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30" name="文本框 29"/>
          <p:cNvSpPr txBox="1"/>
          <p:nvPr/>
        </p:nvSpPr>
        <p:spPr>
          <a:xfrm>
            <a:off x="3275857" y="3793605"/>
            <a:ext cx="876921" cy="307777"/>
          </a:xfrm>
          <a:prstGeom prst="rect">
            <a:avLst/>
          </a:prstGeom>
          <a:solidFill>
            <a:schemeClr val="bg1"/>
          </a:solidFill>
        </p:spPr>
        <p:txBody>
          <a:bodyPr wrap="square" rtlCol="0">
            <a:spAutoFit/>
          </a:bodyPr>
          <a:lstStyle/>
          <a:p>
            <a:pPr algn="ctr"/>
            <a:r>
              <a:rPr kumimoji="1" lang="en-US" altLang="zh-CN" sz="1400" b="1" dirty="0">
                <a:ea typeface="Bangla MN" charset="0"/>
                <a:cs typeface="Bangla MN" charset="0"/>
              </a:rPr>
              <a:t>Cache</a:t>
            </a:r>
            <a:endParaRPr kumimoji="1" lang="zh-CN" altLang="en-US" sz="1400" b="1" dirty="0">
              <a:ea typeface="Bangla MN" charset="0"/>
              <a:cs typeface="Bangla MN" charset="0"/>
            </a:endParaRPr>
          </a:p>
        </p:txBody>
      </p:sp>
      <p:sp>
        <p:nvSpPr>
          <p:cNvPr id="31" name="文本框 30"/>
          <p:cNvSpPr txBox="1"/>
          <p:nvPr/>
        </p:nvSpPr>
        <p:spPr>
          <a:xfrm>
            <a:off x="5681615" y="3793605"/>
            <a:ext cx="1047414" cy="307777"/>
          </a:xfrm>
          <a:prstGeom prst="rect">
            <a:avLst/>
          </a:prstGeom>
          <a:solidFill>
            <a:schemeClr val="bg1"/>
          </a:solidFill>
        </p:spPr>
        <p:txBody>
          <a:bodyPr wrap="square" rtlCol="0">
            <a:spAutoFit/>
          </a:bodyPr>
          <a:lstStyle/>
          <a:p>
            <a:r>
              <a:rPr kumimoji="1" lang="en-US" altLang="zh-CN" sz="1400" b="1" dirty="0">
                <a:ea typeface="Bangla MN" charset="0"/>
                <a:cs typeface="Bangla MN" charset="0"/>
              </a:rPr>
              <a:t>Memory</a:t>
            </a:r>
            <a:r>
              <a:rPr kumimoji="1" lang="zh-CN" altLang="en-US" sz="1400" b="1" dirty="0">
                <a:ea typeface="Bangla MN" charset="0"/>
                <a:cs typeface="Bangla MN" charset="0"/>
              </a:rPr>
              <a:t> </a:t>
            </a:r>
          </a:p>
        </p:txBody>
      </p:sp>
      <p:sp>
        <p:nvSpPr>
          <p:cNvPr id="39" name="文本框 38"/>
          <p:cNvSpPr txBox="1"/>
          <p:nvPr/>
        </p:nvSpPr>
        <p:spPr>
          <a:xfrm>
            <a:off x="5508105" y="4749232"/>
            <a:ext cx="1551535" cy="492443"/>
          </a:xfrm>
          <a:prstGeom prst="rect">
            <a:avLst/>
          </a:prstGeom>
          <a:noFill/>
        </p:spPr>
        <p:txBody>
          <a:bodyPr wrap="square" rtlCol="0">
            <a:spAutoFit/>
          </a:bodyPr>
          <a:lstStyle/>
          <a:p>
            <a:pPr algn="ctr"/>
            <a:r>
              <a:rPr kumimoji="1" lang="en-US" altLang="zh-CN" sz="1400" b="1" dirty="0" err="1">
                <a:ea typeface="Bangla MN" charset="0"/>
                <a:cs typeface="Bangla MN" charset="0"/>
              </a:rPr>
              <a:t>buf</a:t>
            </a:r>
            <a:r>
              <a:rPr kumimoji="1" lang="en-US" altLang="zh-CN" sz="1400" b="1" dirty="0">
                <a:ea typeface="Bangla MN" charset="0"/>
                <a:cs typeface="Bangla MN" charset="0"/>
              </a:rPr>
              <a:t> </a:t>
            </a:r>
          </a:p>
          <a:p>
            <a:pPr algn="ctr"/>
            <a:r>
              <a:rPr kumimoji="1" lang="en-US" altLang="zh-CN" sz="1200" dirty="0">
                <a:ea typeface="Bangla MN" charset="0"/>
                <a:cs typeface="Bangla MN" charset="0"/>
              </a:rPr>
              <a:t>(Attack buffer)</a:t>
            </a:r>
            <a:endParaRPr kumimoji="1" lang="zh-CN" altLang="en-US" dirty="0">
              <a:ea typeface="Bangla MN" charset="0"/>
              <a:cs typeface="Bangla MN" charset="0"/>
            </a:endParaRPr>
          </a:p>
        </p:txBody>
      </p:sp>
      <p:pic>
        <p:nvPicPr>
          <p:cNvPr id="41" name="图片 4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642" y="4696928"/>
            <a:ext cx="369461" cy="604390"/>
          </a:xfrm>
          <a:prstGeom prst="rect">
            <a:avLst/>
          </a:prstGeom>
        </p:spPr>
      </p:pic>
      <p:sp>
        <p:nvSpPr>
          <p:cNvPr id="42" name="文本框 41"/>
          <p:cNvSpPr txBox="1"/>
          <p:nvPr/>
        </p:nvSpPr>
        <p:spPr>
          <a:xfrm>
            <a:off x="1115617" y="4796539"/>
            <a:ext cx="1142163" cy="276999"/>
          </a:xfrm>
          <a:prstGeom prst="rect">
            <a:avLst/>
          </a:prstGeom>
          <a:noFill/>
        </p:spPr>
        <p:txBody>
          <a:bodyPr wrap="square" rtlCol="0">
            <a:spAutoFit/>
          </a:bodyPr>
          <a:lstStyle/>
          <a:p>
            <a:r>
              <a:rPr kumimoji="1" lang="en-US" altLang="zh-CN" sz="1200" b="1" dirty="0">
                <a:ea typeface="DengXian" charset="-122"/>
                <a:cs typeface="DengXian" charset="-122"/>
              </a:rPr>
              <a:t>Meltdown</a:t>
            </a:r>
          </a:p>
        </p:txBody>
      </p:sp>
      <p:graphicFrame>
        <p:nvGraphicFramePr>
          <p:cNvPr id="48" name="表格 47"/>
          <p:cNvGraphicFramePr>
            <a:graphicFrameLocks noGrp="1"/>
          </p:cNvGraphicFramePr>
          <p:nvPr/>
        </p:nvGraphicFramePr>
        <p:xfrm>
          <a:off x="5926351" y="4172493"/>
          <a:ext cx="2520000" cy="340268"/>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3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360000">
                  <a:extLst>
                    <a:ext uri="{9D8B030D-6E8A-4147-A177-3AD203B41FA5}">
                      <a16:colId xmlns:a16="http://schemas.microsoft.com/office/drawing/2014/main" val="20006"/>
                    </a:ext>
                  </a:extLst>
                </a:gridCol>
              </a:tblGrid>
              <a:tr h="340268">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[0]</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[1]</a:t>
                      </a:r>
                      <a:endParaRPr lang="zh-CN" altLang="en-US" sz="900" dirty="0">
                        <a:solidFill>
                          <a:schemeClr val="tx1"/>
                        </a:solidFill>
                      </a:endParaRPr>
                    </a:p>
                  </a:txBody>
                  <a:tcPr marL="0" marR="0" marT="0" marB="0"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[2]</a:t>
                      </a:r>
                      <a:endParaRPr lang="zh-CN" altLang="en-US" sz="900" dirty="0">
                        <a:solidFill>
                          <a:schemeClr val="tx1"/>
                        </a:solidFill>
                      </a:endParaRPr>
                    </a:p>
                  </a:txBody>
                  <a:tcPr marL="0" marR="0" marT="0" marB="0" anchor="ctr">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900" dirty="0">
                          <a:solidFill>
                            <a:schemeClr val="tx1"/>
                          </a:solidFill>
                        </a:rPr>
                        <a:t>…</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[n]</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43" name="文本框 42"/>
          <p:cNvSpPr txBox="1"/>
          <p:nvPr/>
        </p:nvSpPr>
        <p:spPr>
          <a:xfrm>
            <a:off x="3972526" y="2353445"/>
            <a:ext cx="1986832" cy="307777"/>
          </a:xfrm>
          <a:prstGeom prst="rect">
            <a:avLst/>
          </a:prstGeom>
          <a:noFill/>
        </p:spPr>
        <p:txBody>
          <a:bodyPr wrap="square" rtlCol="0">
            <a:spAutoFit/>
          </a:bodyPr>
          <a:lstStyle/>
          <a:p>
            <a:r>
              <a:rPr kumimoji="1" lang="en-US" altLang="zh-CN" sz="1400" dirty="0">
                <a:ea typeface="Bangla MN" charset="0"/>
                <a:cs typeface="Bangla MN" charset="0"/>
              </a:rPr>
              <a:t>Load </a:t>
            </a:r>
            <a:r>
              <a:rPr kumimoji="1" lang="en-US" altLang="zh-CN" sz="1400" b="1" dirty="0" err="1">
                <a:ea typeface="Bangla MN" charset="0"/>
                <a:cs typeface="Bangla MN" charset="0"/>
              </a:rPr>
              <a:t>buf</a:t>
            </a:r>
            <a:r>
              <a:rPr kumimoji="1" lang="en-US" altLang="zh-CN" sz="1400" dirty="0">
                <a:ea typeface="Bangla MN" charset="0"/>
                <a:cs typeface="Bangla MN" charset="0"/>
              </a:rPr>
              <a:t>[%</a:t>
            </a:r>
            <a:r>
              <a:rPr kumimoji="1" lang="en-US" altLang="zh-CN" sz="1400" dirty="0" err="1">
                <a:ea typeface="Bangla MN" charset="0"/>
                <a:cs typeface="Bangla MN" charset="0"/>
              </a:rPr>
              <a:t>rax</a:t>
            </a:r>
            <a:r>
              <a:rPr kumimoji="1" lang="en-US" altLang="zh-CN" sz="1400" dirty="0">
                <a:ea typeface="Bangla MN" charset="0"/>
                <a:cs typeface="Bangla MN" charset="0"/>
              </a:rPr>
              <a:t>], %</a:t>
            </a:r>
            <a:r>
              <a:rPr kumimoji="1" lang="en-US" altLang="zh-CN" sz="1400" dirty="0" err="1">
                <a:ea typeface="Bangla MN" charset="0"/>
                <a:cs typeface="Bangla MN" charset="0"/>
              </a:rPr>
              <a:t>rbx</a:t>
            </a:r>
            <a:endParaRPr kumimoji="1" lang="en-US" altLang="zh-CN" sz="1400" dirty="0">
              <a:ea typeface="Bangla MN" charset="0"/>
              <a:cs typeface="Bangla MN" charset="0"/>
            </a:endParaRPr>
          </a:p>
        </p:txBody>
      </p:sp>
      <p:sp>
        <p:nvSpPr>
          <p:cNvPr id="44" name="文本框 43"/>
          <p:cNvSpPr txBox="1"/>
          <p:nvPr/>
        </p:nvSpPr>
        <p:spPr>
          <a:xfrm>
            <a:off x="6084822" y="2353445"/>
            <a:ext cx="1439506" cy="307777"/>
          </a:xfrm>
          <a:prstGeom prst="rect">
            <a:avLst/>
          </a:prstGeom>
          <a:noFill/>
        </p:spPr>
        <p:txBody>
          <a:bodyPr wrap="square" rtlCol="0">
            <a:spAutoFit/>
          </a:bodyPr>
          <a:lstStyle/>
          <a:p>
            <a:r>
              <a:rPr kumimoji="1" lang="en-US" altLang="zh-CN" sz="1400" dirty="0">
                <a:ea typeface="Bangla MN" charset="0"/>
                <a:cs typeface="Bangla MN" charset="0"/>
                <a:sym typeface="Wingdings"/>
              </a:rPr>
              <a:t>Access </a:t>
            </a:r>
            <a:r>
              <a:rPr kumimoji="1" lang="en-US" altLang="zh-CN" sz="1400" b="1" dirty="0" err="1">
                <a:effectLst>
                  <a:outerShdw blurRad="63500" sx="102000" sy="102000" algn="ctr" rotWithShape="0">
                    <a:prstClr val="black">
                      <a:alpha val="40000"/>
                    </a:prstClr>
                  </a:outerShdw>
                </a:effectLst>
                <a:ea typeface="Bangla MN" charset="0"/>
                <a:cs typeface="Bangla MN" charset="0"/>
                <a:sym typeface="Wingdings"/>
              </a:rPr>
              <a:t>buf</a:t>
            </a:r>
            <a:r>
              <a:rPr kumimoji="1" lang="en-US" altLang="zh-CN" sz="1400" b="1" dirty="0">
                <a:effectLst>
                  <a:outerShdw blurRad="63500" sx="102000" sy="102000" algn="ctr" rotWithShape="0">
                    <a:prstClr val="black">
                      <a:alpha val="40000"/>
                    </a:prstClr>
                  </a:outerShdw>
                </a:effectLst>
                <a:ea typeface="Bangla MN" charset="0"/>
                <a:cs typeface="Bangla MN" charset="0"/>
                <a:sym typeface="Wingdings"/>
              </a:rPr>
              <a:t>[1]</a:t>
            </a:r>
            <a:endParaRPr kumimoji="1" lang="en-US" altLang="zh-CN" sz="1400" dirty="0">
              <a:ea typeface="Bangla MN" charset="0"/>
              <a:cs typeface="Bangla MN" charset="0"/>
              <a:sym typeface="Wingdings"/>
            </a:endParaRPr>
          </a:p>
        </p:txBody>
      </p:sp>
      <p:cxnSp>
        <p:nvCxnSpPr>
          <p:cNvPr id="47" name="直线箭头连接符 46"/>
          <p:cNvCxnSpPr/>
          <p:nvPr/>
        </p:nvCxnSpPr>
        <p:spPr>
          <a:xfrm>
            <a:off x="6283871" y="4550316"/>
            <a:ext cx="0" cy="246222"/>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graphicFrame>
        <p:nvGraphicFramePr>
          <p:cNvPr id="46" name="表格 45"/>
          <p:cNvGraphicFramePr>
            <a:graphicFrameLocks noGrp="1"/>
          </p:cNvGraphicFramePr>
          <p:nvPr/>
        </p:nvGraphicFramePr>
        <p:xfrm>
          <a:off x="3579299" y="4172493"/>
          <a:ext cx="1157165" cy="822960"/>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1157165">
                  <a:extLst>
                    <a:ext uri="{9D8B030D-6E8A-4147-A177-3AD203B41FA5}">
                      <a16:colId xmlns:a16="http://schemas.microsoft.com/office/drawing/2014/main" val="20000"/>
                    </a:ext>
                  </a:extLst>
                </a:gridCol>
              </a:tblGrid>
              <a:tr h="117404">
                <a:tc>
                  <a:txBody>
                    <a:bodyPr/>
                    <a:lstStyle/>
                    <a:p>
                      <a:pPr algn="ctr"/>
                      <a:r>
                        <a:rPr lang="en-US" altLang="zh-CN" sz="900" dirty="0">
                          <a:solidFill>
                            <a:schemeClr val="tx1"/>
                          </a:solidFill>
                        </a:rPr>
                        <a:t>Key = 1</a:t>
                      </a:r>
                      <a:endParaRPr lang="zh-CN" altLang="en-US" sz="900" dirty="0">
                        <a:solidFill>
                          <a:schemeClr val="tx1"/>
                        </a:solidFill>
                      </a:endParaRPr>
                    </a:p>
                  </a:txBody>
                  <a:tcPr marL="72000" marR="72000" marT="0" marB="0">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17404">
                <a:tc>
                  <a:txBody>
                    <a:bodyPr/>
                    <a:lstStyle/>
                    <a:p>
                      <a:pPr algn="ctr"/>
                      <a:endParaRPr lang="zh-CN" altLang="en-US" sz="900" dirty="0">
                        <a:solidFill>
                          <a:schemeClr val="tx1"/>
                        </a:solidFill>
                      </a:endParaRPr>
                    </a:p>
                  </a:txBody>
                  <a:tcPr marL="72000" marR="72000" marT="0" marB="0">
                    <a:lnT w="19050" cap="flat" cmpd="sng" algn="ctr">
                      <a:solidFill>
                        <a:srgbClr val="FF0066"/>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102870">
                <a:tc>
                  <a:txBody>
                    <a:bodyPr/>
                    <a:lstStyle/>
                    <a:p>
                      <a:pPr algn="ctr"/>
                      <a:endParaRPr lang="zh-CN" altLang="en-US" sz="900" b="1" dirty="0">
                        <a:solidFill>
                          <a:schemeClr val="tx1"/>
                        </a:solidFill>
                      </a:endParaRPr>
                    </a:p>
                  </a:txBody>
                  <a:tcPr marL="72000" marR="72000" marT="0" marB="0">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2870">
                <a:tc>
                  <a:txBody>
                    <a:bodyPr/>
                    <a:lstStyle/>
                    <a:p>
                      <a:pPr algn="ctr"/>
                      <a:endParaRPr lang="zh-CN" altLang="en-US" sz="900" b="1" dirty="0">
                        <a:solidFill>
                          <a:schemeClr val="tx1"/>
                        </a:solidFill>
                      </a:endParaRPr>
                    </a:p>
                  </a:txBody>
                  <a:tcPr marL="72000" marR="72000" marT="0" marB="0">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02870">
                <a:tc>
                  <a:txBody>
                    <a:bodyPr/>
                    <a:lstStyle/>
                    <a:p>
                      <a:pPr algn="ctr"/>
                      <a:endParaRPr lang="zh-CN" altLang="en-US" sz="900" b="1" dirty="0">
                        <a:solidFill>
                          <a:schemeClr val="tx1"/>
                        </a:solidFill>
                      </a:endParaRPr>
                    </a:p>
                  </a:txBody>
                  <a:tcPr marL="72000" marR="72000" marT="0" marB="0">
                    <a:lnT w="9525" cap="flat" cmpd="sng" algn="ctr">
                      <a:solidFill>
                        <a:schemeClr val="tx1"/>
                      </a:solidFill>
                      <a:prstDash val="solid"/>
                      <a:round/>
                      <a:headEnd type="none" w="med" len="med"/>
                      <a:tailEnd type="none" w="med" len="med"/>
                    </a:lnT>
                    <a:solidFill>
                      <a:schemeClr val="bg1"/>
                    </a:solidFill>
                  </a:tcPr>
                </a:tc>
                <a:extLst>
                  <a:ext uri="{0D108BD9-81ED-4DB2-BD59-A6C34878D82A}">
                    <a16:rowId xmlns:a16="http://schemas.microsoft.com/office/drawing/2014/main" val="10004"/>
                  </a:ext>
                </a:extLst>
              </a:tr>
              <a:tr h="102870">
                <a:tc>
                  <a:txBody>
                    <a:bodyPr/>
                    <a:lstStyle/>
                    <a:p>
                      <a:pPr algn="ctr"/>
                      <a:endParaRPr lang="zh-CN" altLang="en-US" sz="900" b="1" dirty="0">
                        <a:solidFill>
                          <a:schemeClr val="tx1"/>
                        </a:solidFill>
                      </a:endParaRPr>
                    </a:p>
                  </a:txBody>
                  <a:tcPr marL="72000" marR="72000" marT="0" marB="0">
                    <a:solidFill>
                      <a:schemeClr val="bg1"/>
                    </a:solidFill>
                  </a:tcPr>
                </a:tc>
                <a:extLst>
                  <a:ext uri="{0D108BD9-81ED-4DB2-BD59-A6C34878D82A}">
                    <a16:rowId xmlns:a16="http://schemas.microsoft.com/office/drawing/2014/main" val="10005"/>
                  </a:ext>
                </a:extLst>
              </a:tr>
            </a:tbl>
          </a:graphicData>
        </a:graphic>
      </p:graphicFrame>
      <p:sp>
        <p:nvSpPr>
          <p:cNvPr id="36" name="标题 1">
            <a:extLst>
              <a:ext uri="{FF2B5EF4-FFF2-40B4-BE49-F238E27FC236}">
                <a16:creationId xmlns:a16="http://schemas.microsoft.com/office/drawing/2014/main" id="{843CDBD5-0F73-A842-99F6-A35F89EA1AED}"/>
              </a:ext>
            </a:extLst>
          </p:cNvPr>
          <p:cNvSpPr>
            <a:spLocks noGrp="1"/>
          </p:cNvSpPr>
          <p:nvPr>
            <p:ph type="title"/>
          </p:nvPr>
        </p:nvSpPr>
        <p:spPr>
          <a:xfrm>
            <a:off x="457200" y="228866"/>
            <a:ext cx="8229600" cy="900442"/>
          </a:xfrm>
        </p:spPr>
        <p:txBody>
          <a:bodyPr>
            <a:normAutofit/>
          </a:bodyPr>
          <a:lstStyle/>
          <a:p>
            <a:r>
              <a:rPr lang="en-US" altLang="zh-CN" dirty="0">
                <a:latin typeface="+mn-lt"/>
              </a:rPr>
              <a:t>Meltdown</a:t>
            </a:r>
            <a:r>
              <a:rPr lang="zh-CN" altLang="en-US" dirty="0">
                <a:latin typeface="+mn-lt"/>
              </a:rPr>
              <a:t>漏洞原理</a:t>
            </a:r>
          </a:p>
        </p:txBody>
      </p:sp>
    </p:spTree>
    <p:extLst>
      <p:ext uri="{BB962C8B-B14F-4D97-AF65-F5344CB8AC3E}">
        <p14:creationId xmlns:p14="http://schemas.microsoft.com/office/powerpoint/2010/main" val="5260027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4" grpId="0"/>
      <p:bldP spid="27" grpId="0"/>
      <p:bldP spid="28" grpId="0" animBg="1"/>
      <p:bldP spid="29" grpId="0" animBg="1"/>
      <p:bldP spid="43" grpId="0"/>
      <p:bldP spid="4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剪去单角的矩形 15"/>
          <p:cNvSpPr/>
          <p:nvPr/>
        </p:nvSpPr>
        <p:spPr>
          <a:xfrm>
            <a:off x="3595483" y="1366358"/>
            <a:ext cx="4091413" cy="2002178"/>
          </a:xfrm>
          <a:prstGeom prst="snip1Rect">
            <a:avLst>
              <a:gd name="adj" fmla="val 0"/>
            </a:avLst>
          </a:prstGeom>
          <a:solidFill>
            <a:schemeClr val="bg1"/>
          </a:solidFill>
          <a:ln w="15875">
            <a:solidFill>
              <a:schemeClr val="tx1"/>
            </a:solidFill>
            <a:prstDash val="dash"/>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ea typeface="Bangla MN" charset="0"/>
              <a:cs typeface="Bangla MN" charset="0"/>
            </a:endParaRPr>
          </a:p>
        </p:txBody>
      </p:sp>
      <p:sp>
        <p:nvSpPr>
          <p:cNvPr id="55" name="文本框 54"/>
          <p:cNvSpPr txBox="1"/>
          <p:nvPr/>
        </p:nvSpPr>
        <p:spPr>
          <a:xfrm>
            <a:off x="3995937" y="2785492"/>
            <a:ext cx="1958897" cy="523220"/>
          </a:xfrm>
          <a:prstGeom prst="rect">
            <a:avLst/>
          </a:prstGeom>
          <a:noFill/>
        </p:spPr>
        <p:txBody>
          <a:bodyPr wrap="square" rtlCol="0">
            <a:spAutoFit/>
          </a:bodyPr>
          <a:lstStyle/>
          <a:p>
            <a:pPr algn="ctr"/>
            <a:r>
              <a:rPr kumimoji="1" lang="zh-CN" altLang="en-US" sz="1400" dirty="0">
                <a:ea typeface="Bangla MN" charset="0"/>
                <a:cs typeface="Bangla MN" charset="0"/>
                <a:sym typeface="Wingdings"/>
              </a:rPr>
              <a:t>处理器状态回滚</a:t>
            </a:r>
            <a:endParaRPr kumimoji="1" lang="en-US" altLang="zh-CN" sz="1400" dirty="0">
              <a:solidFill>
                <a:srgbClr val="FF0066"/>
              </a:solidFill>
              <a:ea typeface="Bangla MN" charset="0"/>
              <a:cs typeface="Bangla MN" charset="0"/>
              <a:sym typeface="Wingdings"/>
            </a:endParaRPr>
          </a:p>
          <a:p>
            <a:pPr algn="ctr"/>
            <a:r>
              <a:rPr kumimoji="1" lang="zh-CN" altLang="en-US" sz="1400" dirty="0">
                <a:solidFill>
                  <a:srgbClr val="FF0066"/>
                </a:solidFill>
                <a:ea typeface="Bangla MN" charset="0"/>
                <a:cs typeface="Bangla MN" charset="0"/>
                <a:sym typeface="Wingdings"/>
              </a:rPr>
              <a:t>未回滚缓存状态！</a:t>
            </a:r>
            <a:endParaRPr kumimoji="1" lang="en-US" altLang="zh-CN" sz="1400" dirty="0">
              <a:solidFill>
                <a:srgbClr val="FF0066"/>
              </a:solidFill>
              <a:ea typeface="Bangla MN" charset="0"/>
              <a:cs typeface="Bangla MN" charset="0"/>
              <a:sym typeface="Wingdings"/>
            </a:endParaRPr>
          </a:p>
        </p:txBody>
      </p:sp>
      <p:sp>
        <p:nvSpPr>
          <p:cNvPr id="4" name="Slide Number Placeholder 3"/>
          <p:cNvSpPr>
            <a:spLocks noGrp="1"/>
          </p:cNvSpPr>
          <p:nvPr>
            <p:ph type="sldNum" sz="quarter" idx="12"/>
          </p:nvPr>
        </p:nvSpPr>
        <p:spPr>
          <a:xfrm>
            <a:off x="8316416" y="5067933"/>
            <a:ext cx="648072" cy="273844"/>
          </a:xfrm>
        </p:spPr>
        <p:txBody>
          <a:bodyPr/>
          <a:lstStyle/>
          <a:p>
            <a:r>
              <a:rPr lang="en-US" altLang="zh-CN" sz="1800" dirty="0">
                <a:solidFill>
                  <a:schemeClr val="tx1"/>
                </a:solidFill>
              </a:rPr>
              <a:t>3</a:t>
            </a:r>
            <a:endParaRPr lang="zh-CN" altLang="en-US" sz="1800" dirty="0">
              <a:solidFill>
                <a:schemeClr val="tx1"/>
              </a:solidFill>
            </a:endParaRPr>
          </a:p>
        </p:txBody>
      </p:sp>
      <p:sp>
        <p:nvSpPr>
          <p:cNvPr id="7" name="文本框 6"/>
          <p:cNvSpPr txBox="1"/>
          <p:nvPr/>
        </p:nvSpPr>
        <p:spPr>
          <a:xfrm>
            <a:off x="1115617" y="4024761"/>
            <a:ext cx="1142163" cy="276999"/>
          </a:xfrm>
          <a:prstGeom prst="rect">
            <a:avLst/>
          </a:prstGeom>
          <a:noFill/>
        </p:spPr>
        <p:txBody>
          <a:bodyPr wrap="square" rtlCol="0">
            <a:spAutoFit/>
          </a:bodyPr>
          <a:lstStyle/>
          <a:p>
            <a:r>
              <a:rPr kumimoji="1" lang="en-US" altLang="zh-CN" sz="1200" b="1" dirty="0">
                <a:solidFill>
                  <a:srgbClr val="FF0066"/>
                </a:solidFill>
                <a:ea typeface="DengXian" charset="-122"/>
                <a:cs typeface="DengXian" charset="-122"/>
              </a:rPr>
              <a:t>key </a:t>
            </a:r>
            <a:r>
              <a:rPr kumimoji="1" lang="en-US" altLang="zh-CN" sz="1200" b="1" dirty="0">
                <a:ea typeface="DengXian" charset="-122"/>
                <a:cs typeface="DengXian" charset="-122"/>
              </a:rPr>
              <a:t>= 0x01</a:t>
            </a:r>
          </a:p>
        </p:txBody>
      </p:sp>
      <p:sp>
        <p:nvSpPr>
          <p:cNvPr id="8" name="文本框 7"/>
          <p:cNvSpPr txBox="1"/>
          <p:nvPr/>
        </p:nvSpPr>
        <p:spPr>
          <a:xfrm>
            <a:off x="32048" y="4184358"/>
            <a:ext cx="780224" cy="261610"/>
          </a:xfrm>
          <a:prstGeom prst="rect">
            <a:avLst/>
          </a:prstGeom>
          <a:noFill/>
        </p:spPr>
        <p:txBody>
          <a:bodyPr wrap="square" rtlCol="0">
            <a:spAutoFit/>
          </a:bodyPr>
          <a:lstStyle/>
          <a:p>
            <a:pPr algn="ctr"/>
            <a:r>
              <a:rPr kumimoji="1" lang="en-US" altLang="zh-CN" sz="1100" dirty="0">
                <a:ea typeface="DengXian" charset="-122"/>
                <a:cs typeface="DengXian" charset="-122"/>
              </a:rPr>
              <a:t>Kernel</a:t>
            </a:r>
            <a:endParaRPr kumimoji="1" lang="zh-CN" altLang="en-US" sz="1600" dirty="0">
              <a:ea typeface="DengXian" charset="-122"/>
              <a:cs typeface="DengXian" charset="-122"/>
            </a:endParaRPr>
          </a:p>
        </p:txBody>
      </p:sp>
      <p:sp>
        <p:nvSpPr>
          <p:cNvPr id="9" name="文本框 8"/>
          <p:cNvSpPr txBox="1"/>
          <p:nvPr/>
        </p:nvSpPr>
        <p:spPr>
          <a:xfrm>
            <a:off x="90174" y="4558429"/>
            <a:ext cx="586684" cy="261610"/>
          </a:xfrm>
          <a:prstGeom prst="rect">
            <a:avLst/>
          </a:prstGeom>
          <a:noFill/>
        </p:spPr>
        <p:txBody>
          <a:bodyPr wrap="square" rtlCol="0">
            <a:spAutoFit/>
          </a:bodyPr>
          <a:lstStyle/>
          <a:p>
            <a:pPr algn="ctr"/>
            <a:r>
              <a:rPr kumimoji="1" lang="en-US" altLang="zh-CN" sz="1100" dirty="0">
                <a:ea typeface="DengXian" charset="-122"/>
                <a:cs typeface="DengXian" charset="-122"/>
              </a:rPr>
              <a:t>User</a:t>
            </a:r>
            <a:endParaRPr kumimoji="1" lang="zh-CN" altLang="en-US" sz="1600" dirty="0">
              <a:ea typeface="DengXian" charset="-122"/>
              <a:cs typeface="DengXian" charset="-122"/>
            </a:endParaRPr>
          </a:p>
        </p:txBody>
      </p:sp>
      <p:cxnSp>
        <p:nvCxnSpPr>
          <p:cNvPr id="10" name="直线连接符 9"/>
          <p:cNvCxnSpPr/>
          <p:nvPr/>
        </p:nvCxnSpPr>
        <p:spPr>
          <a:xfrm>
            <a:off x="380433" y="4499874"/>
            <a:ext cx="1769250"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540" y="3904256"/>
            <a:ext cx="311664" cy="461233"/>
          </a:xfrm>
          <a:prstGeom prst="rect">
            <a:avLst/>
          </a:prstGeom>
          <a:solidFill>
            <a:schemeClr val="bg1"/>
          </a:solidFill>
        </p:spPr>
      </p:pic>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9262" y="1078287"/>
            <a:ext cx="546620" cy="546620"/>
          </a:xfrm>
          <a:prstGeom prst="rect">
            <a:avLst/>
          </a:prstGeom>
        </p:spPr>
      </p:pic>
      <p:cxnSp>
        <p:nvCxnSpPr>
          <p:cNvPr id="19" name="直线连接符 18"/>
          <p:cNvCxnSpPr/>
          <p:nvPr/>
        </p:nvCxnSpPr>
        <p:spPr>
          <a:xfrm>
            <a:off x="6012160" y="1505262"/>
            <a:ext cx="0" cy="12082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972526" y="1849389"/>
            <a:ext cx="1986832" cy="307777"/>
          </a:xfrm>
          <a:prstGeom prst="rect">
            <a:avLst/>
          </a:prstGeom>
          <a:noFill/>
        </p:spPr>
        <p:txBody>
          <a:bodyPr wrap="square" rtlCol="0">
            <a:spAutoFit/>
          </a:bodyPr>
          <a:lstStyle/>
          <a:p>
            <a:r>
              <a:rPr kumimoji="1" lang="en-US" altLang="zh-CN" sz="1400" dirty="0">
                <a:ea typeface="Bangla MN" charset="0"/>
                <a:cs typeface="Bangla MN" charset="0"/>
              </a:rPr>
              <a:t>Load </a:t>
            </a:r>
            <a:r>
              <a:rPr kumimoji="1" lang="en-US" altLang="zh-CN" sz="1400" b="1" dirty="0">
                <a:solidFill>
                  <a:srgbClr val="FF0066"/>
                </a:solidFill>
                <a:ea typeface="Bangla MN" charset="0"/>
                <a:cs typeface="Bangla MN" charset="0"/>
              </a:rPr>
              <a:t>key</a:t>
            </a:r>
            <a:r>
              <a:rPr kumimoji="1" lang="en-US" altLang="zh-CN" sz="1400" dirty="0">
                <a:ea typeface="Bangla MN" charset="0"/>
                <a:cs typeface="Bangla MN" charset="0"/>
              </a:rPr>
              <a:t>, %</a:t>
            </a:r>
            <a:r>
              <a:rPr kumimoji="1" lang="en-US" altLang="zh-CN" sz="1400" dirty="0" err="1">
                <a:ea typeface="Bangla MN" charset="0"/>
                <a:cs typeface="Bangla MN" charset="0"/>
              </a:rPr>
              <a:t>rax</a:t>
            </a:r>
            <a:endParaRPr kumimoji="1" lang="en-US" altLang="zh-CN" sz="1400" dirty="0">
              <a:ea typeface="Bangla MN" charset="0"/>
              <a:cs typeface="Bangla MN" charset="0"/>
            </a:endParaRPr>
          </a:p>
        </p:txBody>
      </p:sp>
      <p:sp>
        <p:nvSpPr>
          <p:cNvPr id="21" name="文本框 20"/>
          <p:cNvSpPr txBox="1"/>
          <p:nvPr/>
        </p:nvSpPr>
        <p:spPr>
          <a:xfrm>
            <a:off x="6084822" y="1849389"/>
            <a:ext cx="1439506" cy="307777"/>
          </a:xfrm>
          <a:prstGeom prst="rect">
            <a:avLst/>
          </a:prstGeom>
          <a:noFill/>
        </p:spPr>
        <p:txBody>
          <a:bodyPr wrap="square" rtlCol="0">
            <a:spAutoFit/>
          </a:bodyPr>
          <a:lstStyle/>
          <a:p>
            <a:r>
              <a:rPr kumimoji="1" lang="en-US" altLang="zh-CN" sz="1400" dirty="0">
                <a:ea typeface="Bangla MN" charset="0"/>
                <a:cs typeface="Bangla MN" charset="0"/>
              </a:rPr>
              <a:t>%</a:t>
            </a:r>
            <a:r>
              <a:rPr kumimoji="1" lang="en-US" altLang="zh-CN" sz="1400" dirty="0" err="1">
                <a:ea typeface="Bangla MN" charset="0"/>
                <a:cs typeface="Bangla MN" charset="0"/>
              </a:rPr>
              <a:t>rax</a:t>
            </a:r>
            <a:r>
              <a:rPr kumimoji="1" lang="en-US" altLang="zh-CN" sz="1400" dirty="0">
                <a:ea typeface="Bangla MN" charset="0"/>
                <a:cs typeface="Bangla MN" charset="0"/>
              </a:rPr>
              <a:t> = </a:t>
            </a:r>
            <a:r>
              <a:rPr kumimoji="1" lang="en-US" altLang="zh-CN" sz="1400" b="1" dirty="0">
                <a:effectLst>
                  <a:outerShdw blurRad="63500" sx="102000" sy="102000" algn="ctr" rotWithShape="0">
                    <a:prstClr val="black">
                      <a:alpha val="40000"/>
                    </a:prstClr>
                  </a:outerShdw>
                </a:effectLst>
                <a:ea typeface="Bangla MN" charset="0"/>
                <a:cs typeface="Bangla MN" charset="0"/>
              </a:rPr>
              <a:t>1</a:t>
            </a:r>
            <a:endParaRPr kumimoji="1" lang="en-US" altLang="zh-CN" sz="1400" dirty="0">
              <a:ea typeface="Bangla MN" charset="0"/>
              <a:cs typeface="Bangla MN" charset="0"/>
              <a:sym typeface="Wingdings"/>
            </a:endParaRPr>
          </a:p>
        </p:txBody>
      </p:sp>
      <p:sp>
        <p:nvSpPr>
          <p:cNvPr id="22" name="文本框 21"/>
          <p:cNvSpPr txBox="1"/>
          <p:nvPr/>
        </p:nvSpPr>
        <p:spPr>
          <a:xfrm>
            <a:off x="4129162" y="1421455"/>
            <a:ext cx="1162919" cy="307777"/>
          </a:xfrm>
          <a:prstGeom prst="rect">
            <a:avLst/>
          </a:prstGeom>
          <a:noFill/>
        </p:spPr>
        <p:txBody>
          <a:bodyPr wrap="square" rtlCol="0">
            <a:spAutoFit/>
          </a:bodyPr>
          <a:lstStyle/>
          <a:p>
            <a:pPr algn="ctr"/>
            <a:r>
              <a:rPr kumimoji="1" lang="en-US" altLang="zh-CN" sz="1400" dirty="0">
                <a:ea typeface="Bangla MN" charset="0"/>
                <a:cs typeface="Bangla MN" charset="0"/>
              </a:rPr>
              <a:t>Instruction</a:t>
            </a:r>
            <a:endParaRPr kumimoji="1" lang="zh-CN" altLang="en-US" sz="1400" dirty="0">
              <a:ea typeface="Bangla MN" charset="0"/>
              <a:cs typeface="Bangla MN" charset="0"/>
            </a:endParaRPr>
          </a:p>
        </p:txBody>
      </p:sp>
      <p:sp>
        <p:nvSpPr>
          <p:cNvPr id="23" name="文本框 22"/>
          <p:cNvSpPr txBox="1"/>
          <p:nvPr/>
        </p:nvSpPr>
        <p:spPr>
          <a:xfrm>
            <a:off x="6236162" y="1407252"/>
            <a:ext cx="1000135" cy="307777"/>
          </a:xfrm>
          <a:prstGeom prst="rect">
            <a:avLst/>
          </a:prstGeom>
          <a:noFill/>
        </p:spPr>
        <p:txBody>
          <a:bodyPr wrap="square" rtlCol="0">
            <a:spAutoFit/>
          </a:bodyPr>
          <a:lstStyle/>
          <a:p>
            <a:pPr algn="ctr"/>
            <a:r>
              <a:rPr kumimoji="1" lang="en-US" altLang="zh-CN" sz="1400" dirty="0">
                <a:ea typeface="Bangla MN" charset="0"/>
                <a:cs typeface="Bangla MN" charset="0"/>
              </a:rPr>
              <a:t>Effect</a:t>
            </a:r>
            <a:endParaRPr kumimoji="1" lang="zh-CN" altLang="en-US" sz="1400" dirty="0">
              <a:ea typeface="Bangla MN" charset="0"/>
              <a:cs typeface="Bangla MN" charset="0"/>
            </a:endParaRPr>
          </a:p>
        </p:txBody>
      </p:sp>
      <p:cxnSp>
        <p:nvCxnSpPr>
          <p:cNvPr id="25" name="直线箭头连接符 24"/>
          <p:cNvCxnSpPr/>
          <p:nvPr/>
        </p:nvCxnSpPr>
        <p:spPr>
          <a:xfrm>
            <a:off x="3361254" y="2209428"/>
            <a:ext cx="0" cy="7255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线连接符 25"/>
          <p:cNvCxnSpPr/>
          <p:nvPr/>
        </p:nvCxnSpPr>
        <p:spPr>
          <a:xfrm>
            <a:off x="3266819" y="2209428"/>
            <a:ext cx="1888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3707904" y="1893193"/>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1</a:t>
            </a:r>
            <a:endParaRPr kumimoji="1" lang="zh-CN" altLang="en-US" b="1" dirty="0">
              <a:solidFill>
                <a:srgbClr val="FF0066"/>
              </a:solidFill>
              <a:ea typeface="Bangla MN" charset="0"/>
              <a:cs typeface="Bangla MN" charset="0"/>
            </a:endParaRPr>
          </a:p>
        </p:txBody>
      </p:sp>
      <p:sp>
        <p:nvSpPr>
          <p:cNvPr id="29" name="椭圆 28"/>
          <p:cNvSpPr/>
          <p:nvPr/>
        </p:nvSpPr>
        <p:spPr>
          <a:xfrm>
            <a:off x="3707904" y="2397249"/>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30" name="文本框 29"/>
          <p:cNvSpPr txBox="1"/>
          <p:nvPr/>
        </p:nvSpPr>
        <p:spPr>
          <a:xfrm>
            <a:off x="3275857" y="3793605"/>
            <a:ext cx="876921" cy="307777"/>
          </a:xfrm>
          <a:prstGeom prst="rect">
            <a:avLst/>
          </a:prstGeom>
          <a:solidFill>
            <a:schemeClr val="bg1"/>
          </a:solidFill>
        </p:spPr>
        <p:txBody>
          <a:bodyPr wrap="square" rtlCol="0">
            <a:spAutoFit/>
          </a:bodyPr>
          <a:lstStyle/>
          <a:p>
            <a:pPr algn="ctr"/>
            <a:r>
              <a:rPr kumimoji="1" lang="en-US" altLang="zh-CN" sz="1400" b="1" dirty="0">
                <a:ea typeface="Bangla MN" charset="0"/>
                <a:cs typeface="Bangla MN" charset="0"/>
              </a:rPr>
              <a:t>Cache</a:t>
            </a:r>
            <a:endParaRPr kumimoji="1" lang="zh-CN" altLang="en-US" sz="1400" b="1" dirty="0">
              <a:ea typeface="Bangla MN" charset="0"/>
              <a:cs typeface="Bangla MN" charset="0"/>
            </a:endParaRPr>
          </a:p>
        </p:txBody>
      </p:sp>
      <p:sp>
        <p:nvSpPr>
          <p:cNvPr id="31" name="文本框 30"/>
          <p:cNvSpPr txBox="1"/>
          <p:nvPr/>
        </p:nvSpPr>
        <p:spPr>
          <a:xfrm>
            <a:off x="5681615" y="3793605"/>
            <a:ext cx="1047414" cy="307777"/>
          </a:xfrm>
          <a:prstGeom prst="rect">
            <a:avLst/>
          </a:prstGeom>
          <a:solidFill>
            <a:schemeClr val="bg1"/>
          </a:solidFill>
        </p:spPr>
        <p:txBody>
          <a:bodyPr wrap="square" rtlCol="0">
            <a:spAutoFit/>
          </a:bodyPr>
          <a:lstStyle/>
          <a:p>
            <a:r>
              <a:rPr kumimoji="1" lang="en-US" altLang="zh-CN" sz="1400" b="1" dirty="0">
                <a:ea typeface="Bangla MN" charset="0"/>
                <a:cs typeface="Bangla MN" charset="0"/>
              </a:rPr>
              <a:t>Memory</a:t>
            </a:r>
            <a:r>
              <a:rPr kumimoji="1" lang="zh-CN" altLang="en-US" sz="1400" b="1" dirty="0">
                <a:ea typeface="Bangla MN" charset="0"/>
                <a:cs typeface="Bangla MN" charset="0"/>
              </a:rPr>
              <a:t> </a:t>
            </a:r>
          </a:p>
        </p:txBody>
      </p:sp>
      <p:sp>
        <p:nvSpPr>
          <p:cNvPr id="39" name="文本框 38"/>
          <p:cNvSpPr txBox="1"/>
          <p:nvPr/>
        </p:nvSpPr>
        <p:spPr>
          <a:xfrm>
            <a:off x="5508105" y="4749232"/>
            <a:ext cx="1551535" cy="492443"/>
          </a:xfrm>
          <a:prstGeom prst="rect">
            <a:avLst/>
          </a:prstGeom>
          <a:noFill/>
        </p:spPr>
        <p:txBody>
          <a:bodyPr wrap="square" rtlCol="0">
            <a:spAutoFit/>
          </a:bodyPr>
          <a:lstStyle/>
          <a:p>
            <a:pPr algn="ctr"/>
            <a:r>
              <a:rPr kumimoji="1" lang="en-US" altLang="zh-CN" sz="1400" b="1" dirty="0" err="1">
                <a:ea typeface="Bangla MN" charset="0"/>
                <a:cs typeface="Bangla MN" charset="0"/>
              </a:rPr>
              <a:t>buf</a:t>
            </a:r>
            <a:r>
              <a:rPr kumimoji="1" lang="en-US" altLang="zh-CN" sz="1400" b="1" dirty="0">
                <a:ea typeface="Bangla MN" charset="0"/>
                <a:cs typeface="Bangla MN" charset="0"/>
              </a:rPr>
              <a:t> </a:t>
            </a:r>
          </a:p>
          <a:p>
            <a:pPr algn="ctr"/>
            <a:r>
              <a:rPr kumimoji="1" lang="en-US" altLang="zh-CN" sz="1200" dirty="0">
                <a:ea typeface="Bangla MN" charset="0"/>
                <a:cs typeface="Bangla MN" charset="0"/>
              </a:rPr>
              <a:t>(Attack buffer)</a:t>
            </a:r>
            <a:endParaRPr kumimoji="1" lang="zh-CN" altLang="en-US" dirty="0">
              <a:ea typeface="Bangla MN" charset="0"/>
              <a:cs typeface="Bangla MN" charset="0"/>
            </a:endParaRPr>
          </a:p>
        </p:txBody>
      </p:sp>
      <p:pic>
        <p:nvPicPr>
          <p:cNvPr id="41" name="图片 4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642" y="4696928"/>
            <a:ext cx="369461" cy="604390"/>
          </a:xfrm>
          <a:prstGeom prst="rect">
            <a:avLst/>
          </a:prstGeom>
        </p:spPr>
      </p:pic>
      <p:sp>
        <p:nvSpPr>
          <p:cNvPr id="42" name="文本框 41"/>
          <p:cNvSpPr txBox="1"/>
          <p:nvPr/>
        </p:nvSpPr>
        <p:spPr>
          <a:xfrm>
            <a:off x="1115617" y="4796539"/>
            <a:ext cx="1142163" cy="276999"/>
          </a:xfrm>
          <a:prstGeom prst="rect">
            <a:avLst/>
          </a:prstGeom>
          <a:noFill/>
        </p:spPr>
        <p:txBody>
          <a:bodyPr wrap="square" rtlCol="0">
            <a:spAutoFit/>
          </a:bodyPr>
          <a:lstStyle/>
          <a:p>
            <a:r>
              <a:rPr kumimoji="1" lang="en-US" altLang="zh-CN" sz="1200" b="1" dirty="0">
                <a:ea typeface="DengXian" charset="-122"/>
                <a:cs typeface="DengXian" charset="-122"/>
              </a:rPr>
              <a:t>Meltdown</a:t>
            </a:r>
          </a:p>
        </p:txBody>
      </p:sp>
      <p:graphicFrame>
        <p:nvGraphicFramePr>
          <p:cNvPr id="46" name="表格 45"/>
          <p:cNvGraphicFramePr>
            <a:graphicFrameLocks noGrp="1"/>
          </p:cNvGraphicFramePr>
          <p:nvPr/>
        </p:nvGraphicFramePr>
        <p:xfrm>
          <a:off x="3579299" y="4172493"/>
          <a:ext cx="1157165" cy="822960"/>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1157165">
                  <a:extLst>
                    <a:ext uri="{9D8B030D-6E8A-4147-A177-3AD203B41FA5}">
                      <a16:colId xmlns:a16="http://schemas.microsoft.com/office/drawing/2014/main" val="20000"/>
                    </a:ext>
                  </a:extLst>
                </a:gridCol>
              </a:tblGrid>
              <a:tr h="117404">
                <a:tc>
                  <a:txBody>
                    <a:bodyPr/>
                    <a:lstStyle/>
                    <a:p>
                      <a:pPr algn="ctr"/>
                      <a:r>
                        <a:rPr lang="en-US" altLang="zh-CN" sz="900" dirty="0">
                          <a:solidFill>
                            <a:schemeClr val="tx1"/>
                          </a:solidFill>
                        </a:rPr>
                        <a:t>Key = 1</a:t>
                      </a:r>
                      <a:endParaRPr lang="zh-CN" altLang="en-US" sz="900" dirty="0">
                        <a:solidFill>
                          <a:schemeClr val="tx1"/>
                        </a:solidFill>
                      </a:endParaRPr>
                    </a:p>
                  </a:txBody>
                  <a:tcPr marL="72000" marR="72000" marT="0" marB="0">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17404">
                <a:tc>
                  <a:txBody>
                    <a:bodyPr/>
                    <a:lstStyle/>
                    <a:p>
                      <a:pPr algn="ctr"/>
                      <a:endParaRPr lang="zh-CN" altLang="en-US" sz="900" dirty="0">
                        <a:solidFill>
                          <a:schemeClr val="tx1"/>
                        </a:solidFill>
                      </a:endParaRPr>
                    </a:p>
                  </a:txBody>
                  <a:tcPr marL="72000" marR="72000" marT="0" marB="0">
                    <a:lnT w="19050" cap="flat" cmpd="sng" algn="ctr">
                      <a:solidFill>
                        <a:srgbClr val="FF0066"/>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102870">
                <a:tc>
                  <a:txBody>
                    <a:bodyPr/>
                    <a:lstStyle/>
                    <a:p>
                      <a:pPr algn="ctr"/>
                      <a:endParaRPr lang="zh-CN" altLang="en-US" sz="900" b="1" dirty="0">
                        <a:solidFill>
                          <a:schemeClr val="tx1"/>
                        </a:solidFill>
                      </a:endParaRPr>
                    </a:p>
                  </a:txBody>
                  <a:tcPr marL="72000" marR="72000" marT="0" marB="0">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2870">
                <a:tc>
                  <a:txBody>
                    <a:bodyPr/>
                    <a:lstStyle/>
                    <a:p>
                      <a:pPr algn="ctr"/>
                      <a:r>
                        <a:rPr lang="en-US" altLang="zh-CN" sz="900" b="1" dirty="0" err="1">
                          <a:solidFill>
                            <a:schemeClr val="tx1"/>
                          </a:solidFill>
                        </a:rPr>
                        <a:t>buf</a:t>
                      </a:r>
                      <a:r>
                        <a:rPr lang="en-US" altLang="zh-CN" sz="900" b="1" dirty="0">
                          <a:solidFill>
                            <a:schemeClr val="tx1"/>
                          </a:solidFill>
                        </a:rPr>
                        <a:t>[1]</a:t>
                      </a:r>
                      <a:endParaRPr lang="zh-CN" altLang="en-US" sz="900" b="1" dirty="0">
                        <a:solidFill>
                          <a:schemeClr val="tx1"/>
                        </a:solidFill>
                      </a:endParaRPr>
                    </a:p>
                  </a:txBody>
                  <a:tcPr marL="72000" marR="72000" marT="0" marB="0">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02870">
                <a:tc>
                  <a:txBody>
                    <a:bodyPr/>
                    <a:lstStyle/>
                    <a:p>
                      <a:pPr algn="ctr"/>
                      <a:endParaRPr lang="zh-CN" altLang="en-US" sz="900" b="1" dirty="0">
                        <a:solidFill>
                          <a:schemeClr val="tx1"/>
                        </a:solidFill>
                      </a:endParaRPr>
                    </a:p>
                  </a:txBody>
                  <a:tcPr marL="72000" marR="72000" marT="0" marB="0">
                    <a:lnT w="19050" cap="flat" cmpd="sng" algn="ctr">
                      <a:solidFill>
                        <a:srgbClr val="FF0066"/>
                      </a:solidFill>
                      <a:prstDash val="solid"/>
                      <a:round/>
                      <a:headEnd type="none" w="med" len="med"/>
                      <a:tailEnd type="none" w="med" len="med"/>
                    </a:lnT>
                    <a:solidFill>
                      <a:schemeClr val="bg1"/>
                    </a:solidFill>
                  </a:tcPr>
                </a:tc>
                <a:extLst>
                  <a:ext uri="{0D108BD9-81ED-4DB2-BD59-A6C34878D82A}">
                    <a16:rowId xmlns:a16="http://schemas.microsoft.com/office/drawing/2014/main" val="10004"/>
                  </a:ext>
                </a:extLst>
              </a:tr>
              <a:tr h="102870">
                <a:tc>
                  <a:txBody>
                    <a:bodyPr/>
                    <a:lstStyle/>
                    <a:p>
                      <a:pPr algn="ctr"/>
                      <a:endParaRPr lang="zh-CN" altLang="en-US" sz="900" b="1" dirty="0">
                        <a:solidFill>
                          <a:schemeClr val="tx1"/>
                        </a:solidFill>
                      </a:endParaRPr>
                    </a:p>
                  </a:txBody>
                  <a:tcPr marL="72000" marR="72000" marT="0" marB="0">
                    <a:solidFill>
                      <a:schemeClr val="bg1"/>
                    </a:solidFill>
                  </a:tcPr>
                </a:tc>
                <a:extLst>
                  <a:ext uri="{0D108BD9-81ED-4DB2-BD59-A6C34878D82A}">
                    <a16:rowId xmlns:a16="http://schemas.microsoft.com/office/drawing/2014/main" val="10005"/>
                  </a:ext>
                </a:extLst>
              </a:tr>
            </a:tbl>
          </a:graphicData>
        </a:graphic>
      </p:graphicFrame>
      <p:graphicFrame>
        <p:nvGraphicFramePr>
          <p:cNvPr id="48" name="表格 47"/>
          <p:cNvGraphicFramePr>
            <a:graphicFrameLocks noGrp="1"/>
          </p:cNvGraphicFramePr>
          <p:nvPr/>
        </p:nvGraphicFramePr>
        <p:xfrm>
          <a:off x="5926351" y="4172493"/>
          <a:ext cx="2520000" cy="340268"/>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3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360000">
                  <a:extLst>
                    <a:ext uri="{9D8B030D-6E8A-4147-A177-3AD203B41FA5}">
                      <a16:colId xmlns:a16="http://schemas.microsoft.com/office/drawing/2014/main" val="20006"/>
                    </a:ext>
                  </a:extLst>
                </a:gridCol>
              </a:tblGrid>
              <a:tr h="340268">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[0]</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rgbClr val="FF0066"/>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[1]</a:t>
                      </a:r>
                      <a:endParaRPr lang="zh-CN" altLang="en-US" sz="900" dirty="0">
                        <a:solidFill>
                          <a:schemeClr val="tx1"/>
                        </a:solidFill>
                      </a:endParaRPr>
                    </a:p>
                  </a:txBody>
                  <a:tcPr marL="0" marR="0" marT="0" marB="0" anchor="ctr">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[2]</a:t>
                      </a:r>
                      <a:endParaRPr lang="zh-CN" altLang="en-US" sz="900" dirty="0">
                        <a:solidFill>
                          <a:schemeClr val="tx1"/>
                        </a:solidFill>
                      </a:endParaRPr>
                    </a:p>
                  </a:txBody>
                  <a:tcPr marL="0" marR="0" marT="0" marB="0" anchor="ctr">
                    <a:lnL w="19050" cap="flat" cmpd="sng" algn="ctr">
                      <a:solidFill>
                        <a:srgbClr val="FF0066"/>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900" dirty="0">
                          <a:solidFill>
                            <a:schemeClr val="tx1"/>
                          </a:solidFill>
                        </a:rPr>
                        <a:t>…</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[n]</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43" name="文本框 42"/>
          <p:cNvSpPr txBox="1"/>
          <p:nvPr/>
        </p:nvSpPr>
        <p:spPr>
          <a:xfrm>
            <a:off x="3972526" y="2353445"/>
            <a:ext cx="1986832" cy="307777"/>
          </a:xfrm>
          <a:prstGeom prst="rect">
            <a:avLst/>
          </a:prstGeom>
          <a:noFill/>
        </p:spPr>
        <p:txBody>
          <a:bodyPr wrap="square" rtlCol="0">
            <a:spAutoFit/>
          </a:bodyPr>
          <a:lstStyle/>
          <a:p>
            <a:r>
              <a:rPr kumimoji="1" lang="en-US" altLang="zh-CN" sz="1400" dirty="0">
                <a:ea typeface="Bangla MN" charset="0"/>
                <a:cs typeface="Bangla MN" charset="0"/>
              </a:rPr>
              <a:t>Load </a:t>
            </a:r>
            <a:r>
              <a:rPr kumimoji="1" lang="en-US" altLang="zh-CN" sz="1400" b="1" dirty="0" err="1">
                <a:ea typeface="Bangla MN" charset="0"/>
                <a:cs typeface="Bangla MN" charset="0"/>
              </a:rPr>
              <a:t>buf</a:t>
            </a:r>
            <a:r>
              <a:rPr kumimoji="1" lang="en-US" altLang="zh-CN" sz="1400" dirty="0">
                <a:ea typeface="Bangla MN" charset="0"/>
                <a:cs typeface="Bangla MN" charset="0"/>
              </a:rPr>
              <a:t>[%</a:t>
            </a:r>
            <a:r>
              <a:rPr kumimoji="1" lang="en-US" altLang="zh-CN" sz="1400" dirty="0" err="1">
                <a:ea typeface="Bangla MN" charset="0"/>
                <a:cs typeface="Bangla MN" charset="0"/>
              </a:rPr>
              <a:t>rax</a:t>
            </a:r>
            <a:r>
              <a:rPr kumimoji="1" lang="en-US" altLang="zh-CN" sz="1400" dirty="0">
                <a:ea typeface="Bangla MN" charset="0"/>
                <a:cs typeface="Bangla MN" charset="0"/>
              </a:rPr>
              <a:t>], %</a:t>
            </a:r>
            <a:r>
              <a:rPr kumimoji="1" lang="en-US" altLang="zh-CN" sz="1400" dirty="0" err="1">
                <a:ea typeface="Bangla MN" charset="0"/>
                <a:cs typeface="Bangla MN" charset="0"/>
              </a:rPr>
              <a:t>rbx</a:t>
            </a:r>
            <a:endParaRPr kumimoji="1" lang="en-US" altLang="zh-CN" sz="1400" dirty="0">
              <a:ea typeface="Bangla MN" charset="0"/>
              <a:cs typeface="Bangla MN" charset="0"/>
            </a:endParaRPr>
          </a:p>
        </p:txBody>
      </p:sp>
      <p:sp>
        <p:nvSpPr>
          <p:cNvPr id="44" name="文本框 43"/>
          <p:cNvSpPr txBox="1"/>
          <p:nvPr/>
        </p:nvSpPr>
        <p:spPr>
          <a:xfrm>
            <a:off x="6084822" y="2353445"/>
            <a:ext cx="1439506" cy="307777"/>
          </a:xfrm>
          <a:prstGeom prst="rect">
            <a:avLst/>
          </a:prstGeom>
          <a:noFill/>
        </p:spPr>
        <p:txBody>
          <a:bodyPr wrap="square" rtlCol="0">
            <a:spAutoFit/>
          </a:bodyPr>
          <a:lstStyle/>
          <a:p>
            <a:r>
              <a:rPr kumimoji="1" lang="en-US" altLang="zh-CN" sz="1400" dirty="0">
                <a:ea typeface="Bangla MN" charset="0"/>
                <a:cs typeface="Bangla MN" charset="0"/>
                <a:sym typeface="Wingdings"/>
              </a:rPr>
              <a:t>Access </a:t>
            </a:r>
            <a:r>
              <a:rPr kumimoji="1" lang="en-US" altLang="zh-CN" sz="1400" b="1" dirty="0" err="1">
                <a:effectLst>
                  <a:outerShdw blurRad="63500" sx="102000" sy="102000" algn="ctr" rotWithShape="0">
                    <a:prstClr val="black">
                      <a:alpha val="40000"/>
                    </a:prstClr>
                  </a:outerShdw>
                </a:effectLst>
                <a:ea typeface="Bangla MN" charset="0"/>
                <a:cs typeface="Bangla MN" charset="0"/>
                <a:sym typeface="Wingdings"/>
              </a:rPr>
              <a:t>buf</a:t>
            </a:r>
            <a:r>
              <a:rPr kumimoji="1" lang="en-US" altLang="zh-CN" sz="1400" b="1" dirty="0">
                <a:effectLst>
                  <a:outerShdw blurRad="63500" sx="102000" sy="102000" algn="ctr" rotWithShape="0">
                    <a:prstClr val="black">
                      <a:alpha val="40000"/>
                    </a:prstClr>
                  </a:outerShdw>
                </a:effectLst>
                <a:ea typeface="Bangla MN" charset="0"/>
                <a:cs typeface="Bangla MN" charset="0"/>
                <a:sym typeface="Wingdings"/>
              </a:rPr>
              <a:t>[1]</a:t>
            </a:r>
            <a:endParaRPr kumimoji="1" lang="en-US" altLang="zh-CN" sz="1400" dirty="0">
              <a:ea typeface="Bangla MN" charset="0"/>
              <a:cs typeface="Bangla MN" charset="0"/>
              <a:sym typeface="Wingdings"/>
            </a:endParaRPr>
          </a:p>
        </p:txBody>
      </p:sp>
      <p:cxnSp>
        <p:nvCxnSpPr>
          <p:cNvPr id="47" name="直线箭头连接符 46"/>
          <p:cNvCxnSpPr/>
          <p:nvPr/>
        </p:nvCxnSpPr>
        <p:spPr>
          <a:xfrm>
            <a:off x="6283871" y="4550316"/>
            <a:ext cx="0" cy="246222"/>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3" name="椭圆 52"/>
          <p:cNvSpPr/>
          <p:nvPr/>
        </p:nvSpPr>
        <p:spPr>
          <a:xfrm>
            <a:off x="5800310" y="2828750"/>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3</a:t>
            </a:r>
            <a:endParaRPr kumimoji="1" lang="zh-CN" altLang="en-US" b="1" dirty="0">
              <a:solidFill>
                <a:srgbClr val="FF0066"/>
              </a:solidFill>
              <a:ea typeface="Bangla MN" charset="0"/>
              <a:cs typeface="Bangla MN" charset="0"/>
            </a:endParaRPr>
          </a:p>
        </p:txBody>
      </p:sp>
      <p:sp>
        <p:nvSpPr>
          <p:cNvPr id="54" name="文本框 53"/>
          <p:cNvSpPr txBox="1"/>
          <p:nvPr/>
        </p:nvSpPr>
        <p:spPr>
          <a:xfrm>
            <a:off x="1719747" y="2938834"/>
            <a:ext cx="1772272" cy="307777"/>
          </a:xfrm>
          <a:prstGeom prst="rect">
            <a:avLst/>
          </a:prstGeom>
          <a:noFill/>
        </p:spPr>
        <p:txBody>
          <a:bodyPr wrap="square" rtlCol="0">
            <a:spAutoFit/>
          </a:bodyPr>
          <a:lstStyle/>
          <a:p>
            <a:pPr algn="ctr"/>
            <a:r>
              <a:rPr kumimoji="1" lang="zh-CN" altLang="en-US" sz="1400" dirty="0">
                <a:solidFill>
                  <a:srgbClr val="FF0066"/>
                </a:solidFill>
                <a:ea typeface="Bangla MN" charset="0"/>
                <a:cs typeface="Bangla MN" charset="0"/>
              </a:rPr>
              <a:t>内存访问异常</a:t>
            </a:r>
            <a:endParaRPr kumimoji="1" lang="en-US" altLang="zh-CN" sz="1400" dirty="0">
              <a:solidFill>
                <a:srgbClr val="FF0066"/>
              </a:solidFill>
              <a:ea typeface="Bangla MN" charset="0"/>
              <a:cs typeface="Bangla MN" charset="0"/>
            </a:endParaRPr>
          </a:p>
        </p:txBody>
      </p:sp>
      <p:cxnSp>
        <p:nvCxnSpPr>
          <p:cNvPr id="59" name="直线箭头连接符 58"/>
          <p:cNvCxnSpPr/>
          <p:nvPr/>
        </p:nvCxnSpPr>
        <p:spPr>
          <a:xfrm>
            <a:off x="3218656" y="3092721"/>
            <a:ext cx="633264" cy="0"/>
          </a:xfrm>
          <a:prstGeom prst="straightConnector1">
            <a:avLst/>
          </a:prstGeom>
          <a:ln w="19050">
            <a:solidFill>
              <a:srgbClr val="FF0066"/>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线箭头连接符 44"/>
          <p:cNvCxnSpPr/>
          <p:nvPr/>
        </p:nvCxnSpPr>
        <p:spPr>
          <a:xfrm>
            <a:off x="2913129" y="4366542"/>
            <a:ext cx="633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2568356" y="4533751"/>
            <a:ext cx="1322811" cy="430887"/>
          </a:xfrm>
          <a:prstGeom prst="rect">
            <a:avLst/>
          </a:prstGeom>
          <a:noFill/>
        </p:spPr>
        <p:txBody>
          <a:bodyPr wrap="square" rtlCol="0">
            <a:spAutoFit/>
          </a:bodyPr>
          <a:lstStyle/>
          <a:p>
            <a:pPr algn="ctr"/>
            <a:r>
              <a:rPr kumimoji="1" lang="en-US" altLang="zh-CN" sz="1100" i="1" dirty="0">
                <a:ea typeface="Bangla MN" charset="0"/>
                <a:cs typeface="Bangla MN" charset="0"/>
              </a:rPr>
              <a:t>Access </a:t>
            </a:r>
          </a:p>
          <a:p>
            <a:pPr algn="ctr"/>
            <a:r>
              <a:rPr kumimoji="1" lang="en-US" altLang="zh-CN" sz="1100" i="1" dirty="0" err="1">
                <a:solidFill>
                  <a:srgbClr val="FF0066"/>
                </a:solidFill>
                <a:ea typeface="Bangla MN" charset="0"/>
                <a:cs typeface="Bangla MN" charset="0"/>
              </a:rPr>
              <a:t>buf</a:t>
            </a:r>
            <a:r>
              <a:rPr kumimoji="1" lang="en-US" altLang="zh-CN" sz="1100" i="1" dirty="0">
                <a:solidFill>
                  <a:srgbClr val="FF0066"/>
                </a:solidFill>
                <a:ea typeface="Bangla MN" charset="0"/>
                <a:cs typeface="Bangla MN" charset="0"/>
              </a:rPr>
              <a:t>[1]</a:t>
            </a:r>
          </a:p>
        </p:txBody>
      </p:sp>
      <p:cxnSp>
        <p:nvCxnSpPr>
          <p:cNvPr id="50" name="直线箭头连接符 49"/>
          <p:cNvCxnSpPr/>
          <p:nvPr/>
        </p:nvCxnSpPr>
        <p:spPr>
          <a:xfrm>
            <a:off x="4965942" y="4366542"/>
            <a:ext cx="633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线箭头连接符 50"/>
          <p:cNvCxnSpPr/>
          <p:nvPr/>
        </p:nvCxnSpPr>
        <p:spPr>
          <a:xfrm>
            <a:off x="4965942" y="4441676"/>
            <a:ext cx="633264"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4661014" y="4533751"/>
            <a:ext cx="1322811" cy="430887"/>
          </a:xfrm>
          <a:prstGeom prst="rect">
            <a:avLst/>
          </a:prstGeom>
          <a:noFill/>
        </p:spPr>
        <p:txBody>
          <a:bodyPr wrap="square" rtlCol="0">
            <a:spAutoFit/>
          </a:bodyPr>
          <a:lstStyle/>
          <a:p>
            <a:pPr algn="ctr"/>
            <a:r>
              <a:rPr kumimoji="1" lang="en-US" altLang="zh-CN" sz="1100" i="1" dirty="0">
                <a:solidFill>
                  <a:srgbClr val="FF0066"/>
                </a:solidFill>
                <a:ea typeface="Bangla MN" charset="0"/>
                <a:cs typeface="Bangla MN" charset="0"/>
              </a:rPr>
              <a:t>Fill </a:t>
            </a:r>
            <a:r>
              <a:rPr kumimoji="1" lang="en-US" altLang="zh-CN" sz="1100" i="1" dirty="0" err="1">
                <a:solidFill>
                  <a:srgbClr val="FF0066"/>
                </a:solidFill>
                <a:ea typeface="Bangla MN" charset="0"/>
                <a:cs typeface="Bangla MN" charset="0"/>
              </a:rPr>
              <a:t>buf</a:t>
            </a:r>
            <a:r>
              <a:rPr kumimoji="1" lang="en-US" altLang="zh-CN" sz="1100" i="1" dirty="0">
                <a:solidFill>
                  <a:srgbClr val="FF0066"/>
                </a:solidFill>
                <a:ea typeface="Bangla MN" charset="0"/>
                <a:cs typeface="Bangla MN" charset="0"/>
              </a:rPr>
              <a:t>[1]</a:t>
            </a:r>
          </a:p>
          <a:p>
            <a:pPr algn="ctr"/>
            <a:r>
              <a:rPr kumimoji="1" lang="en-US" altLang="zh-CN" sz="1100" i="1" dirty="0">
                <a:solidFill>
                  <a:srgbClr val="FF0066"/>
                </a:solidFill>
                <a:ea typeface="Bangla MN" charset="0"/>
                <a:cs typeface="Bangla MN" charset="0"/>
              </a:rPr>
              <a:t>to cache</a:t>
            </a:r>
          </a:p>
        </p:txBody>
      </p:sp>
      <p:sp>
        <p:nvSpPr>
          <p:cNvPr id="57" name="椭圆 56"/>
          <p:cNvSpPr/>
          <p:nvPr/>
        </p:nvSpPr>
        <p:spPr>
          <a:xfrm>
            <a:off x="3119096" y="4255405"/>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58" name="椭圆 57"/>
          <p:cNvSpPr/>
          <p:nvPr/>
        </p:nvSpPr>
        <p:spPr>
          <a:xfrm>
            <a:off x="5148064" y="4293518"/>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56" name="标题 1">
            <a:extLst>
              <a:ext uri="{FF2B5EF4-FFF2-40B4-BE49-F238E27FC236}">
                <a16:creationId xmlns:a16="http://schemas.microsoft.com/office/drawing/2014/main" id="{BD408704-DA62-C545-A597-E39C9FC543FA}"/>
              </a:ext>
            </a:extLst>
          </p:cNvPr>
          <p:cNvSpPr>
            <a:spLocks noGrp="1"/>
          </p:cNvSpPr>
          <p:nvPr>
            <p:ph type="title"/>
          </p:nvPr>
        </p:nvSpPr>
        <p:spPr>
          <a:xfrm>
            <a:off x="457200" y="228866"/>
            <a:ext cx="8229600" cy="900442"/>
          </a:xfrm>
        </p:spPr>
        <p:txBody>
          <a:bodyPr>
            <a:normAutofit/>
          </a:bodyPr>
          <a:lstStyle/>
          <a:p>
            <a:r>
              <a:rPr lang="en-US" altLang="zh-CN" dirty="0">
                <a:latin typeface="+mn-lt"/>
              </a:rPr>
              <a:t>Meltdown</a:t>
            </a:r>
            <a:r>
              <a:rPr lang="zh-CN" altLang="en-US" dirty="0">
                <a:latin typeface="+mn-lt"/>
              </a:rPr>
              <a:t>漏洞原理</a:t>
            </a:r>
          </a:p>
        </p:txBody>
      </p:sp>
      <p:sp>
        <p:nvSpPr>
          <p:cNvPr id="61" name="文本框 60">
            <a:extLst>
              <a:ext uri="{FF2B5EF4-FFF2-40B4-BE49-F238E27FC236}">
                <a16:creationId xmlns:a16="http://schemas.microsoft.com/office/drawing/2014/main" id="{96843D30-D311-F34B-9640-C134970004F2}"/>
              </a:ext>
            </a:extLst>
          </p:cNvPr>
          <p:cNvSpPr txBox="1"/>
          <p:nvPr/>
        </p:nvSpPr>
        <p:spPr>
          <a:xfrm>
            <a:off x="2041718" y="2397249"/>
            <a:ext cx="1126169" cy="307777"/>
          </a:xfrm>
          <a:prstGeom prst="rect">
            <a:avLst/>
          </a:prstGeom>
          <a:noFill/>
        </p:spPr>
        <p:txBody>
          <a:bodyPr wrap="square" rtlCol="0" anchor="ctr" anchorCtr="0">
            <a:spAutoFit/>
          </a:bodyPr>
          <a:lstStyle/>
          <a:p>
            <a:pPr algn="ctr"/>
            <a:r>
              <a:rPr kumimoji="1" lang="zh-CN" altLang="en-US" sz="1400" dirty="0">
                <a:ea typeface="Bangla MN" charset="0"/>
                <a:cs typeface="Bangla MN" charset="0"/>
              </a:rPr>
              <a:t>投机执行</a:t>
            </a:r>
          </a:p>
        </p:txBody>
      </p:sp>
      <p:sp>
        <p:nvSpPr>
          <p:cNvPr id="62" name="文本框 61">
            <a:extLst>
              <a:ext uri="{FF2B5EF4-FFF2-40B4-BE49-F238E27FC236}">
                <a16:creationId xmlns:a16="http://schemas.microsoft.com/office/drawing/2014/main" id="{2EEE4B0B-A64C-5448-8DF6-38E3AD9C5B38}"/>
              </a:ext>
            </a:extLst>
          </p:cNvPr>
          <p:cNvSpPr txBox="1"/>
          <p:nvPr/>
        </p:nvSpPr>
        <p:spPr>
          <a:xfrm>
            <a:off x="1803725" y="1737331"/>
            <a:ext cx="1602154" cy="523220"/>
          </a:xfrm>
          <a:prstGeom prst="rect">
            <a:avLst/>
          </a:prstGeom>
          <a:noFill/>
        </p:spPr>
        <p:txBody>
          <a:bodyPr wrap="square" rtlCol="0" anchor="ctr" anchorCtr="0">
            <a:spAutoFit/>
          </a:bodyPr>
          <a:lstStyle/>
          <a:p>
            <a:pPr algn="ctr"/>
            <a:r>
              <a:rPr kumimoji="1" lang="zh-CN" altLang="en-US" sz="1400" dirty="0">
                <a:solidFill>
                  <a:srgbClr val="FF0066"/>
                </a:solidFill>
                <a:ea typeface="Bangla MN" charset="0"/>
                <a:cs typeface="Bangla MN" charset="0"/>
              </a:rPr>
              <a:t>非法内核内存</a:t>
            </a:r>
            <a:endParaRPr kumimoji="1" lang="en-US" altLang="zh-CN" sz="1400" dirty="0">
              <a:solidFill>
                <a:srgbClr val="FF0066"/>
              </a:solidFill>
              <a:ea typeface="Bangla MN" charset="0"/>
              <a:cs typeface="Bangla MN" charset="0"/>
            </a:endParaRPr>
          </a:p>
          <a:p>
            <a:pPr algn="ctr"/>
            <a:r>
              <a:rPr kumimoji="1" lang="zh-CN" altLang="en-US" sz="1400" dirty="0">
                <a:solidFill>
                  <a:srgbClr val="FF0066"/>
                </a:solidFill>
                <a:ea typeface="Bangla MN" charset="0"/>
                <a:cs typeface="Bangla MN" charset="0"/>
              </a:rPr>
              <a:t>访问！</a:t>
            </a:r>
          </a:p>
        </p:txBody>
      </p:sp>
    </p:spTree>
    <p:extLst>
      <p:ext uri="{BB962C8B-B14F-4D97-AF65-F5344CB8AC3E}">
        <p14:creationId xmlns:p14="http://schemas.microsoft.com/office/powerpoint/2010/main" val="4101213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3" grpId="0" animBg="1"/>
      <p:bldP spid="54"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剪去单角的矩形 15"/>
          <p:cNvSpPr/>
          <p:nvPr/>
        </p:nvSpPr>
        <p:spPr>
          <a:xfrm>
            <a:off x="3595483" y="1366358"/>
            <a:ext cx="4091413" cy="2002178"/>
          </a:xfrm>
          <a:prstGeom prst="snip1Rect">
            <a:avLst>
              <a:gd name="adj" fmla="val 0"/>
            </a:avLst>
          </a:prstGeom>
          <a:solidFill>
            <a:schemeClr val="bg1"/>
          </a:solidFill>
          <a:ln w="15875">
            <a:solidFill>
              <a:schemeClr val="tx1"/>
            </a:solidFill>
            <a:prstDash val="dash"/>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ea typeface="Bangla MN" charset="0"/>
              <a:cs typeface="Bangla MN" charset="0"/>
            </a:endParaRPr>
          </a:p>
        </p:txBody>
      </p:sp>
      <p:sp>
        <p:nvSpPr>
          <p:cNvPr id="55" name="文本框 54"/>
          <p:cNvSpPr txBox="1"/>
          <p:nvPr/>
        </p:nvSpPr>
        <p:spPr>
          <a:xfrm>
            <a:off x="3995937" y="2785492"/>
            <a:ext cx="1958897" cy="523220"/>
          </a:xfrm>
          <a:prstGeom prst="rect">
            <a:avLst/>
          </a:prstGeom>
          <a:noFill/>
        </p:spPr>
        <p:txBody>
          <a:bodyPr wrap="square" rtlCol="0">
            <a:spAutoFit/>
          </a:bodyPr>
          <a:lstStyle/>
          <a:p>
            <a:pPr algn="ctr"/>
            <a:r>
              <a:rPr kumimoji="1" lang="zh-CN" altLang="en-US" sz="1400" dirty="0">
                <a:ea typeface="Bangla MN" charset="0"/>
                <a:cs typeface="Bangla MN" charset="0"/>
                <a:sym typeface="Wingdings"/>
              </a:rPr>
              <a:t>处理器状态回滚</a:t>
            </a:r>
            <a:endParaRPr kumimoji="1" lang="en-US" altLang="zh-CN" sz="1400" dirty="0">
              <a:solidFill>
                <a:srgbClr val="FF0066"/>
              </a:solidFill>
              <a:ea typeface="Bangla MN" charset="0"/>
              <a:cs typeface="Bangla MN" charset="0"/>
              <a:sym typeface="Wingdings"/>
            </a:endParaRPr>
          </a:p>
          <a:p>
            <a:pPr algn="ctr"/>
            <a:r>
              <a:rPr kumimoji="1" lang="zh-CN" altLang="en-US" sz="1400" dirty="0">
                <a:solidFill>
                  <a:srgbClr val="FF0066"/>
                </a:solidFill>
                <a:ea typeface="Bangla MN" charset="0"/>
                <a:cs typeface="Bangla MN" charset="0"/>
                <a:sym typeface="Wingdings"/>
              </a:rPr>
              <a:t>未回滚缓存状态！</a:t>
            </a:r>
            <a:endParaRPr kumimoji="1" lang="en-US" altLang="zh-CN" sz="1400" dirty="0">
              <a:solidFill>
                <a:srgbClr val="FF0066"/>
              </a:solidFill>
              <a:ea typeface="Bangla MN" charset="0"/>
              <a:cs typeface="Bangla MN" charset="0"/>
              <a:sym typeface="Wingdings"/>
            </a:endParaRPr>
          </a:p>
        </p:txBody>
      </p:sp>
      <p:sp>
        <p:nvSpPr>
          <p:cNvPr id="4" name="Slide Number Placeholder 3"/>
          <p:cNvSpPr>
            <a:spLocks noGrp="1"/>
          </p:cNvSpPr>
          <p:nvPr>
            <p:ph type="sldNum" sz="quarter" idx="12"/>
          </p:nvPr>
        </p:nvSpPr>
        <p:spPr>
          <a:xfrm>
            <a:off x="8316416" y="5067933"/>
            <a:ext cx="648072" cy="273844"/>
          </a:xfrm>
        </p:spPr>
        <p:txBody>
          <a:bodyPr/>
          <a:lstStyle/>
          <a:p>
            <a:r>
              <a:rPr lang="en-US" altLang="zh-CN" sz="1800" dirty="0">
                <a:solidFill>
                  <a:schemeClr val="tx1"/>
                </a:solidFill>
              </a:rPr>
              <a:t>3</a:t>
            </a:r>
            <a:endParaRPr lang="zh-CN" altLang="en-US" sz="1800" dirty="0">
              <a:solidFill>
                <a:schemeClr val="tx1"/>
              </a:solidFill>
            </a:endParaRPr>
          </a:p>
        </p:txBody>
      </p:sp>
      <p:sp>
        <p:nvSpPr>
          <p:cNvPr id="7" name="文本框 6"/>
          <p:cNvSpPr txBox="1"/>
          <p:nvPr/>
        </p:nvSpPr>
        <p:spPr>
          <a:xfrm>
            <a:off x="1115617" y="4024761"/>
            <a:ext cx="1142163" cy="276999"/>
          </a:xfrm>
          <a:prstGeom prst="rect">
            <a:avLst/>
          </a:prstGeom>
          <a:noFill/>
        </p:spPr>
        <p:txBody>
          <a:bodyPr wrap="square" rtlCol="0">
            <a:spAutoFit/>
          </a:bodyPr>
          <a:lstStyle/>
          <a:p>
            <a:r>
              <a:rPr kumimoji="1" lang="en-US" altLang="zh-CN" sz="1200" b="1" dirty="0">
                <a:solidFill>
                  <a:srgbClr val="FF0066"/>
                </a:solidFill>
                <a:ea typeface="DengXian" charset="-122"/>
                <a:cs typeface="DengXian" charset="-122"/>
              </a:rPr>
              <a:t>key </a:t>
            </a:r>
            <a:r>
              <a:rPr kumimoji="1" lang="en-US" altLang="zh-CN" sz="1200" b="1" dirty="0">
                <a:ea typeface="DengXian" charset="-122"/>
                <a:cs typeface="DengXian" charset="-122"/>
              </a:rPr>
              <a:t>= 0x01</a:t>
            </a:r>
          </a:p>
        </p:txBody>
      </p:sp>
      <p:sp>
        <p:nvSpPr>
          <p:cNvPr id="8" name="文本框 7"/>
          <p:cNvSpPr txBox="1"/>
          <p:nvPr/>
        </p:nvSpPr>
        <p:spPr>
          <a:xfrm>
            <a:off x="32048" y="4184358"/>
            <a:ext cx="780224" cy="261610"/>
          </a:xfrm>
          <a:prstGeom prst="rect">
            <a:avLst/>
          </a:prstGeom>
          <a:noFill/>
        </p:spPr>
        <p:txBody>
          <a:bodyPr wrap="square" rtlCol="0">
            <a:spAutoFit/>
          </a:bodyPr>
          <a:lstStyle/>
          <a:p>
            <a:pPr algn="ctr"/>
            <a:r>
              <a:rPr kumimoji="1" lang="en-US" altLang="zh-CN" sz="1100" dirty="0">
                <a:ea typeface="DengXian" charset="-122"/>
                <a:cs typeface="DengXian" charset="-122"/>
              </a:rPr>
              <a:t>Kernel</a:t>
            </a:r>
            <a:endParaRPr kumimoji="1" lang="zh-CN" altLang="en-US" sz="1600" dirty="0">
              <a:ea typeface="DengXian" charset="-122"/>
              <a:cs typeface="DengXian" charset="-122"/>
            </a:endParaRPr>
          </a:p>
        </p:txBody>
      </p:sp>
      <p:sp>
        <p:nvSpPr>
          <p:cNvPr id="9" name="文本框 8"/>
          <p:cNvSpPr txBox="1"/>
          <p:nvPr/>
        </p:nvSpPr>
        <p:spPr>
          <a:xfrm>
            <a:off x="90174" y="4558429"/>
            <a:ext cx="586684" cy="261610"/>
          </a:xfrm>
          <a:prstGeom prst="rect">
            <a:avLst/>
          </a:prstGeom>
          <a:noFill/>
        </p:spPr>
        <p:txBody>
          <a:bodyPr wrap="square" rtlCol="0">
            <a:spAutoFit/>
          </a:bodyPr>
          <a:lstStyle/>
          <a:p>
            <a:pPr algn="ctr"/>
            <a:r>
              <a:rPr kumimoji="1" lang="en-US" altLang="zh-CN" sz="1100" dirty="0">
                <a:ea typeface="DengXian" charset="-122"/>
                <a:cs typeface="DengXian" charset="-122"/>
              </a:rPr>
              <a:t>User</a:t>
            </a:r>
            <a:endParaRPr kumimoji="1" lang="zh-CN" altLang="en-US" sz="1600" dirty="0">
              <a:ea typeface="DengXian" charset="-122"/>
              <a:cs typeface="DengXian" charset="-122"/>
            </a:endParaRPr>
          </a:p>
        </p:txBody>
      </p:sp>
      <p:cxnSp>
        <p:nvCxnSpPr>
          <p:cNvPr id="10" name="直线连接符 9"/>
          <p:cNvCxnSpPr/>
          <p:nvPr/>
        </p:nvCxnSpPr>
        <p:spPr>
          <a:xfrm>
            <a:off x="380433" y="4499874"/>
            <a:ext cx="1769250"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540" y="3904256"/>
            <a:ext cx="311664" cy="461233"/>
          </a:xfrm>
          <a:prstGeom prst="rect">
            <a:avLst/>
          </a:prstGeom>
          <a:solidFill>
            <a:schemeClr val="bg1"/>
          </a:solidFill>
        </p:spPr>
      </p:pic>
      <p:pic>
        <p:nvPicPr>
          <p:cNvPr id="17" name="图片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39262" y="1078287"/>
            <a:ext cx="546620" cy="546620"/>
          </a:xfrm>
          <a:prstGeom prst="rect">
            <a:avLst/>
          </a:prstGeom>
        </p:spPr>
      </p:pic>
      <p:cxnSp>
        <p:nvCxnSpPr>
          <p:cNvPr id="19" name="直线连接符 18"/>
          <p:cNvCxnSpPr/>
          <p:nvPr/>
        </p:nvCxnSpPr>
        <p:spPr>
          <a:xfrm>
            <a:off x="6012160" y="1505262"/>
            <a:ext cx="0" cy="120822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972526" y="1849389"/>
            <a:ext cx="1986832" cy="307777"/>
          </a:xfrm>
          <a:prstGeom prst="rect">
            <a:avLst/>
          </a:prstGeom>
          <a:noFill/>
        </p:spPr>
        <p:txBody>
          <a:bodyPr wrap="square" rtlCol="0">
            <a:spAutoFit/>
          </a:bodyPr>
          <a:lstStyle/>
          <a:p>
            <a:r>
              <a:rPr kumimoji="1" lang="en-US" altLang="zh-CN" sz="1400" strike="sngStrike" dirty="0">
                <a:ea typeface="Bangla MN" charset="0"/>
                <a:cs typeface="Bangla MN" charset="0"/>
              </a:rPr>
              <a:t>Load </a:t>
            </a:r>
            <a:r>
              <a:rPr kumimoji="1" lang="en-US" altLang="zh-CN" sz="1400" b="1" strike="sngStrike" dirty="0">
                <a:solidFill>
                  <a:srgbClr val="FF0066"/>
                </a:solidFill>
                <a:ea typeface="Bangla MN" charset="0"/>
                <a:cs typeface="Bangla MN" charset="0"/>
              </a:rPr>
              <a:t>key</a:t>
            </a:r>
            <a:r>
              <a:rPr kumimoji="1" lang="en-US" altLang="zh-CN" sz="1400" strike="sngStrike" dirty="0">
                <a:ea typeface="Bangla MN" charset="0"/>
                <a:cs typeface="Bangla MN" charset="0"/>
              </a:rPr>
              <a:t>, %</a:t>
            </a:r>
            <a:r>
              <a:rPr kumimoji="1" lang="en-US" altLang="zh-CN" sz="1400" strike="sngStrike" dirty="0" err="1">
                <a:ea typeface="Bangla MN" charset="0"/>
                <a:cs typeface="Bangla MN" charset="0"/>
              </a:rPr>
              <a:t>rax</a:t>
            </a:r>
            <a:endParaRPr kumimoji="1" lang="en-US" altLang="zh-CN" sz="1400" strike="sngStrike" dirty="0">
              <a:ea typeface="Bangla MN" charset="0"/>
              <a:cs typeface="Bangla MN" charset="0"/>
            </a:endParaRPr>
          </a:p>
        </p:txBody>
      </p:sp>
      <p:sp>
        <p:nvSpPr>
          <p:cNvPr id="21" name="文本框 20"/>
          <p:cNvSpPr txBox="1"/>
          <p:nvPr/>
        </p:nvSpPr>
        <p:spPr>
          <a:xfrm>
            <a:off x="6084822" y="1849389"/>
            <a:ext cx="1439506" cy="307777"/>
          </a:xfrm>
          <a:prstGeom prst="rect">
            <a:avLst/>
          </a:prstGeom>
          <a:noFill/>
        </p:spPr>
        <p:txBody>
          <a:bodyPr wrap="square" rtlCol="0">
            <a:spAutoFit/>
          </a:bodyPr>
          <a:lstStyle/>
          <a:p>
            <a:r>
              <a:rPr kumimoji="1" lang="en-US" altLang="zh-CN" sz="1400" strike="sngStrike" dirty="0">
                <a:ea typeface="Bangla MN" charset="0"/>
                <a:cs typeface="Bangla MN" charset="0"/>
              </a:rPr>
              <a:t>%</a:t>
            </a:r>
            <a:r>
              <a:rPr kumimoji="1" lang="en-US" altLang="zh-CN" sz="1400" strike="sngStrike" dirty="0" err="1">
                <a:ea typeface="Bangla MN" charset="0"/>
                <a:cs typeface="Bangla MN" charset="0"/>
              </a:rPr>
              <a:t>rax</a:t>
            </a:r>
            <a:r>
              <a:rPr kumimoji="1" lang="en-US" altLang="zh-CN" sz="1400" strike="sngStrike" dirty="0">
                <a:ea typeface="Bangla MN" charset="0"/>
                <a:cs typeface="Bangla MN" charset="0"/>
              </a:rPr>
              <a:t> = </a:t>
            </a:r>
            <a:r>
              <a:rPr kumimoji="1" lang="en-US" altLang="zh-CN" sz="1400" b="1" strike="sngStrike" dirty="0">
                <a:effectLst>
                  <a:outerShdw blurRad="63500" sx="102000" sy="102000" algn="ctr" rotWithShape="0">
                    <a:prstClr val="black">
                      <a:alpha val="40000"/>
                    </a:prstClr>
                  </a:outerShdw>
                </a:effectLst>
                <a:ea typeface="Bangla MN" charset="0"/>
                <a:cs typeface="Bangla MN" charset="0"/>
              </a:rPr>
              <a:t>1</a:t>
            </a:r>
            <a:endParaRPr kumimoji="1" lang="en-US" altLang="zh-CN" sz="1400" strike="sngStrike" dirty="0">
              <a:ea typeface="Bangla MN" charset="0"/>
              <a:cs typeface="Bangla MN" charset="0"/>
              <a:sym typeface="Wingdings"/>
            </a:endParaRPr>
          </a:p>
        </p:txBody>
      </p:sp>
      <p:sp>
        <p:nvSpPr>
          <p:cNvPr id="22" name="文本框 21"/>
          <p:cNvSpPr txBox="1"/>
          <p:nvPr/>
        </p:nvSpPr>
        <p:spPr>
          <a:xfrm>
            <a:off x="4129162" y="1421455"/>
            <a:ext cx="1162919" cy="307777"/>
          </a:xfrm>
          <a:prstGeom prst="rect">
            <a:avLst/>
          </a:prstGeom>
          <a:noFill/>
        </p:spPr>
        <p:txBody>
          <a:bodyPr wrap="square" rtlCol="0">
            <a:spAutoFit/>
          </a:bodyPr>
          <a:lstStyle/>
          <a:p>
            <a:pPr algn="ctr"/>
            <a:r>
              <a:rPr kumimoji="1" lang="en-US" altLang="zh-CN" sz="1400" dirty="0">
                <a:ea typeface="Bangla MN" charset="0"/>
                <a:cs typeface="Bangla MN" charset="0"/>
              </a:rPr>
              <a:t>Instruction</a:t>
            </a:r>
            <a:endParaRPr kumimoji="1" lang="zh-CN" altLang="en-US" sz="1400" dirty="0">
              <a:ea typeface="Bangla MN" charset="0"/>
              <a:cs typeface="Bangla MN" charset="0"/>
            </a:endParaRPr>
          </a:p>
        </p:txBody>
      </p:sp>
      <p:sp>
        <p:nvSpPr>
          <p:cNvPr id="23" name="文本框 22"/>
          <p:cNvSpPr txBox="1"/>
          <p:nvPr/>
        </p:nvSpPr>
        <p:spPr>
          <a:xfrm>
            <a:off x="6236162" y="1407252"/>
            <a:ext cx="1000135" cy="307777"/>
          </a:xfrm>
          <a:prstGeom prst="rect">
            <a:avLst/>
          </a:prstGeom>
          <a:noFill/>
        </p:spPr>
        <p:txBody>
          <a:bodyPr wrap="square" rtlCol="0">
            <a:spAutoFit/>
          </a:bodyPr>
          <a:lstStyle/>
          <a:p>
            <a:pPr algn="ctr"/>
            <a:r>
              <a:rPr kumimoji="1" lang="en-US" altLang="zh-CN" sz="1400" dirty="0">
                <a:ea typeface="Bangla MN" charset="0"/>
                <a:cs typeface="Bangla MN" charset="0"/>
              </a:rPr>
              <a:t>Effect</a:t>
            </a:r>
            <a:endParaRPr kumimoji="1" lang="zh-CN" altLang="en-US" sz="1400" dirty="0">
              <a:ea typeface="Bangla MN" charset="0"/>
              <a:cs typeface="Bangla MN" charset="0"/>
            </a:endParaRPr>
          </a:p>
        </p:txBody>
      </p:sp>
      <p:cxnSp>
        <p:nvCxnSpPr>
          <p:cNvPr id="25" name="直线箭头连接符 24"/>
          <p:cNvCxnSpPr/>
          <p:nvPr/>
        </p:nvCxnSpPr>
        <p:spPr>
          <a:xfrm>
            <a:off x="3361254" y="2209428"/>
            <a:ext cx="0" cy="7255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直线连接符 25"/>
          <p:cNvCxnSpPr/>
          <p:nvPr/>
        </p:nvCxnSpPr>
        <p:spPr>
          <a:xfrm>
            <a:off x="3266819" y="2209428"/>
            <a:ext cx="18887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椭圆 27"/>
          <p:cNvSpPr/>
          <p:nvPr/>
        </p:nvSpPr>
        <p:spPr>
          <a:xfrm>
            <a:off x="3707904" y="1893193"/>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1</a:t>
            </a:r>
            <a:endParaRPr kumimoji="1" lang="zh-CN" altLang="en-US" b="1" dirty="0">
              <a:solidFill>
                <a:srgbClr val="FF0066"/>
              </a:solidFill>
              <a:ea typeface="Bangla MN" charset="0"/>
              <a:cs typeface="Bangla MN" charset="0"/>
            </a:endParaRPr>
          </a:p>
        </p:txBody>
      </p:sp>
      <p:sp>
        <p:nvSpPr>
          <p:cNvPr id="29" name="椭圆 28"/>
          <p:cNvSpPr/>
          <p:nvPr/>
        </p:nvSpPr>
        <p:spPr>
          <a:xfrm>
            <a:off x="3707904" y="2397249"/>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30" name="文本框 29"/>
          <p:cNvSpPr txBox="1"/>
          <p:nvPr/>
        </p:nvSpPr>
        <p:spPr>
          <a:xfrm>
            <a:off x="3275857" y="3793605"/>
            <a:ext cx="876921" cy="307777"/>
          </a:xfrm>
          <a:prstGeom prst="rect">
            <a:avLst/>
          </a:prstGeom>
          <a:solidFill>
            <a:schemeClr val="bg1"/>
          </a:solidFill>
        </p:spPr>
        <p:txBody>
          <a:bodyPr wrap="square" rtlCol="0">
            <a:spAutoFit/>
          </a:bodyPr>
          <a:lstStyle/>
          <a:p>
            <a:pPr algn="ctr"/>
            <a:r>
              <a:rPr kumimoji="1" lang="en-US" altLang="zh-CN" sz="1400" b="1" dirty="0">
                <a:ea typeface="Bangla MN" charset="0"/>
                <a:cs typeface="Bangla MN" charset="0"/>
              </a:rPr>
              <a:t>Cache</a:t>
            </a:r>
            <a:endParaRPr kumimoji="1" lang="zh-CN" altLang="en-US" sz="1400" b="1" dirty="0">
              <a:ea typeface="Bangla MN" charset="0"/>
              <a:cs typeface="Bangla MN" charset="0"/>
            </a:endParaRPr>
          </a:p>
        </p:txBody>
      </p:sp>
      <p:sp>
        <p:nvSpPr>
          <p:cNvPr id="31" name="文本框 30"/>
          <p:cNvSpPr txBox="1"/>
          <p:nvPr/>
        </p:nvSpPr>
        <p:spPr>
          <a:xfrm>
            <a:off x="5681615" y="3793605"/>
            <a:ext cx="1047414" cy="307777"/>
          </a:xfrm>
          <a:prstGeom prst="rect">
            <a:avLst/>
          </a:prstGeom>
          <a:solidFill>
            <a:schemeClr val="bg1"/>
          </a:solidFill>
        </p:spPr>
        <p:txBody>
          <a:bodyPr wrap="square" rtlCol="0">
            <a:spAutoFit/>
          </a:bodyPr>
          <a:lstStyle/>
          <a:p>
            <a:r>
              <a:rPr kumimoji="1" lang="en-US" altLang="zh-CN" sz="1400" b="1" dirty="0">
                <a:ea typeface="Bangla MN" charset="0"/>
                <a:cs typeface="Bangla MN" charset="0"/>
              </a:rPr>
              <a:t>Memory</a:t>
            </a:r>
            <a:r>
              <a:rPr kumimoji="1" lang="zh-CN" altLang="en-US" sz="1400" b="1" dirty="0">
                <a:ea typeface="Bangla MN" charset="0"/>
                <a:cs typeface="Bangla MN" charset="0"/>
              </a:rPr>
              <a:t> </a:t>
            </a:r>
          </a:p>
        </p:txBody>
      </p:sp>
      <p:sp>
        <p:nvSpPr>
          <p:cNvPr id="39" name="文本框 38"/>
          <p:cNvSpPr txBox="1"/>
          <p:nvPr/>
        </p:nvSpPr>
        <p:spPr>
          <a:xfrm>
            <a:off x="5508105" y="4749232"/>
            <a:ext cx="1551535" cy="492443"/>
          </a:xfrm>
          <a:prstGeom prst="rect">
            <a:avLst/>
          </a:prstGeom>
          <a:noFill/>
        </p:spPr>
        <p:txBody>
          <a:bodyPr wrap="square" rtlCol="0">
            <a:spAutoFit/>
          </a:bodyPr>
          <a:lstStyle/>
          <a:p>
            <a:pPr algn="ctr"/>
            <a:r>
              <a:rPr kumimoji="1" lang="en-US" altLang="zh-CN" sz="1400" b="1" dirty="0" err="1">
                <a:ea typeface="Bangla MN" charset="0"/>
                <a:cs typeface="Bangla MN" charset="0"/>
              </a:rPr>
              <a:t>buf</a:t>
            </a:r>
            <a:r>
              <a:rPr kumimoji="1" lang="en-US" altLang="zh-CN" sz="1400" b="1" dirty="0">
                <a:ea typeface="Bangla MN" charset="0"/>
                <a:cs typeface="Bangla MN" charset="0"/>
              </a:rPr>
              <a:t> </a:t>
            </a:r>
          </a:p>
          <a:p>
            <a:pPr algn="ctr"/>
            <a:r>
              <a:rPr kumimoji="1" lang="en-US" altLang="zh-CN" sz="1200" dirty="0">
                <a:ea typeface="Bangla MN" charset="0"/>
                <a:cs typeface="Bangla MN" charset="0"/>
              </a:rPr>
              <a:t>(Attack buffer)</a:t>
            </a:r>
            <a:endParaRPr kumimoji="1" lang="zh-CN" altLang="en-US" dirty="0">
              <a:ea typeface="Bangla MN" charset="0"/>
              <a:cs typeface="Bangla MN" charset="0"/>
            </a:endParaRPr>
          </a:p>
        </p:txBody>
      </p:sp>
      <p:pic>
        <p:nvPicPr>
          <p:cNvPr id="41" name="图片 4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7642" y="4696928"/>
            <a:ext cx="369461" cy="604390"/>
          </a:xfrm>
          <a:prstGeom prst="rect">
            <a:avLst/>
          </a:prstGeom>
        </p:spPr>
      </p:pic>
      <p:sp>
        <p:nvSpPr>
          <p:cNvPr id="42" name="文本框 41"/>
          <p:cNvSpPr txBox="1"/>
          <p:nvPr/>
        </p:nvSpPr>
        <p:spPr>
          <a:xfrm>
            <a:off x="1115617" y="4796539"/>
            <a:ext cx="1142163" cy="276999"/>
          </a:xfrm>
          <a:prstGeom prst="rect">
            <a:avLst/>
          </a:prstGeom>
          <a:noFill/>
        </p:spPr>
        <p:txBody>
          <a:bodyPr wrap="square" rtlCol="0">
            <a:spAutoFit/>
          </a:bodyPr>
          <a:lstStyle/>
          <a:p>
            <a:r>
              <a:rPr kumimoji="1" lang="en-US" altLang="zh-CN" sz="1200" b="1" dirty="0">
                <a:ea typeface="DengXian" charset="-122"/>
                <a:cs typeface="DengXian" charset="-122"/>
              </a:rPr>
              <a:t>Meltdown</a:t>
            </a:r>
          </a:p>
        </p:txBody>
      </p:sp>
      <p:graphicFrame>
        <p:nvGraphicFramePr>
          <p:cNvPr id="46" name="表格 45"/>
          <p:cNvGraphicFramePr>
            <a:graphicFrameLocks noGrp="1"/>
          </p:cNvGraphicFramePr>
          <p:nvPr/>
        </p:nvGraphicFramePr>
        <p:xfrm>
          <a:off x="3579299" y="4172493"/>
          <a:ext cx="1157165" cy="822960"/>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1157165">
                  <a:extLst>
                    <a:ext uri="{9D8B030D-6E8A-4147-A177-3AD203B41FA5}">
                      <a16:colId xmlns:a16="http://schemas.microsoft.com/office/drawing/2014/main" val="20000"/>
                    </a:ext>
                  </a:extLst>
                </a:gridCol>
              </a:tblGrid>
              <a:tr h="117404">
                <a:tc>
                  <a:txBody>
                    <a:bodyPr/>
                    <a:lstStyle/>
                    <a:p>
                      <a:pPr algn="ctr"/>
                      <a:r>
                        <a:rPr lang="en-US" altLang="zh-CN" sz="900" dirty="0">
                          <a:solidFill>
                            <a:schemeClr val="tx1"/>
                          </a:solidFill>
                        </a:rPr>
                        <a:t>Key = 1</a:t>
                      </a:r>
                      <a:endParaRPr lang="zh-CN" altLang="en-US" sz="900" dirty="0">
                        <a:solidFill>
                          <a:schemeClr val="tx1"/>
                        </a:solidFill>
                      </a:endParaRPr>
                    </a:p>
                  </a:txBody>
                  <a:tcPr marL="72000" marR="72000" marT="0" marB="0">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17404">
                <a:tc>
                  <a:txBody>
                    <a:bodyPr/>
                    <a:lstStyle/>
                    <a:p>
                      <a:pPr algn="ctr"/>
                      <a:endParaRPr lang="zh-CN" altLang="en-US" sz="900" dirty="0">
                        <a:solidFill>
                          <a:schemeClr val="tx1"/>
                        </a:solidFill>
                      </a:endParaRPr>
                    </a:p>
                  </a:txBody>
                  <a:tcPr marL="72000" marR="72000" marT="0" marB="0">
                    <a:lnT w="19050" cap="flat" cmpd="sng" algn="ctr">
                      <a:solidFill>
                        <a:srgbClr val="FF0066"/>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102870">
                <a:tc>
                  <a:txBody>
                    <a:bodyPr/>
                    <a:lstStyle/>
                    <a:p>
                      <a:pPr algn="ctr"/>
                      <a:endParaRPr lang="zh-CN" altLang="en-US" sz="900" b="1" dirty="0">
                        <a:solidFill>
                          <a:schemeClr val="tx1"/>
                        </a:solidFill>
                      </a:endParaRPr>
                    </a:p>
                  </a:txBody>
                  <a:tcPr marL="72000" marR="72000" marT="0" marB="0">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2870">
                <a:tc>
                  <a:txBody>
                    <a:bodyPr/>
                    <a:lstStyle/>
                    <a:p>
                      <a:pPr algn="ctr"/>
                      <a:r>
                        <a:rPr lang="en-US" altLang="zh-CN" sz="900" b="1" dirty="0" err="1">
                          <a:solidFill>
                            <a:schemeClr val="tx1"/>
                          </a:solidFill>
                        </a:rPr>
                        <a:t>buf</a:t>
                      </a:r>
                      <a:r>
                        <a:rPr lang="en-US" altLang="zh-CN" sz="900" b="1" dirty="0">
                          <a:solidFill>
                            <a:schemeClr val="tx1"/>
                          </a:solidFill>
                        </a:rPr>
                        <a:t>[1]</a:t>
                      </a:r>
                      <a:endParaRPr lang="zh-CN" altLang="en-US" sz="900" b="1" dirty="0">
                        <a:solidFill>
                          <a:schemeClr val="tx1"/>
                        </a:solidFill>
                      </a:endParaRPr>
                    </a:p>
                  </a:txBody>
                  <a:tcPr marL="72000" marR="72000" marT="0" marB="0">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02870">
                <a:tc>
                  <a:txBody>
                    <a:bodyPr/>
                    <a:lstStyle/>
                    <a:p>
                      <a:pPr algn="ctr"/>
                      <a:endParaRPr lang="zh-CN" altLang="en-US" sz="900" b="1" dirty="0">
                        <a:solidFill>
                          <a:schemeClr val="tx1"/>
                        </a:solidFill>
                      </a:endParaRPr>
                    </a:p>
                  </a:txBody>
                  <a:tcPr marL="72000" marR="72000" marT="0" marB="0">
                    <a:lnT w="19050" cap="flat" cmpd="sng" algn="ctr">
                      <a:solidFill>
                        <a:srgbClr val="FF0066"/>
                      </a:solidFill>
                      <a:prstDash val="solid"/>
                      <a:round/>
                      <a:headEnd type="none" w="med" len="med"/>
                      <a:tailEnd type="none" w="med" len="med"/>
                    </a:lnT>
                    <a:solidFill>
                      <a:schemeClr val="bg1"/>
                    </a:solidFill>
                  </a:tcPr>
                </a:tc>
                <a:extLst>
                  <a:ext uri="{0D108BD9-81ED-4DB2-BD59-A6C34878D82A}">
                    <a16:rowId xmlns:a16="http://schemas.microsoft.com/office/drawing/2014/main" val="10004"/>
                  </a:ext>
                </a:extLst>
              </a:tr>
              <a:tr h="102870">
                <a:tc>
                  <a:txBody>
                    <a:bodyPr/>
                    <a:lstStyle/>
                    <a:p>
                      <a:pPr algn="ctr"/>
                      <a:endParaRPr lang="zh-CN" altLang="en-US" sz="900" b="1" dirty="0">
                        <a:solidFill>
                          <a:schemeClr val="tx1"/>
                        </a:solidFill>
                      </a:endParaRPr>
                    </a:p>
                  </a:txBody>
                  <a:tcPr marL="72000" marR="72000" marT="0" marB="0">
                    <a:solidFill>
                      <a:schemeClr val="bg1"/>
                    </a:solidFill>
                  </a:tcPr>
                </a:tc>
                <a:extLst>
                  <a:ext uri="{0D108BD9-81ED-4DB2-BD59-A6C34878D82A}">
                    <a16:rowId xmlns:a16="http://schemas.microsoft.com/office/drawing/2014/main" val="10005"/>
                  </a:ext>
                </a:extLst>
              </a:tr>
            </a:tbl>
          </a:graphicData>
        </a:graphic>
      </p:graphicFrame>
      <p:graphicFrame>
        <p:nvGraphicFramePr>
          <p:cNvPr id="48" name="表格 47"/>
          <p:cNvGraphicFramePr>
            <a:graphicFrameLocks noGrp="1"/>
          </p:cNvGraphicFramePr>
          <p:nvPr/>
        </p:nvGraphicFramePr>
        <p:xfrm>
          <a:off x="5926351" y="4172493"/>
          <a:ext cx="2520000" cy="340268"/>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3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360000">
                  <a:extLst>
                    <a:ext uri="{9D8B030D-6E8A-4147-A177-3AD203B41FA5}">
                      <a16:colId xmlns:a16="http://schemas.microsoft.com/office/drawing/2014/main" val="20006"/>
                    </a:ext>
                  </a:extLst>
                </a:gridCol>
              </a:tblGrid>
              <a:tr h="340268">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[0]</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rgbClr val="FF0066"/>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[1]</a:t>
                      </a:r>
                      <a:endParaRPr lang="zh-CN" altLang="en-US" sz="900" dirty="0">
                        <a:solidFill>
                          <a:schemeClr val="tx1"/>
                        </a:solidFill>
                      </a:endParaRPr>
                    </a:p>
                  </a:txBody>
                  <a:tcPr marL="0" marR="0" marT="0" marB="0" anchor="ctr">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[2]</a:t>
                      </a:r>
                      <a:endParaRPr lang="zh-CN" altLang="en-US" sz="900" dirty="0">
                        <a:solidFill>
                          <a:schemeClr val="tx1"/>
                        </a:solidFill>
                      </a:endParaRPr>
                    </a:p>
                  </a:txBody>
                  <a:tcPr marL="0" marR="0" marT="0" marB="0" anchor="ctr">
                    <a:lnL w="19050" cap="flat" cmpd="sng" algn="ctr">
                      <a:solidFill>
                        <a:srgbClr val="FF0066"/>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900" dirty="0">
                          <a:solidFill>
                            <a:schemeClr val="tx1"/>
                          </a:solidFill>
                        </a:rPr>
                        <a:t>…</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[n]</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sp>
        <p:nvSpPr>
          <p:cNvPr id="43" name="文本框 42"/>
          <p:cNvSpPr txBox="1"/>
          <p:nvPr/>
        </p:nvSpPr>
        <p:spPr>
          <a:xfrm>
            <a:off x="3972526" y="2353445"/>
            <a:ext cx="1986832" cy="307777"/>
          </a:xfrm>
          <a:prstGeom prst="rect">
            <a:avLst/>
          </a:prstGeom>
          <a:noFill/>
        </p:spPr>
        <p:txBody>
          <a:bodyPr wrap="square" rtlCol="0">
            <a:spAutoFit/>
          </a:bodyPr>
          <a:lstStyle/>
          <a:p>
            <a:r>
              <a:rPr kumimoji="1" lang="en-US" altLang="zh-CN" sz="1400" strike="sngStrike" dirty="0">
                <a:ea typeface="Bangla MN" charset="0"/>
                <a:cs typeface="Bangla MN" charset="0"/>
              </a:rPr>
              <a:t>Load </a:t>
            </a:r>
            <a:r>
              <a:rPr kumimoji="1" lang="en-US" altLang="zh-CN" sz="1400" b="1" strike="sngStrike" dirty="0" err="1">
                <a:ea typeface="Bangla MN" charset="0"/>
                <a:cs typeface="Bangla MN" charset="0"/>
              </a:rPr>
              <a:t>buf</a:t>
            </a:r>
            <a:r>
              <a:rPr kumimoji="1" lang="en-US" altLang="zh-CN" sz="1400" strike="sngStrike" dirty="0">
                <a:ea typeface="Bangla MN" charset="0"/>
                <a:cs typeface="Bangla MN" charset="0"/>
              </a:rPr>
              <a:t>[%</a:t>
            </a:r>
            <a:r>
              <a:rPr kumimoji="1" lang="en-US" altLang="zh-CN" sz="1400" strike="sngStrike" dirty="0" err="1">
                <a:ea typeface="Bangla MN" charset="0"/>
                <a:cs typeface="Bangla MN" charset="0"/>
              </a:rPr>
              <a:t>rax</a:t>
            </a:r>
            <a:r>
              <a:rPr kumimoji="1" lang="en-US" altLang="zh-CN" sz="1400" strike="sngStrike" dirty="0">
                <a:ea typeface="Bangla MN" charset="0"/>
                <a:cs typeface="Bangla MN" charset="0"/>
              </a:rPr>
              <a:t>], %</a:t>
            </a:r>
            <a:r>
              <a:rPr kumimoji="1" lang="en-US" altLang="zh-CN" sz="1400" strike="sngStrike" dirty="0" err="1">
                <a:ea typeface="Bangla MN" charset="0"/>
                <a:cs typeface="Bangla MN" charset="0"/>
              </a:rPr>
              <a:t>rbx</a:t>
            </a:r>
            <a:endParaRPr kumimoji="1" lang="en-US" altLang="zh-CN" sz="1400" strike="sngStrike" dirty="0">
              <a:ea typeface="Bangla MN" charset="0"/>
              <a:cs typeface="Bangla MN" charset="0"/>
            </a:endParaRPr>
          </a:p>
        </p:txBody>
      </p:sp>
      <p:sp>
        <p:nvSpPr>
          <p:cNvPr id="44" name="文本框 43"/>
          <p:cNvSpPr txBox="1"/>
          <p:nvPr/>
        </p:nvSpPr>
        <p:spPr>
          <a:xfrm>
            <a:off x="6084822" y="2353445"/>
            <a:ext cx="1439506" cy="307777"/>
          </a:xfrm>
          <a:prstGeom prst="rect">
            <a:avLst/>
          </a:prstGeom>
          <a:noFill/>
        </p:spPr>
        <p:txBody>
          <a:bodyPr wrap="square" rtlCol="0">
            <a:spAutoFit/>
          </a:bodyPr>
          <a:lstStyle/>
          <a:p>
            <a:r>
              <a:rPr kumimoji="1" lang="en-US" altLang="zh-CN" sz="1400" strike="sngStrike" dirty="0">
                <a:ea typeface="Bangla MN" charset="0"/>
                <a:cs typeface="Bangla MN" charset="0"/>
                <a:sym typeface="Wingdings"/>
              </a:rPr>
              <a:t>Access </a:t>
            </a:r>
            <a:r>
              <a:rPr kumimoji="1" lang="en-US" altLang="zh-CN" sz="1400" b="1" strike="sngStrike" dirty="0" err="1">
                <a:effectLst>
                  <a:outerShdw blurRad="63500" sx="102000" sy="102000" algn="ctr" rotWithShape="0">
                    <a:prstClr val="black">
                      <a:alpha val="40000"/>
                    </a:prstClr>
                  </a:outerShdw>
                </a:effectLst>
                <a:ea typeface="Bangla MN" charset="0"/>
                <a:cs typeface="Bangla MN" charset="0"/>
                <a:sym typeface="Wingdings"/>
              </a:rPr>
              <a:t>buf</a:t>
            </a:r>
            <a:r>
              <a:rPr kumimoji="1" lang="en-US" altLang="zh-CN" sz="1400" b="1" strike="sngStrike" dirty="0">
                <a:effectLst>
                  <a:outerShdw blurRad="63500" sx="102000" sy="102000" algn="ctr" rotWithShape="0">
                    <a:prstClr val="black">
                      <a:alpha val="40000"/>
                    </a:prstClr>
                  </a:outerShdw>
                </a:effectLst>
                <a:ea typeface="Bangla MN" charset="0"/>
                <a:cs typeface="Bangla MN" charset="0"/>
                <a:sym typeface="Wingdings"/>
              </a:rPr>
              <a:t>[1]</a:t>
            </a:r>
            <a:endParaRPr kumimoji="1" lang="en-US" altLang="zh-CN" sz="1400" strike="sngStrike" dirty="0">
              <a:ea typeface="Bangla MN" charset="0"/>
              <a:cs typeface="Bangla MN" charset="0"/>
              <a:sym typeface="Wingdings"/>
            </a:endParaRPr>
          </a:p>
        </p:txBody>
      </p:sp>
      <p:cxnSp>
        <p:nvCxnSpPr>
          <p:cNvPr id="47" name="直线箭头连接符 46"/>
          <p:cNvCxnSpPr/>
          <p:nvPr/>
        </p:nvCxnSpPr>
        <p:spPr>
          <a:xfrm>
            <a:off x="6283871" y="4550316"/>
            <a:ext cx="0" cy="246222"/>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3" name="椭圆 52"/>
          <p:cNvSpPr/>
          <p:nvPr/>
        </p:nvSpPr>
        <p:spPr>
          <a:xfrm>
            <a:off x="5800310" y="2828750"/>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3</a:t>
            </a:r>
            <a:endParaRPr kumimoji="1" lang="zh-CN" altLang="en-US" b="1" dirty="0">
              <a:solidFill>
                <a:srgbClr val="FF0066"/>
              </a:solidFill>
              <a:ea typeface="Bangla MN" charset="0"/>
              <a:cs typeface="Bangla MN" charset="0"/>
            </a:endParaRPr>
          </a:p>
        </p:txBody>
      </p:sp>
      <p:sp>
        <p:nvSpPr>
          <p:cNvPr id="54" name="文本框 53"/>
          <p:cNvSpPr txBox="1"/>
          <p:nvPr/>
        </p:nvSpPr>
        <p:spPr>
          <a:xfrm>
            <a:off x="1719747" y="2938834"/>
            <a:ext cx="1772272" cy="307777"/>
          </a:xfrm>
          <a:prstGeom prst="rect">
            <a:avLst/>
          </a:prstGeom>
          <a:noFill/>
        </p:spPr>
        <p:txBody>
          <a:bodyPr wrap="square" rtlCol="0">
            <a:spAutoFit/>
          </a:bodyPr>
          <a:lstStyle/>
          <a:p>
            <a:pPr algn="ctr"/>
            <a:r>
              <a:rPr kumimoji="1" lang="zh-CN" altLang="en-US" sz="1400" dirty="0">
                <a:solidFill>
                  <a:srgbClr val="FF0066"/>
                </a:solidFill>
                <a:ea typeface="Bangla MN" charset="0"/>
                <a:cs typeface="Bangla MN" charset="0"/>
              </a:rPr>
              <a:t>内存访问异常</a:t>
            </a:r>
            <a:endParaRPr kumimoji="1" lang="en-US" altLang="zh-CN" sz="1400" dirty="0">
              <a:solidFill>
                <a:srgbClr val="FF0066"/>
              </a:solidFill>
              <a:ea typeface="Bangla MN" charset="0"/>
              <a:cs typeface="Bangla MN" charset="0"/>
            </a:endParaRPr>
          </a:p>
        </p:txBody>
      </p:sp>
      <p:cxnSp>
        <p:nvCxnSpPr>
          <p:cNvPr id="59" name="直线箭头连接符 58"/>
          <p:cNvCxnSpPr/>
          <p:nvPr/>
        </p:nvCxnSpPr>
        <p:spPr>
          <a:xfrm>
            <a:off x="3218656" y="3092721"/>
            <a:ext cx="633264" cy="0"/>
          </a:xfrm>
          <a:prstGeom prst="straightConnector1">
            <a:avLst/>
          </a:prstGeom>
          <a:ln w="19050">
            <a:solidFill>
              <a:srgbClr val="FF0066"/>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线箭头连接符 44"/>
          <p:cNvCxnSpPr/>
          <p:nvPr/>
        </p:nvCxnSpPr>
        <p:spPr>
          <a:xfrm>
            <a:off x="2913129" y="4366542"/>
            <a:ext cx="633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2568356" y="4533751"/>
            <a:ext cx="1322811" cy="430887"/>
          </a:xfrm>
          <a:prstGeom prst="rect">
            <a:avLst/>
          </a:prstGeom>
          <a:noFill/>
        </p:spPr>
        <p:txBody>
          <a:bodyPr wrap="square" rtlCol="0">
            <a:spAutoFit/>
          </a:bodyPr>
          <a:lstStyle/>
          <a:p>
            <a:pPr algn="ctr"/>
            <a:r>
              <a:rPr kumimoji="1" lang="en-US" altLang="zh-CN" sz="1100" i="1" dirty="0">
                <a:ea typeface="Bangla MN" charset="0"/>
                <a:cs typeface="Bangla MN" charset="0"/>
              </a:rPr>
              <a:t>Access </a:t>
            </a:r>
          </a:p>
          <a:p>
            <a:pPr algn="ctr"/>
            <a:r>
              <a:rPr kumimoji="1" lang="en-US" altLang="zh-CN" sz="1100" i="1" dirty="0" err="1">
                <a:solidFill>
                  <a:srgbClr val="FF0066"/>
                </a:solidFill>
                <a:ea typeface="Bangla MN" charset="0"/>
                <a:cs typeface="Bangla MN" charset="0"/>
              </a:rPr>
              <a:t>buf</a:t>
            </a:r>
            <a:r>
              <a:rPr kumimoji="1" lang="en-US" altLang="zh-CN" sz="1100" i="1" dirty="0">
                <a:solidFill>
                  <a:srgbClr val="FF0066"/>
                </a:solidFill>
                <a:ea typeface="Bangla MN" charset="0"/>
                <a:cs typeface="Bangla MN" charset="0"/>
              </a:rPr>
              <a:t>[1]</a:t>
            </a:r>
          </a:p>
        </p:txBody>
      </p:sp>
      <p:cxnSp>
        <p:nvCxnSpPr>
          <p:cNvPr id="50" name="直线箭头连接符 49"/>
          <p:cNvCxnSpPr/>
          <p:nvPr/>
        </p:nvCxnSpPr>
        <p:spPr>
          <a:xfrm>
            <a:off x="4965942" y="4366542"/>
            <a:ext cx="633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线箭头连接符 50"/>
          <p:cNvCxnSpPr/>
          <p:nvPr/>
        </p:nvCxnSpPr>
        <p:spPr>
          <a:xfrm>
            <a:off x="4965942" y="4441676"/>
            <a:ext cx="633264"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4661014" y="4533751"/>
            <a:ext cx="1322811" cy="430887"/>
          </a:xfrm>
          <a:prstGeom prst="rect">
            <a:avLst/>
          </a:prstGeom>
          <a:noFill/>
        </p:spPr>
        <p:txBody>
          <a:bodyPr wrap="square" rtlCol="0">
            <a:spAutoFit/>
          </a:bodyPr>
          <a:lstStyle/>
          <a:p>
            <a:pPr algn="ctr"/>
            <a:r>
              <a:rPr kumimoji="1" lang="en-US" altLang="zh-CN" sz="1100" i="1" dirty="0">
                <a:solidFill>
                  <a:srgbClr val="FF0066"/>
                </a:solidFill>
                <a:ea typeface="Bangla MN" charset="0"/>
                <a:cs typeface="Bangla MN" charset="0"/>
              </a:rPr>
              <a:t>Fill </a:t>
            </a:r>
            <a:r>
              <a:rPr kumimoji="1" lang="en-US" altLang="zh-CN" sz="1100" i="1" dirty="0" err="1">
                <a:solidFill>
                  <a:srgbClr val="FF0066"/>
                </a:solidFill>
                <a:ea typeface="Bangla MN" charset="0"/>
                <a:cs typeface="Bangla MN" charset="0"/>
              </a:rPr>
              <a:t>buf</a:t>
            </a:r>
            <a:r>
              <a:rPr kumimoji="1" lang="en-US" altLang="zh-CN" sz="1100" i="1" dirty="0">
                <a:solidFill>
                  <a:srgbClr val="FF0066"/>
                </a:solidFill>
                <a:ea typeface="Bangla MN" charset="0"/>
                <a:cs typeface="Bangla MN" charset="0"/>
              </a:rPr>
              <a:t>[1]</a:t>
            </a:r>
          </a:p>
          <a:p>
            <a:pPr algn="ctr"/>
            <a:r>
              <a:rPr kumimoji="1" lang="en-US" altLang="zh-CN" sz="1100" i="1" dirty="0">
                <a:solidFill>
                  <a:srgbClr val="FF0066"/>
                </a:solidFill>
                <a:ea typeface="Bangla MN" charset="0"/>
                <a:cs typeface="Bangla MN" charset="0"/>
              </a:rPr>
              <a:t>to cache</a:t>
            </a:r>
          </a:p>
        </p:txBody>
      </p:sp>
      <p:sp>
        <p:nvSpPr>
          <p:cNvPr id="57" name="椭圆 56"/>
          <p:cNvSpPr/>
          <p:nvPr/>
        </p:nvSpPr>
        <p:spPr>
          <a:xfrm>
            <a:off x="3119096" y="4255405"/>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58" name="椭圆 57"/>
          <p:cNvSpPr/>
          <p:nvPr/>
        </p:nvSpPr>
        <p:spPr>
          <a:xfrm>
            <a:off x="5148064" y="4293518"/>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56" name="标题 1">
            <a:extLst>
              <a:ext uri="{FF2B5EF4-FFF2-40B4-BE49-F238E27FC236}">
                <a16:creationId xmlns:a16="http://schemas.microsoft.com/office/drawing/2014/main" id="{BD408704-DA62-C545-A597-E39C9FC543FA}"/>
              </a:ext>
            </a:extLst>
          </p:cNvPr>
          <p:cNvSpPr>
            <a:spLocks noGrp="1"/>
          </p:cNvSpPr>
          <p:nvPr>
            <p:ph type="title"/>
          </p:nvPr>
        </p:nvSpPr>
        <p:spPr>
          <a:xfrm>
            <a:off x="457200" y="228866"/>
            <a:ext cx="8229600" cy="900442"/>
          </a:xfrm>
        </p:spPr>
        <p:txBody>
          <a:bodyPr>
            <a:normAutofit/>
          </a:bodyPr>
          <a:lstStyle/>
          <a:p>
            <a:r>
              <a:rPr lang="en-US" altLang="zh-CN" dirty="0">
                <a:latin typeface="+mn-lt"/>
              </a:rPr>
              <a:t>Meltdown</a:t>
            </a:r>
            <a:r>
              <a:rPr lang="zh-CN" altLang="en-US" dirty="0">
                <a:latin typeface="+mn-lt"/>
              </a:rPr>
              <a:t>漏洞原理</a:t>
            </a:r>
          </a:p>
        </p:txBody>
      </p:sp>
      <p:sp>
        <p:nvSpPr>
          <p:cNvPr id="61" name="文本框 60">
            <a:extLst>
              <a:ext uri="{FF2B5EF4-FFF2-40B4-BE49-F238E27FC236}">
                <a16:creationId xmlns:a16="http://schemas.microsoft.com/office/drawing/2014/main" id="{96843D30-D311-F34B-9640-C134970004F2}"/>
              </a:ext>
            </a:extLst>
          </p:cNvPr>
          <p:cNvSpPr txBox="1"/>
          <p:nvPr/>
        </p:nvSpPr>
        <p:spPr>
          <a:xfrm>
            <a:off x="2041718" y="2397249"/>
            <a:ext cx="1126169" cy="307777"/>
          </a:xfrm>
          <a:prstGeom prst="rect">
            <a:avLst/>
          </a:prstGeom>
          <a:noFill/>
        </p:spPr>
        <p:txBody>
          <a:bodyPr wrap="square" rtlCol="0" anchor="ctr" anchorCtr="0">
            <a:spAutoFit/>
          </a:bodyPr>
          <a:lstStyle/>
          <a:p>
            <a:pPr algn="ctr"/>
            <a:r>
              <a:rPr kumimoji="1" lang="zh-CN" altLang="en-US" sz="1400" dirty="0">
                <a:ea typeface="Bangla MN" charset="0"/>
                <a:cs typeface="Bangla MN" charset="0"/>
              </a:rPr>
              <a:t>投机执行</a:t>
            </a:r>
          </a:p>
        </p:txBody>
      </p:sp>
      <p:sp>
        <p:nvSpPr>
          <p:cNvPr id="62" name="文本框 61">
            <a:extLst>
              <a:ext uri="{FF2B5EF4-FFF2-40B4-BE49-F238E27FC236}">
                <a16:creationId xmlns:a16="http://schemas.microsoft.com/office/drawing/2014/main" id="{2EEE4B0B-A64C-5448-8DF6-38E3AD9C5B38}"/>
              </a:ext>
            </a:extLst>
          </p:cNvPr>
          <p:cNvSpPr txBox="1"/>
          <p:nvPr/>
        </p:nvSpPr>
        <p:spPr>
          <a:xfrm>
            <a:off x="1803725" y="1737331"/>
            <a:ext cx="1602154" cy="523220"/>
          </a:xfrm>
          <a:prstGeom prst="rect">
            <a:avLst/>
          </a:prstGeom>
          <a:noFill/>
        </p:spPr>
        <p:txBody>
          <a:bodyPr wrap="square" rtlCol="0" anchor="ctr" anchorCtr="0">
            <a:spAutoFit/>
          </a:bodyPr>
          <a:lstStyle/>
          <a:p>
            <a:pPr algn="ctr"/>
            <a:r>
              <a:rPr kumimoji="1" lang="zh-CN" altLang="en-US" sz="1400" dirty="0">
                <a:solidFill>
                  <a:srgbClr val="FF0066"/>
                </a:solidFill>
                <a:ea typeface="Bangla MN" charset="0"/>
                <a:cs typeface="Bangla MN" charset="0"/>
              </a:rPr>
              <a:t>非法内核内存</a:t>
            </a:r>
            <a:endParaRPr kumimoji="1" lang="en-US" altLang="zh-CN" sz="1400" dirty="0">
              <a:solidFill>
                <a:srgbClr val="FF0066"/>
              </a:solidFill>
              <a:ea typeface="Bangla MN" charset="0"/>
              <a:cs typeface="Bangla MN" charset="0"/>
            </a:endParaRPr>
          </a:p>
          <a:p>
            <a:pPr algn="ctr"/>
            <a:r>
              <a:rPr kumimoji="1" lang="zh-CN" altLang="en-US" sz="1400" dirty="0">
                <a:solidFill>
                  <a:srgbClr val="FF0066"/>
                </a:solidFill>
                <a:ea typeface="Bangla MN" charset="0"/>
                <a:cs typeface="Bangla MN" charset="0"/>
              </a:rPr>
              <a:t>访问！</a:t>
            </a:r>
          </a:p>
        </p:txBody>
      </p:sp>
    </p:spTree>
    <p:extLst>
      <p:ext uri="{BB962C8B-B14F-4D97-AF65-F5344CB8AC3E}">
        <p14:creationId xmlns:p14="http://schemas.microsoft.com/office/powerpoint/2010/main" val="145419053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316416" y="5067933"/>
            <a:ext cx="648072" cy="273844"/>
          </a:xfrm>
        </p:spPr>
        <p:txBody>
          <a:bodyPr/>
          <a:lstStyle/>
          <a:p>
            <a:r>
              <a:rPr lang="en-US" altLang="zh-CN" sz="1800" dirty="0">
                <a:solidFill>
                  <a:schemeClr val="tx1"/>
                </a:solidFill>
              </a:rPr>
              <a:t>3</a:t>
            </a:r>
            <a:endParaRPr lang="zh-CN" altLang="en-US" sz="1800" dirty="0">
              <a:solidFill>
                <a:schemeClr val="tx1"/>
              </a:solidFill>
            </a:endParaRPr>
          </a:p>
        </p:txBody>
      </p:sp>
      <p:sp>
        <p:nvSpPr>
          <p:cNvPr id="7" name="文本框 6"/>
          <p:cNvSpPr txBox="1"/>
          <p:nvPr/>
        </p:nvSpPr>
        <p:spPr>
          <a:xfrm>
            <a:off x="1115617" y="4024761"/>
            <a:ext cx="1142163" cy="276999"/>
          </a:xfrm>
          <a:prstGeom prst="rect">
            <a:avLst/>
          </a:prstGeom>
          <a:noFill/>
        </p:spPr>
        <p:txBody>
          <a:bodyPr wrap="square" rtlCol="0">
            <a:spAutoFit/>
          </a:bodyPr>
          <a:lstStyle/>
          <a:p>
            <a:r>
              <a:rPr kumimoji="1" lang="en-US" altLang="zh-CN" sz="1200" b="1" dirty="0">
                <a:solidFill>
                  <a:srgbClr val="FF0066"/>
                </a:solidFill>
                <a:ea typeface="DengXian" charset="-122"/>
                <a:cs typeface="DengXian" charset="-122"/>
              </a:rPr>
              <a:t>key </a:t>
            </a:r>
            <a:r>
              <a:rPr kumimoji="1" lang="en-US" altLang="zh-CN" sz="1200" b="1" dirty="0">
                <a:ea typeface="DengXian" charset="-122"/>
                <a:cs typeface="DengXian" charset="-122"/>
              </a:rPr>
              <a:t>= 0x01</a:t>
            </a:r>
          </a:p>
        </p:txBody>
      </p:sp>
      <p:sp>
        <p:nvSpPr>
          <p:cNvPr id="8" name="文本框 7"/>
          <p:cNvSpPr txBox="1"/>
          <p:nvPr/>
        </p:nvSpPr>
        <p:spPr>
          <a:xfrm>
            <a:off x="32048" y="4184358"/>
            <a:ext cx="780224" cy="261610"/>
          </a:xfrm>
          <a:prstGeom prst="rect">
            <a:avLst/>
          </a:prstGeom>
          <a:noFill/>
        </p:spPr>
        <p:txBody>
          <a:bodyPr wrap="square" rtlCol="0">
            <a:spAutoFit/>
          </a:bodyPr>
          <a:lstStyle/>
          <a:p>
            <a:pPr algn="ctr"/>
            <a:r>
              <a:rPr kumimoji="1" lang="en-US" altLang="zh-CN" sz="1100" dirty="0">
                <a:ea typeface="DengXian" charset="-122"/>
                <a:cs typeface="DengXian" charset="-122"/>
              </a:rPr>
              <a:t>Kernel</a:t>
            </a:r>
            <a:endParaRPr kumimoji="1" lang="zh-CN" altLang="en-US" sz="1600" dirty="0">
              <a:ea typeface="DengXian" charset="-122"/>
              <a:cs typeface="DengXian" charset="-122"/>
            </a:endParaRPr>
          </a:p>
        </p:txBody>
      </p:sp>
      <p:sp>
        <p:nvSpPr>
          <p:cNvPr id="9" name="文本框 8"/>
          <p:cNvSpPr txBox="1"/>
          <p:nvPr/>
        </p:nvSpPr>
        <p:spPr>
          <a:xfrm>
            <a:off x="90174" y="4558429"/>
            <a:ext cx="586684" cy="261610"/>
          </a:xfrm>
          <a:prstGeom prst="rect">
            <a:avLst/>
          </a:prstGeom>
          <a:noFill/>
        </p:spPr>
        <p:txBody>
          <a:bodyPr wrap="square" rtlCol="0">
            <a:spAutoFit/>
          </a:bodyPr>
          <a:lstStyle/>
          <a:p>
            <a:pPr algn="ctr"/>
            <a:r>
              <a:rPr kumimoji="1" lang="en-US" altLang="zh-CN" sz="1100" dirty="0">
                <a:ea typeface="DengXian" charset="-122"/>
                <a:cs typeface="DengXian" charset="-122"/>
              </a:rPr>
              <a:t>User</a:t>
            </a:r>
            <a:endParaRPr kumimoji="1" lang="zh-CN" altLang="en-US" sz="1600" dirty="0">
              <a:ea typeface="DengXian" charset="-122"/>
              <a:cs typeface="DengXian" charset="-122"/>
            </a:endParaRPr>
          </a:p>
        </p:txBody>
      </p:sp>
      <p:cxnSp>
        <p:nvCxnSpPr>
          <p:cNvPr id="10" name="直线连接符 9"/>
          <p:cNvCxnSpPr/>
          <p:nvPr/>
        </p:nvCxnSpPr>
        <p:spPr>
          <a:xfrm>
            <a:off x="380433" y="4499874"/>
            <a:ext cx="1769250" cy="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pic>
        <p:nvPicPr>
          <p:cNvPr id="12" name="图片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6540" y="3904256"/>
            <a:ext cx="311664" cy="461233"/>
          </a:xfrm>
          <a:prstGeom prst="rect">
            <a:avLst/>
          </a:prstGeom>
          <a:solidFill>
            <a:schemeClr val="bg1"/>
          </a:solidFill>
        </p:spPr>
      </p:pic>
      <p:sp>
        <p:nvSpPr>
          <p:cNvPr id="30" name="文本框 29"/>
          <p:cNvSpPr txBox="1"/>
          <p:nvPr/>
        </p:nvSpPr>
        <p:spPr>
          <a:xfrm>
            <a:off x="3275857" y="3793605"/>
            <a:ext cx="876921" cy="307777"/>
          </a:xfrm>
          <a:prstGeom prst="rect">
            <a:avLst/>
          </a:prstGeom>
          <a:solidFill>
            <a:schemeClr val="bg1"/>
          </a:solidFill>
        </p:spPr>
        <p:txBody>
          <a:bodyPr wrap="square" rtlCol="0">
            <a:spAutoFit/>
          </a:bodyPr>
          <a:lstStyle/>
          <a:p>
            <a:pPr algn="ctr"/>
            <a:r>
              <a:rPr kumimoji="1" lang="en-US" altLang="zh-CN" sz="1400" b="1" dirty="0">
                <a:ea typeface="Bangla MN" charset="0"/>
                <a:cs typeface="Bangla MN" charset="0"/>
              </a:rPr>
              <a:t>Cache</a:t>
            </a:r>
            <a:endParaRPr kumimoji="1" lang="zh-CN" altLang="en-US" sz="1400" b="1" dirty="0">
              <a:ea typeface="Bangla MN" charset="0"/>
              <a:cs typeface="Bangla MN" charset="0"/>
            </a:endParaRPr>
          </a:p>
        </p:txBody>
      </p:sp>
      <p:sp>
        <p:nvSpPr>
          <p:cNvPr id="31" name="文本框 30"/>
          <p:cNvSpPr txBox="1"/>
          <p:nvPr/>
        </p:nvSpPr>
        <p:spPr>
          <a:xfrm>
            <a:off x="5681615" y="3793605"/>
            <a:ext cx="1047414" cy="307777"/>
          </a:xfrm>
          <a:prstGeom prst="rect">
            <a:avLst/>
          </a:prstGeom>
          <a:solidFill>
            <a:schemeClr val="bg1"/>
          </a:solidFill>
        </p:spPr>
        <p:txBody>
          <a:bodyPr wrap="square" rtlCol="0">
            <a:spAutoFit/>
          </a:bodyPr>
          <a:lstStyle/>
          <a:p>
            <a:r>
              <a:rPr kumimoji="1" lang="en-US" altLang="zh-CN" sz="1400" b="1" dirty="0">
                <a:ea typeface="Bangla MN" charset="0"/>
                <a:cs typeface="Bangla MN" charset="0"/>
              </a:rPr>
              <a:t>Memory</a:t>
            </a:r>
            <a:r>
              <a:rPr kumimoji="1" lang="zh-CN" altLang="en-US" sz="1400" b="1" dirty="0">
                <a:ea typeface="Bangla MN" charset="0"/>
                <a:cs typeface="Bangla MN" charset="0"/>
              </a:rPr>
              <a:t> </a:t>
            </a:r>
          </a:p>
        </p:txBody>
      </p:sp>
      <p:sp>
        <p:nvSpPr>
          <p:cNvPr id="39" name="文本框 38"/>
          <p:cNvSpPr txBox="1"/>
          <p:nvPr/>
        </p:nvSpPr>
        <p:spPr>
          <a:xfrm>
            <a:off x="5508105" y="4749232"/>
            <a:ext cx="1551535" cy="492443"/>
          </a:xfrm>
          <a:prstGeom prst="rect">
            <a:avLst/>
          </a:prstGeom>
          <a:noFill/>
        </p:spPr>
        <p:txBody>
          <a:bodyPr wrap="square" rtlCol="0">
            <a:spAutoFit/>
          </a:bodyPr>
          <a:lstStyle/>
          <a:p>
            <a:pPr algn="ctr"/>
            <a:r>
              <a:rPr kumimoji="1" lang="en-US" altLang="zh-CN" sz="1400" b="1" dirty="0" err="1">
                <a:ea typeface="Bangla MN" charset="0"/>
                <a:cs typeface="Bangla MN" charset="0"/>
              </a:rPr>
              <a:t>buf</a:t>
            </a:r>
            <a:r>
              <a:rPr kumimoji="1" lang="en-US" altLang="zh-CN" sz="1400" b="1" dirty="0">
                <a:ea typeface="Bangla MN" charset="0"/>
                <a:cs typeface="Bangla MN" charset="0"/>
              </a:rPr>
              <a:t> </a:t>
            </a:r>
          </a:p>
          <a:p>
            <a:pPr algn="ctr"/>
            <a:r>
              <a:rPr kumimoji="1" lang="en-US" altLang="zh-CN" sz="1200" dirty="0">
                <a:ea typeface="Bangla MN" charset="0"/>
                <a:cs typeface="Bangla MN" charset="0"/>
              </a:rPr>
              <a:t>(Attack buffer)</a:t>
            </a:r>
            <a:endParaRPr kumimoji="1" lang="zh-CN" altLang="en-US" dirty="0">
              <a:ea typeface="Bangla MN" charset="0"/>
              <a:cs typeface="Bangla MN" charset="0"/>
            </a:endParaRPr>
          </a:p>
        </p:txBody>
      </p:sp>
      <p:pic>
        <p:nvPicPr>
          <p:cNvPr id="41" name="图片 4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7642" y="4696928"/>
            <a:ext cx="369461" cy="604390"/>
          </a:xfrm>
          <a:prstGeom prst="rect">
            <a:avLst/>
          </a:prstGeom>
        </p:spPr>
      </p:pic>
      <p:sp>
        <p:nvSpPr>
          <p:cNvPr id="42" name="文本框 41"/>
          <p:cNvSpPr txBox="1"/>
          <p:nvPr/>
        </p:nvSpPr>
        <p:spPr>
          <a:xfrm>
            <a:off x="1115617" y="4796539"/>
            <a:ext cx="1142163" cy="276999"/>
          </a:xfrm>
          <a:prstGeom prst="rect">
            <a:avLst/>
          </a:prstGeom>
          <a:noFill/>
        </p:spPr>
        <p:txBody>
          <a:bodyPr wrap="square" rtlCol="0">
            <a:spAutoFit/>
          </a:bodyPr>
          <a:lstStyle/>
          <a:p>
            <a:r>
              <a:rPr kumimoji="1" lang="en-US" altLang="zh-CN" sz="1200" b="1" dirty="0">
                <a:ea typeface="DengXian" charset="-122"/>
                <a:cs typeface="DengXian" charset="-122"/>
              </a:rPr>
              <a:t>Meltdown</a:t>
            </a:r>
          </a:p>
        </p:txBody>
      </p:sp>
      <p:graphicFrame>
        <p:nvGraphicFramePr>
          <p:cNvPr id="46" name="表格 45"/>
          <p:cNvGraphicFramePr>
            <a:graphicFrameLocks noGrp="1"/>
          </p:cNvGraphicFramePr>
          <p:nvPr/>
        </p:nvGraphicFramePr>
        <p:xfrm>
          <a:off x="3579299" y="4172493"/>
          <a:ext cx="1157165" cy="822960"/>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1157165">
                  <a:extLst>
                    <a:ext uri="{9D8B030D-6E8A-4147-A177-3AD203B41FA5}">
                      <a16:colId xmlns:a16="http://schemas.microsoft.com/office/drawing/2014/main" val="20000"/>
                    </a:ext>
                  </a:extLst>
                </a:gridCol>
              </a:tblGrid>
              <a:tr h="117404">
                <a:tc>
                  <a:txBody>
                    <a:bodyPr/>
                    <a:lstStyle/>
                    <a:p>
                      <a:pPr algn="ctr"/>
                      <a:r>
                        <a:rPr lang="en-US" altLang="zh-CN" sz="900" dirty="0">
                          <a:solidFill>
                            <a:schemeClr val="tx1"/>
                          </a:solidFill>
                        </a:rPr>
                        <a:t>Key = 1</a:t>
                      </a:r>
                      <a:endParaRPr lang="zh-CN" altLang="en-US" sz="900" dirty="0">
                        <a:solidFill>
                          <a:schemeClr val="tx1"/>
                        </a:solidFill>
                      </a:endParaRPr>
                    </a:p>
                  </a:txBody>
                  <a:tcPr marL="72000" marR="72000" marT="0" marB="0">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r h="117404">
                <a:tc>
                  <a:txBody>
                    <a:bodyPr/>
                    <a:lstStyle/>
                    <a:p>
                      <a:pPr algn="ctr"/>
                      <a:endParaRPr lang="zh-CN" altLang="en-US" sz="900" dirty="0">
                        <a:solidFill>
                          <a:schemeClr val="tx1"/>
                        </a:solidFill>
                      </a:endParaRPr>
                    </a:p>
                  </a:txBody>
                  <a:tcPr marL="72000" marR="72000" marT="0" marB="0">
                    <a:lnT w="19050" cap="flat" cmpd="sng" algn="ctr">
                      <a:solidFill>
                        <a:srgbClr val="FF0066"/>
                      </a:solidFill>
                      <a:prstDash val="solid"/>
                      <a:round/>
                      <a:headEnd type="none" w="med" len="med"/>
                      <a:tailEnd type="none" w="med" len="med"/>
                    </a:lnT>
                    <a:solidFill>
                      <a:schemeClr val="bg1"/>
                    </a:solidFill>
                  </a:tcPr>
                </a:tc>
                <a:extLst>
                  <a:ext uri="{0D108BD9-81ED-4DB2-BD59-A6C34878D82A}">
                    <a16:rowId xmlns:a16="http://schemas.microsoft.com/office/drawing/2014/main" val="10001"/>
                  </a:ext>
                </a:extLst>
              </a:tr>
              <a:tr h="102870">
                <a:tc>
                  <a:txBody>
                    <a:bodyPr/>
                    <a:lstStyle/>
                    <a:p>
                      <a:pPr algn="ctr"/>
                      <a:endParaRPr lang="zh-CN" altLang="en-US" sz="900" b="1" dirty="0">
                        <a:solidFill>
                          <a:schemeClr val="tx1"/>
                        </a:solidFill>
                      </a:endParaRPr>
                    </a:p>
                  </a:txBody>
                  <a:tcPr marL="72000" marR="72000" marT="0" marB="0">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2870">
                <a:tc>
                  <a:txBody>
                    <a:bodyPr/>
                    <a:lstStyle/>
                    <a:p>
                      <a:pPr algn="ctr"/>
                      <a:r>
                        <a:rPr lang="en-US" altLang="zh-CN" sz="900" b="1" dirty="0" err="1">
                          <a:solidFill>
                            <a:schemeClr val="tx1"/>
                          </a:solidFill>
                        </a:rPr>
                        <a:t>buf</a:t>
                      </a:r>
                      <a:r>
                        <a:rPr lang="en-US" altLang="zh-CN" sz="900" b="1" dirty="0">
                          <a:solidFill>
                            <a:schemeClr val="tx1"/>
                          </a:solidFill>
                        </a:rPr>
                        <a:t>[1]</a:t>
                      </a:r>
                      <a:endParaRPr lang="zh-CN" altLang="en-US" sz="900" b="1" dirty="0">
                        <a:solidFill>
                          <a:schemeClr val="tx1"/>
                        </a:solidFill>
                      </a:endParaRPr>
                    </a:p>
                  </a:txBody>
                  <a:tcPr marL="72000" marR="72000" marT="0" marB="0">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02870">
                <a:tc>
                  <a:txBody>
                    <a:bodyPr/>
                    <a:lstStyle/>
                    <a:p>
                      <a:pPr algn="ctr"/>
                      <a:endParaRPr lang="zh-CN" altLang="en-US" sz="900" b="1" dirty="0">
                        <a:solidFill>
                          <a:schemeClr val="tx1"/>
                        </a:solidFill>
                      </a:endParaRPr>
                    </a:p>
                  </a:txBody>
                  <a:tcPr marL="72000" marR="72000" marT="0" marB="0">
                    <a:lnT w="19050" cap="flat" cmpd="sng" algn="ctr">
                      <a:solidFill>
                        <a:srgbClr val="FF0066"/>
                      </a:solidFill>
                      <a:prstDash val="solid"/>
                      <a:round/>
                      <a:headEnd type="none" w="med" len="med"/>
                      <a:tailEnd type="none" w="med" len="med"/>
                    </a:lnT>
                    <a:solidFill>
                      <a:schemeClr val="bg1"/>
                    </a:solidFill>
                  </a:tcPr>
                </a:tc>
                <a:extLst>
                  <a:ext uri="{0D108BD9-81ED-4DB2-BD59-A6C34878D82A}">
                    <a16:rowId xmlns:a16="http://schemas.microsoft.com/office/drawing/2014/main" val="10004"/>
                  </a:ext>
                </a:extLst>
              </a:tr>
              <a:tr h="102870">
                <a:tc>
                  <a:txBody>
                    <a:bodyPr/>
                    <a:lstStyle/>
                    <a:p>
                      <a:pPr algn="ctr"/>
                      <a:endParaRPr lang="zh-CN" altLang="en-US" sz="900" b="1" dirty="0">
                        <a:solidFill>
                          <a:schemeClr val="tx1"/>
                        </a:solidFill>
                      </a:endParaRPr>
                    </a:p>
                  </a:txBody>
                  <a:tcPr marL="72000" marR="72000" marT="0" marB="0">
                    <a:solidFill>
                      <a:schemeClr val="bg1"/>
                    </a:solidFill>
                  </a:tcPr>
                </a:tc>
                <a:extLst>
                  <a:ext uri="{0D108BD9-81ED-4DB2-BD59-A6C34878D82A}">
                    <a16:rowId xmlns:a16="http://schemas.microsoft.com/office/drawing/2014/main" val="10005"/>
                  </a:ext>
                </a:extLst>
              </a:tr>
            </a:tbl>
          </a:graphicData>
        </a:graphic>
      </p:graphicFrame>
      <p:graphicFrame>
        <p:nvGraphicFramePr>
          <p:cNvPr id="48" name="表格 47"/>
          <p:cNvGraphicFramePr>
            <a:graphicFrameLocks noGrp="1"/>
          </p:cNvGraphicFramePr>
          <p:nvPr/>
        </p:nvGraphicFramePr>
        <p:xfrm>
          <a:off x="5926351" y="4172493"/>
          <a:ext cx="2520000" cy="340268"/>
        </p:xfrm>
        <a:graphic>
          <a:graphicData uri="http://schemas.openxmlformats.org/drawingml/2006/table">
            <a:tbl>
              <a:tblPr firstRow="1" bandRow="1">
                <a:effectLst>
                  <a:outerShdw blurRad="63500" sx="102000" sy="102000" algn="ctr" rotWithShape="0">
                    <a:prstClr val="black">
                      <a:alpha val="40000"/>
                    </a:prstClr>
                  </a:outerShdw>
                </a:effectLst>
                <a:tableStyleId>{7E9639D4-E3E2-4D34-9284-5A2195B3D0D7}</a:tableStyleId>
              </a:tblPr>
              <a:tblGrid>
                <a:gridCol w="360000">
                  <a:extLst>
                    <a:ext uri="{9D8B030D-6E8A-4147-A177-3AD203B41FA5}">
                      <a16:colId xmlns:a16="http://schemas.microsoft.com/office/drawing/2014/main" val="20000"/>
                    </a:ext>
                  </a:extLst>
                </a:gridCol>
                <a:gridCol w="360000">
                  <a:extLst>
                    <a:ext uri="{9D8B030D-6E8A-4147-A177-3AD203B41FA5}">
                      <a16:colId xmlns:a16="http://schemas.microsoft.com/office/drawing/2014/main" val="20001"/>
                    </a:ext>
                  </a:extLst>
                </a:gridCol>
                <a:gridCol w="360000">
                  <a:extLst>
                    <a:ext uri="{9D8B030D-6E8A-4147-A177-3AD203B41FA5}">
                      <a16:colId xmlns:a16="http://schemas.microsoft.com/office/drawing/2014/main" val="20002"/>
                    </a:ext>
                  </a:extLst>
                </a:gridCol>
                <a:gridCol w="360000">
                  <a:extLst>
                    <a:ext uri="{9D8B030D-6E8A-4147-A177-3AD203B41FA5}">
                      <a16:colId xmlns:a16="http://schemas.microsoft.com/office/drawing/2014/main" val="20003"/>
                    </a:ext>
                  </a:extLst>
                </a:gridCol>
                <a:gridCol w="360000">
                  <a:extLst>
                    <a:ext uri="{9D8B030D-6E8A-4147-A177-3AD203B41FA5}">
                      <a16:colId xmlns:a16="http://schemas.microsoft.com/office/drawing/2014/main" val="20004"/>
                    </a:ext>
                  </a:extLst>
                </a:gridCol>
                <a:gridCol w="360000">
                  <a:extLst>
                    <a:ext uri="{9D8B030D-6E8A-4147-A177-3AD203B41FA5}">
                      <a16:colId xmlns:a16="http://schemas.microsoft.com/office/drawing/2014/main" val="20005"/>
                    </a:ext>
                  </a:extLst>
                </a:gridCol>
                <a:gridCol w="360000">
                  <a:extLst>
                    <a:ext uri="{9D8B030D-6E8A-4147-A177-3AD203B41FA5}">
                      <a16:colId xmlns:a16="http://schemas.microsoft.com/office/drawing/2014/main" val="20006"/>
                    </a:ext>
                  </a:extLst>
                </a:gridCol>
              </a:tblGrid>
              <a:tr h="340268">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[0]</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rgbClr val="FF0066"/>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[1]</a:t>
                      </a:r>
                      <a:endParaRPr lang="zh-CN" altLang="en-US" sz="900" dirty="0">
                        <a:solidFill>
                          <a:schemeClr val="tx1"/>
                        </a:solidFill>
                      </a:endParaRPr>
                    </a:p>
                  </a:txBody>
                  <a:tcPr marL="0" marR="0" marT="0" marB="0" anchor="ctr">
                    <a:lnL w="19050" cap="flat" cmpd="sng" algn="ctr">
                      <a:solidFill>
                        <a:srgbClr val="FF0066"/>
                      </a:solidFill>
                      <a:prstDash val="solid"/>
                      <a:round/>
                      <a:headEnd type="none" w="med" len="med"/>
                      <a:tailEnd type="none" w="med" len="med"/>
                    </a:lnL>
                    <a:lnR w="19050" cap="flat" cmpd="sng" algn="ctr">
                      <a:solidFill>
                        <a:srgbClr val="FF0066"/>
                      </a:solidFill>
                      <a:prstDash val="solid"/>
                      <a:round/>
                      <a:headEnd type="none" w="med" len="med"/>
                      <a:tailEnd type="none" w="med" len="med"/>
                    </a:lnR>
                    <a:lnT w="19050" cap="flat" cmpd="sng" algn="ctr">
                      <a:solidFill>
                        <a:srgbClr val="FF0066"/>
                      </a:solidFill>
                      <a:prstDash val="solid"/>
                      <a:round/>
                      <a:headEnd type="none" w="med" len="med"/>
                      <a:tailEnd type="none" w="med" len="med"/>
                    </a:lnT>
                    <a:lnB w="19050" cap="flat" cmpd="sng" algn="ctr">
                      <a:solidFill>
                        <a:srgbClr val="FF0066"/>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[2]</a:t>
                      </a:r>
                      <a:endParaRPr lang="zh-CN" altLang="en-US" sz="900" dirty="0">
                        <a:solidFill>
                          <a:schemeClr val="tx1"/>
                        </a:solidFill>
                      </a:endParaRPr>
                    </a:p>
                  </a:txBody>
                  <a:tcPr marL="0" marR="0" marT="0" marB="0" anchor="ctr">
                    <a:lnL w="19050" cap="flat" cmpd="sng" algn="ctr">
                      <a:solidFill>
                        <a:srgbClr val="FF0066"/>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900" dirty="0">
                          <a:solidFill>
                            <a:schemeClr val="tx1"/>
                          </a:solidFill>
                        </a:rPr>
                        <a:t>…</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altLang="zh-CN" sz="900" dirty="0" err="1">
                          <a:solidFill>
                            <a:schemeClr val="tx1"/>
                          </a:solidFill>
                        </a:rPr>
                        <a:t>buf</a:t>
                      </a:r>
                      <a:r>
                        <a:rPr lang="en-US" altLang="zh-CN" sz="900" dirty="0">
                          <a:solidFill>
                            <a:schemeClr val="tx1"/>
                          </a:solidFill>
                        </a:rPr>
                        <a:t>[n]</a:t>
                      </a:r>
                      <a:endParaRPr lang="zh-CN" altLang="en-US" sz="9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mr-IN" altLang="zh-CN" sz="700" dirty="0">
                          <a:solidFill>
                            <a:schemeClr val="tx1"/>
                          </a:solidFill>
                        </a:rPr>
                        <a:t>…</a:t>
                      </a:r>
                      <a:endParaRPr lang="zh-CN" altLang="en-US" sz="700" dirty="0">
                        <a:solidFill>
                          <a:schemeClr val="tx1"/>
                        </a:solidFil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0"/>
                  </a:ext>
                </a:extLst>
              </a:tr>
            </a:tbl>
          </a:graphicData>
        </a:graphic>
      </p:graphicFrame>
      <p:cxnSp>
        <p:nvCxnSpPr>
          <p:cNvPr id="47" name="直线箭头连接符 46"/>
          <p:cNvCxnSpPr/>
          <p:nvPr/>
        </p:nvCxnSpPr>
        <p:spPr>
          <a:xfrm>
            <a:off x="6283871" y="4550316"/>
            <a:ext cx="0" cy="246222"/>
          </a:xfrm>
          <a:prstGeom prst="straightConnector1">
            <a:avLst/>
          </a:prstGeom>
          <a:ln w="2540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5" name="直线箭头连接符 44"/>
          <p:cNvCxnSpPr/>
          <p:nvPr/>
        </p:nvCxnSpPr>
        <p:spPr>
          <a:xfrm>
            <a:off x="2913129" y="4366542"/>
            <a:ext cx="633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文本框 48"/>
          <p:cNvSpPr txBox="1"/>
          <p:nvPr/>
        </p:nvSpPr>
        <p:spPr>
          <a:xfrm>
            <a:off x="2568356" y="4533751"/>
            <a:ext cx="1322811" cy="430887"/>
          </a:xfrm>
          <a:prstGeom prst="rect">
            <a:avLst/>
          </a:prstGeom>
          <a:noFill/>
        </p:spPr>
        <p:txBody>
          <a:bodyPr wrap="square" rtlCol="0">
            <a:spAutoFit/>
          </a:bodyPr>
          <a:lstStyle/>
          <a:p>
            <a:pPr algn="ctr"/>
            <a:r>
              <a:rPr kumimoji="1" lang="en-US" altLang="zh-CN" sz="1100" i="1" dirty="0">
                <a:ea typeface="Bangla MN" charset="0"/>
                <a:cs typeface="Bangla MN" charset="0"/>
              </a:rPr>
              <a:t>Access </a:t>
            </a:r>
          </a:p>
          <a:p>
            <a:pPr algn="ctr"/>
            <a:r>
              <a:rPr kumimoji="1" lang="en-US" altLang="zh-CN" sz="1100" i="1" dirty="0" err="1">
                <a:solidFill>
                  <a:srgbClr val="FF0066"/>
                </a:solidFill>
                <a:ea typeface="Bangla MN" charset="0"/>
                <a:cs typeface="Bangla MN" charset="0"/>
              </a:rPr>
              <a:t>buf</a:t>
            </a:r>
            <a:r>
              <a:rPr kumimoji="1" lang="en-US" altLang="zh-CN" sz="1100" i="1" dirty="0">
                <a:solidFill>
                  <a:srgbClr val="FF0066"/>
                </a:solidFill>
                <a:ea typeface="Bangla MN" charset="0"/>
                <a:cs typeface="Bangla MN" charset="0"/>
              </a:rPr>
              <a:t>[1]</a:t>
            </a:r>
          </a:p>
        </p:txBody>
      </p:sp>
      <p:cxnSp>
        <p:nvCxnSpPr>
          <p:cNvPr id="50" name="直线箭头连接符 49"/>
          <p:cNvCxnSpPr/>
          <p:nvPr/>
        </p:nvCxnSpPr>
        <p:spPr>
          <a:xfrm>
            <a:off x="4965942" y="4366542"/>
            <a:ext cx="633264"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直线箭头连接符 50"/>
          <p:cNvCxnSpPr/>
          <p:nvPr/>
        </p:nvCxnSpPr>
        <p:spPr>
          <a:xfrm>
            <a:off x="4965942" y="4441676"/>
            <a:ext cx="633264" cy="0"/>
          </a:xfrm>
          <a:prstGeom prst="straightConnector1">
            <a:avLst/>
          </a:prstGeom>
          <a:ln w="190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4661014" y="4533751"/>
            <a:ext cx="1322811" cy="430887"/>
          </a:xfrm>
          <a:prstGeom prst="rect">
            <a:avLst/>
          </a:prstGeom>
          <a:noFill/>
        </p:spPr>
        <p:txBody>
          <a:bodyPr wrap="square" rtlCol="0">
            <a:spAutoFit/>
          </a:bodyPr>
          <a:lstStyle/>
          <a:p>
            <a:pPr algn="ctr"/>
            <a:r>
              <a:rPr kumimoji="1" lang="en-US" altLang="zh-CN" sz="1100" i="1" dirty="0">
                <a:solidFill>
                  <a:srgbClr val="FF0066"/>
                </a:solidFill>
                <a:ea typeface="Bangla MN" charset="0"/>
                <a:cs typeface="Bangla MN" charset="0"/>
              </a:rPr>
              <a:t>Fill </a:t>
            </a:r>
            <a:r>
              <a:rPr kumimoji="1" lang="en-US" altLang="zh-CN" sz="1100" i="1" dirty="0" err="1">
                <a:solidFill>
                  <a:srgbClr val="FF0066"/>
                </a:solidFill>
                <a:ea typeface="Bangla MN" charset="0"/>
                <a:cs typeface="Bangla MN" charset="0"/>
              </a:rPr>
              <a:t>buf</a:t>
            </a:r>
            <a:r>
              <a:rPr kumimoji="1" lang="en-US" altLang="zh-CN" sz="1100" i="1" dirty="0">
                <a:solidFill>
                  <a:srgbClr val="FF0066"/>
                </a:solidFill>
                <a:ea typeface="Bangla MN" charset="0"/>
                <a:cs typeface="Bangla MN" charset="0"/>
              </a:rPr>
              <a:t>[1]</a:t>
            </a:r>
          </a:p>
          <a:p>
            <a:pPr algn="ctr"/>
            <a:r>
              <a:rPr kumimoji="1" lang="en-US" altLang="zh-CN" sz="1100" i="1" dirty="0">
                <a:solidFill>
                  <a:srgbClr val="FF0066"/>
                </a:solidFill>
                <a:ea typeface="Bangla MN" charset="0"/>
                <a:cs typeface="Bangla MN" charset="0"/>
              </a:rPr>
              <a:t>to cache</a:t>
            </a:r>
          </a:p>
        </p:txBody>
      </p:sp>
      <p:sp>
        <p:nvSpPr>
          <p:cNvPr id="57" name="椭圆 56"/>
          <p:cNvSpPr/>
          <p:nvPr/>
        </p:nvSpPr>
        <p:spPr>
          <a:xfrm>
            <a:off x="3119096" y="4255405"/>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58" name="椭圆 57"/>
          <p:cNvSpPr/>
          <p:nvPr/>
        </p:nvSpPr>
        <p:spPr>
          <a:xfrm>
            <a:off x="5148064" y="4293518"/>
            <a:ext cx="220166" cy="220166"/>
          </a:xfrm>
          <a:prstGeom prst="ellipse">
            <a:avLst/>
          </a:prstGeom>
          <a:solidFill>
            <a:schemeClr val="bg1"/>
          </a:solidFill>
          <a:ln w="19050">
            <a:solidFill>
              <a:srgbClr val="FF0066"/>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kumimoji="1" lang="en-US" altLang="zh-CN" sz="1400" b="1" dirty="0">
                <a:solidFill>
                  <a:srgbClr val="FF0066"/>
                </a:solidFill>
                <a:ea typeface="Bangla MN" charset="0"/>
                <a:cs typeface="Bangla MN" charset="0"/>
              </a:rPr>
              <a:t>2</a:t>
            </a:r>
            <a:endParaRPr kumimoji="1" lang="zh-CN" altLang="en-US" b="1" dirty="0">
              <a:solidFill>
                <a:srgbClr val="FF0066"/>
              </a:solidFill>
              <a:ea typeface="Bangla MN" charset="0"/>
              <a:cs typeface="Bangla MN" charset="0"/>
            </a:endParaRPr>
          </a:p>
        </p:txBody>
      </p:sp>
      <p:sp>
        <p:nvSpPr>
          <p:cNvPr id="54" name="标题 1">
            <a:extLst>
              <a:ext uri="{FF2B5EF4-FFF2-40B4-BE49-F238E27FC236}">
                <a16:creationId xmlns:a16="http://schemas.microsoft.com/office/drawing/2014/main" id="{B655682B-4174-A94E-AC6F-B1ADCBEC1D6E}"/>
              </a:ext>
            </a:extLst>
          </p:cNvPr>
          <p:cNvSpPr>
            <a:spLocks noGrp="1"/>
          </p:cNvSpPr>
          <p:nvPr>
            <p:ph type="title"/>
          </p:nvPr>
        </p:nvSpPr>
        <p:spPr>
          <a:xfrm>
            <a:off x="457200" y="228866"/>
            <a:ext cx="8229600" cy="900442"/>
          </a:xfrm>
        </p:spPr>
        <p:txBody>
          <a:bodyPr>
            <a:normAutofit/>
          </a:bodyPr>
          <a:lstStyle/>
          <a:p>
            <a:r>
              <a:rPr lang="en-US" altLang="zh-CN" dirty="0">
                <a:latin typeface="+mn-lt"/>
              </a:rPr>
              <a:t>Meltdown</a:t>
            </a:r>
            <a:r>
              <a:rPr lang="zh-CN" altLang="en-US" dirty="0">
                <a:latin typeface="+mn-lt"/>
              </a:rPr>
              <a:t>漏洞原理</a:t>
            </a:r>
          </a:p>
        </p:txBody>
      </p:sp>
      <p:sp>
        <p:nvSpPr>
          <p:cNvPr id="59" name="内容占位符 2">
            <a:extLst>
              <a:ext uri="{FF2B5EF4-FFF2-40B4-BE49-F238E27FC236}">
                <a16:creationId xmlns:a16="http://schemas.microsoft.com/office/drawing/2014/main" id="{76709F9B-30C8-CF41-A2B4-2431687D4509}"/>
              </a:ext>
            </a:extLst>
          </p:cNvPr>
          <p:cNvSpPr>
            <a:spLocks noGrp="1"/>
          </p:cNvSpPr>
          <p:nvPr>
            <p:ph idx="1"/>
          </p:nvPr>
        </p:nvSpPr>
        <p:spPr>
          <a:xfrm>
            <a:off x="457200" y="1098547"/>
            <a:ext cx="8229600" cy="2447208"/>
          </a:xfrm>
        </p:spPr>
        <p:txBody>
          <a:bodyPr>
            <a:noAutofit/>
          </a:bodyPr>
          <a:lstStyle/>
          <a:p>
            <a:r>
              <a:rPr lang="zh-CN" altLang="en-US" sz="2400" dirty="0"/>
              <a:t>通过未回滚缓存状态窃取目标数据</a:t>
            </a:r>
            <a:endParaRPr lang="en-US" altLang="zh-CN" sz="2400" dirty="0"/>
          </a:p>
          <a:p>
            <a:pPr lvl="1"/>
            <a:r>
              <a:rPr lang="zh-CN" altLang="en-US" sz="2200" dirty="0"/>
              <a:t>使用目标数据作为索引访问攻击数组 </a:t>
            </a:r>
            <a:r>
              <a:rPr lang="en-US" altLang="zh-CN" sz="2200" dirty="0" err="1"/>
              <a:t>buf</a:t>
            </a:r>
            <a:r>
              <a:rPr lang="zh-CN" altLang="en-US" sz="2200" dirty="0"/>
              <a:t> （指令</a:t>
            </a:r>
            <a:r>
              <a:rPr lang="en-US" altLang="zh-CN" sz="2200" dirty="0"/>
              <a:t>2</a:t>
            </a:r>
            <a:r>
              <a:rPr lang="zh-CN" altLang="en-US" sz="2200" dirty="0"/>
              <a:t>）</a:t>
            </a:r>
            <a:endParaRPr lang="en-US" altLang="zh-CN" sz="2200" dirty="0"/>
          </a:p>
          <a:p>
            <a:pPr lvl="2"/>
            <a:r>
              <a:rPr lang="zh-CN" altLang="en-US" sz="1800" dirty="0"/>
              <a:t>被访问元素会被加载到缓存中</a:t>
            </a:r>
            <a:endParaRPr lang="en-US" altLang="zh-CN" sz="1800" dirty="0"/>
          </a:p>
          <a:p>
            <a:pPr lvl="1"/>
            <a:r>
              <a:rPr lang="zh-CN" altLang="en-US" sz="2200" dirty="0"/>
              <a:t>异常发生后，根据数组元素是否被缓存，窃取目标数据</a:t>
            </a:r>
            <a:endParaRPr lang="en-US" altLang="zh-CN" sz="2200" dirty="0"/>
          </a:p>
          <a:p>
            <a:pPr lvl="2"/>
            <a:r>
              <a:rPr lang="zh-CN" altLang="en-US" sz="1800" dirty="0">
                <a:solidFill>
                  <a:srgbClr val="FF2F92"/>
                </a:solidFill>
              </a:rPr>
              <a:t>若</a:t>
            </a:r>
            <a:r>
              <a:rPr lang="en-US" altLang="zh-CN" sz="1800" dirty="0" err="1">
                <a:solidFill>
                  <a:srgbClr val="FF2F92"/>
                </a:solidFill>
              </a:rPr>
              <a:t>buf</a:t>
            </a:r>
            <a:r>
              <a:rPr lang="zh-CN" altLang="en-US" sz="1800" dirty="0">
                <a:solidFill>
                  <a:srgbClr val="FF2F92"/>
                </a:solidFill>
              </a:rPr>
              <a:t>中第 </a:t>
            </a:r>
            <a:r>
              <a:rPr lang="en-US" altLang="zh-CN" sz="1800" dirty="0" err="1">
                <a:solidFill>
                  <a:srgbClr val="FF2F92"/>
                </a:solidFill>
              </a:rPr>
              <a:t>i</a:t>
            </a:r>
            <a:r>
              <a:rPr lang="zh-CN" altLang="en-US" sz="1800" dirty="0">
                <a:solidFill>
                  <a:srgbClr val="FF2F92"/>
                </a:solidFill>
              </a:rPr>
              <a:t> 个元素在缓存中，则目标数据 </a:t>
            </a:r>
            <a:r>
              <a:rPr lang="en-US" altLang="zh-CN" sz="1800" dirty="0">
                <a:solidFill>
                  <a:srgbClr val="FF2F92"/>
                </a:solidFill>
              </a:rPr>
              <a:t>key</a:t>
            </a:r>
            <a:r>
              <a:rPr lang="zh-CN" altLang="en-US" sz="1800" dirty="0">
                <a:solidFill>
                  <a:srgbClr val="FF2F92"/>
                </a:solidFill>
              </a:rPr>
              <a:t> </a:t>
            </a:r>
            <a:r>
              <a:rPr lang="en-US" altLang="zh-CN" sz="1800" dirty="0">
                <a:solidFill>
                  <a:srgbClr val="FF2F92"/>
                </a:solidFill>
              </a:rPr>
              <a:t>=</a:t>
            </a:r>
            <a:r>
              <a:rPr lang="zh-CN" altLang="en-US" sz="1800" dirty="0">
                <a:solidFill>
                  <a:srgbClr val="FF2F92"/>
                </a:solidFill>
              </a:rPr>
              <a:t> </a:t>
            </a:r>
            <a:r>
              <a:rPr lang="en-US" altLang="zh-CN" sz="1800" dirty="0">
                <a:solidFill>
                  <a:srgbClr val="FF2F92"/>
                </a:solidFill>
              </a:rPr>
              <a:t>i</a:t>
            </a:r>
          </a:p>
        </p:txBody>
      </p:sp>
    </p:spTree>
    <p:extLst>
      <p:ext uri="{BB962C8B-B14F-4D97-AF65-F5344CB8AC3E}">
        <p14:creationId xmlns:p14="http://schemas.microsoft.com/office/powerpoint/2010/main" val="3172244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mn-lt"/>
              </a:rPr>
              <a:t>Meltdown</a:t>
            </a:r>
            <a:r>
              <a:rPr lang="zh-CN" altLang="en-US" dirty="0">
                <a:latin typeface="+mn-lt"/>
              </a:rPr>
              <a:t>漏洞危害</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57</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229600" cy="4267732"/>
          </a:xfrm>
        </p:spPr>
        <p:txBody>
          <a:bodyPr>
            <a:noAutofit/>
          </a:bodyPr>
          <a:lstStyle/>
          <a:p>
            <a:r>
              <a:rPr lang="zh-CN" altLang="en" sz="2400" dirty="0"/>
              <a:t>允许</a:t>
            </a:r>
            <a:r>
              <a:rPr lang="zh-CN" altLang="en-US" sz="2400" dirty="0"/>
              <a:t>对内核内存的随意访问</a:t>
            </a:r>
            <a:endParaRPr lang="en" altLang="zh-CN" sz="2400" dirty="0"/>
          </a:p>
          <a:p>
            <a:pPr lvl="1"/>
            <a:r>
              <a:rPr lang="zh-CN" altLang="en-US" sz="2200" dirty="0"/>
              <a:t>用户态与内核态共享同一虚拟地址空间，仅通过页表中的权限位进行内核内存的隔离保护</a:t>
            </a:r>
            <a:endParaRPr lang="en-US" altLang="zh-CN" sz="2200" dirty="0"/>
          </a:p>
          <a:p>
            <a:pPr lvl="1"/>
            <a:r>
              <a:rPr lang="zh-CN" altLang="en-US" sz="2200" dirty="0"/>
              <a:t>利用</a:t>
            </a:r>
            <a:r>
              <a:rPr lang="en-US" altLang="zh-CN" sz="2200" dirty="0"/>
              <a:t>Meltdown</a:t>
            </a:r>
            <a:r>
              <a:rPr lang="zh-CN" altLang="en-US" sz="2200" dirty="0"/>
              <a:t>可随意读取任意内核内存</a:t>
            </a:r>
            <a:endParaRPr lang="en-US" altLang="zh-CN" sz="2200" dirty="0"/>
          </a:p>
          <a:p>
            <a:r>
              <a:rPr lang="zh-CN" altLang="en-US" sz="2400" dirty="0"/>
              <a:t>允许对所有内存资源的随意访问</a:t>
            </a:r>
            <a:endParaRPr lang="en" altLang="zh-CN" sz="2400" dirty="0"/>
          </a:p>
          <a:p>
            <a:pPr lvl="1"/>
            <a:r>
              <a:rPr lang="zh-CN" altLang="en-US" sz="2200" dirty="0"/>
              <a:t>内核地址空间大多映射了所有物理内存</a:t>
            </a:r>
            <a:endParaRPr lang="en-US" altLang="zh-CN" sz="2200" dirty="0"/>
          </a:p>
          <a:p>
            <a:pPr lvl="2"/>
            <a:r>
              <a:rPr lang="zh-CN" altLang="en-US" sz="1800" dirty="0"/>
              <a:t>如</a:t>
            </a:r>
            <a:r>
              <a:rPr lang="en" altLang="zh-CN" sz="1800" dirty="0"/>
              <a:t>Linux</a:t>
            </a:r>
            <a:r>
              <a:rPr lang="zh-CN" altLang="en" sz="1800" dirty="0"/>
              <a:t>中</a:t>
            </a:r>
            <a:r>
              <a:rPr lang="zh-CN" altLang="en-US" sz="1800" dirty="0"/>
              <a:t>的</a:t>
            </a:r>
            <a:r>
              <a:rPr lang="en-US" altLang="zh-CN" sz="1800" dirty="0"/>
              <a:t>direct</a:t>
            </a:r>
            <a:r>
              <a:rPr lang="zh-CN" altLang="en-US" sz="1800" dirty="0"/>
              <a:t> </a:t>
            </a:r>
            <a:r>
              <a:rPr lang="en-US" altLang="zh-CN" sz="1800" dirty="0"/>
              <a:t>map</a:t>
            </a:r>
            <a:r>
              <a:rPr lang="zh-CN" altLang="en-US" sz="1800" dirty="0"/>
              <a:t>区域直接映射了整个物理内存区域</a:t>
            </a:r>
            <a:endParaRPr lang="en" altLang="zh-CN" sz="1800" dirty="0"/>
          </a:p>
          <a:p>
            <a:pPr lvl="1"/>
            <a:r>
              <a:rPr lang="zh-CN" altLang="en-US" sz="2200" dirty="0"/>
              <a:t>利用</a:t>
            </a:r>
            <a:r>
              <a:rPr lang="en-US" altLang="zh-CN" sz="2200" dirty="0"/>
              <a:t>Meltdown</a:t>
            </a:r>
            <a:r>
              <a:rPr lang="zh-CN" altLang="en-US" sz="2200" dirty="0"/>
              <a:t>可对</a:t>
            </a:r>
            <a:r>
              <a:rPr lang="en-US" altLang="zh-CN" sz="2200" dirty="0"/>
              <a:t>direct</a:t>
            </a:r>
            <a:r>
              <a:rPr lang="zh-CN" altLang="en-US" sz="2200" dirty="0"/>
              <a:t> </a:t>
            </a:r>
            <a:r>
              <a:rPr lang="en-US" altLang="zh-CN" sz="2200" dirty="0"/>
              <a:t>map</a:t>
            </a:r>
            <a:r>
              <a:rPr lang="zh-CN" altLang="en-US" sz="2200" dirty="0"/>
              <a:t>区域进行读取，从而访问所有内存数据</a:t>
            </a:r>
            <a:endParaRPr lang="en-US" altLang="zh-CN" sz="2200" dirty="0"/>
          </a:p>
        </p:txBody>
      </p:sp>
    </p:spTree>
    <p:extLst>
      <p:ext uri="{BB962C8B-B14F-4D97-AF65-F5344CB8AC3E}">
        <p14:creationId xmlns:p14="http://schemas.microsoft.com/office/powerpoint/2010/main" val="5398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latin typeface="+mn-lt"/>
              </a:rPr>
              <a:t>Meltdown</a:t>
            </a:r>
            <a:r>
              <a:rPr lang="zh-CN" altLang="en-US" dirty="0">
                <a:latin typeface="+mn-lt"/>
              </a:rPr>
              <a:t>漏洞的软件防御方法</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58</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229600" cy="4267732"/>
          </a:xfrm>
        </p:spPr>
        <p:txBody>
          <a:bodyPr>
            <a:noAutofit/>
          </a:bodyPr>
          <a:lstStyle/>
          <a:p>
            <a:r>
              <a:rPr lang="zh-CN" altLang="en-US" sz="2400" dirty="0"/>
              <a:t>观察：</a:t>
            </a:r>
            <a:r>
              <a:rPr lang="en-US" altLang="zh-CN" sz="2400" dirty="0"/>
              <a:t>Meltdown</a:t>
            </a:r>
            <a:r>
              <a:rPr lang="zh-CN" altLang="en-US" sz="2400" dirty="0"/>
              <a:t>仅能够绕过页表中的用户</a:t>
            </a:r>
            <a:r>
              <a:rPr lang="en-US" altLang="zh-CN" sz="2400" dirty="0"/>
              <a:t>/</a:t>
            </a:r>
            <a:r>
              <a:rPr lang="zh-CN" altLang="en-US" sz="2400" dirty="0"/>
              <a:t>内核权限位</a:t>
            </a:r>
            <a:endParaRPr lang="en-US" altLang="zh-CN" sz="2400" dirty="0"/>
          </a:p>
          <a:p>
            <a:pPr lvl="1"/>
            <a:r>
              <a:rPr lang="en-US" altLang="zh-CN" sz="2200" dirty="0"/>
              <a:t>Meltdown</a:t>
            </a:r>
            <a:r>
              <a:rPr lang="zh-CN" altLang="en-US" sz="2200" dirty="0"/>
              <a:t>漏洞能够允许攻击者无视</a:t>
            </a:r>
            <a:r>
              <a:rPr lang="zh-CN" altLang="en-US" sz="2200" dirty="0">
                <a:solidFill>
                  <a:srgbClr val="FF2F92"/>
                </a:solidFill>
              </a:rPr>
              <a:t>“内存权限”</a:t>
            </a:r>
            <a:r>
              <a:rPr lang="zh-CN" altLang="en-US" sz="2200" dirty="0"/>
              <a:t>限制，访问内核内存数据</a:t>
            </a:r>
            <a:endParaRPr lang="en-US" altLang="zh-CN" sz="2200" dirty="0"/>
          </a:p>
          <a:p>
            <a:pPr lvl="1"/>
            <a:r>
              <a:rPr lang="en-US" altLang="zh-CN" sz="2200" dirty="0"/>
              <a:t>Meltdown</a:t>
            </a:r>
            <a:r>
              <a:rPr lang="zh-CN" altLang="en-US" sz="2200" dirty="0"/>
              <a:t>漏洞无法访问</a:t>
            </a:r>
            <a:r>
              <a:rPr lang="zh-CN" altLang="en-US" sz="2200" dirty="0">
                <a:solidFill>
                  <a:srgbClr val="FF2F92"/>
                </a:solidFill>
              </a:rPr>
              <a:t>“无内存映射”</a:t>
            </a:r>
            <a:r>
              <a:rPr lang="zh-CN" altLang="en-US" sz="2200" dirty="0"/>
              <a:t>的内存数据</a:t>
            </a:r>
            <a:endParaRPr lang="en-US" altLang="zh-CN" sz="2200" dirty="0"/>
          </a:p>
          <a:p>
            <a:pPr lvl="2"/>
            <a:r>
              <a:rPr lang="zh-CN" altLang="en-US" sz="1800" dirty="0"/>
              <a:t>如一个虚拟地址在页表中无映射，</a:t>
            </a:r>
            <a:r>
              <a:rPr lang="en-US" altLang="zh-CN" sz="1800" dirty="0"/>
              <a:t>Meltdown</a:t>
            </a:r>
            <a:r>
              <a:rPr lang="zh-CN" altLang="en-US" sz="1800" dirty="0"/>
              <a:t>漏洞则无数据可拿</a:t>
            </a:r>
            <a:endParaRPr lang="en-US" altLang="zh-CN" sz="2400" dirty="0"/>
          </a:p>
          <a:p>
            <a:r>
              <a:rPr lang="zh-CN" altLang="en-US" sz="2400" dirty="0"/>
              <a:t>思路：去除内核地址在用户态的映射</a:t>
            </a:r>
            <a:endParaRPr lang="en-US" altLang="zh-CN" sz="2400" dirty="0"/>
          </a:p>
          <a:p>
            <a:pPr lvl="1"/>
            <a:r>
              <a:rPr lang="zh-CN" altLang="en-US" sz="2200" dirty="0"/>
              <a:t>为</a:t>
            </a:r>
            <a:r>
              <a:rPr lang="zh-CN" altLang="en-US" sz="2200" dirty="0">
                <a:solidFill>
                  <a:srgbClr val="FF2F92"/>
                </a:solidFill>
              </a:rPr>
              <a:t>用户态构建专用页表</a:t>
            </a:r>
            <a:r>
              <a:rPr lang="zh-CN" altLang="en-US" sz="2200" dirty="0"/>
              <a:t>，将内核地址在用户态的映射去除</a:t>
            </a:r>
            <a:endParaRPr lang="en-US" altLang="zh-CN" sz="2200" dirty="0"/>
          </a:p>
          <a:p>
            <a:pPr lvl="2"/>
            <a:r>
              <a:rPr lang="zh-CN" altLang="en-US" sz="1800" dirty="0"/>
              <a:t>攻击者利用</a:t>
            </a:r>
            <a:r>
              <a:rPr lang="en-US" altLang="zh-CN" sz="1800" dirty="0"/>
              <a:t>Meltdown</a:t>
            </a:r>
            <a:r>
              <a:rPr lang="zh-CN" altLang="en-US" sz="1800" dirty="0"/>
              <a:t>访问内核地址时，页表无法定位目标物理地址</a:t>
            </a:r>
            <a:endParaRPr lang="en-US" altLang="zh-CN" sz="1800" dirty="0"/>
          </a:p>
        </p:txBody>
      </p:sp>
    </p:spTree>
    <p:extLst>
      <p:ext uri="{BB962C8B-B14F-4D97-AF65-F5344CB8AC3E}">
        <p14:creationId xmlns:p14="http://schemas.microsoft.com/office/powerpoint/2010/main" val="3830499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9">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9">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rPr>
              <a:t>KPTI</a:t>
            </a:r>
            <a:r>
              <a:rPr lang="zh-CN" altLang="en-US" sz="3200" dirty="0">
                <a:latin typeface="+mn-lt"/>
              </a:rPr>
              <a:t>：</a:t>
            </a:r>
            <a:r>
              <a:rPr lang="en-US" altLang="zh-CN" sz="3200" dirty="0">
                <a:latin typeface="+mn-lt"/>
              </a:rPr>
              <a:t>Linux</a:t>
            </a:r>
            <a:r>
              <a:rPr lang="zh-CN" altLang="en-US" sz="3200" dirty="0">
                <a:latin typeface="+mn-lt"/>
              </a:rPr>
              <a:t>的</a:t>
            </a:r>
            <a:r>
              <a:rPr lang="en-US" altLang="zh-CN" sz="3200" dirty="0">
                <a:latin typeface="+mn-lt"/>
              </a:rPr>
              <a:t>Meltdown</a:t>
            </a:r>
            <a:r>
              <a:rPr lang="zh-CN" altLang="en-US" sz="3200" dirty="0">
                <a:latin typeface="+mn-lt"/>
              </a:rPr>
              <a:t>漏洞防御机制</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59</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229600" cy="4267732"/>
          </a:xfrm>
        </p:spPr>
        <p:txBody>
          <a:bodyPr>
            <a:noAutofit/>
          </a:bodyPr>
          <a:lstStyle/>
          <a:p>
            <a:r>
              <a:rPr lang="en-US" altLang="zh-CN" sz="2400" dirty="0"/>
              <a:t>KPTI</a:t>
            </a:r>
            <a:r>
              <a:rPr lang="zh-CN" altLang="en-US" sz="2400" dirty="0">
                <a:sym typeface="Wingdings" pitchFamily="2" charset="2"/>
              </a:rPr>
              <a:t> </a:t>
            </a:r>
            <a:r>
              <a:rPr lang="en-US" altLang="zh-CN" sz="2400" dirty="0">
                <a:sym typeface="Wingdings" pitchFamily="2" charset="2"/>
              </a:rPr>
              <a:t>(Kernel</a:t>
            </a:r>
            <a:r>
              <a:rPr lang="zh-CN" altLang="en-US" sz="2400" dirty="0">
                <a:sym typeface="Wingdings" pitchFamily="2" charset="2"/>
              </a:rPr>
              <a:t> </a:t>
            </a:r>
            <a:r>
              <a:rPr lang="en-US" altLang="zh-CN" sz="2400" dirty="0">
                <a:sym typeface="Wingdings" pitchFamily="2" charset="2"/>
              </a:rPr>
              <a:t>Page</a:t>
            </a:r>
            <a:r>
              <a:rPr lang="zh-CN" altLang="en-US" sz="2400" dirty="0">
                <a:sym typeface="Wingdings" pitchFamily="2" charset="2"/>
              </a:rPr>
              <a:t> </a:t>
            </a:r>
            <a:r>
              <a:rPr lang="en-US" altLang="zh-CN" sz="2400" dirty="0">
                <a:sym typeface="Wingdings" pitchFamily="2" charset="2"/>
              </a:rPr>
              <a:t>Table</a:t>
            </a:r>
            <a:r>
              <a:rPr lang="zh-CN" altLang="en-US" sz="2400" dirty="0">
                <a:sym typeface="Wingdings" pitchFamily="2" charset="2"/>
              </a:rPr>
              <a:t> </a:t>
            </a:r>
            <a:r>
              <a:rPr lang="en-US" altLang="zh-CN" sz="2400" dirty="0">
                <a:sym typeface="Wingdings" pitchFamily="2" charset="2"/>
              </a:rPr>
              <a:t>Isolation)</a:t>
            </a:r>
          </a:p>
          <a:p>
            <a:pPr lvl="1"/>
            <a:r>
              <a:rPr lang="zh-CN" altLang="en-US" sz="2200" dirty="0">
                <a:sym typeface="Wingdings" pitchFamily="2" charset="2"/>
              </a:rPr>
              <a:t>将用户态与内核态所用页表分离</a:t>
            </a:r>
            <a:endParaRPr lang="en-US" altLang="zh-CN" sz="2200" dirty="0">
              <a:sym typeface="Wingdings" pitchFamily="2" charset="2"/>
            </a:endParaRPr>
          </a:p>
          <a:p>
            <a:pPr lvl="2"/>
            <a:r>
              <a:rPr lang="zh-CN" altLang="en-US" sz="1800" dirty="0">
                <a:sym typeface="Wingdings" pitchFamily="2" charset="2"/>
              </a:rPr>
              <a:t>用户页表：仅映射用户地址空间与部分内核地址空间</a:t>
            </a:r>
            <a:endParaRPr lang="en-US" altLang="zh-CN" sz="1800" dirty="0">
              <a:sym typeface="Wingdings" pitchFamily="2" charset="2"/>
            </a:endParaRPr>
          </a:p>
          <a:p>
            <a:pPr lvl="2"/>
            <a:r>
              <a:rPr lang="zh-CN" altLang="en-US" sz="1800" dirty="0">
                <a:sym typeface="Wingdings" pitchFamily="2" charset="2"/>
              </a:rPr>
              <a:t>内核页表：映射包括用户与内核的全部地址空间（与原有一致）</a:t>
            </a:r>
            <a:endParaRPr lang="en-US" altLang="zh-CN" sz="1800" dirty="0"/>
          </a:p>
        </p:txBody>
      </p:sp>
      <p:sp>
        <p:nvSpPr>
          <p:cNvPr id="11" name="矩形 10">
            <a:extLst>
              <a:ext uri="{FF2B5EF4-FFF2-40B4-BE49-F238E27FC236}">
                <a16:creationId xmlns:a16="http://schemas.microsoft.com/office/drawing/2014/main" id="{D63E19B5-9C95-6A44-8025-60A254CDE930}"/>
              </a:ext>
            </a:extLst>
          </p:cNvPr>
          <p:cNvSpPr/>
          <p:nvPr/>
        </p:nvSpPr>
        <p:spPr>
          <a:xfrm>
            <a:off x="2216804" y="3145538"/>
            <a:ext cx="1210141" cy="948534"/>
          </a:xfrm>
          <a:prstGeom prst="rect">
            <a:avLst/>
          </a:prstGeom>
          <a:solidFill>
            <a:schemeClr val="bg1"/>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a:endParaRPr kumimoji="1" lang="en-US" altLang="zh-CN" sz="1400" dirty="0">
              <a:solidFill>
                <a:schemeClr val="tx1"/>
              </a:solidFill>
              <a:latin typeface="+mn-ea"/>
            </a:endParaRPr>
          </a:p>
        </p:txBody>
      </p:sp>
      <p:sp>
        <p:nvSpPr>
          <p:cNvPr id="12" name="矩形 11">
            <a:extLst>
              <a:ext uri="{FF2B5EF4-FFF2-40B4-BE49-F238E27FC236}">
                <a16:creationId xmlns:a16="http://schemas.microsoft.com/office/drawing/2014/main" id="{7A760413-7AA8-C648-8678-0699A112D1DD}"/>
              </a:ext>
            </a:extLst>
          </p:cNvPr>
          <p:cNvSpPr/>
          <p:nvPr/>
        </p:nvSpPr>
        <p:spPr>
          <a:xfrm>
            <a:off x="2216804" y="4102712"/>
            <a:ext cx="1210141" cy="1022968"/>
          </a:xfrm>
          <a:prstGeom prst="rect">
            <a:avLst/>
          </a:prstGeom>
          <a:solidFill>
            <a:srgbClr val="FFC6DC"/>
          </a:solidFill>
          <a:ln w="25400">
            <a:solidFill>
              <a:schemeClr val="tx1">
                <a:lumMod val="95000"/>
                <a:lumOff val="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mn-ea"/>
            </a:endParaRPr>
          </a:p>
        </p:txBody>
      </p:sp>
      <p:sp>
        <p:nvSpPr>
          <p:cNvPr id="13" name="文本框 12">
            <a:extLst>
              <a:ext uri="{FF2B5EF4-FFF2-40B4-BE49-F238E27FC236}">
                <a16:creationId xmlns:a16="http://schemas.microsoft.com/office/drawing/2014/main" id="{C006FE43-BF7C-6E42-8C7C-D114DB6E10DE}"/>
              </a:ext>
            </a:extLst>
          </p:cNvPr>
          <p:cNvSpPr txBox="1"/>
          <p:nvPr/>
        </p:nvSpPr>
        <p:spPr>
          <a:xfrm>
            <a:off x="1755074" y="5145221"/>
            <a:ext cx="2133599" cy="523220"/>
          </a:xfrm>
          <a:prstGeom prst="rect">
            <a:avLst/>
          </a:prstGeom>
          <a:noFill/>
        </p:spPr>
        <p:txBody>
          <a:bodyPr wrap="square" rtlCol="0">
            <a:spAutoFit/>
          </a:bodyPr>
          <a:lstStyle/>
          <a:p>
            <a:pPr algn="ctr"/>
            <a:r>
              <a:rPr kumimoji="1" lang="zh-CN" altLang="en-US" sz="1400" dirty="0">
                <a:latin typeface="+mn-ea"/>
                <a:cs typeface="DengXian" charset="-122"/>
              </a:rPr>
              <a:t>用户视角</a:t>
            </a:r>
            <a:endParaRPr kumimoji="1" lang="en-US" altLang="zh-CN" sz="1400" dirty="0">
              <a:latin typeface="+mn-ea"/>
              <a:cs typeface="DengXian" charset="-122"/>
            </a:endParaRPr>
          </a:p>
          <a:p>
            <a:pPr algn="ctr"/>
            <a:r>
              <a:rPr kumimoji="1" lang="zh-CN" altLang="en-US" sz="1400" dirty="0">
                <a:latin typeface="+mn-ea"/>
                <a:cs typeface="DengXian" charset="-122"/>
              </a:rPr>
              <a:t>地址空间</a:t>
            </a:r>
          </a:p>
        </p:txBody>
      </p:sp>
      <p:sp>
        <p:nvSpPr>
          <p:cNvPr id="14" name="文本框 13">
            <a:extLst>
              <a:ext uri="{FF2B5EF4-FFF2-40B4-BE49-F238E27FC236}">
                <a16:creationId xmlns:a16="http://schemas.microsoft.com/office/drawing/2014/main" id="{B495A252-5538-AF4C-9DE9-B3A5DEF350D4}"/>
              </a:ext>
            </a:extLst>
          </p:cNvPr>
          <p:cNvSpPr txBox="1"/>
          <p:nvPr/>
        </p:nvSpPr>
        <p:spPr>
          <a:xfrm rot="16200000">
            <a:off x="1604037" y="3481302"/>
            <a:ext cx="948538" cy="276999"/>
          </a:xfrm>
          <a:prstGeom prst="rect">
            <a:avLst/>
          </a:prstGeom>
          <a:noFill/>
        </p:spPr>
        <p:txBody>
          <a:bodyPr wrap="square" rtlCol="0">
            <a:spAutoFit/>
          </a:bodyPr>
          <a:lstStyle/>
          <a:p>
            <a:pPr algn="ctr"/>
            <a:r>
              <a:rPr kumimoji="1" lang="zh-CN" altLang="en-US" sz="1200" dirty="0">
                <a:latin typeface="+mn-ea"/>
                <a:cs typeface="DengXian" charset="-122"/>
              </a:rPr>
              <a:t>内核态</a:t>
            </a:r>
          </a:p>
        </p:txBody>
      </p:sp>
      <p:sp>
        <p:nvSpPr>
          <p:cNvPr id="16" name="矩形 15">
            <a:extLst>
              <a:ext uri="{FF2B5EF4-FFF2-40B4-BE49-F238E27FC236}">
                <a16:creationId xmlns:a16="http://schemas.microsoft.com/office/drawing/2014/main" id="{D6632CE8-1A1A-0346-8513-994BF2848E1E}"/>
              </a:ext>
            </a:extLst>
          </p:cNvPr>
          <p:cNvSpPr/>
          <p:nvPr/>
        </p:nvSpPr>
        <p:spPr>
          <a:xfrm>
            <a:off x="2216804" y="3858791"/>
            <a:ext cx="1210141" cy="243436"/>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200" dirty="0">
                <a:solidFill>
                  <a:schemeClr val="tx1"/>
                </a:solidFill>
                <a:latin typeface="+mn-ea"/>
              </a:rPr>
              <a:t>页表切换代码</a:t>
            </a:r>
          </a:p>
        </p:txBody>
      </p:sp>
      <p:sp>
        <p:nvSpPr>
          <p:cNvPr id="21" name="矩形 20">
            <a:extLst>
              <a:ext uri="{FF2B5EF4-FFF2-40B4-BE49-F238E27FC236}">
                <a16:creationId xmlns:a16="http://schemas.microsoft.com/office/drawing/2014/main" id="{88D85966-E381-DB48-8BDC-2A10C520DABC}"/>
              </a:ext>
            </a:extLst>
          </p:cNvPr>
          <p:cNvSpPr/>
          <p:nvPr/>
        </p:nvSpPr>
        <p:spPr>
          <a:xfrm>
            <a:off x="5220072" y="3145536"/>
            <a:ext cx="1210141" cy="948537"/>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kumimoji="1" lang="zh-CN" altLang="en-US" sz="1400" dirty="0">
              <a:solidFill>
                <a:schemeClr val="tx1"/>
              </a:solidFill>
              <a:latin typeface="+mn-ea"/>
            </a:endParaRPr>
          </a:p>
        </p:txBody>
      </p:sp>
      <p:sp>
        <p:nvSpPr>
          <p:cNvPr id="22" name="矩形 21">
            <a:extLst>
              <a:ext uri="{FF2B5EF4-FFF2-40B4-BE49-F238E27FC236}">
                <a16:creationId xmlns:a16="http://schemas.microsoft.com/office/drawing/2014/main" id="{77227467-4EF0-3642-B60F-33DB9FF97EC2}"/>
              </a:ext>
            </a:extLst>
          </p:cNvPr>
          <p:cNvSpPr/>
          <p:nvPr/>
        </p:nvSpPr>
        <p:spPr>
          <a:xfrm>
            <a:off x="5220072" y="4102712"/>
            <a:ext cx="1210141" cy="1022968"/>
          </a:xfrm>
          <a:prstGeom prst="rect">
            <a:avLst/>
          </a:prstGeom>
          <a:solidFill>
            <a:srgbClr val="FFC6DC"/>
          </a:solidFill>
          <a:ln w="25400">
            <a:solidFill>
              <a:schemeClr val="tx1">
                <a:lumMod val="95000"/>
                <a:lumOff val="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mn-ea"/>
            </a:endParaRPr>
          </a:p>
        </p:txBody>
      </p:sp>
      <p:sp>
        <p:nvSpPr>
          <p:cNvPr id="23" name="矩形 22">
            <a:extLst>
              <a:ext uri="{FF2B5EF4-FFF2-40B4-BE49-F238E27FC236}">
                <a16:creationId xmlns:a16="http://schemas.microsoft.com/office/drawing/2014/main" id="{B819273C-0783-3A48-A35C-F52FBCBA7B4C}"/>
              </a:ext>
            </a:extLst>
          </p:cNvPr>
          <p:cNvSpPr/>
          <p:nvPr/>
        </p:nvSpPr>
        <p:spPr>
          <a:xfrm>
            <a:off x="5220072" y="3858790"/>
            <a:ext cx="1210141" cy="243436"/>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200" dirty="0">
                <a:solidFill>
                  <a:schemeClr val="tx1"/>
                </a:solidFill>
                <a:latin typeface="+mn-ea"/>
              </a:rPr>
              <a:t>页表切换代码</a:t>
            </a:r>
          </a:p>
        </p:txBody>
      </p:sp>
      <p:sp>
        <p:nvSpPr>
          <p:cNvPr id="31" name="文本框 30">
            <a:extLst>
              <a:ext uri="{FF2B5EF4-FFF2-40B4-BE49-F238E27FC236}">
                <a16:creationId xmlns:a16="http://schemas.microsoft.com/office/drawing/2014/main" id="{08C8756B-EC59-5441-8F08-BA76B4A185F0}"/>
              </a:ext>
            </a:extLst>
          </p:cNvPr>
          <p:cNvSpPr txBox="1"/>
          <p:nvPr/>
        </p:nvSpPr>
        <p:spPr>
          <a:xfrm rot="16200000">
            <a:off x="1566822" y="4475691"/>
            <a:ext cx="1022967" cy="276999"/>
          </a:xfrm>
          <a:prstGeom prst="rect">
            <a:avLst/>
          </a:prstGeom>
          <a:noFill/>
        </p:spPr>
        <p:txBody>
          <a:bodyPr wrap="square" rtlCol="0">
            <a:spAutoFit/>
          </a:bodyPr>
          <a:lstStyle/>
          <a:p>
            <a:pPr algn="ctr"/>
            <a:r>
              <a:rPr kumimoji="1" lang="zh-CN" altLang="en-US" sz="1200" dirty="0">
                <a:latin typeface="+mn-ea"/>
                <a:cs typeface="DengXian" charset="-122"/>
              </a:rPr>
              <a:t>用户态</a:t>
            </a:r>
          </a:p>
        </p:txBody>
      </p:sp>
      <p:sp>
        <p:nvSpPr>
          <p:cNvPr id="32" name="文本框 31">
            <a:extLst>
              <a:ext uri="{FF2B5EF4-FFF2-40B4-BE49-F238E27FC236}">
                <a16:creationId xmlns:a16="http://schemas.microsoft.com/office/drawing/2014/main" id="{ED6C16A1-1DB6-5346-B57D-61968B4DD307}"/>
              </a:ext>
            </a:extLst>
          </p:cNvPr>
          <p:cNvSpPr txBox="1"/>
          <p:nvPr/>
        </p:nvSpPr>
        <p:spPr>
          <a:xfrm rot="16200000">
            <a:off x="6094444" y="3489941"/>
            <a:ext cx="948538" cy="276999"/>
          </a:xfrm>
          <a:prstGeom prst="rect">
            <a:avLst/>
          </a:prstGeom>
          <a:noFill/>
        </p:spPr>
        <p:txBody>
          <a:bodyPr wrap="square" rtlCol="0">
            <a:spAutoFit/>
          </a:bodyPr>
          <a:lstStyle/>
          <a:p>
            <a:pPr algn="ctr"/>
            <a:r>
              <a:rPr kumimoji="1" lang="zh-CN" altLang="en-US" sz="1200" dirty="0">
                <a:latin typeface="+mn-ea"/>
                <a:cs typeface="DengXian" charset="-122"/>
              </a:rPr>
              <a:t>内核态</a:t>
            </a:r>
          </a:p>
        </p:txBody>
      </p:sp>
      <p:sp>
        <p:nvSpPr>
          <p:cNvPr id="33" name="文本框 32">
            <a:extLst>
              <a:ext uri="{FF2B5EF4-FFF2-40B4-BE49-F238E27FC236}">
                <a16:creationId xmlns:a16="http://schemas.microsoft.com/office/drawing/2014/main" id="{A8523ECF-7493-CB41-8E88-E76F23E78AF4}"/>
              </a:ext>
            </a:extLst>
          </p:cNvPr>
          <p:cNvSpPr txBox="1"/>
          <p:nvPr/>
        </p:nvSpPr>
        <p:spPr>
          <a:xfrm rot="16200000">
            <a:off x="6057230" y="4475693"/>
            <a:ext cx="1022967" cy="276999"/>
          </a:xfrm>
          <a:prstGeom prst="rect">
            <a:avLst/>
          </a:prstGeom>
          <a:noFill/>
        </p:spPr>
        <p:txBody>
          <a:bodyPr wrap="square" rtlCol="0">
            <a:spAutoFit/>
          </a:bodyPr>
          <a:lstStyle/>
          <a:p>
            <a:pPr algn="ctr"/>
            <a:r>
              <a:rPr kumimoji="1" lang="zh-CN" altLang="en-US" sz="1200" dirty="0">
                <a:latin typeface="+mn-ea"/>
                <a:cs typeface="DengXian" charset="-122"/>
              </a:rPr>
              <a:t>用户态</a:t>
            </a:r>
          </a:p>
        </p:txBody>
      </p:sp>
      <p:sp>
        <p:nvSpPr>
          <p:cNvPr id="37" name="文本框 36">
            <a:extLst>
              <a:ext uri="{FF2B5EF4-FFF2-40B4-BE49-F238E27FC236}">
                <a16:creationId xmlns:a16="http://schemas.microsoft.com/office/drawing/2014/main" id="{F8E4D976-3057-8647-91B1-3DC8C197F15E}"/>
              </a:ext>
            </a:extLst>
          </p:cNvPr>
          <p:cNvSpPr txBox="1"/>
          <p:nvPr/>
        </p:nvSpPr>
        <p:spPr>
          <a:xfrm>
            <a:off x="4758342" y="5145221"/>
            <a:ext cx="2133599" cy="523220"/>
          </a:xfrm>
          <a:prstGeom prst="rect">
            <a:avLst/>
          </a:prstGeom>
          <a:noFill/>
        </p:spPr>
        <p:txBody>
          <a:bodyPr wrap="square" rtlCol="0">
            <a:spAutoFit/>
          </a:bodyPr>
          <a:lstStyle/>
          <a:p>
            <a:pPr algn="ctr"/>
            <a:r>
              <a:rPr kumimoji="1" lang="zh-CN" altLang="en-US" sz="1400" dirty="0">
                <a:latin typeface="+mn-ea"/>
                <a:cs typeface="DengXian" charset="-122"/>
              </a:rPr>
              <a:t>内核视角</a:t>
            </a:r>
            <a:endParaRPr kumimoji="1" lang="en-US" altLang="zh-CN" sz="1400" dirty="0">
              <a:latin typeface="+mn-ea"/>
              <a:cs typeface="DengXian" charset="-122"/>
            </a:endParaRPr>
          </a:p>
          <a:p>
            <a:pPr algn="ctr"/>
            <a:r>
              <a:rPr kumimoji="1" lang="zh-CN" altLang="en-US" sz="1400" dirty="0">
                <a:latin typeface="+mn-ea"/>
                <a:cs typeface="DengXian" charset="-122"/>
              </a:rPr>
              <a:t>地址空间</a:t>
            </a:r>
          </a:p>
        </p:txBody>
      </p:sp>
      <p:sp>
        <p:nvSpPr>
          <p:cNvPr id="38" name="文本框 37">
            <a:extLst>
              <a:ext uri="{FF2B5EF4-FFF2-40B4-BE49-F238E27FC236}">
                <a16:creationId xmlns:a16="http://schemas.microsoft.com/office/drawing/2014/main" id="{E248CE93-A63F-864A-B42F-10B4EFB39510}"/>
              </a:ext>
            </a:extLst>
          </p:cNvPr>
          <p:cNvSpPr txBox="1"/>
          <p:nvPr/>
        </p:nvSpPr>
        <p:spPr>
          <a:xfrm>
            <a:off x="3690977" y="3384903"/>
            <a:ext cx="1275618" cy="523220"/>
          </a:xfrm>
          <a:prstGeom prst="rect">
            <a:avLst/>
          </a:prstGeom>
          <a:noFill/>
        </p:spPr>
        <p:txBody>
          <a:bodyPr wrap="square" lIns="0" rIns="0" rtlCol="0">
            <a:noAutofit/>
          </a:bodyPr>
          <a:lstStyle/>
          <a:p>
            <a:pPr algn="ctr"/>
            <a:r>
              <a:rPr kumimoji="1" lang="zh-CN" altLang="en-US" sz="1400" dirty="0">
                <a:solidFill>
                  <a:srgbClr val="FF2F92"/>
                </a:solidFill>
                <a:latin typeface="+mn-ea"/>
                <a:cs typeface="DengXian" charset="-122"/>
              </a:rPr>
              <a:t>进出内核态时</a:t>
            </a:r>
            <a:endParaRPr kumimoji="1" lang="en-US" altLang="zh-CN" sz="1400" dirty="0">
              <a:solidFill>
                <a:srgbClr val="FF2F92"/>
              </a:solidFill>
              <a:latin typeface="+mn-ea"/>
              <a:cs typeface="DengXian" charset="-122"/>
            </a:endParaRPr>
          </a:p>
          <a:p>
            <a:pPr algn="ctr"/>
            <a:r>
              <a:rPr kumimoji="1" lang="zh-CN" altLang="en-US" sz="1400" dirty="0">
                <a:solidFill>
                  <a:srgbClr val="FF2F92"/>
                </a:solidFill>
                <a:latin typeface="+mn-ea"/>
                <a:cs typeface="DengXian" charset="-122"/>
              </a:rPr>
              <a:t>切换对应页表</a:t>
            </a:r>
          </a:p>
        </p:txBody>
      </p:sp>
      <p:sp>
        <p:nvSpPr>
          <p:cNvPr id="45" name="左右箭头 44">
            <a:extLst>
              <a:ext uri="{FF2B5EF4-FFF2-40B4-BE49-F238E27FC236}">
                <a16:creationId xmlns:a16="http://schemas.microsoft.com/office/drawing/2014/main" id="{40840DD0-393D-B64A-8A19-C479D355EB62}"/>
              </a:ext>
            </a:extLst>
          </p:cNvPr>
          <p:cNvSpPr/>
          <p:nvPr/>
        </p:nvSpPr>
        <p:spPr>
          <a:xfrm>
            <a:off x="3578624" y="3949475"/>
            <a:ext cx="1489768" cy="290680"/>
          </a:xfrm>
          <a:prstGeom prst="leftRightArrow">
            <a:avLst/>
          </a:prstGeom>
          <a:solidFill>
            <a:schemeClr val="bg1"/>
          </a:solidFill>
          <a:ln>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48" name="直线连接符 47">
            <a:extLst>
              <a:ext uri="{FF2B5EF4-FFF2-40B4-BE49-F238E27FC236}">
                <a16:creationId xmlns:a16="http://schemas.microsoft.com/office/drawing/2014/main" id="{C2707926-69AA-F741-BD17-9558C73E55E5}"/>
              </a:ext>
            </a:extLst>
          </p:cNvPr>
          <p:cNvCxnSpPr>
            <a:cxnSpLocks/>
            <a:stCxn id="38" idx="1"/>
            <a:endCxn id="16" idx="3"/>
          </p:cNvCxnSpPr>
          <p:nvPr/>
        </p:nvCxnSpPr>
        <p:spPr>
          <a:xfrm flipH="1">
            <a:off x="3426945" y="3646513"/>
            <a:ext cx="264032" cy="333996"/>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直线连接符 52">
            <a:extLst>
              <a:ext uri="{FF2B5EF4-FFF2-40B4-BE49-F238E27FC236}">
                <a16:creationId xmlns:a16="http://schemas.microsoft.com/office/drawing/2014/main" id="{6C3FF6CD-3067-3B44-85BF-5F6C72D4DF8D}"/>
              </a:ext>
            </a:extLst>
          </p:cNvPr>
          <p:cNvCxnSpPr>
            <a:cxnSpLocks/>
            <a:stCxn id="38" idx="3"/>
            <a:endCxn id="23" idx="1"/>
          </p:cNvCxnSpPr>
          <p:nvPr/>
        </p:nvCxnSpPr>
        <p:spPr>
          <a:xfrm>
            <a:off x="4966595" y="3646513"/>
            <a:ext cx="253477" cy="333995"/>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2876987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rPr>
              <a:t>KPTI</a:t>
            </a:r>
            <a:r>
              <a:rPr lang="zh-CN" altLang="en-US" sz="3200" dirty="0">
                <a:latin typeface="+mn-lt"/>
              </a:rPr>
              <a:t>造成的性能损失</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60</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229600" cy="4267732"/>
          </a:xfrm>
        </p:spPr>
        <p:txBody>
          <a:bodyPr>
            <a:noAutofit/>
          </a:bodyPr>
          <a:lstStyle/>
          <a:p>
            <a:r>
              <a:rPr lang="zh-CN" altLang="en-US" sz="2400" dirty="0">
                <a:sym typeface="Wingdings" pitchFamily="2" charset="2"/>
              </a:rPr>
              <a:t>页表切换导致显著的性能损失</a:t>
            </a:r>
            <a:endParaRPr lang="en-US" altLang="zh-CN" sz="2400" dirty="0">
              <a:sym typeface="Wingdings" pitchFamily="2" charset="2"/>
            </a:endParaRPr>
          </a:p>
          <a:p>
            <a:pPr lvl="1"/>
            <a:r>
              <a:rPr lang="zh-CN" altLang="en-US" sz="2200" dirty="0">
                <a:sym typeface="Wingdings" pitchFamily="2" charset="2"/>
              </a:rPr>
              <a:t>切换操作本身的时延增加</a:t>
            </a:r>
            <a:endParaRPr lang="en-US" altLang="zh-CN" sz="2200" dirty="0">
              <a:sym typeface="Wingdings" pitchFamily="2" charset="2"/>
            </a:endParaRPr>
          </a:p>
          <a:p>
            <a:pPr lvl="2"/>
            <a:r>
              <a:rPr lang="zh-CN" altLang="en-US" sz="1800" dirty="0">
                <a:sym typeface="Wingdings" pitchFamily="2" charset="2"/>
              </a:rPr>
              <a:t>切换操作：旧页表保存 </a:t>
            </a:r>
            <a:r>
              <a:rPr lang="en-US" altLang="zh-CN" sz="1800" dirty="0">
                <a:sym typeface="Wingdings" pitchFamily="2" charset="2"/>
              </a:rPr>
              <a:t>-&gt;</a:t>
            </a:r>
            <a:r>
              <a:rPr lang="zh-CN" altLang="en-US" sz="1800" dirty="0">
                <a:sym typeface="Wingdings" pitchFamily="2" charset="2"/>
              </a:rPr>
              <a:t> 新页表加载  </a:t>
            </a:r>
            <a:r>
              <a:rPr lang="en-US" altLang="zh-CN" sz="1800" dirty="0">
                <a:sym typeface="Wingdings" pitchFamily="2" charset="2"/>
              </a:rPr>
              <a:t>-&gt;</a:t>
            </a:r>
            <a:r>
              <a:rPr lang="zh-CN" altLang="en-US" sz="1800" dirty="0">
                <a:sym typeface="Wingdings" pitchFamily="2" charset="2"/>
              </a:rPr>
              <a:t> 修改</a:t>
            </a:r>
            <a:r>
              <a:rPr lang="en-US" altLang="zh-CN" sz="1800" dirty="0">
                <a:sym typeface="Wingdings" pitchFamily="2" charset="2"/>
              </a:rPr>
              <a:t>CR3</a:t>
            </a:r>
            <a:r>
              <a:rPr lang="zh-CN" altLang="en-US" sz="1800" dirty="0">
                <a:sym typeface="Wingdings" pitchFamily="2" charset="2"/>
              </a:rPr>
              <a:t> </a:t>
            </a:r>
            <a:r>
              <a:rPr lang="en-US" altLang="zh-CN" sz="1800" dirty="0">
                <a:sym typeface="Wingdings" pitchFamily="2" charset="2"/>
              </a:rPr>
              <a:t>-&gt;</a:t>
            </a:r>
            <a:r>
              <a:rPr lang="zh-CN" altLang="en-US" sz="1800" dirty="0">
                <a:sym typeface="Wingdings" pitchFamily="2" charset="2"/>
              </a:rPr>
              <a:t> 刷新</a:t>
            </a:r>
            <a:r>
              <a:rPr lang="en-US" altLang="zh-CN" sz="1800" dirty="0">
                <a:sym typeface="Wingdings" pitchFamily="2" charset="2"/>
              </a:rPr>
              <a:t>TLB</a:t>
            </a:r>
          </a:p>
          <a:p>
            <a:pPr lvl="2"/>
            <a:r>
              <a:rPr lang="zh-CN" altLang="en-US" sz="1800" dirty="0">
                <a:sym typeface="Wingdings" pitchFamily="2" charset="2"/>
              </a:rPr>
              <a:t>进出内核均需切换页表并刷新</a:t>
            </a:r>
            <a:r>
              <a:rPr lang="en-US" altLang="zh-CN" sz="1800" dirty="0">
                <a:sym typeface="Wingdings" pitchFamily="2" charset="2"/>
              </a:rPr>
              <a:t>TLB</a:t>
            </a:r>
            <a:r>
              <a:rPr lang="zh-CN" altLang="en-US" sz="1800" dirty="0">
                <a:sym typeface="Wingdings" pitchFamily="2" charset="2"/>
              </a:rPr>
              <a:t>，额外指令导致切换时延增长</a:t>
            </a:r>
            <a:endParaRPr lang="en-US" altLang="zh-CN" sz="1800" dirty="0">
              <a:sym typeface="Wingdings" pitchFamily="2" charset="2"/>
            </a:endParaRPr>
          </a:p>
          <a:p>
            <a:pPr lvl="2"/>
            <a:r>
              <a:rPr lang="zh-CN" altLang="en-US" sz="1800" dirty="0">
                <a:sym typeface="Wingdings" pitchFamily="2" charset="2"/>
              </a:rPr>
              <a:t>操作发生在系统关键路径</a:t>
            </a:r>
            <a:endParaRPr lang="en-US" altLang="zh-CN" sz="1600" dirty="0">
              <a:sym typeface="Wingdings" pitchFamily="2" charset="2"/>
            </a:endParaRPr>
          </a:p>
          <a:p>
            <a:pPr lvl="1"/>
            <a:r>
              <a:rPr lang="zh-CN" altLang="en-US" sz="2200" dirty="0">
                <a:sym typeface="Wingdings" pitchFamily="2" charset="2"/>
              </a:rPr>
              <a:t>切换后的运行时性能损失</a:t>
            </a:r>
            <a:endParaRPr lang="en-US" altLang="zh-CN" sz="2200" dirty="0">
              <a:sym typeface="Wingdings" pitchFamily="2" charset="2"/>
            </a:endParaRPr>
          </a:p>
          <a:p>
            <a:pPr lvl="2"/>
            <a:r>
              <a:rPr lang="en-US" altLang="zh-CN" sz="1800" dirty="0">
                <a:sym typeface="Wingdings" pitchFamily="2" charset="2"/>
              </a:rPr>
              <a:t>TLB</a:t>
            </a:r>
            <a:r>
              <a:rPr lang="zh-CN" altLang="en-US" sz="1800" dirty="0">
                <a:sym typeface="Wingdings" pitchFamily="2" charset="2"/>
              </a:rPr>
              <a:t>刷新导致</a:t>
            </a:r>
            <a:r>
              <a:rPr lang="en-US" altLang="zh-CN" sz="1800" dirty="0">
                <a:sym typeface="Wingdings" pitchFamily="2" charset="2"/>
              </a:rPr>
              <a:t>TLB</a:t>
            </a:r>
            <a:r>
              <a:rPr lang="zh-CN" altLang="en-US" sz="1800" dirty="0">
                <a:sym typeface="Wingdings" pitchFamily="2" charset="2"/>
              </a:rPr>
              <a:t>未命中率提升，直接影响程序执行性能</a:t>
            </a:r>
            <a:endParaRPr lang="en-US" altLang="zh-CN" sz="1800" dirty="0">
              <a:sym typeface="Wingdings" pitchFamily="2" charset="2"/>
            </a:endParaRPr>
          </a:p>
          <a:p>
            <a:pPr lvl="1"/>
            <a:r>
              <a:rPr lang="zh-CN" altLang="en-US" sz="2200" dirty="0">
                <a:sym typeface="Wingdings" pitchFamily="2" charset="2"/>
              </a:rPr>
              <a:t>部分应用性能降低可达</a:t>
            </a:r>
            <a:r>
              <a:rPr lang="en-US" altLang="zh-CN" sz="2200" dirty="0">
                <a:sym typeface="Wingdings" pitchFamily="2" charset="2"/>
              </a:rPr>
              <a:t>30%</a:t>
            </a:r>
          </a:p>
        </p:txBody>
      </p:sp>
    </p:spTree>
    <p:extLst>
      <p:ext uri="{BB962C8B-B14F-4D97-AF65-F5344CB8AC3E}">
        <p14:creationId xmlns:p14="http://schemas.microsoft.com/office/powerpoint/2010/main" val="770636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9">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9">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latin typeface="+mn-lt"/>
              </a:rPr>
              <a:t>KPTI</a:t>
            </a:r>
            <a:r>
              <a:rPr lang="zh-CN" altLang="en-US" sz="3200" dirty="0">
                <a:latin typeface="+mn-lt"/>
              </a:rPr>
              <a:t>：性能优化方法</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61</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212012"/>
            <a:ext cx="8229600" cy="2139044"/>
          </a:xfrm>
        </p:spPr>
        <p:txBody>
          <a:bodyPr>
            <a:noAutofit/>
          </a:bodyPr>
          <a:lstStyle/>
          <a:p>
            <a:r>
              <a:rPr lang="zh-CN" altLang="en-US" sz="2400" dirty="0">
                <a:sym typeface="Wingdings" pitchFamily="2" charset="2"/>
              </a:rPr>
              <a:t>优化单一切换操作的时延</a:t>
            </a:r>
            <a:endParaRPr lang="en-US" altLang="zh-CN" sz="2400" dirty="0">
              <a:sym typeface="Wingdings" pitchFamily="2" charset="2"/>
            </a:endParaRPr>
          </a:p>
          <a:p>
            <a:pPr lvl="1"/>
            <a:r>
              <a:rPr lang="zh-CN" altLang="en-US" sz="2200" dirty="0">
                <a:sym typeface="Wingdings" pitchFamily="2" charset="2"/>
              </a:rPr>
              <a:t>页表切换仅需简单位操作</a:t>
            </a:r>
            <a:endParaRPr lang="en-US" altLang="zh-CN" sz="2200" dirty="0">
              <a:sym typeface="Wingdings" pitchFamily="2" charset="2"/>
            </a:endParaRPr>
          </a:p>
        </p:txBody>
      </p:sp>
      <p:sp>
        <p:nvSpPr>
          <p:cNvPr id="5" name="矩形 4">
            <a:extLst>
              <a:ext uri="{FF2B5EF4-FFF2-40B4-BE49-F238E27FC236}">
                <a16:creationId xmlns:a16="http://schemas.microsoft.com/office/drawing/2014/main" id="{2B6DCC59-2C24-E849-91D2-73A8428A6640}"/>
              </a:ext>
            </a:extLst>
          </p:cNvPr>
          <p:cNvSpPr/>
          <p:nvPr/>
        </p:nvSpPr>
        <p:spPr>
          <a:xfrm>
            <a:off x="2264661" y="2510300"/>
            <a:ext cx="2275687" cy="696474"/>
          </a:xfrm>
          <a:prstGeom prst="rect">
            <a:avLst/>
          </a:prstGeom>
          <a:solidFill>
            <a:schemeClr val="bg1"/>
          </a:solidFill>
          <a:ln w="25400">
            <a:solidFill>
              <a:schemeClr val="tx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a:endParaRPr kumimoji="1" lang="en-US" altLang="zh-CN" sz="1400" dirty="0">
              <a:solidFill>
                <a:schemeClr val="tx1"/>
              </a:solidFill>
              <a:latin typeface="+mn-ea"/>
            </a:endParaRPr>
          </a:p>
        </p:txBody>
      </p:sp>
      <p:sp>
        <p:nvSpPr>
          <p:cNvPr id="8" name="文本框 7">
            <a:extLst>
              <a:ext uri="{FF2B5EF4-FFF2-40B4-BE49-F238E27FC236}">
                <a16:creationId xmlns:a16="http://schemas.microsoft.com/office/drawing/2014/main" id="{6FB82EF2-131C-A249-840A-40AA35AD3D6A}"/>
              </a:ext>
            </a:extLst>
          </p:cNvPr>
          <p:cNvSpPr txBox="1"/>
          <p:nvPr/>
        </p:nvSpPr>
        <p:spPr>
          <a:xfrm>
            <a:off x="3742123" y="2578733"/>
            <a:ext cx="707539" cy="276999"/>
          </a:xfrm>
          <a:prstGeom prst="rect">
            <a:avLst/>
          </a:prstGeom>
          <a:noFill/>
        </p:spPr>
        <p:txBody>
          <a:bodyPr wrap="square" lIns="0" rIns="0" rtlCol="0" anchor="ctr" anchorCtr="0">
            <a:noAutofit/>
          </a:bodyPr>
          <a:lstStyle/>
          <a:p>
            <a:pPr algn="ctr"/>
            <a:r>
              <a:rPr kumimoji="1" lang="zh-CN" altLang="en-US" sz="1200" dirty="0">
                <a:latin typeface="+mn-ea"/>
                <a:cs typeface="DengXian" charset="-122"/>
              </a:rPr>
              <a:t>用户页表</a:t>
            </a:r>
          </a:p>
        </p:txBody>
      </p:sp>
      <p:sp>
        <p:nvSpPr>
          <p:cNvPr id="9" name="矩形 8">
            <a:extLst>
              <a:ext uri="{FF2B5EF4-FFF2-40B4-BE49-F238E27FC236}">
                <a16:creationId xmlns:a16="http://schemas.microsoft.com/office/drawing/2014/main" id="{0A1AD8F9-7F6D-3442-8A2C-5B8949F68687}"/>
              </a:ext>
            </a:extLst>
          </p:cNvPr>
          <p:cNvSpPr/>
          <p:nvPr/>
        </p:nvSpPr>
        <p:spPr>
          <a:xfrm>
            <a:off x="2441299" y="2610789"/>
            <a:ext cx="1210141" cy="243436"/>
          </a:xfrm>
          <a:prstGeom prst="rect">
            <a:avLst/>
          </a:prstGeom>
          <a:solidFill>
            <a:srgbClr val="FFC6DC"/>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200" dirty="0">
                <a:solidFill>
                  <a:schemeClr val="tx1"/>
                </a:solidFill>
                <a:latin typeface="+mn-ea"/>
              </a:rPr>
              <a:t>CR3+0x1000</a:t>
            </a:r>
            <a:endParaRPr kumimoji="1" lang="zh-CN" altLang="en-US" sz="1200" dirty="0">
              <a:solidFill>
                <a:schemeClr val="tx1"/>
              </a:solidFill>
              <a:latin typeface="+mn-ea"/>
            </a:endParaRPr>
          </a:p>
        </p:txBody>
      </p:sp>
      <p:sp>
        <p:nvSpPr>
          <p:cNvPr id="10" name="矩形 9">
            <a:extLst>
              <a:ext uri="{FF2B5EF4-FFF2-40B4-BE49-F238E27FC236}">
                <a16:creationId xmlns:a16="http://schemas.microsoft.com/office/drawing/2014/main" id="{A4E70B85-AA67-4B4C-945C-AD72792D27CE}"/>
              </a:ext>
            </a:extLst>
          </p:cNvPr>
          <p:cNvSpPr/>
          <p:nvPr/>
        </p:nvSpPr>
        <p:spPr>
          <a:xfrm>
            <a:off x="5073931" y="2311745"/>
            <a:ext cx="1630006" cy="416418"/>
          </a:xfrm>
          <a:prstGeom prst="rect">
            <a:avLst/>
          </a:prstGeom>
          <a:solidFill>
            <a:srgbClr val="FFC6DC"/>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400" dirty="0">
                <a:solidFill>
                  <a:schemeClr val="tx1"/>
                </a:solidFill>
                <a:latin typeface="+mn-ea"/>
              </a:rPr>
              <a:t>用户页表</a:t>
            </a:r>
            <a:endParaRPr kumimoji="1" lang="en-US" altLang="zh-CN" sz="1400" dirty="0">
              <a:solidFill>
                <a:schemeClr val="tx1"/>
              </a:solidFill>
              <a:latin typeface="+mn-ea"/>
            </a:endParaRPr>
          </a:p>
          <a:p>
            <a:pPr algn="ctr"/>
            <a:r>
              <a:rPr kumimoji="1" lang="zh-CN" altLang="en-US" sz="1200" dirty="0">
                <a:solidFill>
                  <a:schemeClr val="tx1"/>
                </a:solidFill>
                <a:latin typeface="+mn-ea"/>
              </a:rPr>
              <a:t>（</a:t>
            </a:r>
            <a:r>
              <a:rPr kumimoji="1" lang="en-US" altLang="zh-CN" sz="1200" dirty="0">
                <a:solidFill>
                  <a:schemeClr val="tx1"/>
                </a:solidFill>
                <a:latin typeface="+mn-ea"/>
              </a:rPr>
              <a:t>PGD</a:t>
            </a:r>
            <a:r>
              <a:rPr kumimoji="1" lang="zh-CN" altLang="en-US" sz="1200" dirty="0">
                <a:solidFill>
                  <a:schemeClr val="tx1"/>
                </a:solidFill>
                <a:latin typeface="+mn-ea"/>
              </a:rPr>
              <a:t>）</a:t>
            </a:r>
          </a:p>
        </p:txBody>
      </p:sp>
      <p:sp>
        <p:nvSpPr>
          <p:cNvPr id="22" name="矩形 21">
            <a:extLst>
              <a:ext uri="{FF2B5EF4-FFF2-40B4-BE49-F238E27FC236}">
                <a16:creationId xmlns:a16="http://schemas.microsoft.com/office/drawing/2014/main" id="{7F308022-55CF-8645-9F6F-6CD8DA93BDF6}"/>
              </a:ext>
            </a:extLst>
          </p:cNvPr>
          <p:cNvSpPr/>
          <p:nvPr/>
        </p:nvSpPr>
        <p:spPr>
          <a:xfrm>
            <a:off x="2441298" y="2856346"/>
            <a:ext cx="1210141" cy="243436"/>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200" dirty="0">
                <a:solidFill>
                  <a:schemeClr val="tx1"/>
                </a:solidFill>
                <a:latin typeface="+mn-ea"/>
              </a:rPr>
              <a:t>CR3</a:t>
            </a:r>
          </a:p>
        </p:txBody>
      </p:sp>
      <p:sp>
        <p:nvSpPr>
          <p:cNvPr id="23" name="文本框 22">
            <a:extLst>
              <a:ext uri="{FF2B5EF4-FFF2-40B4-BE49-F238E27FC236}">
                <a16:creationId xmlns:a16="http://schemas.microsoft.com/office/drawing/2014/main" id="{390C257C-A4E6-CF43-B043-140424EFEB86}"/>
              </a:ext>
            </a:extLst>
          </p:cNvPr>
          <p:cNvSpPr txBox="1"/>
          <p:nvPr/>
        </p:nvSpPr>
        <p:spPr>
          <a:xfrm>
            <a:off x="3742122" y="2847388"/>
            <a:ext cx="707539" cy="276999"/>
          </a:xfrm>
          <a:prstGeom prst="rect">
            <a:avLst/>
          </a:prstGeom>
          <a:noFill/>
        </p:spPr>
        <p:txBody>
          <a:bodyPr wrap="square" lIns="0" rIns="0" rtlCol="0" anchor="ctr" anchorCtr="0">
            <a:noAutofit/>
          </a:bodyPr>
          <a:lstStyle/>
          <a:p>
            <a:pPr algn="ctr"/>
            <a:r>
              <a:rPr kumimoji="1" lang="zh-CN" altLang="en-US" sz="1200" dirty="0">
                <a:latin typeface="+mn-ea"/>
                <a:cs typeface="DengXian" charset="-122"/>
              </a:rPr>
              <a:t>内核页表</a:t>
            </a:r>
          </a:p>
        </p:txBody>
      </p:sp>
      <p:sp>
        <p:nvSpPr>
          <p:cNvPr id="24" name="文本框 23">
            <a:extLst>
              <a:ext uri="{FF2B5EF4-FFF2-40B4-BE49-F238E27FC236}">
                <a16:creationId xmlns:a16="http://schemas.microsoft.com/office/drawing/2014/main" id="{FEA61D68-8B54-CB49-A232-1C4CC1830194}"/>
              </a:ext>
            </a:extLst>
          </p:cNvPr>
          <p:cNvSpPr txBox="1"/>
          <p:nvPr/>
        </p:nvSpPr>
        <p:spPr>
          <a:xfrm>
            <a:off x="2264661" y="2226798"/>
            <a:ext cx="707539" cy="276999"/>
          </a:xfrm>
          <a:prstGeom prst="rect">
            <a:avLst/>
          </a:prstGeom>
          <a:noFill/>
        </p:spPr>
        <p:txBody>
          <a:bodyPr wrap="square" lIns="0" rIns="0" rtlCol="0" anchor="ctr" anchorCtr="0">
            <a:noAutofit/>
          </a:bodyPr>
          <a:lstStyle/>
          <a:p>
            <a:pPr algn="ctr"/>
            <a:r>
              <a:rPr kumimoji="1" lang="zh-CN" altLang="en-US" sz="1200" dirty="0">
                <a:latin typeface="+mn-ea"/>
                <a:cs typeface="DengXian" charset="-122"/>
              </a:rPr>
              <a:t>页表对</a:t>
            </a:r>
          </a:p>
        </p:txBody>
      </p:sp>
      <p:sp>
        <p:nvSpPr>
          <p:cNvPr id="26" name="文档 25">
            <a:extLst>
              <a:ext uri="{FF2B5EF4-FFF2-40B4-BE49-F238E27FC236}">
                <a16:creationId xmlns:a16="http://schemas.microsoft.com/office/drawing/2014/main" id="{EA8DA94A-1D21-354C-AA88-739C15EF217F}"/>
              </a:ext>
            </a:extLst>
          </p:cNvPr>
          <p:cNvSpPr/>
          <p:nvPr/>
        </p:nvSpPr>
        <p:spPr>
          <a:xfrm>
            <a:off x="5073931" y="3146332"/>
            <a:ext cx="1630006" cy="204724"/>
          </a:xfrm>
          <a:prstGeom prst="flowChartDocumen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8" name="文档 27">
            <a:extLst>
              <a:ext uri="{FF2B5EF4-FFF2-40B4-BE49-F238E27FC236}">
                <a16:creationId xmlns:a16="http://schemas.microsoft.com/office/drawing/2014/main" id="{001A4908-E7D7-F546-8972-6ED10363BFAB}"/>
              </a:ext>
            </a:extLst>
          </p:cNvPr>
          <p:cNvSpPr/>
          <p:nvPr/>
        </p:nvSpPr>
        <p:spPr>
          <a:xfrm rot="10800000">
            <a:off x="5073931" y="2032431"/>
            <a:ext cx="1630006" cy="277001"/>
          </a:xfrm>
          <a:prstGeom prst="flowChartDocumen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0" name="矩形 29">
            <a:extLst>
              <a:ext uri="{FF2B5EF4-FFF2-40B4-BE49-F238E27FC236}">
                <a16:creationId xmlns:a16="http://schemas.microsoft.com/office/drawing/2014/main" id="{CB9E4A7F-22E5-8245-B6E1-56859A7027C4}"/>
              </a:ext>
            </a:extLst>
          </p:cNvPr>
          <p:cNvSpPr/>
          <p:nvPr/>
        </p:nvSpPr>
        <p:spPr>
          <a:xfrm>
            <a:off x="5073931" y="2728163"/>
            <a:ext cx="1630006" cy="416418"/>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zh-CN" altLang="en-US" sz="1400" dirty="0">
                <a:solidFill>
                  <a:schemeClr val="tx1"/>
                </a:solidFill>
                <a:latin typeface="+mn-ea"/>
              </a:rPr>
              <a:t>内核页表</a:t>
            </a:r>
            <a:endParaRPr kumimoji="1" lang="en-US" altLang="zh-CN" sz="1400" dirty="0">
              <a:solidFill>
                <a:schemeClr val="tx1"/>
              </a:solidFill>
              <a:latin typeface="+mn-ea"/>
            </a:endParaRPr>
          </a:p>
          <a:p>
            <a:pPr algn="ctr"/>
            <a:r>
              <a:rPr kumimoji="1" lang="zh-CN" altLang="en-US" sz="1200" dirty="0">
                <a:solidFill>
                  <a:schemeClr val="tx1"/>
                </a:solidFill>
                <a:latin typeface="+mn-ea"/>
              </a:rPr>
              <a:t>（</a:t>
            </a:r>
            <a:r>
              <a:rPr kumimoji="1" lang="en-US" altLang="zh-CN" sz="1200" dirty="0">
                <a:solidFill>
                  <a:schemeClr val="tx1"/>
                </a:solidFill>
                <a:latin typeface="+mn-ea"/>
              </a:rPr>
              <a:t>PGD</a:t>
            </a:r>
            <a:r>
              <a:rPr kumimoji="1" lang="zh-CN" altLang="en-US" sz="1200" dirty="0">
                <a:solidFill>
                  <a:schemeClr val="tx1"/>
                </a:solidFill>
                <a:latin typeface="+mn-ea"/>
              </a:rPr>
              <a:t>）</a:t>
            </a:r>
          </a:p>
        </p:txBody>
      </p:sp>
      <p:cxnSp>
        <p:nvCxnSpPr>
          <p:cNvPr id="34" name="肘形连接符 33">
            <a:extLst>
              <a:ext uri="{FF2B5EF4-FFF2-40B4-BE49-F238E27FC236}">
                <a16:creationId xmlns:a16="http://schemas.microsoft.com/office/drawing/2014/main" id="{26853E2D-8B76-3145-8F5A-09E189C3C48F}"/>
              </a:ext>
            </a:extLst>
          </p:cNvPr>
          <p:cNvCxnSpPr>
            <a:cxnSpLocks/>
            <a:stCxn id="23" idx="3"/>
          </p:cNvCxnSpPr>
          <p:nvPr/>
        </p:nvCxnSpPr>
        <p:spPr>
          <a:xfrm>
            <a:off x="4449661" y="2985888"/>
            <a:ext cx="624270" cy="158614"/>
          </a:xfrm>
          <a:prstGeom prst="bentConnector3">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线连接符 38">
            <a:extLst>
              <a:ext uri="{FF2B5EF4-FFF2-40B4-BE49-F238E27FC236}">
                <a16:creationId xmlns:a16="http://schemas.microsoft.com/office/drawing/2014/main" id="{39994FA6-B63D-F643-9ECD-DE0FA7B61E61}"/>
              </a:ext>
            </a:extLst>
          </p:cNvPr>
          <p:cNvCxnSpPr>
            <a:cxnSpLocks/>
            <a:stCxn id="8" idx="3"/>
          </p:cNvCxnSpPr>
          <p:nvPr/>
        </p:nvCxnSpPr>
        <p:spPr>
          <a:xfrm>
            <a:off x="4449662" y="2717233"/>
            <a:ext cx="624269" cy="0"/>
          </a:xfrm>
          <a:prstGeom prst="line">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内容占位符 2">
            <a:extLst>
              <a:ext uri="{FF2B5EF4-FFF2-40B4-BE49-F238E27FC236}">
                <a16:creationId xmlns:a16="http://schemas.microsoft.com/office/drawing/2014/main" id="{82EA9D6B-01AE-B549-9B4E-C5B61A38423C}"/>
              </a:ext>
            </a:extLst>
          </p:cNvPr>
          <p:cNvSpPr txBox="1">
            <a:spLocks/>
          </p:cNvSpPr>
          <p:nvPr/>
        </p:nvSpPr>
        <p:spPr>
          <a:xfrm>
            <a:off x="457200" y="3340548"/>
            <a:ext cx="8229600" cy="2037232"/>
          </a:xfrm>
          <a:prstGeom prst="rect">
            <a:avLst/>
          </a:prstGeom>
        </p:spPr>
        <p:txBody>
          <a:bodyPr vert="horz" lIns="91440" tIns="45720" rIns="91440" bIns="45720" rtlCol="0">
            <a:noAutofit/>
          </a:bodyPr>
          <a:lstStyle>
            <a:lvl1pPr marL="342900" indent="-342900" algn="l" defTabSz="914400" rtl="0" eaLnBrk="1" latinLnBrk="0" hangingPunct="1">
              <a:lnSpc>
                <a:spcPct val="120000"/>
              </a:lnSpc>
              <a:spcBef>
                <a:spcPts val="1200"/>
              </a:spcBef>
              <a:buFont typeface="Arial" pitchFamily="34" charset="0"/>
              <a:buChar char="•"/>
              <a:defRPr sz="2600" b="1"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1pPr>
            <a:lvl2pPr marL="742950" indent="-285750" algn="l" defTabSz="914400" rtl="0" eaLnBrk="1" latinLnBrk="0" hangingPunct="1">
              <a:lnSpc>
                <a:spcPct val="120000"/>
              </a:lnSpc>
              <a:spcBef>
                <a:spcPct val="20000"/>
              </a:spcBef>
              <a:buFont typeface="Arial" pitchFamily="34" charset="0"/>
              <a:buChar char="–"/>
              <a:defRPr sz="24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2pPr>
            <a:lvl3pPr marL="1143000" indent="-228600" algn="l" defTabSz="914400" rtl="0" eaLnBrk="1" latinLnBrk="0" hangingPunct="1">
              <a:lnSpc>
                <a:spcPct val="120000"/>
              </a:lnSpc>
              <a:spcBef>
                <a:spcPct val="20000"/>
              </a:spcBef>
              <a:buFont typeface="Arial" pitchFamily="34" charset="0"/>
              <a:buChar char="•"/>
              <a:defRPr sz="20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3pPr>
            <a:lvl4pPr marL="16002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4pPr>
            <a:lvl5pPr marL="2057400" indent="-228600" algn="l" defTabSz="914400" rtl="0" eaLnBrk="1" latinLnBrk="0" hangingPunct="1">
              <a:lnSpc>
                <a:spcPct val="120000"/>
              </a:lnSpc>
              <a:spcBef>
                <a:spcPct val="20000"/>
              </a:spcBef>
              <a:buFont typeface="Arial" pitchFamily="34" charset="0"/>
              <a:buChar char="»"/>
              <a:defRPr sz="1800" b="0" i="0" kern="1200">
                <a:solidFill>
                  <a:schemeClr val="tx1">
                    <a:lumMod val="75000"/>
                    <a:lumOff val="25000"/>
                  </a:schemeClr>
                </a:solidFill>
                <a:latin typeface="+mn-lt"/>
                <a:ea typeface="微软雅黑" panose="020B0503020204020204" pitchFamily="34" charset="-122"/>
                <a:cs typeface="微软雅黑" panose="020B0503020204020204" pitchFamily="34" charset="-122"/>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zh-CN" altLang="en-US" sz="2400" dirty="0">
                <a:sym typeface="Wingdings" pitchFamily="2" charset="2"/>
              </a:rPr>
              <a:t>优化非必要的</a:t>
            </a:r>
            <a:r>
              <a:rPr lang="en-US" altLang="zh-CN" sz="2400" dirty="0">
                <a:sym typeface="Wingdings" pitchFamily="2" charset="2"/>
              </a:rPr>
              <a:t>TLB</a:t>
            </a:r>
            <a:r>
              <a:rPr lang="zh-CN" altLang="en-US" sz="2400" dirty="0">
                <a:sym typeface="Wingdings" pitchFamily="2" charset="2"/>
              </a:rPr>
              <a:t>刷新</a:t>
            </a:r>
            <a:endParaRPr lang="en-US" altLang="zh-CN" sz="2400" dirty="0">
              <a:sym typeface="Wingdings" pitchFamily="2" charset="2"/>
            </a:endParaRPr>
          </a:p>
          <a:p>
            <a:pPr lvl="1"/>
            <a:r>
              <a:rPr lang="zh-CN" altLang="en-US" sz="2200" dirty="0">
                <a:sym typeface="Wingdings" pitchFamily="2" charset="2"/>
              </a:rPr>
              <a:t>用户</a:t>
            </a:r>
            <a:r>
              <a:rPr lang="en-US" altLang="zh-CN" sz="2200" dirty="0">
                <a:sym typeface="Wingdings" pitchFamily="2" charset="2"/>
              </a:rPr>
              <a:t>/</a:t>
            </a:r>
            <a:r>
              <a:rPr lang="zh-CN" altLang="en-US" sz="2200" dirty="0">
                <a:sym typeface="Wingdings" pitchFamily="2" charset="2"/>
              </a:rPr>
              <a:t>内核页表使用不同的</a:t>
            </a:r>
            <a:r>
              <a:rPr lang="en-US" altLang="zh-CN" sz="2200" dirty="0">
                <a:sym typeface="Wingdings" pitchFamily="2" charset="2"/>
              </a:rPr>
              <a:t>ASID</a:t>
            </a:r>
            <a:r>
              <a:rPr lang="zh-CN" altLang="en-US" sz="2200" dirty="0">
                <a:sym typeface="Wingdings" pitchFamily="2" charset="2"/>
              </a:rPr>
              <a:t>，进出内核无需刷新</a:t>
            </a:r>
            <a:r>
              <a:rPr lang="en-US" altLang="zh-CN" sz="2200" dirty="0">
                <a:sym typeface="Wingdings" pitchFamily="2" charset="2"/>
              </a:rPr>
              <a:t>TLB</a:t>
            </a:r>
          </a:p>
          <a:p>
            <a:pPr lvl="2"/>
            <a:r>
              <a:rPr lang="en-US" altLang="zh-CN" sz="1800" dirty="0">
                <a:sym typeface="Wingdings" pitchFamily="2" charset="2"/>
              </a:rPr>
              <a:t>ASID</a:t>
            </a:r>
            <a:r>
              <a:rPr lang="zh-CN" altLang="en-US" sz="1800" dirty="0">
                <a:sym typeface="Wingdings" pitchFamily="2" charset="2"/>
              </a:rPr>
              <a:t>会作为</a:t>
            </a:r>
            <a:r>
              <a:rPr lang="en-US" altLang="zh-CN" sz="1800" dirty="0">
                <a:sym typeface="Wingdings" pitchFamily="2" charset="2"/>
              </a:rPr>
              <a:t>tag</a:t>
            </a:r>
            <a:r>
              <a:rPr lang="zh-CN" altLang="en-US" sz="1800" dirty="0">
                <a:sym typeface="Wingdings" pitchFamily="2" charset="2"/>
              </a:rPr>
              <a:t>进行</a:t>
            </a:r>
            <a:r>
              <a:rPr lang="en-US" altLang="zh-CN" sz="1800" dirty="0">
                <a:sym typeface="Wingdings" pitchFamily="2" charset="2"/>
              </a:rPr>
              <a:t>TLB</a:t>
            </a:r>
            <a:r>
              <a:rPr lang="zh-CN" altLang="en-US" sz="1800" dirty="0">
                <a:sym typeface="Wingdings" pitchFamily="2" charset="2"/>
              </a:rPr>
              <a:t>索引</a:t>
            </a:r>
            <a:endParaRPr lang="en-US" altLang="zh-CN" sz="1800" dirty="0">
              <a:sym typeface="Wingdings" pitchFamily="2" charset="2"/>
            </a:endParaRPr>
          </a:p>
          <a:p>
            <a:pPr lvl="2"/>
            <a:r>
              <a:rPr lang="en-US" altLang="zh-CN" sz="1800" dirty="0">
                <a:sym typeface="Wingdings" pitchFamily="2" charset="2"/>
              </a:rPr>
              <a:t>CPU</a:t>
            </a:r>
            <a:r>
              <a:rPr lang="zh-CN" altLang="en-US" sz="1800" dirty="0">
                <a:sym typeface="Wingdings" pitchFamily="2" charset="2"/>
              </a:rPr>
              <a:t>仅匹配与当前</a:t>
            </a:r>
            <a:r>
              <a:rPr lang="en-US" altLang="zh-CN" sz="1800" dirty="0">
                <a:sym typeface="Wingdings" pitchFamily="2" charset="2"/>
              </a:rPr>
              <a:t>ASID</a:t>
            </a:r>
            <a:r>
              <a:rPr lang="zh-CN" altLang="en-US" sz="1800" dirty="0">
                <a:sym typeface="Wingdings" pitchFamily="2" charset="2"/>
              </a:rPr>
              <a:t>一致的</a:t>
            </a:r>
            <a:r>
              <a:rPr lang="en-US" altLang="zh-CN" sz="1800" dirty="0">
                <a:sym typeface="Wingdings" pitchFamily="2" charset="2"/>
              </a:rPr>
              <a:t>TLB</a:t>
            </a:r>
            <a:r>
              <a:rPr lang="zh-CN" altLang="en-US" sz="1800" dirty="0">
                <a:sym typeface="Wingdings" pitchFamily="2" charset="2"/>
              </a:rPr>
              <a:t>项</a:t>
            </a:r>
            <a:endParaRPr lang="en-US" altLang="zh-CN" sz="1800" dirty="0">
              <a:sym typeface="Wingdings" pitchFamily="2" charset="2"/>
            </a:endParaRPr>
          </a:p>
        </p:txBody>
      </p:sp>
      <p:sp>
        <p:nvSpPr>
          <p:cNvPr id="55" name="矩形 54">
            <a:extLst>
              <a:ext uri="{FF2B5EF4-FFF2-40B4-BE49-F238E27FC236}">
                <a16:creationId xmlns:a16="http://schemas.microsoft.com/office/drawing/2014/main" id="{DC6D0279-C6FF-7F4C-AC6C-C76C9B9703FF}"/>
              </a:ext>
            </a:extLst>
          </p:cNvPr>
          <p:cNvSpPr/>
          <p:nvPr/>
        </p:nvSpPr>
        <p:spPr>
          <a:xfrm>
            <a:off x="5796136" y="4708014"/>
            <a:ext cx="2275687" cy="696474"/>
          </a:xfrm>
          <a:prstGeom prst="rect">
            <a:avLst/>
          </a:prstGeom>
          <a:solidFill>
            <a:schemeClr val="bg1"/>
          </a:solidFill>
          <a:ln w="25400">
            <a:solidFill>
              <a:schemeClr val="tx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t" anchorCtr="0"/>
          <a:lstStyle/>
          <a:p>
            <a:pPr algn="ctr"/>
            <a:endParaRPr kumimoji="1" lang="en-US" altLang="zh-CN" sz="1400" dirty="0">
              <a:solidFill>
                <a:schemeClr val="tx1"/>
              </a:solidFill>
              <a:latin typeface="+mn-ea"/>
            </a:endParaRPr>
          </a:p>
        </p:txBody>
      </p:sp>
      <p:sp>
        <p:nvSpPr>
          <p:cNvPr id="56" name="文本框 55">
            <a:extLst>
              <a:ext uri="{FF2B5EF4-FFF2-40B4-BE49-F238E27FC236}">
                <a16:creationId xmlns:a16="http://schemas.microsoft.com/office/drawing/2014/main" id="{7DA27306-5613-5C40-BB25-8F033C9EADDC}"/>
              </a:ext>
            </a:extLst>
          </p:cNvPr>
          <p:cNvSpPr txBox="1"/>
          <p:nvPr/>
        </p:nvSpPr>
        <p:spPr>
          <a:xfrm>
            <a:off x="7273598" y="4776447"/>
            <a:ext cx="707539" cy="276999"/>
          </a:xfrm>
          <a:prstGeom prst="rect">
            <a:avLst/>
          </a:prstGeom>
          <a:noFill/>
        </p:spPr>
        <p:txBody>
          <a:bodyPr wrap="square" lIns="0" rIns="0" rtlCol="0" anchor="ctr" anchorCtr="0">
            <a:noAutofit/>
          </a:bodyPr>
          <a:lstStyle/>
          <a:p>
            <a:pPr algn="ctr"/>
            <a:r>
              <a:rPr kumimoji="1" lang="zh-CN" altLang="en-US" sz="1200" dirty="0">
                <a:latin typeface="+mn-ea"/>
                <a:cs typeface="DengXian" charset="-122"/>
              </a:rPr>
              <a:t>用户</a:t>
            </a:r>
            <a:r>
              <a:rPr kumimoji="1" lang="en-US" altLang="zh-CN" sz="1200" dirty="0">
                <a:latin typeface="+mn-ea"/>
                <a:cs typeface="DengXian" charset="-122"/>
              </a:rPr>
              <a:t>ASID</a:t>
            </a:r>
          </a:p>
        </p:txBody>
      </p:sp>
      <p:sp>
        <p:nvSpPr>
          <p:cNvPr id="57" name="矩形 56">
            <a:extLst>
              <a:ext uri="{FF2B5EF4-FFF2-40B4-BE49-F238E27FC236}">
                <a16:creationId xmlns:a16="http://schemas.microsoft.com/office/drawing/2014/main" id="{5AE24D2A-7413-FB45-84DF-D1F43FF72D57}"/>
              </a:ext>
            </a:extLst>
          </p:cNvPr>
          <p:cNvSpPr/>
          <p:nvPr/>
        </p:nvSpPr>
        <p:spPr>
          <a:xfrm>
            <a:off x="6116773" y="4806271"/>
            <a:ext cx="1066141" cy="243436"/>
          </a:xfrm>
          <a:prstGeom prst="rect">
            <a:avLst/>
          </a:prstGeom>
          <a:solidFill>
            <a:srgbClr val="FFC6DC"/>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200" dirty="0" err="1">
                <a:solidFill>
                  <a:schemeClr val="tx1"/>
                </a:solidFill>
                <a:latin typeface="+mn-ea"/>
              </a:rPr>
              <a:t>asid</a:t>
            </a:r>
            <a:r>
              <a:rPr kumimoji="1" lang="en-US" altLang="zh-CN" sz="1200" dirty="0">
                <a:solidFill>
                  <a:schemeClr val="tx1"/>
                </a:solidFill>
                <a:latin typeface="+mn-ea"/>
              </a:rPr>
              <a:t>[0:10]</a:t>
            </a:r>
            <a:endParaRPr kumimoji="1" lang="zh-CN" altLang="en-US" sz="1200" dirty="0">
              <a:solidFill>
                <a:schemeClr val="tx1"/>
              </a:solidFill>
              <a:latin typeface="+mn-ea"/>
            </a:endParaRPr>
          </a:p>
        </p:txBody>
      </p:sp>
      <p:sp>
        <p:nvSpPr>
          <p:cNvPr id="58" name="矩形 57">
            <a:extLst>
              <a:ext uri="{FF2B5EF4-FFF2-40B4-BE49-F238E27FC236}">
                <a16:creationId xmlns:a16="http://schemas.microsoft.com/office/drawing/2014/main" id="{3493DD21-2E53-8241-8636-3535D93AF6A6}"/>
              </a:ext>
            </a:extLst>
          </p:cNvPr>
          <p:cNvSpPr/>
          <p:nvPr/>
        </p:nvSpPr>
        <p:spPr>
          <a:xfrm>
            <a:off x="6116773" y="5051374"/>
            <a:ext cx="1066141" cy="243436"/>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200" dirty="0" err="1">
                <a:solidFill>
                  <a:schemeClr val="tx1"/>
                </a:solidFill>
                <a:latin typeface="+mn-ea"/>
              </a:rPr>
              <a:t>asid</a:t>
            </a:r>
            <a:r>
              <a:rPr kumimoji="1" lang="en-US" altLang="zh-CN" sz="1200" dirty="0">
                <a:solidFill>
                  <a:schemeClr val="tx1"/>
                </a:solidFill>
                <a:latin typeface="+mn-ea"/>
              </a:rPr>
              <a:t>[0:10]</a:t>
            </a:r>
            <a:endParaRPr kumimoji="1" lang="zh-CN" altLang="en-US" sz="1200" dirty="0">
              <a:solidFill>
                <a:schemeClr val="tx1"/>
              </a:solidFill>
              <a:latin typeface="+mn-ea"/>
            </a:endParaRPr>
          </a:p>
        </p:txBody>
      </p:sp>
      <p:sp>
        <p:nvSpPr>
          <p:cNvPr id="60" name="文本框 59">
            <a:extLst>
              <a:ext uri="{FF2B5EF4-FFF2-40B4-BE49-F238E27FC236}">
                <a16:creationId xmlns:a16="http://schemas.microsoft.com/office/drawing/2014/main" id="{EF2FBD7E-2162-AE46-9120-DBB22F594A30}"/>
              </a:ext>
            </a:extLst>
          </p:cNvPr>
          <p:cNvSpPr txBox="1"/>
          <p:nvPr/>
        </p:nvSpPr>
        <p:spPr>
          <a:xfrm>
            <a:off x="7273597" y="5045102"/>
            <a:ext cx="707539" cy="276999"/>
          </a:xfrm>
          <a:prstGeom prst="rect">
            <a:avLst/>
          </a:prstGeom>
          <a:noFill/>
        </p:spPr>
        <p:txBody>
          <a:bodyPr wrap="square" lIns="0" rIns="0" rtlCol="0" anchor="ctr" anchorCtr="0">
            <a:noAutofit/>
          </a:bodyPr>
          <a:lstStyle/>
          <a:p>
            <a:pPr algn="ctr"/>
            <a:r>
              <a:rPr kumimoji="1" lang="zh-CN" altLang="en-US" sz="1200" dirty="0">
                <a:latin typeface="+mn-ea"/>
                <a:cs typeface="DengXian" charset="-122"/>
              </a:rPr>
              <a:t>内核</a:t>
            </a:r>
            <a:r>
              <a:rPr kumimoji="1" lang="en-US" altLang="zh-CN" sz="1200" dirty="0">
                <a:latin typeface="+mn-ea"/>
                <a:cs typeface="DengXian" charset="-122"/>
              </a:rPr>
              <a:t>ASID</a:t>
            </a:r>
          </a:p>
        </p:txBody>
      </p:sp>
      <p:sp>
        <p:nvSpPr>
          <p:cNvPr id="61" name="文本框 60">
            <a:extLst>
              <a:ext uri="{FF2B5EF4-FFF2-40B4-BE49-F238E27FC236}">
                <a16:creationId xmlns:a16="http://schemas.microsoft.com/office/drawing/2014/main" id="{82405264-ED2E-1E49-ADE5-AB8B1AE10898}"/>
              </a:ext>
            </a:extLst>
          </p:cNvPr>
          <p:cNvSpPr txBox="1"/>
          <p:nvPr/>
        </p:nvSpPr>
        <p:spPr>
          <a:xfrm>
            <a:off x="5796136" y="4389815"/>
            <a:ext cx="547761" cy="276999"/>
          </a:xfrm>
          <a:prstGeom prst="rect">
            <a:avLst/>
          </a:prstGeom>
          <a:noFill/>
        </p:spPr>
        <p:txBody>
          <a:bodyPr wrap="square" lIns="0" rIns="0" rtlCol="0" anchor="ctr" anchorCtr="0">
            <a:noAutofit/>
          </a:bodyPr>
          <a:lstStyle/>
          <a:p>
            <a:pPr algn="ctr"/>
            <a:r>
              <a:rPr kumimoji="1" lang="en-US" altLang="zh-CN" sz="1200" dirty="0">
                <a:latin typeface="+mn-ea"/>
                <a:cs typeface="DengXian" charset="-122"/>
              </a:rPr>
              <a:t>ASID</a:t>
            </a:r>
            <a:r>
              <a:rPr kumimoji="1" lang="zh-CN" altLang="en-US" sz="1200" dirty="0">
                <a:latin typeface="+mn-ea"/>
                <a:cs typeface="DengXian" charset="-122"/>
              </a:rPr>
              <a:t>对</a:t>
            </a:r>
          </a:p>
        </p:txBody>
      </p:sp>
      <p:sp>
        <p:nvSpPr>
          <p:cNvPr id="62" name="矩形 61">
            <a:extLst>
              <a:ext uri="{FF2B5EF4-FFF2-40B4-BE49-F238E27FC236}">
                <a16:creationId xmlns:a16="http://schemas.microsoft.com/office/drawing/2014/main" id="{D6771EAA-C734-844C-AFF8-2B1BE78BF9B2}"/>
              </a:ext>
            </a:extLst>
          </p:cNvPr>
          <p:cNvSpPr/>
          <p:nvPr/>
        </p:nvSpPr>
        <p:spPr>
          <a:xfrm>
            <a:off x="5972773" y="4806271"/>
            <a:ext cx="144000" cy="243436"/>
          </a:xfrm>
          <a:prstGeom prst="rect">
            <a:avLst/>
          </a:prstGeom>
          <a:solidFill>
            <a:srgbClr val="FFC6DC"/>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200" dirty="0">
                <a:solidFill>
                  <a:srgbClr val="FF2F92"/>
                </a:solidFill>
                <a:latin typeface="+mn-ea"/>
              </a:rPr>
              <a:t>1</a:t>
            </a:r>
            <a:endParaRPr kumimoji="1" lang="zh-CN" altLang="en-US" sz="1200" dirty="0">
              <a:solidFill>
                <a:srgbClr val="FF2F92"/>
              </a:solidFill>
              <a:latin typeface="+mn-ea"/>
            </a:endParaRPr>
          </a:p>
        </p:txBody>
      </p:sp>
      <p:sp>
        <p:nvSpPr>
          <p:cNvPr id="63" name="矩形 62">
            <a:extLst>
              <a:ext uri="{FF2B5EF4-FFF2-40B4-BE49-F238E27FC236}">
                <a16:creationId xmlns:a16="http://schemas.microsoft.com/office/drawing/2014/main" id="{5840FE42-B405-F641-B7E7-34CD3D4145EF}"/>
              </a:ext>
            </a:extLst>
          </p:cNvPr>
          <p:cNvSpPr/>
          <p:nvPr/>
        </p:nvSpPr>
        <p:spPr>
          <a:xfrm>
            <a:off x="5972773" y="5051374"/>
            <a:ext cx="144000" cy="243436"/>
          </a:xfrm>
          <a:prstGeom prst="rect">
            <a:avLst/>
          </a:prstGeom>
          <a:solidFill>
            <a:srgbClr val="C8EFFD"/>
          </a:solidFill>
          <a:ln w="25400">
            <a:solidFill>
              <a:schemeClr val="tx1"/>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kumimoji="1" lang="en-US" altLang="zh-CN" sz="1200" dirty="0">
                <a:solidFill>
                  <a:srgbClr val="FF2F92"/>
                </a:solidFill>
                <a:latin typeface="+mn-ea"/>
              </a:rPr>
              <a:t>0</a:t>
            </a:r>
            <a:endParaRPr kumimoji="1" lang="zh-CN" altLang="en-US" sz="1200" dirty="0">
              <a:solidFill>
                <a:srgbClr val="FF2F92"/>
              </a:solidFill>
              <a:latin typeface="+mn-ea"/>
            </a:endParaRPr>
          </a:p>
        </p:txBody>
      </p:sp>
      <p:sp>
        <p:nvSpPr>
          <p:cNvPr id="68" name="文本框 67">
            <a:extLst>
              <a:ext uri="{FF2B5EF4-FFF2-40B4-BE49-F238E27FC236}">
                <a16:creationId xmlns:a16="http://schemas.microsoft.com/office/drawing/2014/main" id="{99023407-6B0D-3B4F-BABB-B9ED8A3847B0}"/>
              </a:ext>
            </a:extLst>
          </p:cNvPr>
          <p:cNvSpPr txBox="1"/>
          <p:nvPr/>
        </p:nvSpPr>
        <p:spPr>
          <a:xfrm>
            <a:off x="6948264" y="2380651"/>
            <a:ext cx="877126" cy="276999"/>
          </a:xfrm>
          <a:prstGeom prst="rect">
            <a:avLst/>
          </a:prstGeom>
          <a:noFill/>
        </p:spPr>
        <p:txBody>
          <a:bodyPr wrap="square" lIns="0" rIns="0" rtlCol="0" anchor="ctr" anchorCtr="0">
            <a:noAutofit/>
          </a:bodyPr>
          <a:lstStyle/>
          <a:p>
            <a:pPr algn="ctr"/>
            <a:r>
              <a:rPr kumimoji="1" lang="en-US" altLang="zh-CN" sz="1200" dirty="0">
                <a:latin typeface="+mn-ea"/>
                <a:cs typeface="DengXian" charset="-122"/>
              </a:rPr>
              <a:t>CR3[12]=</a:t>
            </a:r>
            <a:r>
              <a:rPr kumimoji="1" lang="en-US" altLang="zh-CN" sz="1200" dirty="0">
                <a:solidFill>
                  <a:srgbClr val="FF2F92"/>
                </a:solidFill>
                <a:latin typeface="+mn-ea"/>
                <a:cs typeface="DengXian" charset="-122"/>
              </a:rPr>
              <a:t>1</a:t>
            </a:r>
            <a:endParaRPr kumimoji="1" lang="zh-CN" altLang="en-US" sz="1200" dirty="0">
              <a:solidFill>
                <a:srgbClr val="FF2F92"/>
              </a:solidFill>
              <a:latin typeface="+mn-ea"/>
              <a:cs typeface="DengXian" charset="-122"/>
            </a:endParaRPr>
          </a:p>
        </p:txBody>
      </p:sp>
      <p:sp>
        <p:nvSpPr>
          <p:cNvPr id="71" name="文本框 70">
            <a:extLst>
              <a:ext uri="{FF2B5EF4-FFF2-40B4-BE49-F238E27FC236}">
                <a16:creationId xmlns:a16="http://schemas.microsoft.com/office/drawing/2014/main" id="{15CFCE6F-815B-A445-84E6-2A170197515D}"/>
              </a:ext>
            </a:extLst>
          </p:cNvPr>
          <p:cNvSpPr txBox="1"/>
          <p:nvPr/>
        </p:nvSpPr>
        <p:spPr>
          <a:xfrm>
            <a:off x="6948264" y="2798215"/>
            <a:ext cx="877126" cy="276999"/>
          </a:xfrm>
          <a:prstGeom prst="rect">
            <a:avLst/>
          </a:prstGeom>
          <a:noFill/>
        </p:spPr>
        <p:txBody>
          <a:bodyPr wrap="square" lIns="0" rIns="0" rtlCol="0" anchor="ctr" anchorCtr="0">
            <a:noAutofit/>
          </a:bodyPr>
          <a:lstStyle/>
          <a:p>
            <a:pPr algn="ctr"/>
            <a:r>
              <a:rPr kumimoji="1" lang="en-US" altLang="zh-CN" sz="1200" dirty="0">
                <a:latin typeface="+mn-ea"/>
                <a:cs typeface="DengXian" charset="-122"/>
              </a:rPr>
              <a:t>CR3[12]=</a:t>
            </a:r>
            <a:r>
              <a:rPr kumimoji="1" lang="en-US" altLang="zh-CN" sz="1200" dirty="0">
                <a:solidFill>
                  <a:srgbClr val="FF2F92"/>
                </a:solidFill>
                <a:latin typeface="+mn-ea"/>
                <a:cs typeface="DengXian" charset="-122"/>
              </a:rPr>
              <a:t>0</a:t>
            </a:r>
            <a:endParaRPr kumimoji="1" lang="zh-CN" altLang="en-US" sz="1200" dirty="0">
              <a:solidFill>
                <a:srgbClr val="FF2F92"/>
              </a:solidFill>
              <a:latin typeface="+mn-ea"/>
              <a:cs typeface="DengXian" charset="-122"/>
            </a:endParaRPr>
          </a:p>
        </p:txBody>
      </p:sp>
      <p:cxnSp>
        <p:nvCxnSpPr>
          <p:cNvPr id="74" name="直线箭头连接符 73">
            <a:extLst>
              <a:ext uri="{FF2B5EF4-FFF2-40B4-BE49-F238E27FC236}">
                <a16:creationId xmlns:a16="http://schemas.microsoft.com/office/drawing/2014/main" id="{42B62EA1-C426-0F4F-BC6D-A0418EC2C56F}"/>
              </a:ext>
            </a:extLst>
          </p:cNvPr>
          <p:cNvCxnSpPr/>
          <p:nvPr/>
        </p:nvCxnSpPr>
        <p:spPr>
          <a:xfrm>
            <a:off x="7250916" y="2610789"/>
            <a:ext cx="0" cy="236599"/>
          </a:xfrm>
          <a:prstGeom prst="straightConnector1">
            <a:avLst/>
          </a:prstGeom>
          <a:ln w="15875">
            <a:solidFill>
              <a:srgbClr val="FF2F92"/>
            </a:solidFill>
            <a:tailEnd type="triangle"/>
          </a:ln>
        </p:spPr>
        <p:style>
          <a:lnRef idx="1">
            <a:schemeClr val="accent1"/>
          </a:lnRef>
          <a:fillRef idx="0">
            <a:schemeClr val="accent1"/>
          </a:fillRef>
          <a:effectRef idx="0">
            <a:schemeClr val="accent1"/>
          </a:effectRef>
          <a:fontRef idx="minor">
            <a:schemeClr val="tx1"/>
          </a:fontRef>
        </p:style>
      </p:cxnSp>
      <p:cxnSp>
        <p:nvCxnSpPr>
          <p:cNvPr id="75" name="直线箭头连接符 74">
            <a:extLst>
              <a:ext uri="{FF2B5EF4-FFF2-40B4-BE49-F238E27FC236}">
                <a16:creationId xmlns:a16="http://schemas.microsoft.com/office/drawing/2014/main" id="{D8C58553-3730-F749-85E4-82D710A6A1D0}"/>
              </a:ext>
            </a:extLst>
          </p:cNvPr>
          <p:cNvCxnSpPr/>
          <p:nvPr/>
        </p:nvCxnSpPr>
        <p:spPr>
          <a:xfrm>
            <a:off x="7413558" y="2610789"/>
            <a:ext cx="0" cy="236599"/>
          </a:xfrm>
          <a:prstGeom prst="straightConnector1">
            <a:avLst/>
          </a:prstGeom>
          <a:ln w="15875">
            <a:solidFill>
              <a:srgbClr val="FF2F92"/>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9973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4">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animBg="1"/>
      <p:bldP spid="56" grpId="0"/>
      <p:bldP spid="57" grpId="0" animBg="1"/>
      <p:bldP spid="58" grpId="0" animBg="1"/>
      <p:bldP spid="60" grpId="0"/>
      <p:bldP spid="61" grpId="0"/>
      <p:bldP spid="62" grpId="0" animBg="1"/>
      <p:bldP spid="6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latin typeface="+mn-lt"/>
              </a:rPr>
              <a:t>总结</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62</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124394"/>
            <a:ext cx="8229600" cy="3949744"/>
          </a:xfrm>
        </p:spPr>
        <p:txBody>
          <a:bodyPr>
            <a:noAutofit/>
          </a:bodyPr>
          <a:lstStyle/>
          <a:p>
            <a:r>
              <a:rPr lang="en-US" altLang="zh-CN" sz="2400" dirty="0">
                <a:sym typeface="Wingdings" pitchFamily="2" charset="2"/>
              </a:rPr>
              <a:t>Meltdown</a:t>
            </a:r>
            <a:r>
              <a:rPr lang="zh-CN" altLang="en-US" sz="2400" dirty="0">
                <a:sym typeface="Wingdings" pitchFamily="2" charset="2"/>
              </a:rPr>
              <a:t>漏洞</a:t>
            </a:r>
            <a:endParaRPr lang="en-US" altLang="zh-CN" sz="2400" dirty="0">
              <a:sym typeface="Wingdings" pitchFamily="2" charset="2"/>
            </a:endParaRPr>
          </a:p>
          <a:p>
            <a:pPr lvl="1"/>
            <a:r>
              <a:rPr lang="zh-CN" altLang="en-US" sz="2000" dirty="0"/>
              <a:t>综合利用硬件漏洞与侧信道的全新攻击方法</a:t>
            </a:r>
            <a:endParaRPr lang="en-US" altLang="zh-CN" sz="2000" dirty="0"/>
          </a:p>
          <a:p>
            <a:pPr lvl="2"/>
            <a:r>
              <a:rPr lang="zh-CN" altLang="en-US" sz="1600" dirty="0"/>
              <a:t>影响几乎所有的主流处理器（包括</a:t>
            </a:r>
            <a:r>
              <a:rPr lang="en" altLang="zh-CN" sz="1600" dirty="0"/>
              <a:t>Intel</a:t>
            </a:r>
            <a:r>
              <a:rPr lang="zh-CN" altLang="en" sz="1600" dirty="0"/>
              <a:t>、</a:t>
            </a:r>
            <a:r>
              <a:rPr lang="en" altLang="zh-CN" sz="1600" dirty="0"/>
              <a:t>AMD</a:t>
            </a:r>
            <a:r>
              <a:rPr lang="zh-CN" altLang="en-US" sz="1600" dirty="0"/>
              <a:t>和部分</a:t>
            </a:r>
            <a:r>
              <a:rPr lang="en" altLang="zh-CN" sz="1600" dirty="0"/>
              <a:t>ARM</a:t>
            </a:r>
            <a:r>
              <a:rPr lang="zh-CN" altLang="en-US" sz="1600" dirty="0"/>
              <a:t>）</a:t>
            </a:r>
            <a:endParaRPr lang="en" altLang="zh-CN" sz="1600" dirty="0"/>
          </a:p>
          <a:p>
            <a:pPr lvl="1"/>
            <a:r>
              <a:rPr lang="zh-CN" altLang="en-US" sz="2000" dirty="0">
                <a:sym typeface="Wingdings" pitchFamily="2" charset="2"/>
              </a:rPr>
              <a:t>绕过页表中的内核权限，直接窃取任意内核数据</a:t>
            </a:r>
            <a:endParaRPr lang="en-US" altLang="zh-CN" sz="2000" dirty="0">
              <a:sym typeface="Wingdings" pitchFamily="2" charset="2"/>
            </a:endParaRPr>
          </a:p>
          <a:p>
            <a:r>
              <a:rPr lang="en-US" altLang="zh-CN" sz="2400" dirty="0">
                <a:sym typeface="Wingdings" pitchFamily="2" charset="2"/>
              </a:rPr>
              <a:t>KPTI</a:t>
            </a:r>
            <a:r>
              <a:rPr lang="zh-CN" altLang="en-US" sz="2400" dirty="0">
                <a:sym typeface="Wingdings" pitchFamily="2" charset="2"/>
              </a:rPr>
              <a:t> </a:t>
            </a:r>
            <a:r>
              <a:rPr lang="en-US" altLang="zh-CN" sz="2400" dirty="0">
                <a:sym typeface="Wingdings" pitchFamily="2" charset="2"/>
              </a:rPr>
              <a:t>(Kernel</a:t>
            </a:r>
            <a:r>
              <a:rPr lang="zh-CN" altLang="en-US" sz="2400" dirty="0">
                <a:sym typeface="Wingdings" pitchFamily="2" charset="2"/>
              </a:rPr>
              <a:t> </a:t>
            </a:r>
            <a:r>
              <a:rPr lang="en-US" altLang="zh-CN" sz="2400" dirty="0">
                <a:sym typeface="Wingdings" pitchFamily="2" charset="2"/>
              </a:rPr>
              <a:t>Page</a:t>
            </a:r>
            <a:r>
              <a:rPr lang="zh-CN" altLang="en-US" sz="2400" dirty="0">
                <a:sym typeface="Wingdings" pitchFamily="2" charset="2"/>
              </a:rPr>
              <a:t> </a:t>
            </a:r>
            <a:r>
              <a:rPr lang="en-US" altLang="zh-CN" sz="2400" dirty="0">
                <a:sym typeface="Wingdings" pitchFamily="2" charset="2"/>
              </a:rPr>
              <a:t>Table</a:t>
            </a:r>
            <a:r>
              <a:rPr lang="zh-CN" altLang="en-US" sz="2400" dirty="0">
                <a:sym typeface="Wingdings" pitchFamily="2" charset="2"/>
              </a:rPr>
              <a:t> </a:t>
            </a:r>
            <a:r>
              <a:rPr lang="en-US" altLang="zh-CN" sz="2400" dirty="0">
                <a:sym typeface="Wingdings" pitchFamily="2" charset="2"/>
              </a:rPr>
              <a:t>Isolation)</a:t>
            </a:r>
          </a:p>
          <a:p>
            <a:pPr lvl="1"/>
            <a:r>
              <a:rPr lang="zh-CN" altLang="en-US" sz="2000" dirty="0">
                <a:sym typeface="Wingdings" pitchFamily="2" charset="2"/>
              </a:rPr>
              <a:t>通过分离用户态与内核态页表，进行</a:t>
            </a:r>
            <a:r>
              <a:rPr lang="en-US" altLang="zh-CN" sz="2000" dirty="0">
                <a:sym typeface="Wingdings" pitchFamily="2" charset="2"/>
              </a:rPr>
              <a:t>Meltdown</a:t>
            </a:r>
            <a:r>
              <a:rPr lang="zh-CN" altLang="en-US" sz="2000" dirty="0">
                <a:sym typeface="Wingdings" pitchFamily="2" charset="2"/>
              </a:rPr>
              <a:t>漏洞防御</a:t>
            </a:r>
            <a:endParaRPr lang="en-US" altLang="zh-CN" sz="2000" dirty="0">
              <a:sym typeface="Wingdings" pitchFamily="2" charset="2"/>
            </a:endParaRPr>
          </a:p>
          <a:p>
            <a:pPr lvl="2"/>
            <a:r>
              <a:rPr lang="en-US" altLang="zh-CN" sz="1600" dirty="0">
                <a:sym typeface="Wingdings" pitchFamily="2" charset="2"/>
              </a:rPr>
              <a:t>Meltdown</a:t>
            </a:r>
            <a:r>
              <a:rPr lang="zh-CN" altLang="en-US" sz="1600" dirty="0">
                <a:sym typeface="Wingdings" pitchFamily="2" charset="2"/>
              </a:rPr>
              <a:t>无法从无映射的虚拟地址窃取数据</a:t>
            </a:r>
            <a:endParaRPr lang="en-US" altLang="zh-CN" sz="1600" dirty="0">
              <a:sym typeface="Wingdings" pitchFamily="2" charset="2"/>
            </a:endParaRPr>
          </a:p>
          <a:p>
            <a:pPr lvl="1"/>
            <a:r>
              <a:rPr lang="zh-CN" altLang="en-US" sz="2000" dirty="0">
                <a:sym typeface="Wingdings" pitchFamily="2" charset="2"/>
              </a:rPr>
              <a:t>利用</a:t>
            </a:r>
            <a:r>
              <a:rPr lang="en-US" altLang="zh-CN" sz="2000" dirty="0">
                <a:sym typeface="Wingdings" pitchFamily="2" charset="2"/>
              </a:rPr>
              <a:t>ASID</a:t>
            </a:r>
            <a:r>
              <a:rPr lang="zh-CN" altLang="en-US" sz="2000" dirty="0">
                <a:sym typeface="Wingdings" pitchFamily="2" charset="2"/>
              </a:rPr>
              <a:t>等硬件特性提升性能</a:t>
            </a:r>
            <a:endParaRPr lang="en-US" altLang="zh-CN" sz="2000" dirty="0">
              <a:sym typeface="Wingdings" pitchFamily="2" charset="2"/>
            </a:endParaRPr>
          </a:p>
          <a:p>
            <a:pPr lvl="2"/>
            <a:r>
              <a:rPr lang="zh-CN" altLang="en-US" sz="1600" dirty="0">
                <a:sym typeface="Wingdings" pitchFamily="2" charset="2"/>
              </a:rPr>
              <a:t>消除内核进出时非必要的</a:t>
            </a:r>
            <a:r>
              <a:rPr lang="en-US" altLang="zh-CN" sz="1600" dirty="0">
                <a:sym typeface="Wingdings" pitchFamily="2" charset="2"/>
              </a:rPr>
              <a:t>TLB</a:t>
            </a:r>
            <a:r>
              <a:rPr lang="zh-CN" altLang="en-US" sz="1600" dirty="0">
                <a:sym typeface="Wingdings" pitchFamily="2" charset="2"/>
              </a:rPr>
              <a:t>刷新操作</a:t>
            </a:r>
            <a:endParaRPr lang="en-US" altLang="zh-CN" sz="2000" dirty="0">
              <a:sym typeface="Wingdings" pitchFamily="2" charset="2"/>
            </a:endParaRPr>
          </a:p>
        </p:txBody>
      </p:sp>
    </p:spTree>
    <p:extLst>
      <p:ext uri="{BB962C8B-B14F-4D97-AF65-F5344CB8AC3E}">
        <p14:creationId xmlns:p14="http://schemas.microsoft.com/office/powerpoint/2010/main" val="307650382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sz="3200" dirty="0">
                <a:latin typeface="+mn-lt"/>
              </a:rPr>
              <a:t>课后练习（选做）</a:t>
            </a:r>
          </a:p>
        </p:txBody>
      </p:sp>
      <p:sp>
        <p:nvSpPr>
          <p:cNvPr id="4" name="灯片编号占位符 3"/>
          <p:cNvSpPr>
            <a:spLocks noGrp="1"/>
          </p:cNvSpPr>
          <p:nvPr>
            <p:ph type="sldNum" sz="quarter" idx="12"/>
          </p:nvPr>
        </p:nvSpPr>
        <p:spPr/>
        <p:txBody>
          <a:bodyPr/>
          <a:lstStyle/>
          <a:p>
            <a:fld id="{ADE361C3-C043-4A6E-BDCE-8DA1E7D90A3B}" type="slidenum">
              <a:rPr lang="zh-CN" altLang="en-US" smtClean="0">
                <a:latin typeface="+mn-lt"/>
              </a:rPr>
              <a:t>63</a:t>
            </a:fld>
            <a:endParaRPr lang="zh-CN" altLang="en-US" dirty="0">
              <a:latin typeface="+mn-lt"/>
            </a:endParaRPr>
          </a:p>
        </p:txBody>
      </p:sp>
      <p:sp>
        <p:nvSpPr>
          <p:cNvPr id="59" name="内容占位符 2">
            <a:extLst>
              <a:ext uri="{FF2B5EF4-FFF2-40B4-BE49-F238E27FC236}">
                <a16:creationId xmlns:a16="http://schemas.microsoft.com/office/drawing/2014/main" id="{43E547C8-1D06-4541-AF27-31DB15700024}"/>
              </a:ext>
            </a:extLst>
          </p:cNvPr>
          <p:cNvSpPr>
            <a:spLocks noGrp="1"/>
          </p:cNvSpPr>
          <p:nvPr>
            <p:ph idx="1"/>
          </p:nvPr>
        </p:nvSpPr>
        <p:spPr>
          <a:xfrm>
            <a:off x="457200" y="1124394"/>
            <a:ext cx="8229600" cy="3949744"/>
          </a:xfrm>
        </p:spPr>
        <p:txBody>
          <a:bodyPr>
            <a:noAutofit/>
          </a:bodyPr>
          <a:lstStyle/>
          <a:p>
            <a:r>
              <a:rPr lang="en-US" altLang="zh-CN" sz="2400" dirty="0">
                <a:sym typeface="Wingdings" pitchFamily="2" charset="2"/>
              </a:rPr>
              <a:t>Meltdown</a:t>
            </a:r>
            <a:r>
              <a:rPr lang="zh-CN" altLang="en-US" sz="2400" dirty="0">
                <a:sym typeface="Wingdings" pitchFamily="2" charset="2"/>
              </a:rPr>
              <a:t>漏洞利用</a:t>
            </a:r>
            <a:endParaRPr lang="en-US" altLang="zh-CN" sz="2400" dirty="0">
              <a:sym typeface="Wingdings" pitchFamily="2" charset="2"/>
            </a:endParaRPr>
          </a:p>
          <a:p>
            <a:pPr lvl="1"/>
            <a:r>
              <a:rPr lang="zh-CN" altLang="en-US" sz="2000" dirty="0"/>
              <a:t>查看自己的</a:t>
            </a:r>
            <a:r>
              <a:rPr lang="en-US" altLang="zh-CN" sz="2000" dirty="0"/>
              <a:t>Linux</a:t>
            </a:r>
            <a:r>
              <a:rPr lang="zh-CN" altLang="en-US" sz="2000" dirty="0"/>
              <a:t>环境是否启用了</a:t>
            </a:r>
            <a:r>
              <a:rPr lang="en-US" altLang="zh-CN" sz="2000" dirty="0"/>
              <a:t>KPTI</a:t>
            </a:r>
          </a:p>
          <a:p>
            <a:pPr lvl="1"/>
            <a:r>
              <a:rPr lang="zh-CN" altLang="en-US" sz="2000" dirty="0"/>
              <a:t>关闭</a:t>
            </a:r>
            <a:r>
              <a:rPr lang="en-US" altLang="zh-CN" sz="2000" dirty="0"/>
              <a:t>KPTI</a:t>
            </a:r>
            <a:r>
              <a:rPr lang="zh-CN" altLang="en-US" sz="2000" dirty="0"/>
              <a:t>，尝试在自己</a:t>
            </a:r>
            <a:r>
              <a:rPr lang="zh-CN" altLang="en-US" sz="2000"/>
              <a:t>的电脑上</a:t>
            </a:r>
            <a:r>
              <a:rPr lang="zh-CN" altLang="en-US" sz="2000" dirty="0"/>
              <a:t>复现</a:t>
            </a:r>
            <a:r>
              <a:rPr lang="en-US" altLang="zh-CN" sz="2000" dirty="0"/>
              <a:t>Meltdown</a:t>
            </a:r>
            <a:r>
              <a:rPr lang="zh-CN" altLang="en-US" sz="2000" dirty="0"/>
              <a:t>攻击</a:t>
            </a:r>
            <a:endParaRPr lang="en-US" altLang="zh-CN" sz="2000" dirty="0"/>
          </a:p>
          <a:p>
            <a:pPr lvl="2"/>
            <a:r>
              <a:rPr lang="zh-CN" altLang="en-US" sz="1600" dirty="0"/>
              <a:t>参考</a:t>
            </a:r>
            <a:r>
              <a:rPr lang="en-US" altLang="zh-CN" sz="1600" dirty="0" err="1"/>
              <a:t>PoC</a:t>
            </a:r>
            <a:r>
              <a:rPr lang="zh-CN" altLang="en-US" sz="1600" dirty="0"/>
              <a:t>：</a:t>
            </a:r>
            <a:r>
              <a:rPr lang="en" altLang="zh-CN" sz="1600" dirty="0"/>
              <a:t>https://</a:t>
            </a:r>
            <a:r>
              <a:rPr lang="en" altLang="zh-CN" sz="1600" dirty="0" err="1"/>
              <a:t>github.com</a:t>
            </a:r>
            <a:r>
              <a:rPr lang="en" altLang="zh-CN" sz="1600" dirty="0"/>
              <a:t>/</a:t>
            </a:r>
            <a:r>
              <a:rPr lang="en" altLang="zh-CN" sz="1600" dirty="0" err="1"/>
              <a:t>paboldin</a:t>
            </a:r>
            <a:r>
              <a:rPr lang="en" altLang="zh-CN" sz="1600" dirty="0"/>
              <a:t>/meltdown-exploit</a:t>
            </a:r>
            <a:endParaRPr lang="en-US" altLang="zh-CN" sz="2000" dirty="0">
              <a:sym typeface="Wingdings" pitchFamily="2" charset="2"/>
            </a:endParaRPr>
          </a:p>
          <a:p>
            <a:r>
              <a:rPr lang="zh-CN" altLang="en-US" sz="2400" dirty="0">
                <a:sym typeface="Wingdings" pitchFamily="2" charset="2"/>
              </a:rPr>
              <a:t>了解</a:t>
            </a:r>
            <a:r>
              <a:rPr lang="en-US" altLang="zh-CN" sz="2400" dirty="0">
                <a:sym typeface="Wingdings" pitchFamily="2" charset="2"/>
              </a:rPr>
              <a:t>Spectre</a:t>
            </a:r>
            <a:r>
              <a:rPr lang="zh-CN" altLang="en-US" sz="2400" dirty="0">
                <a:sym typeface="Wingdings" pitchFamily="2" charset="2"/>
              </a:rPr>
              <a:t>（幽灵）漏洞</a:t>
            </a:r>
            <a:endParaRPr lang="en-US" altLang="zh-CN" sz="2400" dirty="0">
              <a:sym typeface="Wingdings" pitchFamily="2" charset="2"/>
            </a:endParaRPr>
          </a:p>
          <a:p>
            <a:pPr lvl="1"/>
            <a:r>
              <a:rPr lang="en-US" altLang="zh-CN" sz="2000" dirty="0">
                <a:sym typeface="Wingdings" pitchFamily="2" charset="2"/>
              </a:rPr>
              <a:t>Spectre</a:t>
            </a:r>
            <a:r>
              <a:rPr lang="zh-CN" altLang="en-US" sz="2000" dirty="0">
                <a:sym typeface="Wingdings" pitchFamily="2" charset="2"/>
              </a:rPr>
              <a:t>漏洞与</a:t>
            </a:r>
            <a:r>
              <a:rPr lang="en-US" altLang="zh-CN" sz="2000" dirty="0">
                <a:sym typeface="Wingdings" pitchFamily="2" charset="2"/>
              </a:rPr>
              <a:t>Meltdown</a:t>
            </a:r>
            <a:r>
              <a:rPr lang="zh-CN" altLang="en-US" sz="2000" dirty="0">
                <a:sym typeface="Wingdings" pitchFamily="2" charset="2"/>
              </a:rPr>
              <a:t>漏洞的原理有何异同？</a:t>
            </a:r>
            <a:endParaRPr lang="en-US" altLang="zh-CN" sz="2000" dirty="0">
              <a:sym typeface="Wingdings" pitchFamily="2" charset="2"/>
            </a:endParaRPr>
          </a:p>
          <a:p>
            <a:pPr lvl="1"/>
            <a:r>
              <a:rPr lang="zh-CN" altLang="en-US" sz="2000" dirty="0">
                <a:sym typeface="Wingdings" pitchFamily="2" charset="2"/>
              </a:rPr>
              <a:t>尝试在自己的电脑上复现</a:t>
            </a:r>
            <a:r>
              <a:rPr lang="en-US" altLang="zh-CN" sz="2000" dirty="0">
                <a:sym typeface="Wingdings" pitchFamily="2" charset="2"/>
              </a:rPr>
              <a:t>Spectre</a:t>
            </a:r>
            <a:r>
              <a:rPr lang="zh-CN" altLang="en-US" sz="2000" dirty="0">
                <a:sym typeface="Wingdings" pitchFamily="2" charset="2"/>
              </a:rPr>
              <a:t>攻击</a:t>
            </a:r>
            <a:endParaRPr lang="en-US" altLang="zh-CN" sz="1600" dirty="0">
              <a:sym typeface="Wingdings" pitchFamily="2" charset="2"/>
            </a:endParaRPr>
          </a:p>
          <a:p>
            <a:pPr lvl="2"/>
            <a:r>
              <a:rPr lang="zh-CN" altLang="en-US" sz="1600" dirty="0">
                <a:sym typeface="Wingdings" pitchFamily="2" charset="2"/>
              </a:rPr>
              <a:t>参考文献：“</a:t>
            </a:r>
            <a:r>
              <a:rPr lang="en" altLang="zh-CN" sz="1600" dirty="0">
                <a:sym typeface="Wingdings" pitchFamily="2" charset="2"/>
              </a:rPr>
              <a:t>Spectre Attacks: Exploiting Speculative Execution</a:t>
            </a:r>
            <a:r>
              <a:rPr lang="zh-CN" altLang="en-US" sz="1600" dirty="0">
                <a:sym typeface="Wingdings" pitchFamily="2" charset="2"/>
              </a:rPr>
              <a:t>”</a:t>
            </a:r>
            <a:endParaRPr lang="en-US" altLang="zh-CN" sz="1600" dirty="0">
              <a:sym typeface="Wingdings" pitchFamily="2" charset="2"/>
            </a:endParaRPr>
          </a:p>
          <a:p>
            <a:pPr lvl="2"/>
            <a:r>
              <a:rPr lang="zh-CN" altLang="en-US" sz="1600" dirty="0">
                <a:sym typeface="Wingdings" pitchFamily="2" charset="2"/>
              </a:rPr>
              <a:t>参考</a:t>
            </a:r>
            <a:r>
              <a:rPr lang="en-US" altLang="zh-CN" sz="1600" dirty="0" err="1">
                <a:sym typeface="Wingdings" pitchFamily="2" charset="2"/>
              </a:rPr>
              <a:t>PoC</a:t>
            </a:r>
            <a:r>
              <a:rPr lang="zh-CN" altLang="en-US" sz="1600" dirty="0">
                <a:sym typeface="Wingdings" pitchFamily="2" charset="2"/>
              </a:rPr>
              <a:t>：</a:t>
            </a:r>
            <a:r>
              <a:rPr lang="en-US" altLang="zh-CN" sz="1600" dirty="0">
                <a:sym typeface="Wingdings" pitchFamily="2" charset="2"/>
              </a:rPr>
              <a:t>https://</a:t>
            </a:r>
            <a:r>
              <a:rPr lang="en-US" altLang="zh-CN" sz="1600" dirty="0" err="1">
                <a:sym typeface="Wingdings" pitchFamily="2" charset="2"/>
              </a:rPr>
              <a:t>github.com</a:t>
            </a:r>
            <a:r>
              <a:rPr lang="en-US" altLang="zh-CN" sz="1600" dirty="0">
                <a:sym typeface="Wingdings" pitchFamily="2" charset="2"/>
              </a:rPr>
              <a:t>/</a:t>
            </a:r>
            <a:r>
              <a:rPr lang="en-US" altLang="zh-CN" sz="1600" dirty="0" err="1">
                <a:sym typeface="Wingdings" pitchFamily="2" charset="2"/>
              </a:rPr>
              <a:t>flxwu</a:t>
            </a:r>
            <a:r>
              <a:rPr lang="en-US" altLang="zh-CN" sz="1600" dirty="0">
                <a:sym typeface="Wingdings" pitchFamily="2" charset="2"/>
              </a:rPr>
              <a:t>/</a:t>
            </a:r>
            <a:r>
              <a:rPr lang="en-US" altLang="zh-CN" sz="1600" dirty="0" err="1">
                <a:sym typeface="Wingdings" pitchFamily="2" charset="2"/>
              </a:rPr>
              <a:t>spectre</a:t>
            </a:r>
            <a:r>
              <a:rPr lang="en-US" altLang="zh-CN" sz="1600" dirty="0">
                <a:sym typeface="Wingdings" pitchFamily="2" charset="2"/>
              </a:rPr>
              <a:t>-attack-demo</a:t>
            </a:r>
          </a:p>
        </p:txBody>
      </p:sp>
    </p:spTree>
    <p:extLst>
      <p:ext uri="{BB962C8B-B14F-4D97-AF65-F5344CB8AC3E}">
        <p14:creationId xmlns:p14="http://schemas.microsoft.com/office/powerpoint/2010/main" val="1694252454"/>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778495"/>
      </a:dk2>
      <a:lt2>
        <a:srgbClr val="F0F0F0"/>
      </a:lt2>
      <a:accent1>
        <a:srgbClr val="BE384B"/>
      </a:accent1>
      <a:accent2>
        <a:srgbClr val="6A868F"/>
      </a:accent2>
      <a:accent3>
        <a:srgbClr val="32788E"/>
      </a:accent3>
      <a:accent4>
        <a:srgbClr val="D6C88B"/>
      </a:accent4>
      <a:accent5>
        <a:srgbClr val="D66E49"/>
      </a:accent5>
      <a:accent6>
        <a:srgbClr val="BFBFBF"/>
      </a:accent6>
      <a:hlink>
        <a:srgbClr val="BE384B"/>
      </a:hlink>
      <a:folHlink>
        <a:srgbClr val="BFBFBF"/>
      </a:folHlink>
    </a:clrScheme>
    <a:fontScheme name="2obzv3wc">
      <a:majorFont>
        <a:latin typeface="Arial" panose="020B0A04020102020204"/>
        <a:ea typeface="微软雅黑"/>
        <a:cs typeface=""/>
      </a:majorFont>
      <a:minorFont>
        <a:latin typeface="Arial" panose="020B0604020202020204"/>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JTU-Red" id="{D8CCD1CF-4E9C-2949-907F-EF4853CAD992}" vid="{47F94616-763E-7D43-9BB0-722503DC19A3}"/>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SJTU-Red</Template>
  <TotalTime>66568</TotalTime>
  <Words>7399</Words>
  <Application>Microsoft Macintosh PowerPoint</Application>
  <PresentationFormat>全屏显示(16:10)</PresentationFormat>
  <Paragraphs>844</Paragraphs>
  <Slides>63</Slides>
  <Notes>23</Notes>
  <HiddenSlides>3</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63</vt:i4>
      </vt:variant>
    </vt:vector>
  </HeadingPairs>
  <TitlesOfParts>
    <vt:vector size="69" baseType="lpstr">
      <vt:lpstr>DengXian</vt:lpstr>
      <vt:lpstr>微软雅黑</vt:lpstr>
      <vt:lpstr>Arial</vt:lpstr>
      <vt:lpstr>Calibri</vt:lpstr>
      <vt:lpstr>Consolas</vt:lpstr>
      <vt:lpstr>Office 主题​​</vt:lpstr>
      <vt:lpstr>操作系统攻防</vt:lpstr>
      <vt:lpstr>版权声明</vt:lpstr>
      <vt:lpstr>Review: 引用监视器（Reference Monitor）</vt:lpstr>
      <vt:lpstr>Review：认证机制</vt:lpstr>
      <vt:lpstr>Review：访问控制</vt:lpstr>
      <vt:lpstr>权限控制的另一种思路：Capability</vt:lpstr>
      <vt:lpstr>Capability的典型操作</vt:lpstr>
      <vt:lpstr>fd与Capability的类似之处</vt:lpstr>
      <vt:lpstr>Linux的Capability</vt:lpstr>
      <vt:lpstr>DAC与MAC</vt:lpstr>
      <vt:lpstr>Bell-LaPadula 模型</vt:lpstr>
      <vt:lpstr>案例：SELinux</vt:lpstr>
      <vt:lpstr>SELinux的历史</vt:lpstr>
      <vt:lpstr>SELinux、Flask与LSM</vt:lpstr>
      <vt:lpstr>SELinux引入的概念</vt:lpstr>
      <vt:lpstr>SELinux的访问向量</vt:lpstr>
      <vt:lpstr>SELinux的安全上下文</vt:lpstr>
      <vt:lpstr>进程的domain与对象的type</vt:lpstr>
      <vt:lpstr>实例</vt:lpstr>
      <vt:lpstr>操作系统的漏洞</vt:lpstr>
      <vt:lpstr>漏洞分类的三个角度</vt:lpstr>
      <vt:lpstr>操作系统安全很难指标化</vt:lpstr>
      <vt:lpstr>操作系统安全很难指标化</vt:lpstr>
      <vt:lpstr>操作系统内核攻防</vt:lpstr>
      <vt:lpstr>整形溢出漏洞</vt:lpstr>
      <vt:lpstr>Return-to-user攻击（ret2usr）</vt:lpstr>
      <vt:lpstr>ret2usr攻击的防御方法</vt:lpstr>
      <vt:lpstr>SMEP 不能完全解决 ret2usr：ret2dir</vt:lpstr>
      <vt:lpstr>Rootkit：获取内核权限的恶意代码</vt:lpstr>
      <vt:lpstr>KASLR：内核地址布局随机化</vt:lpstr>
      <vt:lpstr>案例：IOS的系统安全</vt:lpstr>
      <vt:lpstr>文件加密保护机制</vt:lpstr>
      <vt:lpstr>进程沙盒机制</vt:lpstr>
      <vt:lpstr>侧信道与隐秘信道</vt:lpstr>
      <vt:lpstr>什么是隐秘信道？</vt:lpstr>
      <vt:lpstr>Review: Guessing Password (Tenex)</vt:lpstr>
      <vt:lpstr>侧信道与隐秘信道的关系</vt:lpstr>
      <vt:lpstr>缓存信道（Cache Channel）</vt:lpstr>
      <vt:lpstr>Flush+Reload</vt:lpstr>
      <vt:lpstr>Flush+Flush</vt:lpstr>
      <vt:lpstr>Evict+Reload</vt:lpstr>
      <vt:lpstr>Prime+Probe</vt:lpstr>
      <vt:lpstr>侧信道攻击的防御</vt:lpstr>
      <vt:lpstr>常量时间（Constant Time）算法</vt:lpstr>
      <vt:lpstr>不经意随机访问内存（ORAM）</vt:lpstr>
      <vt:lpstr>案例分析：Meltdown</vt:lpstr>
      <vt:lpstr>Meltdown漏洞</vt:lpstr>
      <vt:lpstr>背景-1：基于页表权限的内核数据保护</vt:lpstr>
      <vt:lpstr>背景-1：基于页表权限的内核数据保护</vt:lpstr>
      <vt:lpstr>背景-2：CPU投机执行（预测执行）</vt:lpstr>
      <vt:lpstr>Meltdown漏洞原理</vt:lpstr>
      <vt:lpstr>Meltdown漏洞原理</vt:lpstr>
      <vt:lpstr>Meltdown漏洞原理</vt:lpstr>
      <vt:lpstr>Meltdown漏洞原理</vt:lpstr>
      <vt:lpstr>Meltdown漏洞原理</vt:lpstr>
      <vt:lpstr>Meltdown漏洞原理</vt:lpstr>
      <vt:lpstr>Meltdown漏洞危害</vt:lpstr>
      <vt:lpstr>Meltdown漏洞的软件防御方法</vt:lpstr>
      <vt:lpstr>KPTI：Linux的Meltdown漏洞防御机制</vt:lpstr>
      <vt:lpstr>KPTI造成的性能损失</vt:lpstr>
      <vt:lpstr>KPTI：性能优化方法</vt:lpstr>
      <vt:lpstr>总结</vt:lpstr>
      <vt:lpstr>课后练习（选做）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虚拟机隔离与安全</dc:title>
  <dc:creator>Xia Yubin</dc:creator>
  <cp:lastModifiedBy>Yubin Xia</cp:lastModifiedBy>
  <cp:revision>5373</cp:revision>
  <cp:lastPrinted>2016-06-13T07:55:34Z</cp:lastPrinted>
  <dcterms:created xsi:type="dcterms:W3CDTF">2017-11-24T09:35:45Z</dcterms:created>
  <dcterms:modified xsi:type="dcterms:W3CDTF">2022-05-19T05:56:09Z</dcterms:modified>
</cp:coreProperties>
</file>