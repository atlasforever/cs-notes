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1306" r:id="rId2"/>
    <p:sldId id="1359" r:id="rId3"/>
    <p:sldId id="2929" r:id="rId4"/>
    <p:sldId id="2272" r:id="rId5"/>
    <p:sldId id="2281" r:id="rId6"/>
    <p:sldId id="2282" r:id="rId7"/>
    <p:sldId id="2917" r:id="rId8"/>
    <p:sldId id="2918" r:id="rId9"/>
    <p:sldId id="2285" r:id="rId10"/>
    <p:sldId id="2286" r:id="rId11"/>
    <p:sldId id="2287" r:id="rId12"/>
    <p:sldId id="2288" r:id="rId13"/>
    <p:sldId id="2919" r:id="rId14"/>
    <p:sldId id="2252" r:id="rId15"/>
    <p:sldId id="2920" r:id="rId16"/>
    <p:sldId id="2291" r:id="rId17"/>
    <p:sldId id="2921" r:id="rId18"/>
    <p:sldId id="2922" r:id="rId19"/>
    <p:sldId id="2294" r:id="rId20"/>
    <p:sldId id="2295" r:id="rId21"/>
    <p:sldId id="2923" r:id="rId22"/>
    <p:sldId id="2924" r:id="rId23"/>
    <p:sldId id="2925" r:id="rId24"/>
    <p:sldId id="2298" r:id="rId25"/>
    <p:sldId id="2289" r:id="rId26"/>
    <p:sldId id="2228" r:id="rId27"/>
    <p:sldId id="2249" r:id="rId28"/>
    <p:sldId id="2230" r:id="rId29"/>
    <p:sldId id="2231" r:id="rId30"/>
    <p:sldId id="2233" r:id="rId31"/>
    <p:sldId id="2928" r:id="rId32"/>
    <p:sldId id="2927" r:id="rId33"/>
    <p:sldId id="2926" r:id="rId34"/>
    <p:sldId id="2243" r:id="rId35"/>
    <p:sldId id="2245" r:id="rId36"/>
    <p:sldId id="2258" r:id="rId37"/>
    <p:sldId id="2262" r:id="rId38"/>
    <p:sldId id="2270" r:id="rId39"/>
    <p:sldId id="2256" r:id="rId40"/>
    <p:sldId id="2265" r:id="rId41"/>
    <p:sldId id="2260" r:id="rId42"/>
    <p:sldId id="2266" r:id="rId43"/>
    <p:sldId id="2269" r:id="rId44"/>
    <p:sldId id="270" r:id="rId45"/>
    <p:sldId id="2239" r:id="rId46"/>
    <p:sldId id="366" r:id="rId47"/>
    <p:sldId id="396" r:id="rId48"/>
    <p:sldId id="2274" r:id="rId49"/>
    <p:sldId id="2275" r:id="rId50"/>
    <p:sldId id="2276" r:id="rId51"/>
    <p:sldId id="2242" r:id="rId52"/>
    <p:sldId id="2241" r:id="rId53"/>
    <p:sldId id="2255" r:id="rId54"/>
    <p:sldId id="2254" r:id="rId55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878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384B"/>
    <a:srgbClr val="558ED6"/>
    <a:srgbClr val="9BBC59"/>
    <a:srgbClr val="404040"/>
    <a:srgbClr val="FFFF99"/>
    <a:srgbClr val="D5C88B"/>
    <a:srgbClr val="385D8A"/>
    <a:srgbClr val="72893E"/>
    <a:srgbClr val="515151"/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84" autoAdjust="0"/>
    <p:restoredTop sz="75503" autoAdjust="0"/>
  </p:normalViewPr>
  <p:slideViewPr>
    <p:cSldViewPr>
      <p:cViewPr varScale="1">
        <p:scale>
          <a:sx n="91" d="100"/>
          <a:sy n="91" d="100"/>
        </p:scale>
        <p:origin x="208" y="976"/>
      </p:cViewPr>
      <p:guideLst>
        <p:guide orient="horz" pos="1800"/>
        <p:guide pos="3878"/>
        <p:guide pos="2880"/>
      </p:guideLst>
    </p:cSldViewPr>
  </p:slideViewPr>
  <p:outlineViewPr>
    <p:cViewPr>
      <p:scale>
        <a:sx n="33" d="100"/>
        <a:sy n="33" d="100"/>
      </p:scale>
      <p:origin x="0" y="-4452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386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2022/5/24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我们就以</a:t>
            </a:r>
            <a:r>
              <a:rPr kumimoji="1" lang="en-US" altLang="zh-CN" dirty="0"/>
              <a:t>Meltdown</a:t>
            </a:r>
            <a:r>
              <a:rPr kumimoji="1" lang="zh-CN" altLang="en-US" dirty="0"/>
              <a:t>漏洞为例，具体介绍当下高危漏洞的攻击原理以及操作系统对应的防御手段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86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在介绍</a:t>
            </a:r>
            <a:r>
              <a:rPr kumimoji="1" lang="en-US" altLang="zh-CN" dirty="0"/>
              <a:t>Meltdown</a:t>
            </a:r>
            <a:r>
              <a:rPr kumimoji="1" lang="zh-CN" altLang="en-US" dirty="0"/>
              <a:t>漏洞的原理之前，我们先简单回顾一下操作系统对内核数据的保护方法。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操作系统使用硬件提供的页表机制实现对内核内存的访问控制。所有程序均使用虚拟地址进行对内存数据的访问操作，而页表控制了虚拟地址与实际物理地址的转换，并且在转换过程中进行访问权限的检查。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对于内核内存，其会在页表中进行特殊标注，只有运行在内核态的程序才能够访问该内存数据。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当操作系统正常访问内核数据时，在地址翻译的过程中，页表会发现当前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特权级满足内存的权限管控要求，应许访问；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450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而当一个恶意应用企图访问内核内存时，页表会发现当前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处于用户态，与内核内存所要求的的内核态权限不符，从而拒绝本次访问</a:t>
            </a:r>
            <a:r>
              <a:rPr kumimoji="1" lang="en-US" altLang="zh-CN" dirty="0"/>
              <a:t>.</a:t>
            </a:r>
            <a:r>
              <a:rPr kumimoji="1" lang="zh-CN" altLang="en-US" dirty="0"/>
              <a:t>此时，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会触发一个硬件异常，而应用就会看到我们常见的段错误！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页表所提供的用户</a:t>
            </a:r>
            <a:r>
              <a:rPr kumimoji="1" lang="en-US" altLang="zh-CN" dirty="0"/>
              <a:t>/</a:t>
            </a:r>
            <a:r>
              <a:rPr kumimoji="1" lang="zh-CN" altLang="en-US" dirty="0"/>
              <a:t>内核内存权限检查机制，是现在操作系统对内存保护的最核心技术之一。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而</a:t>
            </a:r>
            <a:r>
              <a:rPr kumimoji="1" lang="en-US" altLang="zh-CN" dirty="0"/>
              <a:t>Meltdown</a:t>
            </a:r>
            <a:r>
              <a:rPr kumimoji="1" lang="zh-CN" altLang="en-US" dirty="0"/>
              <a:t>漏洞则能够绕开这一最为核心的内存保护机制，让其形同虚设。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676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Meltdown</a:t>
            </a:r>
            <a:r>
              <a:rPr kumimoji="1" lang="zh-CN" altLang="en-US" dirty="0"/>
              <a:t>漏洞绕开页表隔离机制的主要手段是利用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的投机执行技术，我们对其简单回顾一下。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现代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为了执行效率的提升，其内部会有多个执行单元，能够并发执行多条指令。</a:t>
            </a:r>
            <a:endParaRPr kumimoji="1" lang="en-US" altLang="zh-CN" dirty="0"/>
          </a:p>
          <a:p>
            <a:r>
              <a:rPr kumimoji="1" lang="zh-CN" altLang="en-US" dirty="0"/>
              <a:t>因此，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会投机发射临近的指令进行并发执行，虽然最后所有的指令会被顺序提交，但是指令在执行过程中仍然是并发投机的。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那么由此而来的一个问题是：如果投机执行了错误的指令怎么办？</a:t>
            </a:r>
            <a:endParaRPr kumimoji="1" lang="en-US" altLang="zh-CN" dirty="0"/>
          </a:p>
          <a:p>
            <a:r>
              <a:rPr kumimoji="1" lang="zh-CN" altLang="en-US" dirty="0"/>
              <a:t>例如。。。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CPU</a:t>
            </a:r>
            <a:r>
              <a:rPr kumimoji="1" lang="zh-CN" altLang="en-US" dirty="0"/>
              <a:t>的设计人员考虑到了该问题，对于不该被执行到的指令，处理器会丢弃或者回滚掉漆对所寄存器、内存等执行状态的所有修改。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相信到此，很多同学心中已经产生了一些疑问，面对机器复杂的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结构，设计师能够确保对所有状态的正确回滚</a:t>
            </a:r>
            <a:r>
              <a:rPr kumimoji="1" lang="en-US" altLang="zh-CN" dirty="0"/>
              <a:t>/</a:t>
            </a:r>
            <a:r>
              <a:rPr kumimoji="1" lang="zh-CN" altLang="en-US" dirty="0"/>
              <a:t>。。。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668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相信很多同学已经猜到了</a:t>
            </a:r>
            <a:r>
              <a:rPr kumimoji="1" lang="en-US" altLang="zh-CN" dirty="0"/>
              <a:t>Meltdown</a:t>
            </a:r>
            <a:r>
              <a:rPr kumimoji="1" lang="zh-CN" altLang="en-US" dirty="0"/>
              <a:t>漏洞的大致原理。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漏洞的起因是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的投机执行，正常情况下，当用户发起对内核内存的访问请求，会触发一个内存访问异常。但是由于投机执行机制，该异常不会立刻发生，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仍然会乱序的执行到非法访问的后续执行令；</a:t>
            </a:r>
            <a:endParaRPr kumimoji="1" lang="en-US" altLang="zh-CN" dirty="0"/>
          </a:p>
          <a:p>
            <a:r>
              <a:rPr kumimoji="1" lang="zh-CN" altLang="en-US" dirty="0"/>
              <a:t>而在这个投机执行的小窗口内，应用就能够对内核内存进行非法的访问。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到此其实还没有漏洞，因为正常情况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会回滚这个小窗口中的所有操作，所以即使临时拿到了内核数据，也无法完成攻击。</a:t>
            </a:r>
            <a:endParaRPr kumimoji="1" lang="en-US" altLang="zh-CN" dirty="0"/>
          </a:p>
          <a:p>
            <a:r>
              <a:rPr kumimoji="1" lang="zh-CN" altLang="en-US" dirty="0"/>
              <a:t>但是故障就发生在对于这些状态的丢弃、回滚上。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而造成的结果是，攻击者能够通过观察缓存状态的变化，从而窃取到内核数据。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301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79425" y="768350"/>
            <a:ext cx="614045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/>
              <a:t>我们使用一个简单的例子看一下</a:t>
            </a:r>
            <a:r>
              <a:rPr lang="en-US" altLang="zh-CN" baseline="0" dirty="0"/>
              <a:t>Meltdown</a:t>
            </a:r>
            <a:r>
              <a:rPr lang="zh-CN" altLang="en-US" baseline="0" dirty="0"/>
              <a:t>漏洞是如何工作的。</a:t>
            </a:r>
            <a:endParaRPr lang="en-US" altLang="zh-CN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C753E-1415-4755-9AD0-A4D51D8BE0DD}" type="slidenum">
              <a:rPr lang="en-US" altLang="zh-TW" smtClean="0"/>
              <a:pPr/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20985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79425" y="768350"/>
            <a:ext cx="614045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C753E-1415-4755-9AD0-A4D51D8BE0DD}" type="slidenum">
              <a:rPr lang="en-US" altLang="zh-TW" smtClean="0"/>
              <a:pPr/>
              <a:t>14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96544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79425" y="768350"/>
            <a:ext cx="614045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C753E-1415-4755-9AD0-A4D51D8BE0DD}" type="slidenum">
              <a:rPr lang="en-US" altLang="zh-TW" smtClean="0"/>
              <a:pPr/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23322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79425" y="768350"/>
            <a:ext cx="614045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/>
              <a:t>。。。</a:t>
            </a:r>
            <a:endParaRPr lang="en-US" altLang="zh-CN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/>
              <a:t>最终，</a:t>
            </a:r>
            <a:r>
              <a:rPr lang="en-US" altLang="zh-CN" baseline="0" dirty="0"/>
              <a:t>CPU</a:t>
            </a:r>
            <a:r>
              <a:rPr lang="zh-CN" altLang="en-US" baseline="0" dirty="0"/>
              <a:t>并没有对缓存状态进行回滚，也就意味着指令</a:t>
            </a:r>
            <a:r>
              <a:rPr lang="en-US" altLang="zh-CN" baseline="0" dirty="0"/>
              <a:t>2</a:t>
            </a:r>
            <a:r>
              <a:rPr lang="zh-CN" altLang="en-US" baseline="0" dirty="0"/>
              <a:t>访问的</a:t>
            </a:r>
            <a:r>
              <a:rPr lang="en-US" altLang="zh-CN" baseline="0" dirty="0"/>
              <a:t>buf1</a:t>
            </a:r>
            <a:r>
              <a:rPr lang="zh-CN" altLang="en-US" baseline="0" dirty="0"/>
              <a:t>的数据会被加载到缓存中。</a:t>
            </a:r>
            <a:endParaRPr lang="en-US" altLang="zh-CN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C753E-1415-4755-9AD0-A4D51D8BE0DD}" type="slidenum">
              <a:rPr lang="en-US" altLang="zh-TW" smtClean="0"/>
              <a:pPr/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497677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79425" y="768350"/>
            <a:ext cx="614045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/>
              <a:t>利用遗留在缓存中的数据，攻击者就能够间接获得目标的内核数据</a:t>
            </a:r>
            <a:r>
              <a:rPr lang="en-US" altLang="zh-CN" baseline="0" dirty="0"/>
              <a:t>key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/>
              <a:t>攻击者只需要将目标数据作为索引发起对一个</a:t>
            </a:r>
            <a:r>
              <a:rPr lang="en-US" altLang="zh-CN" baseline="0" dirty="0"/>
              <a:t>bug</a:t>
            </a:r>
            <a:r>
              <a:rPr lang="zh-CN" altLang="en-US" baseline="0" dirty="0"/>
              <a:t>数组的访问，之后目标元素就会被加载到缓存中。</a:t>
            </a:r>
            <a:endParaRPr lang="en-US" altLang="zh-CN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/>
              <a:t>之后，攻击者仅需逐一查看</a:t>
            </a:r>
            <a:r>
              <a:rPr lang="en-US" altLang="zh-CN" baseline="0" dirty="0"/>
              <a:t>bug</a:t>
            </a:r>
            <a:r>
              <a:rPr lang="zh-CN" altLang="en-US" baseline="0" dirty="0"/>
              <a:t>数组中拿一个元素在缓存中，就能够窃取到目标数据。</a:t>
            </a:r>
            <a:endParaRPr lang="en-US" altLang="zh-CN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C753E-1415-4755-9AD0-A4D51D8BE0DD}" type="slidenum">
              <a:rPr lang="en-US" altLang="zh-TW" smtClean="0"/>
              <a:pPr/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864918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目前操作系统主要依赖页表的用户</a:t>
            </a:r>
            <a:r>
              <a:rPr kumimoji="1" lang="en-US" altLang="zh-CN" dirty="0"/>
              <a:t>;</a:t>
            </a:r>
            <a:r>
              <a:rPr kumimoji="1" lang="zh-CN" altLang="en-US" dirty="0"/>
              <a:t>内核权限检查，进行用户内存与内核内存的隔离。</a:t>
            </a:r>
            <a:endParaRPr kumimoji="1" lang="en-US" altLang="zh-CN" dirty="0"/>
          </a:p>
          <a:p>
            <a:r>
              <a:rPr kumimoji="1" lang="zh-CN" altLang="en-US" dirty="0"/>
              <a:t>而</a:t>
            </a:r>
            <a:r>
              <a:rPr kumimoji="1" lang="en-US" altLang="zh-CN" dirty="0"/>
              <a:t>Meltdown</a:t>
            </a:r>
            <a:r>
              <a:rPr kumimoji="1" lang="zh-CN" altLang="en-US" dirty="0"/>
              <a:t>漏洞能够直接绕过这一检查，从而允许攻击者随意去读任意的内核内存数据。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更为严重的是，在之前的课程我们有介绍过，操作系统一般会直接映射所有的物理内存资源。例如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direct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mao</a:t>
            </a:r>
            <a:r>
              <a:rPr kumimoji="1" lang="zh-CN" altLang="en-US" dirty="0"/>
              <a:t>区域。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也就意味着，攻击者应用</a:t>
            </a:r>
            <a:r>
              <a:rPr kumimoji="1" lang="en-US" altLang="zh-CN" dirty="0"/>
              <a:t>Meltdown</a:t>
            </a:r>
            <a:r>
              <a:rPr kumimoji="1" lang="zh-CN" altLang="en-US" dirty="0"/>
              <a:t>漏洞能够随意访问整个系统的内存资源。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6023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Meltdown</a:t>
            </a:r>
            <a:r>
              <a:rPr kumimoji="1" lang="zh-CN" altLang="en-US" dirty="0"/>
              <a:t>漏洞影响了大量的现有</a:t>
            </a:r>
            <a:r>
              <a:rPr kumimoji="1" lang="en-US" altLang="zh-CN" dirty="0"/>
              <a:t>CPU</a:t>
            </a:r>
            <a:r>
              <a:rPr kumimoji="1" lang="zh-CN" altLang="en-US" dirty="0"/>
              <a:t>，并且无法通过</a:t>
            </a:r>
            <a:r>
              <a:rPr kumimoji="1" lang="en-US" altLang="zh-CN" dirty="0"/>
              <a:t>CPU</a:t>
            </a:r>
            <a:r>
              <a:rPr kumimoji="1" lang="zh-CN" altLang="en-US" dirty="0"/>
              <a:t> 微代码补丁的方式进行修复，因此操作系统必需通过软件手段进行进行防御。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在上述的漏洞原理介绍中，我们观察到，</a:t>
            </a:r>
            <a:r>
              <a:rPr kumimoji="1" lang="en-US" altLang="zh-CN" dirty="0"/>
              <a:t>Meltdown</a:t>
            </a:r>
            <a:r>
              <a:rPr kumimoji="1" lang="zh-CN" altLang="en-US" dirty="0"/>
              <a:t>漏洞的主要能力其实是绕过页表中的用户</a:t>
            </a:r>
            <a:r>
              <a:rPr kumimoji="1" lang="en-US" altLang="zh-CN" dirty="0"/>
              <a:t>/</a:t>
            </a:r>
            <a:r>
              <a:rPr kumimoji="1" lang="zh-CN" altLang="en-US" dirty="0"/>
              <a:t>内核权限位，但是其无法访问“没有内存映射的内存数据。</a:t>
            </a:r>
            <a:endParaRPr kumimoji="1" lang="en-US" altLang="zh-CN" dirty="0"/>
          </a:p>
          <a:p>
            <a:r>
              <a:rPr kumimoji="1" lang="zh-CN" altLang="en-US" dirty="0"/>
              <a:t>如果一个目标地址在也表中不存在应设，那么攻击者就睡没有数据可偷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因此，操作系统对于</a:t>
            </a:r>
            <a:r>
              <a:rPr kumimoji="1" lang="en-US" altLang="zh-CN" dirty="0"/>
              <a:t>Meltdown</a:t>
            </a:r>
            <a:r>
              <a:rPr kumimoji="1" lang="zh-CN" altLang="en-US" dirty="0"/>
              <a:t>的防御思路是。。。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734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利用上述思路，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操作系统提供了</a:t>
            </a:r>
            <a:r>
              <a:rPr kumimoji="1" lang="en-US" altLang="zh-CN" dirty="0"/>
              <a:t>KPTI</a:t>
            </a:r>
            <a:r>
              <a:rPr kumimoji="1" lang="zh-CN" altLang="en-US" dirty="0"/>
              <a:t>机制，对</a:t>
            </a:r>
            <a:r>
              <a:rPr kumimoji="1" lang="en-US" altLang="zh-CN" dirty="0"/>
              <a:t>Meltdown</a:t>
            </a:r>
            <a:r>
              <a:rPr kumimoji="1" lang="zh-CN" altLang="en-US" dirty="0"/>
              <a:t>漏洞进行防御。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基本方法非常简单：</a:t>
            </a:r>
            <a:r>
              <a:rPr kumimoji="1" lang="en-US" altLang="zh-CN" dirty="0"/>
              <a:t>xxx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1904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但是虽然只是增加了一个简单地页表切换操作，实现上只需要几条汇编指令，但是其确会限制影响操作系统的整体性能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9214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针对上述两个性能瓶颈，首先</a:t>
            </a:r>
            <a:r>
              <a:rPr kumimoji="1" lang="en-US" altLang="zh-CN" dirty="0"/>
              <a:t>KPTI</a:t>
            </a:r>
            <a:r>
              <a:rPr kumimoji="1" lang="zh-CN" altLang="en-US" dirty="0"/>
              <a:t>对切换操作进行了优化，旨在减少切换过程中的非必要内存访问。</a:t>
            </a:r>
            <a:endParaRPr kumimoji="1" lang="en-US" altLang="zh-CN" dirty="0"/>
          </a:p>
          <a:p>
            <a:r>
              <a:rPr kumimoji="1" lang="zh-CN" altLang="en-US" dirty="0"/>
              <a:t>通过在页表分配时，将两个根页表放在响铃的两个</a:t>
            </a:r>
            <a:r>
              <a:rPr kumimoji="1" lang="en-US" altLang="zh-CN" dirty="0"/>
              <a:t>4K</a:t>
            </a:r>
            <a:r>
              <a:rPr kumimoji="1" lang="zh-CN" altLang="en-US" dirty="0"/>
              <a:t>页中，切换代码无需加载</a:t>
            </a:r>
            <a:r>
              <a:rPr kumimoji="1" lang="en-US" altLang="zh-CN" dirty="0"/>
              <a:t>/</a:t>
            </a:r>
            <a:r>
              <a:rPr kumimoji="1" lang="zh-CN" altLang="en-US" dirty="0"/>
              <a:t>保存页表，只需对现有</a:t>
            </a:r>
            <a:r>
              <a:rPr kumimoji="1" lang="en-US" altLang="zh-CN" dirty="0"/>
              <a:t>cr3</a:t>
            </a:r>
            <a:r>
              <a:rPr kumimoji="1" lang="zh-CN" altLang="en-US" dirty="0"/>
              <a:t>中的页表进行一次位操作即可得到目标页表地址；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第二个是优化非必要的</a:t>
            </a:r>
            <a:r>
              <a:rPr kumimoji="1" lang="en-US" altLang="zh-CN" dirty="0"/>
              <a:t>TLB</a:t>
            </a:r>
            <a:r>
              <a:rPr kumimoji="1" lang="zh-CN" altLang="en-US" dirty="0"/>
              <a:t>刷新。刷新</a:t>
            </a:r>
            <a:r>
              <a:rPr kumimoji="1" lang="en-US" altLang="zh-CN" dirty="0"/>
              <a:t>TLB</a:t>
            </a:r>
            <a:r>
              <a:rPr kumimoji="1" lang="zh-CN" altLang="en-US" dirty="0"/>
              <a:t>的目的是防止攻击者使用内核遗留在</a:t>
            </a:r>
            <a:r>
              <a:rPr kumimoji="1" lang="en-US" altLang="zh-CN" dirty="0"/>
              <a:t>TLB</a:t>
            </a:r>
            <a:r>
              <a:rPr kumimoji="1" lang="zh-CN" altLang="en-US" dirty="0"/>
              <a:t>中的映射缓存，从而发起</a:t>
            </a:r>
            <a:r>
              <a:rPr kumimoji="1" lang="en-US" altLang="zh-CN" dirty="0"/>
              <a:t>meltdown</a:t>
            </a:r>
            <a:r>
              <a:rPr kumimoji="1" lang="zh-CN" altLang="en-US" dirty="0"/>
              <a:t>攻击。</a:t>
            </a:r>
            <a:endParaRPr kumimoji="1" lang="en-US" altLang="zh-CN" dirty="0"/>
          </a:p>
          <a:p>
            <a:r>
              <a:rPr kumimoji="1" lang="en-US" altLang="zh-CN" dirty="0"/>
              <a:t>KPTI</a:t>
            </a:r>
            <a:r>
              <a:rPr kumimoji="1" lang="zh-CN" altLang="en-US" dirty="0"/>
              <a:t>可以利用</a:t>
            </a:r>
            <a:r>
              <a:rPr kumimoji="1" lang="en-US" altLang="zh-CN" dirty="0"/>
              <a:t>TLB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address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space</a:t>
            </a:r>
            <a:r>
              <a:rPr kumimoji="1" lang="zh-CN" altLang="en-US" dirty="0"/>
              <a:t> </a:t>
            </a:r>
            <a:r>
              <a:rPr kumimoji="1" lang="en-US" altLang="zh-CN" dirty="0"/>
              <a:t>id</a:t>
            </a:r>
            <a:r>
              <a:rPr kumimoji="1" lang="zh-CN" altLang="en-US" dirty="0"/>
              <a:t>机制，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只会使用与当前</a:t>
            </a:r>
            <a:r>
              <a:rPr kumimoji="1" lang="en-US" altLang="zh-CN" dirty="0"/>
              <a:t>ASID</a:t>
            </a:r>
            <a:r>
              <a:rPr kumimoji="1" lang="zh-CN" altLang="en-US" dirty="0"/>
              <a:t>一致的</a:t>
            </a:r>
            <a:r>
              <a:rPr kumimoji="1" lang="en-US" altLang="zh-CN" dirty="0"/>
              <a:t>TLB</a:t>
            </a:r>
            <a:r>
              <a:rPr kumimoji="1" lang="zh-CN" altLang="en-US" dirty="0"/>
              <a:t>缓存。</a:t>
            </a:r>
            <a:endParaRPr kumimoji="1" lang="en-US" altLang="zh-CN" dirty="0"/>
          </a:p>
          <a:p>
            <a:r>
              <a:rPr kumimoji="1" lang="zh-CN" altLang="en-US" dirty="0"/>
              <a:t>这样通过给用户也表和内核页表分配不同的</a:t>
            </a:r>
            <a:r>
              <a:rPr kumimoji="1" lang="en-US" altLang="zh-CN" dirty="0"/>
              <a:t>ASID</a:t>
            </a:r>
            <a:r>
              <a:rPr kumimoji="1" lang="zh-CN" altLang="en-US" dirty="0"/>
              <a:t>，就可以避免页表切换过程的</a:t>
            </a:r>
            <a:r>
              <a:rPr kumimoji="1" lang="en-US" altLang="zh-CN" dirty="0"/>
              <a:t>TLB</a:t>
            </a:r>
            <a:r>
              <a:rPr kumimoji="1" lang="zh-CN" altLang="en-US" dirty="0"/>
              <a:t>刷新操作；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同样的，为了避免内存访问，用户与内核的</a:t>
            </a:r>
            <a:r>
              <a:rPr kumimoji="1" lang="en-US" altLang="zh-CN" dirty="0"/>
              <a:t>ASID</a:t>
            </a:r>
            <a:r>
              <a:rPr kumimoji="1" lang="zh-CN" altLang="en-US" dirty="0"/>
              <a:t>只差</a:t>
            </a:r>
            <a:r>
              <a:rPr kumimoji="1" lang="en-US" altLang="zh-CN" dirty="0"/>
              <a:t>1bit</a:t>
            </a:r>
            <a:r>
              <a:rPr kumimoji="1" lang="zh-CN" altLang="en-US" dirty="0"/>
              <a:t>，这样切换代码仍可以通过简单的位操作进行两个页表的转换。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8040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最终，我们回顾一下本堂课的内容。我们以</a:t>
            </a:r>
            <a:r>
              <a:rPr kumimoji="1" lang="en-US" altLang="zh-CN" dirty="0"/>
              <a:t>Meltdown</a:t>
            </a:r>
            <a:r>
              <a:rPr kumimoji="1" lang="zh-CN" altLang="en-US" dirty="0"/>
              <a:t>漏洞为例介绍了操作系统所面临的最新型高危漏洞，并且以</a:t>
            </a:r>
            <a:r>
              <a:rPr kumimoji="1" lang="en-US" altLang="zh-CN" dirty="0" err="1"/>
              <a:t>linux</a:t>
            </a:r>
            <a:r>
              <a:rPr kumimoji="1" lang="zh-CN" altLang="en-US" dirty="0"/>
              <a:t>操作系统的</a:t>
            </a:r>
            <a:r>
              <a:rPr kumimoji="1" lang="en-US" altLang="zh-CN" dirty="0"/>
              <a:t>KPTI</a:t>
            </a:r>
            <a:r>
              <a:rPr kumimoji="1" lang="zh-CN" altLang="en-US" dirty="0"/>
              <a:t>系统为例介绍了操作系统对高危硬件漏洞的防御方法。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1816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2811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D7246-93AA-45B6-8137-2D1467FC9701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4973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但是我们看到，目前具有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D7246-93AA-45B6-8137-2D1467FC970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2283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正如前面提到，现阶段是硬件特性爆发阶段，各家的硬件还没有完全形成合适的、统一的隔离抽象。</a:t>
            </a:r>
            <a:r>
              <a:rPr kumimoji="1" lang="en-US" altLang="zh-CN" dirty="0"/>
              <a:t>ARM</a:t>
            </a:r>
            <a:r>
              <a:rPr kumimoji="1" lang="zh-CN" altLang="en-US" dirty="0"/>
              <a:t>提出的隔离是物理机粒度、</a:t>
            </a:r>
            <a:r>
              <a:rPr kumimoji="1" lang="en-US" altLang="zh-CN" dirty="0"/>
              <a:t>Intel</a:t>
            </a:r>
            <a:r>
              <a:rPr kumimoji="1" lang="zh-CN" altLang="en-US" dirty="0"/>
              <a:t>提出的则是非常细粒度的应用片段隔离。</a:t>
            </a:r>
            <a:endParaRPr kumimoji="1" lang="en-US" altLang="zh-CN" dirty="0"/>
          </a:p>
          <a:p>
            <a:r>
              <a:rPr kumimoji="1" lang="zh-CN" altLang="en-US" dirty="0"/>
              <a:t>这是两个极端，粒度细的优点是内部逻辑简单，但内外交互的接口很复杂，因为具有高层语义；而粒度粗则相反，交互接口很底层、很简单，但隔离环境内部的层次多，所以逻辑复杂。</a:t>
            </a:r>
            <a:endParaRPr kumimoji="1" lang="en-US" altLang="zh-CN" dirty="0"/>
          </a:p>
          <a:p>
            <a:r>
              <a:rPr kumimoji="1" lang="zh-CN" altLang="en-US" dirty="0"/>
              <a:t>在</a:t>
            </a:r>
            <a:r>
              <a:rPr kumimoji="1" lang="en-US" altLang="zh-CN" dirty="0"/>
              <a:t>2013</a:t>
            </a:r>
            <a:r>
              <a:rPr kumimoji="1" lang="zh-CN" altLang="en-US" dirty="0"/>
              <a:t>年，我们提出了一种基于加密内存保护的虚拟机抽象，在内部复杂性与交互复杂性之间找到一个平衡点。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2973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385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6384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9901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028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tiff"/><Relationship Id="rId5" Type="http://schemas.openxmlformats.org/officeDocument/2006/relationships/image" Target="../media/image10.tiff"/><Relationship Id="rId4" Type="http://schemas.openxmlformats.org/officeDocument/2006/relationships/image" Target="../media/image9.tif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penglai-enclave.systems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硬件辅助系统安全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SE3357-1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·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操作系统（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2022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4DB58-9478-0845-B9D0-F1002C2E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50ED14-404E-6646-9DB6-A2866BE0E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</a:t>
            </a:r>
            <a:r>
              <a:rPr kumimoji="1" lang="zh-CN" altLang="en-US" dirty="0"/>
              <a:t>：</a:t>
            </a:r>
            <a:r>
              <a:rPr kumimoji="1" lang="en-US" altLang="zh-CN" dirty="0"/>
              <a:t>DAC</a:t>
            </a:r>
            <a:r>
              <a:rPr kumimoji="1" lang="zh-CN" altLang="en-US" dirty="0"/>
              <a:t>与</a:t>
            </a:r>
            <a:r>
              <a:rPr kumimoji="1" lang="en-US" altLang="zh-CN" dirty="0"/>
              <a:t>MAC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8AEB37-A88E-3941-84CE-7D5229787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自主访问控制（</a:t>
            </a:r>
            <a:r>
              <a:rPr lang="en" altLang="zh-CN" sz="2000" dirty="0"/>
              <a:t>DAC:</a:t>
            </a:r>
            <a:r>
              <a:rPr lang="zh-CN" altLang="en-US" sz="2000" dirty="0"/>
              <a:t> </a:t>
            </a:r>
            <a:r>
              <a:rPr lang="en" altLang="zh-CN" sz="2000" dirty="0"/>
              <a:t>Discretionary Access Control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/>
            <a:r>
              <a:rPr lang="zh-CN" altLang="en-US" sz="1800" dirty="0"/>
              <a:t>指一个对象的拥有者有权限决定该对象是否可以被其他人访问</a:t>
            </a:r>
            <a:endParaRPr lang="en-US" altLang="zh-CN" sz="1800" dirty="0"/>
          </a:p>
          <a:p>
            <a:pPr lvl="2"/>
            <a:r>
              <a:rPr lang="zh-CN" altLang="en-US" sz="1600" dirty="0"/>
              <a:t>例如，文件系统就是一类典型的 </a:t>
            </a:r>
            <a:r>
              <a:rPr lang="en" altLang="zh-CN" sz="1600" dirty="0"/>
              <a:t>DAC</a:t>
            </a:r>
            <a:endParaRPr lang="en-US" altLang="zh-CN" sz="1800" dirty="0"/>
          </a:p>
          <a:p>
            <a:pPr lvl="1"/>
            <a:r>
              <a:rPr lang="zh-CN" altLang="en-US" sz="1800" dirty="0"/>
              <a:t>但是对部分场景（如军队）来说，</a:t>
            </a:r>
            <a:r>
              <a:rPr lang="en-US" altLang="zh-CN" sz="1800" dirty="0"/>
              <a:t>DAC</a:t>
            </a:r>
            <a:r>
              <a:rPr lang="zh-CN" altLang="en-US" sz="1800" dirty="0"/>
              <a:t>过于灵活</a:t>
            </a:r>
            <a:endParaRPr lang="en-US" altLang="zh-CN" sz="1800" dirty="0"/>
          </a:p>
          <a:p>
            <a:pPr lvl="2"/>
            <a:r>
              <a:rPr lang="zh-CN" altLang="en-US" sz="1600" dirty="0"/>
              <a:t>例如，文件拥有者是否真的有权可随意设置文件权限？</a:t>
            </a:r>
            <a:endParaRPr lang="en-US" altLang="zh-CN" sz="1600" dirty="0"/>
          </a:p>
          <a:p>
            <a:r>
              <a:rPr lang="zh-CN" altLang="en-US" sz="2000" dirty="0"/>
              <a:t>强制访问控制（</a:t>
            </a:r>
            <a:r>
              <a:rPr lang="en" altLang="zh-CN" sz="2000" dirty="0"/>
              <a:t>MAC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" altLang="zh-CN" sz="2000" dirty="0"/>
              <a:t>Mandatory Access Control</a:t>
            </a:r>
            <a:r>
              <a:rPr lang="zh-CN" altLang="en-US" sz="2000" dirty="0"/>
              <a:t>）</a:t>
            </a:r>
            <a:endParaRPr lang="en" altLang="zh-CN" sz="2000" dirty="0"/>
          </a:p>
          <a:p>
            <a:pPr lvl="1"/>
            <a:r>
              <a:rPr lang="zh-CN" altLang="en-US" sz="1800" dirty="0"/>
              <a:t>由</a:t>
            </a:r>
            <a:r>
              <a:rPr lang="en-US" altLang="zh-CN" sz="1800" dirty="0"/>
              <a:t>"</a:t>
            </a:r>
            <a:r>
              <a:rPr lang="zh-CN" altLang="en-US" sz="1800" dirty="0"/>
              <a:t>系统</a:t>
            </a:r>
            <a:r>
              <a:rPr lang="en-US" altLang="zh-CN" sz="1800" dirty="0"/>
              <a:t>"</a:t>
            </a:r>
            <a:r>
              <a:rPr lang="zh-CN" altLang="en-US" sz="1800" dirty="0"/>
              <a:t>增加一些强制的、不可改变的规则</a:t>
            </a:r>
            <a:endParaRPr lang="en-US" altLang="zh-CN" sz="1800" dirty="0"/>
          </a:p>
          <a:p>
            <a:pPr lvl="2"/>
            <a:r>
              <a:rPr lang="zh-CN" altLang="en-US" sz="1600" dirty="0"/>
              <a:t>例如，在军队中，如果某个文件设置为机密，那么就算是指挥官也不能把这个文件给没有权限的人看</a:t>
            </a:r>
            <a:r>
              <a:rPr lang="en-US" altLang="zh-CN" sz="1600" dirty="0"/>
              <a:t>——</a:t>
            </a:r>
            <a:r>
              <a:rPr lang="zh-CN" altLang="en-US" sz="1600" dirty="0"/>
              <a:t>这个规则是由军法（系统）规定的</a:t>
            </a:r>
            <a:endParaRPr lang="zh-CN" altLang="en-US" sz="1800" dirty="0"/>
          </a:p>
          <a:p>
            <a:pPr lvl="1"/>
            <a:r>
              <a:rPr kumimoji="1" lang="en-US" altLang="zh-CN" sz="1800" dirty="0"/>
              <a:t>MAC</a:t>
            </a:r>
            <a:r>
              <a:rPr kumimoji="1" lang="zh-CN" altLang="en-US" sz="1800" dirty="0"/>
              <a:t>与</a:t>
            </a:r>
            <a:r>
              <a:rPr kumimoji="1" lang="en-US" altLang="zh-CN" sz="1800" dirty="0"/>
              <a:t>DAC</a:t>
            </a:r>
            <a:r>
              <a:rPr kumimoji="1" lang="zh-CN" altLang="en-US" sz="1800" dirty="0"/>
              <a:t>可以结合，此时</a:t>
            </a:r>
            <a:r>
              <a:rPr kumimoji="1" lang="en-US" altLang="zh-CN" sz="1800" dirty="0"/>
              <a:t>MAC</a:t>
            </a:r>
            <a:r>
              <a:rPr kumimoji="1" lang="zh-CN" altLang="en-US" sz="1800" dirty="0"/>
              <a:t>的优先级更高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E60D9A-167B-DA44-A3D4-FFF0B81F1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AA3436-5686-4441-B629-1EE84B0636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609080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949FE4-9E3F-C344-9CEA-9D571B08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</a:t>
            </a:r>
            <a:r>
              <a:rPr kumimoji="1" lang="zh-CN" altLang="en-US" dirty="0"/>
              <a:t>：侧信道与隐秘信道的关系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1A032A-6BB6-1041-ABF8-3C1178E04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侧信道与隐秘信道很类似</a:t>
            </a:r>
            <a:endParaRPr lang="en-US" altLang="zh-CN" dirty="0"/>
          </a:p>
          <a:p>
            <a:pPr lvl="1"/>
            <a:r>
              <a:rPr lang="zh-CN" altLang="en-US" dirty="0"/>
              <a:t>两者都使用类似的方式（信道）进行数据的传递</a:t>
            </a:r>
            <a:endParaRPr lang="en-US" altLang="zh-CN" dirty="0"/>
          </a:p>
          <a:p>
            <a:r>
              <a:rPr lang="zh-CN" altLang="en-US" dirty="0"/>
              <a:t>侧信道攻击和隐秘信道攻击的不同</a:t>
            </a:r>
            <a:endParaRPr lang="en-US" altLang="zh-CN" dirty="0"/>
          </a:p>
          <a:p>
            <a:pPr lvl="1"/>
            <a:r>
              <a:rPr lang="zh-CN" altLang="en-US" dirty="0"/>
              <a:t>隐秘信道攻击：两方是互相串通的，其目的就是为了将信息从一方传给另一方</a:t>
            </a:r>
            <a:endParaRPr lang="en-US" altLang="zh-CN" dirty="0"/>
          </a:p>
          <a:p>
            <a:pPr lvl="1"/>
            <a:r>
              <a:rPr lang="zh-CN" altLang="en-US" dirty="0"/>
              <a:t>侧信道攻击：一方是攻击者，另一方是被攻击者，攻击者窃取被攻击者的数据</a:t>
            </a:r>
            <a:endParaRPr lang="en-US" altLang="zh-CN" dirty="0"/>
          </a:p>
          <a:p>
            <a:pPr lvl="2"/>
            <a:r>
              <a:rPr lang="zh-CN" altLang="en-US" dirty="0"/>
              <a:t>即被攻击者无意间通过侧信道泄露了自己的数据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CFA46A-33B1-9A4C-A446-3E605B035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3F076E-79A3-0945-96DF-508AA32CF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27164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536192-F448-DF40-9999-945DFA5F3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常量时间（</a:t>
            </a:r>
            <a:r>
              <a:rPr kumimoji="1" lang="en-US" altLang="zh-CN" dirty="0"/>
              <a:t>Constant</a:t>
            </a:r>
            <a:r>
              <a:rPr kumimoji="1" lang="zh-CN" altLang="en-US" dirty="0"/>
              <a:t> </a:t>
            </a:r>
            <a:r>
              <a:rPr kumimoji="1" lang="en-US" altLang="zh-CN" dirty="0"/>
              <a:t>Time</a:t>
            </a:r>
            <a:r>
              <a:rPr kumimoji="1" lang="zh-CN" altLang="en-US" dirty="0"/>
              <a:t>）算法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5BAEDF-EF64-724B-A176-36A68D3F0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4330824" cy="3972271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算法的运行时间与输入无关</a:t>
            </a:r>
          </a:p>
          <a:p>
            <a:pPr lvl="1"/>
            <a:r>
              <a:rPr kumimoji="1" lang="zh-CN" altLang="en-US" sz="1800" dirty="0"/>
              <a:t>无法通过运行时间得到与输入相关的任何信息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代码执行没有分支跳转</a:t>
            </a:r>
            <a:endParaRPr kumimoji="1" lang="en-US" altLang="zh-CN" sz="1800" dirty="0"/>
          </a:p>
          <a:p>
            <a:r>
              <a:rPr kumimoji="1" lang="zh-CN" altLang="en-US" sz="2200" dirty="0"/>
              <a:t>常见的实现方法：</a:t>
            </a:r>
            <a:r>
              <a:rPr kumimoji="1" lang="en-US" altLang="zh-CN" sz="2200" dirty="0" err="1"/>
              <a:t>cmov</a:t>
            </a:r>
            <a:endParaRPr kumimoji="1" lang="en-US" altLang="zh-CN" sz="2200" dirty="0"/>
          </a:p>
          <a:p>
            <a:pPr lvl="1"/>
            <a:r>
              <a:rPr kumimoji="1" lang="en-US" altLang="zh-CN" sz="1800" dirty="0"/>
              <a:t>Conditional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MOV</a:t>
            </a:r>
          </a:p>
          <a:p>
            <a:r>
              <a:rPr kumimoji="1" lang="zh-CN" altLang="en-US" sz="2200" dirty="0"/>
              <a:t>缺点：计算变得更慢</a:t>
            </a:r>
            <a:endParaRPr kumimoji="1" lang="en-US" altLang="zh-CN" sz="2200" dirty="0"/>
          </a:p>
          <a:p>
            <a:pPr lvl="1"/>
            <a:r>
              <a:rPr kumimoji="1" lang="zh-CN" altLang="en-US" sz="1800" dirty="0"/>
              <a:t>需要做两份运算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DD48A3-6682-6640-B943-5F0DAE05E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68B56D-2438-EF4C-8F4A-5E90023605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0D7BFB5-9DAC-5048-B572-4E3959058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1490410"/>
            <a:ext cx="4038600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515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134998-405E-124D-A3ED-345DAAEB6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不经意随机访问内存（</a:t>
            </a:r>
            <a:r>
              <a:rPr kumimoji="1" lang="en-US" altLang="zh-CN" dirty="0"/>
              <a:t>ORAM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22EFFD-283F-ED4B-B6C7-0963DBB28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zh-CN" sz="1800" dirty="0"/>
              <a:t>ORAM </a:t>
            </a:r>
            <a:r>
              <a:rPr lang="zh-CN" altLang="en-US" sz="1800" dirty="0"/>
              <a:t>将访存行为与程序执行过程解耦</a:t>
            </a:r>
            <a:endParaRPr lang="en-US" altLang="zh-CN" sz="1800" dirty="0"/>
          </a:p>
          <a:p>
            <a:pPr lvl="1"/>
            <a:r>
              <a:rPr lang="zh-CN" altLang="en-US" sz="1400" dirty="0"/>
              <a:t>攻击者即使能够观察到所有的访存请求，也无法反推出与程序执行相关的信息</a:t>
            </a:r>
            <a:endParaRPr lang="en-US" altLang="zh-CN" sz="1400" dirty="0"/>
          </a:p>
          <a:p>
            <a:r>
              <a:rPr lang="zh-CN" altLang="en-US" sz="1800" dirty="0"/>
              <a:t>最简单的实现：定时、定量、定位的访问方式</a:t>
            </a:r>
            <a:endParaRPr lang="en-US" altLang="zh-CN" sz="1800" dirty="0"/>
          </a:p>
          <a:p>
            <a:pPr lvl="1"/>
            <a:r>
              <a:rPr lang="zh-CN" altLang="en-US" sz="1400" dirty="0"/>
              <a:t>无论实际是否有访存需求，均以</a:t>
            </a:r>
            <a:r>
              <a:rPr lang="zh-CN" altLang="en-US" sz="1400" b="1" dirty="0">
                <a:solidFill>
                  <a:schemeClr val="accent1"/>
                </a:solidFill>
              </a:rPr>
              <a:t>固定周期</a:t>
            </a:r>
            <a:r>
              <a:rPr lang="zh-CN" altLang="en-US" sz="1400" dirty="0"/>
              <a:t>，访问</a:t>
            </a:r>
            <a:r>
              <a:rPr lang="zh-CN" altLang="en-US" sz="1400" b="1" dirty="0">
                <a:solidFill>
                  <a:schemeClr val="accent1"/>
                </a:solidFill>
              </a:rPr>
              <a:t>固定位置</a:t>
            </a:r>
            <a:r>
              <a:rPr lang="zh-CN" altLang="en-US" sz="1400" dirty="0"/>
              <a:t>，每次访问</a:t>
            </a:r>
            <a:r>
              <a:rPr lang="zh-CN" altLang="en-US" sz="1400" b="1" dirty="0">
                <a:solidFill>
                  <a:schemeClr val="accent1"/>
                </a:solidFill>
              </a:rPr>
              <a:t>固定的大小</a:t>
            </a:r>
            <a:endParaRPr lang="en-US" altLang="zh-CN" sz="1400" b="1" dirty="0">
              <a:solidFill>
                <a:schemeClr val="accent1"/>
              </a:solidFill>
            </a:endParaRPr>
          </a:p>
          <a:p>
            <a:pPr lvl="1"/>
            <a:r>
              <a:rPr lang="zh-CN" altLang="en-US" sz="1400" dirty="0"/>
              <a:t>例如， </a:t>
            </a:r>
            <a:r>
              <a:rPr lang="en" altLang="zh-CN" sz="1400" dirty="0"/>
              <a:t>CPU </a:t>
            </a:r>
            <a:r>
              <a:rPr lang="zh-CN" altLang="en-US" sz="1400" dirty="0"/>
              <a:t>顺序循环访问所有的有效内存区域，程序按需获得真正想要访问的数据，若还没访问到则等待，若已经访问过了则等待下次循环</a:t>
            </a:r>
            <a:endParaRPr lang="en-US" altLang="zh-CN" sz="1400" dirty="0"/>
          </a:p>
          <a:p>
            <a:pPr lvl="1"/>
            <a:r>
              <a:rPr lang="zh-CN" altLang="en-US" sz="1400" dirty="0"/>
              <a:t>类似上海和北京之间的高铁，无论乘客是谁，都按照时刻表运行，哪怕有时候位子没坐满也发车，因此根据高铁的班次并不能反推出谁坐了高铁</a:t>
            </a:r>
            <a:endParaRPr lang="en-US" altLang="zh-CN" sz="1400" dirty="0"/>
          </a:p>
          <a:p>
            <a:r>
              <a:rPr lang="en" altLang="zh-CN" sz="1800" dirty="0"/>
              <a:t>ORAM </a:t>
            </a:r>
            <a:r>
              <a:rPr lang="zh-CN" altLang="en-US" sz="1800" dirty="0"/>
              <a:t>会引入很大的额外负载</a:t>
            </a:r>
            <a:endParaRPr lang="en-US" altLang="zh-CN" sz="1800" dirty="0"/>
          </a:p>
          <a:p>
            <a:pPr lvl="1"/>
            <a:r>
              <a:rPr lang="zh-CN" altLang="en-US" sz="1400" dirty="0"/>
              <a:t>产生大量的无效内存访 问，导致有效访存的吞吐率下降</a:t>
            </a:r>
            <a:endParaRPr lang="en-US" altLang="zh-CN" sz="1400" dirty="0"/>
          </a:p>
          <a:p>
            <a:pPr lvl="1"/>
            <a:r>
              <a:rPr lang="zh-CN" altLang="en-US" sz="1400" dirty="0"/>
              <a:t>访存需要等待一定的时刻，导致时延大幅度增加</a:t>
            </a:r>
          </a:p>
          <a:p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DAEF91-A3F5-674E-B957-43502827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9A580E-6562-C641-9BFE-80F934B47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069832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EC9CDCC6-DB9C-BC4A-A313-862910B4F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案例分析：</a:t>
            </a:r>
            <a:r>
              <a:rPr lang="en-US" altLang="zh-CN" dirty="0"/>
              <a:t>Meltdown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23982BAA-F039-C743-9B85-0113E4859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349E08-09AF-514A-939C-AFB992D9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BA161B-BB4A-6948-915D-FC4018D73D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004130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+mn-lt"/>
              </a:rPr>
              <a:t>Meltdown</a:t>
            </a:r>
            <a:r>
              <a:rPr lang="zh-CN" altLang="en-US" dirty="0">
                <a:latin typeface="+mn-lt"/>
              </a:rPr>
              <a:t>漏洞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>
                <a:latin typeface="+mn-lt"/>
              </a:rPr>
              <a:t>8</a:t>
            </a:fld>
            <a:endParaRPr lang="zh-CN" altLang="en-US" dirty="0">
              <a:latin typeface="+mn-lt"/>
            </a:endParaRPr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3E547C8-1D06-4541-AF27-31DB15700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2012"/>
            <a:ext cx="8229600" cy="4267732"/>
          </a:xfrm>
        </p:spPr>
        <p:txBody>
          <a:bodyPr>
            <a:noAutofit/>
          </a:bodyPr>
          <a:lstStyle/>
          <a:p>
            <a:r>
              <a:rPr lang="en" altLang="zh-CN" sz="2400" dirty="0"/>
              <a:t>Meltdown</a:t>
            </a:r>
            <a:r>
              <a:rPr lang="zh-CN" altLang="en-US" sz="2400" dirty="0"/>
              <a:t>（熔断） 漏洞</a:t>
            </a:r>
            <a:endParaRPr lang="en-US" altLang="zh-CN" sz="2400" dirty="0"/>
          </a:p>
          <a:p>
            <a:pPr lvl="1"/>
            <a:r>
              <a:rPr lang="zh-CN" altLang="en-US" sz="2200" dirty="0"/>
              <a:t>和 </a:t>
            </a:r>
            <a:r>
              <a:rPr lang="en" altLang="zh-CN" sz="2200" dirty="0"/>
              <a:t>Spectre</a:t>
            </a:r>
            <a:r>
              <a:rPr lang="zh-CN" altLang="en-US" sz="2200" dirty="0"/>
              <a:t>（幽灵）</a:t>
            </a:r>
            <a:r>
              <a:rPr lang="en-US" altLang="zh-CN" sz="2200" dirty="0"/>
              <a:t> </a:t>
            </a:r>
            <a:r>
              <a:rPr lang="zh-CN" altLang="en-US" sz="2200" dirty="0"/>
              <a:t>漏洞一同被公布</a:t>
            </a:r>
            <a:endParaRPr lang="en-US" altLang="zh-CN" sz="2200" dirty="0"/>
          </a:p>
          <a:p>
            <a:pPr lvl="1"/>
            <a:r>
              <a:rPr lang="zh-CN" altLang="en-US" sz="2000" dirty="0"/>
              <a:t>在 </a:t>
            </a:r>
            <a:r>
              <a:rPr lang="en-US" altLang="zh-CN" sz="2000" dirty="0"/>
              <a:t>2017 </a:t>
            </a:r>
            <a:r>
              <a:rPr lang="zh-CN" altLang="en-US" sz="2000" dirty="0"/>
              <a:t>年被发现，在 </a:t>
            </a:r>
            <a:r>
              <a:rPr lang="en-US" altLang="zh-CN" sz="2000" dirty="0"/>
              <a:t>2018 </a:t>
            </a:r>
            <a:r>
              <a:rPr lang="zh-CN" altLang="en-US" sz="2000" dirty="0"/>
              <a:t>年被公布</a:t>
            </a:r>
            <a:endParaRPr lang="en-US" altLang="zh-CN" dirty="0"/>
          </a:p>
          <a:p>
            <a:r>
              <a:rPr lang="zh-CN" altLang="en-US" sz="2400" dirty="0"/>
              <a:t>效果：允许应用程序</a:t>
            </a:r>
            <a:r>
              <a:rPr lang="zh-CN" altLang="en-US" sz="2400" dirty="0">
                <a:solidFill>
                  <a:srgbClr val="C00000"/>
                </a:solidFill>
              </a:rPr>
              <a:t>读取任意内核内存数据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lvl="1"/>
            <a:r>
              <a:rPr lang="zh-CN" altLang="en-US" sz="2000" dirty="0"/>
              <a:t>利用了 </a:t>
            </a:r>
            <a:r>
              <a:rPr lang="en" altLang="zh-CN" sz="2000" dirty="0"/>
              <a:t>CPU </a:t>
            </a:r>
            <a:r>
              <a:rPr lang="zh-CN" altLang="en-US" sz="2000" dirty="0"/>
              <a:t>的</a:t>
            </a:r>
            <a:r>
              <a:rPr lang="zh-CN" altLang="en-US" dirty="0"/>
              <a:t>投机</a:t>
            </a:r>
            <a:r>
              <a:rPr lang="zh-CN" altLang="en-US" sz="2000" dirty="0"/>
              <a:t>执行机制</a:t>
            </a:r>
            <a:endParaRPr lang="en-US" altLang="zh-CN" sz="2000" dirty="0"/>
          </a:p>
          <a:p>
            <a:pPr lvl="2"/>
            <a:r>
              <a:rPr lang="zh-CN" altLang="en-US" sz="1600" dirty="0"/>
              <a:t>漏洞利用简单、攻击效果显著</a:t>
            </a:r>
            <a:endParaRPr lang="en-US" altLang="zh-CN" sz="1600" dirty="0"/>
          </a:p>
          <a:p>
            <a:pPr lvl="1"/>
            <a:r>
              <a:rPr lang="zh-CN" altLang="en-US" sz="2000" dirty="0"/>
              <a:t>几乎所有的主流 </a:t>
            </a:r>
            <a:r>
              <a:rPr lang="en" altLang="zh-CN" sz="2000" dirty="0"/>
              <a:t>CPU </a:t>
            </a:r>
            <a:r>
              <a:rPr lang="zh-CN" altLang="en-US" sz="2000" dirty="0"/>
              <a:t>都受到了影响</a:t>
            </a:r>
            <a:endParaRPr lang="en-US" altLang="zh-CN" sz="2000" dirty="0"/>
          </a:p>
          <a:p>
            <a:pPr lvl="2"/>
            <a:r>
              <a:rPr lang="zh-CN" altLang="en-US" sz="1600" dirty="0"/>
              <a:t>包括</a:t>
            </a:r>
            <a:r>
              <a:rPr lang="en" altLang="zh-CN" sz="1600" dirty="0"/>
              <a:t>Intel</a:t>
            </a:r>
            <a:r>
              <a:rPr lang="zh-CN" altLang="en" sz="1600" dirty="0"/>
              <a:t>、</a:t>
            </a:r>
            <a:r>
              <a:rPr lang="en" altLang="zh-CN" sz="1600" dirty="0"/>
              <a:t>AMD</a:t>
            </a:r>
            <a:r>
              <a:rPr lang="zh-CN" altLang="en-US" sz="1600" dirty="0"/>
              <a:t>和部分</a:t>
            </a:r>
            <a:r>
              <a:rPr lang="en" altLang="zh-CN" sz="1600" dirty="0"/>
              <a:t>ARM</a:t>
            </a:r>
            <a:r>
              <a:rPr lang="zh-CN" altLang="en-US" sz="1600" dirty="0"/>
              <a:t>处理器</a:t>
            </a:r>
            <a:endParaRPr lang="en-US" altLang="zh-CN" sz="1600" dirty="0"/>
          </a:p>
          <a:p>
            <a:pPr lvl="1"/>
            <a:r>
              <a:rPr lang="zh-CN" altLang="en-US" sz="2000" dirty="0"/>
              <a:t>许多软件厂商不得不紧急打补丁并做出对应的防御措施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001848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背景</a:t>
            </a:r>
            <a:r>
              <a:rPr lang="en-US" altLang="zh-CN" dirty="0">
                <a:latin typeface="+mn-ea"/>
                <a:ea typeface="+mn-ea"/>
              </a:rPr>
              <a:t>-1</a:t>
            </a:r>
            <a:r>
              <a:rPr lang="zh-CN" altLang="en-US" dirty="0">
                <a:latin typeface="+mn-ea"/>
                <a:ea typeface="+mn-ea"/>
              </a:rPr>
              <a:t>：基于页表权限的内核数据保护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>
                <a:latin typeface="+mn-ea"/>
                <a:ea typeface="+mn-ea"/>
              </a:rPr>
              <a:t>9</a:t>
            </a:fld>
            <a:endParaRPr lang="zh-CN" altLang="en-US" dirty="0">
              <a:latin typeface="+mn-ea"/>
              <a:ea typeface="+mn-ea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9E05C770-678B-984D-BDB9-8FFF994D8BA2}"/>
              </a:ext>
            </a:extLst>
          </p:cNvPr>
          <p:cNvCxnSpPr>
            <a:cxnSpLocks/>
          </p:cNvCxnSpPr>
          <p:nvPr/>
        </p:nvCxnSpPr>
        <p:spPr>
          <a:xfrm flipH="1">
            <a:off x="179512" y="3220454"/>
            <a:ext cx="2304256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88AC68CC-AE9A-2D46-935F-176C73E90885}"/>
              </a:ext>
            </a:extLst>
          </p:cNvPr>
          <p:cNvSpPr/>
          <p:nvPr/>
        </p:nvSpPr>
        <p:spPr>
          <a:xfrm>
            <a:off x="3857431" y="1917452"/>
            <a:ext cx="1368152" cy="1303003"/>
          </a:xfrm>
          <a:prstGeom prst="rect">
            <a:avLst/>
          </a:prstGeom>
          <a:solidFill>
            <a:srgbClr val="C8EFFD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96295E-15CC-8646-BD41-7B4F21ADF6B2}"/>
              </a:ext>
            </a:extLst>
          </p:cNvPr>
          <p:cNvSpPr/>
          <p:nvPr/>
        </p:nvSpPr>
        <p:spPr>
          <a:xfrm>
            <a:off x="3857431" y="3220454"/>
            <a:ext cx="1368152" cy="2076507"/>
          </a:xfrm>
          <a:prstGeom prst="rect">
            <a:avLst/>
          </a:prstGeom>
          <a:solidFill>
            <a:srgbClr val="FFC6DC"/>
          </a:solidFill>
          <a:ln w="254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2140EFA-5C74-9542-AE3F-1623E3721C6C}"/>
              </a:ext>
            </a:extLst>
          </p:cNvPr>
          <p:cNvSpPr txBox="1"/>
          <p:nvPr/>
        </p:nvSpPr>
        <p:spPr>
          <a:xfrm>
            <a:off x="3817779" y="1455890"/>
            <a:ext cx="1447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latin typeface="+mn-ea"/>
                <a:cs typeface="DengXian" charset="-122"/>
              </a:rPr>
              <a:t>虚拟地址空间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BBA58CF-537A-CA48-BAFC-E93D1762B7E0}"/>
              </a:ext>
            </a:extLst>
          </p:cNvPr>
          <p:cNvSpPr txBox="1"/>
          <p:nvPr/>
        </p:nvSpPr>
        <p:spPr>
          <a:xfrm>
            <a:off x="3857431" y="1961728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+mn-ea"/>
                <a:cs typeface="DengXian" charset="-122"/>
              </a:rPr>
              <a:t>内核内存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C11543D-E60F-9644-B405-624C4C645DB4}"/>
              </a:ext>
            </a:extLst>
          </p:cNvPr>
          <p:cNvSpPr txBox="1"/>
          <p:nvPr/>
        </p:nvSpPr>
        <p:spPr>
          <a:xfrm>
            <a:off x="3857431" y="4089431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+mn-ea"/>
                <a:cs typeface="DengXian" charset="-122"/>
              </a:rPr>
              <a:t>用户内存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738FBC3-F63D-2B4C-981F-1248C60B14B4}"/>
              </a:ext>
            </a:extLst>
          </p:cNvPr>
          <p:cNvSpPr/>
          <p:nvPr/>
        </p:nvSpPr>
        <p:spPr>
          <a:xfrm>
            <a:off x="6876256" y="1917452"/>
            <a:ext cx="1368152" cy="130300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960D70-7FB2-4B44-8B44-70897EA88A37}"/>
              </a:ext>
            </a:extLst>
          </p:cNvPr>
          <p:cNvSpPr/>
          <p:nvPr/>
        </p:nvSpPr>
        <p:spPr>
          <a:xfrm>
            <a:off x="6876256" y="1917452"/>
            <a:ext cx="1368152" cy="337950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D11F212-6C39-DD47-8D52-4C0F35A6EEAB}"/>
              </a:ext>
            </a:extLst>
          </p:cNvPr>
          <p:cNvSpPr txBox="1"/>
          <p:nvPr/>
        </p:nvSpPr>
        <p:spPr>
          <a:xfrm>
            <a:off x="6836604" y="1455890"/>
            <a:ext cx="1447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latin typeface="+mn-ea"/>
                <a:cs typeface="DengXian" charset="-122"/>
              </a:rPr>
              <a:t>物理地址空间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7483162-1019-A746-9D76-1157C0BE7B5B}"/>
              </a:ext>
            </a:extLst>
          </p:cNvPr>
          <p:cNvSpPr/>
          <p:nvPr/>
        </p:nvSpPr>
        <p:spPr>
          <a:xfrm>
            <a:off x="6876256" y="3853445"/>
            <a:ext cx="1368152" cy="5745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E34BEA1-95AE-C74E-99AD-009BF16A0DC7}"/>
              </a:ext>
            </a:extLst>
          </p:cNvPr>
          <p:cNvGrpSpPr/>
          <p:nvPr/>
        </p:nvGrpSpPr>
        <p:grpSpPr>
          <a:xfrm>
            <a:off x="7036971" y="3930287"/>
            <a:ext cx="1046723" cy="411488"/>
            <a:chOff x="6602216" y="3930287"/>
            <a:chExt cx="1046723" cy="411488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FB7DCC3A-FD53-5C47-8BE1-4135C6426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2216" y="3930287"/>
              <a:ext cx="278050" cy="411488"/>
            </a:xfrm>
            <a:prstGeom prst="rect">
              <a:avLst/>
            </a:prstGeom>
          </p:spPr>
        </p:pic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B052261D-32B4-7D4F-9DF4-077B2D3E2964}"/>
                </a:ext>
              </a:extLst>
            </p:cNvPr>
            <p:cNvSpPr txBox="1"/>
            <p:nvPr/>
          </p:nvSpPr>
          <p:spPr>
            <a:xfrm>
              <a:off x="6878336" y="3966754"/>
              <a:ext cx="770603" cy="338554"/>
            </a:xfrm>
            <a:prstGeom prst="rect">
              <a:avLst/>
            </a:prstGeom>
            <a:noFill/>
          </p:spPr>
          <p:txBody>
            <a:bodyPr wrap="square" lIns="0" rIns="0" rtlCol="0" anchor="ctr" anchorCtr="0">
              <a:noAutofit/>
            </a:bodyPr>
            <a:lstStyle/>
            <a:p>
              <a:pPr algn="ctr"/>
              <a:r>
                <a:rPr kumimoji="1" lang="en-US" altLang="zh-CN" sz="1200" dirty="0">
                  <a:latin typeface="+mn-ea"/>
                  <a:cs typeface="DengXian" charset="-122"/>
                </a:rPr>
                <a:t>(key</a:t>
              </a:r>
              <a:r>
                <a:rPr kumimoji="1" lang="zh-CN" altLang="en-US" sz="1200" dirty="0">
                  <a:latin typeface="+mn-ea"/>
                  <a:cs typeface="DengXian" charset="-122"/>
                </a:rPr>
                <a:t> </a:t>
              </a:r>
              <a:r>
                <a:rPr kumimoji="1" lang="en-US" altLang="zh-CN" sz="1200" dirty="0">
                  <a:latin typeface="+mn-ea"/>
                  <a:cs typeface="DengXian" charset="-122"/>
                </a:rPr>
                <a:t>=</a:t>
              </a:r>
              <a:r>
                <a:rPr kumimoji="1" lang="zh-CN" altLang="en-US" sz="1200" dirty="0">
                  <a:latin typeface="+mn-ea"/>
                  <a:cs typeface="DengXian" charset="-122"/>
                </a:rPr>
                <a:t> </a:t>
              </a:r>
              <a:r>
                <a:rPr kumimoji="1" lang="en-US" altLang="zh-CN" sz="1200" dirty="0">
                  <a:latin typeface="+mn-ea"/>
                  <a:cs typeface="DengXian" charset="-122"/>
                </a:rPr>
                <a:t>1)</a:t>
              </a:r>
              <a:endParaRPr kumimoji="1" lang="zh-CN" altLang="en-US" dirty="0">
                <a:latin typeface="+mn-ea"/>
                <a:cs typeface="DengXian" charset="-122"/>
              </a:endParaRPr>
            </a:p>
          </p:txBody>
        </p:sp>
      </p:grpSp>
      <p:sp>
        <p:nvSpPr>
          <p:cNvPr id="39" name="矩形 38">
            <a:extLst>
              <a:ext uri="{FF2B5EF4-FFF2-40B4-BE49-F238E27FC236}">
                <a16:creationId xmlns:a16="http://schemas.microsoft.com/office/drawing/2014/main" id="{23BCE59D-A88F-3248-B254-741F5422030B}"/>
              </a:ext>
            </a:extLst>
          </p:cNvPr>
          <p:cNvSpPr/>
          <p:nvPr/>
        </p:nvSpPr>
        <p:spPr>
          <a:xfrm>
            <a:off x="3857431" y="2423290"/>
            <a:ext cx="1368152" cy="574540"/>
          </a:xfrm>
          <a:prstGeom prst="rect">
            <a:avLst/>
          </a:prstGeom>
          <a:solidFill>
            <a:srgbClr val="C8EFFD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69B60D2-2A31-DD49-B4F9-12EC95FB235B}"/>
              </a:ext>
            </a:extLst>
          </p:cNvPr>
          <p:cNvGrpSpPr/>
          <p:nvPr/>
        </p:nvGrpSpPr>
        <p:grpSpPr>
          <a:xfrm>
            <a:off x="4018146" y="2500132"/>
            <a:ext cx="1046723" cy="411488"/>
            <a:chOff x="4035289" y="2500132"/>
            <a:chExt cx="1046723" cy="411488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0A5E9E00-C2F3-BD45-9FC8-CAD24BA19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5289" y="2500132"/>
              <a:ext cx="278050" cy="411488"/>
            </a:xfrm>
            <a:prstGeom prst="rect">
              <a:avLst/>
            </a:prstGeom>
          </p:spPr>
        </p:pic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56B0AFA6-7B80-7D4F-A754-CBD717C25294}"/>
                </a:ext>
              </a:extLst>
            </p:cNvPr>
            <p:cNvSpPr txBox="1"/>
            <p:nvPr/>
          </p:nvSpPr>
          <p:spPr>
            <a:xfrm>
              <a:off x="4311409" y="2536599"/>
              <a:ext cx="770603" cy="338554"/>
            </a:xfrm>
            <a:prstGeom prst="rect">
              <a:avLst/>
            </a:prstGeom>
            <a:noFill/>
          </p:spPr>
          <p:txBody>
            <a:bodyPr wrap="square" lIns="0" rIns="0" rtlCol="0" anchor="ctr" anchorCtr="0">
              <a:noAutofit/>
            </a:bodyPr>
            <a:lstStyle/>
            <a:p>
              <a:pPr algn="ctr"/>
              <a:r>
                <a:rPr kumimoji="1" lang="en-US" altLang="zh-CN" sz="1200" dirty="0">
                  <a:latin typeface="+mn-ea"/>
                  <a:cs typeface="DengXian" charset="-122"/>
                </a:rPr>
                <a:t>(key</a:t>
              </a:r>
              <a:r>
                <a:rPr kumimoji="1" lang="zh-CN" altLang="en-US" sz="1200" dirty="0">
                  <a:latin typeface="+mn-ea"/>
                  <a:cs typeface="DengXian" charset="-122"/>
                </a:rPr>
                <a:t> </a:t>
              </a:r>
              <a:r>
                <a:rPr kumimoji="1" lang="en-US" altLang="zh-CN" sz="1200" dirty="0">
                  <a:latin typeface="+mn-ea"/>
                  <a:cs typeface="DengXian" charset="-122"/>
                </a:rPr>
                <a:t>=</a:t>
              </a:r>
              <a:r>
                <a:rPr kumimoji="1" lang="zh-CN" altLang="en-US" sz="1200" dirty="0">
                  <a:latin typeface="+mn-ea"/>
                  <a:cs typeface="DengXian" charset="-122"/>
                </a:rPr>
                <a:t> </a:t>
              </a:r>
              <a:r>
                <a:rPr kumimoji="1" lang="en-US" altLang="zh-CN" sz="1200" dirty="0">
                  <a:latin typeface="+mn-ea"/>
                  <a:cs typeface="DengXian" charset="-122"/>
                </a:rPr>
                <a:t>1)</a:t>
              </a:r>
              <a:endParaRPr kumimoji="1" lang="zh-CN" altLang="en-US" dirty="0">
                <a:latin typeface="+mn-ea"/>
                <a:cs typeface="DengXian" charset="-122"/>
              </a:endParaRPr>
            </a:p>
          </p:txBody>
        </p:sp>
      </p:grpSp>
      <p:cxnSp>
        <p:nvCxnSpPr>
          <p:cNvPr id="47" name="直线连接符 46">
            <a:extLst>
              <a:ext uri="{FF2B5EF4-FFF2-40B4-BE49-F238E27FC236}">
                <a16:creationId xmlns:a16="http://schemas.microsoft.com/office/drawing/2014/main" id="{E4A6E20A-7E75-B54E-8E45-F87580CB15A0}"/>
              </a:ext>
            </a:extLst>
          </p:cNvPr>
          <p:cNvCxnSpPr>
            <a:stCxn id="39" idx="3"/>
            <a:endCxn id="37" idx="1"/>
          </p:cNvCxnSpPr>
          <p:nvPr/>
        </p:nvCxnSpPr>
        <p:spPr>
          <a:xfrm>
            <a:off x="5225583" y="2710560"/>
            <a:ext cx="1650673" cy="143015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0D76313E-80E7-B845-9418-52E2D23FEFE2}"/>
              </a:ext>
            </a:extLst>
          </p:cNvPr>
          <p:cNvSpPr txBox="1"/>
          <p:nvPr/>
        </p:nvSpPr>
        <p:spPr>
          <a:xfrm>
            <a:off x="5317786" y="1461278"/>
            <a:ext cx="1447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+mn-ea"/>
                <a:cs typeface="DengXian" charset="-122"/>
              </a:rPr>
              <a:t>页表 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365ECD2-18F0-1F4D-BEDE-C6313B67FF29}"/>
              </a:ext>
            </a:extLst>
          </p:cNvPr>
          <p:cNvSpPr txBox="1"/>
          <p:nvPr/>
        </p:nvSpPr>
        <p:spPr>
          <a:xfrm>
            <a:off x="885124" y="1461278"/>
            <a:ext cx="1447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latin typeface="+mn-ea"/>
                <a:cs typeface="DengXian" charset="-122"/>
              </a:rPr>
              <a:t>特权级别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0B5B83E-EFB6-A641-BF58-DBD8729C8947}"/>
              </a:ext>
            </a:extLst>
          </p:cNvPr>
          <p:cNvSpPr/>
          <p:nvPr/>
        </p:nvSpPr>
        <p:spPr>
          <a:xfrm>
            <a:off x="924776" y="2092955"/>
            <a:ext cx="1368152" cy="904869"/>
          </a:xfrm>
          <a:prstGeom prst="rect">
            <a:avLst/>
          </a:prstGeom>
          <a:solidFill>
            <a:srgbClr val="C8EFFD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操作系统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8E7F340-1D9F-0347-AD5F-42C860988E1E}"/>
              </a:ext>
            </a:extLst>
          </p:cNvPr>
          <p:cNvSpPr/>
          <p:nvPr/>
        </p:nvSpPr>
        <p:spPr>
          <a:xfrm>
            <a:off x="924776" y="3450767"/>
            <a:ext cx="1368152" cy="402675"/>
          </a:xfrm>
          <a:prstGeom prst="rect">
            <a:avLst/>
          </a:prstGeom>
          <a:solidFill>
            <a:srgbClr val="FFC5D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恶意应用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0903146-A065-9044-B612-1BC1F23DE3B5}"/>
              </a:ext>
            </a:extLst>
          </p:cNvPr>
          <p:cNvSpPr/>
          <p:nvPr/>
        </p:nvSpPr>
        <p:spPr>
          <a:xfrm>
            <a:off x="924776" y="4025310"/>
            <a:ext cx="1368152" cy="40267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应用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D1A7533-FBE6-E54C-AD25-16530CCE7B1B}"/>
              </a:ext>
            </a:extLst>
          </p:cNvPr>
          <p:cNvSpPr txBox="1"/>
          <p:nvPr/>
        </p:nvSpPr>
        <p:spPr>
          <a:xfrm>
            <a:off x="179512" y="2806978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latin typeface="+mn-ea"/>
                <a:cs typeface="DengXian" charset="-122"/>
              </a:rPr>
              <a:t>内核态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50833DD7-048D-5848-A209-B98A2916946E}"/>
              </a:ext>
            </a:extLst>
          </p:cNvPr>
          <p:cNvSpPr txBox="1"/>
          <p:nvPr/>
        </p:nvSpPr>
        <p:spPr>
          <a:xfrm>
            <a:off x="179512" y="3249407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latin typeface="+mn-ea"/>
                <a:cs typeface="DengXian" charset="-122"/>
              </a:rPr>
              <a:t>用户态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004183E-010A-B24A-87C9-D305FA922C48}"/>
              </a:ext>
            </a:extLst>
          </p:cNvPr>
          <p:cNvSpPr/>
          <p:nvPr/>
        </p:nvSpPr>
        <p:spPr>
          <a:xfrm>
            <a:off x="921295" y="4599853"/>
            <a:ext cx="1368152" cy="40267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应用</a:t>
            </a:r>
          </a:p>
        </p:txBody>
      </p:sp>
      <p:cxnSp>
        <p:nvCxnSpPr>
          <p:cNvPr id="64" name="直线箭头连接符 63">
            <a:extLst>
              <a:ext uri="{FF2B5EF4-FFF2-40B4-BE49-F238E27FC236}">
                <a16:creationId xmlns:a16="http://schemas.microsoft.com/office/drawing/2014/main" id="{B698FA99-702C-5A4E-8A7F-44A9D6DC0389}"/>
              </a:ext>
            </a:extLst>
          </p:cNvPr>
          <p:cNvCxnSpPr>
            <a:cxnSpLocks/>
          </p:cNvCxnSpPr>
          <p:nvPr/>
        </p:nvCxnSpPr>
        <p:spPr>
          <a:xfrm>
            <a:off x="2332580" y="2609286"/>
            <a:ext cx="152485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49AB8AB1-F820-EB4E-8902-F220E0DB8C03}"/>
              </a:ext>
            </a:extLst>
          </p:cNvPr>
          <p:cNvSpPr txBox="1"/>
          <p:nvPr/>
        </p:nvSpPr>
        <p:spPr>
          <a:xfrm>
            <a:off x="2452283" y="2117562"/>
            <a:ext cx="115962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>
                <a:latin typeface="+mn-ea"/>
                <a:cs typeface="DengXian" charset="-122"/>
              </a:rPr>
              <a:t>access</a:t>
            </a:r>
            <a:r>
              <a:rPr kumimoji="1" lang="zh-CN" altLang="en-US" sz="1400" dirty="0">
                <a:latin typeface="+mn-ea"/>
                <a:cs typeface="DengXian" charset="-122"/>
              </a:rPr>
              <a:t> </a:t>
            </a:r>
            <a:r>
              <a:rPr kumimoji="1" lang="en-US" altLang="zh-CN" sz="1400" b="1" dirty="0">
                <a:solidFill>
                  <a:srgbClr val="FF2F92"/>
                </a:solidFill>
                <a:latin typeface="+mn-ea"/>
                <a:cs typeface="DengXian" charset="-122"/>
              </a:rPr>
              <a:t>key</a:t>
            </a:r>
          </a:p>
          <a:p>
            <a:pPr algn="ctr"/>
            <a:r>
              <a:rPr kumimoji="1" lang="zh-CN" altLang="en-US" sz="1100" dirty="0">
                <a:latin typeface="+mn-ea"/>
                <a:cs typeface="DengXian" charset="-122"/>
              </a:rPr>
              <a:t>（</a:t>
            </a:r>
            <a:r>
              <a:rPr kumimoji="1" lang="en-US" altLang="zh-CN" sz="1100" dirty="0">
                <a:latin typeface="+mn-ea"/>
                <a:cs typeface="DengXian" charset="-122"/>
              </a:rPr>
              <a:t>user</a:t>
            </a:r>
            <a:r>
              <a:rPr kumimoji="1" lang="zh-CN" altLang="en-US" sz="1100" dirty="0">
                <a:latin typeface="+mn-ea"/>
                <a:cs typeface="DengXian" charset="-122"/>
              </a:rPr>
              <a:t> </a:t>
            </a:r>
            <a:r>
              <a:rPr kumimoji="1" lang="en-US" altLang="zh-CN" sz="1100" dirty="0">
                <a:latin typeface="+mn-ea"/>
                <a:cs typeface="DengXian" charset="-122"/>
              </a:rPr>
              <a:t>bit</a:t>
            </a:r>
            <a:r>
              <a:rPr kumimoji="1" lang="zh-CN" altLang="en-US" sz="1100" dirty="0">
                <a:latin typeface="+mn-ea"/>
                <a:cs typeface="DengXian" charset="-122"/>
              </a:rPr>
              <a:t> </a:t>
            </a:r>
            <a:r>
              <a:rPr kumimoji="1" lang="en-US" altLang="zh-CN" sz="1100" dirty="0">
                <a:latin typeface="+mn-ea"/>
                <a:cs typeface="DengXian" charset="-122"/>
              </a:rPr>
              <a:t>=</a:t>
            </a:r>
            <a:r>
              <a:rPr kumimoji="1" lang="zh-CN" altLang="en-US" sz="1100" dirty="0">
                <a:latin typeface="+mn-ea"/>
                <a:cs typeface="DengXian" charset="-122"/>
              </a:rPr>
              <a:t> </a:t>
            </a:r>
            <a:r>
              <a:rPr kumimoji="1" lang="en-US" altLang="zh-CN" sz="1100" dirty="0">
                <a:latin typeface="+mn-ea"/>
                <a:cs typeface="DengXian" charset="-122"/>
              </a:rPr>
              <a:t>0)</a:t>
            </a:r>
            <a:endParaRPr kumimoji="1" lang="zh-CN" altLang="en-US" sz="1100" dirty="0">
              <a:latin typeface="+mn-ea"/>
              <a:cs typeface="DengXian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0857A1E-0873-A242-BE1C-6B2289D775A6}"/>
              </a:ext>
            </a:extLst>
          </p:cNvPr>
          <p:cNvSpPr txBox="1"/>
          <p:nvPr/>
        </p:nvSpPr>
        <p:spPr>
          <a:xfrm>
            <a:off x="5501261" y="2412295"/>
            <a:ext cx="1084388" cy="44996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rgbClr val="00B050"/>
                </a:solidFill>
                <a:cs typeface="DengXian" charset="-122"/>
              </a:rPr>
              <a:t>Permission</a:t>
            </a:r>
            <a:r>
              <a:rPr kumimoji="1" lang="zh-CN" altLang="en-US" sz="1400" b="1" dirty="0">
                <a:solidFill>
                  <a:srgbClr val="00B050"/>
                </a:solidFill>
                <a:cs typeface="DengXian" charset="-122"/>
              </a:rPr>
              <a:t> </a:t>
            </a:r>
            <a:endParaRPr kumimoji="1" lang="en-US" altLang="zh-CN" sz="1400" b="1" dirty="0">
              <a:solidFill>
                <a:srgbClr val="00B050"/>
              </a:solidFill>
              <a:cs typeface="DengXian" charset="-122"/>
            </a:endParaRPr>
          </a:p>
          <a:p>
            <a:pPr algn="ctr"/>
            <a:r>
              <a:rPr kumimoji="1" lang="en-US" altLang="zh-CN" sz="1400" b="1" dirty="0">
                <a:solidFill>
                  <a:srgbClr val="00B050"/>
                </a:solidFill>
                <a:cs typeface="DengXian" charset="-122"/>
              </a:rPr>
              <a:t>Check</a:t>
            </a:r>
            <a:r>
              <a:rPr kumimoji="1" lang="zh-CN" altLang="en-US" sz="1400" b="1" dirty="0">
                <a:solidFill>
                  <a:srgbClr val="00B050"/>
                </a:solidFill>
                <a:cs typeface="DengXian" charset="-122"/>
              </a:rPr>
              <a:t> </a:t>
            </a:r>
            <a:r>
              <a:rPr kumimoji="1" lang="zh-CN" altLang="en-US" b="1" dirty="0">
                <a:solidFill>
                  <a:srgbClr val="00B050"/>
                </a:solidFill>
                <a:cs typeface="DengXian" charset="-122"/>
              </a:rPr>
              <a:t>✓</a:t>
            </a:r>
            <a:endParaRPr kumimoji="1" lang="zh-CN" altLang="en-US" sz="500" b="1" dirty="0">
              <a:solidFill>
                <a:srgbClr val="00B050"/>
              </a:solidFill>
              <a:cs typeface="DengXian" charset="-122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7A46A72-D316-2E48-885B-F2027BC0584A}"/>
              </a:ext>
            </a:extLst>
          </p:cNvPr>
          <p:cNvSpPr/>
          <p:nvPr/>
        </p:nvSpPr>
        <p:spPr>
          <a:xfrm>
            <a:off x="5021283" y="3344666"/>
            <a:ext cx="2071013" cy="2806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FAAEEAF-45AB-834C-B103-9B4FC4DF1B6B}"/>
              </a:ext>
            </a:extLst>
          </p:cNvPr>
          <p:cNvSpPr/>
          <p:nvPr/>
        </p:nvSpPr>
        <p:spPr>
          <a:xfrm>
            <a:off x="5024016" y="3339939"/>
            <a:ext cx="1378340" cy="2806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0xbeef0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E59F55C-1F34-944B-89B9-D130D8A12D58}"/>
              </a:ext>
            </a:extLst>
          </p:cNvPr>
          <p:cNvSpPr/>
          <p:nvPr/>
        </p:nvSpPr>
        <p:spPr>
          <a:xfrm>
            <a:off x="6402356" y="3344121"/>
            <a:ext cx="264582" cy="2806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…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73BEDEE-EB96-D645-94CE-ADA2284E2A37}"/>
              </a:ext>
            </a:extLst>
          </p:cNvPr>
          <p:cNvSpPr/>
          <p:nvPr/>
        </p:nvSpPr>
        <p:spPr>
          <a:xfrm>
            <a:off x="6666938" y="3344121"/>
            <a:ext cx="144000" cy="2806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0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D1BC875-824C-3045-9103-F4BFA10089F6}"/>
              </a:ext>
            </a:extLst>
          </p:cNvPr>
          <p:cNvSpPr/>
          <p:nvPr/>
        </p:nvSpPr>
        <p:spPr>
          <a:xfrm>
            <a:off x="6810938" y="3344121"/>
            <a:ext cx="144000" cy="2806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CD6167DB-9D55-C747-8BBE-5E8E7C027CBC}"/>
              </a:ext>
            </a:extLst>
          </p:cNvPr>
          <p:cNvSpPr/>
          <p:nvPr/>
        </p:nvSpPr>
        <p:spPr>
          <a:xfrm>
            <a:off x="6954938" y="3344121"/>
            <a:ext cx="144000" cy="2806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8464B6BE-792D-BE44-BA53-02F7573ABB79}"/>
              </a:ext>
            </a:extLst>
          </p:cNvPr>
          <p:cNvSpPr txBox="1"/>
          <p:nvPr/>
        </p:nvSpPr>
        <p:spPr>
          <a:xfrm>
            <a:off x="6073431" y="2971468"/>
            <a:ext cx="755630" cy="25119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CN" sz="1200" dirty="0">
                <a:latin typeface="+mn-ea"/>
                <a:cs typeface="DengXian" charset="-122"/>
              </a:rPr>
              <a:t>User</a:t>
            </a:r>
            <a:r>
              <a:rPr kumimoji="1" lang="zh-CN" altLang="en-US" sz="1200" dirty="0">
                <a:latin typeface="+mn-ea"/>
                <a:cs typeface="DengXian" charset="-122"/>
              </a:rPr>
              <a:t> </a:t>
            </a:r>
            <a:r>
              <a:rPr kumimoji="1" lang="en-US" altLang="zh-CN" sz="1200" dirty="0">
                <a:latin typeface="+mn-ea"/>
                <a:cs typeface="DengXian" charset="-122"/>
              </a:rPr>
              <a:t>Bit</a:t>
            </a:r>
            <a:endParaRPr kumimoji="1" lang="zh-CN" altLang="en-US" sz="1200" dirty="0">
              <a:latin typeface="+mn-ea"/>
              <a:cs typeface="DengXian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1D7AD9AA-F9C6-BE42-88EF-6E9AE63006AC}"/>
              </a:ext>
            </a:extLst>
          </p:cNvPr>
          <p:cNvSpPr txBox="1"/>
          <p:nvPr/>
        </p:nvSpPr>
        <p:spPr>
          <a:xfrm>
            <a:off x="8231707" y="3726926"/>
            <a:ext cx="973202" cy="239790"/>
          </a:xfrm>
          <a:prstGeom prst="rect">
            <a:avLst/>
          </a:prstGeom>
          <a:noFill/>
        </p:spPr>
        <p:txBody>
          <a:bodyPr wrap="square" lIns="0" r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CN" sz="1200" dirty="0">
                <a:latin typeface="+mn-ea"/>
                <a:cs typeface="DengXian" charset="-122"/>
              </a:rPr>
              <a:t>0xbeef0000</a:t>
            </a:r>
            <a:endParaRPr kumimoji="1" lang="zh-CN" altLang="en-US" sz="1200" dirty="0">
              <a:latin typeface="+mn-ea"/>
              <a:cs typeface="DengXian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9CB8466E-DB78-EB46-8094-7E2534696F70}"/>
              </a:ext>
            </a:extLst>
          </p:cNvPr>
          <p:cNvSpPr txBox="1"/>
          <p:nvPr/>
        </p:nvSpPr>
        <p:spPr>
          <a:xfrm>
            <a:off x="5268093" y="3884838"/>
            <a:ext cx="1173504" cy="380088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ctr"/>
            <a:r>
              <a:rPr kumimoji="1" lang="en-US" altLang="zh-CN" sz="1200" dirty="0">
                <a:latin typeface="+mn-ea"/>
                <a:cs typeface="DengXian" charset="-122"/>
              </a:rPr>
              <a:t>Physical</a:t>
            </a:r>
            <a:r>
              <a:rPr kumimoji="1" lang="zh-CN" altLang="en-US" sz="1200" dirty="0">
                <a:latin typeface="+mn-ea"/>
                <a:cs typeface="DengXian" charset="-122"/>
              </a:rPr>
              <a:t> </a:t>
            </a:r>
            <a:r>
              <a:rPr kumimoji="1" lang="en-US" altLang="zh-CN" sz="1200" dirty="0">
                <a:latin typeface="+mn-ea"/>
                <a:cs typeface="DengXian" charset="-122"/>
              </a:rPr>
              <a:t>Page</a:t>
            </a:r>
            <a:r>
              <a:rPr kumimoji="1" lang="zh-CN" altLang="en-US" sz="1200" dirty="0">
                <a:latin typeface="+mn-ea"/>
                <a:cs typeface="DengXian" charset="-122"/>
              </a:rPr>
              <a:t> </a:t>
            </a:r>
            <a:r>
              <a:rPr kumimoji="1" lang="en-US" altLang="zh-CN" sz="1200" dirty="0">
                <a:latin typeface="+mn-ea"/>
                <a:cs typeface="DengXian" charset="-122"/>
              </a:rPr>
              <a:t>Number</a:t>
            </a:r>
            <a:endParaRPr kumimoji="1" lang="zh-CN" altLang="en-US" sz="1200" dirty="0">
              <a:latin typeface="+mn-ea"/>
              <a:cs typeface="DengXian" charset="-122"/>
            </a:endParaRPr>
          </a:p>
        </p:txBody>
      </p: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2D79327D-56E4-244E-9209-97AAEA118264}"/>
              </a:ext>
            </a:extLst>
          </p:cNvPr>
          <p:cNvCxnSpPr>
            <a:cxnSpLocks/>
            <a:stCxn id="81" idx="2"/>
            <a:endCxn id="76" idx="0"/>
          </p:cNvCxnSpPr>
          <p:nvPr/>
        </p:nvCxnSpPr>
        <p:spPr>
          <a:xfrm>
            <a:off x="6451246" y="3222661"/>
            <a:ext cx="287692" cy="1214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连接符 87">
            <a:extLst>
              <a:ext uri="{FF2B5EF4-FFF2-40B4-BE49-F238E27FC236}">
                <a16:creationId xmlns:a16="http://schemas.microsoft.com/office/drawing/2014/main" id="{AB40B3A7-6980-6642-8CB4-621F29642ED1}"/>
              </a:ext>
            </a:extLst>
          </p:cNvPr>
          <p:cNvCxnSpPr>
            <a:cxnSpLocks/>
            <a:stCxn id="84" idx="0"/>
            <a:endCxn id="71" idx="2"/>
          </p:cNvCxnSpPr>
          <p:nvPr/>
        </p:nvCxnSpPr>
        <p:spPr>
          <a:xfrm flipH="1" flipV="1">
            <a:off x="5713186" y="3620542"/>
            <a:ext cx="141659" cy="26429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150BE223-6EB3-B245-B073-EAAF5246203D}"/>
              </a:ext>
            </a:extLst>
          </p:cNvPr>
          <p:cNvCxnSpPr>
            <a:cxnSpLocks/>
          </p:cNvCxnSpPr>
          <p:nvPr/>
        </p:nvCxnSpPr>
        <p:spPr>
          <a:xfrm>
            <a:off x="2332580" y="2857500"/>
            <a:ext cx="1524851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35303BB9-2775-CE44-8984-0AB8BF94378F}"/>
              </a:ext>
            </a:extLst>
          </p:cNvPr>
          <p:cNvSpPr txBox="1"/>
          <p:nvPr/>
        </p:nvSpPr>
        <p:spPr>
          <a:xfrm>
            <a:off x="2526830" y="2839382"/>
            <a:ext cx="115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>
                <a:latin typeface="+mn-ea"/>
                <a:cs typeface="DengXian" charset="-122"/>
              </a:rPr>
              <a:t>key</a:t>
            </a:r>
            <a:r>
              <a:rPr kumimoji="1" lang="zh-CN" altLang="en-US" sz="1400" dirty="0">
                <a:latin typeface="+mn-ea"/>
                <a:cs typeface="DengXian" charset="-122"/>
              </a:rPr>
              <a:t> </a:t>
            </a:r>
            <a:r>
              <a:rPr kumimoji="1" lang="en-US" altLang="zh-CN" sz="1400" dirty="0">
                <a:latin typeface="+mn-ea"/>
                <a:cs typeface="DengXian" charset="-122"/>
              </a:rPr>
              <a:t>=</a:t>
            </a:r>
            <a:r>
              <a:rPr kumimoji="1" lang="zh-CN" altLang="en-US" sz="1400" dirty="0">
                <a:latin typeface="+mn-ea"/>
                <a:cs typeface="DengXian" charset="-122"/>
              </a:rPr>
              <a:t> </a:t>
            </a:r>
            <a:r>
              <a:rPr kumimoji="1" lang="en-US" altLang="zh-CN" sz="1400" dirty="0">
                <a:latin typeface="+mn-ea"/>
                <a:cs typeface="DengXian" charset="-122"/>
              </a:rPr>
              <a:t>1</a:t>
            </a:r>
            <a:endParaRPr kumimoji="1" lang="zh-CN" altLang="en-US" sz="1100" dirty="0">
              <a:latin typeface="+mn-ea"/>
              <a:cs typeface="DengXia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094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905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905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2" grpId="0"/>
      <p:bldP spid="53" grpId="0" animBg="1"/>
      <p:bldP spid="54" grpId="0" animBg="1"/>
      <p:bldP spid="55" grpId="0" animBg="1"/>
      <p:bldP spid="58" grpId="0"/>
      <p:bldP spid="60" grpId="0"/>
      <p:bldP spid="62" grpId="0" animBg="1"/>
      <p:bldP spid="65" grpId="0"/>
      <p:bldP spid="66" grpId="0" animBg="1"/>
      <p:bldP spid="69" grpId="0" animBg="1"/>
      <p:bldP spid="71" grpId="0" animBg="1"/>
      <p:bldP spid="74" grpId="0" animBg="1"/>
      <p:bldP spid="76" grpId="0" animBg="1"/>
      <p:bldP spid="76" grpId="1" animBg="1"/>
      <p:bldP spid="79" grpId="0" animBg="1"/>
      <p:bldP spid="80" grpId="0" animBg="1"/>
      <p:bldP spid="81" grpId="0" animBg="1"/>
      <p:bldP spid="81" grpId="1" animBg="1"/>
      <p:bldP spid="84" grpId="0"/>
      <p:bldP spid="10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背景</a:t>
            </a:r>
            <a:r>
              <a:rPr lang="en-US" altLang="zh-CN" dirty="0">
                <a:latin typeface="+mn-ea"/>
              </a:rPr>
              <a:t>-1</a:t>
            </a:r>
            <a:r>
              <a:rPr lang="zh-CN" altLang="en-US" dirty="0">
                <a:latin typeface="+mn-ea"/>
              </a:rPr>
              <a:t>：</a:t>
            </a:r>
            <a:r>
              <a:rPr lang="zh-CN" altLang="en-US" dirty="0">
                <a:latin typeface="+mn-ea"/>
                <a:ea typeface="+mn-ea"/>
              </a:rPr>
              <a:t>基于页表权限的内核数据保护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>
                <a:latin typeface="+mn-ea"/>
                <a:ea typeface="+mn-ea"/>
              </a:rPr>
              <a:t>10</a:t>
            </a:fld>
            <a:endParaRPr lang="zh-CN" altLang="en-US" dirty="0">
              <a:latin typeface="+mn-ea"/>
              <a:ea typeface="+mn-ea"/>
            </a:endParaRP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9E05C770-678B-984D-BDB9-8FFF994D8BA2}"/>
              </a:ext>
            </a:extLst>
          </p:cNvPr>
          <p:cNvCxnSpPr>
            <a:cxnSpLocks/>
          </p:cNvCxnSpPr>
          <p:nvPr/>
        </p:nvCxnSpPr>
        <p:spPr>
          <a:xfrm flipH="1">
            <a:off x="179512" y="3220454"/>
            <a:ext cx="2304256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88AC68CC-AE9A-2D46-935F-176C73E90885}"/>
              </a:ext>
            </a:extLst>
          </p:cNvPr>
          <p:cNvSpPr/>
          <p:nvPr/>
        </p:nvSpPr>
        <p:spPr>
          <a:xfrm>
            <a:off x="3857431" y="1917452"/>
            <a:ext cx="1368152" cy="1303003"/>
          </a:xfrm>
          <a:prstGeom prst="rect">
            <a:avLst/>
          </a:prstGeom>
          <a:solidFill>
            <a:srgbClr val="C8EFFD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96295E-15CC-8646-BD41-7B4F21ADF6B2}"/>
              </a:ext>
            </a:extLst>
          </p:cNvPr>
          <p:cNvSpPr/>
          <p:nvPr/>
        </p:nvSpPr>
        <p:spPr>
          <a:xfrm>
            <a:off x="3857431" y="3220454"/>
            <a:ext cx="1368152" cy="2076507"/>
          </a:xfrm>
          <a:prstGeom prst="rect">
            <a:avLst/>
          </a:prstGeom>
          <a:solidFill>
            <a:srgbClr val="FFC6DC"/>
          </a:solidFill>
          <a:ln w="254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2140EFA-5C74-9542-AE3F-1623E3721C6C}"/>
              </a:ext>
            </a:extLst>
          </p:cNvPr>
          <p:cNvSpPr txBox="1"/>
          <p:nvPr/>
        </p:nvSpPr>
        <p:spPr>
          <a:xfrm>
            <a:off x="3817779" y="1455890"/>
            <a:ext cx="1447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latin typeface="+mn-ea"/>
                <a:cs typeface="DengXian" charset="-122"/>
              </a:rPr>
              <a:t>虚拟地址空间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BBA58CF-537A-CA48-BAFC-E93D1762B7E0}"/>
              </a:ext>
            </a:extLst>
          </p:cNvPr>
          <p:cNvSpPr txBox="1"/>
          <p:nvPr/>
        </p:nvSpPr>
        <p:spPr>
          <a:xfrm>
            <a:off x="3857431" y="1961728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+mn-ea"/>
                <a:cs typeface="DengXian" charset="-122"/>
              </a:rPr>
              <a:t>内核内存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C11543D-E60F-9644-B405-624C4C645DB4}"/>
              </a:ext>
            </a:extLst>
          </p:cNvPr>
          <p:cNvSpPr txBox="1"/>
          <p:nvPr/>
        </p:nvSpPr>
        <p:spPr>
          <a:xfrm>
            <a:off x="3857431" y="4089431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+mn-ea"/>
                <a:cs typeface="DengXian" charset="-122"/>
              </a:rPr>
              <a:t>用户内存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738FBC3-F63D-2B4C-981F-1248C60B14B4}"/>
              </a:ext>
            </a:extLst>
          </p:cNvPr>
          <p:cNvSpPr/>
          <p:nvPr/>
        </p:nvSpPr>
        <p:spPr>
          <a:xfrm>
            <a:off x="6876256" y="1917452"/>
            <a:ext cx="1368152" cy="130300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960D70-7FB2-4B44-8B44-70897EA88A37}"/>
              </a:ext>
            </a:extLst>
          </p:cNvPr>
          <p:cNvSpPr/>
          <p:nvPr/>
        </p:nvSpPr>
        <p:spPr>
          <a:xfrm>
            <a:off x="6876256" y="1917452"/>
            <a:ext cx="1368152" cy="337950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D11F212-6C39-DD47-8D52-4C0F35A6EEAB}"/>
              </a:ext>
            </a:extLst>
          </p:cNvPr>
          <p:cNvSpPr txBox="1"/>
          <p:nvPr/>
        </p:nvSpPr>
        <p:spPr>
          <a:xfrm>
            <a:off x="6836604" y="1455890"/>
            <a:ext cx="1447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latin typeface="+mn-ea"/>
                <a:cs typeface="DengXian" charset="-122"/>
              </a:rPr>
              <a:t>物理地址空间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7483162-1019-A746-9D76-1157C0BE7B5B}"/>
              </a:ext>
            </a:extLst>
          </p:cNvPr>
          <p:cNvSpPr/>
          <p:nvPr/>
        </p:nvSpPr>
        <p:spPr>
          <a:xfrm>
            <a:off x="6876256" y="3853445"/>
            <a:ext cx="1368152" cy="5745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E34BEA1-95AE-C74E-99AD-009BF16A0DC7}"/>
              </a:ext>
            </a:extLst>
          </p:cNvPr>
          <p:cNvGrpSpPr/>
          <p:nvPr/>
        </p:nvGrpSpPr>
        <p:grpSpPr>
          <a:xfrm>
            <a:off x="7036971" y="3930287"/>
            <a:ext cx="1046723" cy="411488"/>
            <a:chOff x="6602216" y="3930287"/>
            <a:chExt cx="1046723" cy="411488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FB7DCC3A-FD53-5C47-8BE1-4135C6426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2216" y="3930287"/>
              <a:ext cx="278050" cy="411488"/>
            </a:xfrm>
            <a:prstGeom prst="rect">
              <a:avLst/>
            </a:prstGeom>
          </p:spPr>
        </p:pic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B052261D-32B4-7D4F-9DF4-077B2D3E2964}"/>
                </a:ext>
              </a:extLst>
            </p:cNvPr>
            <p:cNvSpPr txBox="1"/>
            <p:nvPr/>
          </p:nvSpPr>
          <p:spPr>
            <a:xfrm>
              <a:off x="6878336" y="3966754"/>
              <a:ext cx="770603" cy="338554"/>
            </a:xfrm>
            <a:prstGeom prst="rect">
              <a:avLst/>
            </a:prstGeom>
            <a:noFill/>
          </p:spPr>
          <p:txBody>
            <a:bodyPr wrap="square" lIns="0" rIns="0" rtlCol="0" anchor="ctr" anchorCtr="0">
              <a:noAutofit/>
            </a:bodyPr>
            <a:lstStyle/>
            <a:p>
              <a:pPr algn="ctr"/>
              <a:r>
                <a:rPr kumimoji="1" lang="en-US" altLang="zh-CN" sz="1200" dirty="0">
                  <a:latin typeface="+mn-ea"/>
                  <a:cs typeface="DengXian" charset="-122"/>
                </a:rPr>
                <a:t>(key</a:t>
              </a:r>
              <a:r>
                <a:rPr kumimoji="1" lang="zh-CN" altLang="en-US" sz="1200" dirty="0">
                  <a:latin typeface="+mn-ea"/>
                  <a:cs typeface="DengXian" charset="-122"/>
                </a:rPr>
                <a:t> </a:t>
              </a:r>
              <a:r>
                <a:rPr kumimoji="1" lang="en-US" altLang="zh-CN" sz="1200" dirty="0">
                  <a:latin typeface="+mn-ea"/>
                  <a:cs typeface="DengXian" charset="-122"/>
                </a:rPr>
                <a:t>=</a:t>
              </a:r>
              <a:r>
                <a:rPr kumimoji="1" lang="zh-CN" altLang="en-US" sz="1200" dirty="0">
                  <a:latin typeface="+mn-ea"/>
                  <a:cs typeface="DengXian" charset="-122"/>
                </a:rPr>
                <a:t> </a:t>
              </a:r>
              <a:r>
                <a:rPr kumimoji="1" lang="en-US" altLang="zh-CN" sz="1200" dirty="0">
                  <a:latin typeface="+mn-ea"/>
                  <a:cs typeface="DengXian" charset="-122"/>
                </a:rPr>
                <a:t>1)</a:t>
              </a:r>
              <a:endParaRPr kumimoji="1" lang="zh-CN" altLang="en-US" dirty="0">
                <a:latin typeface="+mn-ea"/>
                <a:cs typeface="DengXian" charset="-122"/>
              </a:endParaRPr>
            </a:p>
          </p:txBody>
        </p:sp>
      </p:grpSp>
      <p:sp>
        <p:nvSpPr>
          <p:cNvPr id="39" name="矩形 38">
            <a:extLst>
              <a:ext uri="{FF2B5EF4-FFF2-40B4-BE49-F238E27FC236}">
                <a16:creationId xmlns:a16="http://schemas.microsoft.com/office/drawing/2014/main" id="{23BCE59D-A88F-3248-B254-741F5422030B}"/>
              </a:ext>
            </a:extLst>
          </p:cNvPr>
          <p:cNvSpPr/>
          <p:nvPr/>
        </p:nvSpPr>
        <p:spPr>
          <a:xfrm>
            <a:off x="3857431" y="2423290"/>
            <a:ext cx="1368152" cy="574540"/>
          </a:xfrm>
          <a:prstGeom prst="rect">
            <a:avLst/>
          </a:prstGeom>
          <a:solidFill>
            <a:srgbClr val="C8EFFD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69B60D2-2A31-DD49-B4F9-12EC95FB235B}"/>
              </a:ext>
            </a:extLst>
          </p:cNvPr>
          <p:cNvGrpSpPr/>
          <p:nvPr/>
        </p:nvGrpSpPr>
        <p:grpSpPr>
          <a:xfrm>
            <a:off x="4018146" y="2500132"/>
            <a:ext cx="1046723" cy="411488"/>
            <a:chOff x="4035289" y="2500132"/>
            <a:chExt cx="1046723" cy="411488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0A5E9E00-C2F3-BD45-9FC8-CAD24BA19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5289" y="2500132"/>
              <a:ext cx="278050" cy="411488"/>
            </a:xfrm>
            <a:prstGeom prst="rect">
              <a:avLst/>
            </a:prstGeom>
          </p:spPr>
        </p:pic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56B0AFA6-7B80-7D4F-A754-CBD717C25294}"/>
                </a:ext>
              </a:extLst>
            </p:cNvPr>
            <p:cNvSpPr txBox="1"/>
            <p:nvPr/>
          </p:nvSpPr>
          <p:spPr>
            <a:xfrm>
              <a:off x="4311409" y="2536599"/>
              <a:ext cx="770603" cy="338554"/>
            </a:xfrm>
            <a:prstGeom prst="rect">
              <a:avLst/>
            </a:prstGeom>
            <a:noFill/>
          </p:spPr>
          <p:txBody>
            <a:bodyPr wrap="square" lIns="0" rIns="0" rtlCol="0" anchor="ctr" anchorCtr="0">
              <a:noAutofit/>
            </a:bodyPr>
            <a:lstStyle/>
            <a:p>
              <a:pPr algn="ctr"/>
              <a:r>
                <a:rPr kumimoji="1" lang="en-US" altLang="zh-CN" sz="1200" dirty="0">
                  <a:latin typeface="+mn-ea"/>
                  <a:cs typeface="DengXian" charset="-122"/>
                </a:rPr>
                <a:t>(key</a:t>
              </a:r>
              <a:r>
                <a:rPr kumimoji="1" lang="zh-CN" altLang="en-US" sz="1200" dirty="0">
                  <a:latin typeface="+mn-ea"/>
                  <a:cs typeface="DengXian" charset="-122"/>
                </a:rPr>
                <a:t> </a:t>
              </a:r>
              <a:r>
                <a:rPr kumimoji="1" lang="en-US" altLang="zh-CN" sz="1200" dirty="0">
                  <a:latin typeface="+mn-ea"/>
                  <a:cs typeface="DengXian" charset="-122"/>
                </a:rPr>
                <a:t>=</a:t>
              </a:r>
              <a:r>
                <a:rPr kumimoji="1" lang="zh-CN" altLang="en-US" sz="1200" dirty="0">
                  <a:latin typeface="+mn-ea"/>
                  <a:cs typeface="DengXian" charset="-122"/>
                </a:rPr>
                <a:t> </a:t>
              </a:r>
              <a:r>
                <a:rPr kumimoji="1" lang="en-US" altLang="zh-CN" sz="1200" dirty="0">
                  <a:latin typeface="+mn-ea"/>
                  <a:cs typeface="DengXian" charset="-122"/>
                </a:rPr>
                <a:t>1)</a:t>
              </a:r>
              <a:endParaRPr kumimoji="1" lang="zh-CN" altLang="en-US" dirty="0">
                <a:latin typeface="+mn-ea"/>
                <a:cs typeface="DengXian" charset="-122"/>
              </a:endParaRPr>
            </a:p>
          </p:txBody>
        </p:sp>
      </p:grpSp>
      <p:cxnSp>
        <p:nvCxnSpPr>
          <p:cNvPr id="47" name="直线连接符 46">
            <a:extLst>
              <a:ext uri="{FF2B5EF4-FFF2-40B4-BE49-F238E27FC236}">
                <a16:creationId xmlns:a16="http://schemas.microsoft.com/office/drawing/2014/main" id="{E4A6E20A-7E75-B54E-8E45-F87580CB15A0}"/>
              </a:ext>
            </a:extLst>
          </p:cNvPr>
          <p:cNvCxnSpPr>
            <a:stCxn id="39" idx="3"/>
            <a:endCxn id="37" idx="1"/>
          </p:cNvCxnSpPr>
          <p:nvPr/>
        </p:nvCxnSpPr>
        <p:spPr>
          <a:xfrm>
            <a:off x="5225583" y="2710560"/>
            <a:ext cx="1650673" cy="143015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0D76313E-80E7-B845-9418-52E2D23FEFE2}"/>
              </a:ext>
            </a:extLst>
          </p:cNvPr>
          <p:cNvSpPr txBox="1"/>
          <p:nvPr/>
        </p:nvSpPr>
        <p:spPr>
          <a:xfrm>
            <a:off x="5317786" y="1461278"/>
            <a:ext cx="1447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+mn-ea"/>
                <a:cs typeface="DengXian" charset="-122"/>
              </a:rPr>
              <a:t>页表 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365ECD2-18F0-1F4D-BEDE-C6313B67FF29}"/>
              </a:ext>
            </a:extLst>
          </p:cNvPr>
          <p:cNvSpPr txBox="1"/>
          <p:nvPr/>
        </p:nvSpPr>
        <p:spPr>
          <a:xfrm>
            <a:off x="885124" y="1461278"/>
            <a:ext cx="1447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latin typeface="+mn-ea"/>
                <a:cs typeface="DengXian" charset="-122"/>
              </a:rPr>
              <a:t>特权级别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0B5B83E-EFB6-A641-BF58-DBD8729C8947}"/>
              </a:ext>
            </a:extLst>
          </p:cNvPr>
          <p:cNvSpPr/>
          <p:nvPr/>
        </p:nvSpPr>
        <p:spPr>
          <a:xfrm>
            <a:off x="924776" y="2092955"/>
            <a:ext cx="1368152" cy="904869"/>
          </a:xfrm>
          <a:prstGeom prst="rect">
            <a:avLst/>
          </a:prstGeom>
          <a:solidFill>
            <a:srgbClr val="C8EFFD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操作系统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8E7F340-1D9F-0347-AD5F-42C860988E1E}"/>
              </a:ext>
            </a:extLst>
          </p:cNvPr>
          <p:cNvSpPr/>
          <p:nvPr/>
        </p:nvSpPr>
        <p:spPr>
          <a:xfrm>
            <a:off x="924776" y="3450767"/>
            <a:ext cx="1368152" cy="402675"/>
          </a:xfrm>
          <a:prstGeom prst="rect">
            <a:avLst/>
          </a:prstGeom>
          <a:solidFill>
            <a:srgbClr val="FFC5D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恶意应用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0903146-A065-9044-B612-1BC1F23DE3B5}"/>
              </a:ext>
            </a:extLst>
          </p:cNvPr>
          <p:cNvSpPr/>
          <p:nvPr/>
        </p:nvSpPr>
        <p:spPr>
          <a:xfrm>
            <a:off x="924776" y="4025310"/>
            <a:ext cx="1368152" cy="40267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应用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D1A7533-FBE6-E54C-AD25-16530CCE7B1B}"/>
              </a:ext>
            </a:extLst>
          </p:cNvPr>
          <p:cNvSpPr txBox="1"/>
          <p:nvPr/>
        </p:nvSpPr>
        <p:spPr>
          <a:xfrm>
            <a:off x="179512" y="2806978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latin typeface="+mn-ea"/>
                <a:cs typeface="DengXian" charset="-122"/>
              </a:rPr>
              <a:t>内核态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50833DD7-048D-5848-A209-B98A2916946E}"/>
              </a:ext>
            </a:extLst>
          </p:cNvPr>
          <p:cNvSpPr txBox="1"/>
          <p:nvPr/>
        </p:nvSpPr>
        <p:spPr>
          <a:xfrm>
            <a:off x="179512" y="3249407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latin typeface="+mn-ea"/>
                <a:cs typeface="DengXian" charset="-122"/>
              </a:rPr>
              <a:t>用户态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004183E-010A-B24A-87C9-D305FA922C48}"/>
              </a:ext>
            </a:extLst>
          </p:cNvPr>
          <p:cNvSpPr/>
          <p:nvPr/>
        </p:nvSpPr>
        <p:spPr>
          <a:xfrm>
            <a:off x="921295" y="4599853"/>
            <a:ext cx="1368152" cy="40267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应用</a:t>
            </a:r>
          </a:p>
        </p:txBody>
      </p:sp>
      <p:cxnSp>
        <p:nvCxnSpPr>
          <p:cNvPr id="64" name="直线箭头连接符 63">
            <a:extLst>
              <a:ext uri="{FF2B5EF4-FFF2-40B4-BE49-F238E27FC236}">
                <a16:creationId xmlns:a16="http://schemas.microsoft.com/office/drawing/2014/main" id="{B698FA99-702C-5A4E-8A7F-44A9D6DC0389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2292928" y="2609286"/>
            <a:ext cx="1564503" cy="10428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49AB8AB1-F820-EB4E-8902-F220E0DB8C03}"/>
              </a:ext>
            </a:extLst>
          </p:cNvPr>
          <p:cNvSpPr txBox="1"/>
          <p:nvPr/>
        </p:nvSpPr>
        <p:spPr>
          <a:xfrm rot="19560000">
            <a:off x="2300901" y="2682041"/>
            <a:ext cx="115962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>
                <a:latin typeface="+mn-ea"/>
                <a:cs typeface="DengXian" charset="-122"/>
              </a:rPr>
              <a:t>access</a:t>
            </a:r>
            <a:r>
              <a:rPr kumimoji="1" lang="zh-CN" altLang="en-US" sz="1400" dirty="0">
                <a:latin typeface="+mn-ea"/>
                <a:cs typeface="DengXian" charset="-122"/>
              </a:rPr>
              <a:t> </a:t>
            </a:r>
            <a:r>
              <a:rPr kumimoji="1" lang="en-US" altLang="zh-CN" sz="1400" b="1" dirty="0">
                <a:solidFill>
                  <a:srgbClr val="FF2F92"/>
                </a:solidFill>
                <a:latin typeface="+mn-ea"/>
                <a:cs typeface="DengXian" charset="-122"/>
              </a:rPr>
              <a:t>key</a:t>
            </a:r>
          </a:p>
          <a:p>
            <a:pPr algn="ctr"/>
            <a:r>
              <a:rPr kumimoji="1" lang="zh-CN" altLang="en-US" sz="1100" dirty="0">
                <a:latin typeface="+mn-ea"/>
                <a:cs typeface="DengXian" charset="-122"/>
              </a:rPr>
              <a:t>（</a:t>
            </a:r>
            <a:r>
              <a:rPr kumimoji="1" lang="en-US" altLang="zh-CN" sz="1100" dirty="0">
                <a:latin typeface="+mn-ea"/>
                <a:cs typeface="DengXian" charset="-122"/>
              </a:rPr>
              <a:t>user</a:t>
            </a:r>
            <a:r>
              <a:rPr kumimoji="1" lang="zh-CN" altLang="en-US" sz="1100" dirty="0">
                <a:latin typeface="+mn-ea"/>
                <a:cs typeface="DengXian" charset="-122"/>
              </a:rPr>
              <a:t> </a:t>
            </a:r>
            <a:r>
              <a:rPr kumimoji="1" lang="en-US" altLang="zh-CN" sz="1100" dirty="0">
                <a:latin typeface="+mn-ea"/>
                <a:cs typeface="DengXian" charset="-122"/>
              </a:rPr>
              <a:t>bit</a:t>
            </a:r>
            <a:r>
              <a:rPr kumimoji="1" lang="zh-CN" altLang="en-US" sz="1100" dirty="0">
                <a:latin typeface="+mn-ea"/>
                <a:cs typeface="DengXian" charset="-122"/>
              </a:rPr>
              <a:t> </a:t>
            </a:r>
            <a:r>
              <a:rPr kumimoji="1" lang="en-US" altLang="zh-CN" sz="1100" dirty="0">
                <a:latin typeface="+mn-ea"/>
                <a:cs typeface="DengXian" charset="-122"/>
              </a:rPr>
              <a:t>=</a:t>
            </a:r>
            <a:r>
              <a:rPr kumimoji="1" lang="zh-CN" altLang="en-US" sz="1100" dirty="0">
                <a:latin typeface="+mn-ea"/>
                <a:cs typeface="DengXian" charset="-122"/>
              </a:rPr>
              <a:t> </a:t>
            </a:r>
            <a:r>
              <a:rPr kumimoji="1" lang="en-US" altLang="zh-CN" sz="1100" dirty="0">
                <a:latin typeface="+mn-ea"/>
                <a:cs typeface="DengXian" charset="-122"/>
              </a:rPr>
              <a:t>1)</a:t>
            </a:r>
            <a:endParaRPr kumimoji="1" lang="zh-CN" altLang="en-US" sz="1100" dirty="0">
              <a:latin typeface="+mn-ea"/>
              <a:cs typeface="DengXian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0857A1E-0873-A242-BE1C-6B2289D775A6}"/>
              </a:ext>
            </a:extLst>
          </p:cNvPr>
          <p:cNvSpPr txBox="1"/>
          <p:nvPr/>
        </p:nvSpPr>
        <p:spPr>
          <a:xfrm>
            <a:off x="5501261" y="2412295"/>
            <a:ext cx="1084388" cy="44996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rgbClr val="C00000"/>
                </a:solidFill>
                <a:cs typeface="DengXian" charset="-122"/>
              </a:rPr>
              <a:t>Permission</a:t>
            </a:r>
            <a:r>
              <a:rPr kumimoji="1" lang="zh-CN" altLang="en-US" sz="1400" b="1" dirty="0">
                <a:solidFill>
                  <a:srgbClr val="C00000"/>
                </a:solidFill>
                <a:cs typeface="DengXian" charset="-122"/>
              </a:rPr>
              <a:t> </a:t>
            </a:r>
            <a:endParaRPr kumimoji="1" lang="en-US" altLang="zh-CN" sz="1400" b="1" dirty="0">
              <a:solidFill>
                <a:srgbClr val="C00000"/>
              </a:solidFill>
              <a:cs typeface="DengXian" charset="-122"/>
            </a:endParaRPr>
          </a:p>
          <a:p>
            <a:pPr algn="ctr"/>
            <a:r>
              <a:rPr kumimoji="1" lang="en-US" altLang="zh-CN" sz="1400" b="1" dirty="0">
                <a:solidFill>
                  <a:srgbClr val="C00000"/>
                </a:solidFill>
                <a:cs typeface="DengXian" charset="-122"/>
              </a:rPr>
              <a:t>Check</a:t>
            </a:r>
            <a:r>
              <a:rPr kumimoji="1" lang="zh-CN" altLang="en-US" sz="1400" b="1" dirty="0">
                <a:solidFill>
                  <a:srgbClr val="C00000"/>
                </a:solidFill>
                <a:cs typeface="DengXian" charset="-122"/>
              </a:rPr>
              <a:t> </a:t>
            </a:r>
            <a:r>
              <a:rPr kumimoji="1" lang="zh-CN" altLang="en-US" b="1" dirty="0">
                <a:solidFill>
                  <a:srgbClr val="C00000"/>
                </a:solidFill>
                <a:cs typeface="DengXian" charset="-122"/>
              </a:rPr>
              <a:t>✗</a:t>
            </a:r>
            <a:endParaRPr kumimoji="1" lang="zh-CN" altLang="en-US" sz="500" b="1" dirty="0">
              <a:solidFill>
                <a:srgbClr val="C00000"/>
              </a:solidFill>
              <a:cs typeface="DengXian" charset="-122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7A46A72-D316-2E48-885B-F2027BC0584A}"/>
              </a:ext>
            </a:extLst>
          </p:cNvPr>
          <p:cNvSpPr/>
          <p:nvPr/>
        </p:nvSpPr>
        <p:spPr>
          <a:xfrm>
            <a:off x="5021283" y="3344666"/>
            <a:ext cx="2071013" cy="2806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FAAEEAF-45AB-834C-B103-9B4FC4DF1B6B}"/>
              </a:ext>
            </a:extLst>
          </p:cNvPr>
          <p:cNvSpPr/>
          <p:nvPr/>
        </p:nvSpPr>
        <p:spPr>
          <a:xfrm>
            <a:off x="5024016" y="3339939"/>
            <a:ext cx="1378340" cy="2806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0xbeef0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E59F55C-1F34-944B-89B9-D130D8A12D58}"/>
              </a:ext>
            </a:extLst>
          </p:cNvPr>
          <p:cNvSpPr/>
          <p:nvPr/>
        </p:nvSpPr>
        <p:spPr>
          <a:xfrm>
            <a:off x="6402356" y="3344121"/>
            <a:ext cx="264582" cy="2806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…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73BEDEE-EB96-D645-94CE-ADA2284E2A37}"/>
              </a:ext>
            </a:extLst>
          </p:cNvPr>
          <p:cNvSpPr/>
          <p:nvPr/>
        </p:nvSpPr>
        <p:spPr>
          <a:xfrm>
            <a:off x="6666938" y="3344121"/>
            <a:ext cx="144000" cy="2806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0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D1BC875-824C-3045-9103-F4BFA10089F6}"/>
              </a:ext>
            </a:extLst>
          </p:cNvPr>
          <p:cNvSpPr/>
          <p:nvPr/>
        </p:nvSpPr>
        <p:spPr>
          <a:xfrm>
            <a:off x="6810938" y="3344121"/>
            <a:ext cx="144000" cy="2806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CD6167DB-9D55-C747-8BBE-5E8E7C027CBC}"/>
              </a:ext>
            </a:extLst>
          </p:cNvPr>
          <p:cNvSpPr/>
          <p:nvPr/>
        </p:nvSpPr>
        <p:spPr>
          <a:xfrm>
            <a:off x="6954938" y="3344121"/>
            <a:ext cx="144000" cy="2806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8464B6BE-792D-BE44-BA53-02F7573ABB79}"/>
              </a:ext>
            </a:extLst>
          </p:cNvPr>
          <p:cNvSpPr txBox="1"/>
          <p:nvPr/>
        </p:nvSpPr>
        <p:spPr>
          <a:xfrm>
            <a:off x="6073431" y="2971468"/>
            <a:ext cx="755630" cy="25119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CN" sz="1200" dirty="0">
                <a:latin typeface="+mn-ea"/>
                <a:cs typeface="DengXian" charset="-122"/>
              </a:rPr>
              <a:t>User</a:t>
            </a:r>
            <a:r>
              <a:rPr kumimoji="1" lang="zh-CN" altLang="en-US" sz="1200" dirty="0">
                <a:latin typeface="+mn-ea"/>
                <a:cs typeface="DengXian" charset="-122"/>
              </a:rPr>
              <a:t> </a:t>
            </a:r>
            <a:r>
              <a:rPr kumimoji="1" lang="en-US" altLang="zh-CN" sz="1200" dirty="0">
                <a:latin typeface="+mn-ea"/>
                <a:cs typeface="DengXian" charset="-122"/>
              </a:rPr>
              <a:t>Bit</a:t>
            </a:r>
            <a:endParaRPr kumimoji="1" lang="zh-CN" altLang="en-US" sz="1200" dirty="0">
              <a:latin typeface="+mn-ea"/>
              <a:cs typeface="DengXian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1D7AD9AA-F9C6-BE42-88EF-6E9AE63006AC}"/>
              </a:ext>
            </a:extLst>
          </p:cNvPr>
          <p:cNvSpPr txBox="1"/>
          <p:nvPr/>
        </p:nvSpPr>
        <p:spPr>
          <a:xfrm>
            <a:off x="8231707" y="3726926"/>
            <a:ext cx="973202" cy="239790"/>
          </a:xfrm>
          <a:prstGeom prst="rect">
            <a:avLst/>
          </a:prstGeom>
          <a:noFill/>
        </p:spPr>
        <p:txBody>
          <a:bodyPr wrap="square" lIns="0" r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CN" sz="1200" dirty="0">
                <a:latin typeface="+mn-ea"/>
                <a:cs typeface="DengXian" charset="-122"/>
              </a:rPr>
              <a:t>0xbeef0000</a:t>
            </a:r>
            <a:endParaRPr kumimoji="1" lang="zh-CN" altLang="en-US" sz="1200" dirty="0">
              <a:latin typeface="+mn-ea"/>
              <a:cs typeface="DengXian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9CB8466E-DB78-EB46-8094-7E2534696F70}"/>
              </a:ext>
            </a:extLst>
          </p:cNvPr>
          <p:cNvSpPr txBox="1"/>
          <p:nvPr/>
        </p:nvSpPr>
        <p:spPr>
          <a:xfrm>
            <a:off x="5268093" y="3884838"/>
            <a:ext cx="1173504" cy="380088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ctr"/>
            <a:r>
              <a:rPr kumimoji="1" lang="en-US" altLang="zh-CN" sz="1200" dirty="0">
                <a:latin typeface="+mn-ea"/>
                <a:cs typeface="DengXian" charset="-122"/>
              </a:rPr>
              <a:t>Physical</a:t>
            </a:r>
            <a:r>
              <a:rPr kumimoji="1" lang="zh-CN" altLang="en-US" sz="1200" dirty="0">
                <a:latin typeface="+mn-ea"/>
                <a:cs typeface="DengXian" charset="-122"/>
              </a:rPr>
              <a:t> </a:t>
            </a:r>
            <a:r>
              <a:rPr kumimoji="1" lang="en-US" altLang="zh-CN" sz="1200" dirty="0">
                <a:latin typeface="+mn-ea"/>
                <a:cs typeface="DengXian" charset="-122"/>
              </a:rPr>
              <a:t>Page</a:t>
            </a:r>
            <a:r>
              <a:rPr kumimoji="1" lang="zh-CN" altLang="en-US" sz="1200" dirty="0">
                <a:latin typeface="+mn-ea"/>
                <a:cs typeface="DengXian" charset="-122"/>
              </a:rPr>
              <a:t> </a:t>
            </a:r>
            <a:r>
              <a:rPr kumimoji="1" lang="en-US" altLang="zh-CN" sz="1200" dirty="0">
                <a:latin typeface="+mn-ea"/>
                <a:cs typeface="DengXian" charset="-122"/>
              </a:rPr>
              <a:t>Number</a:t>
            </a:r>
            <a:endParaRPr kumimoji="1" lang="zh-CN" altLang="en-US" sz="1200" dirty="0">
              <a:latin typeface="+mn-ea"/>
              <a:cs typeface="DengXian" charset="-122"/>
            </a:endParaRPr>
          </a:p>
        </p:txBody>
      </p: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2D79327D-56E4-244E-9209-97AAEA118264}"/>
              </a:ext>
            </a:extLst>
          </p:cNvPr>
          <p:cNvCxnSpPr>
            <a:cxnSpLocks/>
            <a:stCxn id="81" idx="2"/>
            <a:endCxn id="76" idx="0"/>
          </p:cNvCxnSpPr>
          <p:nvPr/>
        </p:nvCxnSpPr>
        <p:spPr>
          <a:xfrm>
            <a:off x="6451246" y="3222661"/>
            <a:ext cx="287692" cy="1214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连接符 87">
            <a:extLst>
              <a:ext uri="{FF2B5EF4-FFF2-40B4-BE49-F238E27FC236}">
                <a16:creationId xmlns:a16="http://schemas.microsoft.com/office/drawing/2014/main" id="{AB40B3A7-6980-6642-8CB4-621F29642ED1}"/>
              </a:ext>
            </a:extLst>
          </p:cNvPr>
          <p:cNvCxnSpPr>
            <a:cxnSpLocks/>
            <a:stCxn id="84" idx="0"/>
            <a:endCxn id="71" idx="2"/>
          </p:cNvCxnSpPr>
          <p:nvPr/>
        </p:nvCxnSpPr>
        <p:spPr>
          <a:xfrm flipH="1" flipV="1">
            <a:off x="5713186" y="3620542"/>
            <a:ext cx="141659" cy="26429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150BE223-6EB3-B245-B073-EAAF5246203D}"/>
              </a:ext>
            </a:extLst>
          </p:cNvPr>
          <p:cNvCxnSpPr>
            <a:cxnSpLocks/>
          </p:cNvCxnSpPr>
          <p:nvPr/>
        </p:nvCxnSpPr>
        <p:spPr>
          <a:xfrm flipV="1">
            <a:off x="2332580" y="2857500"/>
            <a:ext cx="1524851" cy="995942"/>
          </a:xfrm>
          <a:prstGeom prst="straightConnector1">
            <a:avLst/>
          </a:prstGeom>
          <a:ln w="25400">
            <a:solidFill>
              <a:schemeClr val="tx1"/>
            </a:solidFill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35303BB9-2775-CE44-8984-0AB8BF94378F}"/>
              </a:ext>
            </a:extLst>
          </p:cNvPr>
          <p:cNvSpPr txBox="1"/>
          <p:nvPr/>
        </p:nvSpPr>
        <p:spPr>
          <a:xfrm rot="19560000">
            <a:off x="2689234" y="3286770"/>
            <a:ext cx="1159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>
                <a:solidFill>
                  <a:srgbClr val="C00000"/>
                </a:solidFill>
                <a:latin typeface="+mn-ea"/>
                <a:cs typeface="DengXian" charset="-122"/>
              </a:rPr>
              <a:t>Exception</a:t>
            </a:r>
            <a:endParaRPr kumimoji="1" lang="zh-CN" altLang="en-US" sz="1100" dirty="0">
              <a:solidFill>
                <a:srgbClr val="C00000"/>
              </a:solidFill>
              <a:latin typeface="+mn-ea"/>
              <a:cs typeface="DengXia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624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6" grpId="0" animBg="1"/>
      <p:bldP spid="76" grpId="0" animBg="1"/>
      <p:bldP spid="81" grpId="0" animBg="1"/>
      <p:bldP spid="10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背景</a:t>
            </a:r>
            <a:r>
              <a:rPr lang="en-US" altLang="zh-CN" dirty="0">
                <a:latin typeface="+mn-ea"/>
              </a:rPr>
              <a:t>-2</a:t>
            </a:r>
            <a:r>
              <a:rPr lang="zh-CN" altLang="en-US" dirty="0">
                <a:latin typeface="+mn-ea"/>
              </a:rPr>
              <a:t>：</a:t>
            </a:r>
            <a:r>
              <a:rPr lang="en-US" altLang="zh-CN" dirty="0">
                <a:latin typeface="+mn-lt"/>
              </a:rPr>
              <a:t>CPU</a:t>
            </a:r>
            <a:r>
              <a:rPr lang="zh-CN" altLang="en-US" dirty="0">
                <a:latin typeface="+mn-lt"/>
              </a:rPr>
              <a:t>投机执行（预测执行）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>
                <a:latin typeface="+mn-lt"/>
              </a:rPr>
              <a:t>11</a:t>
            </a:fld>
            <a:endParaRPr lang="zh-CN" altLang="en-US" dirty="0">
              <a:latin typeface="+mn-lt"/>
            </a:endParaRPr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3E547C8-1D06-4541-AF27-31DB15700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2012"/>
            <a:ext cx="8363272" cy="4267732"/>
          </a:xfrm>
        </p:spPr>
        <p:txBody>
          <a:bodyPr>
            <a:noAutofit/>
          </a:bodyPr>
          <a:lstStyle/>
          <a:p>
            <a:r>
              <a:rPr lang="en" altLang="zh-CN" sz="2000" dirty="0"/>
              <a:t>CPU</a:t>
            </a:r>
            <a:r>
              <a:rPr lang="zh-CN" altLang="en" sz="2000" dirty="0"/>
              <a:t>为了</a:t>
            </a:r>
            <a:r>
              <a:rPr lang="zh-CN" altLang="en-US" sz="2000" dirty="0"/>
              <a:t>性能会进行投机执行</a:t>
            </a:r>
            <a:endParaRPr lang="en-US" altLang="zh-CN" sz="2000" dirty="0"/>
          </a:p>
          <a:p>
            <a:pPr lvl="1"/>
            <a:r>
              <a:rPr lang="zh-CN" altLang="en" dirty="0"/>
              <a:t>处理器</a:t>
            </a:r>
            <a:r>
              <a:rPr lang="zh-CN" altLang="en-US" dirty="0"/>
              <a:t>内部会并发执行多条指令，无依赖关系的邻近指令在处理器内部的执行顺序会被打乱，部分指令会被提前</a:t>
            </a:r>
            <a:endParaRPr lang="en-US" altLang="zh-CN" dirty="0"/>
          </a:p>
          <a:p>
            <a:r>
              <a:rPr lang="zh-CN" altLang="en" sz="2000" dirty="0"/>
              <a:t>问</a:t>
            </a:r>
            <a:r>
              <a:rPr lang="zh-CN" altLang="en-US" sz="2000" dirty="0"/>
              <a:t>：若提前执行了错误指令怎么办？</a:t>
            </a:r>
            <a:endParaRPr lang="en-US" altLang="zh-CN" sz="2000" dirty="0"/>
          </a:p>
          <a:p>
            <a:pPr lvl="1"/>
            <a:r>
              <a:rPr lang="zh-CN" altLang="en-US" dirty="0"/>
              <a:t>如前一条指令异常，处理器投机执行了后续本不应被执行的指令</a:t>
            </a:r>
            <a:endParaRPr lang="en-US" altLang="zh-CN" dirty="0"/>
          </a:p>
          <a:p>
            <a:r>
              <a:rPr lang="zh-CN" altLang="en-US" sz="2000" dirty="0"/>
              <a:t>答：执行结果丢弃</a:t>
            </a:r>
            <a:r>
              <a:rPr lang="en-US" altLang="zh-CN" sz="2000" dirty="0"/>
              <a:t>/</a:t>
            </a:r>
            <a:r>
              <a:rPr lang="zh-CN" altLang="en-US" sz="2000" dirty="0"/>
              <a:t>回滚</a:t>
            </a:r>
            <a:endParaRPr lang="en" altLang="zh-CN" sz="2000" dirty="0"/>
          </a:p>
          <a:p>
            <a:pPr lvl="1"/>
            <a:r>
              <a:rPr lang="zh-CN" altLang="en-US" dirty="0"/>
              <a:t>对于不应被执行的指令，处理器会丢弃</a:t>
            </a:r>
            <a:r>
              <a:rPr lang="en-US" altLang="zh-CN" dirty="0"/>
              <a:t>/</a:t>
            </a:r>
            <a:r>
              <a:rPr lang="zh-CN" altLang="en-US" dirty="0"/>
              <a:t>回滚其对寄存器、内存等执行状态的修改</a:t>
            </a:r>
            <a:endParaRPr lang="en-US" altLang="zh-CN" dirty="0"/>
          </a:p>
          <a:p>
            <a:r>
              <a:rPr lang="zh-CN" altLang="en-US" dirty="0">
                <a:solidFill>
                  <a:srgbClr val="FF2F92"/>
                </a:solidFill>
              </a:rPr>
              <a:t>复杂的</a:t>
            </a:r>
            <a:r>
              <a:rPr lang="en" altLang="zh-CN" dirty="0">
                <a:solidFill>
                  <a:srgbClr val="FF2F92"/>
                </a:solidFill>
              </a:rPr>
              <a:t>CPU</a:t>
            </a:r>
            <a:r>
              <a:rPr lang="zh-CN" altLang="en-US" dirty="0">
                <a:solidFill>
                  <a:srgbClr val="FF2F92"/>
                </a:solidFill>
              </a:rPr>
              <a:t>能确保所有状态均正确丢弃</a:t>
            </a:r>
            <a:r>
              <a:rPr lang="en-US" altLang="zh-CN" dirty="0">
                <a:solidFill>
                  <a:srgbClr val="FF2F92"/>
                </a:solidFill>
              </a:rPr>
              <a:t>/</a:t>
            </a:r>
            <a:r>
              <a:rPr lang="zh-CN" altLang="en-US" dirty="0">
                <a:solidFill>
                  <a:srgbClr val="FF2F92"/>
                </a:solidFill>
              </a:rPr>
              <a:t>回滚吗？不能</a:t>
            </a:r>
          </a:p>
          <a:p>
            <a:endParaRPr lang="en" altLang="zh-CN" dirty="0">
              <a:solidFill>
                <a:srgbClr val="FF2F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53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+mn-lt"/>
              </a:rPr>
              <a:t>Meltdown</a:t>
            </a:r>
            <a:r>
              <a:rPr lang="zh-CN" altLang="en-US" dirty="0">
                <a:latin typeface="+mn-lt"/>
              </a:rPr>
              <a:t>漏洞原理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>
                <a:latin typeface="+mn-lt"/>
              </a:rPr>
              <a:t>12</a:t>
            </a:fld>
            <a:endParaRPr lang="zh-CN" altLang="en-US" dirty="0">
              <a:latin typeface="+mn-lt"/>
            </a:endParaRPr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3E547C8-1D06-4541-AF27-31DB15700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2012"/>
            <a:ext cx="8363272" cy="4502988"/>
          </a:xfrm>
        </p:spPr>
        <p:txBody>
          <a:bodyPr>
            <a:noAutofit/>
          </a:bodyPr>
          <a:lstStyle/>
          <a:p>
            <a:r>
              <a:rPr lang="zh-CN" altLang="en" sz="2000" dirty="0"/>
              <a:t>起因</a:t>
            </a:r>
            <a:r>
              <a:rPr lang="zh-CN" altLang="en-US" sz="2000" dirty="0"/>
              <a:t>：</a:t>
            </a:r>
            <a:r>
              <a:rPr lang="zh-CN" altLang="en-US" sz="2000" dirty="0">
                <a:solidFill>
                  <a:srgbClr val="FF2F92"/>
                </a:solidFill>
              </a:rPr>
              <a:t>迟到的内存访问异常</a:t>
            </a:r>
            <a:endParaRPr lang="en-US" altLang="zh-CN" sz="2000" dirty="0">
              <a:solidFill>
                <a:srgbClr val="FF2F92"/>
              </a:solidFill>
            </a:endParaRPr>
          </a:p>
          <a:p>
            <a:pPr lvl="1"/>
            <a:r>
              <a:rPr lang="zh-CN" altLang="en-US" dirty="0"/>
              <a:t>在投机执行期间，跨权限的内存访问不会立刻触发异常，而是仍会继续执行后续指令</a:t>
            </a:r>
            <a:endParaRPr lang="en-US" altLang="zh-CN" dirty="0"/>
          </a:p>
          <a:p>
            <a:r>
              <a:rPr lang="zh-CN" altLang="en-US" sz="2000" dirty="0"/>
              <a:t>故障：</a:t>
            </a:r>
            <a:r>
              <a:rPr lang="zh-CN" altLang="en-US" sz="2000" dirty="0">
                <a:solidFill>
                  <a:srgbClr val="FF2F92"/>
                </a:solidFill>
              </a:rPr>
              <a:t>遗漏的缓存状态回滚</a:t>
            </a:r>
            <a:endParaRPr lang="en-US" altLang="zh-CN" sz="2000" dirty="0">
              <a:solidFill>
                <a:srgbClr val="FF2F92"/>
              </a:solidFill>
            </a:endParaRPr>
          </a:p>
          <a:p>
            <a:pPr lvl="1"/>
            <a:r>
              <a:rPr lang="zh-CN" altLang="en-US" dirty="0"/>
              <a:t>当硬件抛出内存访问异常时，</a:t>
            </a:r>
            <a:r>
              <a:rPr lang="en-US" altLang="zh-CN" dirty="0"/>
              <a:t>CPU</a:t>
            </a:r>
            <a:r>
              <a:rPr lang="zh-CN" altLang="en-US" dirty="0"/>
              <a:t>理应回滚被错误执行指令对所有状态的修改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2F92"/>
                </a:solidFill>
              </a:rPr>
              <a:t>但是，实际上</a:t>
            </a:r>
            <a:r>
              <a:rPr lang="en-US" altLang="zh-CN" dirty="0">
                <a:solidFill>
                  <a:srgbClr val="FF2F92"/>
                </a:solidFill>
              </a:rPr>
              <a:t>CPU</a:t>
            </a:r>
            <a:r>
              <a:rPr lang="zh-CN" altLang="en-US" dirty="0">
                <a:solidFill>
                  <a:srgbClr val="FF2F92"/>
                </a:solidFill>
              </a:rPr>
              <a:t>未回滚被错误执行指令对</a:t>
            </a:r>
            <a:r>
              <a:rPr lang="en-US" altLang="zh-CN" dirty="0">
                <a:solidFill>
                  <a:srgbClr val="FF2F92"/>
                </a:solidFill>
              </a:rPr>
              <a:t>CPU</a:t>
            </a:r>
            <a:r>
              <a:rPr lang="zh-CN" altLang="en-US" dirty="0">
                <a:solidFill>
                  <a:srgbClr val="FF2F92"/>
                </a:solidFill>
              </a:rPr>
              <a:t>缓存的状态修改</a:t>
            </a:r>
            <a:endParaRPr lang="en-US" altLang="zh-CN" dirty="0">
              <a:solidFill>
                <a:srgbClr val="FF2F92"/>
              </a:solidFill>
            </a:endParaRPr>
          </a:p>
          <a:p>
            <a:r>
              <a:rPr lang="zh-CN" altLang="en-US" sz="2000" dirty="0"/>
              <a:t>结果：</a:t>
            </a:r>
            <a:r>
              <a:rPr lang="zh-CN" altLang="en-US" sz="2000" dirty="0">
                <a:solidFill>
                  <a:srgbClr val="FF2F92"/>
                </a:solidFill>
              </a:rPr>
              <a:t>应用可任意读取操作系统内存</a:t>
            </a:r>
            <a:endParaRPr lang="en-US" altLang="zh-CN" sz="2000" dirty="0">
              <a:solidFill>
                <a:srgbClr val="FF2F92"/>
              </a:solidFill>
            </a:endParaRPr>
          </a:p>
          <a:p>
            <a:pPr lvl="1"/>
            <a:r>
              <a:rPr lang="zh-CN" altLang="en-US" dirty="0"/>
              <a:t>利用缓存隐秘信道，窃取非法访问到的内核数据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81505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剪去单角的矩形 15"/>
          <p:cNvSpPr/>
          <p:nvPr/>
        </p:nvSpPr>
        <p:spPr>
          <a:xfrm>
            <a:off x="3595483" y="1366358"/>
            <a:ext cx="4091413" cy="2002178"/>
          </a:xfrm>
          <a:prstGeom prst="snip1Rect">
            <a:avLst>
              <a:gd name="adj" fmla="val 0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ea typeface="Bangla MN" charset="0"/>
              <a:cs typeface="Bangla M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316416" y="5067933"/>
            <a:ext cx="648072" cy="273844"/>
          </a:xfrm>
        </p:spPr>
        <p:txBody>
          <a:bodyPr/>
          <a:lstStyle/>
          <a:p>
            <a:r>
              <a:rPr lang="en-US" altLang="zh-CN" sz="1800" dirty="0">
                <a:solidFill>
                  <a:schemeClr val="tx1"/>
                </a:solidFill>
              </a:rPr>
              <a:t>3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17" y="4024761"/>
            <a:ext cx="1142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solidFill>
                  <a:srgbClr val="FF0066"/>
                </a:solidFill>
                <a:ea typeface="DengXian" charset="-122"/>
                <a:cs typeface="DengXian" charset="-122"/>
              </a:rPr>
              <a:t>key </a:t>
            </a:r>
            <a:r>
              <a:rPr kumimoji="1" lang="en-US" altLang="zh-CN" sz="1200" b="1" dirty="0">
                <a:ea typeface="DengXian" charset="-122"/>
                <a:cs typeface="DengXian" charset="-122"/>
              </a:rPr>
              <a:t>= 0x01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2048" y="4184358"/>
            <a:ext cx="7802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ea typeface="DengXian" charset="-122"/>
                <a:cs typeface="DengXian" charset="-122"/>
              </a:rPr>
              <a:t>Kernel</a:t>
            </a:r>
            <a:endParaRPr kumimoji="1" lang="zh-CN" altLang="en-US" sz="1600" dirty="0">
              <a:ea typeface="DengXian" charset="-122"/>
              <a:cs typeface="DengXian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0174" y="4558429"/>
            <a:ext cx="5866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ea typeface="DengXian" charset="-122"/>
                <a:cs typeface="DengXian" charset="-122"/>
              </a:rPr>
              <a:t>User</a:t>
            </a:r>
            <a:endParaRPr kumimoji="1" lang="zh-CN" altLang="en-US" sz="1600" dirty="0">
              <a:ea typeface="DengXian" charset="-122"/>
              <a:cs typeface="DengXian" charset="-122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380433" y="4499874"/>
            <a:ext cx="176925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40" y="3904256"/>
            <a:ext cx="311664" cy="46123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262" y="1078287"/>
            <a:ext cx="546620" cy="54662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4129162" y="1421455"/>
            <a:ext cx="1162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>
                <a:ea typeface="Bangla MN" charset="0"/>
                <a:cs typeface="Bangla MN" charset="0"/>
              </a:rPr>
              <a:t>Instruction</a:t>
            </a:r>
            <a:endParaRPr kumimoji="1" lang="zh-CN" altLang="en-US" sz="1400" dirty="0">
              <a:ea typeface="Bangla MN" charset="0"/>
              <a:cs typeface="Bangla MN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236162" y="1407252"/>
            <a:ext cx="10001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>
                <a:ea typeface="Bangla MN" charset="0"/>
                <a:cs typeface="Bangla MN" charset="0"/>
              </a:rPr>
              <a:t>Effect</a:t>
            </a:r>
            <a:endParaRPr kumimoji="1" lang="zh-CN" altLang="en-US" sz="1400" dirty="0">
              <a:ea typeface="Bangla MN" charset="0"/>
              <a:cs typeface="Bangla MN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275857" y="3793605"/>
            <a:ext cx="8769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ea typeface="Bangla MN" charset="0"/>
                <a:cs typeface="Bangla MN" charset="0"/>
              </a:rPr>
              <a:t>Cache</a:t>
            </a:r>
            <a:endParaRPr kumimoji="1" lang="zh-CN" altLang="en-US" sz="1400" b="1" dirty="0">
              <a:ea typeface="Bangla MN" charset="0"/>
              <a:cs typeface="Bangla MN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681615" y="3793605"/>
            <a:ext cx="104741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ea typeface="Bangla MN" charset="0"/>
                <a:cs typeface="Bangla MN" charset="0"/>
              </a:rPr>
              <a:t>Memory</a:t>
            </a:r>
            <a:r>
              <a:rPr kumimoji="1" lang="zh-CN" altLang="en-US" sz="1400" b="1" dirty="0">
                <a:ea typeface="Bangla MN" charset="0"/>
                <a:cs typeface="Bangla MN" charset="0"/>
              </a:rPr>
              <a:t> </a:t>
            </a: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42" y="4696928"/>
            <a:ext cx="369461" cy="60439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1115617" y="4796539"/>
            <a:ext cx="1142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ea typeface="DengXian" charset="-122"/>
                <a:cs typeface="DengXian" charset="-122"/>
              </a:rPr>
              <a:t>Meltdown</a:t>
            </a:r>
          </a:p>
        </p:txBody>
      </p:sp>
      <p:graphicFrame>
        <p:nvGraphicFramePr>
          <p:cNvPr id="48" name="表格 47"/>
          <p:cNvGraphicFramePr>
            <a:graphicFrameLocks noGrp="1"/>
          </p:cNvGraphicFramePr>
          <p:nvPr/>
        </p:nvGraphicFramePr>
        <p:xfrm>
          <a:off x="5926351" y="4172493"/>
          <a:ext cx="2520000" cy="340268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{7E9639D4-E3E2-4D34-9284-5A2195B3D0D7}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0268"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表格 45"/>
          <p:cNvGraphicFramePr>
            <a:graphicFrameLocks noGrp="1"/>
          </p:cNvGraphicFramePr>
          <p:nvPr/>
        </p:nvGraphicFramePr>
        <p:xfrm>
          <a:off x="3579299" y="4172493"/>
          <a:ext cx="1157165" cy="8229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{7E9639D4-E3E2-4D34-9284-5A2195B3D0D7}</a:tableStyleId>
              </a:tblPr>
              <a:tblGrid>
                <a:gridCol w="1157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7404"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404"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">
                <a:tc>
                  <a:txBody>
                    <a:bodyPr/>
                    <a:lstStyle/>
                    <a:p>
                      <a:pPr algn="ctr"/>
                      <a:endParaRPr lang="zh-CN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">
                <a:tc>
                  <a:txBody>
                    <a:bodyPr/>
                    <a:lstStyle/>
                    <a:p>
                      <a:pPr algn="ctr"/>
                      <a:endParaRPr lang="zh-CN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870">
                <a:tc>
                  <a:txBody>
                    <a:bodyPr/>
                    <a:lstStyle/>
                    <a:p>
                      <a:pPr algn="ctr"/>
                      <a:endParaRPr lang="zh-CN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870">
                <a:tc>
                  <a:txBody>
                    <a:bodyPr/>
                    <a:lstStyle/>
                    <a:p>
                      <a:pPr algn="ctr"/>
                      <a:endParaRPr lang="zh-CN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标题 1">
            <a:extLst>
              <a:ext uri="{FF2B5EF4-FFF2-40B4-BE49-F238E27FC236}">
                <a16:creationId xmlns:a16="http://schemas.microsoft.com/office/drawing/2014/main" id="{DEDD8407-8A6D-684C-A7A2-6AA1F858F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+mn-lt"/>
              </a:rPr>
              <a:t>Meltdown</a:t>
            </a:r>
            <a:r>
              <a:rPr lang="zh-CN" altLang="en-US" dirty="0">
                <a:latin typeface="+mn-lt"/>
              </a:rPr>
              <a:t>漏洞原理</a:t>
            </a:r>
          </a:p>
        </p:txBody>
      </p:sp>
    </p:spTree>
    <p:extLst>
      <p:ext uri="{BB962C8B-B14F-4D97-AF65-F5344CB8AC3E}">
        <p14:creationId xmlns:p14="http://schemas.microsoft.com/office/powerpoint/2010/main" val="1588758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剪去单角的矩形 15"/>
          <p:cNvSpPr/>
          <p:nvPr/>
        </p:nvSpPr>
        <p:spPr>
          <a:xfrm>
            <a:off x="3595483" y="1366358"/>
            <a:ext cx="4091413" cy="2002178"/>
          </a:xfrm>
          <a:prstGeom prst="snip1Rect">
            <a:avLst>
              <a:gd name="adj" fmla="val 0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ea typeface="Bangla MN" charset="0"/>
              <a:cs typeface="Bangla M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316416" y="5067933"/>
            <a:ext cx="648072" cy="273844"/>
          </a:xfrm>
        </p:spPr>
        <p:txBody>
          <a:bodyPr/>
          <a:lstStyle/>
          <a:p>
            <a:r>
              <a:rPr lang="en-US" altLang="zh-CN" sz="1800" dirty="0">
                <a:solidFill>
                  <a:schemeClr val="tx1"/>
                </a:solidFill>
              </a:rPr>
              <a:t>3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17" y="4024761"/>
            <a:ext cx="1142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solidFill>
                  <a:srgbClr val="FF0066"/>
                </a:solidFill>
                <a:ea typeface="DengXian" charset="-122"/>
                <a:cs typeface="DengXian" charset="-122"/>
              </a:rPr>
              <a:t>key </a:t>
            </a:r>
            <a:r>
              <a:rPr kumimoji="1" lang="en-US" altLang="zh-CN" sz="1200" b="1" dirty="0">
                <a:ea typeface="DengXian" charset="-122"/>
                <a:cs typeface="DengXian" charset="-122"/>
              </a:rPr>
              <a:t>= 0x01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2048" y="4184358"/>
            <a:ext cx="7802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ea typeface="DengXian" charset="-122"/>
                <a:cs typeface="DengXian" charset="-122"/>
              </a:rPr>
              <a:t>Kernel</a:t>
            </a:r>
            <a:endParaRPr kumimoji="1" lang="zh-CN" altLang="en-US" sz="1600" dirty="0">
              <a:ea typeface="DengXian" charset="-122"/>
              <a:cs typeface="DengXian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0174" y="4558429"/>
            <a:ext cx="5866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ea typeface="DengXian" charset="-122"/>
                <a:cs typeface="DengXian" charset="-122"/>
              </a:rPr>
              <a:t>User</a:t>
            </a:r>
            <a:endParaRPr kumimoji="1" lang="zh-CN" altLang="en-US" sz="1600" dirty="0">
              <a:ea typeface="DengXian" charset="-122"/>
              <a:cs typeface="DengXian" charset="-122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380433" y="4499874"/>
            <a:ext cx="176925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40" y="3904256"/>
            <a:ext cx="311664" cy="46123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262" y="1078287"/>
            <a:ext cx="546620" cy="546620"/>
          </a:xfrm>
          <a:prstGeom prst="rect">
            <a:avLst/>
          </a:prstGeom>
        </p:spPr>
      </p:pic>
      <p:cxnSp>
        <p:nvCxnSpPr>
          <p:cNvPr id="19" name="直线连接符 18"/>
          <p:cNvCxnSpPr/>
          <p:nvPr/>
        </p:nvCxnSpPr>
        <p:spPr>
          <a:xfrm>
            <a:off x="6012160" y="1505262"/>
            <a:ext cx="0" cy="120822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3972526" y="1849389"/>
            <a:ext cx="1986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ea typeface="Bangla MN" charset="0"/>
                <a:cs typeface="Bangla MN" charset="0"/>
              </a:rPr>
              <a:t>Load </a:t>
            </a:r>
            <a:r>
              <a:rPr kumimoji="1" lang="en-US" altLang="zh-CN" sz="1400" b="1" dirty="0">
                <a:solidFill>
                  <a:srgbClr val="FF0066"/>
                </a:solidFill>
                <a:ea typeface="Bangla MN" charset="0"/>
                <a:cs typeface="Bangla MN" charset="0"/>
              </a:rPr>
              <a:t>key</a:t>
            </a:r>
            <a:r>
              <a:rPr kumimoji="1" lang="en-US" altLang="zh-CN" sz="1400" dirty="0">
                <a:ea typeface="Bangla MN" charset="0"/>
                <a:cs typeface="Bangla MN" charset="0"/>
              </a:rPr>
              <a:t>, %</a:t>
            </a:r>
            <a:r>
              <a:rPr kumimoji="1" lang="en-US" altLang="zh-CN" sz="1400" dirty="0" err="1">
                <a:ea typeface="Bangla MN" charset="0"/>
                <a:cs typeface="Bangla MN" charset="0"/>
              </a:rPr>
              <a:t>rax</a:t>
            </a:r>
            <a:endParaRPr kumimoji="1" lang="en-US" altLang="zh-CN" sz="1400" dirty="0">
              <a:ea typeface="Bangla MN" charset="0"/>
              <a:cs typeface="Bangla MN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84822" y="1849389"/>
            <a:ext cx="1439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ea typeface="Bangla MN" charset="0"/>
                <a:cs typeface="Bangla MN" charset="0"/>
              </a:rPr>
              <a:t>%</a:t>
            </a:r>
            <a:r>
              <a:rPr kumimoji="1" lang="en-US" altLang="zh-CN" sz="1400" dirty="0" err="1">
                <a:ea typeface="Bangla MN" charset="0"/>
                <a:cs typeface="Bangla MN" charset="0"/>
              </a:rPr>
              <a:t>rax</a:t>
            </a:r>
            <a:r>
              <a:rPr kumimoji="1" lang="en-US" altLang="zh-CN" sz="1400" dirty="0">
                <a:ea typeface="Bangla MN" charset="0"/>
                <a:cs typeface="Bangla MN" charset="0"/>
              </a:rPr>
              <a:t> = </a:t>
            </a:r>
            <a:r>
              <a:rPr kumimoji="1" lang="en-US" altLang="zh-CN" sz="1400" b="1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ea typeface="Bangla MN" charset="0"/>
                <a:cs typeface="Bangla MN" charset="0"/>
              </a:rPr>
              <a:t>1</a:t>
            </a:r>
            <a:endParaRPr kumimoji="1" lang="en-US" altLang="zh-CN" sz="1400" dirty="0">
              <a:ea typeface="Bangla MN" charset="0"/>
              <a:cs typeface="Bangla MN" charset="0"/>
              <a:sym typeface="Wingding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129162" y="1421455"/>
            <a:ext cx="1162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>
                <a:ea typeface="Bangla MN" charset="0"/>
                <a:cs typeface="Bangla MN" charset="0"/>
              </a:rPr>
              <a:t>Instruction</a:t>
            </a:r>
            <a:endParaRPr kumimoji="1" lang="zh-CN" altLang="en-US" sz="1400" dirty="0">
              <a:ea typeface="Bangla MN" charset="0"/>
              <a:cs typeface="Bangla MN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236162" y="1407252"/>
            <a:ext cx="10001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>
                <a:ea typeface="Bangla MN" charset="0"/>
                <a:cs typeface="Bangla MN" charset="0"/>
              </a:rPr>
              <a:t>Effect</a:t>
            </a:r>
            <a:endParaRPr kumimoji="1" lang="zh-CN" altLang="en-US" sz="1400" dirty="0">
              <a:ea typeface="Bangla MN" charset="0"/>
              <a:cs typeface="Bangla MN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041718" y="2397249"/>
            <a:ext cx="1126169" cy="3077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kumimoji="1" lang="zh-CN" altLang="en-US" sz="1400" dirty="0">
                <a:ea typeface="Bangla MN" charset="0"/>
                <a:cs typeface="Bangla MN" charset="0"/>
              </a:rPr>
              <a:t>投机执行</a:t>
            </a:r>
          </a:p>
        </p:txBody>
      </p:sp>
      <p:cxnSp>
        <p:nvCxnSpPr>
          <p:cNvPr id="25" name="直线箭头连接符 24"/>
          <p:cNvCxnSpPr/>
          <p:nvPr/>
        </p:nvCxnSpPr>
        <p:spPr>
          <a:xfrm>
            <a:off x="3361254" y="2209428"/>
            <a:ext cx="0" cy="72554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/>
          <p:cNvCxnSpPr/>
          <p:nvPr/>
        </p:nvCxnSpPr>
        <p:spPr>
          <a:xfrm>
            <a:off x="3266819" y="2209428"/>
            <a:ext cx="18887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803725" y="1737331"/>
            <a:ext cx="1602154" cy="5232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rgbClr val="FF0066"/>
                </a:solidFill>
                <a:ea typeface="Bangla MN" charset="0"/>
                <a:cs typeface="Bangla MN" charset="0"/>
              </a:rPr>
              <a:t>非法内核内存</a:t>
            </a:r>
            <a:endParaRPr kumimoji="1" lang="en-US" altLang="zh-CN" sz="1400" dirty="0">
              <a:solidFill>
                <a:srgbClr val="FF0066"/>
              </a:solidFill>
              <a:ea typeface="Bangla MN" charset="0"/>
              <a:cs typeface="Bangla MN" charset="0"/>
            </a:endParaRPr>
          </a:p>
          <a:p>
            <a:pPr algn="ctr"/>
            <a:r>
              <a:rPr kumimoji="1" lang="zh-CN" altLang="en-US" sz="1400" dirty="0">
                <a:solidFill>
                  <a:srgbClr val="FF0066"/>
                </a:solidFill>
                <a:ea typeface="Bangla MN" charset="0"/>
                <a:cs typeface="Bangla MN" charset="0"/>
              </a:rPr>
              <a:t>访问！</a:t>
            </a:r>
          </a:p>
        </p:txBody>
      </p:sp>
      <p:sp>
        <p:nvSpPr>
          <p:cNvPr id="28" name="椭圆 27"/>
          <p:cNvSpPr/>
          <p:nvPr/>
        </p:nvSpPr>
        <p:spPr>
          <a:xfrm>
            <a:off x="3707904" y="1893193"/>
            <a:ext cx="220166" cy="220166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400" b="1" dirty="0">
                <a:solidFill>
                  <a:srgbClr val="FF0066"/>
                </a:solidFill>
                <a:ea typeface="Bangla MN" charset="0"/>
                <a:cs typeface="Bangla MN" charset="0"/>
              </a:rPr>
              <a:t>1</a:t>
            </a:r>
            <a:endParaRPr kumimoji="1" lang="zh-CN" altLang="en-US" b="1" dirty="0">
              <a:solidFill>
                <a:srgbClr val="FF0066"/>
              </a:solidFill>
              <a:ea typeface="Bangla MN" charset="0"/>
              <a:cs typeface="Bangla MN" charset="0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3707904" y="2397249"/>
            <a:ext cx="220166" cy="220166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400" b="1" dirty="0">
                <a:solidFill>
                  <a:srgbClr val="FF0066"/>
                </a:solidFill>
                <a:ea typeface="Bangla MN" charset="0"/>
                <a:cs typeface="Bangla MN" charset="0"/>
              </a:rPr>
              <a:t>2</a:t>
            </a:r>
            <a:endParaRPr kumimoji="1" lang="zh-CN" altLang="en-US" b="1" dirty="0">
              <a:solidFill>
                <a:srgbClr val="FF0066"/>
              </a:solidFill>
              <a:ea typeface="Bangla MN" charset="0"/>
              <a:cs typeface="Bangla MN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275857" y="3793605"/>
            <a:ext cx="8769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ea typeface="Bangla MN" charset="0"/>
                <a:cs typeface="Bangla MN" charset="0"/>
              </a:rPr>
              <a:t>Cache</a:t>
            </a:r>
            <a:endParaRPr kumimoji="1" lang="zh-CN" altLang="en-US" sz="1400" b="1" dirty="0">
              <a:ea typeface="Bangla MN" charset="0"/>
              <a:cs typeface="Bangla MN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681615" y="3793605"/>
            <a:ext cx="104741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ea typeface="Bangla MN" charset="0"/>
                <a:cs typeface="Bangla MN" charset="0"/>
              </a:rPr>
              <a:t>Memory</a:t>
            </a:r>
            <a:r>
              <a:rPr kumimoji="1" lang="zh-CN" altLang="en-US" sz="1400" b="1" dirty="0">
                <a:ea typeface="Bangla MN" charset="0"/>
                <a:cs typeface="Bangla MN" charset="0"/>
              </a:rPr>
              <a:t> 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5508105" y="4749232"/>
            <a:ext cx="155153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 err="1">
                <a:ea typeface="Bangla MN" charset="0"/>
                <a:cs typeface="Bangla MN" charset="0"/>
              </a:rPr>
              <a:t>buf</a:t>
            </a:r>
            <a:r>
              <a:rPr kumimoji="1" lang="en-US" altLang="zh-CN" sz="1400" b="1" dirty="0">
                <a:ea typeface="Bangla MN" charset="0"/>
                <a:cs typeface="Bangla MN" charset="0"/>
              </a:rPr>
              <a:t> </a:t>
            </a:r>
          </a:p>
          <a:p>
            <a:pPr algn="ctr"/>
            <a:r>
              <a:rPr kumimoji="1" lang="en-US" altLang="zh-CN" sz="1200" dirty="0">
                <a:ea typeface="Bangla MN" charset="0"/>
                <a:cs typeface="Bangla MN" charset="0"/>
              </a:rPr>
              <a:t>(Attack buffer)</a:t>
            </a:r>
            <a:endParaRPr kumimoji="1" lang="zh-CN" altLang="en-US" dirty="0">
              <a:ea typeface="Bangla MN" charset="0"/>
              <a:cs typeface="Bangla MN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42" y="4696928"/>
            <a:ext cx="369461" cy="60439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1115617" y="4796539"/>
            <a:ext cx="1142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ea typeface="DengXian" charset="-122"/>
                <a:cs typeface="DengXian" charset="-122"/>
              </a:rPr>
              <a:t>Meltdown</a:t>
            </a:r>
          </a:p>
        </p:txBody>
      </p:sp>
      <p:graphicFrame>
        <p:nvGraphicFramePr>
          <p:cNvPr id="48" name="表格 47"/>
          <p:cNvGraphicFramePr>
            <a:graphicFrameLocks noGrp="1"/>
          </p:cNvGraphicFramePr>
          <p:nvPr/>
        </p:nvGraphicFramePr>
        <p:xfrm>
          <a:off x="5926351" y="4172493"/>
          <a:ext cx="2520000" cy="340268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{7E9639D4-E3E2-4D34-9284-5A2195B3D0D7}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0268">
                <a:tc>
                  <a:txBody>
                    <a:bodyPr/>
                    <a:lstStyle/>
                    <a:p>
                      <a:pPr algn="ctr"/>
                      <a:r>
                        <a:rPr lang="mr-IN" altLang="zh-CN" sz="7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solidFill>
                            <a:schemeClr val="tx1"/>
                          </a:solidFill>
                        </a:rPr>
                        <a:t>buf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solidFill>
                            <a:schemeClr val="tx1"/>
                          </a:solidFill>
                        </a:rPr>
                        <a:t>buf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solidFill>
                            <a:schemeClr val="tx1"/>
                          </a:solidFill>
                        </a:rPr>
                        <a:t>buf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altLang="zh-CN" sz="9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solidFill>
                            <a:schemeClr val="tx1"/>
                          </a:solidFill>
                        </a:rPr>
                        <a:t>buf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[n]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altLang="zh-CN" sz="7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" name="文本框 42"/>
          <p:cNvSpPr txBox="1"/>
          <p:nvPr/>
        </p:nvSpPr>
        <p:spPr>
          <a:xfrm>
            <a:off x="3972526" y="2353445"/>
            <a:ext cx="1986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ea typeface="Bangla MN" charset="0"/>
                <a:cs typeface="Bangla MN" charset="0"/>
              </a:rPr>
              <a:t>Load </a:t>
            </a:r>
            <a:r>
              <a:rPr kumimoji="1" lang="en-US" altLang="zh-CN" sz="1400" b="1" dirty="0" err="1">
                <a:ea typeface="Bangla MN" charset="0"/>
                <a:cs typeface="Bangla MN" charset="0"/>
              </a:rPr>
              <a:t>buf</a:t>
            </a:r>
            <a:r>
              <a:rPr kumimoji="1" lang="en-US" altLang="zh-CN" sz="1400" dirty="0">
                <a:ea typeface="Bangla MN" charset="0"/>
                <a:cs typeface="Bangla MN" charset="0"/>
              </a:rPr>
              <a:t>[%</a:t>
            </a:r>
            <a:r>
              <a:rPr kumimoji="1" lang="en-US" altLang="zh-CN" sz="1400" dirty="0" err="1">
                <a:ea typeface="Bangla MN" charset="0"/>
                <a:cs typeface="Bangla MN" charset="0"/>
              </a:rPr>
              <a:t>rax</a:t>
            </a:r>
            <a:r>
              <a:rPr kumimoji="1" lang="en-US" altLang="zh-CN" sz="1400" dirty="0">
                <a:ea typeface="Bangla MN" charset="0"/>
                <a:cs typeface="Bangla MN" charset="0"/>
              </a:rPr>
              <a:t>], %</a:t>
            </a:r>
            <a:r>
              <a:rPr kumimoji="1" lang="en-US" altLang="zh-CN" sz="1400" dirty="0" err="1">
                <a:ea typeface="Bangla MN" charset="0"/>
                <a:cs typeface="Bangla MN" charset="0"/>
              </a:rPr>
              <a:t>rbx</a:t>
            </a:r>
            <a:endParaRPr kumimoji="1" lang="en-US" altLang="zh-CN" sz="1400" dirty="0">
              <a:ea typeface="Bangla MN" charset="0"/>
              <a:cs typeface="Bangla MN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084822" y="2353445"/>
            <a:ext cx="1439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ea typeface="Bangla MN" charset="0"/>
                <a:cs typeface="Bangla MN" charset="0"/>
                <a:sym typeface="Wingdings"/>
              </a:rPr>
              <a:t>Access </a:t>
            </a:r>
            <a:r>
              <a:rPr kumimoji="1" lang="en-US" altLang="zh-CN" sz="1400" b="1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ea typeface="Bangla MN" charset="0"/>
                <a:cs typeface="Bangla MN" charset="0"/>
                <a:sym typeface="Wingdings"/>
              </a:rPr>
              <a:t>buf</a:t>
            </a:r>
            <a:r>
              <a:rPr kumimoji="1" lang="en-US" altLang="zh-CN" sz="1400" b="1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ea typeface="Bangla MN" charset="0"/>
                <a:cs typeface="Bangla MN" charset="0"/>
                <a:sym typeface="Wingdings"/>
              </a:rPr>
              <a:t>[1]</a:t>
            </a:r>
            <a:endParaRPr kumimoji="1" lang="en-US" altLang="zh-CN" sz="1400" dirty="0">
              <a:ea typeface="Bangla MN" charset="0"/>
              <a:cs typeface="Bangla MN" charset="0"/>
              <a:sym typeface="Wingdings"/>
            </a:endParaRPr>
          </a:p>
        </p:txBody>
      </p:sp>
      <p:cxnSp>
        <p:nvCxnSpPr>
          <p:cNvPr id="47" name="直线箭头连接符 46"/>
          <p:cNvCxnSpPr/>
          <p:nvPr/>
        </p:nvCxnSpPr>
        <p:spPr>
          <a:xfrm>
            <a:off x="6283871" y="4550316"/>
            <a:ext cx="0" cy="246222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表格 45"/>
          <p:cNvGraphicFramePr>
            <a:graphicFrameLocks noGrp="1"/>
          </p:cNvGraphicFramePr>
          <p:nvPr/>
        </p:nvGraphicFramePr>
        <p:xfrm>
          <a:off x="3579299" y="4172493"/>
          <a:ext cx="1157165" cy="8229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{7E9639D4-E3E2-4D34-9284-5A2195B3D0D7}</a:tableStyleId>
              </a:tblPr>
              <a:tblGrid>
                <a:gridCol w="1157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74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Key = 1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L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404"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T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">
                <a:tc>
                  <a:txBody>
                    <a:bodyPr/>
                    <a:lstStyle/>
                    <a:p>
                      <a:pPr algn="ctr"/>
                      <a:endParaRPr lang="zh-CN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">
                <a:tc>
                  <a:txBody>
                    <a:bodyPr/>
                    <a:lstStyle/>
                    <a:p>
                      <a:pPr algn="ctr"/>
                      <a:endParaRPr lang="zh-CN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870">
                <a:tc>
                  <a:txBody>
                    <a:bodyPr/>
                    <a:lstStyle/>
                    <a:p>
                      <a:pPr algn="ctr"/>
                      <a:endParaRPr lang="zh-CN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870">
                <a:tc>
                  <a:txBody>
                    <a:bodyPr/>
                    <a:lstStyle/>
                    <a:p>
                      <a:pPr algn="ctr"/>
                      <a:endParaRPr lang="zh-CN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" name="标题 1">
            <a:extLst>
              <a:ext uri="{FF2B5EF4-FFF2-40B4-BE49-F238E27FC236}">
                <a16:creationId xmlns:a16="http://schemas.microsoft.com/office/drawing/2014/main" id="{843CDBD5-0F73-A842-99F6-A35F89EA1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+mn-lt"/>
              </a:rPr>
              <a:t>Meltdown</a:t>
            </a:r>
            <a:r>
              <a:rPr lang="zh-CN" altLang="en-US" dirty="0">
                <a:latin typeface="+mn-lt"/>
              </a:rPr>
              <a:t>漏洞原理</a:t>
            </a:r>
          </a:p>
        </p:txBody>
      </p:sp>
    </p:spTree>
    <p:extLst>
      <p:ext uri="{BB962C8B-B14F-4D97-AF65-F5344CB8AC3E}">
        <p14:creationId xmlns:p14="http://schemas.microsoft.com/office/powerpoint/2010/main" val="526002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4" grpId="0"/>
      <p:bldP spid="27" grpId="0"/>
      <p:bldP spid="28" grpId="0" animBg="1"/>
      <p:bldP spid="29" grpId="0" animBg="1"/>
      <p:bldP spid="43" grpId="0"/>
      <p:bldP spid="4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剪去单角的矩形 15"/>
          <p:cNvSpPr/>
          <p:nvPr/>
        </p:nvSpPr>
        <p:spPr>
          <a:xfrm>
            <a:off x="3595483" y="1366358"/>
            <a:ext cx="4091413" cy="2002178"/>
          </a:xfrm>
          <a:prstGeom prst="snip1Rect">
            <a:avLst>
              <a:gd name="adj" fmla="val 0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ea typeface="Bangla MN" charset="0"/>
              <a:cs typeface="Bangla MN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995937" y="2785492"/>
            <a:ext cx="1958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ea typeface="Bangla MN" charset="0"/>
                <a:cs typeface="Bangla MN" charset="0"/>
                <a:sym typeface="Wingdings"/>
              </a:rPr>
              <a:t>处理器状态回滚</a:t>
            </a:r>
            <a:endParaRPr kumimoji="1" lang="en-US" altLang="zh-CN" sz="1400" dirty="0">
              <a:solidFill>
                <a:srgbClr val="FF0066"/>
              </a:solidFill>
              <a:ea typeface="Bangla MN" charset="0"/>
              <a:cs typeface="Bangla MN" charset="0"/>
              <a:sym typeface="Wingdings"/>
            </a:endParaRPr>
          </a:p>
          <a:p>
            <a:pPr algn="ctr"/>
            <a:r>
              <a:rPr kumimoji="1" lang="zh-CN" altLang="en-US" sz="1400" dirty="0">
                <a:solidFill>
                  <a:srgbClr val="FF0066"/>
                </a:solidFill>
                <a:ea typeface="Bangla MN" charset="0"/>
                <a:cs typeface="Bangla MN" charset="0"/>
                <a:sym typeface="Wingdings"/>
              </a:rPr>
              <a:t>未回滚缓存状态！</a:t>
            </a:r>
            <a:endParaRPr kumimoji="1" lang="en-US" altLang="zh-CN" sz="1400" dirty="0">
              <a:solidFill>
                <a:srgbClr val="FF0066"/>
              </a:solidFill>
              <a:ea typeface="Bangla MN" charset="0"/>
              <a:cs typeface="Bangla MN" charset="0"/>
              <a:sym typeface="Wingding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316416" y="5067933"/>
            <a:ext cx="648072" cy="273844"/>
          </a:xfrm>
        </p:spPr>
        <p:txBody>
          <a:bodyPr/>
          <a:lstStyle/>
          <a:p>
            <a:r>
              <a:rPr lang="en-US" altLang="zh-CN" sz="1800" dirty="0">
                <a:solidFill>
                  <a:schemeClr val="tx1"/>
                </a:solidFill>
              </a:rPr>
              <a:t>3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17" y="4024761"/>
            <a:ext cx="1142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solidFill>
                  <a:srgbClr val="FF0066"/>
                </a:solidFill>
                <a:ea typeface="DengXian" charset="-122"/>
                <a:cs typeface="DengXian" charset="-122"/>
              </a:rPr>
              <a:t>key </a:t>
            </a:r>
            <a:r>
              <a:rPr kumimoji="1" lang="en-US" altLang="zh-CN" sz="1200" b="1" dirty="0">
                <a:ea typeface="DengXian" charset="-122"/>
                <a:cs typeface="DengXian" charset="-122"/>
              </a:rPr>
              <a:t>= 0x01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2048" y="4184358"/>
            <a:ext cx="7802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ea typeface="DengXian" charset="-122"/>
                <a:cs typeface="DengXian" charset="-122"/>
              </a:rPr>
              <a:t>Kernel</a:t>
            </a:r>
            <a:endParaRPr kumimoji="1" lang="zh-CN" altLang="en-US" sz="1600" dirty="0">
              <a:ea typeface="DengXian" charset="-122"/>
              <a:cs typeface="DengXian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0174" y="4558429"/>
            <a:ext cx="5866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ea typeface="DengXian" charset="-122"/>
                <a:cs typeface="DengXian" charset="-122"/>
              </a:rPr>
              <a:t>User</a:t>
            </a:r>
            <a:endParaRPr kumimoji="1" lang="zh-CN" altLang="en-US" sz="1600" dirty="0">
              <a:ea typeface="DengXian" charset="-122"/>
              <a:cs typeface="DengXian" charset="-122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380433" y="4499874"/>
            <a:ext cx="176925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40" y="3904256"/>
            <a:ext cx="311664" cy="46123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262" y="1078287"/>
            <a:ext cx="546620" cy="546620"/>
          </a:xfrm>
          <a:prstGeom prst="rect">
            <a:avLst/>
          </a:prstGeom>
        </p:spPr>
      </p:pic>
      <p:cxnSp>
        <p:nvCxnSpPr>
          <p:cNvPr id="19" name="直线连接符 18"/>
          <p:cNvCxnSpPr/>
          <p:nvPr/>
        </p:nvCxnSpPr>
        <p:spPr>
          <a:xfrm>
            <a:off x="6012160" y="1505262"/>
            <a:ext cx="0" cy="120822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3972526" y="1849389"/>
            <a:ext cx="1986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ea typeface="Bangla MN" charset="0"/>
                <a:cs typeface="Bangla MN" charset="0"/>
              </a:rPr>
              <a:t>Load </a:t>
            </a:r>
            <a:r>
              <a:rPr kumimoji="1" lang="en-US" altLang="zh-CN" sz="1400" b="1" dirty="0">
                <a:solidFill>
                  <a:srgbClr val="FF0066"/>
                </a:solidFill>
                <a:ea typeface="Bangla MN" charset="0"/>
                <a:cs typeface="Bangla MN" charset="0"/>
              </a:rPr>
              <a:t>key</a:t>
            </a:r>
            <a:r>
              <a:rPr kumimoji="1" lang="en-US" altLang="zh-CN" sz="1400" dirty="0">
                <a:ea typeface="Bangla MN" charset="0"/>
                <a:cs typeface="Bangla MN" charset="0"/>
              </a:rPr>
              <a:t>, %</a:t>
            </a:r>
            <a:r>
              <a:rPr kumimoji="1" lang="en-US" altLang="zh-CN" sz="1400" dirty="0" err="1">
                <a:ea typeface="Bangla MN" charset="0"/>
                <a:cs typeface="Bangla MN" charset="0"/>
              </a:rPr>
              <a:t>rax</a:t>
            </a:r>
            <a:endParaRPr kumimoji="1" lang="en-US" altLang="zh-CN" sz="1400" dirty="0">
              <a:ea typeface="Bangla MN" charset="0"/>
              <a:cs typeface="Bangla MN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84822" y="1849389"/>
            <a:ext cx="1439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ea typeface="Bangla MN" charset="0"/>
                <a:cs typeface="Bangla MN" charset="0"/>
              </a:rPr>
              <a:t>%</a:t>
            </a:r>
            <a:r>
              <a:rPr kumimoji="1" lang="en-US" altLang="zh-CN" sz="1400" dirty="0" err="1">
                <a:ea typeface="Bangla MN" charset="0"/>
                <a:cs typeface="Bangla MN" charset="0"/>
              </a:rPr>
              <a:t>rax</a:t>
            </a:r>
            <a:r>
              <a:rPr kumimoji="1" lang="en-US" altLang="zh-CN" sz="1400" dirty="0">
                <a:ea typeface="Bangla MN" charset="0"/>
                <a:cs typeface="Bangla MN" charset="0"/>
              </a:rPr>
              <a:t> = </a:t>
            </a:r>
            <a:r>
              <a:rPr kumimoji="1" lang="en-US" altLang="zh-CN" sz="1400" b="1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ea typeface="Bangla MN" charset="0"/>
                <a:cs typeface="Bangla MN" charset="0"/>
              </a:rPr>
              <a:t>1</a:t>
            </a:r>
            <a:endParaRPr kumimoji="1" lang="en-US" altLang="zh-CN" sz="1400" dirty="0">
              <a:ea typeface="Bangla MN" charset="0"/>
              <a:cs typeface="Bangla MN" charset="0"/>
              <a:sym typeface="Wingding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129162" y="1421455"/>
            <a:ext cx="1162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>
                <a:ea typeface="Bangla MN" charset="0"/>
                <a:cs typeface="Bangla MN" charset="0"/>
              </a:rPr>
              <a:t>Instruction</a:t>
            </a:r>
            <a:endParaRPr kumimoji="1" lang="zh-CN" altLang="en-US" sz="1400" dirty="0">
              <a:ea typeface="Bangla MN" charset="0"/>
              <a:cs typeface="Bangla MN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236162" y="1407252"/>
            <a:ext cx="10001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>
                <a:ea typeface="Bangla MN" charset="0"/>
                <a:cs typeface="Bangla MN" charset="0"/>
              </a:rPr>
              <a:t>Effect</a:t>
            </a:r>
            <a:endParaRPr kumimoji="1" lang="zh-CN" altLang="en-US" sz="1400" dirty="0">
              <a:ea typeface="Bangla MN" charset="0"/>
              <a:cs typeface="Bangla MN" charset="0"/>
            </a:endParaRPr>
          </a:p>
        </p:txBody>
      </p:sp>
      <p:cxnSp>
        <p:nvCxnSpPr>
          <p:cNvPr id="25" name="直线箭头连接符 24"/>
          <p:cNvCxnSpPr/>
          <p:nvPr/>
        </p:nvCxnSpPr>
        <p:spPr>
          <a:xfrm>
            <a:off x="3361254" y="2209428"/>
            <a:ext cx="0" cy="72554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/>
          <p:cNvCxnSpPr/>
          <p:nvPr/>
        </p:nvCxnSpPr>
        <p:spPr>
          <a:xfrm>
            <a:off x="3266819" y="2209428"/>
            <a:ext cx="18887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3707904" y="1893193"/>
            <a:ext cx="220166" cy="220166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400" b="1" dirty="0">
                <a:solidFill>
                  <a:srgbClr val="FF0066"/>
                </a:solidFill>
                <a:ea typeface="Bangla MN" charset="0"/>
                <a:cs typeface="Bangla MN" charset="0"/>
              </a:rPr>
              <a:t>1</a:t>
            </a:r>
            <a:endParaRPr kumimoji="1" lang="zh-CN" altLang="en-US" b="1" dirty="0">
              <a:solidFill>
                <a:srgbClr val="FF0066"/>
              </a:solidFill>
              <a:ea typeface="Bangla MN" charset="0"/>
              <a:cs typeface="Bangla MN" charset="0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3707904" y="2397249"/>
            <a:ext cx="220166" cy="220166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400" b="1" dirty="0">
                <a:solidFill>
                  <a:srgbClr val="FF0066"/>
                </a:solidFill>
                <a:ea typeface="Bangla MN" charset="0"/>
                <a:cs typeface="Bangla MN" charset="0"/>
              </a:rPr>
              <a:t>2</a:t>
            </a:r>
            <a:endParaRPr kumimoji="1" lang="zh-CN" altLang="en-US" b="1" dirty="0">
              <a:solidFill>
                <a:srgbClr val="FF0066"/>
              </a:solidFill>
              <a:ea typeface="Bangla MN" charset="0"/>
              <a:cs typeface="Bangla MN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275857" y="3793605"/>
            <a:ext cx="8769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ea typeface="Bangla MN" charset="0"/>
                <a:cs typeface="Bangla MN" charset="0"/>
              </a:rPr>
              <a:t>Cache</a:t>
            </a:r>
            <a:endParaRPr kumimoji="1" lang="zh-CN" altLang="en-US" sz="1400" b="1" dirty="0">
              <a:ea typeface="Bangla MN" charset="0"/>
              <a:cs typeface="Bangla MN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681615" y="3793605"/>
            <a:ext cx="104741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ea typeface="Bangla MN" charset="0"/>
                <a:cs typeface="Bangla MN" charset="0"/>
              </a:rPr>
              <a:t>Memory</a:t>
            </a:r>
            <a:r>
              <a:rPr kumimoji="1" lang="zh-CN" altLang="en-US" sz="1400" b="1" dirty="0">
                <a:ea typeface="Bangla MN" charset="0"/>
                <a:cs typeface="Bangla MN" charset="0"/>
              </a:rPr>
              <a:t> 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5508105" y="4749232"/>
            <a:ext cx="155153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 err="1">
                <a:ea typeface="Bangla MN" charset="0"/>
                <a:cs typeface="Bangla MN" charset="0"/>
              </a:rPr>
              <a:t>buf</a:t>
            </a:r>
            <a:r>
              <a:rPr kumimoji="1" lang="en-US" altLang="zh-CN" sz="1400" b="1" dirty="0">
                <a:ea typeface="Bangla MN" charset="0"/>
                <a:cs typeface="Bangla MN" charset="0"/>
              </a:rPr>
              <a:t> </a:t>
            </a:r>
          </a:p>
          <a:p>
            <a:pPr algn="ctr"/>
            <a:r>
              <a:rPr kumimoji="1" lang="en-US" altLang="zh-CN" sz="1200" dirty="0">
                <a:ea typeface="Bangla MN" charset="0"/>
                <a:cs typeface="Bangla MN" charset="0"/>
              </a:rPr>
              <a:t>(Attack buffer)</a:t>
            </a:r>
            <a:endParaRPr kumimoji="1" lang="zh-CN" altLang="en-US" dirty="0">
              <a:ea typeface="Bangla MN" charset="0"/>
              <a:cs typeface="Bangla MN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42" y="4696928"/>
            <a:ext cx="369461" cy="60439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1115617" y="4796539"/>
            <a:ext cx="1142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ea typeface="DengXian" charset="-122"/>
                <a:cs typeface="DengXian" charset="-122"/>
              </a:rPr>
              <a:t>Meltdown</a:t>
            </a:r>
          </a:p>
        </p:txBody>
      </p:sp>
      <p:graphicFrame>
        <p:nvGraphicFramePr>
          <p:cNvPr id="46" name="表格 45"/>
          <p:cNvGraphicFramePr>
            <a:graphicFrameLocks noGrp="1"/>
          </p:cNvGraphicFramePr>
          <p:nvPr/>
        </p:nvGraphicFramePr>
        <p:xfrm>
          <a:off x="3579299" y="4172493"/>
          <a:ext cx="1157165" cy="8229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{7E9639D4-E3E2-4D34-9284-5A2195B3D0D7}</a:tableStyleId>
              </a:tblPr>
              <a:tblGrid>
                <a:gridCol w="1157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74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Key = 1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L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404"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T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">
                <a:tc>
                  <a:txBody>
                    <a:bodyPr/>
                    <a:lstStyle/>
                    <a:p>
                      <a:pPr algn="ctr"/>
                      <a:endParaRPr lang="zh-CN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B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 err="1">
                          <a:solidFill>
                            <a:schemeClr val="tx1"/>
                          </a:solidFill>
                        </a:rPr>
                        <a:t>buf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zh-CN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L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870">
                <a:tc>
                  <a:txBody>
                    <a:bodyPr/>
                    <a:lstStyle/>
                    <a:p>
                      <a:pPr algn="ctr"/>
                      <a:endParaRPr lang="zh-CN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T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870">
                <a:tc>
                  <a:txBody>
                    <a:bodyPr/>
                    <a:lstStyle/>
                    <a:p>
                      <a:pPr algn="ctr"/>
                      <a:endParaRPr lang="zh-CN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/>
        </p:nvGraphicFramePr>
        <p:xfrm>
          <a:off x="5926351" y="4172493"/>
          <a:ext cx="2520000" cy="340268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{7E9639D4-E3E2-4D34-9284-5A2195B3D0D7}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0268">
                <a:tc>
                  <a:txBody>
                    <a:bodyPr/>
                    <a:lstStyle/>
                    <a:p>
                      <a:pPr algn="ctr"/>
                      <a:r>
                        <a:rPr lang="mr-IN" altLang="zh-CN" sz="7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solidFill>
                            <a:schemeClr val="tx1"/>
                          </a:solidFill>
                        </a:rPr>
                        <a:t>buf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solidFill>
                            <a:schemeClr val="tx1"/>
                          </a:solidFill>
                        </a:rPr>
                        <a:t>buf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solidFill>
                            <a:schemeClr val="tx1"/>
                          </a:solidFill>
                        </a:rPr>
                        <a:t>buf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altLang="zh-CN" sz="9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solidFill>
                            <a:schemeClr val="tx1"/>
                          </a:solidFill>
                        </a:rPr>
                        <a:t>buf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[n]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altLang="zh-CN" sz="7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" name="文本框 42"/>
          <p:cNvSpPr txBox="1"/>
          <p:nvPr/>
        </p:nvSpPr>
        <p:spPr>
          <a:xfrm>
            <a:off x="3972526" y="2353445"/>
            <a:ext cx="1986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ea typeface="Bangla MN" charset="0"/>
                <a:cs typeface="Bangla MN" charset="0"/>
              </a:rPr>
              <a:t>Load </a:t>
            </a:r>
            <a:r>
              <a:rPr kumimoji="1" lang="en-US" altLang="zh-CN" sz="1400" b="1" dirty="0" err="1">
                <a:ea typeface="Bangla MN" charset="0"/>
                <a:cs typeface="Bangla MN" charset="0"/>
              </a:rPr>
              <a:t>buf</a:t>
            </a:r>
            <a:r>
              <a:rPr kumimoji="1" lang="en-US" altLang="zh-CN" sz="1400" dirty="0">
                <a:ea typeface="Bangla MN" charset="0"/>
                <a:cs typeface="Bangla MN" charset="0"/>
              </a:rPr>
              <a:t>[%</a:t>
            </a:r>
            <a:r>
              <a:rPr kumimoji="1" lang="en-US" altLang="zh-CN" sz="1400" dirty="0" err="1">
                <a:ea typeface="Bangla MN" charset="0"/>
                <a:cs typeface="Bangla MN" charset="0"/>
              </a:rPr>
              <a:t>rax</a:t>
            </a:r>
            <a:r>
              <a:rPr kumimoji="1" lang="en-US" altLang="zh-CN" sz="1400" dirty="0">
                <a:ea typeface="Bangla MN" charset="0"/>
                <a:cs typeface="Bangla MN" charset="0"/>
              </a:rPr>
              <a:t>], %</a:t>
            </a:r>
            <a:r>
              <a:rPr kumimoji="1" lang="en-US" altLang="zh-CN" sz="1400" dirty="0" err="1">
                <a:ea typeface="Bangla MN" charset="0"/>
                <a:cs typeface="Bangla MN" charset="0"/>
              </a:rPr>
              <a:t>rbx</a:t>
            </a:r>
            <a:endParaRPr kumimoji="1" lang="en-US" altLang="zh-CN" sz="1400" dirty="0">
              <a:ea typeface="Bangla MN" charset="0"/>
              <a:cs typeface="Bangla MN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084822" y="2353445"/>
            <a:ext cx="1439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ea typeface="Bangla MN" charset="0"/>
                <a:cs typeface="Bangla MN" charset="0"/>
                <a:sym typeface="Wingdings"/>
              </a:rPr>
              <a:t>Access </a:t>
            </a:r>
            <a:r>
              <a:rPr kumimoji="1" lang="en-US" altLang="zh-CN" sz="1400" b="1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ea typeface="Bangla MN" charset="0"/>
                <a:cs typeface="Bangla MN" charset="0"/>
                <a:sym typeface="Wingdings"/>
              </a:rPr>
              <a:t>buf</a:t>
            </a:r>
            <a:r>
              <a:rPr kumimoji="1" lang="en-US" altLang="zh-CN" sz="1400" b="1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ea typeface="Bangla MN" charset="0"/>
                <a:cs typeface="Bangla MN" charset="0"/>
                <a:sym typeface="Wingdings"/>
              </a:rPr>
              <a:t>[1]</a:t>
            </a:r>
            <a:endParaRPr kumimoji="1" lang="en-US" altLang="zh-CN" sz="1400" dirty="0">
              <a:ea typeface="Bangla MN" charset="0"/>
              <a:cs typeface="Bangla MN" charset="0"/>
              <a:sym typeface="Wingdings"/>
            </a:endParaRPr>
          </a:p>
        </p:txBody>
      </p:sp>
      <p:cxnSp>
        <p:nvCxnSpPr>
          <p:cNvPr id="47" name="直线箭头连接符 46"/>
          <p:cNvCxnSpPr/>
          <p:nvPr/>
        </p:nvCxnSpPr>
        <p:spPr>
          <a:xfrm>
            <a:off x="6283871" y="4550316"/>
            <a:ext cx="0" cy="246222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/>
          <p:cNvSpPr/>
          <p:nvPr/>
        </p:nvSpPr>
        <p:spPr>
          <a:xfrm>
            <a:off x="5800310" y="2828750"/>
            <a:ext cx="220166" cy="220166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400" b="1" dirty="0">
                <a:solidFill>
                  <a:srgbClr val="FF0066"/>
                </a:solidFill>
                <a:ea typeface="Bangla MN" charset="0"/>
                <a:cs typeface="Bangla MN" charset="0"/>
              </a:rPr>
              <a:t>3</a:t>
            </a:r>
            <a:endParaRPr kumimoji="1" lang="zh-CN" altLang="en-US" b="1" dirty="0">
              <a:solidFill>
                <a:srgbClr val="FF0066"/>
              </a:solidFill>
              <a:ea typeface="Bangla MN" charset="0"/>
              <a:cs typeface="Bangla MN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719747" y="2938834"/>
            <a:ext cx="17722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rgbClr val="FF0066"/>
                </a:solidFill>
                <a:ea typeface="Bangla MN" charset="0"/>
                <a:cs typeface="Bangla MN" charset="0"/>
              </a:rPr>
              <a:t>内存访问异常</a:t>
            </a:r>
            <a:endParaRPr kumimoji="1" lang="en-US" altLang="zh-CN" sz="1400" dirty="0">
              <a:solidFill>
                <a:srgbClr val="FF0066"/>
              </a:solidFill>
              <a:ea typeface="Bangla MN" charset="0"/>
              <a:cs typeface="Bangla MN" charset="0"/>
            </a:endParaRPr>
          </a:p>
        </p:txBody>
      </p:sp>
      <p:cxnSp>
        <p:nvCxnSpPr>
          <p:cNvPr id="59" name="直线箭头连接符 58"/>
          <p:cNvCxnSpPr/>
          <p:nvPr/>
        </p:nvCxnSpPr>
        <p:spPr>
          <a:xfrm>
            <a:off x="3218656" y="3092721"/>
            <a:ext cx="633264" cy="0"/>
          </a:xfrm>
          <a:prstGeom prst="straightConnector1">
            <a:avLst/>
          </a:prstGeom>
          <a:ln w="1905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/>
          <p:cNvCxnSpPr/>
          <p:nvPr/>
        </p:nvCxnSpPr>
        <p:spPr>
          <a:xfrm>
            <a:off x="2913129" y="4366542"/>
            <a:ext cx="6332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2568356" y="4533751"/>
            <a:ext cx="1322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i="1" dirty="0">
                <a:ea typeface="Bangla MN" charset="0"/>
                <a:cs typeface="Bangla MN" charset="0"/>
              </a:rPr>
              <a:t>Access </a:t>
            </a:r>
          </a:p>
          <a:p>
            <a:pPr algn="ctr"/>
            <a:r>
              <a:rPr kumimoji="1" lang="en-US" altLang="zh-CN" sz="1100" i="1" dirty="0" err="1">
                <a:solidFill>
                  <a:srgbClr val="FF0066"/>
                </a:solidFill>
                <a:ea typeface="Bangla MN" charset="0"/>
                <a:cs typeface="Bangla MN" charset="0"/>
              </a:rPr>
              <a:t>buf</a:t>
            </a:r>
            <a:r>
              <a:rPr kumimoji="1" lang="en-US" altLang="zh-CN" sz="1100" i="1" dirty="0">
                <a:solidFill>
                  <a:srgbClr val="FF0066"/>
                </a:solidFill>
                <a:ea typeface="Bangla MN" charset="0"/>
                <a:cs typeface="Bangla MN" charset="0"/>
              </a:rPr>
              <a:t>[1]</a:t>
            </a:r>
          </a:p>
        </p:txBody>
      </p:sp>
      <p:cxnSp>
        <p:nvCxnSpPr>
          <p:cNvPr id="50" name="直线箭头连接符 49"/>
          <p:cNvCxnSpPr/>
          <p:nvPr/>
        </p:nvCxnSpPr>
        <p:spPr>
          <a:xfrm>
            <a:off x="4965942" y="4366542"/>
            <a:ext cx="6332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/>
          <p:cNvCxnSpPr/>
          <p:nvPr/>
        </p:nvCxnSpPr>
        <p:spPr>
          <a:xfrm>
            <a:off x="4965942" y="4441676"/>
            <a:ext cx="633264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4661014" y="4533751"/>
            <a:ext cx="1322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i="1" dirty="0">
                <a:solidFill>
                  <a:srgbClr val="FF0066"/>
                </a:solidFill>
                <a:ea typeface="Bangla MN" charset="0"/>
                <a:cs typeface="Bangla MN" charset="0"/>
              </a:rPr>
              <a:t>Fill </a:t>
            </a:r>
            <a:r>
              <a:rPr kumimoji="1" lang="en-US" altLang="zh-CN" sz="1100" i="1" dirty="0" err="1">
                <a:solidFill>
                  <a:srgbClr val="FF0066"/>
                </a:solidFill>
                <a:ea typeface="Bangla MN" charset="0"/>
                <a:cs typeface="Bangla MN" charset="0"/>
              </a:rPr>
              <a:t>buf</a:t>
            </a:r>
            <a:r>
              <a:rPr kumimoji="1" lang="en-US" altLang="zh-CN" sz="1100" i="1" dirty="0">
                <a:solidFill>
                  <a:srgbClr val="FF0066"/>
                </a:solidFill>
                <a:ea typeface="Bangla MN" charset="0"/>
                <a:cs typeface="Bangla MN" charset="0"/>
              </a:rPr>
              <a:t>[1]</a:t>
            </a:r>
          </a:p>
          <a:p>
            <a:pPr algn="ctr"/>
            <a:r>
              <a:rPr kumimoji="1" lang="en-US" altLang="zh-CN" sz="1100" i="1" dirty="0">
                <a:solidFill>
                  <a:srgbClr val="FF0066"/>
                </a:solidFill>
                <a:ea typeface="Bangla MN" charset="0"/>
                <a:cs typeface="Bangla MN" charset="0"/>
              </a:rPr>
              <a:t>to cache</a:t>
            </a:r>
          </a:p>
        </p:txBody>
      </p:sp>
      <p:sp>
        <p:nvSpPr>
          <p:cNvPr id="57" name="椭圆 56"/>
          <p:cNvSpPr/>
          <p:nvPr/>
        </p:nvSpPr>
        <p:spPr>
          <a:xfrm>
            <a:off x="3119096" y="4255405"/>
            <a:ext cx="220166" cy="220166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400" b="1" dirty="0">
                <a:solidFill>
                  <a:srgbClr val="FF0066"/>
                </a:solidFill>
                <a:ea typeface="Bangla MN" charset="0"/>
                <a:cs typeface="Bangla MN" charset="0"/>
              </a:rPr>
              <a:t>2</a:t>
            </a:r>
            <a:endParaRPr kumimoji="1" lang="zh-CN" altLang="en-US" b="1" dirty="0">
              <a:solidFill>
                <a:srgbClr val="FF0066"/>
              </a:solidFill>
              <a:ea typeface="Bangla MN" charset="0"/>
              <a:cs typeface="Bangla MN" charset="0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5148064" y="4293518"/>
            <a:ext cx="220166" cy="220166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400" b="1" dirty="0">
                <a:solidFill>
                  <a:srgbClr val="FF0066"/>
                </a:solidFill>
                <a:ea typeface="Bangla MN" charset="0"/>
                <a:cs typeface="Bangla MN" charset="0"/>
              </a:rPr>
              <a:t>2</a:t>
            </a:r>
            <a:endParaRPr kumimoji="1" lang="zh-CN" altLang="en-US" b="1" dirty="0">
              <a:solidFill>
                <a:srgbClr val="FF0066"/>
              </a:solidFill>
              <a:ea typeface="Bangla MN" charset="0"/>
              <a:cs typeface="Bangla MN" charset="0"/>
            </a:endParaRPr>
          </a:p>
        </p:txBody>
      </p:sp>
      <p:sp>
        <p:nvSpPr>
          <p:cNvPr id="56" name="标题 1">
            <a:extLst>
              <a:ext uri="{FF2B5EF4-FFF2-40B4-BE49-F238E27FC236}">
                <a16:creationId xmlns:a16="http://schemas.microsoft.com/office/drawing/2014/main" id="{BD408704-DA62-C545-A597-E39C9FC54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+mn-lt"/>
              </a:rPr>
              <a:t>Meltdown</a:t>
            </a:r>
            <a:r>
              <a:rPr lang="zh-CN" altLang="en-US" dirty="0">
                <a:latin typeface="+mn-lt"/>
              </a:rPr>
              <a:t>漏洞原理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6843D30-D311-F34B-9640-C134970004F2}"/>
              </a:ext>
            </a:extLst>
          </p:cNvPr>
          <p:cNvSpPr txBox="1"/>
          <p:nvPr/>
        </p:nvSpPr>
        <p:spPr>
          <a:xfrm>
            <a:off x="2041718" y="2397249"/>
            <a:ext cx="1126169" cy="3077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kumimoji="1" lang="zh-CN" altLang="en-US" sz="1400" dirty="0">
                <a:ea typeface="Bangla MN" charset="0"/>
                <a:cs typeface="Bangla MN" charset="0"/>
              </a:rPr>
              <a:t>投机执行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EEE4B0B-A64C-5448-8DF6-38E3AD9C5B38}"/>
              </a:ext>
            </a:extLst>
          </p:cNvPr>
          <p:cNvSpPr txBox="1"/>
          <p:nvPr/>
        </p:nvSpPr>
        <p:spPr>
          <a:xfrm>
            <a:off x="1803725" y="1737331"/>
            <a:ext cx="1602154" cy="5232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rgbClr val="FF0066"/>
                </a:solidFill>
                <a:ea typeface="Bangla MN" charset="0"/>
                <a:cs typeface="Bangla MN" charset="0"/>
              </a:rPr>
              <a:t>非法内核内存</a:t>
            </a:r>
            <a:endParaRPr kumimoji="1" lang="en-US" altLang="zh-CN" sz="1400" dirty="0">
              <a:solidFill>
                <a:srgbClr val="FF0066"/>
              </a:solidFill>
              <a:ea typeface="Bangla MN" charset="0"/>
              <a:cs typeface="Bangla MN" charset="0"/>
            </a:endParaRPr>
          </a:p>
          <a:p>
            <a:pPr algn="ctr"/>
            <a:r>
              <a:rPr kumimoji="1" lang="zh-CN" altLang="en-US" sz="1400" dirty="0">
                <a:solidFill>
                  <a:srgbClr val="FF0066"/>
                </a:solidFill>
                <a:ea typeface="Bangla MN" charset="0"/>
                <a:cs typeface="Bangla MN" charset="0"/>
              </a:rPr>
              <a:t>访问！</a:t>
            </a:r>
          </a:p>
        </p:txBody>
      </p:sp>
    </p:spTree>
    <p:extLst>
      <p:ext uri="{BB962C8B-B14F-4D97-AF65-F5344CB8AC3E}">
        <p14:creationId xmlns:p14="http://schemas.microsoft.com/office/powerpoint/2010/main" val="4101213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3" grpId="0" animBg="1"/>
      <p:bldP spid="5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剪去单角的矩形 15"/>
          <p:cNvSpPr/>
          <p:nvPr/>
        </p:nvSpPr>
        <p:spPr>
          <a:xfrm>
            <a:off x="3595483" y="1366358"/>
            <a:ext cx="4091413" cy="2002178"/>
          </a:xfrm>
          <a:prstGeom prst="snip1Rect">
            <a:avLst>
              <a:gd name="adj" fmla="val 0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ea typeface="Bangla MN" charset="0"/>
              <a:cs typeface="Bangla MN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995937" y="2785492"/>
            <a:ext cx="1958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ea typeface="Bangla MN" charset="0"/>
                <a:cs typeface="Bangla MN" charset="0"/>
                <a:sym typeface="Wingdings"/>
              </a:rPr>
              <a:t>处理器状态回滚</a:t>
            </a:r>
            <a:endParaRPr kumimoji="1" lang="en-US" altLang="zh-CN" sz="1400" dirty="0">
              <a:solidFill>
                <a:srgbClr val="FF0066"/>
              </a:solidFill>
              <a:ea typeface="Bangla MN" charset="0"/>
              <a:cs typeface="Bangla MN" charset="0"/>
              <a:sym typeface="Wingdings"/>
            </a:endParaRPr>
          </a:p>
          <a:p>
            <a:pPr algn="ctr"/>
            <a:r>
              <a:rPr kumimoji="1" lang="zh-CN" altLang="en-US" sz="1400" dirty="0">
                <a:solidFill>
                  <a:srgbClr val="FF0066"/>
                </a:solidFill>
                <a:ea typeface="Bangla MN" charset="0"/>
                <a:cs typeface="Bangla MN" charset="0"/>
                <a:sym typeface="Wingdings"/>
              </a:rPr>
              <a:t>未回滚缓存状态！</a:t>
            </a:r>
            <a:endParaRPr kumimoji="1" lang="en-US" altLang="zh-CN" sz="1400" dirty="0">
              <a:solidFill>
                <a:srgbClr val="FF0066"/>
              </a:solidFill>
              <a:ea typeface="Bangla MN" charset="0"/>
              <a:cs typeface="Bangla MN" charset="0"/>
              <a:sym typeface="Wingding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316416" y="5067933"/>
            <a:ext cx="648072" cy="273844"/>
          </a:xfrm>
        </p:spPr>
        <p:txBody>
          <a:bodyPr/>
          <a:lstStyle/>
          <a:p>
            <a:r>
              <a:rPr lang="en-US" altLang="zh-CN" sz="1800" dirty="0">
                <a:solidFill>
                  <a:schemeClr val="tx1"/>
                </a:solidFill>
              </a:rPr>
              <a:t>3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17" y="4024761"/>
            <a:ext cx="1142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solidFill>
                  <a:srgbClr val="FF0066"/>
                </a:solidFill>
                <a:ea typeface="DengXian" charset="-122"/>
                <a:cs typeface="DengXian" charset="-122"/>
              </a:rPr>
              <a:t>key </a:t>
            </a:r>
            <a:r>
              <a:rPr kumimoji="1" lang="en-US" altLang="zh-CN" sz="1200" b="1" dirty="0">
                <a:ea typeface="DengXian" charset="-122"/>
                <a:cs typeface="DengXian" charset="-122"/>
              </a:rPr>
              <a:t>= 0x01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2048" y="4184358"/>
            <a:ext cx="7802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ea typeface="DengXian" charset="-122"/>
                <a:cs typeface="DengXian" charset="-122"/>
              </a:rPr>
              <a:t>Kernel</a:t>
            </a:r>
            <a:endParaRPr kumimoji="1" lang="zh-CN" altLang="en-US" sz="1600" dirty="0">
              <a:ea typeface="DengXian" charset="-122"/>
              <a:cs typeface="DengXian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0174" y="4558429"/>
            <a:ext cx="5866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ea typeface="DengXian" charset="-122"/>
                <a:cs typeface="DengXian" charset="-122"/>
              </a:rPr>
              <a:t>User</a:t>
            </a:r>
            <a:endParaRPr kumimoji="1" lang="zh-CN" altLang="en-US" sz="1600" dirty="0">
              <a:ea typeface="DengXian" charset="-122"/>
              <a:cs typeface="DengXian" charset="-122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380433" y="4499874"/>
            <a:ext cx="176925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40" y="3904256"/>
            <a:ext cx="311664" cy="46123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262" y="1078287"/>
            <a:ext cx="546620" cy="546620"/>
          </a:xfrm>
          <a:prstGeom prst="rect">
            <a:avLst/>
          </a:prstGeom>
        </p:spPr>
      </p:pic>
      <p:cxnSp>
        <p:nvCxnSpPr>
          <p:cNvPr id="19" name="直线连接符 18"/>
          <p:cNvCxnSpPr/>
          <p:nvPr/>
        </p:nvCxnSpPr>
        <p:spPr>
          <a:xfrm>
            <a:off x="6012160" y="1505262"/>
            <a:ext cx="0" cy="120822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3972526" y="1849389"/>
            <a:ext cx="1986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strike="sngStrike" dirty="0">
                <a:ea typeface="Bangla MN" charset="0"/>
                <a:cs typeface="Bangla MN" charset="0"/>
              </a:rPr>
              <a:t>Load </a:t>
            </a:r>
            <a:r>
              <a:rPr kumimoji="1" lang="en-US" altLang="zh-CN" sz="1400" b="1" strike="sngStrike" dirty="0">
                <a:solidFill>
                  <a:srgbClr val="FF0066"/>
                </a:solidFill>
                <a:ea typeface="Bangla MN" charset="0"/>
                <a:cs typeface="Bangla MN" charset="0"/>
              </a:rPr>
              <a:t>key</a:t>
            </a:r>
            <a:r>
              <a:rPr kumimoji="1" lang="en-US" altLang="zh-CN" sz="1400" strike="sngStrike" dirty="0">
                <a:ea typeface="Bangla MN" charset="0"/>
                <a:cs typeface="Bangla MN" charset="0"/>
              </a:rPr>
              <a:t>, %</a:t>
            </a:r>
            <a:r>
              <a:rPr kumimoji="1" lang="en-US" altLang="zh-CN" sz="1400" strike="sngStrike" dirty="0" err="1">
                <a:ea typeface="Bangla MN" charset="0"/>
                <a:cs typeface="Bangla MN" charset="0"/>
              </a:rPr>
              <a:t>rax</a:t>
            </a:r>
            <a:endParaRPr kumimoji="1" lang="en-US" altLang="zh-CN" sz="1400" strike="sngStrike" dirty="0">
              <a:ea typeface="Bangla MN" charset="0"/>
              <a:cs typeface="Bangla MN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84822" y="1849389"/>
            <a:ext cx="1439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strike="sngStrike" dirty="0">
                <a:ea typeface="Bangla MN" charset="0"/>
                <a:cs typeface="Bangla MN" charset="0"/>
              </a:rPr>
              <a:t>%</a:t>
            </a:r>
            <a:r>
              <a:rPr kumimoji="1" lang="en-US" altLang="zh-CN" sz="1400" strike="sngStrike" dirty="0" err="1">
                <a:ea typeface="Bangla MN" charset="0"/>
                <a:cs typeface="Bangla MN" charset="0"/>
              </a:rPr>
              <a:t>rax</a:t>
            </a:r>
            <a:r>
              <a:rPr kumimoji="1" lang="en-US" altLang="zh-CN" sz="1400" strike="sngStrike" dirty="0">
                <a:ea typeface="Bangla MN" charset="0"/>
                <a:cs typeface="Bangla MN" charset="0"/>
              </a:rPr>
              <a:t> = </a:t>
            </a:r>
            <a:r>
              <a:rPr kumimoji="1" lang="en-US" altLang="zh-CN" sz="1400" b="1" strike="sngStrike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ea typeface="Bangla MN" charset="0"/>
                <a:cs typeface="Bangla MN" charset="0"/>
              </a:rPr>
              <a:t>1</a:t>
            </a:r>
            <a:endParaRPr kumimoji="1" lang="en-US" altLang="zh-CN" sz="1400" strike="sngStrike" dirty="0">
              <a:ea typeface="Bangla MN" charset="0"/>
              <a:cs typeface="Bangla MN" charset="0"/>
              <a:sym typeface="Wingding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129162" y="1421455"/>
            <a:ext cx="1162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>
                <a:ea typeface="Bangla MN" charset="0"/>
                <a:cs typeface="Bangla MN" charset="0"/>
              </a:rPr>
              <a:t>Instruction</a:t>
            </a:r>
            <a:endParaRPr kumimoji="1" lang="zh-CN" altLang="en-US" sz="1400" dirty="0">
              <a:ea typeface="Bangla MN" charset="0"/>
              <a:cs typeface="Bangla MN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236162" y="1407252"/>
            <a:ext cx="10001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>
                <a:ea typeface="Bangla MN" charset="0"/>
                <a:cs typeface="Bangla MN" charset="0"/>
              </a:rPr>
              <a:t>Effect</a:t>
            </a:r>
            <a:endParaRPr kumimoji="1" lang="zh-CN" altLang="en-US" sz="1400" dirty="0">
              <a:ea typeface="Bangla MN" charset="0"/>
              <a:cs typeface="Bangla MN" charset="0"/>
            </a:endParaRPr>
          </a:p>
        </p:txBody>
      </p:sp>
      <p:cxnSp>
        <p:nvCxnSpPr>
          <p:cNvPr id="25" name="直线箭头连接符 24"/>
          <p:cNvCxnSpPr/>
          <p:nvPr/>
        </p:nvCxnSpPr>
        <p:spPr>
          <a:xfrm>
            <a:off x="3361254" y="2209428"/>
            <a:ext cx="0" cy="72554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/>
          <p:cNvCxnSpPr/>
          <p:nvPr/>
        </p:nvCxnSpPr>
        <p:spPr>
          <a:xfrm>
            <a:off x="3266819" y="2209428"/>
            <a:ext cx="18887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3707904" y="1893193"/>
            <a:ext cx="220166" cy="220166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400" b="1" dirty="0">
                <a:solidFill>
                  <a:srgbClr val="FF0066"/>
                </a:solidFill>
                <a:ea typeface="Bangla MN" charset="0"/>
                <a:cs typeface="Bangla MN" charset="0"/>
              </a:rPr>
              <a:t>1</a:t>
            </a:r>
            <a:endParaRPr kumimoji="1" lang="zh-CN" altLang="en-US" b="1" dirty="0">
              <a:solidFill>
                <a:srgbClr val="FF0066"/>
              </a:solidFill>
              <a:ea typeface="Bangla MN" charset="0"/>
              <a:cs typeface="Bangla MN" charset="0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3707904" y="2397249"/>
            <a:ext cx="220166" cy="220166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400" b="1" dirty="0">
                <a:solidFill>
                  <a:srgbClr val="FF0066"/>
                </a:solidFill>
                <a:ea typeface="Bangla MN" charset="0"/>
                <a:cs typeface="Bangla MN" charset="0"/>
              </a:rPr>
              <a:t>2</a:t>
            </a:r>
            <a:endParaRPr kumimoji="1" lang="zh-CN" altLang="en-US" b="1" dirty="0">
              <a:solidFill>
                <a:srgbClr val="FF0066"/>
              </a:solidFill>
              <a:ea typeface="Bangla MN" charset="0"/>
              <a:cs typeface="Bangla MN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275857" y="3793605"/>
            <a:ext cx="8769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ea typeface="Bangla MN" charset="0"/>
                <a:cs typeface="Bangla MN" charset="0"/>
              </a:rPr>
              <a:t>Cache</a:t>
            </a:r>
            <a:endParaRPr kumimoji="1" lang="zh-CN" altLang="en-US" sz="1400" b="1" dirty="0">
              <a:ea typeface="Bangla MN" charset="0"/>
              <a:cs typeface="Bangla MN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681615" y="3793605"/>
            <a:ext cx="104741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ea typeface="Bangla MN" charset="0"/>
                <a:cs typeface="Bangla MN" charset="0"/>
              </a:rPr>
              <a:t>Memory</a:t>
            </a:r>
            <a:r>
              <a:rPr kumimoji="1" lang="zh-CN" altLang="en-US" sz="1400" b="1" dirty="0">
                <a:ea typeface="Bangla MN" charset="0"/>
                <a:cs typeface="Bangla MN" charset="0"/>
              </a:rPr>
              <a:t> 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5508105" y="4749232"/>
            <a:ext cx="155153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 err="1">
                <a:ea typeface="Bangla MN" charset="0"/>
                <a:cs typeface="Bangla MN" charset="0"/>
              </a:rPr>
              <a:t>buf</a:t>
            </a:r>
            <a:r>
              <a:rPr kumimoji="1" lang="en-US" altLang="zh-CN" sz="1400" b="1" dirty="0">
                <a:ea typeface="Bangla MN" charset="0"/>
                <a:cs typeface="Bangla MN" charset="0"/>
              </a:rPr>
              <a:t> </a:t>
            </a:r>
          </a:p>
          <a:p>
            <a:pPr algn="ctr"/>
            <a:r>
              <a:rPr kumimoji="1" lang="en-US" altLang="zh-CN" sz="1200" dirty="0">
                <a:ea typeface="Bangla MN" charset="0"/>
                <a:cs typeface="Bangla MN" charset="0"/>
              </a:rPr>
              <a:t>(Attack buffer)</a:t>
            </a:r>
            <a:endParaRPr kumimoji="1" lang="zh-CN" altLang="en-US" dirty="0">
              <a:ea typeface="Bangla MN" charset="0"/>
              <a:cs typeface="Bangla MN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42" y="4696928"/>
            <a:ext cx="369461" cy="60439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1115617" y="4796539"/>
            <a:ext cx="1142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ea typeface="DengXian" charset="-122"/>
                <a:cs typeface="DengXian" charset="-122"/>
              </a:rPr>
              <a:t>Meltdown</a:t>
            </a:r>
          </a:p>
        </p:txBody>
      </p:sp>
      <p:graphicFrame>
        <p:nvGraphicFramePr>
          <p:cNvPr id="46" name="表格 45"/>
          <p:cNvGraphicFramePr>
            <a:graphicFrameLocks noGrp="1"/>
          </p:cNvGraphicFramePr>
          <p:nvPr/>
        </p:nvGraphicFramePr>
        <p:xfrm>
          <a:off x="3579299" y="4172493"/>
          <a:ext cx="1157165" cy="8229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{7E9639D4-E3E2-4D34-9284-5A2195B3D0D7}</a:tableStyleId>
              </a:tblPr>
              <a:tblGrid>
                <a:gridCol w="1157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74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Key = 1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L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404"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T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">
                <a:tc>
                  <a:txBody>
                    <a:bodyPr/>
                    <a:lstStyle/>
                    <a:p>
                      <a:pPr algn="ctr"/>
                      <a:endParaRPr lang="zh-CN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B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 err="1">
                          <a:solidFill>
                            <a:schemeClr val="tx1"/>
                          </a:solidFill>
                        </a:rPr>
                        <a:t>buf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zh-CN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L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870">
                <a:tc>
                  <a:txBody>
                    <a:bodyPr/>
                    <a:lstStyle/>
                    <a:p>
                      <a:pPr algn="ctr"/>
                      <a:endParaRPr lang="zh-CN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T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870">
                <a:tc>
                  <a:txBody>
                    <a:bodyPr/>
                    <a:lstStyle/>
                    <a:p>
                      <a:pPr algn="ctr"/>
                      <a:endParaRPr lang="zh-CN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/>
        </p:nvGraphicFramePr>
        <p:xfrm>
          <a:off x="5926351" y="4172493"/>
          <a:ext cx="2520000" cy="340268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{7E9639D4-E3E2-4D34-9284-5A2195B3D0D7}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0268">
                <a:tc>
                  <a:txBody>
                    <a:bodyPr/>
                    <a:lstStyle/>
                    <a:p>
                      <a:pPr algn="ctr"/>
                      <a:r>
                        <a:rPr lang="mr-IN" altLang="zh-CN" sz="7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solidFill>
                            <a:schemeClr val="tx1"/>
                          </a:solidFill>
                        </a:rPr>
                        <a:t>buf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solidFill>
                            <a:schemeClr val="tx1"/>
                          </a:solidFill>
                        </a:rPr>
                        <a:t>buf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solidFill>
                            <a:schemeClr val="tx1"/>
                          </a:solidFill>
                        </a:rPr>
                        <a:t>buf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altLang="zh-CN" sz="9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solidFill>
                            <a:schemeClr val="tx1"/>
                          </a:solidFill>
                        </a:rPr>
                        <a:t>buf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[n]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altLang="zh-CN" sz="7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" name="文本框 42"/>
          <p:cNvSpPr txBox="1"/>
          <p:nvPr/>
        </p:nvSpPr>
        <p:spPr>
          <a:xfrm>
            <a:off x="3972526" y="2353445"/>
            <a:ext cx="1986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strike="sngStrike" dirty="0">
                <a:ea typeface="Bangla MN" charset="0"/>
                <a:cs typeface="Bangla MN" charset="0"/>
              </a:rPr>
              <a:t>Load </a:t>
            </a:r>
            <a:r>
              <a:rPr kumimoji="1" lang="en-US" altLang="zh-CN" sz="1400" b="1" strike="sngStrike" dirty="0" err="1">
                <a:ea typeface="Bangla MN" charset="0"/>
                <a:cs typeface="Bangla MN" charset="0"/>
              </a:rPr>
              <a:t>buf</a:t>
            </a:r>
            <a:r>
              <a:rPr kumimoji="1" lang="en-US" altLang="zh-CN" sz="1400" strike="sngStrike" dirty="0">
                <a:ea typeface="Bangla MN" charset="0"/>
                <a:cs typeface="Bangla MN" charset="0"/>
              </a:rPr>
              <a:t>[%</a:t>
            </a:r>
            <a:r>
              <a:rPr kumimoji="1" lang="en-US" altLang="zh-CN" sz="1400" strike="sngStrike" dirty="0" err="1">
                <a:ea typeface="Bangla MN" charset="0"/>
                <a:cs typeface="Bangla MN" charset="0"/>
              </a:rPr>
              <a:t>rax</a:t>
            </a:r>
            <a:r>
              <a:rPr kumimoji="1" lang="en-US" altLang="zh-CN" sz="1400" strike="sngStrike" dirty="0">
                <a:ea typeface="Bangla MN" charset="0"/>
                <a:cs typeface="Bangla MN" charset="0"/>
              </a:rPr>
              <a:t>], %</a:t>
            </a:r>
            <a:r>
              <a:rPr kumimoji="1" lang="en-US" altLang="zh-CN" sz="1400" strike="sngStrike" dirty="0" err="1">
                <a:ea typeface="Bangla MN" charset="0"/>
                <a:cs typeface="Bangla MN" charset="0"/>
              </a:rPr>
              <a:t>rbx</a:t>
            </a:r>
            <a:endParaRPr kumimoji="1" lang="en-US" altLang="zh-CN" sz="1400" strike="sngStrike" dirty="0">
              <a:ea typeface="Bangla MN" charset="0"/>
              <a:cs typeface="Bangla MN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084822" y="2353445"/>
            <a:ext cx="1439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strike="sngStrike" dirty="0">
                <a:ea typeface="Bangla MN" charset="0"/>
                <a:cs typeface="Bangla MN" charset="0"/>
                <a:sym typeface="Wingdings"/>
              </a:rPr>
              <a:t>Access </a:t>
            </a:r>
            <a:r>
              <a:rPr kumimoji="1" lang="en-US" altLang="zh-CN" sz="1400" b="1" strike="sngStrike" dirty="0" err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ea typeface="Bangla MN" charset="0"/>
                <a:cs typeface="Bangla MN" charset="0"/>
                <a:sym typeface="Wingdings"/>
              </a:rPr>
              <a:t>buf</a:t>
            </a:r>
            <a:r>
              <a:rPr kumimoji="1" lang="en-US" altLang="zh-CN" sz="1400" b="1" strike="sngStrike" dirty="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ea typeface="Bangla MN" charset="0"/>
                <a:cs typeface="Bangla MN" charset="0"/>
                <a:sym typeface="Wingdings"/>
              </a:rPr>
              <a:t>[1]</a:t>
            </a:r>
            <a:endParaRPr kumimoji="1" lang="en-US" altLang="zh-CN" sz="1400" strike="sngStrike" dirty="0">
              <a:ea typeface="Bangla MN" charset="0"/>
              <a:cs typeface="Bangla MN" charset="0"/>
              <a:sym typeface="Wingdings"/>
            </a:endParaRPr>
          </a:p>
        </p:txBody>
      </p:sp>
      <p:cxnSp>
        <p:nvCxnSpPr>
          <p:cNvPr id="47" name="直线箭头连接符 46"/>
          <p:cNvCxnSpPr/>
          <p:nvPr/>
        </p:nvCxnSpPr>
        <p:spPr>
          <a:xfrm>
            <a:off x="6283871" y="4550316"/>
            <a:ext cx="0" cy="246222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/>
          <p:cNvSpPr/>
          <p:nvPr/>
        </p:nvSpPr>
        <p:spPr>
          <a:xfrm>
            <a:off x="5800310" y="2828750"/>
            <a:ext cx="220166" cy="220166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400" b="1" dirty="0">
                <a:solidFill>
                  <a:srgbClr val="FF0066"/>
                </a:solidFill>
                <a:ea typeface="Bangla MN" charset="0"/>
                <a:cs typeface="Bangla MN" charset="0"/>
              </a:rPr>
              <a:t>3</a:t>
            </a:r>
            <a:endParaRPr kumimoji="1" lang="zh-CN" altLang="en-US" b="1" dirty="0">
              <a:solidFill>
                <a:srgbClr val="FF0066"/>
              </a:solidFill>
              <a:ea typeface="Bangla MN" charset="0"/>
              <a:cs typeface="Bangla MN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719747" y="2938834"/>
            <a:ext cx="17722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rgbClr val="FF0066"/>
                </a:solidFill>
                <a:ea typeface="Bangla MN" charset="0"/>
                <a:cs typeface="Bangla MN" charset="0"/>
              </a:rPr>
              <a:t>内存访问异常</a:t>
            </a:r>
            <a:endParaRPr kumimoji="1" lang="en-US" altLang="zh-CN" sz="1400" dirty="0">
              <a:solidFill>
                <a:srgbClr val="FF0066"/>
              </a:solidFill>
              <a:ea typeface="Bangla MN" charset="0"/>
              <a:cs typeface="Bangla MN" charset="0"/>
            </a:endParaRPr>
          </a:p>
        </p:txBody>
      </p:sp>
      <p:cxnSp>
        <p:nvCxnSpPr>
          <p:cNvPr id="59" name="直线箭头连接符 58"/>
          <p:cNvCxnSpPr/>
          <p:nvPr/>
        </p:nvCxnSpPr>
        <p:spPr>
          <a:xfrm>
            <a:off x="3218656" y="3092721"/>
            <a:ext cx="633264" cy="0"/>
          </a:xfrm>
          <a:prstGeom prst="straightConnector1">
            <a:avLst/>
          </a:prstGeom>
          <a:ln w="1905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/>
          <p:cNvCxnSpPr/>
          <p:nvPr/>
        </p:nvCxnSpPr>
        <p:spPr>
          <a:xfrm>
            <a:off x="2913129" y="4366542"/>
            <a:ext cx="6332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2568356" y="4533751"/>
            <a:ext cx="1322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i="1" dirty="0">
                <a:ea typeface="Bangla MN" charset="0"/>
                <a:cs typeface="Bangla MN" charset="0"/>
              </a:rPr>
              <a:t>Access </a:t>
            </a:r>
          </a:p>
          <a:p>
            <a:pPr algn="ctr"/>
            <a:r>
              <a:rPr kumimoji="1" lang="en-US" altLang="zh-CN" sz="1100" i="1" dirty="0" err="1">
                <a:solidFill>
                  <a:srgbClr val="FF0066"/>
                </a:solidFill>
                <a:ea typeface="Bangla MN" charset="0"/>
                <a:cs typeface="Bangla MN" charset="0"/>
              </a:rPr>
              <a:t>buf</a:t>
            </a:r>
            <a:r>
              <a:rPr kumimoji="1" lang="en-US" altLang="zh-CN" sz="1100" i="1" dirty="0">
                <a:solidFill>
                  <a:srgbClr val="FF0066"/>
                </a:solidFill>
                <a:ea typeface="Bangla MN" charset="0"/>
                <a:cs typeface="Bangla MN" charset="0"/>
              </a:rPr>
              <a:t>[1]</a:t>
            </a:r>
          </a:p>
        </p:txBody>
      </p:sp>
      <p:cxnSp>
        <p:nvCxnSpPr>
          <p:cNvPr id="50" name="直线箭头连接符 49"/>
          <p:cNvCxnSpPr/>
          <p:nvPr/>
        </p:nvCxnSpPr>
        <p:spPr>
          <a:xfrm>
            <a:off x="4965942" y="4366542"/>
            <a:ext cx="6332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/>
          <p:cNvCxnSpPr/>
          <p:nvPr/>
        </p:nvCxnSpPr>
        <p:spPr>
          <a:xfrm>
            <a:off x="4965942" y="4441676"/>
            <a:ext cx="633264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4661014" y="4533751"/>
            <a:ext cx="1322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i="1" dirty="0">
                <a:solidFill>
                  <a:srgbClr val="FF0066"/>
                </a:solidFill>
                <a:ea typeface="Bangla MN" charset="0"/>
                <a:cs typeface="Bangla MN" charset="0"/>
              </a:rPr>
              <a:t>Fill </a:t>
            </a:r>
            <a:r>
              <a:rPr kumimoji="1" lang="en-US" altLang="zh-CN" sz="1100" i="1" dirty="0" err="1">
                <a:solidFill>
                  <a:srgbClr val="FF0066"/>
                </a:solidFill>
                <a:ea typeface="Bangla MN" charset="0"/>
                <a:cs typeface="Bangla MN" charset="0"/>
              </a:rPr>
              <a:t>buf</a:t>
            </a:r>
            <a:r>
              <a:rPr kumimoji="1" lang="en-US" altLang="zh-CN" sz="1100" i="1" dirty="0">
                <a:solidFill>
                  <a:srgbClr val="FF0066"/>
                </a:solidFill>
                <a:ea typeface="Bangla MN" charset="0"/>
                <a:cs typeface="Bangla MN" charset="0"/>
              </a:rPr>
              <a:t>[1]</a:t>
            </a:r>
          </a:p>
          <a:p>
            <a:pPr algn="ctr"/>
            <a:r>
              <a:rPr kumimoji="1" lang="en-US" altLang="zh-CN" sz="1100" i="1" dirty="0">
                <a:solidFill>
                  <a:srgbClr val="FF0066"/>
                </a:solidFill>
                <a:ea typeface="Bangla MN" charset="0"/>
                <a:cs typeface="Bangla MN" charset="0"/>
              </a:rPr>
              <a:t>to cache</a:t>
            </a:r>
          </a:p>
        </p:txBody>
      </p:sp>
      <p:sp>
        <p:nvSpPr>
          <p:cNvPr id="57" name="椭圆 56"/>
          <p:cNvSpPr/>
          <p:nvPr/>
        </p:nvSpPr>
        <p:spPr>
          <a:xfrm>
            <a:off x="3119096" y="4255405"/>
            <a:ext cx="220166" cy="220166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400" b="1" dirty="0">
                <a:solidFill>
                  <a:srgbClr val="FF0066"/>
                </a:solidFill>
                <a:ea typeface="Bangla MN" charset="0"/>
                <a:cs typeface="Bangla MN" charset="0"/>
              </a:rPr>
              <a:t>2</a:t>
            </a:r>
            <a:endParaRPr kumimoji="1" lang="zh-CN" altLang="en-US" b="1" dirty="0">
              <a:solidFill>
                <a:srgbClr val="FF0066"/>
              </a:solidFill>
              <a:ea typeface="Bangla MN" charset="0"/>
              <a:cs typeface="Bangla MN" charset="0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5148064" y="4293518"/>
            <a:ext cx="220166" cy="220166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400" b="1" dirty="0">
                <a:solidFill>
                  <a:srgbClr val="FF0066"/>
                </a:solidFill>
                <a:ea typeface="Bangla MN" charset="0"/>
                <a:cs typeface="Bangla MN" charset="0"/>
              </a:rPr>
              <a:t>2</a:t>
            </a:r>
            <a:endParaRPr kumimoji="1" lang="zh-CN" altLang="en-US" b="1" dirty="0">
              <a:solidFill>
                <a:srgbClr val="FF0066"/>
              </a:solidFill>
              <a:ea typeface="Bangla MN" charset="0"/>
              <a:cs typeface="Bangla MN" charset="0"/>
            </a:endParaRPr>
          </a:p>
        </p:txBody>
      </p:sp>
      <p:sp>
        <p:nvSpPr>
          <p:cNvPr id="56" name="标题 1">
            <a:extLst>
              <a:ext uri="{FF2B5EF4-FFF2-40B4-BE49-F238E27FC236}">
                <a16:creationId xmlns:a16="http://schemas.microsoft.com/office/drawing/2014/main" id="{BD408704-DA62-C545-A597-E39C9FC54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+mn-lt"/>
              </a:rPr>
              <a:t>Meltdown</a:t>
            </a:r>
            <a:r>
              <a:rPr lang="zh-CN" altLang="en-US" dirty="0">
                <a:latin typeface="+mn-lt"/>
              </a:rPr>
              <a:t>漏洞原理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6843D30-D311-F34B-9640-C134970004F2}"/>
              </a:ext>
            </a:extLst>
          </p:cNvPr>
          <p:cNvSpPr txBox="1"/>
          <p:nvPr/>
        </p:nvSpPr>
        <p:spPr>
          <a:xfrm>
            <a:off x="2041718" y="2397249"/>
            <a:ext cx="1126169" cy="3077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kumimoji="1" lang="zh-CN" altLang="en-US" sz="1400" dirty="0">
                <a:ea typeface="Bangla MN" charset="0"/>
                <a:cs typeface="Bangla MN" charset="0"/>
              </a:rPr>
              <a:t>投机执行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EEE4B0B-A64C-5448-8DF6-38E3AD9C5B38}"/>
              </a:ext>
            </a:extLst>
          </p:cNvPr>
          <p:cNvSpPr txBox="1"/>
          <p:nvPr/>
        </p:nvSpPr>
        <p:spPr>
          <a:xfrm>
            <a:off x="1803725" y="1737331"/>
            <a:ext cx="1602154" cy="5232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rgbClr val="FF0066"/>
                </a:solidFill>
                <a:ea typeface="Bangla MN" charset="0"/>
                <a:cs typeface="Bangla MN" charset="0"/>
              </a:rPr>
              <a:t>非法内核内存</a:t>
            </a:r>
            <a:endParaRPr kumimoji="1" lang="en-US" altLang="zh-CN" sz="1400" dirty="0">
              <a:solidFill>
                <a:srgbClr val="FF0066"/>
              </a:solidFill>
              <a:ea typeface="Bangla MN" charset="0"/>
              <a:cs typeface="Bangla MN" charset="0"/>
            </a:endParaRPr>
          </a:p>
          <a:p>
            <a:pPr algn="ctr"/>
            <a:r>
              <a:rPr kumimoji="1" lang="zh-CN" altLang="en-US" sz="1400" dirty="0">
                <a:solidFill>
                  <a:srgbClr val="FF0066"/>
                </a:solidFill>
                <a:ea typeface="Bangla MN" charset="0"/>
                <a:cs typeface="Bangla MN" charset="0"/>
              </a:rPr>
              <a:t>访问！</a:t>
            </a:r>
          </a:p>
        </p:txBody>
      </p:sp>
    </p:spTree>
    <p:extLst>
      <p:ext uri="{BB962C8B-B14F-4D97-AF65-F5344CB8AC3E}">
        <p14:creationId xmlns:p14="http://schemas.microsoft.com/office/powerpoint/2010/main" val="1454190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316416" y="5067933"/>
            <a:ext cx="648072" cy="273844"/>
          </a:xfrm>
        </p:spPr>
        <p:txBody>
          <a:bodyPr/>
          <a:lstStyle/>
          <a:p>
            <a:r>
              <a:rPr lang="en-US" altLang="zh-CN" sz="1800" dirty="0">
                <a:solidFill>
                  <a:schemeClr val="tx1"/>
                </a:solidFill>
              </a:rPr>
              <a:t>3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5617" y="4024761"/>
            <a:ext cx="1142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solidFill>
                  <a:srgbClr val="FF0066"/>
                </a:solidFill>
                <a:ea typeface="DengXian" charset="-122"/>
                <a:cs typeface="DengXian" charset="-122"/>
              </a:rPr>
              <a:t>key </a:t>
            </a:r>
            <a:r>
              <a:rPr kumimoji="1" lang="en-US" altLang="zh-CN" sz="1200" b="1" dirty="0">
                <a:ea typeface="DengXian" charset="-122"/>
                <a:cs typeface="DengXian" charset="-122"/>
              </a:rPr>
              <a:t>= 0x01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2048" y="4184358"/>
            <a:ext cx="7802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ea typeface="DengXian" charset="-122"/>
                <a:cs typeface="DengXian" charset="-122"/>
              </a:rPr>
              <a:t>Kernel</a:t>
            </a:r>
            <a:endParaRPr kumimoji="1" lang="zh-CN" altLang="en-US" sz="1600" dirty="0">
              <a:ea typeface="DengXian" charset="-122"/>
              <a:cs typeface="DengXian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0174" y="4558429"/>
            <a:ext cx="5866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ea typeface="DengXian" charset="-122"/>
                <a:cs typeface="DengXian" charset="-122"/>
              </a:rPr>
              <a:t>User</a:t>
            </a:r>
            <a:endParaRPr kumimoji="1" lang="zh-CN" altLang="en-US" sz="1600" dirty="0">
              <a:ea typeface="DengXian" charset="-122"/>
              <a:cs typeface="DengXian" charset="-122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380433" y="4499874"/>
            <a:ext cx="176925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40" y="3904256"/>
            <a:ext cx="311664" cy="46123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0" name="文本框 29"/>
          <p:cNvSpPr txBox="1"/>
          <p:nvPr/>
        </p:nvSpPr>
        <p:spPr>
          <a:xfrm>
            <a:off x="3275857" y="3793605"/>
            <a:ext cx="8769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ea typeface="Bangla MN" charset="0"/>
                <a:cs typeface="Bangla MN" charset="0"/>
              </a:rPr>
              <a:t>Cache</a:t>
            </a:r>
            <a:endParaRPr kumimoji="1" lang="zh-CN" altLang="en-US" sz="1400" b="1" dirty="0">
              <a:ea typeface="Bangla MN" charset="0"/>
              <a:cs typeface="Bangla MN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681615" y="3793605"/>
            <a:ext cx="104741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ea typeface="Bangla MN" charset="0"/>
                <a:cs typeface="Bangla MN" charset="0"/>
              </a:rPr>
              <a:t>Memory</a:t>
            </a:r>
            <a:r>
              <a:rPr kumimoji="1" lang="zh-CN" altLang="en-US" sz="1400" b="1" dirty="0">
                <a:ea typeface="Bangla MN" charset="0"/>
                <a:cs typeface="Bangla MN" charset="0"/>
              </a:rPr>
              <a:t> 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5508105" y="4749232"/>
            <a:ext cx="155153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 err="1">
                <a:ea typeface="Bangla MN" charset="0"/>
                <a:cs typeface="Bangla MN" charset="0"/>
              </a:rPr>
              <a:t>buf</a:t>
            </a:r>
            <a:r>
              <a:rPr kumimoji="1" lang="en-US" altLang="zh-CN" sz="1400" b="1" dirty="0">
                <a:ea typeface="Bangla MN" charset="0"/>
                <a:cs typeface="Bangla MN" charset="0"/>
              </a:rPr>
              <a:t> </a:t>
            </a:r>
          </a:p>
          <a:p>
            <a:pPr algn="ctr"/>
            <a:r>
              <a:rPr kumimoji="1" lang="en-US" altLang="zh-CN" sz="1200" dirty="0">
                <a:ea typeface="Bangla MN" charset="0"/>
                <a:cs typeface="Bangla MN" charset="0"/>
              </a:rPr>
              <a:t>(Attack buffer)</a:t>
            </a:r>
            <a:endParaRPr kumimoji="1" lang="zh-CN" altLang="en-US" dirty="0">
              <a:ea typeface="Bangla MN" charset="0"/>
              <a:cs typeface="Bangla MN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42" y="4696928"/>
            <a:ext cx="369461" cy="60439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1115617" y="4796539"/>
            <a:ext cx="1142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ea typeface="DengXian" charset="-122"/>
                <a:cs typeface="DengXian" charset="-122"/>
              </a:rPr>
              <a:t>Meltdown</a:t>
            </a:r>
          </a:p>
        </p:txBody>
      </p:sp>
      <p:graphicFrame>
        <p:nvGraphicFramePr>
          <p:cNvPr id="46" name="表格 45"/>
          <p:cNvGraphicFramePr>
            <a:graphicFrameLocks noGrp="1"/>
          </p:cNvGraphicFramePr>
          <p:nvPr/>
        </p:nvGraphicFramePr>
        <p:xfrm>
          <a:off x="3579299" y="4172493"/>
          <a:ext cx="1157165" cy="8229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{7E9639D4-E3E2-4D34-9284-5A2195B3D0D7}</a:tableStyleId>
              </a:tblPr>
              <a:tblGrid>
                <a:gridCol w="1157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74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Key = 1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L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404"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T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">
                <a:tc>
                  <a:txBody>
                    <a:bodyPr/>
                    <a:lstStyle/>
                    <a:p>
                      <a:pPr algn="ctr"/>
                      <a:endParaRPr lang="zh-CN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B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 err="1">
                          <a:solidFill>
                            <a:schemeClr val="tx1"/>
                          </a:solidFill>
                        </a:rPr>
                        <a:t>buf</a:t>
                      </a:r>
                      <a:r>
                        <a:rPr lang="en-US" altLang="zh-CN" sz="900" b="1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zh-CN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L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870">
                <a:tc>
                  <a:txBody>
                    <a:bodyPr/>
                    <a:lstStyle/>
                    <a:p>
                      <a:pPr algn="ctr"/>
                      <a:endParaRPr lang="zh-CN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lnT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870">
                <a:tc>
                  <a:txBody>
                    <a:bodyPr/>
                    <a:lstStyle/>
                    <a:p>
                      <a:pPr algn="ctr"/>
                      <a:endParaRPr lang="zh-CN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/>
        </p:nvGraphicFramePr>
        <p:xfrm>
          <a:off x="5926351" y="4172493"/>
          <a:ext cx="2520000" cy="340268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{7E9639D4-E3E2-4D34-9284-5A2195B3D0D7}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0268">
                <a:tc>
                  <a:txBody>
                    <a:bodyPr/>
                    <a:lstStyle/>
                    <a:p>
                      <a:pPr algn="ctr"/>
                      <a:r>
                        <a:rPr lang="mr-IN" altLang="zh-CN" sz="7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solidFill>
                            <a:schemeClr val="tx1"/>
                          </a:solidFill>
                        </a:rPr>
                        <a:t>buf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solidFill>
                            <a:schemeClr val="tx1"/>
                          </a:solidFill>
                        </a:rPr>
                        <a:t>buf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solidFill>
                            <a:schemeClr val="tx1"/>
                          </a:solidFill>
                        </a:rPr>
                        <a:t>buf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altLang="zh-CN" sz="9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solidFill>
                            <a:schemeClr val="tx1"/>
                          </a:solidFill>
                        </a:rPr>
                        <a:t>buf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</a:rPr>
                        <a:t>[n]</a:t>
                      </a:r>
                      <a:endParaRPr lang="zh-CN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altLang="zh-CN" sz="7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7" name="直线箭头连接符 46"/>
          <p:cNvCxnSpPr/>
          <p:nvPr/>
        </p:nvCxnSpPr>
        <p:spPr>
          <a:xfrm>
            <a:off x="6283871" y="4550316"/>
            <a:ext cx="0" cy="246222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/>
          <p:cNvCxnSpPr/>
          <p:nvPr/>
        </p:nvCxnSpPr>
        <p:spPr>
          <a:xfrm>
            <a:off x="2913129" y="4366542"/>
            <a:ext cx="6332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2568356" y="4533751"/>
            <a:ext cx="1322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i="1" dirty="0">
                <a:ea typeface="Bangla MN" charset="0"/>
                <a:cs typeface="Bangla MN" charset="0"/>
              </a:rPr>
              <a:t>Access </a:t>
            </a:r>
          </a:p>
          <a:p>
            <a:pPr algn="ctr"/>
            <a:r>
              <a:rPr kumimoji="1" lang="en-US" altLang="zh-CN" sz="1100" i="1" dirty="0" err="1">
                <a:solidFill>
                  <a:srgbClr val="FF0066"/>
                </a:solidFill>
                <a:ea typeface="Bangla MN" charset="0"/>
                <a:cs typeface="Bangla MN" charset="0"/>
              </a:rPr>
              <a:t>buf</a:t>
            </a:r>
            <a:r>
              <a:rPr kumimoji="1" lang="en-US" altLang="zh-CN" sz="1100" i="1" dirty="0">
                <a:solidFill>
                  <a:srgbClr val="FF0066"/>
                </a:solidFill>
                <a:ea typeface="Bangla MN" charset="0"/>
                <a:cs typeface="Bangla MN" charset="0"/>
              </a:rPr>
              <a:t>[1]</a:t>
            </a:r>
          </a:p>
        </p:txBody>
      </p:sp>
      <p:cxnSp>
        <p:nvCxnSpPr>
          <p:cNvPr id="50" name="直线箭头连接符 49"/>
          <p:cNvCxnSpPr/>
          <p:nvPr/>
        </p:nvCxnSpPr>
        <p:spPr>
          <a:xfrm>
            <a:off x="4965942" y="4366542"/>
            <a:ext cx="6332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/>
          <p:cNvCxnSpPr/>
          <p:nvPr/>
        </p:nvCxnSpPr>
        <p:spPr>
          <a:xfrm>
            <a:off x="4965942" y="4441676"/>
            <a:ext cx="633264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4661014" y="4533751"/>
            <a:ext cx="1322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i="1" dirty="0">
                <a:solidFill>
                  <a:srgbClr val="FF0066"/>
                </a:solidFill>
                <a:ea typeface="Bangla MN" charset="0"/>
                <a:cs typeface="Bangla MN" charset="0"/>
              </a:rPr>
              <a:t>Fill </a:t>
            </a:r>
            <a:r>
              <a:rPr kumimoji="1" lang="en-US" altLang="zh-CN" sz="1100" i="1" dirty="0" err="1">
                <a:solidFill>
                  <a:srgbClr val="FF0066"/>
                </a:solidFill>
                <a:ea typeface="Bangla MN" charset="0"/>
                <a:cs typeface="Bangla MN" charset="0"/>
              </a:rPr>
              <a:t>buf</a:t>
            </a:r>
            <a:r>
              <a:rPr kumimoji="1" lang="en-US" altLang="zh-CN" sz="1100" i="1" dirty="0">
                <a:solidFill>
                  <a:srgbClr val="FF0066"/>
                </a:solidFill>
                <a:ea typeface="Bangla MN" charset="0"/>
                <a:cs typeface="Bangla MN" charset="0"/>
              </a:rPr>
              <a:t>[1]</a:t>
            </a:r>
          </a:p>
          <a:p>
            <a:pPr algn="ctr"/>
            <a:r>
              <a:rPr kumimoji="1" lang="en-US" altLang="zh-CN" sz="1100" i="1" dirty="0">
                <a:solidFill>
                  <a:srgbClr val="FF0066"/>
                </a:solidFill>
                <a:ea typeface="Bangla MN" charset="0"/>
                <a:cs typeface="Bangla MN" charset="0"/>
              </a:rPr>
              <a:t>to cache</a:t>
            </a:r>
          </a:p>
        </p:txBody>
      </p:sp>
      <p:sp>
        <p:nvSpPr>
          <p:cNvPr id="57" name="椭圆 56"/>
          <p:cNvSpPr/>
          <p:nvPr/>
        </p:nvSpPr>
        <p:spPr>
          <a:xfrm>
            <a:off x="3119096" y="4255405"/>
            <a:ext cx="220166" cy="220166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400" b="1" dirty="0">
                <a:solidFill>
                  <a:srgbClr val="FF0066"/>
                </a:solidFill>
                <a:ea typeface="Bangla MN" charset="0"/>
                <a:cs typeface="Bangla MN" charset="0"/>
              </a:rPr>
              <a:t>2</a:t>
            </a:r>
            <a:endParaRPr kumimoji="1" lang="zh-CN" altLang="en-US" b="1" dirty="0">
              <a:solidFill>
                <a:srgbClr val="FF0066"/>
              </a:solidFill>
              <a:ea typeface="Bangla MN" charset="0"/>
              <a:cs typeface="Bangla MN" charset="0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5148064" y="4293518"/>
            <a:ext cx="220166" cy="220166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400" b="1" dirty="0">
                <a:solidFill>
                  <a:srgbClr val="FF0066"/>
                </a:solidFill>
                <a:ea typeface="Bangla MN" charset="0"/>
                <a:cs typeface="Bangla MN" charset="0"/>
              </a:rPr>
              <a:t>2</a:t>
            </a:r>
            <a:endParaRPr kumimoji="1" lang="zh-CN" altLang="en-US" b="1" dirty="0">
              <a:solidFill>
                <a:srgbClr val="FF0066"/>
              </a:solidFill>
              <a:ea typeface="Bangla MN" charset="0"/>
              <a:cs typeface="Bangla MN" charset="0"/>
            </a:endParaRPr>
          </a:p>
        </p:txBody>
      </p:sp>
      <p:sp>
        <p:nvSpPr>
          <p:cNvPr id="54" name="标题 1">
            <a:extLst>
              <a:ext uri="{FF2B5EF4-FFF2-40B4-BE49-F238E27FC236}">
                <a16:creationId xmlns:a16="http://schemas.microsoft.com/office/drawing/2014/main" id="{B655682B-4174-A94E-AC6F-B1ADCBEC1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+mn-lt"/>
              </a:rPr>
              <a:t>Meltdown</a:t>
            </a:r>
            <a:r>
              <a:rPr lang="zh-CN" altLang="en-US" dirty="0">
                <a:latin typeface="+mn-lt"/>
              </a:rPr>
              <a:t>漏洞原理</a:t>
            </a:r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76709F9B-30C8-CF41-A2B4-2431687D4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98547"/>
            <a:ext cx="8229600" cy="2447208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通过未回滚缓存状态窃取目标数据</a:t>
            </a:r>
            <a:endParaRPr lang="en-US" altLang="zh-CN" sz="2400" dirty="0"/>
          </a:p>
          <a:p>
            <a:pPr lvl="1"/>
            <a:r>
              <a:rPr lang="zh-CN" altLang="en-US" sz="2200" dirty="0"/>
              <a:t>使用目标数据作为索引访问攻击数组 </a:t>
            </a:r>
            <a:r>
              <a:rPr lang="en-US" altLang="zh-CN" sz="2200" dirty="0" err="1"/>
              <a:t>buf</a:t>
            </a:r>
            <a:r>
              <a:rPr lang="zh-CN" altLang="en-US" sz="2200" dirty="0"/>
              <a:t> （指令</a:t>
            </a:r>
            <a:r>
              <a:rPr lang="en-US" altLang="zh-CN" sz="2200" dirty="0"/>
              <a:t>2</a:t>
            </a:r>
            <a:r>
              <a:rPr lang="zh-CN" altLang="en-US" sz="2200" dirty="0"/>
              <a:t>）</a:t>
            </a:r>
            <a:endParaRPr lang="en-US" altLang="zh-CN" sz="2200" dirty="0"/>
          </a:p>
          <a:p>
            <a:pPr lvl="2"/>
            <a:r>
              <a:rPr lang="zh-CN" altLang="en-US" sz="1800" dirty="0"/>
              <a:t>被访问元素会被加载到缓存中</a:t>
            </a:r>
            <a:endParaRPr lang="en-US" altLang="zh-CN" sz="1800" dirty="0"/>
          </a:p>
          <a:p>
            <a:pPr lvl="1"/>
            <a:r>
              <a:rPr lang="zh-CN" altLang="en-US" sz="2200" dirty="0"/>
              <a:t>异常发生后，根据数组元素是否被缓存，窃取目标数据</a:t>
            </a:r>
            <a:endParaRPr lang="en-US" altLang="zh-CN" sz="2200" dirty="0"/>
          </a:p>
          <a:p>
            <a:pPr lvl="2"/>
            <a:r>
              <a:rPr lang="zh-CN" altLang="en-US" sz="1800" dirty="0">
                <a:solidFill>
                  <a:srgbClr val="FF2F92"/>
                </a:solidFill>
              </a:rPr>
              <a:t>若</a:t>
            </a:r>
            <a:r>
              <a:rPr lang="en-US" altLang="zh-CN" sz="1800" dirty="0" err="1">
                <a:solidFill>
                  <a:srgbClr val="FF2F92"/>
                </a:solidFill>
              </a:rPr>
              <a:t>buf</a:t>
            </a:r>
            <a:r>
              <a:rPr lang="zh-CN" altLang="en-US" sz="1800" dirty="0">
                <a:solidFill>
                  <a:srgbClr val="FF2F92"/>
                </a:solidFill>
              </a:rPr>
              <a:t>中第 </a:t>
            </a:r>
            <a:r>
              <a:rPr lang="en-US" altLang="zh-CN" sz="1800" dirty="0" err="1">
                <a:solidFill>
                  <a:srgbClr val="FF2F92"/>
                </a:solidFill>
              </a:rPr>
              <a:t>i</a:t>
            </a:r>
            <a:r>
              <a:rPr lang="zh-CN" altLang="en-US" sz="1800" dirty="0">
                <a:solidFill>
                  <a:srgbClr val="FF2F92"/>
                </a:solidFill>
              </a:rPr>
              <a:t> 个元素在缓存中，则目标数据 </a:t>
            </a:r>
            <a:r>
              <a:rPr lang="en-US" altLang="zh-CN" sz="1800" dirty="0">
                <a:solidFill>
                  <a:srgbClr val="FF2F92"/>
                </a:solidFill>
              </a:rPr>
              <a:t>key</a:t>
            </a:r>
            <a:r>
              <a:rPr lang="zh-CN" altLang="en-US" sz="1800" dirty="0">
                <a:solidFill>
                  <a:srgbClr val="FF2F92"/>
                </a:solidFill>
              </a:rPr>
              <a:t> </a:t>
            </a:r>
            <a:r>
              <a:rPr lang="en-US" altLang="zh-CN" sz="1800" dirty="0">
                <a:solidFill>
                  <a:srgbClr val="FF2F92"/>
                </a:solidFill>
              </a:rPr>
              <a:t>=</a:t>
            </a:r>
            <a:r>
              <a:rPr lang="zh-CN" altLang="en-US" sz="1800" dirty="0">
                <a:solidFill>
                  <a:srgbClr val="FF2F92"/>
                </a:solidFill>
              </a:rPr>
              <a:t> </a:t>
            </a:r>
            <a:r>
              <a:rPr lang="en-US" altLang="zh-CN" sz="1800" dirty="0">
                <a:solidFill>
                  <a:srgbClr val="FF2F92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172244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+mn-lt"/>
              </a:rPr>
              <a:t>Meltdown</a:t>
            </a:r>
            <a:r>
              <a:rPr lang="zh-CN" altLang="en-US" dirty="0">
                <a:latin typeface="+mn-lt"/>
              </a:rPr>
              <a:t>漏洞危害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>
                <a:latin typeface="+mn-lt"/>
              </a:rPr>
              <a:t>18</a:t>
            </a:fld>
            <a:endParaRPr lang="zh-CN" altLang="en-US" dirty="0">
              <a:latin typeface="+mn-lt"/>
            </a:endParaRPr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3E547C8-1D06-4541-AF27-31DB15700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2012"/>
            <a:ext cx="8229600" cy="4267732"/>
          </a:xfrm>
        </p:spPr>
        <p:txBody>
          <a:bodyPr>
            <a:noAutofit/>
          </a:bodyPr>
          <a:lstStyle/>
          <a:p>
            <a:r>
              <a:rPr lang="zh-CN" altLang="en" sz="2400" dirty="0"/>
              <a:t>允许</a:t>
            </a:r>
            <a:r>
              <a:rPr lang="zh-CN" altLang="en-US" sz="2400" dirty="0"/>
              <a:t>对内核内存的随意访问</a:t>
            </a:r>
            <a:endParaRPr lang="en" altLang="zh-CN" sz="2400" dirty="0"/>
          </a:p>
          <a:p>
            <a:pPr lvl="1"/>
            <a:r>
              <a:rPr lang="zh-CN" altLang="en-US" sz="2200" dirty="0"/>
              <a:t>用户态与内核态共享同一虚拟地址空间，仅通过页表中的权限位进行内核内存的隔离保护</a:t>
            </a:r>
            <a:endParaRPr lang="en-US" altLang="zh-CN" sz="2200" dirty="0"/>
          </a:p>
          <a:p>
            <a:pPr lvl="1"/>
            <a:r>
              <a:rPr lang="zh-CN" altLang="en-US" sz="2200" dirty="0"/>
              <a:t>利用</a:t>
            </a:r>
            <a:r>
              <a:rPr lang="en-US" altLang="zh-CN" sz="2200" dirty="0"/>
              <a:t>Meltdown</a:t>
            </a:r>
            <a:r>
              <a:rPr lang="zh-CN" altLang="en-US" sz="2200" dirty="0"/>
              <a:t>可随意读取任意内核内存</a:t>
            </a:r>
            <a:endParaRPr lang="en-US" altLang="zh-CN" sz="2200" dirty="0"/>
          </a:p>
          <a:p>
            <a:r>
              <a:rPr lang="zh-CN" altLang="en-US" sz="2400" dirty="0"/>
              <a:t>允许对所有内存资源的随意访问</a:t>
            </a:r>
            <a:endParaRPr lang="en" altLang="zh-CN" sz="2400" dirty="0"/>
          </a:p>
          <a:p>
            <a:pPr lvl="1"/>
            <a:r>
              <a:rPr lang="zh-CN" altLang="en-US" sz="2200" dirty="0"/>
              <a:t>内核地址空间大多映射了所有物理内存</a:t>
            </a:r>
            <a:endParaRPr lang="en-US" altLang="zh-CN" sz="2200" dirty="0"/>
          </a:p>
          <a:p>
            <a:pPr lvl="2"/>
            <a:r>
              <a:rPr lang="zh-CN" altLang="en-US" sz="1800" dirty="0"/>
              <a:t>如</a:t>
            </a:r>
            <a:r>
              <a:rPr lang="en" altLang="zh-CN" sz="1800" dirty="0"/>
              <a:t>Linux</a:t>
            </a:r>
            <a:r>
              <a:rPr lang="zh-CN" altLang="en" sz="1800" dirty="0"/>
              <a:t>中</a:t>
            </a:r>
            <a:r>
              <a:rPr lang="zh-CN" altLang="en-US" sz="1800" dirty="0"/>
              <a:t>的</a:t>
            </a:r>
            <a:r>
              <a:rPr lang="en-US" altLang="zh-CN" sz="1800" dirty="0"/>
              <a:t>direct</a:t>
            </a:r>
            <a:r>
              <a:rPr lang="zh-CN" altLang="en-US" sz="1800" dirty="0"/>
              <a:t> </a:t>
            </a:r>
            <a:r>
              <a:rPr lang="en-US" altLang="zh-CN" sz="1800" dirty="0"/>
              <a:t>map</a:t>
            </a:r>
            <a:r>
              <a:rPr lang="zh-CN" altLang="en-US" sz="1800" dirty="0"/>
              <a:t>区域直接映射了整个物理内存区域</a:t>
            </a:r>
            <a:endParaRPr lang="en" altLang="zh-CN" sz="1800" dirty="0"/>
          </a:p>
          <a:p>
            <a:pPr lvl="1"/>
            <a:r>
              <a:rPr lang="zh-CN" altLang="en-US" sz="2200" dirty="0"/>
              <a:t>利用</a:t>
            </a:r>
            <a:r>
              <a:rPr lang="en-US" altLang="zh-CN" sz="2200" dirty="0"/>
              <a:t>Meltdown</a:t>
            </a:r>
            <a:r>
              <a:rPr lang="zh-CN" altLang="en-US" sz="2200" dirty="0"/>
              <a:t>可对</a:t>
            </a:r>
            <a:r>
              <a:rPr lang="en-US" altLang="zh-CN" sz="2200" dirty="0"/>
              <a:t>direct</a:t>
            </a:r>
            <a:r>
              <a:rPr lang="zh-CN" altLang="en-US" sz="2200" dirty="0"/>
              <a:t> </a:t>
            </a:r>
            <a:r>
              <a:rPr lang="en-US" altLang="zh-CN" sz="2200" dirty="0"/>
              <a:t>map</a:t>
            </a:r>
            <a:r>
              <a:rPr lang="zh-CN" altLang="en-US" sz="2200" dirty="0"/>
              <a:t>区域进行读取，从而访问所有内存数据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5398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+mn-lt"/>
              </a:rPr>
              <a:t>Meltdown</a:t>
            </a:r>
            <a:r>
              <a:rPr lang="zh-CN" altLang="en-US" dirty="0">
                <a:latin typeface="+mn-lt"/>
              </a:rPr>
              <a:t>漏洞的软件防御方法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>
                <a:latin typeface="+mn-lt"/>
              </a:rPr>
              <a:t>19</a:t>
            </a:fld>
            <a:endParaRPr lang="zh-CN" altLang="en-US" dirty="0">
              <a:latin typeface="+mn-lt"/>
            </a:endParaRPr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3E547C8-1D06-4541-AF27-31DB15700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2012"/>
            <a:ext cx="8229600" cy="4267732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观察：</a:t>
            </a:r>
            <a:r>
              <a:rPr lang="en-US" altLang="zh-CN" sz="2400" dirty="0"/>
              <a:t>Meltdown</a:t>
            </a:r>
            <a:r>
              <a:rPr lang="zh-CN" altLang="en-US" sz="2400" dirty="0"/>
              <a:t>仅能够绕过页表中的用户</a:t>
            </a:r>
            <a:r>
              <a:rPr lang="en-US" altLang="zh-CN" sz="2400" dirty="0"/>
              <a:t>/</a:t>
            </a:r>
            <a:r>
              <a:rPr lang="zh-CN" altLang="en-US" sz="2400" dirty="0"/>
              <a:t>内核权限位</a:t>
            </a:r>
            <a:endParaRPr lang="en-US" altLang="zh-CN" sz="2400" dirty="0"/>
          </a:p>
          <a:p>
            <a:pPr lvl="1"/>
            <a:r>
              <a:rPr lang="en-US" altLang="zh-CN" sz="2200" dirty="0"/>
              <a:t>Meltdown</a:t>
            </a:r>
            <a:r>
              <a:rPr lang="zh-CN" altLang="en-US" sz="2200" dirty="0"/>
              <a:t>漏洞能够允许攻击者无视</a:t>
            </a:r>
            <a:r>
              <a:rPr lang="zh-CN" altLang="en-US" sz="2200" dirty="0">
                <a:solidFill>
                  <a:srgbClr val="FF2F92"/>
                </a:solidFill>
              </a:rPr>
              <a:t>“内存权限”</a:t>
            </a:r>
            <a:r>
              <a:rPr lang="zh-CN" altLang="en-US" sz="2200" dirty="0"/>
              <a:t>限制，访问内核内存数据</a:t>
            </a:r>
            <a:endParaRPr lang="en-US" altLang="zh-CN" sz="2200" dirty="0"/>
          </a:p>
          <a:p>
            <a:pPr lvl="1"/>
            <a:r>
              <a:rPr lang="en-US" altLang="zh-CN" sz="2200" dirty="0"/>
              <a:t>Meltdown</a:t>
            </a:r>
            <a:r>
              <a:rPr lang="zh-CN" altLang="en-US" sz="2200" dirty="0"/>
              <a:t>漏洞无法访问</a:t>
            </a:r>
            <a:r>
              <a:rPr lang="zh-CN" altLang="en-US" sz="2200" dirty="0">
                <a:solidFill>
                  <a:srgbClr val="FF2F92"/>
                </a:solidFill>
              </a:rPr>
              <a:t>“无内存映射”</a:t>
            </a:r>
            <a:r>
              <a:rPr lang="zh-CN" altLang="en-US" sz="2200" dirty="0"/>
              <a:t>的内存数据</a:t>
            </a:r>
            <a:endParaRPr lang="en-US" altLang="zh-CN" sz="2200" dirty="0"/>
          </a:p>
          <a:p>
            <a:pPr lvl="2"/>
            <a:r>
              <a:rPr lang="zh-CN" altLang="en-US" sz="1800" dirty="0"/>
              <a:t>如一个虚拟地址在页表中无映射，</a:t>
            </a:r>
            <a:r>
              <a:rPr lang="en-US" altLang="zh-CN" sz="1800" dirty="0"/>
              <a:t>Meltdown</a:t>
            </a:r>
            <a:r>
              <a:rPr lang="zh-CN" altLang="en-US" sz="1800" dirty="0"/>
              <a:t>漏洞则无数据可拿</a:t>
            </a:r>
            <a:endParaRPr lang="en-US" altLang="zh-CN" sz="2400" dirty="0"/>
          </a:p>
          <a:p>
            <a:r>
              <a:rPr lang="zh-CN" altLang="en-US" sz="2400" dirty="0"/>
              <a:t>思路：去除内核地址在用户态的映射</a:t>
            </a:r>
            <a:endParaRPr lang="en-US" altLang="zh-CN" sz="2400" dirty="0"/>
          </a:p>
          <a:p>
            <a:pPr lvl="1"/>
            <a:r>
              <a:rPr lang="zh-CN" altLang="en-US" sz="2200" dirty="0"/>
              <a:t>为</a:t>
            </a:r>
            <a:r>
              <a:rPr lang="zh-CN" altLang="en-US" sz="2200" dirty="0">
                <a:solidFill>
                  <a:srgbClr val="FF2F92"/>
                </a:solidFill>
              </a:rPr>
              <a:t>用户态构建专用页表</a:t>
            </a:r>
            <a:r>
              <a:rPr lang="zh-CN" altLang="en-US" sz="2200" dirty="0"/>
              <a:t>，将内核地址在用户态的映射去除</a:t>
            </a:r>
            <a:endParaRPr lang="en-US" altLang="zh-CN" sz="2200" dirty="0"/>
          </a:p>
          <a:p>
            <a:pPr lvl="2"/>
            <a:r>
              <a:rPr lang="zh-CN" altLang="en-US" sz="1800" dirty="0"/>
              <a:t>攻击者利用</a:t>
            </a:r>
            <a:r>
              <a:rPr lang="en-US" altLang="zh-CN" sz="1800" dirty="0"/>
              <a:t>Meltdown</a:t>
            </a:r>
            <a:r>
              <a:rPr lang="zh-CN" altLang="en-US" sz="1800" dirty="0"/>
              <a:t>访问内核地址时，页表无法定位目标物理地址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83049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+mn-lt"/>
              </a:rPr>
              <a:t>KPTI</a:t>
            </a:r>
            <a:r>
              <a:rPr lang="zh-CN" altLang="en-US" sz="3200" dirty="0">
                <a:latin typeface="+mn-lt"/>
              </a:rPr>
              <a:t>：</a:t>
            </a:r>
            <a:r>
              <a:rPr lang="en-US" altLang="zh-CN" sz="3200" dirty="0">
                <a:latin typeface="+mn-lt"/>
              </a:rPr>
              <a:t>Linux</a:t>
            </a:r>
            <a:r>
              <a:rPr lang="zh-CN" altLang="en-US" sz="3200" dirty="0">
                <a:latin typeface="+mn-lt"/>
              </a:rPr>
              <a:t>的</a:t>
            </a:r>
            <a:r>
              <a:rPr lang="en-US" altLang="zh-CN" sz="3200" dirty="0">
                <a:latin typeface="+mn-lt"/>
              </a:rPr>
              <a:t>Meltdown</a:t>
            </a:r>
            <a:r>
              <a:rPr lang="zh-CN" altLang="en-US" sz="3200" dirty="0">
                <a:latin typeface="+mn-lt"/>
              </a:rPr>
              <a:t>漏洞防御机制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>
                <a:latin typeface="+mn-lt"/>
              </a:rPr>
              <a:t>20</a:t>
            </a:fld>
            <a:endParaRPr lang="zh-CN" altLang="en-US" dirty="0">
              <a:latin typeface="+mn-lt"/>
            </a:endParaRPr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3E547C8-1D06-4541-AF27-31DB15700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2012"/>
            <a:ext cx="8229600" cy="4267732"/>
          </a:xfrm>
        </p:spPr>
        <p:txBody>
          <a:bodyPr>
            <a:noAutofit/>
          </a:bodyPr>
          <a:lstStyle/>
          <a:p>
            <a:r>
              <a:rPr lang="en-US" altLang="zh-CN" sz="2400" dirty="0"/>
              <a:t>KPTI</a:t>
            </a:r>
            <a:r>
              <a:rPr lang="zh-CN" altLang="en-US" sz="2400" dirty="0">
                <a:sym typeface="Wingdings" pitchFamily="2" charset="2"/>
              </a:rPr>
              <a:t> </a:t>
            </a:r>
            <a:r>
              <a:rPr lang="en-US" altLang="zh-CN" sz="2400" dirty="0">
                <a:sym typeface="Wingdings" pitchFamily="2" charset="2"/>
              </a:rPr>
              <a:t>(Kernel</a:t>
            </a:r>
            <a:r>
              <a:rPr lang="zh-CN" altLang="en-US" sz="2400" dirty="0">
                <a:sym typeface="Wingdings" pitchFamily="2" charset="2"/>
              </a:rPr>
              <a:t> </a:t>
            </a:r>
            <a:r>
              <a:rPr lang="en-US" altLang="zh-CN" sz="2400" dirty="0">
                <a:sym typeface="Wingdings" pitchFamily="2" charset="2"/>
              </a:rPr>
              <a:t>Page</a:t>
            </a:r>
            <a:r>
              <a:rPr lang="zh-CN" altLang="en-US" sz="2400" dirty="0">
                <a:sym typeface="Wingdings" pitchFamily="2" charset="2"/>
              </a:rPr>
              <a:t> </a:t>
            </a:r>
            <a:r>
              <a:rPr lang="en-US" altLang="zh-CN" sz="2400" dirty="0">
                <a:sym typeface="Wingdings" pitchFamily="2" charset="2"/>
              </a:rPr>
              <a:t>Table</a:t>
            </a:r>
            <a:r>
              <a:rPr lang="zh-CN" altLang="en-US" sz="2400" dirty="0">
                <a:sym typeface="Wingdings" pitchFamily="2" charset="2"/>
              </a:rPr>
              <a:t> </a:t>
            </a:r>
            <a:r>
              <a:rPr lang="en-US" altLang="zh-CN" sz="2400" dirty="0">
                <a:sym typeface="Wingdings" pitchFamily="2" charset="2"/>
              </a:rPr>
              <a:t>Isolation)</a:t>
            </a:r>
          </a:p>
          <a:p>
            <a:pPr lvl="1"/>
            <a:r>
              <a:rPr lang="zh-CN" altLang="en-US" sz="2200" dirty="0">
                <a:sym typeface="Wingdings" pitchFamily="2" charset="2"/>
              </a:rPr>
              <a:t>将用户态与内核态所用页表分离</a:t>
            </a:r>
            <a:endParaRPr lang="en-US" altLang="zh-CN" sz="2200" dirty="0">
              <a:sym typeface="Wingdings" pitchFamily="2" charset="2"/>
            </a:endParaRPr>
          </a:p>
          <a:p>
            <a:pPr lvl="2"/>
            <a:r>
              <a:rPr lang="zh-CN" altLang="en-US" sz="1800" dirty="0">
                <a:sym typeface="Wingdings" pitchFamily="2" charset="2"/>
              </a:rPr>
              <a:t>用户页表：仅映射用户地址空间与部分内核地址空间</a:t>
            </a:r>
            <a:endParaRPr lang="en-US" altLang="zh-CN" sz="1800" dirty="0">
              <a:sym typeface="Wingdings" pitchFamily="2" charset="2"/>
            </a:endParaRPr>
          </a:p>
          <a:p>
            <a:pPr lvl="2"/>
            <a:r>
              <a:rPr lang="zh-CN" altLang="en-US" sz="1800" dirty="0">
                <a:sym typeface="Wingdings" pitchFamily="2" charset="2"/>
              </a:rPr>
              <a:t>内核页表：映射包括用户与内核的全部地址空间（与原有一致）</a:t>
            </a:r>
            <a:endParaRPr lang="en-US" altLang="zh-CN" sz="18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3E19B5-9C95-6A44-8025-60A254CDE930}"/>
              </a:ext>
            </a:extLst>
          </p:cNvPr>
          <p:cNvSpPr/>
          <p:nvPr/>
        </p:nvSpPr>
        <p:spPr>
          <a:xfrm>
            <a:off x="2216804" y="3145538"/>
            <a:ext cx="1210141" cy="948534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endParaRPr kumimoji="1" lang="en-US" altLang="zh-CN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760413-7AA8-C648-8678-0699A112D1DD}"/>
              </a:ext>
            </a:extLst>
          </p:cNvPr>
          <p:cNvSpPr/>
          <p:nvPr/>
        </p:nvSpPr>
        <p:spPr>
          <a:xfrm>
            <a:off x="2216804" y="4102712"/>
            <a:ext cx="1210141" cy="1022968"/>
          </a:xfrm>
          <a:prstGeom prst="rect">
            <a:avLst/>
          </a:prstGeom>
          <a:solidFill>
            <a:srgbClr val="FFC6DC"/>
          </a:solidFill>
          <a:ln w="254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006FE43-BF7C-6E42-8C7C-D114DB6E10DE}"/>
              </a:ext>
            </a:extLst>
          </p:cNvPr>
          <p:cNvSpPr txBox="1"/>
          <p:nvPr/>
        </p:nvSpPr>
        <p:spPr>
          <a:xfrm>
            <a:off x="1755074" y="5145221"/>
            <a:ext cx="2133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latin typeface="+mn-ea"/>
                <a:cs typeface="DengXian" charset="-122"/>
              </a:rPr>
              <a:t>用户视角</a:t>
            </a:r>
            <a:endParaRPr kumimoji="1" lang="en-US" altLang="zh-CN" sz="1400" dirty="0">
              <a:latin typeface="+mn-ea"/>
              <a:cs typeface="DengXian" charset="-122"/>
            </a:endParaRPr>
          </a:p>
          <a:p>
            <a:pPr algn="ctr"/>
            <a:r>
              <a:rPr kumimoji="1" lang="zh-CN" altLang="en-US" sz="1400" dirty="0">
                <a:latin typeface="+mn-ea"/>
                <a:cs typeface="DengXian" charset="-122"/>
              </a:rPr>
              <a:t>地址空间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495A252-5538-AF4C-9DE9-B3A5DEF350D4}"/>
              </a:ext>
            </a:extLst>
          </p:cNvPr>
          <p:cNvSpPr txBox="1"/>
          <p:nvPr/>
        </p:nvSpPr>
        <p:spPr>
          <a:xfrm rot="16200000">
            <a:off x="1604037" y="3481302"/>
            <a:ext cx="948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+mn-ea"/>
                <a:cs typeface="DengXian" charset="-122"/>
              </a:rPr>
              <a:t>内核态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632CE8-1A1A-0346-8513-994BF2848E1E}"/>
              </a:ext>
            </a:extLst>
          </p:cNvPr>
          <p:cNvSpPr/>
          <p:nvPr/>
        </p:nvSpPr>
        <p:spPr>
          <a:xfrm>
            <a:off x="2216804" y="3858791"/>
            <a:ext cx="1210141" cy="243436"/>
          </a:xfrm>
          <a:prstGeom prst="rect">
            <a:avLst/>
          </a:prstGeom>
          <a:solidFill>
            <a:srgbClr val="C8EFFD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页表切换代码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8D85966-E381-DB48-8BDC-2A10C520DABC}"/>
              </a:ext>
            </a:extLst>
          </p:cNvPr>
          <p:cNvSpPr/>
          <p:nvPr/>
        </p:nvSpPr>
        <p:spPr>
          <a:xfrm>
            <a:off x="5220072" y="3145536"/>
            <a:ext cx="1210141" cy="948537"/>
          </a:xfrm>
          <a:prstGeom prst="rect">
            <a:avLst/>
          </a:prstGeom>
          <a:solidFill>
            <a:srgbClr val="C8EFFD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7227467-4EF0-3642-B60F-33DB9FF97EC2}"/>
              </a:ext>
            </a:extLst>
          </p:cNvPr>
          <p:cNvSpPr/>
          <p:nvPr/>
        </p:nvSpPr>
        <p:spPr>
          <a:xfrm>
            <a:off x="5220072" y="4102712"/>
            <a:ext cx="1210141" cy="1022968"/>
          </a:xfrm>
          <a:prstGeom prst="rect">
            <a:avLst/>
          </a:prstGeom>
          <a:solidFill>
            <a:srgbClr val="FFC6DC"/>
          </a:solidFill>
          <a:ln w="254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+mn-ea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19273C-0783-3A48-A35C-F52FBCBA7B4C}"/>
              </a:ext>
            </a:extLst>
          </p:cNvPr>
          <p:cNvSpPr/>
          <p:nvPr/>
        </p:nvSpPr>
        <p:spPr>
          <a:xfrm>
            <a:off x="5220072" y="3858790"/>
            <a:ext cx="1210141" cy="243436"/>
          </a:xfrm>
          <a:prstGeom prst="rect">
            <a:avLst/>
          </a:prstGeom>
          <a:solidFill>
            <a:srgbClr val="C8EFFD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页表切换代码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8C8756B-EC59-5441-8F08-BA76B4A185F0}"/>
              </a:ext>
            </a:extLst>
          </p:cNvPr>
          <p:cNvSpPr txBox="1"/>
          <p:nvPr/>
        </p:nvSpPr>
        <p:spPr>
          <a:xfrm rot="16200000">
            <a:off x="1566822" y="4475691"/>
            <a:ext cx="1022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+mn-ea"/>
                <a:cs typeface="DengXian" charset="-122"/>
              </a:rPr>
              <a:t>用户态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D6C16A1-1DB6-5346-B57D-61968B4DD307}"/>
              </a:ext>
            </a:extLst>
          </p:cNvPr>
          <p:cNvSpPr txBox="1"/>
          <p:nvPr/>
        </p:nvSpPr>
        <p:spPr>
          <a:xfrm rot="16200000">
            <a:off x="6094444" y="3489941"/>
            <a:ext cx="948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+mn-ea"/>
                <a:cs typeface="DengXian" charset="-122"/>
              </a:rPr>
              <a:t>内核态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8523ECF-7493-CB41-8E88-E76F23E78AF4}"/>
              </a:ext>
            </a:extLst>
          </p:cNvPr>
          <p:cNvSpPr txBox="1"/>
          <p:nvPr/>
        </p:nvSpPr>
        <p:spPr>
          <a:xfrm rot="16200000">
            <a:off x="6057230" y="4475693"/>
            <a:ext cx="1022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+mn-ea"/>
                <a:cs typeface="DengXian" charset="-122"/>
              </a:rPr>
              <a:t>用户态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8E4D976-3057-8647-91B1-3DC8C197F15E}"/>
              </a:ext>
            </a:extLst>
          </p:cNvPr>
          <p:cNvSpPr txBox="1"/>
          <p:nvPr/>
        </p:nvSpPr>
        <p:spPr>
          <a:xfrm>
            <a:off x="4758342" y="5145221"/>
            <a:ext cx="2133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latin typeface="+mn-ea"/>
                <a:cs typeface="DengXian" charset="-122"/>
              </a:rPr>
              <a:t>内核视角</a:t>
            </a:r>
            <a:endParaRPr kumimoji="1" lang="en-US" altLang="zh-CN" sz="1400" dirty="0">
              <a:latin typeface="+mn-ea"/>
              <a:cs typeface="DengXian" charset="-122"/>
            </a:endParaRPr>
          </a:p>
          <a:p>
            <a:pPr algn="ctr"/>
            <a:r>
              <a:rPr kumimoji="1" lang="zh-CN" altLang="en-US" sz="1400" dirty="0">
                <a:latin typeface="+mn-ea"/>
                <a:cs typeface="DengXian" charset="-122"/>
              </a:rPr>
              <a:t>地址空间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248CE93-A63F-864A-B42F-10B4EFB39510}"/>
              </a:ext>
            </a:extLst>
          </p:cNvPr>
          <p:cNvSpPr txBox="1"/>
          <p:nvPr/>
        </p:nvSpPr>
        <p:spPr>
          <a:xfrm>
            <a:off x="3690977" y="3384903"/>
            <a:ext cx="1275618" cy="52322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ctr"/>
            <a:r>
              <a:rPr kumimoji="1" lang="zh-CN" altLang="en-US" sz="1400" dirty="0">
                <a:solidFill>
                  <a:srgbClr val="FF2F92"/>
                </a:solidFill>
                <a:latin typeface="+mn-ea"/>
                <a:cs typeface="DengXian" charset="-122"/>
              </a:rPr>
              <a:t>进出内核态时</a:t>
            </a:r>
            <a:endParaRPr kumimoji="1" lang="en-US" altLang="zh-CN" sz="1400" dirty="0">
              <a:solidFill>
                <a:srgbClr val="FF2F92"/>
              </a:solidFill>
              <a:latin typeface="+mn-ea"/>
              <a:cs typeface="DengXian" charset="-122"/>
            </a:endParaRPr>
          </a:p>
          <a:p>
            <a:pPr algn="ctr"/>
            <a:r>
              <a:rPr kumimoji="1" lang="zh-CN" altLang="en-US" sz="1400" dirty="0">
                <a:solidFill>
                  <a:srgbClr val="FF2F92"/>
                </a:solidFill>
                <a:latin typeface="+mn-ea"/>
                <a:cs typeface="DengXian" charset="-122"/>
              </a:rPr>
              <a:t>切换对应页表</a:t>
            </a:r>
          </a:p>
        </p:txBody>
      </p:sp>
      <p:sp>
        <p:nvSpPr>
          <p:cNvPr id="45" name="左右箭头 44">
            <a:extLst>
              <a:ext uri="{FF2B5EF4-FFF2-40B4-BE49-F238E27FC236}">
                <a16:creationId xmlns:a16="http://schemas.microsoft.com/office/drawing/2014/main" id="{40840DD0-393D-B64A-8A19-C479D355EB62}"/>
              </a:ext>
            </a:extLst>
          </p:cNvPr>
          <p:cNvSpPr/>
          <p:nvPr/>
        </p:nvSpPr>
        <p:spPr>
          <a:xfrm>
            <a:off x="3578624" y="3949475"/>
            <a:ext cx="1489768" cy="290680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C2707926-69AA-F741-BD17-9558C73E55E5}"/>
              </a:ext>
            </a:extLst>
          </p:cNvPr>
          <p:cNvCxnSpPr>
            <a:cxnSpLocks/>
            <a:stCxn id="38" idx="1"/>
            <a:endCxn id="16" idx="3"/>
          </p:cNvCxnSpPr>
          <p:nvPr/>
        </p:nvCxnSpPr>
        <p:spPr>
          <a:xfrm flipH="1">
            <a:off x="3426945" y="3646513"/>
            <a:ext cx="264032" cy="33399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6C3FF6CD-3067-3B44-85BF-5F6C72D4DF8D}"/>
              </a:ext>
            </a:extLst>
          </p:cNvPr>
          <p:cNvCxnSpPr>
            <a:cxnSpLocks/>
            <a:stCxn id="38" idx="3"/>
            <a:endCxn id="23" idx="1"/>
          </p:cNvCxnSpPr>
          <p:nvPr/>
        </p:nvCxnSpPr>
        <p:spPr>
          <a:xfrm>
            <a:off x="4966595" y="3646513"/>
            <a:ext cx="253477" cy="33399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769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+mn-lt"/>
              </a:rPr>
              <a:t>KPTI</a:t>
            </a:r>
            <a:r>
              <a:rPr lang="zh-CN" altLang="en-US" sz="3200" dirty="0">
                <a:latin typeface="+mn-lt"/>
              </a:rPr>
              <a:t>造成的性能损失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>
                <a:latin typeface="+mn-lt"/>
              </a:rPr>
              <a:t>21</a:t>
            </a:fld>
            <a:endParaRPr lang="zh-CN" altLang="en-US" dirty="0">
              <a:latin typeface="+mn-lt"/>
            </a:endParaRPr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3E547C8-1D06-4541-AF27-31DB15700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2012"/>
            <a:ext cx="8229600" cy="4267732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ym typeface="Wingdings" pitchFamily="2" charset="2"/>
              </a:rPr>
              <a:t>页表切换导致显著的性能损失</a:t>
            </a:r>
            <a:endParaRPr lang="en-US" altLang="zh-CN" sz="2400" dirty="0">
              <a:sym typeface="Wingdings" pitchFamily="2" charset="2"/>
            </a:endParaRPr>
          </a:p>
          <a:p>
            <a:pPr lvl="1"/>
            <a:r>
              <a:rPr lang="zh-CN" altLang="en-US" sz="2200" dirty="0">
                <a:sym typeface="Wingdings" pitchFamily="2" charset="2"/>
              </a:rPr>
              <a:t>切换操作本身的时延增加</a:t>
            </a:r>
            <a:endParaRPr lang="en-US" altLang="zh-CN" sz="2200" dirty="0">
              <a:sym typeface="Wingdings" pitchFamily="2" charset="2"/>
            </a:endParaRPr>
          </a:p>
          <a:p>
            <a:pPr lvl="2"/>
            <a:r>
              <a:rPr lang="zh-CN" altLang="en-US" sz="1800" dirty="0">
                <a:sym typeface="Wingdings" pitchFamily="2" charset="2"/>
              </a:rPr>
              <a:t>切换操作：旧页表保存 </a:t>
            </a:r>
            <a:r>
              <a:rPr lang="en-US" altLang="zh-CN" sz="1800" dirty="0">
                <a:sym typeface="Wingdings" pitchFamily="2" charset="2"/>
              </a:rPr>
              <a:t>-&gt;</a:t>
            </a:r>
            <a:r>
              <a:rPr lang="zh-CN" altLang="en-US" sz="1800" dirty="0">
                <a:sym typeface="Wingdings" pitchFamily="2" charset="2"/>
              </a:rPr>
              <a:t> 新页表加载  </a:t>
            </a:r>
            <a:r>
              <a:rPr lang="en-US" altLang="zh-CN" sz="1800" dirty="0">
                <a:sym typeface="Wingdings" pitchFamily="2" charset="2"/>
              </a:rPr>
              <a:t>-&gt;</a:t>
            </a:r>
            <a:r>
              <a:rPr lang="zh-CN" altLang="en-US" sz="1800" dirty="0">
                <a:sym typeface="Wingdings" pitchFamily="2" charset="2"/>
              </a:rPr>
              <a:t> 修改</a:t>
            </a:r>
            <a:r>
              <a:rPr lang="en-US" altLang="zh-CN" sz="1800" dirty="0">
                <a:sym typeface="Wingdings" pitchFamily="2" charset="2"/>
              </a:rPr>
              <a:t>CR3</a:t>
            </a:r>
            <a:r>
              <a:rPr lang="zh-CN" altLang="en-US" sz="1800" dirty="0">
                <a:sym typeface="Wingdings" pitchFamily="2" charset="2"/>
              </a:rPr>
              <a:t> </a:t>
            </a:r>
            <a:r>
              <a:rPr lang="en-US" altLang="zh-CN" sz="1800" dirty="0">
                <a:sym typeface="Wingdings" pitchFamily="2" charset="2"/>
              </a:rPr>
              <a:t>-&gt;</a:t>
            </a:r>
            <a:r>
              <a:rPr lang="zh-CN" altLang="en-US" sz="1800" dirty="0">
                <a:sym typeface="Wingdings" pitchFamily="2" charset="2"/>
              </a:rPr>
              <a:t> 刷新</a:t>
            </a:r>
            <a:r>
              <a:rPr lang="en-US" altLang="zh-CN" sz="1800" dirty="0">
                <a:sym typeface="Wingdings" pitchFamily="2" charset="2"/>
              </a:rPr>
              <a:t>TLB</a:t>
            </a:r>
          </a:p>
          <a:p>
            <a:pPr lvl="2"/>
            <a:r>
              <a:rPr lang="zh-CN" altLang="en-US" sz="1800" dirty="0">
                <a:sym typeface="Wingdings" pitchFamily="2" charset="2"/>
              </a:rPr>
              <a:t>进出内核均需切换页表并刷新</a:t>
            </a:r>
            <a:r>
              <a:rPr lang="en-US" altLang="zh-CN" sz="1800" dirty="0">
                <a:sym typeface="Wingdings" pitchFamily="2" charset="2"/>
              </a:rPr>
              <a:t>TLB</a:t>
            </a:r>
            <a:r>
              <a:rPr lang="zh-CN" altLang="en-US" sz="1800" dirty="0">
                <a:sym typeface="Wingdings" pitchFamily="2" charset="2"/>
              </a:rPr>
              <a:t>，额外指令导致切换时延增长</a:t>
            </a:r>
            <a:endParaRPr lang="en-US" altLang="zh-CN" sz="1800" dirty="0">
              <a:sym typeface="Wingdings" pitchFamily="2" charset="2"/>
            </a:endParaRPr>
          </a:p>
          <a:p>
            <a:pPr lvl="2"/>
            <a:r>
              <a:rPr lang="zh-CN" altLang="en-US" sz="1800" dirty="0">
                <a:sym typeface="Wingdings" pitchFamily="2" charset="2"/>
              </a:rPr>
              <a:t>操作发生在系统关键路径</a:t>
            </a:r>
            <a:endParaRPr lang="en-US" altLang="zh-CN" sz="1600" dirty="0">
              <a:sym typeface="Wingdings" pitchFamily="2" charset="2"/>
            </a:endParaRPr>
          </a:p>
          <a:p>
            <a:pPr lvl="1"/>
            <a:r>
              <a:rPr lang="zh-CN" altLang="en-US" sz="2200" dirty="0">
                <a:sym typeface="Wingdings" pitchFamily="2" charset="2"/>
              </a:rPr>
              <a:t>切换后的运行时性能损失</a:t>
            </a:r>
            <a:endParaRPr lang="en-US" altLang="zh-CN" sz="2200" dirty="0">
              <a:sym typeface="Wingdings" pitchFamily="2" charset="2"/>
            </a:endParaRPr>
          </a:p>
          <a:p>
            <a:pPr lvl="2"/>
            <a:r>
              <a:rPr lang="en-US" altLang="zh-CN" sz="1800" dirty="0">
                <a:sym typeface="Wingdings" pitchFamily="2" charset="2"/>
              </a:rPr>
              <a:t>TLB</a:t>
            </a:r>
            <a:r>
              <a:rPr lang="zh-CN" altLang="en-US" sz="1800" dirty="0">
                <a:sym typeface="Wingdings" pitchFamily="2" charset="2"/>
              </a:rPr>
              <a:t>刷新导致</a:t>
            </a:r>
            <a:r>
              <a:rPr lang="en-US" altLang="zh-CN" sz="1800" dirty="0">
                <a:sym typeface="Wingdings" pitchFamily="2" charset="2"/>
              </a:rPr>
              <a:t>TLB</a:t>
            </a:r>
            <a:r>
              <a:rPr lang="zh-CN" altLang="en-US" sz="1800" dirty="0">
                <a:sym typeface="Wingdings" pitchFamily="2" charset="2"/>
              </a:rPr>
              <a:t>未命中率提升，直接影响程序执行性能</a:t>
            </a:r>
            <a:endParaRPr lang="en-US" altLang="zh-CN" sz="1800" dirty="0">
              <a:sym typeface="Wingdings" pitchFamily="2" charset="2"/>
            </a:endParaRPr>
          </a:p>
          <a:p>
            <a:pPr lvl="1"/>
            <a:r>
              <a:rPr lang="zh-CN" altLang="en-US" sz="2200" dirty="0">
                <a:sym typeface="Wingdings" pitchFamily="2" charset="2"/>
              </a:rPr>
              <a:t>部分应用性能降低可达</a:t>
            </a:r>
            <a:r>
              <a:rPr lang="en-US" altLang="zh-CN" sz="2200" dirty="0">
                <a:sym typeface="Wingdings" pitchFamily="2" charset="2"/>
              </a:rPr>
              <a:t>30%</a:t>
            </a:r>
          </a:p>
        </p:txBody>
      </p:sp>
    </p:spTree>
    <p:extLst>
      <p:ext uri="{BB962C8B-B14F-4D97-AF65-F5344CB8AC3E}">
        <p14:creationId xmlns:p14="http://schemas.microsoft.com/office/powerpoint/2010/main" val="770636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+mn-lt"/>
              </a:rPr>
              <a:t>KPTI</a:t>
            </a:r>
            <a:r>
              <a:rPr lang="zh-CN" altLang="en-US" sz="3200" dirty="0">
                <a:latin typeface="+mn-lt"/>
              </a:rPr>
              <a:t>：性能优化方法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>
                <a:latin typeface="+mn-lt"/>
              </a:rPr>
              <a:t>22</a:t>
            </a:fld>
            <a:endParaRPr lang="zh-CN" altLang="en-US" dirty="0">
              <a:latin typeface="+mn-lt"/>
            </a:endParaRPr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3E547C8-1D06-4541-AF27-31DB15700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2012"/>
            <a:ext cx="8229600" cy="2139044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ym typeface="Wingdings" pitchFamily="2" charset="2"/>
              </a:rPr>
              <a:t>优化单一切换操作的时延</a:t>
            </a:r>
            <a:endParaRPr lang="en-US" altLang="zh-CN" sz="2400" dirty="0">
              <a:sym typeface="Wingdings" pitchFamily="2" charset="2"/>
            </a:endParaRPr>
          </a:p>
          <a:p>
            <a:pPr lvl="1"/>
            <a:r>
              <a:rPr lang="zh-CN" altLang="en-US" sz="2200" dirty="0">
                <a:sym typeface="Wingdings" pitchFamily="2" charset="2"/>
              </a:rPr>
              <a:t>页表切换仅需简单位操作</a:t>
            </a:r>
            <a:endParaRPr lang="en-US" altLang="zh-CN" sz="2200" dirty="0">
              <a:sym typeface="Wingdings" pitchFamily="2" charset="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6DCC59-2C24-E849-91D2-73A8428A6640}"/>
              </a:ext>
            </a:extLst>
          </p:cNvPr>
          <p:cNvSpPr/>
          <p:nvPr/>
        </p:nvSpPr>
        <p:spPr>
          <a:xfrm>
            <a:off x="2264661" y="2510300"/>
            <a:ext cx="2275687" cy="696474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endParaRPr kumimoji="1" lang="en-US" altLang="zh-CN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FB82EF2-131C-A249-840A-40AA35AD3D6A}"/>
              </a:ext>
            </a:extLst>
          </p:cNvPr>
          <p:cNvSpPr txBox="1"/>
          <p:nvPr/>
        </p:nvSpPr>
        <p:spPr>
          <a:xfrm>
            <a:off x="3742123" y="2578733"/>
            <a:ext cx="707539" cy="276999"/>
          </a:xfrm>
          <a:prstGeom prst="rect">
            <a:avLst/>
          </a:prstGeom>
          <a:noFill/>
        </p:spPr>
        <p:txBody>
          <a:bodyPr wrap="square" lIns="0" rIns="0" rtlCol="0" anchor="ctr" anchorCtr="0">
            <a:noAutofit/>
          </a:bodyPr>
          <a:lstStyle/>
          <a:p>
            <a:pPr algn="ctr"/>
            <a:r>
              <a:rPr kumimoji="1" lang="zh-CN" altLang="en-US" sz="1200" dirty="0">
                <a:latin typeface="+mn-ea"/>
                <a:cs typeface="DengXian" charset="-122"/>
              </a:rPr>
              <a:t>用户页表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1AD8F9-7F6D-3442-8A2C-5B8949F68687}"/>
              </a:ext>
            </a:extLst>
          </p:cNvPr>
          <p:cNvSpPr/>
          <p:nvPr/>
        </p:nvSpPr>
        <p:spPr>
          <a:xfrm>
            <a:off x="2441299" y="2610789"/>
            <a:ext cx="1210141" cy="243436"/>
          </a:xfrm>
          <a:prstGeom prst="rect">
            <a:avLst/>
          </a:prstGeom>
          <a:solidFill>
            <a:srgbClr val="FFC6DC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CR3+0x1000</a:t>
            </a:r>
            <a:endParaRPr kumimoji="1"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E70B85-AA67-4B4C-945C-AD72792D27CE}"/>
              </a:ext>
            </a:extLst>
          </p:cNvPr>
          <p:cNvSpPr/>
          <p:nvPr/>
        </p:nvSpPr>
        <p:spPr>
          <a:xfrm>
            <a:off x="5073931" y="2311745"/>
            <a:ext cx="1630006" cy="416418"/>
          </a:xfrm>
          <a:prstGeom prst="rect">
            <a:avLst/>
          </a:prstGeom>
          <a:solidFill>
            <a:srgbClr val="FFC6DC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+mn-ea"/>
              </a:rPr>
              <a:t>用户页表</a:t>
            </a:r>
            <a:endParaRPr kumimoji="1" lang="en-US" altLang="zh-CN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（</a:t>
            </a:r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PGD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）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308022-55CF-8645-9F6F-6CD8DA93BDF6}"/>
              </a:ext>
            </a:extLst>
          </p:cNvPr>
          <p:cNvSpPr/>
          <p:nvPr/>
        </p:nvSpPr>
        <p:spPr>
          <a:xfrm>
            <a:off x="2441298" y="2856346"/>
            <a:ext cx="1210141" cy="243436"/>
          </a:xfrm>
          <a:prstGeom prst="rect">
            <a:avLst/>
          </a:prstGeom>
          <a:solidFill>
            <a:srgbClr val="C8EFFD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CR3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90C257C-A4E6-CF43-B043-140424EFEB86}"/>
              </a:ext>
            </a:extLst>
          </p:cNvPr>
          <p:cNvSpPr txBox="1"/>
          <p:nvPr/>
        </p:nvSpPr>
        <p:spPr>
          <a:xfrm>
            <a:off x="3742122" y="2847388"/>
            <a:ext cx="707539" cy="276999"/>
          </a:xfrm>
          <a:prstGeom prst="rect">
            <a:avLst/>
          </a:prstGeom>
          <a:noFill/>
        </p:spPr>
        <p:txBody>
          <a:bodyPr wrap="square" lIns="0" rIns="0" rtlCol="0" anchor="ctr" anchorCtr="0">
            <a:noAutofit/>
          </a:bodyPr>
          <a:lstStyle/>
          <a:p>
            <a:pPr algn="ctr"/>
            <a:r>
              <a:rPr kumimoji="1" lang="zh-CN" altLang="en-US" sz="1200" dirty="0">
                <a:latin typeface="+mn-ea"/>
                <a:cs typeface="DengXian" charset="-122"/>
              </a:rPr>
              <a:t>内核页表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EA61D68-8B54-CB49-A232-1C4CC1830194}"/>
              </a:ext>
            </a:extLst>
          </p:cNvPr>
          <p:cNvSpPr txBox="1"/>
          <p:nvPr/>
        </p:nvSpPr>
        <p:spPr>
          <a:xfrm>
            <a:off x="2264661" y="2226798"/>
            <a:ext cx="707539" cy="276999"/>
          </a:xfrm>
          <a:prstGeom prst="rect">
            <a:avLst/>
          </a:prstGeom>
          <a:noFill/>
        </p:spPr>
        <p:txBody>
          <a:bodyPr wrap="square" lIns="0" rIns="0" rtlCol="0" anchor="ctr" anchorCtr="0">
            <a:noAutofit/>
          </a:bodyPr>
          <a:lstStyle/>
          <a:p>
            <a:pPr algn="ctr"/>
            <a:r>
              <a:rPr kumimoji="1" lang="zh-CN" altLang="en-US" sz="1200" dirty="0">
                <a:latin typeface="+mn-ea"/>
                <a:cs typeface="DengXian" charset="-122"/>
              </a:rPr>
              <a:t>页表对</a:t>
            </a:r>
          </a:p>
        </p:txBody>
      </p:sp>
      <p:sp>
        <p:nvSpPr>
          <p:cNvPr id="26" name="文档 25">
            <a:extLst>
              <a:ext uri="{FF2B5EF4-FFF2-40B4-BE49-F238E27FC236}">
                <a16:creationId xmlns:a16="http://schemas.microsoft.com/office/drawing/2014/main" id="{EA8DA94A-1D21-354C-AA88-739C15EF217F}"/>
              </a:ext>
            </a:extLst>
          </p:cNvPr>
          <p:cNvSpPr/>
          <p:nvPr/>
        </p:nvSpPr>
        <p:spPr>
          <a:xfrm>
            <a:off x="5073931" y="3146332"/>
            <a:ext cx="1630006" cy="204724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文档 27">
            <a:extLst>
              <a:ext uri="{FF2B5EF4-FFF2-40B4-BE49-F238E27FC236}">
                <a16:creationId xmlns:a16="http://schemas.microsoft.com/office/drawing/2014/main" id="{001A4908-E7D7-F546-8972-6ED10363BFAB}"/>
              </a:ext>
            </a:extLst>
          </p:cNvPr>
          <p:cNvSpPr/>
          <p:nvPr/>
        </p:nvSpPr>
        <p:spPr>
          <a:xfrm rot="10800000">
            <a:off x="5073931" y="2032431"/>
            <a:ext cx="1630006" cy="277001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B9E4A7F-22E5-8245-B6E1-56859A7027C4}"/>
              </a:ext>
            </a:extLst>
          </p:cNvPr>
          <p:cNvSpPr/>
          <p:nvPr/>
        </p:nvSpPr>
        <p:spPr>
          <a:xfrm>
            <a:off x="5073931" y="2728163"/>
            <a:ext cx="1630006" cy="416418"/>
          </a:xfrm>
          <a:prstGeom prst="rect">
            <a:avLst/>
          </a:prstGeom>
          <a:solidFill>
            <a:srgbClr val="C8EFFD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+mn-ea"/>
              </a:rPr>
              <a:t>内核页表</a:t>
            </a:r>
            <a:endParaRPr kumimoji="1" lang="en-US" altLang="zh-CN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（</a:t>
            </a:r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PGD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）</a:t>
            </a:r>
          </a:p>
        </p:txBody>
      </p:sp>
      <p:cxnSp>
        <p:nvCxnSpPr>
          <p:cNvPr id="34" name="肘形连接符 33">
            <a:extLst>
              <a:ext uri="{FF2B5EF4-FFF2-40B4-BE49-F238E27FC236}">
                <a16:creationId xmlns:a16="http://schemas.microsoft.com/office/drawing/2014/main" id="{26853E2D-8B76-3145-8F5A-09E189C3C48F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4449661" y="2985888"/>
            <a:ext cx="624270" cy="158614"/>
          </a:xfrm>
          <a:prstGeom prst="bentConnector3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39994FA6-B63D-F643-9ECD-DE0FA7B61E6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449662" y="2717233"/>
            <a:ext cx="624269" cy="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82EA9D6B-01AE-B549-9B4E-C5B61A38423C}"/>
              </a:ext>
            </a:extLst>
          </p:cNvPr>
          <p:cNvSpPr txBox="1">
            <a:spLocks/>
          </p:cNvSpPr>
          <p:nvPr/>
        </p:nvSpPr>
        <p:spPr>
          <a:xfrm>
            <a:off x="457200" y="3340548"/>
            <a:ext cx="8229600" cy="20372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ym typeface="Wingdings" pitchFamily="2" charset="2"/>
              </a:rPr>
              <a:t>优化非必要的</a:t>
            </a:r>
            <a:r>
              <a:rPr lang="en-US" altLang="zh-CN" sz="2400" dirty="0">
                <a:sym typeface="Wingdings" pitchFamily="2" charset="2"/>
              </a:rPr>
              <a:t>TLB</a:t>
            </a:r>
            <a:r>
              <a:rPr lang="zh-CN" altLang="en-US" sz="2400" dirty="0">
                <a:sym typeface="Wingdings" pitchFamily="2" charset="2"/>
              </a:rPr>
              <a:t>刷新</a:t>
            </a:r>
            <a:endParaRPr lang="en-US" altLang="zh-CN" sz="2400" dirty="0">
              <a:sym typeface="Wingdings" pitchFamily="2" charset="2"/>
            </a:endParaRPr>
          </a:p>
          <a:p>
            <a:pPr lvl="1"/>
            <a:r>
              <a:rPr lang="zh-CN" altLang="en-US" sz="2200" dirty="0">
                <a:sym typeface="Wingdings" pitchFamily="2" charset="2"/>
              </a:rPr>
              <a:t>用户</a:t>
            </a:r>
            <a:r>
              <a:rPr lang="en-US" altLang="zh-CN" sz="2200" dirty="0">
                <a:sym typeface="Wingdings" pitchFamily="2" charset="2"/>
              </a:rPr>
              <a:t>/</a:t>
            </a:r>
            <a:r>
              <a:rPr lang="zh-CN" altLang="en-US" sz="2200" dirty="0">
                <a:sym typeface="Wingdings" pitchFamily="2" charset="2"/>
              </a:rPr>
              <a:t>内核页表使用不同的</a:t>
            </a:r>
            <a:r>
              <a:rPr lang="en-US" altLang="zh-CN" sz="2200" dirty="0">
                <a:sym typeface="Wingdings" pitchFamily="2" charset="2"/>
              </a:rPr>
              <a:t>ASID</a:t>
            </a:r>
            <a:r>
              <a:rPr lang="zh-CN" altLang="en-US" sz="2200" dirty="0">
                <a:sym typeface="Wingdings" pitchFamily="2" charset="2"/>
              </a:rPr>
              <a:t>，进出内核无需刷新</a:t>
            </a:r>
            <a:r>
              <a:rPr lang="en-US" altLang="zh-CN" sz="2200" dirty="0">
                <a:sym typeface="Wingdings" pitchFamily="2" charset="2"/>
              </a:rPr>
              <a:t>TLB</a:t>
            </a:r>
          </a:p>
          <a:p>
            <a:pPr lvl="2"/>
            <a:r>
              <a:rPr lang="en-US" altLang="zh-CN" sz="1800" dirty="0">
                <a:sym typeface="Wingdings" pitchFamily="2" charset="2"/>
              </a:rPr>
              <a:t>ASID</a:t>
            </a:r>
            <a:r>
              <a:rPr lang="zh-CN" altLang="en-US" sz="1800" dirty="0">
                <a:sym typeface="Wingdings" pitchFamily="2" charset="2"/>
              </a:rPr>
              <a:t>会作为</a:t>
            </a:r>
            <a:r>
              <a:rPr lang="en-US" altLang="zh-CN" sz="1800" dirty="0">
                <a:sym typeface="Wingdings" pitchFamily="2" charset="2"/>
              </a:rPr>
              <a:t>tag</a:t>
            </a:r>
            <a:r>
              <a:rPr lang="zh-CN" altLang="en-US" sz="1800" dirty="0">
                <a:sym typeface="Wingdings" pitchFamily="2" charset="2"/>
              </a:rPr>
              <a:t>进行</a:t>
            </a:r>
            <a:r>
              <a:rPr lang="en-US" altLang="zh-CN" sz="1800" dirty="0">
                <a:sym typeface="Wingdings" pitchFamily="2" charset="2"/>
              </a:rPr>
              <a:t>TLB</a:t>
            </a:r>
            <a:r>
              <a:rPr lang="zh-CN" altLang="en-US" sz="1800" dirty="0">
                <a:sym typeface="Wingdings" pitchFamily="2" charset="2"/>
              </a:rPr>
              <a:t>索引</a:t>
            </a:r>
            <a:endParaRPr lang="en-US" altLang="zh-CN" sz="1800" dirty="0">
              <a:sym typeface="Wingdings" pitchFamily="2" charset="2"/>
            </a:endParaRPr>
          </a:p>
          <a:p>
            <a:pPr lvl="2"/>
            <a:r>
              <a:rPr lang="en-US" altLang="zh-CN" sz="1800" dirty="0">
                <a:sym typeface="Wingdings" pitchFamily="2" charset="2"/>
              </a:rPr>
              <a:t>CPU</a:t>
            </a:r>
            <a:r>
              <a:rPr lang="zh-CN" altLang="en-US" sz="1800" dirty="0">
                <a:sym typeface="Wingdings" pitchFamily="2" charset="2"/>
              </a:rPr>
              <a:t>仅匹配与当前</a:t>
            </a:r>
            <a:r>
              <a:rPr lang="en-US" altLang="zh-CN" sz="1800" dirty="0">
                <a:sym typeface="Wingdings" pitchFamily="2" charset="2"/>
              </a:rPr>
              <a:t>ASID</a:t>
            </a:r>
            <a:r>
              <a:rPr lang="zh-CN" altLang="en-US" sz="1800" dirty="0">
                <a:sym typeface="Wingdings" pitchFamily="2" charset="2"/>
              </a:rPr>
              <a:t>一致的</a:t>
            </a:r>
            <a:r>
              <a:rPr lang="en-US" altLang="zh-CN" sz="1800" dirty="0">
                <a:sym typeface="Wingdings" pitchFamily="2" charset="2"/>
              </a:rPr>
              <a:t>TLB</a:t>
            </a:r>
            <a:r>
              <a:rPr lang="zh-CN" altLang="en-US" sz="1800" dirty="0">
                <a:sym typeface="Wingdings" pitchFamily="2" charset="2"/>
              </a:rPr>
              <a:t>项</a:t>
            </a:r>
            <a:endParaRPr lang="en-US" altLang="zh-CN" sz="1800" dirty="0">
              <a:sym typeface="Wingdings" pitchFamily="2" charset="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C6D0279-C6FF-7F4C-AC6C-C76C9B9703FF}"/>
              </a:ext>
            </a:extLst>
          </p:cNvPr>
          <p:cNvSpPr/>
          <p:nvPr/>
        </p:nvSpPr>
        <p:spPr>
          <a:xfrm>
            <a:off x="5796136" y="4708014"/>
            <a:ext cx="2275687" cy="696474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 anchorCtr="0"/>
          <a:lstStyle/>
          <a:p>
            <a:pPr algn="ctr"/>
            <a:endParaRPr kumimoji="1" lang="en-US" altLang="zh-CN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DA27306-5613-5C40-BB25-8F033C9EADDC}"/>
              </a:ext>
            </a:extLst>
          </p:cNvPr>
          <p:cNvSpPr txBox="1"/>
          <p:nvPr/>
        </p:nvSpPr>
        <p:spPr>
          <a:xfrm>
            <a:off x="7273598" y="4776447"/>
            <a:ext cx="707539" cy="276999"/>
          </a:xfrm>
          <a:prstGeom prst="rect">
            <a:avLst/>
          </a:prstGeom>
          <a:noFill/>
        </p:spPr>
        <p:txBody>
          <a:bodyPr wrap="square" lIns="0" rIns="0" rtlCol="0" anchor="ctr" anchorCtr="0">
            <a:noAutofit/>
          </a:bodyPr>
          <a:lstStyle/>
          <a:p>
            <a:pPr algn="ctr"/>
            <a:r>
              <a:rPr kumimoji="1" lang="zh-CN" altLang="en-US" sz="1200" dirty="0">
                <a:latin typeface="+mn-ea"/>
                <a:cs typeface="DengXian" charset="-122"/>
              </a:rPr>
              <a:t>用户</a:t>
            </a:r>
            <a:r>
              <a:rPr kumimoji="1" lang="en-US" altLang="zh-CN" sz="1200" dirty="0">
                <a:latin typeface="+mn-ea"/>
                <a:cs typeface="DengXian" charset="-122"/>
              </a:rPr>
              <a:t>ASID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AE24D2A-7413-FB45-84DF-D1F43FF72D57}"/>
              </a:ext>
            </a:extLst>
          </p:cNvPr>
          <p:cNvSpPr/>
          <p:nvPr/>
        </p:nvSpPr>
        <p:spPr>
          <a:xfrm>
            <a:off x="6116773" y="4806271"/>
            <a:ext cx="1066141" cy="243436"/>
          </a:xfrm>
          <a:prstGeom prst="rect">
            <a:avLst/>
          </a:prstGeom>
          <a:solidFill>
            <a:srgbClr val="FFC6DC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zh-CN" sz="1200" dirty="0" err="1">
                <a:solidFill>
                  <a:schemeClr val="tx1"/>
                </a:solidFill>
                <a:latin typeface="+mn-ea"/>
              </a:rPr>
              <a:t>asid</a:t>
            </a:r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[0:10]</a:t>
            </a:r>
            <a:endParaRPr kumimoji="1"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493DD21-2E53-8241-8636-3535D93AF6A6}"/>
              </a:ext>
            </a:extLst>
          </p:cNvPr>
          <p:cNvSpPr/>
          <p:nvPr/>
        </p:nvSpPr>
        <p:spPr>
          <a:xfrm>
            <a:off x="6116773" y="5051374"/>
            <a:ext cx="1066141" cy="243436"/>
          </a:xfrm>
          <a:prstGeom prst="rect">
            <a:avLst/>
          </a:prstGeom>
          <a:solidFill>
            <a:srgbClr val="C8EFFD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zh-CN" sz="1200" dirty="0" err="1">
                <a:solidFill>
                  <a:schemeClr val="tx1"/>
                </a:solidFill>
                <a:latin typeface="+mn-ea"/>
              </a:rPr>
              <a:t>asid</a:t>
            </a:r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[0:10]</a:t>
            </a:r>
            <a:endParaRPr kumimoji="1"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F2FBD7E-2162-AE46-9120-DBB22F594A30}"/>
              </a:ext>
            </a:extLst>
          </p:cNvPr>
          <p:cNvSpPr txBox="1"/>
          <p:nvPr/>
        </p:nvSpPr>
        <p:spPr>
          <a:xfrm>
            <a:off x="7273597" y="5045102"/>
            <a:ext cx="707539" cy="276999"/>
          </a:xfrm>
          <a:prstGeom prst="rect">
            <a:avLst/>
          </a:prstGeom>
          <a:noFill/>
        </p:spPr>
        <p:txBody>
          <a:bodyPr wrap="square" lIns="0" rIns="0" rtlCol="0" anchor="ctr" anchorCtr="0">
            <a:noAutofit/>
          </a:bodyPr>
          <a:lstStyle/>
          <a:p>
            <a:pPr algn="ctr"/>
            <a:r>
              <a:rPr kumimoji="1" lang="zh-CN" altLang="en-US" sz="1200" dirty="0">
                <a:latin typeface="+mn-ea"/>
                <a:cs typeface="DengXian" charset="-122"/>
              </a:rPr>
              <a:t>内核</a:t>
            </a:r>
            <a:r>
              <a:rPr kumimoji="1" lang="en-US" altLang="zh-CN" sz="1200" dirty="0">
                <a:latin typeface="+mn-ea"/>
                <a:cs typeface="DengXian" charset="-122"/>
              </a:rPr>
              <a:t>ASID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2405264-ED2E-1E49-ADE5-AB8B1AE10898}"/>
              </a:ext>
            </a:extLst>
          </p:cNvPr>
          <p:cNvSpPr txBox="1"/>
          <p:nvPr/>
        </p:nvSpPr>
        <p:spPr>
          <a:xfrm>
            <a:off x="5796136" y="4389815"/>
            <a:ext cx="547761" cy="276999"/>
          </a:xfrm>
          <a:prstGeom prst="rect">
            <a:avLst/>
          </a:prstGeom>
          <a:noFill/>
        </p:spPr>
        <p:txBody>
          <a:bodyPr wrap="square" lIns="0" rIns="0" rtlCol="0" anchor="ctr" anchorCtr="0">
            <a:noAutofit/>
          </a:bodyPr>
          <a:lstStyle/>
          <a:p>
            <a:pPr algn="ctr"/>
            <a:r>
              <a:rPr kumimoji="1" lang="en-US" altLang="zh-CN" sz="1200" dirty="0">
                <a:latin typeface="+mn-ea"/>
                <a:cs typeface="DengXian" charset="-122"/>
              </a:rPr>
              <a:t>ASID</a:t>
            </a:r>
            <a:r>
              <a:rPr kumimoji="1" lang="zh-CN" altLang="en-US" sz="1200" dirty="0">
                <a:latin typeface="+mn-ea"/>
                <a:cs typeface="DengXian" charset="-122"/>
              </a:rPr>
              <a:t>对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6771EAA-C734-844C-AFF8-2B1BE78BF9B2}"/>
              </a:ext>
            </a:extLst>
          </p:cNvPr>
          <p:cNvSpPr/>
          <p:nvPr/>
        </p:nvSpPr>
        <p:spPr>
          <a:xfrm>
            <a:off x="5972773" y="4806271"/>
            <a:ext cx="144000" cy="243436"/>
          </a:xfrm>
          <a:prstGeom prst="rect">
            <a:avLst/>
          </a:prstGeom>
          <a:solidFill>
            <a:srgbClr val="FFC6DC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zh-CN" sz="1200" dirty="0">
                <a:solidFill>
                  <a:srgbClr val="FF2F92"/>
                </a:solidFill>
                <a:latin typeface="+mn-ea"/>
              </a:rPr>
              <a:t>1</a:t>
            </a:r>
            <a:endParaRPr kumimoji="1" lang="zh-CN" altLang="en-US" sz="1200" dirty="0">
              <a:solidFill>
                <a:srgbClr val="FF2F92"/>
              </a:solidFill>
              <a:latin typeface="+mn-ea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840FE42-B405-F641-B7E7-34CD3D4145EF}"/>
              </a:ext>
            </a:extLst>
          </p:cNvPr>
          <p:cNvSpPr/>
          <p:nvPr/>
        </p:nvSpPr>
        <p:spPr>
          <a:xfrm>
            <a:off x="5972773" y="5051374"/>
            <a:ext cx="144000" cy="243436"/>
          </a:xfrm>
          <a:prstGeom prst="rect">
            <a:avLst/>
          </a:prstGeom>
          <a:solidFill>
            <a:srgbClr val="C8EFFD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kumimoji="1" lang="en-US" altLang="zh-CN" sz="1200" dirty="0">
                <a:solidFill>
                  <a:srgbClr val="FF2F92"/>
                </a:solidFill>
                <a:latin typeface="+mn-ea"/>
              </a:rPr>
              <a:t>0</a:t>
            </a:r>
            <a:endParaRPr kumimoji="1" lang="zh-CN" altLang="en-US" sz="1200" dirty="0">
              <a:solidFill>
                <a:srgbClr val="FF2F92"/>
              </a:solidFill>
              <a:latin typeface="+mn-ea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99023407-6B0D-3B4F-BABB-B9ED8A3847B0}"/>
              </a:ext>
            </a:extLst>
          </p:cNvPr>
          <p:cNvSpPr txBox="1"/>
          <p:nvPr/>
        </p:nvSpPr>
        <p:spPr>
          <a:xfrm>
            <a:off x="6948264" y="2380651"/>
            <a:ext cx="877126" cy="276999"/>
          </a:xfrm>
          <a:prstGeom prst="rect">
            <a:avLst/>
          </a:prstGeom>
          <a:noFill/>
        </p:spPr>
        <p:txBody>
          <a:bodyPr wrap="square" lIns="0" rIns="0" rtlCol="0" anchor="ctr" anchorCtr="0">
            <a:noAutofit/>
          </a:bodyPr>
          <a:lstStyle/>
          <a:p>
            <a:pPr algn="ctr"/>
            <a:r>
              <a:rPr kumimoji="1" lang="en-US" altLang="zh-CN" sz="1200" dirty="0">
                <a:latin typeface="+mn-ea"/>
                <a:cs typeface="DengXian" charset="-122"/>
              </a:rPr>
              <a:t>CR3[12]=</a:t>
            </a:r>
            <a:r>
              <a:rPr kumimoji="1" lang="en-US" altLang="zh-CN" sz="1200" dirty="0">
                <a:solidFill>
                  <a:srgbClr val="FF2F92"/>
                </a:solidFill>
                <a:latin typeface="+mn-ea"/>
                <a:cs typeface="DengXian" charset="-122"/>
              </a:rPr>
              <a:t>1</a:t>
            </a:r>
            <a:endParaRPr kumimoji="1" lang="zh-CN" altLang="en-US" sz="1200" dirty="0">
              <a:solidFill>
                <a:srgbClr val="FF2F92"/>
              </a:solidFill>
              <a:latin typeface="+mn-ea"/>
              <a:cs typeface="DengXian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5CFCE6F-815B-A445-84E6-2A170197515D}"/>
              </a:ext>
            </a:extLst>
          </p:cNvPr>
          <p:cNvSpPr txBox="1"/>
          <p:nvPr/>
        </p:nvSpPr>
        <p:spPr>
          <a:xfrm>
            <a:off x="6948264" y="2798215"/>
            <a:ext cx="877126" cy="276999"/>
          </a:xfrm>
          <a:prstGeom prst="rect">
            <a:avLst/>
          </a:prstGeom>
          <a:noFill/>
        </p:spPr>
        <p:txBody>
          <a:bodyPr wrap="square" lIns="0" rIns="0" rtlCol="0" anchor="ctr" anchorCtr="0">
            <a:noAutofit/>
          </a:bodyPr>
          <a:lstStyle/>
          <a:p>
            <a:pPr algn="ctr"/>
            <a:r>
              <a:rPr kumimoji="1" lang="en-US" altLang="zh-CN" sz="1200" dirty="0">
                <a:latin typeface="+mn-ea"/>
                <a:cs typeface="DengXian" charset="-122"/>
              </a:rPr>
              <a:t>CR3[12]=</a:t>
            </a:r>
            <a:r>
              <a:rPr kumimoji="1" lang="en-US" altLang="zh-CN" sz="1200" dirty="0">
                <a:solidFill>
                  <a:srgbClr val="FF2F92"/>
                </a:solidFill>
                <a:latin typeface="+mn-ea"/>
                <a:cs typeface="DengXian" charset="-122"/>
              </a:rPr>
              <a:t>0</a:t>
            </a:r>
            <a:endParaRPr kumimoji="1" lang="zh-CN" altLang="en-US" sz="1200" dirty="0">
              <a:solidFill>
                <a:srgbClr val="FF2F92"/>
              </a:solidFill>
              <a:latin typeface="+mn-ea"/>
              <a:cs typeface="DengXian" charset="-122"/>
            </a:endParaRPr>
          </a:p>
        </p:txBody>
      </p: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42B62EA1-C426-0F4F-BC6D-A0418EC2C56F}"/>
              </a:ext>
            </a:extLst>
          </p:cNvPr>
          <p:cNvCxnSpPr/>
          <p:nvPr/>
        </p:nvCxnSpPr>
        <p:spPr>
          <a:xfrm>
            <a:off x="7250916" y="2610789"/>
            <a:ext cx="0" cy="236599"/>
          </a:xfrm>
          <a:prstGeom prst="straightConnector1">
            <a:avLst/>
          </a:prstGeom>
          <a:ln w="15875">
            <a:solidFill>
              <a:srgbClr val="FF2F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D8C58553-3730-F749-85E4-82D710A6A1D0}"/>
              </a:ext>
            </a:extLst>
          </p:cNvPr>
          <p:cNvCxnSpPr/>
          <p:nvPr/>
        </p:nvCxnSpPr>
        <p:spPr>
          <a:xfrm>
            <a:off x="7413558" y="2610789"/>
            <a:ext cx="0" cy="236599"/>
          </a:xfrm>
          <a:prstGeom prst="straightConnector1">
            <a:avLst/>
          </a:prstGeom>
          <a:ln w="15875">
            <a:solidFill>
              <a:srgbClr val="FF2F9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973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/>
      <p:bldP spid="57" grpId="0" animBg="1"/>
      <p:bldP spid="58" grpId="0" animBg="1"/>
      <p:bldP spid="60" grpId="0"/>
      <p:bldP spid="61" grpId="0"/>
      <p:bldP spid="62" grpId="0" animBg="1"/>
      <p:bldP spid="6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+mn-lt"/>
              </a:rPr>
              <a:t>总结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>
                <a:latin typeface="+mn-lt"/>
              </a:rPr>
              <a:t>23</a:t>
            </a:fld>
            <a:endParaRPr lang="zh-CN" altLang="en-US" dirty="0">
              <a:latin typeface="+mn-lt"/>
            </a:endParaRPr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3E547C8-1D06-4541-AF27-31DB15700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394"/>
            <a:ext cx="8229600" cy="3949744"/>
          </a:xfrm>
        </p:spPr>
        <p:txBody>
          <a:bodyPr>
            <a:noAutofit/>
          </a:bodyPr>
          <a:lstStyle/>
          <a:p>
            <a:r>
              <a:rPr lang="en-US" altLang="zh-CN" sz="2400" dirty="0">
                <a:sym typeface="Wingdings" pitchFamily="2" charset="2"/>
              </a:rPr>
              <a:t>Meltdown</a:t>
            </a:r>
            <a:r>
              <a:rPr lang="zh-CN" altLang="en-US" sz="2400" dirty="0">
                <a:sym typeface="Wingdings" pitchFamily="2" charset="2"/>
              </a:rPr>
              <a:t>漏洞</a:t>
            </a:r>
            <a:endParaRPr lang="en-US" altLang="zh-CN" sz="2400" dirty="0">
              <a:sym typeface="Wingdings" pitchFamily="2" charset="2"/>
            </a:endParaRPr>
          </a:p>
          <a:p>
            <a:pPr lvl="1"/>
            <a:r>
              <a:rPr lang="zh-CN" altLang="en-US" sz="2000" dirty="0"/>
              <a:t>综合利用硬件漏洞与侧信道的全新攻击方法</a:t>
            </a:r>
            <a:endParaRPr lang="en-US" altLang="zh-CN" sz="2000" dirty="0"/>
          </a:p>
          <a:p>
            <a:pPr lvl="2"/>
            <a:r>
              <a:rPr lang="zh-CN" altLang="en-US" sz="1600" dirty="0"/>
              <a:t>影响几乎所有的主流处理器（包括</a:t>
            </a:r>
            <a:r>
              <a:rPr lang="en" altLang="zh-CN" sz="1600" dirty="0"/>
              <a:t>Intel</a:t>
            </a:r>
            <a:r>
              <a:rPr lang="zh-CN" altLang="en" sz="1600" dirty="0"/>
              <a:t>、</a:t>
            </a:r>
            <a:r>
              <a:rPr lang="en" altLang="zh-CN" sz="1600" dirty="0"/>
              <a:t>AMD</a:t>
            </a:r>
            <a:r>
              <a:rPr lang="zh-CN" altLang="en-US" sz="1600" dirty="0"/>
              <a:t>和部分</a:t>
            </a:r>
            <a:r>
              <a:rPr lang="en" altLang="zh-CN" sz="1600" dirty="0"/>
              <a:t>ARM</a:t>
            </a:r>
            <a:r>
              <a:rPr lang="zh-CN" altLang="en-US" sz="1600" dirty="0"/>
              <a:t>）</a:t>
            </a:r>
            <a:endParaRPr lang="en" altLang="zh-CN" sz="1600" dirty="0"/>
          </a:p>
          <a:p>
            <a:pPr lvl="1"/>
            <a:r>
              <a:rPr lang="zh-CN" altLang="en-US" sz="2000" dirty="0">
                <a:sym typeface="Wingdings" pitchFamily="2" charset="2"/>
              </a:rPr>
              <a:t>绕过页表中的内核权限，直接窃取任意内核数据</a:t>
            </a:r>
            <a:endParaRPr lang="en-US" altLang="zh-CN" sz="2000" dirty="0">
              <a:sym typeface="Wingdings" pitchFamily="2" charset="2"/>
            </a:endParaRPr>
          </a:p>
          <a:p>
            <a:r>
              <a:rPr lang="en-US" altLang="zh-CN" sz="2400" dirty="0">
                <a:sym typeface="Wingdings" pitchFamily="2" charset="2"/>
              </a:rPr>
              <a:t>KPTI</a:t>
            </a:r>
            <a:r>
              <a:rPr lang="zh-CN" altLang="en-US" sz="2400" dirty="0">
                <a:sym typeface="Wingdings" pitchFamily="2" charset="2"/>
              </a:rPr>
              <a:t> </a:t>
            </a:r>
            <a:r>
              <a:rPr lang="en-US" altLang="zh-CN" sz="2400" dirty="0">
                <a:sym typeface="Wingdings" pitchFamily="2" charset="2"/>
              </a:rPr>
              <a:t>(Kernel</a:t>
            </a:r>
            <a:r>
              <a:rPr lang="zh-CN" altLang="en-US" sz="2400" dirty="0">
                <a:sym typeface="Wingdings" pitchFamily="2" charset="2"/>
              </a:rPr>
              <a:t> </a:t>
            </a:r>
            <a:r>
              <a:rPr lang="en-US" altLang="zh-CN" sz="2400" dirty="0">
                <a:sym typeface="Wingdings" pitchFamily="2" charset="2"/>
              </a:rPr>
              <a:t>Page</a:t>
            </a:r>
            <a:r>
              <a:rPr lang="zh-CN" altLang="en-US" sz="2400" dirty="0">
                <a:sym typeface="Wingdings" pitchFamily="2" charset="2"/>
              </a:rPr>
              <a:t> </a:t>
            </a:r>
            <a:r>
              <a:rPr lang="en-US" altLang="zh-CN" sz="2400" dirty="0">
                <a:sym typeface="Wingdings" pitchFamily="2" charset="2"/>
              </a:rPr>
              <a:t>Table</a:t>
            </a:r>
            <a:r>
              <a:rPr lang="zh-CN" altLang="en-US" sz="2400" dirty="0">
                <a:sym typeface="Wingdings" pitchFamily="2" charset="2"/>
              </a:rPr>
              <a:t> </a:t>
            </a:r>
            <a:r>
              <a:rPr lang="en-US" altLang="zh-CN" sz="2400" dirty="0">
                <a:sym typeface="Wingdings" pitchFamily="2" charset="2"/>
              </a:rPr>
              <a:t>Isolation)</a:t>
            </a:r>
          </a:p>
          <a:p>
            <a:pPr lvl="1"/>
            <a:r>
              <a:rPr lang="zh-CN" altLang="en-US" sz="2000" dirty="0">
                <a:sym typeface="Wingdings" pitchFamily="2" charset="2"/>
              </a:rPr>
              <a:t>通过分离用户态与内核态页表，进行</a:t>
            </a:r>
            <a:r>
              <a:rPr lang="en-US" altLang="zh-CN" sz="2000" dirty="0">
                <a:sym typeface="Wingdings" pitchFamily="2" charset="2"/>
              </a:rPr>
              <a:t>Meltdown</a:t>
            </a:r>
            <a:r>
              <a:rPr lang="zh-CN" altLang="en-US" sz="2000" dirty="0">
                <a:sym typeface="Wingdings" pitchFamily="2" charset="2"/>
              </a:rPr>
              <a:t>漏洞防御</a:t>
            </a:r>
            <a:endParaRPr lang="en-US" altLang="zh-CN" sz="2000" dirty="0">
              <a:sym typeface="Wingdings" pitchFamily="2" charset="2"/>
            </a:endParaRPr>
          </a:p>
          <a:p>
            <a:pPr lvl="2"/>
            <a:r>
              <a:rPr lang="en-US" altLang="zh-CN" sz="1600" dirty="0">
                <a:sym typeface="Wingdings" pitchFamily="2" charset="2"/>
              </a:rPr>
              <a:t>Meltdown</a:t>
            </a:r>
            <a:r>
              <a:rPr lang="zh-CN" altLang="en-US" sz="1600" dirty="0">
                <a:sym typeface="Wingdings" pitchFamily="2" charset="2"/>
              </a:rPr>
              <a:t>无法从无映射的虚拟地址窃取数据</a:t>
            </a:r>
            <a:endParaRPr lang="en-US" altLang="zh-CN" sz="1600" dirty="0">
              <a:sym typeface="Wingdings" pitchFamily="2" charset="2"/>
            </a:endParaRPr>
          </a:p>
          <a:p>
            <a:pPr lvl="1"/>
            <a:r>
              <a:rPr lang="zh-CN" altLang="en-US" sz="2000" dirty="0">
                <a:sym typeface="Wingdings" pitchFamily="2" charset="2"/>
              </a:rPr>
              <a:t>利用</a:t>
            </a:r>
            <a:r>
              <a:rPr lang="en-US" altLang="zh-CN" sz="2000" dirty="0">
                <a:sym typeface="Wingdings" pitchFamily="2" charset="2"/>
              </a:rPr>
              <a:t>ASID</a:t>
            </a:r>
            <a:r>
              <a:rPr lang="zh-CN" altLang="en-US" sz="2000" dirty="0">
                <a:sym typeface="Wingdings" pitchFamily="2" charset="2"/>
              </a:rPr>
              <a:t>等硬件特性提升性能</a:t>
            </a:r>
            <a:endParaRPr lang="en-US" altLang="zh-CN" sz="2000" dirty="0">
              <a:sym typeface="Wingdings" pitchFamily="2" charset="2"/>
            </a:endParaRPr>
          </a:p>
          <a:p>
            <a:pPr lvl="2"/>
            <a:r>
              <a:rPr lang="zh-CN" altLang="en-US" sz="1600" dirty="0">
                <a:sym typeface="Wingdings" pitchFamily="2" charset="2"/>
              </a:rPr>
              <a:t>消除内核进出时非必要的</a:t>
            </a:r>
            <a:r>
              <a:rPr lang="en-US" altLang="zh-CN" sz="1600" dirty="0">
                <a:sym typeface="Wingdings" pitchFamily="2" charset="2"/>
              </a:rPr>
              <a:t>TLB</a:t>
            </a:r>
            <a:r>
              <a:rPr lang="zh-CN" altLang="en-US" sz="1600" dirty="0">
                <a:sym typeface="Wingdings" pitchFamily="2" charset="2"/>
              </a:rPr>
              <a:t>刷新操作</a:t>
            </a:r>
            <a:endParaRPr lang="en-US" altLang="zh-CN" sz="2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76503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+mn-lt"/>
              </a:rPr>
              <a:t>课后练习（选做）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>
                <a:latin typeface="+mn-lt"/>
              </a:rPr>
              <a:t>24</a:t>
            </a:fld>
            <a:endParaRPr lang="zh-CN" altLang="en-US" dirty="0">
              <a:latin typeface="+mn-lt"/>
            </a:endParaRPr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43E547C8-1D06-4541-AF27-31DB15700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394"/>
            <a:ext cx="8229600" cy="3949744"/>
          </a:xfrm>
        </p:spPr>
        <p:txBody>
          <a:bodyPr>
            <a:noAutofit/>
          </a:bodyPr>
          <a:lstStyle/>
          <a:p>
            <a:r>
              <a:rPr lang="en-US" altLang="zh-CN" sz="2400" dirty="0">
                <a:sym typeface="Wingdings" pitchFamily="2" charset="2"/>
              </a:rPr>
              <a:t>Meltdown</a:t>
            </a:r>
            <a:r>
              <a:rPr lang="zh-CN" altLang="en-US" sz="2400" dirty="0">
                <a:sym typeface="Wingdings" pitchFamily="2" charset="2"/>
              </a:rPr>
              <a:t>漏洞利用</a:t>
            </a:r>
            <a:endParaRPr lang="en-US" altLang="zh-CN" sz="2400" dirty="0">
              <a:sym typeface="Wingdings" pitchFamily="2" charset="2"/>
            </a:endParaRPr>
          </a:p>
          <a:p>
            <a:pPr lvl="1"/>
            <a:r>
              <a:rPr lang="zh-CN" altLang="en-US" sz="2000" dirty="0"/>
              <a:t>查看自己的</a:t>
            </a:r>
            <a:r>
              <a:rPr lang="en-US" altLang="zh-CN" sz="2000" dirty="0"/>
              <a:t>Linux</a:t>
            </a:r>
            <a:r>
              <a:rPr lang="zh-CN" altLang="en-US" sz="2000" dirty="0"/>
              <a:t>环境是否启用了</a:t>
            </a:r>
            <a:r>
              <a:rPr lang="en-US" altLang="zh-CN" sz="2000" dirty="0"/>
              <a:t>KPTI</a:t>
            </a:r>
          </a:p>
          <a:p>
            <a:pPr lvl="1"/>
            <a:r>
              <a:rPr lang="zh-CN" altLang="en-US" sz="2000" dirty="0"/>
              <a:t>关闭</a:t>
            </a:r>
            <a:r>
              <a:rPr lang="en-US" altLang="zh-CN" sz="2000" dirty="0"/>
              <a:t>KPTI</a:t>
            </a:r>
            <a:r>
              <a:rPr lang="zh-CN" altLang="en-US" sz="2000" dirty="0"/>
              <a:t>，尝试在自己</a:t>
            </a:r>
            <a:r>
              <a:rPr lang="zh-CN" altLang="en-US" sz="2000"/>
              <a:t>的电脑上</a:t>
            </a:r>
            <a:r>
              <a:rPr lang="zh-CN" altLang="en-US" sz="2000" dirty="0"/>
              <a:t>复现</a:t>
            </a:r>
            <a:r>
              <a:rPr lang="en-US" altLang="zh-CN" sz="2000" dirty="0"/>
              <a:t>Meltdown</a:t>
            </a:r>
            <a:r>
              <a:rPr lang="zh-CN" altLang="en-US" sz="2000" dirty="0"/>
              <a:t>攻击</a:t>
            </a:r>
            <a:endParaRPr lang="en-US" altLang="zh-CN" sz="2000" dirty="0"/>
          </a:p>
          <a:p>
            <a:pPr lvl="2"/>
            <a:r>
              <a:rPr lang="zh-CN" altLang="en-US" sz="1600" dirty="0"/>
              <a:t>参考</a:t>
            </a:r>
            <a:r>
              <a:rPr lang="en-US" altLang="zh-CN" sz="1600" dirty="0" err="1"/>
              <a:t>PoC</a:t>
            </a:r>
            <a:r>
              <a:rPr lang="zh-CN" altLang="en-US" sz="1600" dirty="0"/>
              <a:t>：</a:t>
            </a:r>
            <a:r>
              <a:rPr lang="en" altLang="zh-CN" sz="1600" dirty="0"/>
              <a:t>https://</a:t>
            </a:r>
            <a:r>
              <a:rPr lang="en" altLang="zh-CN" sz="1600" dirty="0" err="1"/>
              <a:t>github.com</a:t>
            </a:r>
            <a:r>
              <a:rPr lang="en" altLang="zh-CN" sz="1600" dirty="0"/>
              <a:t>/</a:t>
            </a:r>
            <a:r>
              <a:rPr lang="en" altLang="zh-CN" sz="1600" dirty="0" err="1"/>
              <a:t>paboldin</a:t>
            </a:r>
            <a:r>
              <a:rPr lang="en" altLang="zh-CN" sz="1600" dirty="0"/>
              <a:t>/meltdown-exploit</a:t>
            </a:r>
            <a:endParaRPr lang="en-US" altLang="zh-CN" sz="2000" dirty="0">
              <a:sym typeface="Wingdings" pitchFamily="2" charset="2"/>
            </a:endParaRPr>
          </a:p>
          <a:p>
            <a:r>
              <a:rPr lang="zh-CN" altLang="en-US" sz="2400" dirty="0">
                <a:sym typeface="Wingdings" pitchFamily="2" charset="2"/>
              </a:rPr>
              <a:t>了解</a:t>
            </a:r>
            <a:r>
              <a:rPr lang="en-US" altLang="zh-CN" sz="2400" dirty="0">
                <a:sym typeface="Wingdings" pitchFamily="2" charset="2"/>
              </a:rPr>
              <a:t>Spectre</a:t>
            </a:r>
            <a:r>
              <a:rPr lang="zh-CN" altLang="en-US" sz="2400" dirty="0">
                <a:sym typeface="Wingdings" pitchFamily="2" charset="2"/>
              </a:rPr>
              <a:t>（幽灵）漏洞</a:t>
            </a:r>
            <a:endParaRPr lang="en-US" altLang="zh-CN" sz="2400" dirty="0">
              <a:sym typeface="Wingdings" pitchFamily="2" charset="2"/>
            </a:endParaRPr>
          </a:p>
          <a:p>
            <a:pPr lvl="1"/>
            <a:r>
              <a:rPr lang="en-US" altLang="zh-CN" sz="2000" dirty="0">
                <a:sym typeface="Wingdings" pitchFamily="2" charset="2"/>
              </a:rPr>
              <a:t>Spectre</a:t>
            </a:r>
            <a:r>
              <a:rPr lang="zh-CN" altLang="en-US" sz="2000" dirty="0">
                <a:sym typeface="Wingdings" pitchFamily="2" charset="2"/>
              </a:rPr>
              <a:t>漏洞与</a:t>
            </a:r>
            <a:r>
              <a:rPr lang="en-US" altLang="zh-CN" sz="2000" dirty="0">
                <a:sym typeface="Wingdings" pitchFamily="2" charset="2"/>
              </a:rPr>
              <a:t>Meltdown</a:t>
            </a:r>
            <a:r>
              <a:rPr lang="zh-CN" altLang="en-US" sz="2000" dirty="0">
                <a:sym typeface="Wingdings" pitchFamily="2" charset="2"/>
              </a:rPr>
              <a:t>漏洞的原理有何异同？</a:t>
            </a:r>
            <a:endParaRPr lang="en-US" altLang="zh-CN" sz="2000" dirty="0">
              <a:sym typeface="Wingdings" pitchFamily="2" charset="2"/>
            </a:endParaRPr>
          </a:p>
          <a:p>
            <a:pPr lvl="1"/>
            <a:r>
              <a:rPr lang="zh-CN" altLang="en-US" sz="2000" dirty="0">
                <a:sym typeface="Wingdings" pitchFamily="2" charset="2"/>
              </a:rPr>
              <a:t>尝试在自己的电脑上复现</a:t>
            </a:r>
            <a:r>
              <a:rPr lang="en-US" altLang="zh-CN" sz="2000" dirty="0">
                <a:sym typeface="Wingdings" pitchFamily="2" charset="2"/>
              </a:rPr>
              <a:t>Spectre</a:t>
            </a:r>
            <a:r>
              <a:rPr lang="zh-CN" altLang="en-US" sz="2000" dirty="0">
                <a:sym typeface="Wingdings" pitchFamily="2" charset="2"/>
              </a:rPr>
              <a:t>攻击</a:t>
            </a:r>
            <a:endParaRPr lang="en-US" altLang="zh-CN" sz="1600" dirty="0">
              <a:sym typeface="Wingdings" pitchFamily="2" charset="2"/>
            </a:endParaRPr>
          </a:p>
          <a:p>
            <a:pPr lvl="2"/>
            <a:r>
              <a:rPr lang="zh-CN" altLang="en-US" sz="1600" dirty="0">
                <a:sym typeface="Wingdings" pitchFamily="2" charset="2"/>
              </a:rPr>
              <a:t>参考文献：“</a:t>
            </a:r>
            <a:r>
              <a:rPr lang="en" altLang="zh-CN" sz="1600" dirty="0">
                <a:sym typeface="Wingdings" pitchFamily="2" charset="2"/>
              </a:rPr>
              <a:t>Spectre Attacks: Exploiting Speculative Execution</a:t>
            </a:r>
            <a:r>
              <a:rPr lang="zh-CN" altLang="en-US" sz="1600" dirty="0">
                <a:sym typeface="Wingdings" pitchFamily="2" charset="2"/>
              </a:rPr>
              <a:t>”</a:t>
            </a:r>
            <a:endParaRPr lang="en-US" altLang="zh-CN" sz="1600" dirty="0">
              <a:sym typeface="Wingdings" pitchFamily="2" charset="2"/>
            </a:endParaRPr>
          </a:p>
          <a:p>
            <a:pPr lvl="2"/>
            <a:r>
              <a:rPr lang="zh-CN" altLang="en-US" sz="1600" dirty="0">
                <a:sym typeface="Wingdings" pitchFamily="2" charset="2"/>
              </a:rPr>
              <a:t>参考</a:t>
            </a:r>
            <a:r>
              <a:rPr lang="en-US" altLang="zh-CN" sz="1600" dirty="0" err="1">
                <a:sym typeface="Wingdings" pitchFamily="2" charset="2"/>
              </a:rPr>
              <a:t>PoC</a:t>
            </a:r>
            <a:r>
              <a:rPr lang="zh-CN" altLang="en-US" sz="1600" dirty="0">
                <a:sym typeface="Wingdings" pitchFamily="2" charset="2"/>
              </a:rPr>
              <a:t>：</a:t>
            </a:r>
            <a:r>
              <a:rPr lang="en-US" altLang="zh-CN" sz="1600" dirty="0">
                <a:sym typeface="Wingdings" pitchFamily="2" charset="2"/>
              </a:rPr>
              <a:t>https://</a:t>
            </a:r>
            <a:r>
              <a:rPr lang="en-US" altLang="zh-CN" sz="1600" dirty="0" err="1">
                <a:sym typeface="Wingdings" pitchFamily="2" charset="2"/>
              </a:rPr>
              <a:t>github.com</a:t>
            </a:r>
            <a:r>
              <a:rPr lang="en-US" altLang="zh-CN" sz="1600" dirty="0">
                <a:sym typeface="Wingdings" pitchFamily="2" charset="2"/>
              </a:rPr>
              <a:t>/</a:t>
            </a:r>
            <a:r>
              <a:rPr lang="en-US" altLang="zh-CN" sz="1600" dirty="0" err="1">
                <a:sym typeface="Wingdings" pitchFamily="2" charset="2"/>
              </a:rPr>
              <a:t>flxwu</a:t>
            </a:r>
            <a:r>
              <a:rPr lang="en-US" altLang="zh-CN" sz="1600" dirty="0">
                <a:sym typeface="Wingdings" pitchFamily="2" charset="2"/>
              </a:rPr>
              <a:t>/</a:t>
            </a:r>
            <a:r>
              <a:rPr lang="en-US" altLang="zh-CN" sz="1600" dirty="0" err="1">
                <a:sym typeface="Wingdings" pitchFamily="2" charset="2"/>
              </a:rPr>
              <a:t>spectre</a:t>
            </a:r>
            <a:r>
              <a:rPr lang="en-US" altLang="zh-CN" sz="1600" dirty="0">
                <a:sym typeface="Wingdings" pitchFamily="2" charset="2"/>
              </a:rPr>
              <a:t>-attack-demo</a:t>
            </a:r>
          </a:p>
        </p:txBody>
      </p:sp>
    </p:spTree>
    <p:extLst>
      <p:ext uri="{BB962C8B-B14F-4D97-AF65-F5344CB8AC3E}">
        <p14:creationId xmlns:p14="http://schemas.microsoft.com/office/powerpoint/2010/main" val="1694252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BB5C5-9E14-C244-80D5-D5CA3BA8F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回顾：操作系统安全的三个层次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640712-EE6C-AA4A-9BCA-F2302411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9B8A0F-E89F-CA49-BED7-8ABC751B9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1E51989-D468-E841-BD82-47E5579B5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40"/>
            <a:ext cx="8290186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114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86255AFF-4924-6A46-8512-5E8363677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当操作系统不再可信时</a:t>
            </a:r>
            <a:r>
              <a:rPr lang="en-US" altLang="zh-CN" dirty="0"/>
              <a:t>...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2DA3DB57-1FB0-E245-ABB7-ACE8607D0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EE53EB-F1E2-3449-8ABF-865990DC6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6B66F2-9501-2B48-8092-EF29860BE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4208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EF6B836F-2EE3-A34E-93D7-C150C5571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为什么要假设操作系统是恶意的？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E56A8850-0BF8-914A-9CDF-B004BC742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系统的复杂性</a:t>
            </a:r>
          </a:p>
          <a:p>
            <a:pPr lvl="1"/>
            <a:r>
              <a:rPr lang="zh-CN" altLang="en-US" dirty="0"/>
              <a:t>软件：恶意软件，</a:t>
            </a:r>
            <a:r>
              <a:rPr lang="en-US" altLang="zh-CN" dirty="0"/>
              <a:t>OS</a:t>
            </a:r>
            <a:r>
              <a:rPr lang="zh-CN" altLang="en-US" dirty="0"/>
              <a:t>本身可能存在漏洞</a:t>
            </a:r>
            <a:endParaRPr lang="en-US" altLang="zh-CN" dirty="0"/>
          </a:p>
          <a:p>
            <a:pPr lvl="1"/>
            <a:r>
              <a:rPr lang="zh-CN" altLang="en-US" dirty="0"/>
              <a:t>硬件：外设越来越智能，本身可能存在漏洞，甚至是恶意构造</a:t>
            </a:r>
            <a:endParaRPr lang="en-US" altLang="zh-CN" dirty="0"/>
          </a:p>
          <a:p>
            <a:pPr lvl="1"/>
            <a:r>
              <a:rPr lang="zh-CN" altLang="en-US" dirty="0"/>
              <a:t>环境：云计算环境、</a:t>
            </a:r>
            <a:r>
              <a:rPr lang="en-US" altLang="zh-CN" dirty="0"/>
              <a:t>IoT</a:t>
            </a:r>
            <a:r>
              <a:rPr lang="zh-CN" altLang="en-US" dirty="0"/>
              <a:t>设备，面临这更复杂多变的</a:t>
            </a:r>
            <a:endParaRPr lang="en-US" altLang="zh-CN" dirty="0"/>
          </a:p>
          <a:p>
            <a:pPr lvl="1"/>
            <a:r>
              <a:rPr lang="zh-CN" altLang="en-US" dirty="0"/>
              <a:t>人：运维外包（如云计算等）导致接触计算机的人更复杂</a:t>
            </a:r>
            <a:endParaRPr lang="en-US" altLang="zh-CN" dirty="0"/>
          </a:p>
          <a:p>
            <a:r>
              <a:rPr lang="zh-CN" altLang="en-US" dirty="0"/>
              <a:t>一种更简单的威胁模型</a:t>
            </a:r>
            <a:endParaRPr lang="en-US" altLang="zh-CN" dirty="0"/>
          </a:p>
          <a:p>
            <a:pPr lvl="1"/>
            <a:r>
              <a:rPr lang="zh-CN" altLang="en-US" dirty="0"/>
              <a:t>“除了应用，别的都不可信”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F9EAD4-30A8-5040-A6D0-39D16122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1B9EAD-B9CE-F54B-AB2E-3AC0DFA34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0281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361347-AEE9-094B-97B4-2F6E44D5A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恶意操作系统如何攻击应用？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8B2A11-42F5-084C-891A-9A2E849EB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应用的攻击面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同层：其他应用程序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底层：操作系统、</a:t>
            </a:r>
            <a:r>
              <a:rPr kumimoji="1" lang="en-US" altLang="zh-CN" dirty="0"/>
              <a:t>Hypervisor</a:t>
            </a:r>
            <a:r>
              <a:rPr kumimoji="1" lang="zh-CN" altLang="en-US" dirty="0"/>
              <a:t>、硬件</a:t>
            </a:r>
            <a:endParaRPr kumimoji="1" lang="en-US" altLang="zh-CN" dirty="0"/>
          </a:p>
          <a:p>
            <a:r>
              <a:rPr kumimoji="1" lang="zh-CN" altLang="en-US" dirty="0"/>
              <a:t>操作系统窃取应用的数据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操作系统控制着页表，可直接映射应用的内存并读取数据</a:t>
            </a:r>
            <a:endParaRPr kumimoji="1" lang="en-US" altLang="zh-CN" dirty="0"/>
          </a:p>
          <a:p>
            <a:r>
              <a:rPr kumimoji="1" lang="zh-CN" altLang="en-US" dirty="0"/>
              <a:t>操作系统改变应用的执行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操作系统控制着页表，可直接在应用内部新映射一段恶意代码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操作系统可任意改变程序的</a:t>
            </a:r>
            <a:r>
              <a:rPr kumimoji="1" lang="en-US" altLang="zh-CN" dirty="0"/>
              <a:t>RIP</a:t>
            </a:r>
            <a:r>
              <a:rPr kumimoji="1" lang="zh-CN" altLang="en-US" dirty="0"/>
              <a:t>，劫持其执行流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3C3EA8-E7CF-5F48-8B0F-5D373CF5B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FE468C-FCB7-1141-A69E-890A7B6B9A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6036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F30A9B-0542-1E4E-B317-ED022C5E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现实中的类似攻击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51A8B2-DACC-584E-9CFC-E80DE42FB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系统对应用的攻击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攻击者获取具有</a:t>
            </a:r>
            <a:r>
              <a:rPr kumimoji="1" lang="en-US" altLang="zh-CN" dirty="0"/>
              <a:t>root</a:t>
            </a:r>
            <a:r>
              <a:rPr kumimoji="1" lang="zh-CN" altLang="en-US" dirty="0"/>
              <a:t>权限的</a:t>
            </a:r>
            <a:r>
              <a:rPr kumimoji="1" lang="en-US" altLang="zh-CN" dirty="0"/>
              <a:t>bash</a:t>
            </a:r>
            <a:r>
              <a:rPr kumimoji="1" lang="zh-CN" altLang="en-US" dirty="0"/>
              <a:t>（如利用</a:t>
            </a:r>
            <a:r>
              <a:rPr kumimoji="1" lang="en-US" altLang="zh-CN" dirty="0"/>
              <a:t>sticky</a:t>
            </a:r>
            <a:r>
              <a:rPr kumimoji="1" lang="zh-CN" altLang="en-US" dirty="0"/>
              <a:t>位程序的漏洞）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攻击者获得</a:t>
            </a:r>
            <a:r>
              <a:rPr kumimoji="1" lang="en-US" altLang="zh-CN" i="1" dirty="0" err="1"/>
              <a:t>insmod</a:t>
            </a:r>
            <a:r>
              <a:rPr kumimoji="1" lang="zh-CN" altLang="en-US" dirty="0"/>
              <a:t>的权限，在内核中插入恶意的模块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攻击者篡改内核的文件，下次启动后加载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攻击者获得</a:t>
            </a:r>
            <a:r>
              <a:rPr kumimoji="1" lang="en-US" altLang="zh-CN" i="1" dirty="0" err="1"/>
              <a:t>kexec</a:t>
            </a:r>
            <a:r>
              <a:rPr kumimoji="1" lang="zh-CN" altLang="en-US" dirty="0"/>
              <a:t>的权限，动态执行另一个内核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攻击者获得</a:t>
            </a:r>
            <a:r>
              <a:rPr kumimoji="1" lang="en-US" altLang="zh-CN" dirty="0"/>
              <a:t>hypervisor</a:t>
            </a:r>
            <a:r>
              <a:rPr kumimoji="1" lang="zh-CN" altLang="en-US" dirty="0"/>
              <a:t>的权限，从更底层发起攻击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攻击者能够控制某个设备（如智能网卡），直接访问物理内存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FABEE0-AC5B-A245-B5BE-F3AC1B733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BF82ED-763D-DE46-BE77-D755ED3D25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42188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36031-5779-4E49-A424-54F926D10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一种新的威胁模型：安全处理器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AEC863-D8BB-844A-88AD-CA6C1588E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不信任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外的硬件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包括内存（</a:t>
            </a:r>
            <a:r>
              <a:rPr kumimoji="1" lang="en-US" altLang="zh-CN" dirty="0"/>
              <a:t>DRAM</a:t>
            </a:r>
            <a:r>
              <a:rPr kumimoji="1" lang="zh-CN" altLang="en-US" dirty="0"/>
              <a:t>）、设备、网络</a:t>
            </a:r>
          </a:p>
          <a:p>
            <a:r>
              <a:rPr kumimoji="1" lang="zh-CN" altLang="en-US" dirty="0"/>
              <a:t>仅信任</a:t>
            </a:r>
            <a:r>
              <a:rPr kumimoji="1" lang="en-US" altLang="zh-CN" dirty="0"/>
              <a:t>CPU</a:t>
            </a:r>
          </a:p>
          <a:p>
            <a:pPr lvl="1"/>
            <a:r>
              <a:rPr kumimoji="1" lang="zh-CN" altLang="en-US" dirty="0"/>
              <a:t>包括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、所有计算逻辑（</a:t>
            </a:r>
            <a:r>
              <a:rPr kumimoji="1" lang="en-US" altLang="zh-CN" dirty="0"/>
              <a:t>Anyway</a:t>
            </a:r>
            <a:r>
              <a:rPr kumimoji="1" lang="zh-CN" altLang="en-US" dirty="0"/>
              <a:t>，总得信任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吧</a:t>
            </a:r>
            <a:r>
              <a:rPr kumimoji="1" lang="en-US" altLang="zh-CN" dirty="0"/>
              <a:t>...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>
                <a:solidFill>
                  <a:schemeClr val="accent1"/>
                </a:solidFill>
              </a:rPr>
              <a:t>Enclave</a:t>
            </a:r>
            <a:r>
              <a:rPr kumimoji="1" lang="zh-CN" altLang="en-US" dirty="0">
                <a:solidFill>
                  <a:schemeClr val="accent1"/>
                </a:solidFill>
              </a:rPr>
              <a:t>（飞地）</a:t>
            </a:r>
            <a:endParaRPr kumimoji="1" lang="en-US" altLang="zh-CN" dirty="0">
              <a:solidFill>
                <a:schemeClr val="accent1"/>
              </a:solidFill>
            </a:endParaRPr>
          </a:p>
          <a:p>
            <a:pPr lvl="1"/>
            <a:r>
              <a:rPr kumimoji="1" lang="zh-CN" altLang="en-US" dirty="0"/>
              <a:t>又称为可信执行环境，</a:t>
            </a:r>
            <a:r>
              <a:rPr kumimoji="1" lang="en-US" altLang="zh-CN" dirty="0"/>
              <a:t>TEE</a:t>
            </a:r>
            <a:r>
              <a:rPr kumimoji="1" lang="zh-CN" altLang="en-US" dirty="0"/>
              <a:t>（</a:t>
            </a:r>
            <a:r>
              <a:rPr kumimoji="1" lang="en-US" altLang="zh-CN" dirty="0"/>
              <a:t>Trusted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Environment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什么是“可信”？信什么呢？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EF6CB4-2033-0441-8550-7CA350697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E6E397-EF7B-E14D-A995-48AA100825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18808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FA8F3-BCF0-F644-AC75-8AC502275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337220"/>
            <a:ext cx="6826002" cy="611258"/>
          </a:xfrm>
        </p:spPr>
        <p:txBody>
          <a:bodyPr>
            <a:noAutofit/>
          </a:bodyPr>
          <a:lstStyle/>
          <a:p>
            <a:r>
              <a:rPr kumimoji="1" lang="en-US" altLang="zh-CN" dirty="0"/>
              <a:t>Enclave/TEE</a:t>
            </a:r>
            <a:r>
              <a:rPr kumimoji="1" lang="zh-CN" altLang="en-US" dirty="0"/>
              <a:t>：可信执行环境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4EE99D3-C84C-8A4F-8DC6-487543311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367212"/>
            <a:ext cx="8136904" cy="3832235"/>
          </a:xfrm>
        </p:spPr>
        <p:txBody>
          <a:bodyPr>
            <a:normAutofit/>
          </a:bodyPr>
          <a:lstStyle/>
          <a:p>
            <a:r>
              <a:rPr kumimoji="1" lang="en-US" altLang="zh-CN" sz="2000" dirty="0"/>
              <a:t>Enclave/TEE</a:t>
            </a:r>
            <a:r>
              <a:rPr kumimoji="1" lang="zh-CN" altLang="en-US" sz="2000" dirty="0"/>
              <a:t>的定义</a:t>
            </a:r>
            <a:endParaRPr kumimoji="1" lang="en-US" altLang="zh-CN" sz="2000" dirty="0"/>
          </a:p>
          <a:p>
            <a:pPr lvl="1"/>
            <a:r>
              <a:rPr kumimoji="1" lang="en-US" altLang="zh-CN" sz="1600" dirty="0"/>
              <a:t>Enclave</a:t>
            </a:r>
            <a:r>
              <a:rPr kumimoji="1" lang="zh-CN" altLang="en-US" sz="1600" dirty="0"/>
              <a:t>，又称</a:t>
            </a:r>
            <a:r>
              <a:rPr kumimoji="1" lang="en-US" altLang="zh-CN" sz="1600" dirty="0"/>
              <a:t>"</a:t>
            </a:r>
            <a:r>
              <a:rPr kumimoji="1" lang="zh-CN" altLang="en-US" sz="1600" dirty="0"/>
              <a:t>可信执行环境</a:t>
            </a:r>
            <a:r>
              <a:rPr kumimoji="1" lang="en-US" altLang="zh-CN" sz="1600" dirty="0"/>
              <a:t>" </a:t>
            </a:r>
            <a:r>
              <a:rPr kumimoji="1" lang="zh-CN" altLang="en-US" sz="1600" dirty="0"/>
              <a:t>（</a:t>
            </a:r>
            <a:r>
              <a:rPr kumimoji="1" lang="en-US" altLang="zh-CN" sz="1600" dirty="0"/>
              <a:t>TEE</a:t>
            </a:r>
            <a:r>
              <a:rPr kumimoji="1" lang="zh-CN" altLang="en-US" sz="1600" dirty="0"/>
              <a:t>，</a:t>
            </a:r>
            <a:r>
              <a:rPr kumimoji="1" lang="en-US" altLang="zh-CN" sz="1600" dirty="0"/>
              <a:t>Trusted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Execution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Environment</a:t>
            </a:r>
            <a:r>
              <a:rPr kumimoji="1" lang="zh-CN" altLang="en-US" sz="1600" dirty="0"/>
              <a:t>），是计算机系统中一块通过底层软硬件构造的安全区域，通过保证加载到该区域的代码和数据的完整性和隐私性，实现对代码执行与数据资产的保护 </a:t>
            </a:r>
            <a:r>
              <a:rPr kumimoji="1" lang="en-US" altLang="zh-CN" sz="1600" dirty="0"/>
              <a:t>——</a:t>
            </a:r>
            <a:r>
              <a:rPr kumimoji="1" lang="zh-CN" altLang="en-US" sz="1600" dirty="0"/>
              <a:t> </a:t>
            </a:r>
            <a:r>
              <a:rPr kumimoji="1" lang="en-US" altLang="zh-CN" sz="1600" i="1" dirty="0"/>
              <a:t>Wikipedia</a:t>
            </a:r>
          </a:p>
          <a:p>
            <a:r>
              <a:rPr kumimoji="1" lang="en-US" altLang="zh-CN" sz="2000" dirty="0"/>
              <a:t>Enclave</a:t>
            </a:r>
            <a:r>
              <a:rPr kumimoji="1" lang="zh-CN" altLang="en-US" sz="2000" dirty="0"/>
              <a:t>的两个主要功能</a:t>
            </a:r>
            <a:endParaRPr kumimoji="1" lang="en-US" altLang="zh-CN" sz="2000" dirty="0"/>
          </a:p>
          <a:p>
            <a:pPr lvl="1"/>
            <a:r>
              <a:rPr kumimoji="1" lang="zh-CN" altLang="en-US" sz="1600" dirty="0"/>
              <a:t>远程认证：验证远程节点是否为加载了合法代码的</a:t>
            </a:r>
            <a:r>
              <a:rPr kumimoji="1" lang="en-US" altLang="zh-CN" sz="1600" dirty="0"/>
              <a:t>Enclave</a:t>
            </a:r>
          </a:p>
          <a:p>
            <a:pPr lvl="1"/>
            <a:r>
              <a:rPr kumimoji="1" lang="zh-CN" altLang="en-US" sz="1600" dirty="0"/>
              <a:t>隔离运行：</a:t>
            </a:r>
            <a:r>
              <a:rPr kumimoji="1" lang="en-US" altLang="zh-CN" sz="1600" dirty="0"/>
              <a:t>Enclave</a:t>
            </a:r>
            <a:r>
              <a:rPr kumimoji="1" lang="zh-CN" altLang="en-US" sz="1600" dirty="0"/>
              <a:t>外无法访问</a:t>
            </a:r>
            <a:r>
              <a:rPr kumimoji="1" lang="en-US" altLang="zh-CN" sz="1600" dirty="0"/>
              <a:t>Enclave</a:t>
            </a:r>
            <a:r>
              <a:rPr kumimoji="1" lang="zh-CN" altLang="en-US" sz="1600" dirty="0"/>
              <a:t>内部的数据</a:t>
            </a:r>
            <a:endParaRPr kumimoji="1" lang="en-US" altLang="zh-CN" sz="1400" dirty="0"/>
          </a:p>
          <a:p>
            <a:r>
              <a:rPr kumimoji="1" lang="en-US" altLang="zh-CN" sz="2000" dirty="0"/>
              <a:t>Enclave</a:t>
            </a:r>
            <a:r>
              <a:rPr kumimoji="1" lang="zh-CN" altLang="en-US" sz="2000" dirty="0"/>
              <a:t>带来的能力：限制访问数据的软件</a:t>
            </a:r>
            <a:endParaRPr kumimoji="1" lang="en-US" altLang="zh-CN" sz="2000" dirty="0"/>
          </a:p>
          <a:p>
            <a:pPr lvl="1"/>
            <a:r>
              <a:rPr kumimoji="1" lang="zh-CN" altLang="en-US" sz="1600" dirty="0"/>
              <a:t>可保证数据只在提前被认证的合法节点间流动</a:t>
            </a:r>
            <a:endParaRPr kumimoji="1" lang="en-US" altLang="zh-CN" sz="1600" dirty="0"/>
          </a:p>
          <a:p>
            <a:pPr lvl="2"/>
            <a:r>
              <a:rPr kumimoji="1" lang="zh-CN" altLang="en-US" sz="1400" dirty="0"/>
              <a:t>合法节点：部署了合法软件的节点</a:t>
            </a:r>
            <a:endParaRPr kumimoji="1" lang="zh-CN" altLang="en-US" sz="2400" dirty="0"/>
          </a:p>
          <a:p>
            <a:endParaRPr kumimoji="1"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806626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Enclave/TEE</a:t>
            </a:r>
            <a:r>
              <a:rPr lang="zh-CN" altLang="en-US" dirty="0"/>
              <a:t>在工业界发展迅速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51521" y="2305989"/>
            <a:ext cx="2283111" cy="938600"/>
          </a:xfrm>
        </p:spPr>
        <p:txBody>
          <a:bodyPr>
            <a:normAutofit/>
          </a:bodyPr>
          <a:lstStyle/>
          <a:p>
            <a:pPr marL="266700" indent="-26670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¯"/>
            </a:pPr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Intel</a:t>
            </a:r>
            <a:r>
              <a:rPr lang="zh-CN" altLang="en-US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SGX/TDX</a:t>
            </a:r>
            <a:endParaRPr lang="zh-CN" altLang="en-US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内容占位符 4"/>
          <p:cNvSpPr txBox="1">
            <a:spLocks/>
          </p:cNvSpPr>
          <p:nvPr/>
        </p:nvSpPr>
        <p:spPr>
          <a:xfrm>
            <a:off x="2362653" y="2297393"/>
            <a:ext cx="2283111" cy="938600"/>
          </a:xfrm>
          <a:prstGeom prst="rect">
            <a:avLst/>
          </a:prstGeom>
        </p:spPr>
        <p:txBody>
          <a:bodyPr vert="horz" lIns="82296" tIns="41148" rIns="82296" bIns="41148" rtlCol="0">
            <a:normAutofit/>
          </a:bodyPr>
          <a:lstStyle>
            <a:lvl1pPr marL="342900" indent="-342900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66700" indent="-26670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¯"/>
            </a:pPr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AMD</a:t>
            </a:r>
            <a:r>
              <a:rPr lang="zh-CN" altLang="en-US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SEV</a:t>
            </a:r>
            <a:endParaRPr lang="zh-CN" altLang="en-US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内容占位符 4"/>
          <p:cNvSpPr txBox="1">
            <a:spLocks/>
          </p:cNvSpPr>
          <p:nvPr/>
        </p:nvSpPr>
        <p:spPr>
          <a:xfrm>
            <a:off x="4194047" y="2299587"/>
            <a:ext cx="2613190" cy="938600"/>
          </a:xfrm>
          <a:prstGeom prst="rect">
            <a:avLst/>
          </a:prstGeom>
        </p:spPr>
        <p:txBody>
          <a:bodyPr vert="horz" lIns="82296" tIns="41148" rIns="82296" bIns="41148" rtlCol="0">
            <a:normAutofit/>
          </a:bodyPr>
          <a:lstStyle>
            <a:lvl1pPr marL="342900" indent="-342900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66700" indent="-26670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¯"/>
            </a:pPr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ARM</a:t>
            </a:r>
            <a:r>
              <a:rPr lang="zh-CN" altLang="en-US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8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TrustZone</a:t>
            </a:r>
            <a:endParaRPr lang="en-US" alt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946" y="1519518"/>
            <a:ext cx="1231583" cy="8171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1751" y="1283926"/>
            <a:ext cx="1532153" cy="114911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7339" y="1129309"/>
            <a:ext cx="1922600" cy="144194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E410C76-7126-D443-8A11-508D1D4934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6843" y="1436025"/>
            <a:ext cx="2554004" cy="870683"/>
          </a:xfrm>
          <a:prstGeom prst="rect">
            <a:avLst/>
          </a:prstGeom>
        </p:spPr>
      </p:pic>
      <p:sp>
        <p:nvSpPr>
          <p:cNvPr id="14" name="内容占位符 4">
            <a:extLst>
              <a:ext uri="{FF2B5EF4-FFF2-40B4-BE49-F238E27FC236}">
                <a16:creationId xmlns:a16="http://schemas.microsoft.com/office/drawing/2014/main" id="{1458050B-EF8B-F248-B1B6-4BE2F817D9BA}"/>
              </a:ext>
            </a:extLst>
          </p:cNvPr>
          <p:cNvSpPr txBox="1">
            <a:spLocks/>
          </p:cNvSpPr>
          <p:nvPr/>
        </p:nvSpPr>
        <p:spPr>
          <a:xfrm>
            <a:off x="6577725" y="2297393"/>
            <a:ext cx="2613190" cy="938600"/>
          </a:xfrm>
          <a:prstGeom prst="rect">
            <a:avLst/>
          </a:prstGeom>
        </p:spPr>
        <p:txBody>
          <a:bodyPr vert="horz" lIns="82296" tIns="41148" rIns="82296" bIns="41148" rtlCol="0">
            <a:normAutofit/>
          </a:bodyPr>
          <a:lstStyle>
            <a:lvl1pPr marL="342900" indent="-342900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66700" indent="-26670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¯"/>
            </a:pPr>
            <a:r>
              <a:rPr lang="en-US" altLang="zh-CN" sz="1800" dirty="0">
                <a:solidFill>
                  <a:schemeClr val="tx2"/>
                </a:solidFill>
                <a:latin typeface="+mn-ea"/>
                <a:ea typeface="+mn-ea"/>
                <a:cs typeface="Arial" panose="020B0604020202020204" pitchFamily="34" charset="0"/>
              </a:rPr>
              <a:t>Keystone</a:t>
            </a:r>
            <a:r>
              <a:rPr lang="zh-CN" altLang="en-US" sz="1800" dirty="0">
                <a:solidFill>
                  <a:schemeClr val="tx2"/>
                </a:solidFill>
                <a:latin typeface="+mn-ea"/>
                <a:ea typeface="+mn-ea"/>
                <a:cs typeface="Arial" panose="020B0604020202020204" pitchFamily="34" charset="0"/>
              </a:rPr>
              <a:t>，蓬莱</a:t>
            </a:r>
            <a:endParaRPr lang="en-US" altLang="zh-CN" sz="1800" dirty="0">
              <a:solidFill>
                <a:schemeClr val="tx2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D9E9E6F-B1EA-3247-AE03-9002D69B7DF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386" t="61606" r="30739" b="8447"/>
          <a:stretch/>
        </p:blipFill>
        <p:spPr>
          <a:xfrm>
            <a:off x="6897293" y="4513684"/>
            <a:ext cx="2041565" cy="581998"/>
          </a:xfrm>
          <a:prstGeom prst="rect">
            <a:avLst/>
          </a:prstGeom>
        </p:spPr>
      </p:pic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353DF332-789C-B145-9572-BEA6E1869A54}"/>
              </a:ext>
            </a:extLst>
          </p:cNvPr>
          <p:cNvSpPr txBox="1">
            <a:spLocks/>
          </p:cNvSpPr>
          <p:nvPr/>
        </p:nvSpPr>
        <p:spPr>
          <a:xfrm>
            <a:off x="457200" y="3001516"/>
            <a:ext cx="8229600" cy="23042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000" dirty="0"/>
              <a:t>多家云厂商利用</a:t>
            </a:r>
            <a:r>
              <a:rPr kumimoji="1" lang="en-US" altLang="zh-CN" sz="2000" dirty="0"/>
              <a:t>TEE/Enclave</a:t>
            </a:r>
            <a:r>
              <a:rPr kumimoji="1" lang="zh-CN" altLang="en-US" sz="2000" dirty="0"/>
              <a:t>保护数据</a:t>
            </a:r>
            <a:endParaRPr kumimoji="1" lang="en-US" altLang="zh-CN" sz="2000" dirty="0"/>
          </a:p>
          <a:p>
            <a:pPr lvl="1"/>
            <a:r>
              <a:rPr kumimoji="1" lang="en-US" altLang="zh-CN" sz="1500" dirty="0"/>
              <a:t>2018</a:t>
            </a:r>
            <a:r>
              <a:rPr kumimoji="1" lang="zh-CN" altLang="en-US" sz="1500" dirty="0"/>
              <a:t>年，</a:t>
            </a:r>
            <a:r>
              <a:rPr kumimoji="1" lang="en-US" altLang="zh-CN" sz="1500" dirty="0"/>
              <a:t>Microsoft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Azure</a:t>
            </a:r>
            <a:r>
              <a:rPr kumimoji="1" lang="zh-CN" altLang="en-US" sz="1500" dirty="0"/>
              <a:t> 基于</a:t>
            </a:r>
            <a:r>
              <a:rPr kumimoji="1" lang="en-US" altLang="zh-CN" sz="1500" dirty="0">
                <a:solidFill>
                  <a:schemeClr val="accent1"/>
                </a:solidFill>
              </a:rPr>
              <a:t>Intel</a:t>
            </a:r>
            <a:r>
              <a:rPr kumimoji="1" lang="zh-CN" altLang="en-US" sz="1500" dirty="0">
                <a:solidFill>
                  <a:schemeClr val="accent1"/>
                </a:solidFill>
              </a:rPr>
              <a:t> </a:t>
            </a:r>
            <a:r>
              <a:rPr kumimoji="1" lang="en-US" altLang="zh-CN" sz="1500" dirty="0">
                <a:solidFill>
                  <a:schemeClr val="accent1"/>
                </a:solidFill>
              </a:rPr>
              <a:t>SGX</a:t>
            </a:r>
            <a:r>
              <a:rPr kumimoji="1" lang="zh-CN" altLang="en-US" sz="1500" dirty="0"/>
              <a:t>推出</a:t>
            </a:r>
            <a:r>
              <a:rPr kumimoji="1" lang="en-US" altLang="zh-CN" sz="1500" dirty="0"/>
              <a:t>Confidential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Computing</a:t>
            </a:r>
          </a:p>
          <a:p>
            <a:pPr lvl="1"/>
            <a:r>
              <a:rPr kumimoji="1" lang="en-US" altLang="zh-CN" sz="1500" dirty="0"/>
              <a:t>2019</a:t>
            </a:r>
            <a:r>
              <a:rPr kumimoji="1" lang="zh-CN" altLang="en-US" sz="1500" dirty="0"/>
              <a:t>年，</a:t>
            </a:r>
            <a:r>
              <a:rPr kumimoji="1" lang="en-US" altLang="zh-CN" sz="1500" dirty="0"/>
              <a:t>Amazon</a:t>
            </a:r>
            <a:r>
              <a:rPr kumimoji="1" lang="zh-CN" altLang="en-US" sz="1500" dirty="0"/>
              <a:t> 推出了</a:t>
            </a:r>
            <a:r>
              <a:rPr kumimoji="1" lang="en-US" altLang="zh-CN" sz="1500" dirty="0">
                <a:solidFill>
                  <a:schemeClr val="accent1"/>
                </a:solidFill>
              </a:rPr>
              <a:t>Nitro</a:t>
            </a:r>
            <a:r>
              <a:rPr kumimoji="1" lang="zh-CN" altLang="en-US" sz="1500" dirty="0">
                <a:solidFill>
                  <a:schemeClr val="accent1"/>
                </a:solidFill>
              </a:rPr>
              <a:t> </a:t>
            </a:r>
            <a:r>
              <a:rPr kumimoji="1" lang="en-US" altLang="zh-CN" sz="1500" dirty="0">
                <a:solidFill>
                  <a:schemeClr val="accent1"/>
                </a:solidFill>
              </a:rPr>
              <a:t>Enclave</a:t>
            </a:r>
            <a:r>
              <a:rPr kumimoji="1" lang="zh-CN" altLang="en-US" sz="1500" dirty="0"/>
              <a:t>保护用户的关键数据</a:t>
            </a:r>
            <a:endParaRPr kumimoji="1" lang="en-US" altLang="zh-CN" sz="1500" dirty="0"/>
          </a:p>
          <a:p>
            <a:pPr lvl="1"/>
            <a:r>
              <a:rPr kumimoji="1" lang="en-US" altLang="zh-CN" sz="1500" dirty="0"/>
              <a:t>2020</a:t>
            </a:r>
            <a:r>
              <a:rPr kumimoji="1" lang="zh-CN" altLang="en-US" sz="1500" dirty="0"/>
              <a:t>年，</a:t>
            </a:r>
            <a:r>
              <a:rPr kumimoji="1" lang="en-US" altLang="zh-CN" sz="1500" dirty="0"/>
              <a:t>Google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Cloud</a:t>
            </a:r>
            <a:r>
              <a:rPr kumimoji="1" lang="zh-CN" altLang="en-US" sz="1500" dirty="0"/>
              <a:t> 基于</a:t>
            </a:r>
            <a:r>
              <a:rPr kumimoji="1" lang="en-US" altLang="zh-CN" sz="1500" dirty="0">
                <a:solidFill>
                  <a:schemeClr val="accent1"/>
                </a:solidFill>
              </a:rPr>
              <a:t>AMD</a:t>
            </a:r>
            <a:r>
              <a:rPr kumimoji="1" lang="zh-CN" altLang="en-US" sz="1500" dirty="0">
                <a:solidFill>
                  <a:schemeClr val="accent1"/>
                </a:solidFill>
              </a:rPr>
              <a:t> </a:t>
            </a:r>
            <a:r>
              <a:rPr kumimoji="1" lang="en-US" altLang="zh-CN" sz="1500" dirty="0">
                <a:solidFill>
                  <a:schemeClr val="accent1"/>
                </a:solidFill>
              </a:rPr>
              <a:t>SEV</a:t>
            </a:r>
            <a:r>
              <a:rPr kumimoji="1" lang="zh-CN" altLang="en-US" sz="1500" dirty="0"/>
              <a:t>推出加密虚拟机</a:t>
            </a:r>
            <a:r>
              <a:rPr kumimoji="1" lang="en-US" altLang="zh-CN" sz="1500" dirty="0"/>
              <a:t>Secure</a:t>
            </a:r>
            <a:r>
              <a:rPr kumimoji="1" lang="zh-CN" altLang="en-US" sz="1500" dirty="0"/>
              <a:t> </a:t>
            </a:r>
            <a:r>
              <a:rPr kumimoji="1" lang="en-US" altLang="zh-CN" sz="1500" dirty="0"/>
              <a:t>VM</a:t>
            </a:r>
            <a:endParaRPr kumimoji="1" lang="zh-CN" altLang="en-US" sz="1500" dirty="0"/>
          </a:p>
          <a:p>
            <a:r>
              <a:rPr lang="en-US" altLang="zh-CN" sz="2000" dirty="0"/>
              <a:t>2019</a:t>
            </a:r>
            <a:r>
              <a:rPr lang="zh-CN" altLang="en-US" sz="2000" dirty="0"/>
              <a:t>年</a:t>
            </a:r>
            <a:r>
              <a:rPr lang="en-US" altLang="zh-CN" sz="2000" dirty="0"/>
              <a:t>8</a:t>
            </a:r>
            <a:r>
              <a:rPr lang="zh-CN" altLang="en-US" sz="2000" dirty="0"/>
              <a:t>月，多家公司成立机密计算联盟</a:t>
            </a:r>
          </a:p>
          <a:p>
            <a:pPr lvl="1"/>
            <a:r>
              <a:rPr kumimoji="1" lang="zh-CN" altLang="en-US" sz="1500" dirty="0"/>
              <a:t>国内公司包括：华为、阿里云、腾讯、百度、字节跳动等</a:t>
            </a:r>
            <a:endParaRPr kumimoji="1" lang="en-US" altLang="zh-CN" sz="1500" dirty="0"/>
          </a:p>
          <a:p>
            <a:pPr lvl="1"/>
            <a:r>
              <a:rPr kumimoji="1" lang="zh-CN" altLang="en-US" sz="1500" dirty="0"/>
              <a:t>国外公司包括：</a:t>
            </a:r>
            <a:r>
              <a:rPr kumimoji="1" lang="en-US" altLang="zh-CN" sz="1500" dirty="0"/>
              <a:t>Arm</a:t>
            </a:r>
            <a:r>
              <a:rPr kumimoji="1" lang="zh-CN" altLang="en-US" sz="1500" dirty="0"/>
              <a:t>、</a:t>
            </a:r>
            <a:r>
              <a:rPr kumimoji="1" lang="en-US" altLang="zh-CN" sz="1500" dirty="0"/>
              <a:t>AMD</a:t>
            </a:r>
            <a:r>
              <a:rPr kumimoji="1" lang="zh-CN" altLang="en-US" sz="1500" dirty="0"/>
              <a:t>、</a:t>
            </a:r>
            <a:r>
              <a:rPr kumimoji="1" lang="en-US" altLang="zh-CN" sz="1500" dirty="0"/>
              <a:t>Intel</a:t>
            </a:r>
            <a:r>
              <a:rPr kumimoji="1" lang="zh-CN" altLang="en-US" sz="1500" dirty="0"/>
              <a:t>、</a:t>
            </a:r>
            <a:r>
              <a:rPr kumimoji="1" lang="en-US" altLang="zh-CN" sz="1500" dirty="0" err="1"/>
              <a:t>Redhat</a:t>
            </a:r>
            <a:r>
              <a:rPr kumimoji="1" lang="zh-CN" altLang="en-US" sz="1500" dirty="0"/>
              <a:t>、</a:t>
            </a:r>
            <a:r>
              <a:rPr kumimoji="1" lang="en-US" altLang="zh-CN" sz="1500" dirty="0"/>
              <a:t>Facebook</a:t>
            </a:r>
            <a:r>
              <a:rPr kumimoji="1" lang="zh-CN" altLang="en-US" sz="1500" dirty="0"/>
              <a:t>、</a:t>
            </a:r>
            <a:r>
              <a:rPr kumimoji="1" lang="en-US" altLang="zh-CN" sz="1500" dirty="0"/>
              <a:t>Google</a:t>
            </a:r>
            <a:r>
              <a:rPr kumimoji="1" lang="zh-CN" altLang="en-US" sz="1500" dirty="0"/>
              <a:t>等</a:t>
            </a:r>
            <a:endParaRPr kumimoji="1" lang="en-US" altLang="zh-CN" sz="1500" dirty="0"/>
          </a:p>
        </p:txBody>
      </p:sp>
    </p:spTree>
    <p:extLst>
      <p:ext uri="{BB962C8B-B14F-4D97-AF65-F5344CB8AC3E}">
        <p14:creationId xmlns:p14="http://schemas.microsoft.com/office/powerpoint/2010/main" val="14285415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E7898-72AC-384A-82C3-AA2BA1A8E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硬件</a:t>
            </a:r>
            <a:r>
              <a:rPr kumimoji="1" lang="en-US" altLang="zh-CN" dirty="0"/>
              <a:t>Enclave</a:t>
            </a:r>
            <a:r>
              <a:rPr kumimoji="1" lang="zh-CN" altLang="en-US" dirty="0"/>
              <a:t>提供不同粒度的隔离环境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4F2942-6C60-5846-B252-2A6FDF5A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AEDD9ED-B8BD-A648-9CA8-7F73366CD9A0}"/>
              </a:ext>
            </a:extLst>
          </p:cNvPr>
          <p:cNvSpPr txBox="1"/>
          <p:nvPr/>
        </p:nvSpPr>
        <p:spPr>
          <a:xfrm>
            <a:off x="3723370" y="1345335"/>
            <a:ext cx="1274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defTabSz="685773">
              <a:defRPr/>
            </a:pPr>
            <a:r>
              <a:rPr lang="zh-CN" altLang="en-US" sz="1400" b="1" kern="0" dirty="0">
                <a:latin typeface="+mn-ea"/>
                <a:ea typeface="+mn-ea"/>
                <a:cs typeface="Arial" panose="020B0604020202020204" pitchFamily="34" charset="0"/>
              </a:rPr>
              <a:t>容器抽象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02FC9CD-7D4B-6143-B95C-3EEE1151F531}"/>
              </a:ext>
            </a:extLst>
          </p:cNvPr>
          <p:cNvSpPr txBox="1"/>
          <p:nvPr/>
        </p:nvSpPr>
        <p:spPr>
          <a:xfrm>
            <a:off x="2195736" y="1345336"/>
            <a:ext cx="1158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defTabSz="685773">
              <a:defRPr/>
            </a:pPr>
            <a:r>
              <a:rPr lang="zh-CN" altLang="en-US" sz="1400" b="1" kern="0" dirty="0">
                <a:latin typeface="+mn-ea"/>
                <a:ea typeface="+mn-ea"/>
                <a:cs typeface="Arial" panose="020B0604020202020204" pitchFamily="34" charset="0"/>
              </a:rPr>
              <a:t>应用抽象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9C422BC-A11E-2E4C-A242-F60FA5287A79}"/>
              </a:ext>
            </a:extLst>
          </p:cNvPr>
          <p:cNvSpPr txBox="1"/>
          <p:nvPr/>
        </p:nvSpPr>
        <p:spPr>
          <a:xfrm>
            <a:off x="539552" y="1345333"/>
            <a:ext cx="1274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defTabSz="685773">
              <a:defRPr/>
            </a:pPr>
            <a:r>
              <a:rPr lang="zh-CN" altLang="en-US" sz="1400" b="1" kern="0" dirty="0">
                <a:latin typeface="+mn-ea"/>
                <a:ea typeface="+mn-ea"/>
                <a:cs typeface="Arial" panose="020B0604020202020204" pitchFamily="34" charset="0"/>
              </a:rPr>
              <a:t>应用片段抽象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AE7FBBE-249D-AF4D-9616-317301B3705D}"/>
              </a:ext>
            </a:extLst>
          </p:cNvPr>
          <p:cNvSpPr txBox="1"/>
          <p:nvPr/>
        </p:nvSpPr>
        <p:spPr>
          <a:xfrm>
            <a:off x="7242773" y="1345333"/>
            <a:ext cx="1139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+mn-ea"/>
                <a:cs typeface="Arial" panose="020B0604020202020204" pitchFamily="34" charset="0"/>
              </a:rPr>
              <a:t>物理机抽象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90716BBA-E844-5B49-BC05-B7D693864978}"/>
              </a:ext>
            </a:extLst>
          </p:cNvPr>
          <p:cNvSpPr txBox="1"/>
          <p:nvPr/>
        </p:nvSpPr>
        <p:spPr>
          <a:xfrm>
            <a:off x="5377046" y="1345334"/>
            <a:ext cx="1139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+mn-ea"/>
                <a:cs typeface="Arial" panose="020B0604020202020204" pitchFamily="34" charset="0"/>
              </a:rPr>
              <a:t>虚拟机抽象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E02E5E1-3F05-0F4F-91BC-58C92DD236F8}"/>
              </a:ext>
            </a:extLst>
          </p:cNvPr>
          <p:cNvSpPr/>
          <p:nvPr/>
        </p:nvSpPr>
        <p:spPr>
          <a:xfrm>
            <a:off x="824198" y="1876188"/>
            <a:ext cx="720080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可信部分</a:t>
            </a:r>
            <a:endParaRPr kumimoji="1" lang="en-US" altLang="zh-CN" sz="1000" dirty="0">
              <a:solidFill>
                <a:schemeClr val="tx1"/>
              </a:solidFill>
            </a:endParaRPr>
          </a:p>
          <a:p>
            <a:pPr algn="ctr"/>
            <a:endParaRPr kumimoji="1" lang="en-US" altLang="zh-CN" sz="1000" dirty="0">
              <a:solidFill>
                <a:schemeClr val="tx1"/>
              </a:solidFill>
            </a:endParaRPr>
          </a:p>
          <a:p>
            <a:pPr algn="ctr"/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BF9169DA-93EA-7640-97E9-F6D7498E3550}"/>
              </a:ext>
            </a:extLst>
          </p:cNvPr>
          <p:cNvSpPr/>
          <p:nvPr/>
        </p:nvSpPr>
        <p:spPr>
          <a:xfrm>
            <a:off x="821798" y="2575102"/>
            <a:ext cx="720080" cy="28803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客户</a:t>
            </a:r>
            <a:r>
              <a:rPr kumimoji="1" lang="en-US" altLang="zh-CN" sz="1000" dirty="0">
                <a:solidFill>
                  <a:schemeClr val="tx1"/>
                </a:solidFill>
              </a:rPr>
              <a:t>OS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35CA1D1C-4F9F-9443-95F5-AFE19E0C4AEE}"/>
              </a:ext>
            </a:extLst>
          </p:cNvPr>
          <p:cNvSpPr/>
          <p:nvPr/>
        </p:nvSpPr>
        <p:spPr>
          <a:xfrm>
            <a:off x="715325" y="1765159"/>
            <a:ext cx="932353" cy="121202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0CD1C9D5-96A5-D149-A841-51D03C6F1263}"/>
              </a:ext>
            </a:extLst>
          </p:cNvPr>
          <p:cNvSpPr/>
          <p:nvPr/>
        </p:nvSpPr>
        <p:spPr>
          <a:xfrm>
            <a:off x="715325" y="3464200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  <a:latin typeface="+mn-ea"/>
              </a:rPr>
              <a:t>硬件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57ED01A2-ED63-D64A-862E-9D0715CCDB71}"/>
              </a:ext>
            </a:extLst>
          </p:cNvPr>
          <p:cNvSpPr/>
          <p:nvPr/>
        </p:nvSpPr>
        <p:spPr>
          <a:xfrm>
            <a:off x="4003263" y="1871190"/>
            <a:ext cx="333209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1C363AEC-F70C-9B44-8946-3CFB92E774AB}"/>
              </a:ext>
            </a:extLst>
          </p:cNvPr>
          <p:cNvSpPr/>
          <p:nvPr/>
        </p:nvSpPr>
        <p:spPr>
          <a:xfrm>
            <a:off x="4000862" y="2570104"/>
            <a:ext cx="720080" cy="28803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客户</a:t>
            </a:r>
            <a:r>
              <a:rPr kumimoji="1" lang="en-US" altLang="zh-CN" sz="1000" dirty="0">
                <a:solidFill>
                  <a:schemeClr val="tx1"/>
                </a:solidFill>
              </a:rPr>
              <a:t>OS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D5E13FAF-88B6-2341-9D9A-13537A27B5CE}"/>
              </a:ext>
            </a:extLst>
          </p:cNvPr>
          <p:cNvSpPr/>
          <p:nvPr/>
        </p:nvSpPr>
        <p:spPr>
          <a:xfrm>
            <a:off x="3894389" y="1760161"/>
            <a:ext cx="932353" cy="121202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CE6EF310-6BA6-F043-B812-FF020AD13826}"/>
              </a:ext>
            </a:extLst>
          </p:cNvPr>
          <p:cNvSpPr/>
          <p:nvPr/>
        </p:nvSpPr>
        <p:spPr>
          <a:xfrm>
            <a:off x="3894389" y="3459202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  <a:latin typeface="+mn-ea"/>
              </a:rPr>
              <a:t>硬件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706BB9E4-9CE2-3F43-9F7B-85837A5BF5B2}"/>
              </a:ext>
            </a:extLst>
          </p:cNvPr>
          <p:cNvSpPr/>
          <p:nvPr/>
        </p:nvSpPr>
        <p:spPr>
          <a:xfrm>
            <a:off x="4387734" y="1871190"/>
            <a:ext cx="333209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7053CB18-1563-7F47-A38D-C467A96E0CE3}"/>
              </a:ext>
            </a:extLst>
          </p:cNvPr>
          <p:cNvSpPr/>
          <p:nvPr/>
        </p:nvSpPr>
        <p:spPr>
          <a:xfrm>
            <a:off x="2409248" y="2575996"/>
            <a:ext cx="720080" cy="28803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客户</a:t>
            </a:r>
            <a:r>
              <a:rPr kumimoji="1" lang="en-US" altLang="zh-CN" sz="1000" dirty="0">
                <a:solidFill>
                  <a:schemeClr val="tx1"/>
                </a:solidFill>
              </a:rPr>
              <a:t>OS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76A76E4B-92CB-8745-B53F-45EA29E5ADB7}"/>
              </a:ext>
            </a:extLst>
          </p:cNvPr>
          <p:cNvSpPr/>
          <p:nvPr/>
        </p:nvSpPr>
        <p:spPr>
          <a:xfrm>
            <a:off x="2302775" y="1766053"/>
            <a:ext cx="932353" cy="121202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49013DE1-7DA3-B445-AC2E-C324B3E5E82C}"/>
              </a:ext>
            </a:extLst>
          </p:cNvPr>
          <p:cNvSpPr/>
          <p:nvPr/>
        </p:nvSpPr>
        <p:spPr>
          <a:xfrm>
            <a:off x="2302775" y="3465094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  <a:latin typeface="+mn-ea"/>
              </a:rPr>
              <a:t>硬件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BF317806-41A4-7444-BB54-CA7081203C6B}"/>
              </a:ext>
            </a:extLst>
          </p:cNvPr>
          <p:cNvSpPr/>
          <p:nvPr/>
        </p:nvSpPr>
        <p:spPr>
          <a:xfrm>
            <a:off x="801354" y="2216762"/>
            <a:ext cx="82586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000" dirty="0"/>
              <a:t>不可信部分</a:t>
            </a:r>
            <a:endParaRPr lang="zh-CN" altLang="en-US" sz="1000" dirty="0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E3C03834-09C3-5F45-84E3-0E7997CEC594}"/>
              </a:ext>
            </a:extLst>
          </p:cNvPr>
          <p:cNvSpPr/>
          <p:nvPr/>
        </p:nvSpPr>
        <p:spPr>
          <a:xfrm>
            <a:off x="715325" y="3076135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+mn-ea"/>
              </a:rPr>
              <a:t>VMM</a:t>
            </a:r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57AEB3CA-743C-B44C-8202-E14D4147E75F}"/>
              </a:ext>
            </a:extLst>
          </p:cNvPr>
          <p:cNvSpPr/>
          <p:nvPr/>
        </p:nvSpPr>
        <p:spPr>
          <a:xfrm>
            <a:off x="3894389" y="3071137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+mn-ea"/>
              </a:rPr>
              <a:t>VMM</a:t>
            </a:r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8D712A58-4CE6-F542-865C-A8C0926B31D1}"/>
              </a:ext>
            </a:extLst>
          </p:cNvPr>
          <p:cNvSpPr/>
          <p:nvPr/>
        </p:nvSpPr>
        <p:spPr>
          <a:xfrm>
            <a:off x="2302775" y="3077029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+mn-ea"/>
              </a:rPr>
              <a:t>VMM</a:t>
            </a:r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863B6311-9651-6D4D-BFC7-F64CBCE365D0}"/>
              </a:ext>
            </a:extLst>
          </p:cNvPr>
          <p:cNvSpPr/>
          <p:nvPr/>
        </p:nvSpPr>
        <p:spPr>
          <a:xfrm>
            <a:off x="4000862" y="1862965"/>
            <a:ext cx="720080" cy="584863"/>
          </a:xfrm>
          <a:prstGeom prst="rect">
            <a:avLst/>
          </a:prstGeom>
          <a:solidFill>
            <a:srgbClr val="BE384B">
              <a:alpha val="20000"/>
            </a:srgb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EEA000B3-6C1A-3849-AFC2-0DC07EEE2362}"/>
              </a:ext>
            </a:extLst>
          </p:cNvPr>
          <p:cNvSpPr/>
          <p:nvPr/>
        </p:nvSpPr>
        <p:spPr>
          <a:xfrm>
            <a:off x="824198" y="1872631"/>
            <a:ext cx="720080" cy="288032"/>
          </a:xfrm>
          <a:prstGeom prst="rect">
            <a:avLst/>
          </a:prstGeom>
          <a:solidFill>
            <a:srgbClr val="BE384B">
              <a:alpha val="20000"/>
            </a:srgb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9796BFE4-8562-F140-AA2C-25BA00430411}"/>
              </a:ext>
            </a:extLst>
          </p:cNvPr>
          <p:cNvSpPr/>
          <p:nvPr/>
        </p:nvSpPr>
        <p:spPr>
          <a:xfrm>
            <a:off x="5589330" y="1871190"/>
            <a:ext cx="333209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72B509C0-9601-4B43-9691-1EAEAB3C50FB}"/>
              </a:ext>
            </a:extLst>
          </p:cNvPr>
          <p:cNvSpPr/>
          <p:nvPr/>
        </p:nvSpPr>
        <p:spPr>
          <a:xfrm>
            <a:off x="5586929" y="2570104"/>
            <a:ext cx="720080" cy="28803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客户</a:t>
            </a:r>
            <a:r>
              <a:rPr kumimoji="1" lang="en-US" altLang="zh-CN" sz="1000" dirty="0">
                <a:solidFill>
                  <a:schemeClr val="tx1"/>
                </a:solidFill>
              </a:rPr>
              <a:t>OS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328D8833-1DFD-6547-A338-42AC60B9B792}"/>
              </a:ext>
            </a:extLst>
          </p:cNvPr>
          <p:cNvSpPr/>
          <p:nvPr/>
        </p:nvSpPr>
        <p:spPr>
          <a:xfrm>
            <a:off x="5480456" y="1760161"/>
            <a:ext cx="932353" cy="121202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4B99C224-D5BE-AA43-9E1D-89112226DC41}"/>
              </a:ext>
            </a:extLst>
          </p:cNvPr>
          <p:cNvSpPr/>
          <p:nvPr/>
        </p:nvSpPr>
        <p:spPr>
          <a:xfrm>
            <a:off x="5480456" y="3459202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  <a:latin typeface="+mn-ea"/>
              </a:rPr>
              <a:t>硬件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26BF2A6-2D1B-AF47-840A-96BFF73CC220}"/>
              </a:ext>
            </a:extLst>
          </p:cNvPr>
          <p:cNvSpPr/>
          <p:nvPr/>
        </p:nvSpPr>
        <p:spPr>
          <a:xfrm>
            <a:off x="5973801" y="1871190"/>
            <a:ext cx="333209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EBD934C8-64A1-4F4A-802D-76251E58E053}"/>
              </a:ext>
            </a:extLst>
          </p:cNvPr>
          <p:cNvSpPr/>
          <p:nvPr/>
        </p:nvSpPr>
        <p:spPr>
          <a:xfrm>
            <a:off x="5480456" y="3071137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+mn-ea"/>
              </a:rPr>
              <a:t>VMM</a:t>
            </a:r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BE3459C6-795D-9F45-9919-665580545A9D}"/>
              </a:ext>
            </a:extLst>
          </p:cNvPr>
          <p:cNvSpPr/>
          <p:nvPr/>
        </p:nvSpPr>
        <p:spPr>
          <a:xfrm>
            <a:off x="5480453" y="1760160"/>
            <a:ext cx="932352" cy="1210945"/>
          </a:xfrm>
          <a:prstGeom prst="rect">
            <a:avLst/>
          </a:prstGeom>
          <a:solidFill>
            <a:srgbClr val="BE384B">
              <a:alpha val="20000"/>
            </a:srgb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B2057517-AF38-E54D-9F87-856CDC9D8307}"/>
              </a:ext>
            </a:extLst>
          </p:cNvPr>
          <p:cNvSpPr/>
          <p:nvPr/>
        </p:nvSpPr>
        <p:spPr>
          <a:xfrm>
            <a:off x="7214062" y="1871190"/>
            <a:ext cx="454282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D3343F6-B76E-C74A-9EB8-429D937ABB56}"/>
              </a:ext>
            </a:extLst>
          </p:cNvPr>
          <p:cNvSpPr/>
          <p:nvPr/>
        </p:nvSpPr>
        <p:spPr>
          <a:xfrm>
            <a:off x="7211662" y="2539862"/>
            <a:ext cx="456682" cy="34851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客户</a:t>
            </a:r>
            <a:r>
              <a:rPr kumimoji="1" lang="en-US" altLang="zh-CN" sz="1000" dirty="0">
                <a:solidFill>
                  <a:schemeClr val="tx1"/>
                </a:solidFill>
              </a:rPr>
              <a:t>OS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722FFA37-8521-D348-B661-D5A759E32E6A}"/>
              </a:ext>
            </a:extLst>
          </p:cNvPr>
          <p:cNvSpPr/>
          <p:nvPr/>
        </p:nvSpPr>
        <p:spPr>
          <a:xfrm>
            <a:off x="7147294" y="1760161"/>
            <a:ext cx="593060" cy="121202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49633248-4864-3A4B-9203-250F69A49AE9}"/>
              </a:ext>
            </a:extLst>
          </p:cNvPr>
          <p:cNvSpPr/>
          <p:nvPr/>
        </p:nvSpPr>
        <p:spPr>
          <a:xfrm>
            <a:off x="7147293" y="3459202"/>
            <a:ext cx="133013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A4A5F8F7-F4FE-7742-9F58-AD05AC13BC45}"/>
              </a:ext>
            </a:extLst>
          </p:cNvPr>
          <p:cNvSpPr/>
          <p:nvPr/>
        </p:nvSpPr>
        <p:spPr>
          <a:xfrm>
            <a:off x="7147294" y="3071137"/>
            <a:ext cx="593059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+mn-ea"/>
              </a:rPr>
              <a:t>VMM</a:t>
            </a:r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5086A96C-9D72-004A-A8F0-FD9AD854E26B}"/>
              </a:ext>
            </a:extLst>
          </p:cNvPr>
          <p:cNvSpPr/>
          <p:nvPr/>
        </p:nvSpPr>
        <p:spPr>
          <a:xfrm>
            <a:off x="7951136" y="1871190"/>
            <a:ext cx="454282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070BD541-697D-F34C-9B81-4ADC7C59A11E}"/>
              </a:ext>
            </a:extLst>
          </p:cNvPr>
          <p:cNvSpPr/>
          <p:nvPr/>
        </p:nvSpPr>
        <p:spPr>
          <a:xfrm>
            <a:off x="7948736" y="2539862"/>
            <a:ext cx="456682" cy="34851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客户</a:t>
            </a:r>
            <a:r>
              <a:rPr kumimoji="1" lang="en-US" altLang="zh-CN" sz="1000" dirty="0">
                <a:solidFill>
                  <a:schemeClr val="tx1"/>
                </a:solidFill>
              </a:rPr>
              <a:t>OS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D97C85A1-CFFE-E246-AE91-E44FA5EB549D}"/>
              </a:ext>
            </a:extLst>
          </p:cNvPr>
          <p:cNvSpPr/>
          <p:nvPr/>
        </p:nvSpPr>
        <p:spPr>
          <a:xfrm>
            <a:off x="7884368" y="1760161"/>
            <a:ext cx="593060" cy="121202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019ED72F-27BB-2A42-9883-64F24038BDE1}"/>
              </a:ext>
            </a:extLst>
          </p:cNvPr>
          <p:cNvSpPr/>
          <p:nvPr/>
        </p:nvSpPr>
        <p:spPr>
          <a:xfrm>
            <a:off x="7884368" y="3071137"/>
            <a:ext cx="593059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+mn-ea"/>
              </a:rPr>
              <a:t>VMM</a:t>
            </a:r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D64C107-2C6C-AA4E-9CFC-6D5D415F3491}"/>
              </a:ext>
            </a:extLst>
          </p:cNvPr>
          <p:cNvSpPr/>
          <p:nvPr/>
        </p:nvSpPr>
        <p:spPr>
          <a:xfrm>
            <a:off x="7706574" y="3475330"/>
            <a:ext cx="82586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000" dirty="0">
                <a:solidFill>
                  <a:srgbClr val="000000"/>
                </a:solidFill>
                <a:latin typeface="微软雅黑"/>
              </a:rPr>
              <a:t>不可信硬件</a:t>
            </a:r>
            <a:endParaRPr lang="zh-CN" altLang="en-US" dirty="0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97FC3C93-66D1-5248-B88E-3470E37F719A}"/>
              </a:ext>
            </a:extLst>
          </p:cNvPr>
          <p:cNvSpPr/>
          <p:nvPr/>
        </p:nvSpPr>
        <p:spPr>
          <a:xfrm>
            <a:off x="7105189" y="3475331"/>
            <a:ext cx="6976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000" dirty="0">
                <a:solidFill>
                  <a:srgbClr val="000000"/>
                </a:solidFill>
                <a:latin typeface="微软雅黑"/>
              </a:rPr>
              <a:t>可信硬件</a:t>
            </a:r>
            <a:endParaRPr lang="zh-CN" altLang="en-US" dirty="0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DAEC38CB-B049-E349-B1DC-31FFF81D61F0}"/>
              </a:ext>
            </a:extLst>
          </p:cNvPr>
          <p:cNvSpPr/>
          <p:nvPr/>
        </p:nvSpPr>
        <p:spPr>
          <a:xfrm>
            <a:off x="7148624" y="1760160"/>
            <a:ext cx="591729" cy="1987075"/>
          </a:xfrm>
          <a:prstGeom prst="rect">
            <a:avLst/>
          </a:prstGeom>
          <a:solidFill>
            <a:srgbClr val="BE384B">
              <a:alpha val="20000"/>
            </a:srgb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700E2833-8AE0-A54F-9AE5-10DC9A324A27}"/>
              </a:ext>
            </a:extLst>
          </p:cNvPr>
          <p:cNvCxnSpPr>
            <a:cxnSpLocks/>
          </p:cNvCxnSpPr>
          <p:nvPr/>
        </p:nvCxnSpPr>
        <p:spPr>
          <a:xfrm>
            <a:off x="429402" y="4990940"/>
            <a:ext cx="8285196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矩形 128">
            <a:extLst>
              <a:ext uri="{FF2B5EF4-FFF2-40B4-BE49-F238E27FC236}">
                <a16:creationId xmlns:a16="http://schemas.microsoft.com/office/drawing/2014/main" id="{1B2A48E7-412B-CF42-BE17-87444CED1F01}"/>
              </a:ext>
            </a:extLst>
          </p:cNvPr>
          <p:cNvSpPr/>
          <p:nvPr/>
        </p:nvSpPr>
        <p:spPr>
          <a:xfrm>
            <a:off x="2394392" y="1864868"/>
            <a:ext cx="333209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CBB27131-1CAF-6C46-9BA4-64AE6F2B427D}"/>
              </a:ext>
            </a:extLst>
          </p:cNvPr>
          <p:cNvSpPr/>
          <p:nvPr/>
        </p:nvSpPr>
        <p:spPr>
          <a:xfrm>
            <a:off x="2778863" y="1864868"/>
            <a:ext cx="333209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3E6978C2-B8A7-9D4E-AC7C-105E6CBE8D0E}"/>
              </a:ext>
            </a:extLst>
          </p:cNvPr>
          <p:cNvSpPr/>
          <p:nvPr/>
        </p:nvSpPr>
        <p:spPr>
          <a:xfrm>
            <a:off x="2406905" y="1866226"/>
            <a:ext cx="320696" cy="584863"/>
          </a:xfrm>
          <a:prstGeom prst="rect">
            <a:avLst/>
          </a:prstGeom>
          <a:solidFill>
            <a:srgbClr val="BE384B">
              <a:alpha val="20000"/>
            </a:srgb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E843E1F-2AED-EE43-BFF1-10A91CB50F57}"/>
              </a:ext>
            </a:extLst>
          </p:cNvPr>
          <p:cNvSpPr txBox="1"/>
          <p:nvPr/>
        </p:nvSpPr>
        <p:spPr>
          <a:xfrm>
            <a:off x="848688" y="4820124"/>
            <a:ext cx="3152175" cy="3416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20" b="1" dirty="0">
                <a:solidFill>
                  <a:schemeClr val="accent1"/>
                </a:solidFill>
              </a:rPr>
              <a:t>粒度细：内部简单，但交互复杂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3C0D574-C0DB-B144-B5EF-EBB4EDA17E54}"/>
              </a:ext>
            </a:extLst>
          </p:cNvPr>
          <p:cNvSpPr txBox="1"/>
          <p:nvPr/>
        </p:nvSpPr>
        <p:spPr>
          <a:xfrm>
            <a:off x="5148065" y="4820124"/>
            <a:ext cx="3156175" cy="3416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20" b="1" dirty="0">
                <a:solidFill>
                  <a:schemeClr val="accent1"/>
                </a:solidFill>
              </a:rPr>
              <a:t>粒度粗：交互简单，但内部复杂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6BFBE88-FEFD-214C-97C9-8F8C6966B517}"/>
              </a:ext>
            </a:extLst>
          </p:cNvPr>
          <p:cNvSpPr txBox="1"/>
          <p:nvPr/>
        </p:nvSpPr>
        <p:spPr>
          <a:xfrm>
            <a:off x="395537" y="3934306"/>
            <a:ext cx="1605571" cy="78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algn="just" defTabSz="685773">
              <a:lnSpc>
                <a:spcPct val="130000"/>
              </a:lnSpc>
              <a:defRPr/>
            </a:pPr>
            <a:r>
              <a:rPr lang="en-US" altLang="zh-CN" sz="1200" b="1" kern="0" dirty="0">
                <a:latin typeface="+mn-ea"/>
                <a:ea typeface="+mn-ea"/>
                <a:cs typeface="Arial" panose="020B0604020202020204" pitchFamily="34" charset="0"/>
              </a:rPr>
              <a:t>2015</a:t>
            </a:r>
            <a:r>
              <a:rPr lang="zh-CN" altLang="en-US" sz="1200" b="1" kern="0" dirty="0">
                <a:latin typeface="+mn-ea"/>
                <a:ea typeface="+mn-ea"/>
                <a:cs typeface="Arial" panose="020B0604020202020204" pitchFamily="34" charset="0"/>
              </a:rPr>
              <a:t>年 </a:t>
            </a:r>
            <a:r>
              <a:rPr lang="en-US" altLang="zh-CN" sz="1200" b="1" kern="0" dirty="0">
                <a:latin typeface="+mn-ea"/>
                <a:ea typeface="+mn-ea"/>
                <a:cs typeface="Arial" panose="020B0604020202020204" pitchFamily="34" charset="0"/>
              </a:rPr>
              <a:t>Intel</a:t>
            </a:r>
            <a:r>
              <a:rPr lang="zh-CN" altLang="en-US" sz="1200" b="1" kern="0" dirty="0"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1" kern="0" dirty="0">
                <a:latin typeface="+mn-ea"/>
                <a:ea typeface="+mn-ea"/>
                <a:cs typeface="Arial" panose="020B0604020202020204" pitchFamily="34" charset="0"/>
              </a:rPr>
              <a:t>SGX</a:t>
            </a:r>
          </a:p>
          <a:p>
            <a:pPr algn="just" defTabSz="685773">
              <a:lnSpc>
                <a:spcPct val="130000"/>
              </a:lnSpc>
              <a:defRPr/>
            </a:pPr>
            <a:r>
              <a:rPr lang="zh-CN" altLang="en-US" sz="1200" kern="0" dirty="0">
                <a:latin typeface="+mn-ea"/>
                <a:ea typeface="+mn-ea"/>
                <a:cs typeface="Arial" panose="020B0604020202020204" pitchFamily="34" charset="0"/>
              </a:rPr>
              <a:t>由硬件提供高层次接口，但交互漏洞频频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55091A7-2142-4A4F-9333-3632E6E7863A}"/>
              </a:ext>
            </a:extLst>
          </p:cNvPr>
          <p:cNvSpPr txBox="1"/>
          <p:nvPr/>
        </p:nvSpPr>
        <p:spPr>
          <a:xfrm>
            <a:off x="6910122" y="3940582"/>
            <a:ext cx="1982358" cy="78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algn="just" defTabSz="685773">
              <a:lnSpc>
                <a:spcPct val="130000"/>
              </a:lnSpc>
              <a:defRPr/>
            </a:pPr>
            <a:r>
              <a:rPr lang="en-US" altLang="zh-CN" sz="1200" b="1" kern="0" dirty="0">
                <a:latin typeface="+mn-ea"/>
                <a:ea typeface="+mn-ea"/>
                <a:cs typeface="Arial" panose="020B0604020202020204" pitchFamily="34" charset="0"/>
              </a:rPr>
              <a:t>2003</a:t>
            </a:r>
            <a:r>
              <a:rPr lang="zh-CN" altLang="en-US" sz="1200" b="1" kern="0" dirty="0">
                <a:latin typeface="+mn-ea"/>
                <a:ea typeface="+mn-ea"/>
                <a:cs typeface="Arial" panose="020B0604020202020204" pitchFamily="34" charset="0"/>
              </a:rPr>
              <a:t>年 </a:t>
            </a:r>
            <a:r>
              <a:rPr lang="en-US" altLang="zh-CN" sz="1200" b="1" kern="0" dirty="0">
                <a:latin typeface="+mn-ea"/>
                <a:ea typeface="+mn-ea"/>
                <a:cs typeface="Arial" panose="020B0604020202020204" pitchFamily="34" charset="0"/>
              </a:rPr>
              <a:t>ARM</a:t>
            </a:r>
            <a:r>
              <a:rPr lang="zh-CN" altLang="en-US" sz="1200" b="1" kern="0" dirty="0"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1" kern="0" dirty="0">
                <a:latin typeface="+mn-ea"/>
                <a:ea typeface="+mn-ea"/>
                <a:cs typeface="Arial" panose="020B0604020202020204" pitchFamily="34" charset="0"/>
              </a:rPr>
              <a:t>TrustZone</a:t>
            </a:r>
          </a:p>
          <a:p>
            <a:pPr algn="just" defTabSz="685773">
              <a:lnSpc>
                <a:spcPct val="130000"/>
              </a:lnSpc>
              <a:defRPr/>
            </a:pPr>
            <a:r>
              <a:rPr lang="zh-CN" altLang="en-US" sz="1200" kern="0" dirty="0">
                <a:latin typeface="+mn-ea"/>
                <a:ea typeface="+mn-ea"/>
                <a:cs typeface="Arial" panose="020B0604020202020204" pitchFamily="34" charset="0"/>
              </a:rPr>
              <a:t>由于层次结构复杂，导致内部的软件漏洞不断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A6CA081-F1C9-9744-BBDF-E7082FAF209D}"/>
              </a:ext>
            </a:extLst>
          </p:cNvPr>
          <p:cNvSpPr txBox="1"/>
          <p:nvPr/>
        </p:nvSpPr>
        <p:spPr>
          <a:xfrm>
            <a:off x="2627784" y="3939455"/>
            <a:ext cx="1811996" cy="78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algn="just" defTabSz="685773">
              <a:lnSpc>
                <a:spcPct val="130000"/>
              </a:lnSpc>
              <a:defRPr/>
            </a:pPr>
            <a:r>
              <a:rPr lang="zh-CN" altLang="en-US" sz="1200" kern="0" dirty="0">
                <a:latin typeface="+mn-ea"/>
                <a:ea typeface="+mn-ea"/>
                <a:cs typeface="Arial" panose="020B0604020202020204" pitchFamily="34" charset="0"/>
              </a:rPr>
              <a:t>传统的操作系统隔离环境抽象，高度依赖</a:t>
            </a:r>
            <a:r>
              <a:rPr lang="en-US" altLang="zh-CN" sz="1200" kern="0" dirty="0">
                <a:latin typeface="+mn-ea"/>
                <a:ea typeface="+mn-ea"/>
                <a:cs typeface="Arial" panose="020B0604020202020204" pitchFamily="34" charset="0"/>
              </a:rPr>
              <a:t>OS</a:t>
            </a:r>
            <a:r>
              <a:rPr lang="zh-CN" altLang="en-US" sz="1200" kern="0" dirty="0">
                <a:latin typeface="+mn-ea"/>
                <a:ea typeface="+mn-ea"/>
                <a:cs typeface="Arial" panose="020B0604020202020204" pitchFamily="34" charset="0"/>
              </a:rPr>
              <a:t>语义，硬件不直接参与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6CE14CE-916D-D94E-859F-AA57FFB5BAA4}"/>
              </a:ext>
            </a:extLst>
          </p:cNvPr>
          <p:cNvSpPr txBox="1"/>
          <p:nvPr/>
        </p:nvSpPr>
        <p:spPr>
          <a:xfrm>
            <a:off x="5098812" y="3934306"/>
            <a:ext cx="1705437" cy="54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algn="just" defTabSz="685773">
              <a:lnSpc>
                <a:spcPct val="130000"/>
              </a:lnSpc>
              <a:defRPr/>
            </a:pPr>
            <a:r>
              <a:rPr lang="zh-CN" altLang="en-US" sz="1200" kern="0" dirty="0">
                <a:latin typeface="+mn-ea"/>
                <a:ea typeface="+mn-ea"/>
                <a:cs typeface="Arial" panose="020B0604020202020204" pitchFamily="34" charset="0"/>
              </a:rPr>
              <a:t>在内部复杂性与交互复杂性间寻找平衡点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A0046E50-D6E7-2341-A04C-9626CF9A209B}"/>
              </a:ext>
            </a:extLst>
          </p:cNvPr>
          <p:cNvCxnSpPr>
            <a:cxnSpLocks/>
          </p:cNvCxnSpPr>
          <p:nvPr/>
        </p:nvCxnSpPr>
        <p:spPr>
          <a:xfrm>
            <a:off x="1187624" y="3793604"/>
            <a:ext cx="0" cy="16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67E3FBE1-6545-8048-86BF-51455D8F4BBD}"/>
              </a:ext>
            </a:extLst>
          </p:cNvPr>
          <p:cNvCxnSpPr>
            <a:cxnSpLocks/>
          </p:cNvCxnSpPr>
          <p:nvPr/>
        </p:nvCxnSpPr>
        <p:spPr>
          <a:xfrm>
            <a:off x="2768950" y="3781119"/>
            <a:ext cx="144016" cy="16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F3F9DA77-A6A1-F949-A52C-D1311CCB4E0F}"/>
              </a:ext>
            </a:extLst>
          </p:cNvPr>
          <p:cNvCxnSpPr>
            <a:cxnSpLocks/>
          </p:cNvCxnSpPr>
          <p:nvPr/>
        </p:nvCxnSpPr>
        <p:spPr>
          <a:xfrm flipH="1">
            <a:off x="4233918" y="3781119"/>
            <a:ext cx="126647" cy="16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7885C69-A0B9-DA47-9306-60B11A830F0F}"/>
              </a:ext>
            </a:extLst>
          </p:cNvPr>
          <p:cNvCxnSpPr>
            <a:cxnSpLocks/>
          </p:cNvCxnSpPr>
          <p:nvPr/>
        </p:nvCxnSpPr>
        <p:spPr>
          <a:xfrm>
            <a:off x="5946629" y="3781119"/>
            <a:ext cx="0" cy="16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407F742A-AFC9-414D-A7B3-D4A264F78A2C}"/>
              </a:ext>
            </a:extLst>
          </p:cNvPr>
          <p:cNvCxnSpPr>
            <a:cxnSpLocks/>
          </p:cNvCxnSpPr>
          <p:nvPr/>
        </p:nvCxnSpPr>
        <p:spPr>
          <a:xfrm>
            <a:off x="7812358" y="3781119"/>
            <a:ext cx="0" cy="16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9850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60B59D8-F699-0449-91D8-2050F4E2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Enclave</a:t>
            </a:r>
            <a:r>
              <a:rPr kumimoji="1" lang="zh-CN" altLang="en-US" dirty="0"/>
              <a:t>案例分析：</a:t>
            </a:r>
            <a:r>
              <a:rPr kumimoji="1" lang="en-US" altLang="zh-CN" dirty="0"/>
              <a:t>Intel</a:t>
            </a:r>
            <a:r>
              <a:rPr kumimoji="1" lang="zh-CN" altLang="en-US" dirty="0"/>
              <a:t> </a:t>
            </a:r>
            <a:r>
              <a:rPr kumimoji="1" lang="en-US" altLang="zh-CN" dirty="0"/>
              <a:t>SGX</a:t>
            </a:r>
            <a:endParaRPr kumimoji="1"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BE424B2-B4C6-5E40-B258-2C2E17AE6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DDE351-8C4F-1549-BF37-66DF01F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ACFC59-3E2B-1846-8EB2-7A50DE080F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5561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66632CB8-7350-FC47-8EB7-D0020D012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Intel</a:t>
            </a:r>
            <a:r>
              <a:rPr kumimoji="1" lang="zh-CN" altLang="en-US" dirty="0"/>
              <a:t> </a:t>
            </a:r>
            <a:r>
              <a:rPr kumimoji="1" lang="en-US" altLang="zh-CN" dirty="0"/>
              <a:t>SGX</a:t>
            </a:r>
            <a:endParaRPr kumimoji="1"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4315016D-FB47-FF45-A25C-B1347908F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SGX:</a:t>
            </a:r>
            <a:r>
              <a:rPr kumimoji="1" lang="zh-CN" altLang="en-US" dirty="0"/>
              <a:t> </a:t>
            </a:r>
            <a:r>
              <a:rPr kumimoji="1" lang="en-US" altLang="zh-CN" dirty="0"/>
              <a:t>Software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Guard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eXtension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2015</a:t>
            </a:r>
            <a:r>
              <a:rPr kumimoji="1" lang="zh-CN" altLang="en-US" dirty="0"/>
              <a:t>年首次引入</a:t>
            </a:r>
            <a:r>
              <a:rPr kumimoji="1" lang="en-US" altLang="zh-CN" dirty="0"/>
              <a:t>Intel</a:t>
            </a:r>
            <a:r>
              <a:rPr kumimoji="1" lang="zh-CN" altLang="en-US" dirty="0"/>
              <a:t> </a:t>
            </a:r>
            <a:r>
              <a:rPr kumimoji="1" lang="en-US" altLang="zh-CN" dirty="0"/>
              <a:t>Skylake</a:t>
            </a:r>
            <a:r>
              <a:rPr kumimoji="1" lang="zh-CN" altLang="en-US" dirty="0"/>
              <a:t>架构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保护程序和代码在运行时的安全（</a:t>
            </a:r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in-run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其他安全包括：存储时安全和传输时安全</a:t>
            </a:r>
            <a:endParaRPr kumimoji="1" lang="en-US" altLang="zh-CN" dirty="0"/>
          </a:p>
          <a:p>
            <a:r>
              <a:rPr kumimoji="1" lang="zh-CN" altLang="en-US" dirty="0"/>
              <a:t>关键技术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Enclave</a:t>
            </a:r>
            <a:r>
              <a:rPr kumimoji="1" lang="zh-CN" altLang="en-US" dirty="0"/>
              <a:t>内部与外部的隔离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内存加密与完整性保护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远程验证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6E3206-C50E-2846-B816-6B2F0E234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12BA8D-37AF-DF48-B3FC-7F142CF88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72188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C111E-4ECD-DE4B-80B5-4E520ADF0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硬件内存加密与保护机制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1325AF-1AA6-304A-A8B3-21670F1B1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硬件加密保护隐私性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外皆为密文，包括内存、存储、网络等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内部为明文，包括各级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与寄存器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数据进出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时，由进行加密和解密操作</a:t>
            </a:r>
            <a:endParaRPr kumimoji="1" lang="en-US" altLang="zh-CN" dirty="0"/>
          </a:p>
          <a:p>
            <a:r>
              <a:rPr kumimoji="1" lang="zh-CN" altLang="en-US" dirty="0"/>
              <a:t>硬件</a:t>
            </a:r>
            <a:r>
              <a:rPr kumimoji="1" lang="en-US" altLang="zh-CN" dirty="0"/>
              <a:t>Merkle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保护完整性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对内存中数据计算一级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，对一级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计算二级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，形成树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内部仅保存</a:t>
            </a:r>
            <a:r>
              <a:rPr kumimoji="1" lang="en-US" altLang="zh-CN" dirty="0"/>
              <a:t>root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，其它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保存在不可信的内存中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当内存中的数据被修改时，更新</a:t>
            </a:r>
            <a:r>
              <a:rPr kumimoji="1" lang="en-US" altLang="zh-CN" dirty="0"/>
              <a:t>Merkle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EB3EF0-B8FB-1346-B5E1-A660F16EA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5ABBF-D54D-564F-8AA6-1F00114E2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27174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A614DE-BDEA-054F-9223-9E9DB1465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EPC</a:t>
            </a:r>
            <a:r>
              <a:rPr kumimoji="1" lang="zh-CN" altLang="en-US" dirty="0"/>
              <a:t>（</a:t>
            </a:r>
            <a:r>
              <a:rPr kumimoji="1" lang="en-US" altLang="zh-CN" dirty="0"/>
              <a:t>Enclave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7308D2-CD3D-3442-9AC5-69551A177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预留一部分内存，仅允许</a:t>
            </a:r>
            <a:r>
              <a:rPr kumimoji="1" lang="en-US" altLang="zh-CN" dirty="0"/>
              <a:t>Enclave</a:t>
            </a:r>
            <a:r>
              <a:rPr kumimoji="1" lang="zh-CN" altLang="en-US" dirty="0"/>
              <a:t>访问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连续的</a:t>
            </a:r>
            <a:r>
              <a:rPr kumimoji="1" lang="en-US" altLang="zh-CN" dirty="0"/>
              <a:t>128MB/256MB</a:t>
            </a:r>
            <a:r>
              <a:rPr kumimoji="1" lang="zh-CN" altLang="en-US" dirty="0"/>
              <a:t>，这部分不会暴露给软件操作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全部加密，并保证数据的完整性（即无法篡改）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可能的篡改方法：通过总线直接修改</a:t>
            </a:r>
            <a:endParaRPr kumimoji="1" lang="en-US" altLang="zh-CN" dirty="0"/>
          </a:p>
          <a:p>
            <a:r>
              <a:rPr kumimoji="1" lang="zh-CN" altLang="en-US" dirty="0"/>
              <a:t>操作系统负责将</a:t>
            </a:r>
            <a:r>
              <a:rPr kumimoji="1" lang="en-US" altLang="zh-CN" dirty="0"/>
              <a:t>EPC</a:t>
            </a:r>
            <a:r>
              <a:rPr kumimoji="1" lang="zh-CN" altLang="en-US" dirty="0"/>
              <a:t>映射至</a:t>
            </a:r>
            <a:r>
              <a:rPr kumimoji="1" lang="en-US" altLang="zh-CN" dirty="0"/>
              <a:t>Enclave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操作系统也可以触发</a:t>
            </a:r>
            <a:r>
              <a:rPr kumimoji="1" lang="en-US" altLang="zh-CN" dirty="0"/>
              <a:t>swap</a:t>
            </a:r>
            <a:r>
              <a:rPr kumimoji="1" lang="zh-CN" altLang="en-US" dirty="0"/>
              <a:t>，将数据从</a:t>
            </a:r>
            <a:r>
              <a:rPr kumimoji="1" lang="en-US" altLang="zh-CN" dirty="0"/>
              <a:t>EPC</a:t>
            </a:r>
            <a:r>
              <a:rPr kumimoji="1" lang="zh-CN" altLang="en-US" dirty="0"/>
              <a:t>交换到</a:t>
            </a:r>
            <a:r>
              <a:rPr kumimoji="1" lang="en-US" altLang="zh-CN" dirty="0"/>
              <a:t>DRAM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由专门的硬件指令来进行</a:t>
            </a:r>
            <a:r>
              <a:rPr kumimoji="1" lang="en-US" altLang="zh-CN" dirty="0"/>
              <a:t>swap</a:t>
            </a:r>
            <a:r>
              <a:rPr kumimoji="1" lang="zh-CN" altLang="en-US" dirty="0"/>
              <a:t>，粒度为一个内存页（</a:t>
            </a:r>
            <a:r>
              <a:rPr kumimoji="1" lang="en-US" altLang="zh-CN" dirty="0"/>
              <a:t>4K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注意：页表依然由不可信的操作系统控制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ABD862-F832-A749-9EBF-BE37422F4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115C11-1E75-2443-A8DE-29F1B69D5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75450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8C0CD-6BEC-8046-8F10-1D9D9EAF9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Enclave</a:t>
            </a:r>
            <a:r>
              <a:rPr kumimoji="1" lang="zh-CN" altLang="en-US" dirty="0"/>
              <a:t>与进程的关系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8980B2-5917-654B-88C3-93D7BB7BA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4906888" cy="3900263"/>
          </a:xfrm>
        </p:spPr>
        <p:txBody>
          <a:bodyPr>
            <a:normAutofit lnSpcReduction="10000"/>
          </a:bodyPr>
          <a:lstStyle/>
          <a:p>
            <a:r>
              <a:rPr kumimoji="1" lang="en-US" altLang="zh-CN" sz="1800" dirty="0"/>
              <a:t>Enclave</a:t>
            </a:r>
            <a:r>
              <a:rPr kumimoji="1" lang="zh-CN" altLang="en-US" sz="1800" dirty="0"/>
              <a:t>是进程的一部分</a:t>
            </a:r>
            <a:endParaRPr kumimoji="1" lang="en-US" altLang="zh-CN" sz="1800" dirty="0"/>
          </a:p>
          <a:p>
            <a:pPr lvl="1"/>
            <a:r>
              <a:rPr kumimoji="1" lang="en-US" altLang="zh-CN" sz="1600" dirty="0"/>
              <a:t>Enclave</a:t>
            </a:r>
            <a:r>
              <a:rPr kumimoji="1" lang="zh-CN" altLang="en-US" sz="1600" dirty="0"/>
              <a:t>内外共享一个虚拟地址空间</a:t>
            </a:r>
            <a:endParaRPr kumimoji="1" lang="en-US" altLang="zh-CN" sz="1600" dirty="0"/>
          </a:p>
          <a:p>
            <a:pPr lvl="1"/>
            <a:r>
              <a:rPr kumimoji="1" lang="en-US" altLang="zh-CN" sz="1600" dirty="0"/>
              <a:t>Enclave</a:t>
            </a:r>
            <a:r>
              <a:rPr kumimoji="1" lang="zh-CN" altLang="en-US" sz="1600" dirty="0"/>
              <a:t>内部可以访问外部的内存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反之则不行</a:t>
            </a:r>
            <a:endParaRPr kumimoji="1" lang="en-US" altLang="zh-CN" sz="1600" dirty="0"/>
          </a:p>
          <a:p>
            <a:r>
              <a:rPr kumimoji="1" lang="zh-CN" altLang="en-US" sz="1800" dirty="0"/>
              <a:t>创建</a:t>
            </a:r>
            <a:r>
              <a:rPr kumimoji="1" lang="en-US" altLang="zh-CN" sz="1800" dirty="0"/>
              <a:t>Enclave</a:t>
            </a:r>
            <a:r>
              <a:rPr kumimoji="1" lang="zh-CN" altLang="en-US" sz="1800" dirty="0"/>
              <a:t>的过程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sz="1600" dirty="0"/>
              <a:t>OS</a:t>
            </a:r>
            <a:r>
              <a:rPr kumimoji="1" lang="zh-CN" altLang="en-US" sz="1600" dirty="0"/>
              <a:t>创建进程</a:t>
            </a:r>
            <a:endParaRPr kumimoji="1"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sz="1600" dirty="0"/>
              <a:t>OS</a:t>
            </a:r>
            <a:r>
              <a:rPr kumimoji="1" lang="zh-CN" altLang="en-US" sz="1600" dirty="0"/>
              <a:t>分配虚拟地址空间</a:t>
            </a:r>
            <a:endParaRPr kumimoji="1"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sz="1600" dirty="0"/>
              <a:t>OS</a:t>
            </a:r>
            <a:r>
              <a:rPr kumimoji="1" lang="zh-CN" altLang="en-US" sz="1600" dirty="0"/>
              <a:t>将</a:t>
            </a:r>
            <a:r>
              <a:rPr kumimoji="1" lang="en-US" altLang="zh-CN" sz="1600" dirty="0"/>
              <a:t>Enclave</a:t>
            </a:r>
            <a:r>
              <a:rPr kumimoji="1" lang="zh-CN" altLang="en-US" sz="1600" dirty="0"/>
              <a:t>的</a:t>
            </a:r>
            <a:r>
              <a:rPr kumimoji="1" lang="en-US" altLang="zh-CN" sz="1600" dirty="0"/>
              <a:t>code</a:t>
            </a:r>
            <a:r>
              <a:rPr kumimoji="1" lang="zh-CN" altLang="en-US" sz="1600" dirty="0"/>
              <a:t>加载到</a:t>
            </a:r>
            <a:r>
              <a:rPr kumimoji="1" lang="en-US" altLang="zh-CN" sz="1600" dirty="0"/>
              <a:t>EPC</a:t>
            </a:r>
            <a:r>
              <a:rPr kumimoji="1" lang="zh-CN" altLang="en-US" sz="1600" dirty="0"/>
              <a:t>中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并将</a:t>
            </a:r>
            <a:r>
              <a:rPr kumimoji="1" lang="en-US" altLang="zh-CN" sz="1600" dirty="0"/>
              <a:t>EPC</a:t>
            </a:r>
            <a:r>
              <a:rPr kumimoji="1" lang="zh-CN" altLang="en-US" sz="1600" dirty="0"/>
              <a:t>映射到</a:t>
            </a:r>
            <a:r>
              <a:rPr kumimoji="1" lang="en-US" altLang="zh-CN" sz="1600" dirty="0"/>
              <a:t>Enclave</a:t>
            </a:r>
            <a:r>
              <a:rPr kumimoji="1" lang="zh-CN" altLang="en-US" sz="1600" dirty="0"/>
              <a:t>的虚拟地址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循环</a:t>
            </a:r>
            <a:r>
              <a:rPr kumimoji="1" lang="en-US" altLang="zh-CN" sz="1600" dirty="0"/>
              <a:t>3</a:t>
            </a:r>
            <a:r>
              <a:rPr kumimoji="1" lang="zh-CN" altLang="en-US" sz="1600" dirty="0"/>
              <a:t>，完成所有</a:t>
            </a:r>
            <a:r>
              <a:rPr kumimoji="1" lang="en-US" altLang="zh-CN" sz="1600" dirty="0"/>
              <a:t>code</a:t>
            </a:r>
            <a:r>
              <a:rPr kumimoji="1" lang="zh-CN" altLang="en-US" sz="1600" dirty="0"/>
              <a:t>加载和映射</a:t>
            </a:r>
            <a:endParaRPr kumimoji="1"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600" dirty="0"/>
              <a:t>完成进程创建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422488-341A-D843-BD34-B06E1FCE2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FB2AFA-D19E-2B4C-8C76-638937421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E11999-B79E-9F4B-A1C0-240E64DA5B9B}"/>
              </a:ext>
            </a:extLst>
          </p:cNvPr>
          <p:cNvSpPr/>
          <p:nvPr/>
        </p:nvSpPr>
        <p:spPr>
          <a:xfrm>
            <a:off x="5652120" y="1489347"/>
            <a:ext cx="1584176" cy="34563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656B9F-0A90-4047-8585-3519B8B9C637}"/>
              </a:ext>
            </a:extLst>
          </p:cNvPr>
          <p:cNvSpPr/>
          <p:nvPr/>
        </p:nvSpPr>
        <p:spPr>
          <a:xfrm>
            <a:off x="5796136" y="1641747"/>
            <a:ext cx="1296144" cy="5554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OS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FC0718-3FE0-394A-AF61-F7631F7B5918}"/>
              </a:ext>
            </a:extLst>
          </p:cNvPr>
          <p:cNvSpPr/>
          <p:nvPr/>
        </p:nvSpPr>
        <p:spPr>
          <a:xfrm>
            <a:off x="5796136" y="3158558"/>
            <a:ext cx="1296144" cy="55544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Enclave</a:t>
            </a:r>
            <a:endParaRPr kumimoji="1" lang="zh-CN" altLang="en-US" sz="1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EBD464-F7CC-E34A-B258-DC24203B254F}"/>
              </a:ext>
            </a:extLst>
          </p:cNvPr>
          <p:cNvSpPr/>
          <p:nvPr/>
        </p:nvSpPr>
        <p:spPr>
          <a:xfrm>
            <a:off x="5796136" y="3712275"/>
            <a:ext cx="1296144" cy="5554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App</a:t>
            </a:r>
            <a:r>
              <a:rPr kumimoji="1" lang="zh-CN" altLang="en-US" sz="1600" dirty="0">
                <a:solidFill>
                  <a:schemeClr val="accent1"/>
                </a:solidFill>
              </a:rPr>
              <a:t> </a:t>
            </a:r>
            <a:r>
              <a:rPr kumimoji="1" lang="en-US" altLang="zh-CN" sz="1600" dirty="0">
                <a:solidFill>
                  <a:schemeClr val="accent1"/>
                </a:solidFill>
              </a:rPr>
              <a:t>Data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2C5E04-58F7-9C4B-81AB-BB946BC3F979}"/>
              </a:ext>
            </a:extLst>
          </p:cNvPr>
          <p:cNvSpPr/>
          <p:nvPr/>
        </p:nvSpPr>
        <p:spPr>
          <a:xfrm>
            <a:off x="5796136" y="4267724"/>
            <a:ext cx="1296144" cy="5554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App</a:t>
            </a:r>
            <a:r>
              <a:rPr kumimoji="1" lang="zh-CN" altLang="en-US" sz="1600" dirty="0">
                <a:solidFill>
                  <a:schemeClr val="accent1"/>
                </a:solidFill>
              </a:rPr>
              <a:t> </a:t>
            </a:r>
            <a:r>
              <a:rPr kumimoji="1" lang="en-US" altLang="zh-CN" sz="1600" dirty="0">
                <a:solidFill>
                  <a:schemeClr val="accent1"/>
                </a:solidFill>
              </a:rPr>
              <a:t>Code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16D55C4-8BB8-4541-93BF-5F5EE18115DC}"/>
              </a:ext>
            </a:extLst>
          </p:cNvPr>
          <p:cNvSpPr/>
          <p:nvPr/>
        </p:nvSpPr>
        <p:spPr>
          <a:xfrm>
            <a:off x="7620000" y="2379961"/>
            <a:ext cx="1296144" cy="244321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/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A44A0CE2-1DAE-1645-9863-514C980BBBCB}"/>
              </a:ext>
            </a:extLst>
          </p:cNvPr>
          <p:cNvCxnSpPr/>
          <p:nvPr/>
        </p:nvCxnSpPr>
        <p:spPr>
          <a:xfrm flipV="1">
            <a:off x="7092280" y="2379961"/>
            <a:ext cx="527720" cy="778597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AF729EC0-E1DC-5843-978E-2BD82756A839}"/>
              </a:ext>
            </a:extLst>
          </p:cNvPr>
          <p:cNvCxnSpPr/>
          <p:nvPr/>
        </p:nvCxnSpPr>
        <p:spPr>
          <a:xfrm>
            <a:off x="7092280" y="3712275"/>
            <a:ext cx="527720" cy="1109166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535EDA3-C9BB-FA43-8EC1-0B289DC99E7A}"/>
              </a:ext>
            </a:extLst>
          </p:cNvPr>
          <p:cNvSpPr/>
          <p:nvPr/>
        </p:nvSpPr>
        <p:spPr>
          <a:xfrm>
            <a:off x="7739980" y="2546864"/>
            <a:ext cx="1080492" cy="5554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Enclave</a:t>
            </a:r>
          </a:p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Code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FA9F651-BEB2-8048-8241-DD8BBFE1A03B}"/>
              </a:ext>
            </a:extLst>
          </p:cNvPr>
          <p:cNvSpPr/>
          <p:nvPr/>
        </p:nvSpPr>
        <p:spPr>
          <a:xfrm>
            <a:off x="7739980" y="3094139"/>
            <a:ext cx="1080492" cy="5554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Enclave</a:t>
            </a:r>
          </a:p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Data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CCC464F-67CC-0246-8D5C-66492D910CC9}"/>
              </a:ext>
            </a:extLst>
          </p:cNvPr>
          <p:cNvSpPr/>
          <p:nvPr/>
        </p:nvSpPr>
        <p:spPr>
          <a:xfrm>
            <a:off x="7727826" y="4118704"/>
            <a:ext cx="1080492" cy="5554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Metadata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4945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B07F2224-0EF7-9D44-96DE-F45B54B50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远程验证（</a:t>
            </a:r>
            <a:r>
              <a:rPr lang="en-US" altLang="zh-CN" dirty="0"/>
              <a:t>Remote</a:t>
            </a:r>
            <a:r>
              <a:rPr lang="zh-CN" altLang="en-US" dirty="0"/>
              <a:t> </a:t>
            </a:r>
            <a:r>
              <a:rPr lang="en-US" altLang="zh-CN" dirty="0"/>
              <a:t>Attestation</a:t>
            </a:r>
            <a:r>
              <a:rPr lang="zh-CN" altLang="en-US" dirty="0"/>
              <a:t>）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250335A-1B78-7A45-961F-662ABDC1E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1740023"/>
          </a:xfrm>
        </p:spPr>
        <p:txBody>
          <a:bodyPr/>
          <a:lstStyle/>
          <a:p>
            <a:r>
              <a:rPr lang="zh-CN" altLang="en-US" dirty="0"/>
              <a:t>要解决的问题：如何远程判断某个主体是</a:t>
            </a:r>
            <a:r>
              <a:rPr lang="en-US" altLang="zh-CN" dirty="0"/>
              <a:t>Enclave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US" dirty="0"/>
              <a:t>例如，如何判断某个在云端的服务运行环境是安全的</a:t>
            </a:r>
            <a:endParaRPr lang="en-US" altLang="zh-CN" dirty="0"/>
          </a:p>
          <a:p>
            <a:pPr lvl="1"/>
            <a:r>
              <a:rPr lang="zh-CN" altLang="en-US" dirty="0"/>
              <a:t>必须在认证之后，再进行下一步的操作，例如发送数据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CE6EBA-6402-B34A-B1E2-DFD04953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47A8EE-AA15-DD4F-862B-9B514934AE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0CD0D9-5038-CE40-9F1B-7DF60D1A04FB}"/>
              </a:ext>
            </a:extLst>
          </p:cNvPr>
          <p:cNvSpPr/>
          <p:nvPr/>
        </p:nvSpPr>
        <p:spPr>
          <a:xfrm>
            <a:off x="971600" y="3105123"/>
            <a:ext cx="1080120" cy="108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云端</a:t>
            </a:r>
            <a:b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初始化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Enclave</a:t>
            </a:r>
            <a:endParaRPr kumimoji="1"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F7064F6-FC45-FD4C-BB5A-BB807E88235B}"/>
              </a:ext>
            </a:extLst>
          </p:cNvPr>
          <p:cNvSpPr/>
          <p:nvPr/>
        </p:nvSpPr>
        <p:spPr>
          <a:xfrm>
            <a:off x="2411760" y="3645183"/>
            <a:ext cx="1080120" cy="108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客户端</a:t>
            </a:r>
            <a:b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发起认证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1DDADE-7D95-5543-AB09-B334F7A125B5}"/>
              </a:ext>
            </a:extLst>
          </p:cNvPr>
          <p:cNvSpPr/>
          <p:nvPr/>
        </p:nvSpPr>
        <p:spPr>
          <a:xfrm>
            <a:off x="3851920" y="3115865"/>
            <a:ext cx="1080120" cy="108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云端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Enclave</a:t>
            </a:r>
            <a:b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生成报告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31F8B4-AE02-0A46-BDBE-DC4614611241}"/>
              </a:ext>
            </a:extLst>
          </p:cNvPr>
          <p:cNvSpPr/>
          <p:nvPr/>
        </p:nvSpPr>
        <p:spPr>
          <a:xfrm>
            <a:off x="5292080" y="3645183"/>
            <a:ext cx="1080120" cy="108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客户端</a:t>
            </a:r>
            <a:b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认证报告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07E108-7652-F74F-BC4B-C1D7F1A85499}"/>
              </a:ext>
            </a:extLst>
          </p:cNvPr>
          <p:cNvSpPr/>
          <p:nvPr/>
        </p:nvSpPr>
        <p:spPr>
          <a:xfrm>
            <a:off x="7079940" y="3645183"/>
            <a:ext cx="1080120" cy="108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与云端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Enclave</a:t>
            </a:r>
          </a:p>
          <a:p>
            <a:pPr algn="ctr"/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建立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安全连接</a:t>
            </a: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D66CFD8-5118-FE42-9C40-908311ABCF01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051720" y="3645183"/>
            <a:ext cx="360040" cy="540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0ED433C5-6601-D242-A0B1-37A56E7DDD4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491880" y="3655925"/>
            <a:ext cx="360040" cy="529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F039E5FE-19BF-694A-930C-3997226F00F5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4932040" y="3655925"/>
            <a:ext cx="360040" cy="529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9F2301E5-174E-E94C-9FA7-438B2439384A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6372200" y="4185243"/>
            <a:ext cx="7077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3162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91D232-BEE2-5B42-88A6-EF8BB6E1F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硬件内存加密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BD6469-D6E3-8C49-B2D9-3DF16CF7E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加密的最小单位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Cache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line</a:t>
            </a:r>
            <a:r>
              <a:rPr kumimoji="1" lang="zh-CN" altLang="en-US" sz="1800" dirty="0"/>
              <a:t>：</a:t>
            </a:r>
            <a:r>
              <a:rPr kumimoji="1" lang="en-US" altLang="zh-CN" sz="1800" dirty="0"/>
              <a:t>64Byte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512bit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r>
              <a:rPr kumimoji="1" lang="zh-CN" altLang="en-US" sz="2000" dirty="0"/>
              <a:t>方法一：单密钥加密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缺点：同样的明文会产生同样的密文</a:t>
            </a:r>
            <a:endParaRPr kumimoji="1" lang="en-US" altLang="zh-CN" sz="1800" dirty="0"/>
          </a:p>
          <a:p>
            <a:r>
              <a:rPr kumimoji="1" lang="zh-CN" altLang="en-US" sz="2000" dirty="0"/>
              <a:t>方法二：多密钥加密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缺点：如何保存这些密钥？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内部放不下</a:t>
            </a:r>
            <a:endParaRPr kumimoji="1" lang="en-US" altLang="zh-CN" sz="1800" dirty="0"/>
          </a:p>
          <a:p>
            <a:r>
              <a:rPr kumimoji="1" lang="zh-CN" altLang="en-US" sz="2000" dirty="0"/>
              <a:t>方法三：单密钥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多 </a:t>
            </a:r>
            <a:r>
              <a:rPr kumimoji="1" lang="en-US" altLang="zh-CN" sz="2000" dirty="0"/>
              <a:t>seed</a:t>
            </a:r>
          </a:p>
          <a:p>
            <a:pPr lvl="1"/>
            <a:r>
              <a:rPr kumimoji="1" lang="zh-CN" altLang="en-US" sz="1800" dirty="0"/>
              <a:t>为每个</a:t>
            </a:r>
            <a:r>
              <a:rPr kumimoji="1" lang="en-US" altLang="zh-CN" sz="1800" dirty="0"/>
              <a:t>cache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line</a:t>
            </a:r>
            <a:r>
              <a:rPr kumimoji="1" lang="zh-CN" altLang="en-US" sz="1800" dirty="0"/>
              <a:t>单独生成一个</a:t>
            </a:r>
            <a:r>
              <a:rPr kumimoji="1" lang="en-US" altLang="zh-CN" sz="1800" dirty="0"/>
              <a:t>seed</a:t>
            </a:r>
            <a:r>
              <a:rPr kumimoji="1" lang="zh-CN" altLang="en-US" sz="1800" dirty="0"/>
              <a:t>，用密钥加密后，对数据进行异或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278A70-95B8-A340-8BBF-350A17B51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2AEBE7-7AC4-5840-A54D-9F9ED2E59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64156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7A8E05-A237-7C45-831F-D53566CE8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生成</a:t>
            </a:r>
            <a:r>
              <a:rPr kumimoji="1" lang="en-US" altLang="zh-CN" dirty="0"/>
              <a:t>seed</a:t>
            </a:r>
            <a:r>
              <a:rPr kumimoji="1" lang="zh-CN" altLang="en-US" dirty="0"/>
              <a:t>用于加密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D85FE8-4F5F-184C-8C33-4BFD1E32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D4914C-6AF4-554E-8F8A-7FC608641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DA22070-6966-6C46-9230-6859CC48E326}"/>
              </a:ext>
            </a:extLst>
          </p:cNvPr>
          <p:cNvSpPr/>
          <p:nvPr/>
        </p:nvSpPr>
        <p:spPr>
          <a:xfrm>
            <a:off x="2053662" y="2716076"/>
            <a:ext cx="360040" cy="36004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332C32D9-FD2F-B24B-BC07-41C2525352D1}"/>
              </a:ext>
            </a:extLst>
          </p:cNvPr>
          <p:cNvCxnSpPr>
            <a:cxnSpLocks/>
            <a:endCxn id="8" idx="6"/>
          </p:cNvCxnSpPr>
          <p:nvPr/>
        </p:nvCxnSpPr>
        <p:spPr>
          <a:xfrm>
            <a:off x="2053662" y="2896096"/>
            <a:ext cx="360040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89BC924A-A451-9B41-9EAB-4E7CEC0CD169}"/>
              </a:ext>
            </a:extLst>
          </p:cNvPr>
          <p:cNvCxnSpPr>
            <a:cxnSpLocks/>
            <a:stCxn id="8" idx="0"/>
            <a:endCxn id="8" idx="4"/>
          </p:cNvCxnSpPr>
          <p:nvPr/>
        </p:nvCxnSpPr>
        <p:spPr>
          <a:xfrm>
            <a:off x="2233682" y="2716076"/>
            <a:ext cx="0" cy="36004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E69FAE77-D5BD-EC4D-8C55-AC5D55EABFD7}"/>
              </a:ext>
            </a:extLst>
          </p:cNvPr>
          <p:cNvCxnSpPr>
            <a:cxnSpLocks/>
          </p:cNvCxnSpPr>
          <p:nvPr/>
        </p:nvCxnSpPr>
        <p:spPr>
          <a:xfrm>
            <a:off x="2197678" y="2072631"/>
            <a:ext cx="0" cy="577843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87D114B8-90FA-F346-9C10-8DDFEEA838E3}"/>
              </a:ext>
            </a:extLst>
          </p:cNvPr>
          <p:cNvCxnSpPr>
            <a:cxnSpLocks/>
          </p:cNvCxnSpPr>
          <p:nvPr/>
        </p:nvCxnSpPr>
        <p:spPr>
          <a:xfrm flipV="1">
            <a:off x="2269686" y="2072631"/>
            <a:ext cx="0" cy="577843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78624B85-6AB5-E345-A69B-5924E36767C3}"/>
              </a:ext>
            </a:extLst>
          </p:cNvPr>
          <p:cNvCxnSpPr>
            <a:cxnSpLocks/>
          </p:cNvCxnSpPr>
          <p:nvPr/>
        </p:nvCxnSpPr>
        <p:spPr>
          <a:xfrm>
            <a:off x="2197678" y="3146345"/>
            <a:ext cx="0" cy="577843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0D2C82BB-FBBD-3246-9572-BEE91863BCEE}"/>
              </a:ext>
            </a:extLst>
          </p:cNvPr>
          <p:cNvCxnSpPr>
            <a:cxnSpLocks/>
          </p:cNvCxnSpPr>
          <p:nvPr/>
        </p:nvCxnSpPr>
        <p:spPr>
          <a:xfrm flipV="1">
            <a:off x="2269686" y="3146345"/>
            <a:ext cx="0" cy="577843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66A0BFDD-2A14-EF49-B8A1-13D41F14B8D0}"/>
              </a:ext>
            </a:extLst>
          </p:cNvPr>
          <p:cNvCxnSpPr>
            <a:cxnSpLocks/>
          </p:cNvCxnSpPr>
          <p:nvPr/>
        </p:nvCxnSpPr>
        <p:spPr>
          <a:xfrm flipH="1">
            <a:off x="2447765" y="2896097"/>
            <a:ext cx="1044115" cy="0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40302F0-6E02-0946-AF09-491E81839BAA}"/>
              </a:ext>
            </a:extLst>
          </p:cNvPr>
          <p:cNvSpPr txBox="1"/>
          <p:nvPr/>
        </p:nvSpPr>
        <p:spPr>
          <a:xfrm>
            <a:off x="1549606" y="2221273"/>
            <a:ext cx="648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/>
              <a:t>明文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9ACBE3D-44B7-D848-909B-C1698017924C}"/>
              </a:ext>
            </a:extLst>
          </p:cNvPr>
          <p:cNvSpPr txBox="1"/>
          <p:nvPr/>
        </p:nvSpPr>
        <p:spPr>
          <a:xfrm>
            <a:off x="1549606" y="3290361"/>
            <a:ext cx="648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/>
              <a:t>密文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72EE45A-66D6-B843-9E2B-DBA586720AB3}"/>
              </a:ext>
            </a:extLst>
          </p:cNvPr>
          <p:cNvSpPr txBox="1"/>
          <p:nvPr/>
        </p:nvSpPr>
        <p:spPr>
          <a:xfrm>
            <a:off x="2485709" y="2546799"/>
            <a:ext cx="1044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/>
              <a:t>加密</a:t>
            </a:r>
            <a:r>
              <a:rPr kumimoji="1" lang="en-US" altLang="zh-CN" sz="1400" dirty="0"/>
              <a:t>pad</a:t>
            </a:r>
            <a:endParaRPr kumimoji="1" lang="zh-CN" altLang="en-US" sz="14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8BB36D9-3978-BB4D-9D2E-33424EFD15E5}"/>
              </a:ext>
            </a:extLst>
          </p:cNvPr>
          <p:cNvSpPr/>
          <p:nvPr/>
        </p:nvSpPr>
        <p:spPr>
          <a:xfrm>
            <a:off x="3491880" y="2716076"/>
            <a:ext cx="1082062" cy="3600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加密模块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EB928A3-AFAC-BC43-BD87-D1258A10AA1F}"/>
              </a:ext>
            </a:extLst>
          </p:cNvPr>
          <p:cNvSpPr/>
          <p:nvPr/>
        </p:nvSpPr>
        <p:spPr>
          <a:xfrm>
            <a:off x="1692651" y="3781354"/>
            <a:ext cx="1082062" cy="3600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内存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8156A92-7EA2-F641-8582-0D86784760D8}"/>
              </a:ext>
            </a:extLst>
          </p:cNvPr>
          <p:cNvSpPr/>
          <p:nvPr/>
        </p:nvSpPr>
        <p:spPr>
          <a:xfrm>
            <a:off x="1692651" y="1633364"/>
            <a:ext cx="1082062" cy="3600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accent1"/>
                </a:solidFill>
              </a:rPr>
              <a:t>L3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 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Cache</a:t>
            </a:r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pic>
        <p:nvPicPr>
          <p:cNvPr id="33" name="图形 32">
            <a:extLst>
              <a:ext uri="{FF2B5EF4-FFF2-40B4-BE49-F238E27FC236}">
                <a16:creationId xmlns:a16="http://schemas.microsoft.com/office/drawing/2014/main" id="{327E14AA-314B-9347-A5FE-F8471BC7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9561" y="2107552"/>
            <a:ext cx="266700" cy="254000"/>
          </a:xfrm>
          <a:prstGeom prst="rect">
            <a:avLst/>
          </a:prstGeom>
        </p:spPr>
      </p:pic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925A05BA-FDB6-3446-BC8D-10E844E766DD}"/>
              </a:ext>
            </a:extLst>
          </p:cNvPr>
          <p:cNvCxnSpPr>
            <a:cxnSpLocks/>
            <a:stCxn id="33" idx="2"/>
            <a:endCxn id="29" idx="0"/>
          </p:cNvCxnSpPr>
          <p:nvPr/>
        </p:nvCxnSpPr>
        <p:spPr>
          <a:xfrm>
            <a:off x="4032911" y="2361552"/>
            <a:ext cx="0" cy="354524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22EF85A0-52B0-6546-B199-9E1EAD8E8178}"/>
              </a:ext>
            </a:extLst>
          </p:cNvPr>
          <p:cNvCxnSpPr>
            <a:cxnSpLocks/>
          </p:cNvCxnSpPr>
          <p:nvPr/>
        </p:nvCxnSpPr>
        <p:spPr>
          <a:xfrm flipH="1">
            <a:off x="4573942" y="2902045"/>
            <a:ext cx="604655" cy="0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77830A2D-59EF-AA46-8080-1452D33520C7}"/>
              </a:ext>
            </a:extLst>
          </p:cNvPr>
          <p:cNvSpPr/>
          <p:nvPr/>
        </p:nvSpPr>
        <p:spPr>
          <a:xfrm>
            <a:off x="5178597" y="2711671"/>
            <a:ext cx="833560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6EDFDC5-B900-564A-9AB5-358255677FE6}"/>
              </a:ext>
            </a:extLst>
          </p:cNvPr>
          <p:cNvSpPr/>
          <p:nvPr/>
        </p:nvSpPr>
        <p:spPr>
          <a:xfrm>
            <a:off x="6012157" y="2711671"/>
            <a:ext cx="325009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6FA6BB8-5565-2D4A-B7D4-F64D9DAB59CC}"/>
              </a:ext>
            </a:extLst>
          </p:cNvPr>
          <p:cNvSpPr/>
          <p:nvPr/>
        </p:nvSpPr>
        <p:spPr>
          <a:xfrm>
            <a:off x="6337166" y="2711671"/>
            <a:ext cx="820676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36BC286-4318-8342-A3C1-A8F5D37979D1}"/>
              </a:ext>
            </a:extLst>
          </p:cNvPr>
          <p:cNvSpPr txBox="1"/>
          <p:nvPr/>
        </p:nvSpPr>
        <p:spPr>
          <a:xfrm>
            <a:off x="6984269" y="2748156"/>
            <a:ext cx="1044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Seed</a:t>
            </a:r>
            <a:endParaRPr kumimoji="1" lang="zh-CN" altLang="en-US" sz="1400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20BD1F9-66D8-4147-B0EB-AA2E2497F3A7}"/>
              </a:ext>
            </a:extLst>
          </p:cNvPr>
          <p:cNvSpPr/>
          <p:nvPr/>
        </p:nvSpPr>
        <p:spPr>
          <a:xfrm>
            <a:off x="5595376" y="3315966"/>
            <a:ext cx="741777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5F39540-33AB-3244-BCA9-3F41D5CF9B79}"/>
              </a:ext>
            </a:extLst>
          </p:cNvPr>
          <p:cNvSpPr/>
          <p:nvPr/>
        </p:nvSpPr>
        <p:spPr>
          <a:xfrm>
            <a:off x="6337153" y="3315966"/>
            <a:ext cx="820676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06E80A82-25DC-3148-A4BE-4CAF77296DE5}"/>
              </a:ext>
            </a:extLst>
          </p:cNvPr>
          <p:cNvCxnSpPr>
            <a:stCxn id="45" idx="0"/>
            <a:endCxn id="42" idx="2"/>
          </p:cNvCxnSpPr>
          <p:nvPr/>
        </p:nvCxnSpPr>
        <p:spPr>
          <a:xfrm flipV="1">
            <a:off x="6747491" y="3071711"/>
            <a:ext cx="13" cy="244255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691205AE-BA1C-384F-8692-297C2BC8C201}"/>
              </a:ext>
            </a:extLst>
          </p:cNvPr>
          <p:cNvSpPr/>
          <p:nvPr/>
        </p:nvSpPr>
        <p:spPr>
          <a:xfrm>
            <a:off x="5178596" y="2072631"/>
            <a:ext cx="833560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B824C52-9A0B-DD48-AE9D-F7BA760DB68A}"/>
              </a:ext>
            </a:extLst>
          </p:cNvPr>
          <p:cNvSpPr/>
          <p:nvPr/>
        </p:nvSpPr>
        <p:spPr>
          <a:xfrm>
            <a:off x="6012156" y="2072631"/>
            <a:ext cx="325009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37F798B-E965-0347-AC0F-FF29814FBCB9}"/>
              </a:ext>
            </a:extLst>
          </p:cNvPr>
          <p:cNvSpPr/>
          <p:nvPr/>
        </p:nvSpPr>
        <p:spPr>
          <a:xfrm>
            <a:off x="6337153" y="2076911"/>
            <a:ext cx="325009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3592315-A330-594B-84A0-4069ABEFEB00}"/>
              </a:ext>
            </a:extLst>
          </p:cNvPr>
          <p:cNvSpPr/>
          <p:nvPr/>
        </p:nvSpPr>
        <p:spPr>
          <a:xfrm>
            <a:off x="6833449" y="2077531"/>
            <a:ext cx="325009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23B2226-CADD-764F-A2F7-67B356B3F150}"/>
              </a:ext>
            </a:extLst>
          </p:cNvPr>
          <p:cNvSpPr txBox="1"/>
          <p:nvPr/>
        </p:nvSpPr>
        <p:spPr>
          <a:xfrm>
            <a:off x="6225433" y="2075387"/>
            <a:ext cx="1044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...</a:t>
            </a:r>
            <a:endParaRPr kumimoji="1" lang="zh-CN" altLang="en-US" sz="1400" dirty="0"/>
          </a:p>
        </p:txBody>
      </p:sp>
      <p:cxnSp>
        <p:nvCxnSpPr>
          <p:cNvPr id="54" name="肘形连接符 53">
            <a:extLst>
              <a:ext uri="{FF2B5EF4-FFF2-40B4-BE49-F238E27FC236}">
                <a16:creationId xmlns:a16="http://schemas.microsoft.com/office/drawing/2014/main" id="{B2F7617A-95A5-3A4E-9E73-D83C70C3FB9B}"/>
              </a:ext>
            </a:extLst>
          </p:cNvPr>
          <p:cNvCxnSpPr>
            <a:cxnSpLocks/>
            <a:stCxn id="50" idx="2"/>
            <a:endCxn id="41" idx="0"/>
          </p:cNvCxnSpPr>
          <p:nvPr/>
        </p:nvCxnSpPr>
        <p:spPr>
          <a:xfrm rot="5400000">
            <a:off x="6199800" y="2411813"/>
            <a:ext cx="274720" cy="324996"/>
          </a:xfrm>
          <a:prstGeom prst="bentConnector3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8F63A71C-146D-E249-A75A-BBA71A6F754E}"/>
              </a:ext>
            </a:extLst>
          </p:cNvPr>
          <p:cNvCxnSpPr>
            <a:cxnSpLocks/>
            <a:stCxn id="48" idx="2"/>
            <a:endCxn id="40" idx="0"/>
          </p:cNvCxnSpPr>
          <p:nvPr/>
        </p:nvCxnSpPr>
        <p:spPr>
          <a:xfrm>
            <a:off x="5595376" y="2432671"/>
            <a:ext cx="1" cy="27900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5656177A-F826-9C4B-94CF-B490983CBE9D}"/>
              </a:ext>
            </a:extLst>
          </p:cNvPr>
          <p:cNvSpPr txBox="1"/>
          <p:nvPr/>
        </p:nvSpPr>
        <p:spPr>
          <a:xfrm>
            <a:off x="5972723" y="2131919"/>
            <a:ext cx="104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 err="1">
                <a:solidFill>
                  <a:schemeClr val="accent3"/>
                </a:solidFill>
              </a:rPr>
              <a:t>Cnt</a:t>
            </a:r>
            <a:endParaRPr kumimoji="1" lang="zh-CN" altLang="en-US" sz="1200" dirty="0">
              <a:solidFill>
                <a:schemeClr val="accent3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C11E1A7-A5CD-7F45-AA53-65D60F284BBA}"/>
              </a:ext>
            </a:extLst>
          </p:cNvPr>
          <p:cNvSpPr txBox="1"/>
          <p:nvPr/>
        </p:nvSpPr>
        <p:spPr>
          <a:xfrm>
            <a:off x="5073319" y="2131364"/>
            <a:ext cx="104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chemeClr val="accent3"/>
                </a:solidFill>
              </a:rPr>
              <a:t>LPID</a:t>
            </a:r>
            <a:endParaRPr kumimoji="1" lang="zh-CN" altLang="en-US" sz="1200" dirty="0">
              <a:solidFill>
                <a:schemeClr val="accent3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D5F81CA7-FDDD-3D49-8725-43AF0E0F7D7E}"/>
              </a:ext>
            </a:extLst>
          </p:cNvPr>
          <p:cNvSpPr txBox="1"/>
          <p:nvPr/>
        </p:nvSpPr>
        <p:spPr>
          <a:xfrm>
            <a:off x="6221748" y="3354271"/>
            <a:ext cx="104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chemeClr val="accent3"/>
                </a:solidFill>
              </a:rPr>
              <a:t>Offset</a:t>
            </a:r>
            <a:endParaRPr kumimoji="1" lang="zh-CN" altLang="en-US" sz="1200" dirty="0">
              <a:solidFill>
                <a:schemeClr val="accent3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6FD7A1C-0DEA-DE42-B646-3C1EC80792CA}"/>
              </a:ext>
            </a:extLst>
          </p:cNvPr>
          <p:cNvSpPr txBox="1"/>
          <p:nvPr/>
        </p:nvSpPr>
        <p:spPr>
          <a:xfrm>
            <a:off x="7128285" y="3333485"/>
            <a:ext cx="1044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/>
              <a:t>物理地址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D915B57-FE07-264A-8320-E686587455B6}"/>
              </a:ext>
            </a:extLst>
          </p:cNvPr>
          <p:cNvSpPr txBox="1"/>
          <p:nvPr/>
        </p:nvSpPr>
        <p:spPr>
          <a:xfrm>
            <a:off x="7128285" y="2102590"/>
            <a:ext cx="1044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Counters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440272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C3775-E30A-9545-8D88-5FB2EDF06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硬件内存加密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812E3-14CE-7449-AD27-0BED42A18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采用加密</a:t>
            </a:r>
            <a:r>
              <a:rPr kumimoji="1" lang="en-US" altLang="zh-CN" sz="2000" dirty="0"/>
              <a:t>pad</a:t>
            </a:r>
            <a:r>
              <a:rPr kumimoji="1" lang="zh-CN" altLang="en-US" sz="2000" dirty="0"/>
              <a:t>的方式而不是直接加密数据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每个内存区域对应一个</a:t>
            </a:r>
            <a:r>
              <a:rPr kumimoji="1" lang="en-US" altLang="zh-CN" sz="1800" dirty="0"/>
              <a:t>pad</a:t>
            </a:r>
          </a:p>
          <a:p>
            <a:pPr lvl="1"/>
            <a:r>
              <a:rPr kumimoji="1" lang="zh-CN" altLang="en-US" sz="1800" dirty="0"/>
              <a:t>对</a:t>
            </a:r>
            <a:r>
              <a:rPr kumimoji="1" lang="en-US" altLang="zh-CN" sz="1800" dirty="0"/>
              <a:t>pad</a:t>
            </a:r>
            <a:r>
              <a:rPr kumimoji="1" lang="zh-CN" altLang="en-US" sz="1800" dirty="0"/>
              <a:t>进行加密，然后数据与</a:t>
            </a:r>
            <a:r>
              <a:rPr kumimoji="1" lang="en-US" altLang="zh-CN" sz="1800" dirty="0"/>
              <a:t>pad</a:t>
            </a:r>
            <a:r>
              <a:rPr kumimoji="1" lang="zh-CN" altLang="en-US" sz="1800" dirty="0"/>
              <a:t>进行异或以实现加解密</a:t>
            </a:r>
            <a:endParaRPr kumimoji="1" lang="en-US" altLang="zh-CN" sz="1800" dirty="0"/>
          </a:p>
          <a:p>
            <a:r>
              <a:rPr kumimoji="1" lang="zh-CN" altLang="en-US" sz="2000" dirty="0"/>
              <a:t>加密</a:t>
            </a:r>
            <a:r>
              <a:rPr kumimoji="1" lang="en-US" altLang="zh-CN" sz="2000" dirty="0"/>
              <a:t>pad</a:t>
            </a:r>
            <a:r>
              <a:rPr kumimoji="1" lang="zh-CN" altLang="en-US" sz="2000" dirty="0"/>
              <a:t>由</a:t>
            </a:r>
            <a:r>
              <a:rPr kumimoji="1" lang="en-US" altLang="zh-CN" sz="2000" dirty="0"/>
              <a:t>key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seed</a:t>
            </a:r>
            <a:r>
              <a:rPr kumimoji="1" lang="zh-CN" altLang="en-US" sz="2000" dirty="0"/>
              <a:t>共同组成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Seed</a:t>
            </a:r>
            <a:r>
              <a:rPr kumimoji="1" lang="zh-CN" altLang="en-US" sz="1800" dirty="0"/>
              <a:t>可以由时空因子组成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明文只需一次异或运算得到密文</a:t>
            </a:r>
            <a:endParaRPr kumimoji="1" lang="en-US" altLang="zh-CN" sz="1800" dirty="0"/>
          </a:p>
          <a:p>
            <a:r>
              <a:rPr kumimoji="1" lang="zh-CN" altLang="en-US" sz="2000" dirty="0"/>
              <a:t>任意两次加密的</a:t>
            </a:r>
            <a:r>
              <a:rPr kumimoji="1" lang="en-US" altLang="zh-CN" sz="2000" dirty="0"/>
              <a:t>pad</a:t>
            </a:r>
            <a:r>
              <a:rPr kumimoji="1" lang="zh-CN" altLang="en-US" sz="2000" dirty="0"/>
              <a:t>必须不同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如果两次加密的</a:t>
            </a:r>
            <a:r>
              <a:rPr kumimoji="1" lang="en-US" altLang="zh-CN" sz="1800" dirty="0"/>
              <a:t>pad</a:t>
            </a:r>
            <a:r>
              <a:rPr kumimoji="1" lang="zh-CN" altLang="en-US" sz="1800" dirty="0"/>
              <a:t>相同，可以轻松的反推明文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9CD227-D822-B64B-8FBB-18329286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826454-A48B-3D41-9F03-BF1A1A7EEE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96815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176D15-101E-A84F-86CD-42B87647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内存完整性保护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97DA32-7658-8C45-9EBC-CF98C4E4D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400" dirty="0"/>
              <a:t>Merkle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hash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Tree</a:t>
            </a:r>
          </a:p>
          <a:p>
            <a:pPr lvl="1"/>
            <a:r>
              <a:rPr kumimoji="1" lang="zh-CN" altLang="en-US" sz="2000" dirty="0"/>
              <a:t>可以保证内存不会受到拼接和欺骗攻击</a:t>
            </a:r>
            <a:endParaRPr kumimoji="1" lang="en-US" altLang="zh-CN" sz="2000" dirty="0"/>
          </a:p>
          <a:p>
            <a:pPr lvl="2"/>
            <a:r>
              <a:rPr kumimoji="1" lang="zh-CN" altLang="en-US" sz="1600" dirty="0"/>
              <a:t>不知道</a:t>
            </a:r>
            <a:r>
              <a:rPr kumimoji="1" lang="en-US" altLang="zh-CN" sz="1600" dirty="0"/>
              <a:t>hash key</a:t>
            </a:r>
            <a:r>
              <a:rPr kumimoji="1" lang="zh-CN" altLang="en-US" sz="1600" dirty="0"/>
              <a:t>无法计算对应的</a:t>
            </a:r>
            <a:r>
              <a:rPr kumimoji="1" lang="en-US" altLang="zh-CN" sz="1600" dirty="0"/>
              <a:t>mac</a:t>
            </a:r>
          </a:p>
          <a:p>
            <a:pPr lvl="1"/>
            <a:r>
              <a:rPr kumimoji="1" lang="zh-CN" altLang="en-US" sz="2000" dirty="0"/>
              <a:t>无法防御回放攻击</a:t>
            </a:r>
            <a:endParaRPr kumimoji="1" lang="en-US" altLang="zh-CN" sz="2000" dirty="0"/>
          </a:p>
          <a:p>
            <a:pPr lvl="2"/>
            <a:r>
              <a:rPr kumimoji="1" lang="zh-CN" altLang="en-US" sz="1600" dirty="0"/>
              <a:t>攻击者可以将</a:t>
            </a:r>
            <a:r>
              <a:rPr kumimoji="1" lang="en-US" altLang="zh-CN" sz="1600" dirty="0"/>
              <a:t>mac</a:t>
            </a:r>
            <a:r>
              <a:rPr kumimoji="1" lang="zh-CN" altLang="en-US" sz="1600" dirty="0"/>
              <a:t>和</a:t>
            </a:r>
            <a:r>
              <a:rPr kumimoji="1" lang="en-US" altLang="zh-CN" sz="1600" dirty="0"/>
              <a:t>data</a:t>
            </a:r>
            <a:r>
              <a:rPr kumimoji="1" lang="zh-CN" altLang="en-US" sz="1600" dirty="0"/>
              <a:t>同时替换成老版本</a:t>
            </a:r>
            <a:endParaRPr kumimoji="1" lang="en-US" altLang="zh-CN" sz="1600" dirty="0"/>
          </a:p>
          <a:p>
            <a:r>
              <a:rPr kumimoji="1" lang="zh-CN" altLang="en-US" sz="2400" dirty="0"/>
              <a:t>将</a:t>
            </a:r>
            <a:r>
              <a:rPr kumimoji="1" lang="en-US" altLang="zh-CN" sz="2400" dirty="0"/>
              <a:t>root hash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(mac)</a:t>
            </a:r>
            <a:r>
              <a:rPr kumimoji="1" lang="zh-CN" altLang="en-US" sz="2400" dirty="0"/>
              <a:t> 存储在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中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防御回放攻击</a:t>
            </a:r>
            <a:endParaRPr kumimoji="1" lang="en-US" altLang="zh-CN" sz="2000" dirty="0"/>
          </a:p>
          <a:p>
            <a:pPr lvl="2"/>
            <a:r>
              <a:rPr kumimoji="1" lang="zh-CN" altLang="en-US" sz="1600" dirty="0"/>
              <a:t>攻击者无法修改</a:t>
            </a:r>
            <a:r>
              <a:rPr kumimoji="1" lang="en-US" altLang="zh-CN" sz="1600" dirty="0"/>
              <a:t>root mac</a:t>
            </a:r>
            <a:r>
              <a:rPr kumimoji="1" lang="zh-CN" altLang="en-US" sz="1600" dirty="0"/>
              <a:t>的值</a:t>
            </a:r>
            <a:endParaRPr kumimoji="1" lang="en-US" altLang="zh-CN" sz="1600" dirty="0"/>
          </a:p>
          <a:p>
            <a:pPr marL="457200" lvl="1" indent="0">
              <a:buNone/>
            </a:pP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D73BFD-F025-6A43-A609-BB8827708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2973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内存完整性保护：</a:t>
            </a:r>
            <a:r>
              <a:rPr kumimoji="1" lang="en-US" altLang="zh-CN" dirty="0"/>
              <a:t>Merkle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pic>
        <p:nvPicPr>
          <p:cNvPr id="5" name="Picture 45"/>
          <p:cNvPicPr>
            <a:picLocks noChangeAspect="1"/>
          </p:cNvPicPr>
          <p:nvPr/>
        </p:nvPicPr>
        <p:blipFill rotWithShape="1">
          <a:blip r:embed="rId2"/>
          <a:srcRect t="40008" b="43755"/>
          <a:stretch/>
        </p:blipFill>
        <p:spPr>
          <a:xfrm>
            <a:off x="888601" y="4556411"/>
            <a:ext cx="7427815" cy="1113564"/>
          </a:xfrm>
          <a:prstGeom prst="rect">
            <a:avLst/>
          </a:prstGeom>
        </p:spPr>
      </p:pic>
      <p:sp>
        <p:nvSpPr>
          <p:cNvPr id="6" name="Rectangle 46"/>
          <p:cNvSpPr/>
          <p:nvPr/>
        </p:nvSpPr>
        <p:spPr>
          <a:xfrm>
            <a:off x="1367817" y="4748119"/>
            <a:ext cx="2740162" cy="611064"/>
          </a:xfrm>
          <a:prstGeom prst="rect">
            <a:avLst/>
          </a:prstGeom>
          <a:pattFill prst="ltDnDiag">
            <a:fgClr>
              <a:schemeClr val="bg1">
                <a:lumMod val="50000"/>
              </a:schemeClr>
            </a:fgClr>
            <a:bgClr>
              <a:prstClr val="white"/>
            </a:bgClr>
          </a:patt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</a:rPr>
              <a:t>数据（密文）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7" name="Rectangle 70"/>
          <p:cNvSpPr/>
          <p:nvPr/>
        </p:nvSpPr>
        <p:spPr>
          <a:xfrm>
            <a:off x="5009842" y="4744759"/>
            <a:ext cx="1478876" cy="611064"/>
          </a:xfrm>
          <a:prstGeom prst="rect">
            <a:avLst/>
          </a:prstGeom>
          <a:pattFill prst="ltDnDiag">
            <a:fgClr>
              <a:schemeClr val="bg1">
                <a:lumMod val="50000"/>
              </a:schemeClr>
            </a:fgClr>
            <a:bgClr>
              <a:prstClr val="white"/>
            </a:bgClr>
          </a:patt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0000"/>
                </a:solidFill>
              </a:rPr>
              <a:t>Counters</a:t>
            </a:r>
          </a:p>
        </p:txBody>
      </p:sp>
      <p:sp>
        <p:nvSpPr>
          <p:cNvPr id="8" name="Rectangle 34"/>
          <p:cNvSpPr/>
          <p:nvPr/>
        </p:nvSpPr>
        <p:spPr>
          <a:xfrm>
            <a:off x="6617158" y="4753379"/>
            <a:ext cx="1331782" cy="6110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Hash</a:t>
            </a:r>
          </a:p>
        </p:txBody>
      </p:sp>
      <p:sp>
        <p:nvSpPr>
          <p:cNvPr id="9" name="Rectangle 37"/>
          <p:cNvSpPr/>
          <p:nvPr/>
        </p:nvSpPr>
        <p:spPr>
          <a:xfrm>
            <a:off x="1367817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Rectangle 38"/>
          <p:cNvSpPr/>
          <p:nvPr/>
        </p:nvSpPr>
        <p:spPr>
          <a:xfrm>
            <a:off x="1939528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Rectangle 39"/>
          <p:cNvSpPr/>
          <p:nvPr/>
        </p:nvSpPr>
        <p:spPr>
          <a:xfrm>
            <a:off x="2514585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2" name="Rectangle 40"/>
          <p:cNvSpPr/>
          <p:nvPr/>
        </p:nvSpPr>
        <p:spPr>
          <a:xfrm>
            <a:off x="3106912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3" name="Rectangle 42"/>
          <p:cNvSpPr/>
          <p:nvPr/>
        </p:nvSpPr>
        <p:spPr>
          <a:xfrm>
            <a:off x="3678623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4" name="Rectangle 47"/>
          <p:cNvSpPr/>
          <p:nvPr/>
        </p:nvSpPr>
        <p:spPr>
          <a:xfrm>
            <a:off x="5013176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5" name="Rectangle 48"/>
          <p:cNvSpPr/>
          <p:nvPr/>
        </p:nvSpPr>
        <p:spPr>
          <a:xfrm>
            <a:off x="5548947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6" name="Rectangle 49"/>
          <p:cNvSpPr/>
          <p:nvPr/>
        </p:nvSpPr>
        <p:spPr>
          <a:xfrm>
            <a:off x="6088064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7" name="Rectangle 52"/>
          <p:cNvSpPr/>
          <p:nvPr/>
        </p:nvSpPr>
        <p:spPr>
          <a:xfrm>
            <a:off x="2032156" y="3666408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8" name="Rectangle 53"/>
          <p:cNvSpPr/>
          <p:nvPr/>
        </p:nvSpPr>
        <p:spPr>
          <a:xfrm>
            <a:off x="2748632" y="3666408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9" name="Rectangle 55"/>
          <p:cNvSpPr/>
          <p:nvPr/>
        </p:nvSpPr>
        <p:spPr>
          <a:xfrm>
            <a:off x="3451926" y="3664770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0" name="Rectangle 56"/>
          <p:cNvSpPr/>
          <p:nvPr/>
        </p:nvSpPr>
        <p:spPr>
          <a:xfrm>
            <a:off x="1044347" y="1231150"/>
            <a:ext cx="7140287" cy="13894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58"/>
          <p:cNvSpPr/>
          <p:nvPr/>
        </p:nvSpPr>
        <p:spPr>
          <a:xfrm>
            <a:off x="3514243" y="1922753"/>
            <a:ext cx="943102" cy="313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Root</a:t>
            </a:r>
          </a:p>
        </p:txBody>
      </p:sp>
      <p:cxnSp>
        <p:nvCxnSpPr>
          <p:cNvPr id="22" name="Straight Connector 6"/>
          <p:cNvCxnSpPr/>
          <p:nvPr/>
        </p:nvCxnSpPr>
        <p:spPr>
          <a:xfrm flipH="1">
            <a:off x="1367818" y="2236175"/>
            <a:ext cx="2146425" cy="1876916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59"/>
          <p:cNvCxnSpPr/>
          <p:nvPr/>
        </p:nvCxnSpPr>
        <p:spPr>
          <a:xfrm>
            <a:off x="4457345" y="2236175"/>
            <a:ext cx="2038050" cy="1876916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60"/>
          <p:cNvSpPr/>
          <p:nvPr/>
        </p:nvSpPr>
        <p:spPr>
          <a:xfrm>
            <a:off x="1041233" y="1255334"/>
            <a:ext cx="1940816" cy="374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0000"/>
                </a:solidFill>
              </a:rPr>
              <a:t>CPU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6"/>
          <p:cNvSpPr/>
          <p:nvPr/>
        </p:nvSpPr>
        <p:spPr>
          <a:xfrm>
            <a:off x="4792489" y="3662097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6" name="Rectangle 28"/>
          <p:cNvSpPr/>
          <p:nvPr/>
        </p:nvSpPr>
        <p:spPr>
          <a:xfrm>
            <a:off x="2640196" y="3239345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7" name="Rectangle 29"/>
          <p:cNvSpPr/>
          <p:nvPr/>
        </p:nvSpPr>
        <p:spPr>
          <a:xfrm>
            <a:off x="3356672" y="3239345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8" name="Rectangle 30"/>
          <p:cNvSpPr/>
          <p:nvPr/>
        </p:nvSpPr>
        <p:spPr>
          <a:xfrm>
            <a:off x="4140331" y="3666408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9" name="Rectangle 31"/>
          <p:cNvSpPr/>
          <p:nvPr/>
        </p:nvSpPr>
        <p:spPr>
          <a:xfrm>
            <a:off x="4354381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0" name="Rectangle 32"/>
          <p:cNvSpPr/>
          <p:nvPr/>
        </p:nvSpPr>
        <p:spPr>
          <a:xfrm>
            <a:off x="4031877" y="3239345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1" name="Rectangle 33"/>
          <p:cNvSpPr/>
          <p:nvPr/>
        </p:nvSpPr>
        <p:spPr>
          <a:xfrm>
            <a:off x="4695917" y="3246833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2" name="Rectangle 35"/>
          <p:cNvSpPr/>
          <p:nvPr/>
        </p:nvSpPr>
        <p:spPr>
          <a:xfrm>
            <a:off x="3338985" y="2775295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3" name="Rectangle 36"/>
          <p:cNvSpPr/>
          <p:nvPr/>
        </p:nvSpPr>
        <p:spPr>
          <a:xfrm>
            <a:off x="4055461" y="2775295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4" name="Rectangle 43"/>
          <p:cNvSpPr/>
          <p:nvPr/>
        </p:nvSpPr>
        <p:spPr>
          <a:xfrm>
            <a:off x="5408309" y="3657786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3589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3A3A7078-2947-A24E-B9C1-3D06E1ACC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其他平台的 </a:t>
            </a:r>
            <a:r>
              <a:rPr kumimoji="1" lang="en-US" altLang="zh-CN" dirty="0"/>
              <a:t>Enclave/TEE</a:t>
            </a:r>
            <a:endParaRPr kumimoji="1"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81737A5-FDCC-284D-B0C7-6EB7B3597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F45FD7-1C84-7645-BE3D-7B1519735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40AAE6-A750-7D4E-8766-741E58EEEA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34622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 TrustZone </a:t>
            </a:r>
            <a:r>
              <a:rPr lang="zh-CN" altLang="en-US" dirty="0"/>
              <a:t>技术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31742"/>
            <a:ext cx="8596115" cy="3394472"/>
          </a:xfrm>
        </p:spPr>
        <p:txBody>
          <a:bodyPr>
            <a:noAutofit/>
          </a:bodyPr>
          <a:lstStyle/>
          <a:p>
            <a:r>
              <a:rPr kumimoji="1" lang="en-US" altLang="zh-CN" sz="1950" dirty="0"/>
              <a:t>ARMv6</a:t>
            </a:r>
            <a:r>
              <a:rPr kumimoji="1" lang="zh-CN" altLang="en-US" sz="1950" dirty="0"/>
              <a:t>版本开始的安全硬件特性</a:t>
            </a:r>
            <a:endParaRPr kumimoji="1" lang="en-US" altLang="zh-CN" sz="1950" dirty="0"/>
          </a:p>
          <a:p>
            <a:pPr lvl="1"/>
            <a:r>
              <a:rPr kumimoji="1" lang="zh-CN" altLang="en-US" sz="1575" dirty="0"/>
              <a:t>包括</a:t>
            </a:r>
            <a:r>
              <a:rPr kumimoji="1" lang="en-US" altLang="zh-CN" sz="1575" dirty="0"/>
              <a:t>ARM11</a:t>
            </a:r>
            <a:r>
              <a:rPr kumimoji="1" lang="zh-CN" altLang="en-US" sz="1575" dirty="0"/>
              <a:t>及</a:t>
            </a:r>
            <a:r>
              <a:rPr kumimoji="1" lang="en-US" altLang="zh-CN" sz="1575" dirty="0"/>
              <a:t>Cortex A</a:t>
            </a:r>
            <a:r>
              <a:rPr kumimoji="1" lang="zh-CN" altLang="en-US" sz="1575" dirty="0"/>
              <a:t>系列</a:t>
            </a:r>
            <a:endParaRPr kumimoji="1" lang="en-US" altLang="zh-CN" sz="1575" dirty="0"/>
          </a:p>
          <a:p>
            <a:pPr lvl="1"/>
            <a:r>
              <a:rPr kumimoji="1" lang="zh-CN" altLang="en-US" sz="1575" dirty="0"/>
              <a:t>目前大部分手机芯片均有该硬件特性</a:t>
            </a:r>
            <a:endParaRPr kumimoji="1" lang="en-US" altLang="zh-CN" sz="1575" dirty="0"/>
          </a:p>
          <a:p>
            <a:r>
              <a:rPr kumimoji="1" lang="zh-CN" altLang="en-US" sz="1950" dirty="0"/>
              <a:t>同时运行一个安全的</a:t>
            </a:r>
            <a:r>
              <a:rPr kumimoji="1" lang="en-US" altLang="zh-CN" sz="1950" dirty="0"/>
              <a:t>OS</a:t>
            </a:r>
            <a:r>
              <a:rPr kumimoji="1" lang="zh-CN" altLang="en-US" sz="1950" dirty="0"/>
              <a:t>和一个普通的</a:t>
            </a:r>
            <a:r>
              <a:rPr kumimoji="1" lang="en-US" altLang="zh-CN" sz="1950" dirty="0"/>
              <a:t>OS</a:t>
            </a:r>
          </a:p>
          <a:p>
            <a:pPr lvl="1"/>
            <a:r>
              <a:rPr kumimoji="1" lang="zh-CN" altLang="en-US" sz="1575" dirty="0"/>
              <a:t>两个系统之间互相隔离运行</a:t>
            </a:r>
            <a:endParaRPr kumimoji="1" lang="en-US" altLang="zh-CN" sz="1575" dirty="0"/>
          </a:p>
          <a:p>
            <a:pPr lvl="1"/>
            <a:r>
              <a:rPr kumimoji="1" lang="zh-CN" altLang="en-US" sz="1575" dirty="0"/>
              <a:t>安全的</a:t>
            </a:r>
            <a:r>
              <a:rPr kumimoji="1" lang="en-US" altLang="zh-CN" sz="1575" dirty="0"/>
              <a:t>OS</a:t>
            </a:r>
            <a:r>
              <a:rPr kumimoji="1" lang="zh-CN" altLang="en-US" sz="1575" dirty="0"/>
              <a:t>具有更多的权限</a:t>
            </a:r>
            <a:endParaRPr kumimoji="1" lang="en-US" altLang="zh-CN" sz="1575" dirty="0"/>
          </a:p>
          <a:p>
            <a:r>
              <a:rPr kumimoji="1" lang="en-US" altLang="zh-CN" sz="1950" dirty="0" err="1"/>
              <a:t>TrustZone</a:t>
            </a:r>
            <a:r>
              <a:rPr kumimoji="1" lang="zh-CN" altLang="en-US" sz="1950" dirty="0"/>
              <a:t>是一个全系统级别的安全架构</a:t>
            </a:r>
            <a:endParaRPr kumimoji="1" lang="en-US" altLang="zh-CN" sz="1950" dirty="0"/>
          </a:p>
          <a:p>
            <a:pPr lvl="1"/>
            <a:r>
              <a:rPr kumimoji="1" lang="zh-CN" altLang="en-US" sz="1575" dirty="0"/>
              <a:t>处理器、内存和外设的安全隔离</a:t>
            </a:r>
            <a:endParaRPr kumimoji="1" lang="en-US" altLang="zh-CN" sz="1575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58491" y1="4576" x2="58491" y2="4576"/>
                        <a14:backgroundMark x1="91824" y1="22373" x2="91824" y2="2237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94072" y="1659465"/>
            <a:ext cx="3649928" cy="304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6326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TEE</a:t>
            </a:r>
            <a:r>
              <a:rPr lang="zh-CN" altLang="en-US" dirty="0"/>
              <a:t>硬件状态与软件架构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4762872" cy="3771636"/>
          </a:xfrm>
        </p:spPr>
        <p:txBody>
          <a:bodyPr>
            <a:normAutofit/>
          </a:bodyPr>
          <a:lstStyle/>
          <a:p>
            <a:r>
              <a:rPr lang="en-US" altLang="zh-CN" sz="1800" dirty="0"/>
              <a:t>TEE</a:t>
            </a:r>
            <a:r>
              <a:rPr lang="zh-CN" altLang="en-US" sz="1800" dirty="0"/>
              <a:t>内部运行一个完整的操作系统</a:t>
            </a:r>
            <a:endParaRPr lang="en-US" altLang="zh-CN" sz="1800" dirty="0"/>
          </a:p>
          <a:p>
            <a:pPr lvl="1"/>
            <a:r>
              <a:rPr lang="zh-CN" altLang="en-US" sz="1500" dirty="0"/>
              <a:t>与</a:t>
            </a:r>
            <a:r>
              <a:rPr lang="en-US" altLang="zh-CN" sz="1500" dirty="0"/>
              <a:t>Android</a:t>
            </a:r>
            <a:r>
              <a:rPr lang="zh-CN" altLang="en-US" sz="1500" dirty="0"/>
              <a:t>版本无关，也无需适配</a:t>
            </a:r>
            <a:endParaRPr lang="en-US" altLang="zh-CN" sz="1500" dirty="0"/>
          </a:p>
          <a:p>
            <a:pPr lvl="1"/>
            <a:r>
              <a:rPr lang="en-US" altLang="zh-CN" sz="1500" dirty="0"/>
              <a:t>TEE</a:t>
            </a:r>
            <a:r>
              <a:rPr lang="zh-CN" altLang="en-US" sz="1500" dirty="0"/>
              <a:t>与</a:t>
            </a:r>
            <a:r>
              <a:rPr lang="en-US" altLang="zh-CN" sz="1500" dirty="0"/>
              <a:t>Android</a:t>
            </a:r>
            <a:r>
              <a:rPr lang="zh-CN" altLang="en-US" sz="1500" dirty="0"/>
              <a:t>通过共享内存进行交互</a:t>
            </a:r>
            <a:endParaRPr lang="en-US" altLang="zh-CN" sz="1500" dirty="0"/>
          </a:p>
          <a:p>
            <a:r>
              <a:rPr lang="en-US" altLang="zh-CN" sz="1800" dirty="0"/>
              <a:t>TEE</a:t>
            </a:r>
            <a:r>
              <a:rPr lang="zh-CN" altLang="en-US" sz="1800" dirty="0"/>
              <a:t>内部也分内核态与用户态</a:t>
            </a:r>
            <a:endParaRPr lang="en-US" altLang="zh-CN" sz="1800" dirty="0"/>
          </a:p>
          <a:p>
            <a:pPr lvl="1"/>
            <a:r>
              <a:rPr lang="en-US" altLang="zh-CN" sz="1500" dirty="0"/>
              <a:t>TEE</a:t>
            </a:r>
            <a:r>
              <a:rPr lang="zh-CN" altLang="en-US" sz="1500" dirty="0"/>
              <a:t>用户态可运行多个安全应用（</a:t>
            </a:r>
            <a:r>
              <a:rPr lang="en-US" altLang="zh-CN" sz="1500" dirty="0"/>
              <a:t>TA</a:t>
            </a:r>
            <a:r>
              <a:rPr lang="zh-CN" altLang="en-US" sz="1500" dirty="0"/>
              <a:t>）</a:t>
            </a:r>
            <a:endParaRPr lang="en-US" altLang="zh-CN" sz="1500" dirty="0"/>
          </a:p>
          <a:p>
            <a:pPr lvl="1"/>
            <a:r>
              <a:rPr lang="zh-CN" altLang="en-US" sz="1500" dirty="0"/>
              <a:t>安全应用可支持动态下载和动态更新</a:t>
            </a:r>
            <a:endParaRPr lang="en-US" altLang="zh-CN" sz="1500" dirty="0"/>
          </a:p>
          <a:p>
            <a:r>
              <a:rPr lang="en-US" altLang="zh-CN" sz="1800" dirty="0"/>
              <a:t>TEE</a:t>
            </a:r>
            <a:r>
              <a:rPr lang="zh-CN" altLang="en-US" sz="1800" dirty="0"/>
              <a:t>内部结构</a:t>
            </a:r>
            <a:endParaRPr lang="en-US" altLang="zh-CN" sz="1800" dirty="0"/>
          </a:p>
          <a:p>
            <a:pPr lvl="1"/>
            <a:r>
              <a:rPr lang="en-US" altLang="zh-CN" sz="1500" dirty="0"/>
              <a:t>Secure OS + </a:t>
            </a:r>
            <a:r>
              <a:rPr lang="zh-CN" altLang="en-US" sz="1500" dirty="0"/>
              <a:t>中间件 </a:t>
            </a:r>
            <a:r>
              <a:rPr lang="en-US" altLang="zh-CN" sz="1500" dirty="0"/>
              <a:t>+ </a:t>
            </a:r>
            <a:r>
              <a:rPr lang="zh-CN" altLang="en-US" sz="1500" dirty="0"/>
              <a:t>安全应用 </a:t>
            </a:r>
            <a:r>
              <a:rPr lang="en-US" altLang="zh-CN" sz="1500" dirty="0"/>
              <a:t>+ </a:t>
            </a:r>
            <a:r>
              <a:rPr lang="zh-CN" altLang="en-US" sz="1500" dirty="0"/>
              <a:t>外部交互</a:t>
            </a:r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BEDC84E8-B833-D44D-94DE-AA747647B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1333501"/>
            <a:ext cx="3847210" cy="28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448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A71D76-DFF8-ED44-826D-01F66A0A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用</a:t>
            </a:r>
            <a:r>
              <a:rPr kumimoji="1" lang="en-US" altLang="zh-CN" dirty="0" err="1"/>
              <a:t>TrustZone</a:t>
            </a:r>
            <a:r>
              <a:rPr kumimoji="1" lang="zh-CN" altLang="en-US" dirty="0"/>
              <a:t>保护指纹的录入和识别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812B68-E4FA-9244-94B9-BD95C73C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B4FD3A-FC99-BD40-983B-DD83098B1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90D590F6-AD3F-CC4B-8C78-EC61DAD0A57F}"/>
              </a:ext>
            </a:extLst>
          </p:cNvPr>
          <p:cNvCxnSpPr>
            <a:cxnSpLocks/>
          </p:cNvCxnSpPr>
          <p:nvPr/>
        </p:nvCxnSpPr>
        <p:spPr>
          <a:xfrm>
            <a:off x="3851920" y="1129308"/>
            <a:ext cx="0" cy="34563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FA3997C9-A64B-5543-B675-6E0487C4C6B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3644" y="1896407"/>
            <a:ext cx="1470090" cy="51682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E96E9E0-85E6-4D42-8BD8-B29A80912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599" y="4585692"/>
            <a:ext cx="1565777" cy="73246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1EF94A8-654C-7549-972E-FF8E044DD136}"/>
              </a:ext>
            </a:extLst>
          </p:cNvPr>
          <p:cNvSpPr/>
          <p:nvPr/>
        </p:nvSpPr>
        <p:spPr>
          <a:xfrm>
            <a:off x="6381304" y="3202093"/>
            <a:ext cx="157507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指纹设备驱动</a:t>
            </a:r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BBB5FADD-295F-D34E-A50B-2050C9CCA2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5629" y="3900430"/>
            <a:ext cx="484723" cy="48472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A0E6F0DC-69AB-8D49-9E76-592ACA4810D1}"/>
              </a:ext>
            </a:extLst>
          </p:cNvPr>
          <p:cNvSpPr/>
          <p:nvPr/>
        </p:nvSpPr>
        <p:spPr>
          <a:xfrm>
            <a:off x="6381304" y="1844589"/>
            <a:ext cx="157507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指纹匹配算法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B864BB-5F88-344F-AD31-8F15F1539DF5}"/>
              </a:ext>
            </a:extLst>
          </p:cNvPr>
          <p:cNvSpPr/>
          <p:nvPr/>
        </p:nvSpPr>
        <p:spPr>
          <a:xfrm>
            <a:off x="4286002" y="1844589"/>
            <a:ext cx="157507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支付安全应用</a:t>
            </a: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BB074803-C4F2-934A-9E0C-EF5C4FB60F9A}"/>
              </a:ext>
            </a:extLst>
          </p:cNvPr>
          <p:cNvCxnSpPr>
            <a:cxnSpLocks/>
          </p:cNvCxnSpPr>
          <p:nvPr/>
        </p:nvCxnSpPr>
        <p:spPr>
          <a:xfrm>
            <a:off x="683568" y="2826566"/>
            <a:ext cx="748883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形 18">
            <a:extLst>
              <a:ext uri="{FF2B5EF4-FFF2-40B4-BE49-F238E27FC236}">
                <a16:creationId xmlns:a16="http://schemas.microsoft.com/office/drawing/2014/main" id="{0055950C-57AA-6143-BDDD-A312A0867E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5629" y="2580759"/>
            <a:ext cx="484723" cy="484723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4986EB0B-FE48-C34B-ABFE-2ADA04838B65}"/>
              </a:ext>
            </a:extLst>
          </p:cNvPr>
          <p:cNvSpPr/>
          <p:nvPr/>
        </p:nvSpPr>
        <p:spPr>
          <a:xfrm>
            <a:off x="4286002" y="3202093"/>
            <a:ext cx="157507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交互代理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E451E77-68D0-F544-A112-069F2679CBAD}"/>
              </a:ext>
            </a:extLst>
          </p:cNvPr>
          <p:cNvSpPr/>
          <p:nvPr/>
        </p:nvSpPr>
        <p:spPr>
          <a:xfrm>
            <a:off x="1841153" y="3202093"/>
            <a:ext cx="157507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TEE</a:t>
            </a:r>
            <a:r>
              <a:rPr kumimoji="1" lang="zh-CN" altLang="en-US" dirty="0"/>
              <a:t>驱动</a:t>
            </a: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CAFA5AC3-76BA-DA4A-B629-9EF48FEA936B}"/>
              </a:ext>
            </a:extLst>
          </p:cNvPr>
          <p:cNvCxnSpPr>
            <a:stCxn id="9" idx="2"/>
            <a:endCxn id="21" idx="0"/>
          </p:cNvCxnSpPr>
          <p:nvPr/>
        </p:nvCxnSpPr>
        <p:spPr>
          <a:xfrm>
            <a:off x="2628689" y="2413236"/>
            <a:ext cx="0" cy="788857"/>
          </a:xfrm>
          <a:prstGeom prst="straightConnector1">
            <a:avLst/>
          </a:prstGeom>
          <a:ln w="28575">
            <a:solidFill>
              <a:schemeClr val="accent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AA684BD7-51FE-9240-B85A-714FAD400798}"/>
              </a:ext>
            </a:extLst>
          </p:cNvPr>
          <p:cNvCxnSpPr>
            <a:cxnSpLocks/>
            <a:stCxn id="21" idx="3"/>
            <a:endCxn id="20" idx="1"/>
          </p:cNvCxnSpPr>
          <p:nvPr/>
        </p:nvCxnSpPr>
        <p:spPr>
          <a:xfrm>
            <a:off x="3416225" y="3490125"/>
            <a:ext cx="869777" cy="0"/>
          </a:xfrm>
          <a:prstGeom prst="straightConnector1">
            <a:avLst/>
          </a:prstGeom>
          <a:ln w="28575">
            <a:solidFill>
              <a:schemeClr val="accent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5A924EBF-4DAE-4F4E-BBA6-3F6A9C52AC29}"/>
              </a:ext>
            </a:extLst>
          </p:cNvPr>
          <p:cNvCxnSpPr>
            <a:cxnSpLocks/>
            <a:stCxn id="20" idx="0"/>
            <a:endCxn id="14" idx="2"/>
          </p:cNvCxnSpPr>
          <p:nvPr/>
        </p:nvCxnSpPr>
        <p:spPr>
          <a:xfrm flipV="1">
            <a:off x="5073538" y="2420653"/>
            <a:ext cx="0" cy="781440"/>
          </a:xfrm>
          <a:prstGeom prst="straightConnector1">
            <a:avLst/>
          </a:prstGeom>
          <a:ln w="28575">
            <a:solidFill>
              <a:schemeClr val="accent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01122075-8899-B74E-B63C-530D9911497D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5861074" y="2132621"/>
            <a:ext cx="520230" cy="0"/>
          </a:xfrm>
          <a:prstGeom prst="straightConnector1">
            <a:avLst/>
          </a:prstGeom>
          <a:ln w="28575">
            <a:solidFill>
              <a:schemeClr val="accent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AD09031B-70AF-374C-9675-5DCBBABFA891}"/>
              </a:ext>
            </a:extLst>
          </p:cNvPr>
          <p:cNvCxnSpPr>
            <a:cxnSpLocks/>
          </p:cNvCxnSpPr>
          <p:nvPr/>
        </p:nvCxnSpPr>
        <p:spPr>
          <a:xfrm>
            <a:off x="7176561" y="2451066"/>
            <a:ext cx="0" cy="713195"/>
          </a:xfrm>
          <a:prstGeom prst="straightConnector1">
            <a:avLst/>
          </a:prstGeom>
          <a:ln w="28575">
            <a:solidFill>
              <a:schemeClr val="accent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AE583626-AAE6-B44E-8D60-9A3726E727A7}"/>
              </a:ext>
            </a:extLst>
          </p:cNvPr>
          <p:cNvCxnSpPr>
            <a:cxnSpLocks/>
          </p:cNvCxnSpPr>
          <p:nvPr/>
        </p:nvCxnSpPr>
        <p:spPr>
          <a:xfrm>
            <a:off x="7168837" y="3825327"/>
            <a:ext cx="0" cy="713195"/>
          </a:xfrm>
          <a:prstGeom prst="straightConnector1">
            <a:avLst/>
          </a:prstGeom>
          <a:ln w="28575">
            <a:solidFill>
              <a:schemeClr val="accent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88165A50-6415-554B-AC85-BE370BFB0471}"/>
              </a:ext>
            </a:extLst>
          </p:cNvPr>
          <p:cNvSpPr txBox="1"/>
          <p:nvPr/>
        </p:nvSpPr>
        <p:spPr>
          <a:xfrm>
            <a:off x="2093798" y="1129308"/>
            <a:ext cx="1470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非安全世界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827C141-0CB6-B34F-AB9F-929A1EFCC82B}"/>
              </a:ext>
            </a:extLst>
          </p:cNvPr>
          <p:cNvSpPr txBox="1"/>
          <p:nvPr/>
        </p:nvSpPr>
        <p:spPr>
          <a:xfrm>
            <a:off x="4286002" y="1123093"/>
            <a:ext cx="1470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安全世界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97F720B-86A4-8342-854E-E20A88413541}"/>
              </a:ext>
            </a:extLst>
          </p:cNvPr>
          <p:cNvSpPr txBox="1"/>
          <p:nvPr/>
        </p:nvSpPr>
        <p:spPr>
          <a:xfrm>
            <a:off x="631228" y="2334331"/>
            <a:ext cx="1470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用户态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0814487-DA4B-0049-958B-AF6B0201A58A}"/>
              </a:ext>
            </a:extLst>
          </p:cNvPr>
          <p:cNvSpPr txBox="1"/>
          <p:nvPr/>
        </p:nvSpPr>
        <p:spPr>
          <a:xfrm>
            <a:off x="611560" y="2920216"/>
            <a:ext cx="1470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内核态</a:t>
            </a:r>
          </a:p>
        </p:txBody>
      </p:sp>
    </p:spTree>
    <p:extLst>
      <p:ext uri="{BB962C8B-B14F-4D97-AF65-F5344CB8AC3E}">
        <p14:creationId xmlns:p14="http://schemas.microsoft.com/office/powerpoint/2010/main" val="12390808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69653-F29A-0C49-BEE5-6B84A561A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AMD</a:t>
            </a:r>
            <a:r>
              <a:rPr kumimoji="1" lang="zh-CN" altLang="en-US" dirty="0"/>
              <a:t> </a:t>
            </a:r>
            <a:r>
              <a:rPr kumimoji="1" lang="en-US" altLang="zh-CN" dirty="0"/>
              <a:t>SEV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0A86C4-F372-144B-8073-B11DDA8C1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以虚拟机为粒度的</a:t>
            </a:r>
            <a:r>
              <a:rPr kumimoji="1" lang="en-US" altLang="zh-CN" dirty="0"/>
              <a:t>Enclave</a:t>
            </a:r>
          </a:p>
          <a:p>
            <a:pPr lvl="1"/>
            <a:r>
              <a:rPr kumimoji="1" lang="zh-CN" altLang="en-US" dirty="0"/>
              <a:t>对不同的虚拟机进行加密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每个虚拟机的密钥均不相同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Hypervisor</a:t>
            </a:r>
            <a:r>
              <a:rPr kumimoji="1" lang="zh-CN" altLang="en-US" dirty="0"/>
              <a:t>有自己的密钥</a:t>
            </a:r>
            <a:endParaRPr kumimoji="1" lang="en-US" altLang="zh-CN" dirty="0"/>
          </a:p>
          <a:p>
            <a:r>
              <a:rPr kumimoji="1" lang="zh-CN" altLang="en-US" dirty="0"/>
              <a:t>安全模型的缺陷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依然部分依赖</a:t>
            </a:r>
            <a:r>
              <a:rPr kumimoji="1" lang="en-US" altLang="zh-CN" dirty="0"/>
              <a:t>Hypervisor</a:t>
            </a:r>
          </a:p>
          <a:p>
            <a:pPr lvl="2"/>
            <a:r>
              <a:rPr kumimoji="1" lang="zh-CN" altLang="en-US" sz="1800" dirty="0"/>
              <a:t>如：为</a:t>
            </a:r>
            <a:r>
              <a:rPr kumimoji="1" lang="en-US" altLang="zh-CN" sz="1800" dirty="0"/>
              <a:t>VM</a:t>
            </a:r>
            <a:r>
              <a:rPr kumimoji="1" lang="zh-CN" altLang="en-US" sz="1800" dirty="0"/>
              <a:t>设置正确的密钥</a:t>
            </a:r>
            <a:endParaRPr kumimoji="1" lang="en-US" altLang="zh-CN" sz="1800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DE7F66-B936-EE41-8721-D03497DD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F2220E-FCF4-1E42-BEC6-2E38E10CFE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A25C5AD-0420-5C4C-88A9-DDEDFDA04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1336376"/>
            <a:ext cx="3804716" cy="344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981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FC760D-133F-F748-B75A-A4725FEF2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RISC-V</a:t>
            </a:r>
            <a:r>
              <a:rPr kumimoji="1" lang="zh-CN" altLang="en-US" dirty="0"/>
              <a:t>平台的</a:t>
            </a:r>
            <a:r>
              <a:rPr kumimoji="1" lang="en-US" altLang="zh-CN" dirty="0"/>
              <a:t>Enclave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F926CB-FC99-A345-9921-9E1CC2038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RISC-V</a:t>
            </a:r>
            <a:r>
              <a:rPr kumimoji="1" lang="zh-CN" altLang="en-US" dirty="0"/>
              <a:t>具有一个新的模式：</a:t>
            </a:r>
            <a:r>
              <a:rPr kumimoji="1" lang="en-US" altLang="zh-CN" dirty="0"/>
              <a:t>Machine-Mode</a:t>
            </a:r>
          </a:p>
          <a:p>
            <a:pPr lvl="1"/>
            <a:r>
              <a:rPr kumimoji="1" lang="zh-CN" altLang="en-US" dirty="0"/>
              <a:t>位于操作系统和</a:t>
            </a:r>
            <a:r>
              <a:rPr kumimoji="1" lang="en-US" altLang="zh-CN" dirty="0"/>
              <a:t>Hypervisor</a:t>
            </a:r>
            <a:r>
              <a:rPr kumimoji="1" lang="zh-CN" altLang="en-US" dirty="0"/>
              <a:t>之下，直接访问物理地址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具有最高权限，可访问所有的计算资源，并提供新的功能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</a:t>
            </a:r>
            <a:r>
              <a:rPr kumimoji="1" lang="en-US" altLang="zh-CN" dirty="0"/>
              <a:t>M-Mode</a:t>
            </a:r>
            <a:r>
              <a:rPr kumimoji="1" lang="zh-CN" altLang="en-US" dirty="0"/>
              <a:t>下实现的软件</a:t>
            </a:r>
            <a:r>
              <a:rPr kumimoji="1" lang="en-US" altLang="zh-CN" dirty="0"/>
              <a:t>monitor</a:t>
            </a:r>
            <a:r>
              <a:rPr kumimoji="1" lang="zh-CN" altLang="en-US" dirty="0"/>
              <a:t>，可实现</a:t>
            </a:r>
            <a:r>
              <a:rPr kumimoji="1" lang="en-US" altLang="zh-CN" dirty="0"/>
              <a:t>Enclave</a:t>
            </a:r>
            <a:r>
              <a:rPr kumimoji="1" lang="zh-CN" altLang="en-US" dirty="0"/>
              <a:t>的接口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A4FD5D-CC62-EC4A-A124-4723DD521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68A197-DF96-964B-B022-BCC18628C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B75D0A-BEC9-A647-B6A9-123BC78916E8}"/>
              </a:ext>
            </a:extLst>
          </p:cNvPr>
          <p:cNvSpPr/>
          <p:nvPr/>
        </p:nvSpPr>
        <p:spPr>
          <a:xfrm>
            <a:off x="4546848" y="3508474"/>
            <a:ext cx="936104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accent1"/>
                </a:solidFill>
              </a:rPr>
              <a:t>App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34A825-DE3C-8F40-A2E6-BD9C992A300F}"/>
              </a:ext>
            </a:extLst>
          </p:cNvPr>
          <p:cNvSpPr/>
          <p:nvPr/>
        </p:nvSpPr>
        <p:spPr>
          <a:xfrm>
            <a:off x="5868144" y="3508474"/>
            <a:ext cx="936104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accent1"/>
                </a:solidFill>
              </a:rPr>
              <a:t>App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CBC9DB-229A-DB44-AE22-0EB54E300030}"/>
              </a:ext>
            </a:extLst>
          </p:cNvPr>
          <p:cNvSpPr/>
          <p:nvPr/>
        </p:nvSpPr>
        <p:spPr>
          <a:xfrm>
            <a:off x="4546848" y="4092232"/>
            <a:ext cx="2257400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accent1"/>
                </a:solidFill>
              </a:rPr>
              <a:t>操作系统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1E75D0D-2A46-5544-8583-127DBAF12F75}"/>
              </a:ext>
            </a:extLst>
          </p:cNvPr>
          <p:cNvSpPr/>
          <p:nvPr/>
        </p:nvSpPr>
        <p:spPr>
          <a:xfrm>
            <a:off x="4546848" y="4652907"/>
            <a:ext cx="2257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Monitor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33E7F8-A6DD-E64C-8D5D-AF305C3EBE13}"/>
              </a:ext>
            </a:extLst>
          </p:cNvPr>
          <p:cNvSpPr txBox="1"/>
          <p:nvPr/>
        </p:nvSpPr>
        <p:spPr>
          <a:xfrm>
            <a:off x="2818656" y="350847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/>
              <a:t>User-mode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7D1F313-9112-4044-9B4D-DE1FCE2F1111}"/>
              </a:ext>
            </a:extLst>
          </p:cNvPr>
          <p:cNvSpPr txBox="1"/>
          <p:nvPr/>
        </p:nvSpPr>
        <p:spPr>
          <a:xfrm>
            <a:off x="1594520" y="4078441"/>
            <a:ext cx="2593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/>
              <a:t>Supervisor-mode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D63981-6D2F-0044-BF23-4DFAD732EF74}"/>
              </a:ext>
            </a:extLst>
          </p:cNvPr>
          <p:cNvSpPr txBox="1"/>
          <p:nvPr/>
        </p:nvSpPr>
        <p:spPr>
          <a:xfrm>
            <a:off x="1594520" y="4648408"/>
            <a:ext cx="2593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/>
              <a:t>Machine-mode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07748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3417B4-3C64-ED46-8F39-1C14B0E7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蓬莱 </a:t>
            </a:r>
            <a:r>
              <a:rPr kumimoji="1" lang="en-US" altLang="zh-CN" dirty="0"/>
              <a:t>Enclave</a:t>
            </a:r>
            <a:r>
              <a:rPr kumimoji="1" lang="zh-CN" altLang="en-US" dirty="0"/>
              <a:t>：诞生自 </a:t>
            </a:r>
            <a:r>
              <a:rPr kumimoji="1" lang="en-US" altLang="zh-CN" dirty="0"/>
              <a:t>SJTU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A0A1E7-B1D0-0843-831D-0D059452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347396-56DB-C242-8FA2-454D6E552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246EA3-B886-894B-9046-6FFCD6D121A0}"/>
              </a:ext>
            </a:extLst>
          </p:cNvPr>
          <p:cNvSpPr/>
          <p:nvPr/>
        </p:nvSpPr>
        <p:spPr>
          <a:xfrm>
            <a:off x="5049180" y="4893014"/>
            <a:ext cx="36541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400" dirty="0">
                <a:hlinkClick r:id="rId3"/>
              </a:rPr>
              <a:t>http://penglai-enclave.systems/</a:t>
            </a:r>
            <a:endParaRPr lang="zh-CN" altLang="en-US" sz="1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C2D6C7-5824-E349-B5A5-9BDB6A39CA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353"/>
          <a:stretch/>
        </p:blipFill>
        <p:spPr>
          <a:xfrm>
            <a:off x="4932040" y="1170230"/>
            <a:ext cx="3888432" cy="259776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EAF7C6C-0A99-7042-82C7-E2F040DD1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4003306"/>
            <a:ext cx="787733" cy="784727"/>
          </a:xfrm>
          <a:prstGeom prst="rect">
            <a:avLst/>
          </a:prstGeom>
        </p:spPr>
      </p:pic>
      <p:sp>
        <p:nvSpPr>
          <p:cNvPr id="10" name="右箭头 9">
            <a:extLst>
              <a:ext uri="{FF2B5EF4-FFF2-40B4-BE49-F238E27FC236}">
                <a16:creationId xmlns:a16="http://schemas.microsoft.com/office/drawing/2014/main" id="{DECBCE54-77DC-4644-996D-DD9684B7C864}"/>
              </a:ext>
            </a:extLst>
          </p:cNvPr>
          <p:cNvSpPr/>
          <p:nvPr/>
        </p:nvSpPr>
        <p:spPr>
          <a:xfrm>
            <a:off x="5652120" y="3423714"/>
            <a:ext cx="216024" cy="15386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1BEEC0-07BA-3F41-B3F0-03699343E1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958" y="1153482"/>
            <a:ext cx="3177385" cy="390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248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E330D812-33BC-5944-98FC-CC01F373E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B949800-3B0E-F648-896A-09908CDB5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5C0C93-42B8-9D47-B65B-FFF9863DD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1CCE84-3448-BA41-BEE2-8D9562EE0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81841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33576D5E-EE0D-FD43-8ABD-B9DF19F7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控制系统复杂性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67F65AFD-8F66-DA43-9011-E4C8DC9B4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Enclave</a:t>
            </a:r>
            <a:r>
              <a:rPr lang="zh-CN" altLang="en-US" dirty="0"/>
              <a:t>的抽象是一种简化</a:t>
            </a:r>
            <a:endParaRPr lang="en-US" altLang="zh-CN" dirty="0"/>
          </a:p>
          <a:p>
            <a:pPr lvl="1"/>
            <a:r>
              <a:rPr lang="zh-CN" altLang="en-US" dirty="0"/>
              <a:t>对威胁模型和信任关系的简化</a:t>
            </a:r>
            <a:endParaRPr lang="en-US" altLang="zh-CN" dirty="0"/>
          </a:p>
          <a:p>
            <a:pPr lvl="2"/>
            <a:r>
              <a:rPr lang="zh-CN" altLang="en-US" sz="1800" dirty="0"/>
              <a:t>例如：</a:t>
            </a:r>
            <a:r>
              <a:rPr lang="en-US" altLang="zh-CN" sz="1800" dirty="0"/>
              <a:t>Intel</a:t>
            </a:r>
            <a:r>
              <a:rPr lang="zh-CN" altLang="en-US" sz="1800" dirty="0"/>
              <a:t> </a:t>
            </a:r>
            <a:r>
              <a:rPr lang="en-US" altLang="zh-CN" sz="1800" dirty="0"/>
              <a:t>SGX</a:t>
            </a:r>
            <a:r>
              <a:rPr lang="zh-CN" altLang="en-US" sz="1800" dirty="0"/>
              <a:t>将对软硬件环境的信任规约到对</a:t>
            </a:r>
            <a:r>
              <a:rPr lang="en-US" altLang="zh-CN" sz="1800" dirty="0"/>
              <a:t>Intel</a:t>
            </a:r>
            <a:r>
              <a:rPr lang="zh-CN" altLang="en-US" sz="1800" dirty="0"/>
              <a:t>的信任</a:t>
            </a:r>
            <a:endParaRPr lang="en-US" altLang="zh-CN" sz="1800" dirty="0"/>
          </a:p>
          <a:p>
            <a:pPr lvl="1"/>
            <a:r>
              <a:rPr lang="zh-CN" altLang="en-US" dirty="0"/>
              <a:t>这种简化有可能带来新的问题：</a:t>
            </a:r>
            <a:r>
              <a:rPr lang="en-US" altLang="zh-CN" dirty="0"/>
              <a:t>Single-point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Failure</a:t>
            </a:r>
          </a:p>
          <a:p>
            <a:r>
              <a:rPr lang="en-US" altLang="zh-CN" dirty="0"/>
              <a:t>Enclave</a:t>
            </a:r>
            <a:r>
              <a:rPr lang="zh-CN" altLang="en-US" dirty="0"/>
              <a:t>的主要技术</a:t>
            </a:r>
            <a:endParaRPr lang="en-US" altLang="zh-CN" dirty="0"/>
          </a:p>
          <a:p>
            <a:pPr lvl="1"/>
            <a:r>
              <a:rPr lang="zh-CN" altLang="en-US" dirty="0"/>
              <a:t>保护技术：基于权限的隔离与基于加密的控制</a:t>
            </a:r>
            <a:endParaRPr lang="en-US" altLang="zh-CN" dirty="0"/>
          </a:p>
          <a:p>
            <a:pPr lvl="1"/>
            <a:r>
              <a:rPr lang="zh-CN" altLang="en-US" dirty="0"/>
              <a:t>远程验证：对密钥的管理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42EA19-395D-9D4F-95D9-B53E4597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752954-CCC8-A844-B3B8-32D7A45DD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8532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3719DD7B-D308-2542-85B7-66D9084C9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Enclave</a:t>
            </a:r>
            <a:r>
              <a:rPr lang="zh-CN" altLang="en-US" dirty="0"/>
              <a:t>的不足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DED6339-4A25-A245-BD81-C72772065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仅靠隔离是不够的，还需要考虑交互安全</a:t>
            </a:r>
            <a:endParaRPr lang="en-US" altLang="zh-CN" dirty="0"/>
          </a:p>
          <a:p>
            <a:pPr lvl="1"/>
            <a:r>
              <a:rPr lang="en-US" altLang="zh-CN" dirty="0"/>
              <a:t>Enclave</a:t>
            </a:r>
            <a:r>
              <a:rPr lang="zh-CN" altLang="en-US" dirty="0"/>
              <a:t>依然需要</a:t>
            </a:r>
            <a:r>
              <a:rPr lang="en-US" altLang="zh-CN" dirty="0"/>
              <a:t>OS</a:t>
            </a:r>
            <a:r>
              <a:rPr lang="zh-CN" altLang="en-US" dirty="0"/>
              <a:t>提供服务：调度、系统调用、资源分配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即使隔离，</a:t>
            </a:r>
            <a:r>
              <a:rPr lang="en-US" altLang="zh-CN" dirty="0"/>
              <a:t>OS</a:t>
            </a:r>
            <a:r>
              <a:rPr lang="zh-CN" altLang="en-US" dirty="0"/>
              <a:t>依然可能发起的攻击包括</a:t>
            </a:r>
            <a:endParaRPr lang="en-US" altLang="zh-CN" dirty="0"/>
          </a:p>
          <a:p>
            <a:pPr lvl="2"/>
            <a:r>
              <a:rPr lang="zh-CN" altLang="en-US" dirty="0"/>
              <a:t>接口攻击：合法的系统调用返回错误的值</a:t>
            </a:r>
            <a:endParaRPr lang="en-US" altLang="zh-CN" dirty="0"/>
          </a:p>
          <a:p>
            <a:pPr lvl="3"/>
            <a:r>
              <a:rPr lang="zh-CN" altLang="en-US" dirty="0"/>
              <a:t>例：</a:t>
            </a:r>
            <a:r>
              <a:rPr lang="en-US" altLang="zh-CN" dirty="0"/>
              <a:t>malloc</a:t>
            </a:r>
            <a:r>
              <a:rPr lang="zh-CN" altLang="en-US" dirty="0"/>
              <a:t>返回指向栈的地址，导致内部自己破坏掉栈</a:t>
            </a:r>
            <a:endParaRPr lang="en-US" altLang="zh-CN" dirty="0"/>
          </a:p>
          <a:p>
            <a:pPr lvl="2"/>
            <a:r>
              <a:rPr lang="en-US" altLang="zh-CN" dirty="0"/>
              <a:t>DoS</a:t>
            </a:r>
            <a:r>
              <a:rPr lang="zh-CN" altLang="en-US" dirty="0"/>
              <a:t>攻击：拒绝分配计算资源（恶意调度）</a:t>
            </a:r>
            <a:endParaRPr lang="en-US" altLang="zh-CN" dirty="0"/>
          </a:p>
          <a:p>
            <a:r>
              <a:rPr lang="zh-CN" altLang="en-US" dirty="0"/>
              <a:t>依然受到侧信道等攻击的威胁</a:t>
            </a:r>
            <a:endParaRPr lang="en-US" altLang="zh-CN" dirty="0"/>
          </a:p>
          <a:p>
            <a:pPr lvl="1"/>
            <a:r>
              <a:rPr lang="en-US" altLang="zh-CN" dirty="0" err="1"/>
              <a:t>Spectre</a:t>
            </a:r>
            <a:r>
              <a:rPr lang="zh-CN" altLang="en-US" dirty="0"/>
              <a:t>、</a:t>
            </a:r>
            <a:r>
              <a:rPr lang="en-US" altLang="zh-CN" dirty="0"/>
              <a:t>L1TF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B98FEF-2FD1-2C47-AAAF-B8403646D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BDA1B4-CE88-264E-B5A7-241252C7B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3082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70406</TotalTime>
  <Words>5810</Words>
  <Application>Microsoft Macintosh PowerPoint</Application>
  <PresentationFormat>全屏显示(16:10)</PresentationFormat>
  <Paragraphs>814</Paragraphs>
  <Slides>54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0" baseType="lpstr">
      <vt:lpstr>DengXian</vt:lpstr>
      <vt:lpstr>微软雅黑</vt:lpstr>
      <vt:lpstr>Arial</vt:lpstr>
      <vt:lpstr>Calibri</vt:lpstr>
      <vt:lpstr>Wingdings</vt:lpstr>
      <vt:lpstr>Office 主题​​</vt:lpstr>
      <vt:lpstr>硬件辅助系统安全</vt:lpstr>
      <vt:lpstr>版权声明</vt:lpstr>
      <vt:lpstr>Review：DAC与MAC</vt:lpstr>
      <vt:lpstr>Review：侧信道与隐秘信道的关系</vt:lpstr>
      <vt:lpstr>常量时间（Constant Time）算法</vt:lpstr>
      <vt:lpstr>不经意随机访问内存（ORAM）</vt:lpstr>
      <vt:lpstr>案例分析：Meltdown</vt:lpstr>
      <vt:lpstr>Meltdown漏洞</vt:lpstr>
      <vt:lpstr>背景-1：基于页表权限的内核数据保护</vt:lpstr>
      <vt:lpstr>背景-1：基于页表权限的内核数据保护</vt:lpstr>
      <vt:lpstr>背景-2：CPU投机执行（预测执行）</vt:lpstr>
      <vt:lpstr>Meltdown漏洞原理</vt:lpstr>
      <vt:lpstr>Meltdown漏洞原理</vt:lpstr>
      <vt:lpstr>Meltdown漏洞原理</vt:lpstr>
      <vt:lpstr>Meltdown漏洞原理</vt:lpstr>
      <vt:lpstr>Meltdown漏洞原理</vt:lpstr>
      <vt:lpstr>Meltdown漏洞原理</vt:lpstr>
      <vt:lpstr>Meltdown漏洞危害</vt:lpstr>
      <vt:lpstr>Meltdown漏洞的软件防御方法</vt:lpstr>
      <vt:lpstr>KPTI：Linux的Meltdown漏洞防御机制</vt:lpstr>
      <vt:lpstr>KPTI造成的性能损失</vt:lpstr>
      <vt:lpstr>KPTI：性能优化方法</vt:lpstr>
      <vt:lpstr>总结</vt:lpstr>
      <vt:lpstr>课后练习（选做）</vt:lpstr>
      <vt:lpstr>回顾：操作系统安全的三个层次</vt:lpstr>
      <vt:lpstr>当操作系统不再可信时...</vt:lpstr>
      <vt:lpstr>为什么要假设操作系统是恶意的？</vt:lpstr>
      <vt:lpstr>恶意操作系统如何攻击应用？</vt:lpstr>
      <vt:lpstr>现实中的类似攻击</vt:lpstr>
      <vt:lpstr>一种新的威胁模型：安全处理器</vt:lpstr>
      <vt:lpstr>Enclave/TEE：可信执行环境</vt:lpstr>
      <vt:lpstr>Enclave/TEE在工业界发展迅速</vt:lpstr>
      <vt:lpstr>硬件Enclave提供不同粒度的隔离环境</vt:lpstr>
      <vt:lpstr>Enclave案例分析：Intel SGX</vt:lpstr>
      <vt:lpstr>Intel SGX</vt:lpstr>
      <vt:lpstr>硬件内存加密与保护机制</vt:lpstr>
      <vt:lpstr>EPC（Enclave Page Cache）</vt:lpstr>
      <vt:lpstr>Enclave与进程的关系</vt:lpstr>
      <vt:lpstr>远程验证（Remote Attestation）</vt:lpstr>
      <vt:lpstr>硬件内存加密</vt:lpstr>
      <vt:lpstr>生成seed用于加密</vt:lpstr>
      <vt:lpstr>硬件内存加密</vt:lpstr>
      <vt:lpstr>内存完整性保护</vt:lpstr>
      <vt:lpstr>内存完整性保护：Merkle Hash Tree</vt:lpstr>
      <vt:lpstr>其他平台的 Enclave/TEE</vt:lpstr>
      <vt:lpstr>ARM TrustZone 技术</vt:lpstr>
      <vt:lpstr>TEE硬件状态与软件架构</vt:lpstr>
      <vt:lpstr>用TrustZone保护指纹的录入和识别</vt:lpstr>
      <vt:lpstr>AMD SEV</vt:lpstr>
      <vt:lpstr>RISC-V平台的Enclave</vt:lpstr>
      <vt:lpstr>蓬莱 Enclave：诞生自 SJTU</vt:lpstr>
      <vt:lpstr>小结</vt:lpstr>
      <vt:lpstr>控制系统复杂性</vt:lpstr>
      <vt:lpstr>Enclave的不足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Yubin Xia</cp:lastModifiedBy>
  <cp:revision>5459</cp:revision>
  <cp:lastPrinted>2016-06-13T07:55:34Z</cp:lastPrinted>
  <dcterms:created xsi:type="dcterms:W3CDTF">2017-11-24T09:35:45Z</dcterms:created>
  <dcterms:modified xsi:type="dcterms:W3CDTF">2022-05-24T02:01:01Z</dcterms:modified>
</cp:coreProperties>
</file>