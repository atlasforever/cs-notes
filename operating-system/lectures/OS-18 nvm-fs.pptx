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57"/>
  </p:notesMasterIdLst>
  <p:handoutMasterIdLst>
    <p:handoutMasterId r:id="rId58"/>
  </p:handoutMasterIdLst>
  <p:sldIdLst>
    <p:sldId id="1306" r:id="rId2"/>
    <p:sldId id="1359" r:id="rId3"/>
    <p:sldId id="2604" r:id="rId4"/>
    <p:sldId id="2603" r:id="rId5"/>
    <p:sldId id="2465" r:id="rId6"/>
    <p:sldId id="2471" r:id="rId7"/>
    <p:sldId id="2605" r:id="rId8"/>
    <p:sldId id="2580" r:id="rId9"/>
    <p:sldId id="2552" r:id="rId10"/>
    <p:sldId id="2531" r:id="rId11"/>
    <p:sldId id="2600" r:id="rId12"/>
    <p:sldId id="2507" r:id="rId13"/>
    <p:sldId id="2586" r:id="rId14"/>
    <p:sldId id="2587" r:id="rId15"/>
    <p:sldId id="2588" r:id="rId16"/>
    <p:sldId id="2589" r:id="rId17"/>
    <p:sldId id="2590" r:id="rId18"/>
    <p:sldId id="2594" r:id="rId19"/>
    <p:sldId id="2595" r:id="rId20"/>
    <p:sldId id="2506" r:id="rId21"/>
    <p:sldId id="2596" r:id="rId22"/>
    <p:sldId id="2501" r:id="rId23"/>
    <p:sldId id="2560" r:id="rId24"/>
    <p:sldId id="2461" r:id="rId25"/>
    <p:sldId id="2500" r:id="rId26"/>
    <p:sldId id="2538" r:id="rId27"/>
    <p:sldId id="2597" r:id="rId28"/>
    <p:sldId id="2541" r:id="rId29"/>
    <p:sldId id="2563" r:id="rId30"/>
    <p:sldId id="2565" r:id="rId31"/>
    <p:sldId id="2566" r:id="rId32"/>
    <p:sldId id="2513" r:id="rId33"/>
    <p:sldId id="2555" r:id="rId34"/>
    <p:sldId id="342" r:id="rId35"/>
    <p:sldId id="347" r:id="rId36"/>
    <p:sldId id="273" r:id="rId37"/>
    <p:sldId id="2568" r:id="rId38"/>
    <p:sldId id="2569" r:id="rId39"/>
    <p:sldId id="2571" r:id="rId40"/>
    <p:sldId id="275" r:id="rId41"/>
    <p:sldId id="276" r:id="rId42"/>
    <p:sldId id="364" r:id="rId43"/>
    <p:sldId id="279" r:id="rId44"/>
    <p:sldId id="366" r:id="rId45"/>
    <p:sldId id="365" r:id="rId46"/>
    <p:sldId id="2514" r:id="rId47"/>
    <p:sldId id="2567" r:id="rId48"/>
    <p:sldId id="260" r:id="rId49"/>
    <p:sldId id="2556" r:id="rId50"/>
    <p:sldId id="382" r:id="rId51"/>
    <p:sldId id="383" r:id="rId52"/>
    <p:sldId id="384" r:id="rId53"/>
    <p:sldId id="2572" r:id="rId54"/>
    <p:sldId id="385" r:id="rId55"/>
    <p:sldId id="2606" r:id="rId56"/>
  </p:sldIdLst>
  <p:sldSz cx="9144000" cy="5715000" type="screen16x1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80" userDrawn="1">
          <p15:clr>
            <a:srgbClr val="A4A3A4"/>
          </p15:clr>
        </p15:guide>
        <p15:guide id="2" pos="793" userDrawn="1">
          <p15:clr>
            <a:srgbClr val="A4A3A4"/>
          </p15:clr>
        </p15:guide>
        <p15:guide id="3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E81BE"/>
    <a:srgbClr val="73FEFF"/>
    <a:srgbClr val="FF9300"/>
    <a:srgbClr val="0A9940"/>
    <a:srgbClr val="00FB92"/>
    <a:srgbClr val="941100"/>
    <a:srgbClr val="212121"/>
    <a:srgbClr val="005493"/>
    <a:srgbClr val="FF2F92"/>
    <a:srgbClr val="9437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383" autoAdjust="0"/>
    <p:restoredTop sz="74380" autoAdjust="0"/>
  </p:normalViewPr>
  <p:slideViewPr>
    <p:cSldViewPr>
      <p:cViewPr varScale="1">
        <p:scale>
          <a:sx n="103" d="100"/>
          <a:sy n="103" d="100"/>
        </p:scale>
        <p:origin x="192" y="216"/>
      </p:cViewPr>
      <p:guideLst>
        <p:guide orient="horz" pos="2480"/>
        <p:guide pos="793"/>
        <p:guide pos="2880"/>
      </p:guideLst>
    </p:cSldViewPr>
  </p:slideViewPr>
  <p:outlineViewPr>
    <p:cViewPr>
      <p:scale>
        <a:sx n="33" d="100"/>
        <a:sy n="33" d="100"/>
      </p:scale>
      <p:origin x="0" y="-572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96" d="100"/>
          <a:sy n="96" d="100"/>
        </p:scale>
        <p:origin x="3048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384E5B-0B7C-A143-A087-04B582FC4BEF}" type="datetimeFigureOut">
              <a:rPr kumimoji="1" lang="zh-CN" altLang="en-US" smtClean="0"/>
              <a:t>2022/4/19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8370ED-3FEA-E543-9D41-DF20FAD761C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551917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D7DB94-E0DE-4F0F-A9B7-54654CD8C8B1}" type="datetimeFigureOut">
              <a:rPr lang="zh-CN" altLang="en-US" smtClean="0"/>
              <a:t>2022/4/19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84A077-83E9-49A7-9F59-234D78BD69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0265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685800"/>
            <a:ext cx="54864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>
                <a:solidFill>
                  <a:prstClr val="black"/>
                </a:solidFill>
              </a:rPr>
              <a:pPr/>
              <a:t>1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90187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70074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21028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60MB</a:t>
            </a:r>
            <a:r>
              <a:rPr lang="zh-CN" altLang="en-CN" dirty="0"/>
              <a:t>读</a:t>
            </a:r>
            <a:r>
              <a:rPr lang="zh-CN" altLang="en-US" dirty="0"/>
              <a:t>，</a:t>
            </a:r>
            <a:r>
              <a:rPr lang="en-US" altLang="zh-CN" dirty="0"/>
              <a:t>60MB</a:t>
            </a:r>
            <a:r>
              <a:rPr lang="zh-CN" altLang="en-US" dirty="0"/>
              <a:t>写</a:t>
            </a:r>
            <a:endParaRPr lang="en-US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738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60MB</a:t>
            </a:r>
            <a:r>
              <a:rPr lang="zh-CN" altLang="en-CN" dirty="0"/>
              <a:t>读</a:t>
            </a:r>
            <a:r>
              <a:rPr lang="zh-CN" altLang="en-US" dirty="0"/>
              <a:t>，</a:t>
            </a:r>
            <a:r>
              <a:rPr lang="en-US" altLang="zh-CN" dirty="0"/>
              <a:t>60MB</a:t>
            </a:r>
            <a:r>
              <a:rPr lang="zh-CN" altLang="en-US" dirty="0"/>
              <a:t>写</a:t>
            </a:r>
            <a:endParaRPr lang="en-US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29175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60MB</a:t>
            </a:r>
            <a:r>
              <a:rPr lang="zh-CN" altLang="en-CN" dirty="0"/>
              <a:t>读</a:t>
            </a:r>
            <a:r>
              <a:rPr lang="zh-CN" altLang="en-US" dirty="0"/>
              <a:t>，</a:t>
            </a:r>
            <a:r>
              <a:rPr lang="en-US" altLang="zh-CN" dirty="0"/>
              <a:t>60MB</a:t>
            </a:r>
            <a:r>
              <a:rPr lang="zh-CN" altLang="en-US" dirty="0"/>
              <a:t>写</a:t>
            </a:r>
            <a:endParaRPr lang="en-US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43920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5420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CN" dirty="0"/>
              <a:t>停顿</a:t>
            </a:r>
            <a:endParaRPr lang="en-US" altLang="zh-CN" dirty="0"/>
          </a:p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19328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i="1" dirty="0"/>
              <a:t>M</a:t>
            </a:r>
            <a:r>
              <a:rPr lang="en-US" i="1" dirty="0"/>
              <a:t>ovdir64b</a:t>
            </a:r>
            <a:r>
              <a:rPr lang="zh-CN" altLang="en-US" i="1" dirty="0"/>
              <a:t> </a:t>
            </a:r>
            <a:r>
              <a:rPr lang="zh-CN" altLang="en-US" dirty="0"/>
              <a:t>指令</a:t>
            </a:r>
            <a:endParaRPr lang="en-US" dirty="0"/>
          </a:p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52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61281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53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07027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ARM</a:t>
            </a:r>
            <a:r>
              <a:rPr kumimoji="1" lang="zh-CN" altLang="en-US" dirty="0"/>
              <a:t>也有类似</a:t>
            </a:r>
            <a:r>
              <a:rPr kumimoji="1" lang="en-US" altLang="zh-CN" dirty="0"/>
              <a:t>flag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54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054255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55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59344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775358"/>
            <a:ext cx="7772400" cy="1225021"/>
          </a:xfrm>
        </p:spPr>
        <p:txBody>
          <a:bodyPr>
            <a:normAutofit/>
          </a:bodyPr>
          <a:lstStyle>
            <a:lvl1pPr algn="ctr">
              <a:defRPr sz="4400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238500"/>
            <a:ext cx="64008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页脚占位符 4">
            <a:extLst>
              <a:ext uri="{FF2B5EF4-FFF2-40B4-BE49-F238E27FC236}">
                <a16:creationId xmlns:a16="http://schemas.microsoft.com/office/drawing/2014/main" id="{9FA25068-95BE-F84A-896E-9E89F94348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lvl1pPr algn="ctr">
              <a:defRPr sz="1100"/>
            </a:lvl1pPr>
          </a:lstStyle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21461422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>
            <a:lvl1pPr>
              <a:defRPr b="1">
                <a:solidFill>
                  <a:schemeClr val="accent1"/>
                </a:solidFill>
                <a:latin typeface="+mj-lt"/>
                <a:ea typeface="+mj-ea"/>
                <a:cs typeface="微软雅黑 Light" panose="020B0502040204020203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20000"/>
              </a:lnSpc>
              <a:defRPr sz="2400" b="1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lnSpc>
                <a:spcPct val="120000"/>
              </a:lnSpc>
              <a:defRPr sz="20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lnSpc>
                <a:spcPct val="120000"/>
              </a:lnSpc>
              <a:defRPr sz="20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-180527" y="439062"/>
            <a:ext cx="164581" cy="48005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066DE83E-C489-9340-8A6C-F2C63F8574DC}"/>
              </a:ext>
            </a:extLst>
          </p:cNvPr>
          <p:cNvSpPr/>
          <p:nvPr userDrawn="1"/>
        </p:nvSpPr>
        <p:spPr>
          <a:xfrm rot="5400000">
            <a:off x="-160702" y="599536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  <p:sp>
        <p:nvSpPr>
          <p:cNvPr id="9" name="页脚占位符 4">
            <a:extLst>
              <a:ext uri="{FF2B5EF4-FFF2-40B4-BE49-F238E27FC236}">
                <a16:creationId xmlns:a16="http://schemas.microsoft.com/office/drawing/2014/main" id="{6608DAFC-F7CB-BF45-A12C-3E5B3C7488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/>
          <a:lstStyle>
            <a:lvl1pPr algn="ctr">
              <a:defRPr sz="1100"/>
            </a:lvl1pPr>
          </a:lstStyle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949560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672418"/>
            <a:ext cx="7772400" cy="1135062"/>
          </a:xfrm>
        </p:spPr>
        <p:txBody>
          <a:bodyPr anchor="t"/>
          <a:lstStyle>
            <a:lvl1pPr algn="l">
              <a:defRPr sz="4000" b="1" cap="all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422261"/>
            <a:ext cx="7772400" cy="125015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A8EE614D-B549-154F-943F-0F3919AB5939}"/>
              </a:ext>
            </a:extLst>
          </p:cNvPr>
          <p:cNvSpPr/>
          <p:nvPr userDrawn="1"/>
        </p:nvSpPr>
        <p:spPr>
          <a:xfrm rot="5400000">
            <a:off x="-160703" y="3920373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  <p:sp>
        <p:nvSpPr>
          <p:cNvPr id="9" name="页脚占位符 4">
            <a:extLst>
              <a:ext uri="{FF2B5EF4-FFF2-40B4-BE49-F238E27FC236}">
                <a16:creationId xmlns:a16="http://schemas.microsoft.com/office/drawing/2014/main" id="{222B87CB-0BF3-3A40-9555-EFDE398401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/>
          <a:lstStyle>
            <a:lvl1pPr algn="ctr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14694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333501"/>
            <a:ext cx="82296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1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fld id="{ADE361C3-C043-4A6E-BDCE-8DA1E7D90A3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7" name="页脚占位符 4">
            <a:extLst>
              <a:ext uri="{FF2B5EF4-FFF2-40B4-BE49-F238E27FC236}">
                <a16:creationId xmlns:a16="http://schemas.microsoft.com/office/drawing/2014/main" id="{4DC863AB-1CA3-014A-96B6-C1A16FEA03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lvl1pPr>
              <a:defRPr sz="11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defRPr>
            </a:lvl1pPr>
          </a:lstStyle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90905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3600" b="1" kern="1200">
          <a:solidFill>
            <a:schemeClr val="accent1"/>
          </a:solidFill>
          <a:latin typeface="+mj-lt"/>
          <a:ea typeface="+mj-ea"/>
          <a:cs typeface="微软雅黑 Light" panose="020B0502040204020203" pitchFamily="34" charset="-122"/>
        </a:defRPr>
      </a:lvl1pPr>
    </p:titleStyle>
    <p:bodyStyle>
      <a:lvl1pPr marL="342900" indent="-342900" algn="l" defTabSz="914400" rtl="0" eaLnBrk="1" latinLnBrk="0" hangingPunct="1">
        <a:lnSpc>
          <a:spcPct val="120000"/>
        </a:lnSpc>
        <a:spcBef>
          <a:spcPts val="1200"/>
        </a:spcBef>
        <a:buFont typeface="Arial" pitchFamily="34" charset="0"/>
        <a:buChar char="•"/>
        <a:defRPr sz="2600" b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1pPr>
      <a:lvl2pPr marL="742950" indent="-28575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»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/4.0/legalcode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iff"/><Relationship Id="rId2" Type="http://schemas.openxmlformats.org/officeDocument/2006/relationships/image" Target="../media/image4.tif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tiff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tiff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tiff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2C7C6228-E47F-EA4B-8DD8-28647C76DD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720996"/>
            <a:ext cx="7772400" cy="1225021"/>
          </a:xfrm>
        </p:spPr>
        <p:txBody>
          <a:bodyPr>
            <a:normAutofit/>
          </a:bodyPr>
          <a:lstStyle/>
          <a:p>
            <a:pPr algn="ctr">
              <a:lnSpc>
                <a:spcPct val="110000"/>
              </a:lnSpc>
            </a:pPr>
            <a:r>
              <a:rPr kumimoji="1" lang="zh-CN" altLang="en-CN" sz="4800" dirty="0"/>
              <a:t>新型</a:t>
            </a:r>
            <a:r>
              <a:rPr kumimoji="1" lang="zh-CN" altLang="en-US" sz="4800" dirty="0"/>
              <a:t>存储设备的文件系统</a:t>
            </a:r>
          </a:p>
        </p:txBody>
      </p:sp>
      <p:sp>
        <p:nvSpPr>
          <p:cNvPr id="6" name="副标题 5">
            <a:extLst>
              <a:ext uri="{FF2B5EF4-FFF2-40B4-BE49-F238E27FC236}">
                <a16:creationId xmlns:a16="http://schemas.microsoft.com/office/drawing/2014/main" id="{A89EB2B2-D46F-2643-A072-954E7921BC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" y="3412362"/>
            <a:ext cx="7772400" cy="122502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上海交通大学并行与分布式系统研究所</a:t>
            </a:r>
            <a:endParaRPr kumimoji="1" lang="en-US" altLang="zh-CN" sz="1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en-US" altLang="zh-CN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https://</a:t>
            </a:r>
            <a:r>
              <a:rPr kumimoji="1" lang="en-US" altLang="zh-CN" sz="1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ipads.se.sjtu.edu.cn</a:t>
            </a:r>
            <a:endParaRPr kumimoji="1" lang="en" altLang="zh-CN" sz="1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23A70DCB-3E4D-4449-82B8-441C200ABD6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52120" y="252561"/>
            <a:ext cx="1362088" cy="492009"/>
          </a:xfrm>
          <a:prstGeom prst="rect">
            <a:avLst/>
          </a:prstGeom>
        </p:spPr>
      </p:pic>
      <p:sp>
        <p:nvSpPr>
          <p:cNvPr id="7" name="副标题 2">
            <a:extLst>
              <a:ext uri="{FF2B5EF4-FFF2-40B4-BE49-F238E27FC236}">
                <a16:creationId xmlns:a16="http://schemas.microsoft.com/office/drawing/2014/main" id="{E2120B98-7095-B94B-B13B-75606426BFB4}"/>
              </a:ext>
            </a:extLst>
          </p:cNvPr>
          <p:cNvSpPr txBox="1">
            <a:spLocks/>
          </p:cNvSpPr>
          <p:nvPr/>
        </p:nvSpPr>
        <p:spPr>
          <a:xfrm>
            <a:off x="467544" y="252559"/>
            <a:ext cx="3240360" cy="504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None/>
              <a:defRPr sz="2600" b="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altLang="zh-CN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SE3357-1</a:t>
            </a:r>
            <a:r>
              <a:rPr lang="zh-CN" altLang="en-US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 </a:t>
            </a:r>
            <a:r>
              <a:rPr lang="en-US" altLang="zh-CN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·</a:t>
            </a:r>
            <a:r>
              <a:rPr lang="zh-CN" altLang="en-US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 操作系统（</a:t>
            </a:r>
            <a:r>
              <a:rPr lang="en-US" altLang="zh-CN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2022</a:t>
            </a:r>
            <a:r>
              <a:rPr lang="zh-CN" altLang="en-US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春）</a:t>
            </a:r>
          </a:p>
        </p:txBody>
      </p:sp>
      <p:pic>
        <p:nvPicPr>
          <p:cNvPr id="8" name="Picture 6" descr="http://korean.onlinesjtu.com/%E6%A0%A1%E5%BE%BD%E7%B3%BB%E5%88%97/%E7%BC%A9%E5%B0%8F%E7%89%88/%E8%93%9D%E8%89%B2%E7%B3%BB%20%E5%B0%8F%E5%B0%BA%E5%AF%B8%E6%A0%A1%E5%BE%BD%E5%B1%95%E5%BC%80%E5%BC%8F%20(10mm%E4%BB%A5%E4%B8%8B%E4%BD%BF%E7%94%A8)%20%5b%E8%BD%AC%E6%8D%A2%5d.png">
            <a:extLst>
              <a:ext uri="{FF2B5EF4-FFF2-40B4-BE49-F238E27FC236}">
                <a16:creationId xmlns:a16="http://schemas.microsoft.com/office/drawing/2014/main" id="{9D0C1772-9C9E-534B-9410-16BA28CA6E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164288" y="282539"/>
            <a:ext cx="1642840" cy="432048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8067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626"/>
    </mc:Choice>
    <mc:Fallback xmlns="">
      <p:transition spd="slow" advTm="11626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BE39C2-86D1-9B45-B569-48F1570E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>
                <a:latin typeface="+mn-lt"/>
              </a:rPr>
              <a:t>版权声明</a:t>
            </a:r>
            <a:endParaRPr kumimoji="1" lang="zh-CN" altLang="en-US" dirty="0">
              <a:latin typeface="+mn-lt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5B3383-B219-984C-8D0C-BCF0766559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zh-CN" altLang="en-US" sz="2000" b="0">
                <a:latin typeface="+mn-lt"/>
              </a:rPr>
              <a:t>本内容版权归</a:t>
            </a:r>
            <a:r>
              <a:rPr lang="zh-CN" altLang="en-US" sz="2000">
                <a:latin typeface="+mn-lt"/>
              </a:rPr>
              <a:t>上海交通大学并行与分布式系统研究所</a:t>
            </a:r>
            <a:r>
              <a:rPr lang="zh-CN" altLang="en-US" sz="2000" b="0">
                <a:latin typeface="+mn-lt"/>
              </a:rPr>
              <a:t>所有</a:t>
            </a:r>
            <a:endParaRPr lang="en-US" altLang="zh-CN" sz="2000" b="0">
              <a:latin typeface="+mn-lt"/>
            </a:endParaRPr>
          </a:p>
          <a:p>
            <a:r>
              <a:rPr lang="zh-CN" altLang="en-US" sz="2000" b="0">
                <a:latin typeface="+mn-lt"/>
              </a:rPr>
              <a:t>使用者可以将全部或部分本内容免费用于非商业用途</a:t>
            </a:r>
            <a:endParaRPr lang="en-US" altLang="zh-CN" sz="2000" b="0">
              <a:latin typeface="+mn-lt"/>
            </a:endParaRPr>
          </a:p>
          <a:p>
            <a:r>
              <a:rPr lang="zh-CN" altLang="en-US" sz="2000" b="0">
                <a:latin typeface="+mn-lt"/>
              </a:rPr>
              <a:t>使用者在使用全部或部分本内容时请注明来源：</a:t>
            </a:r>
            <a:endParaRPr lang="en-US" altLang="zh-CN" sz="2000" b="0">
              <a:latin typeface="+mn-lt"/>
            </a:endParaRPr>
          </a:p>
          <a:p>
            <a:pPr lvl="1"/>
            <a:r>
              <a:rPr lang="zh-CN" altLang="en-US" sz="1600"/>
              <a:t>内容来自：上海交通大学并行与分布式系统研究所</a:t>
            </a:r>
            <a:r>
              <a:rPr lang="en-US" altLang="zh-CN" sz="1600"/>
              <a:t>+</a:t>
            </a:r>
            <a:r>
              <a:rPr lang="zh-CN" altLang="en-US" sz="1600"/>
              <a:t>材料名字</a:t>
            </a:r>
            <a:endParaRPr lang="en-US" altLang="zh-CN" sz="1600"/>
          </a:p>
          <a:p>
            <a:r>
              <a:rPr lang="zh-CN" altLang="en-US" sz="2000" b="0">
                <a:latin typeface="+mn-lt"/>
              </a:rPr>
              <a:t>对于不遵守此声明或者其他违法使用本内容者，将依法保留追究权</a:t>
            </a:r>
            <a:endParaRPr lang="en-US" altLang="zh-CN" sz="2000" b="0">
              <a:latin typeface="+mn-lt"/>
            </a:endParaRPr>
          </a:p>
          <a:p>
            <a:r>
              <a:rPr lang="zh-CN" altLang="en-US" sz="2000" b="0">
                <a:latin typeface="+mn-lt"/>
              </a:rPr>
              <a:t>本内容的发布采用 </a:t>
            </a:r>
            <a:r>
              <a:rPr lang="en-US" altLang="zh-CN" sz="2000" b="0">
                <a:latin typeface="+mn-lt"/>
              </a:rPr>
              <a:t>Creative Commons</a:t>
            </a:r>
            <a:r>
              <a:rPr lang="zh-CN" altLang="en-US" sz="2000" b="0">
                <a:latin typeface="+mn-lt"/>
              </a:rPr>
              <a:t> </a:t>
            </a:r>
            <a:r>
              <a:rPr lang="en-US" altLang="zh-CN" sz="2000" b="0">
                <a:latin typeface="+mn-lt"/>
              </a:rPr>
              <a:t>Attribution</a:t>
            </a:r>
            <a:r>
              <a:rPr lang="zh-CN" altLang="en-US" sz="2000" b="0">
                <a:latin typeface="+mn-lt"/>
              </a:rPr>
              <a:t> </a:t>
            </a:r>
            <a:r>
              <a:rPr lang="en-US" altLang="zh-CN" sz="2000" b="0">
                <a:latin typeface="+mn-lt"/>
              </a:rPr>
              <a:t>4.0</a:t>
            </a:r>
            <a:r>
              <a:rPr lang="zh-CN" altLang="en-US" sz="2000" b="0">
                <a:latin typeface="+mn-lt"/>
              </a:rPr>
              <a:t> </a:t>
            </a:r>
            <a:r>
              <a:rPr lang="en-US" altLang="zh-CN" sz="2000" b="0">
                <a:latin typeface="+mn-lt"/>
              </a:rPr>
              <a:t>License</a:t>
            </a:r>
            <a:endParaRPr lang="en-US" altLang="zh-CN" sz="2400" b="0">
              <a:latin typeface="+mn-lt"/>
            </a:endParaRPr>
          </a:p>
          <a:p>
            <a:pPr lvl="1"/>
            <a:r>
              <a:rPr lang="zh-CN" altLang="en-US" sz="1600">
                <a:latin typeface="+mn-lt"/>
              </a:rPr>
              <a:t>完整文本：</a:t>
            </a:r>
            <a:r>
              <a:rPr lang="en-US" altLang="zh-CN" sz="1600">
                <a:latin typeface="+mn-lt"/>
                <a:hlinkClick r:id="rId2"/>
              </a:rPr>
              <a:t>https://creativecommons.org/licenses/by/4.0/legalcode</a:t>
            </a:r>
            <a:endParaRPr lang="en-US" altLang="zh-CN" sz="1800" b="0">
              <a:latin typeface="+mn-lt"/>
            </a:endParaRPr>
          </a:p>
          <a:p>
            <a:endParaRPr kumimoji="1" lang="zh-CN" altLang="en-US" sz="2000" dirty="0">
              <a:latin typeface="+mn-lt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D6275D-0E58-1C46-BA79-C46B2D55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3E75993-6B82-2A4E-883D-B9872C5016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152267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AAB55955-13AD-7D46-998A-76B0892D44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0217" y="409228"/>
            <a:ext cx="2482779" cy="2244705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6A683BAE-F248-2943-86E6-FDA6E3E57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磁盘的机械结构与性能特性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60220B3-BC94-2C48-8A2E-D28FBD82D9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磁碟、磁头与机械臂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每个磁碟的两个表面都可以存储数据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磁碟转速为每分钟 </a:t>
            </a:r>
            <a:r>
              <a:rPr kumimoji="1" lang="en-US" altLang="zh-CN" dirty="0"/>
              <a:t>5400 </a:t>
            </a:r>
            <a:r>
              <a:rPr kumimoji="1" lang="zh-CN" altLang="en-US" dirty="0"/>
              <a:t>转或 </a:t>
            </a:r>
            <a:r>
              <a:rPr kumimoji="1" lang="en-US" altLang="zh-CN" dirty="0"/>
              <a:t>7200 </a:t>
            </a:r>
            <a:r>
              <a:rPr kumimoji="1" lang="zh-CN" altLang="en-US" dirty="0"/>
              <a:t>转</a:t>
            </a:r>
          </a:p>
          <a:p>
            <a:pPr lvl="1"/>
            <a:r>
              <a:rPr kumimoji="1" lang="zh-CN" altLang="en-US" dirty="0"/>
              <a:t>信息保存在以磁柱为中心的同心圆环（即磁道）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每个磁道按照角度不同又进一步划分成不同的扇区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需要机械臂主动进行移动来访问不同位置的数据</a:t>
            </a:r>
            <a:endParaRPr kumimoji="1" lang="en-US" altLang="zh-CN" dirty="0"/>
          </a:p>
          <a:p>
            <a:r>
              <a:rPr kumimoji="1" lang="zh-CN" altLang="en-US" dirty="0"/>
              <a:t>性能特性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顺序读写的速度远远大于随机读写（差距</a:t>
            </a:r>
            <a:r>
              <a:rPr kumimoji="1" lang="en-US" altLang="zh-CN" dirty="0"/>
              <a:t>100</a:t>
            </a:r>
            <a:r>
              <a:rPr kumimoji="1" lang="zh-CN" altLang="en-US" dirty="0"/>
              <a:t>倍左右）</a:t>
            </a: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B1418ED-D12D-6343-9585-2952F468D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7DEFD9-87B2-6341-B69B-E003AD003D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635737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F8192-BB25-1E46-98BE-755D58932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Review</a:t>
            </a:r>
            <a:r>
              <a:rPr lang="zh-CN" altLang="en-US" dirty="0"/>
              <a:t>：</a:t>
            </a:r>
            <a:r>
              <a:rPr lang="en-US" altLang="zh-CN" dirty="0"/>
              <a:t>LFS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BB1BF2-A5F5-AD4A-BF63-200B0A0ABC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CN" b="0" dirty="0"/>
              <a:t>一个</a:t>
            </a:r>
            <a:r>
              <a:rPr lang="zh-CN" altLang="en-US" b="0" dirty="0"/>
              <a:t>日志文件系统</a:t>
            </a:r>
            <a:endParaRPr lang="en-CN" altLang="zh-CN" b="0" dirty="0"/>
          </a:p>
          <a:p>
            <a:pPr lvl="1"/>
            <a:r>
              <a:rPr lang="zh-CN" altLang="en-US" b="0" dirty="0"/>
              <a:t>有</a:t>
            </a:r>
            <a:r>
              <a:rPr lang="en-US" altLang="zh-CN" b="0" dirty="0"/>
              <a:t>4</a:t>
            </a:r>
            <a:r>
              <a:rPr lang="zh-CN" altLang="en-US" b="0" dirty="0"/>
              <a:t>个</a:t>
            </a:r>
            <a:r>
              <a:rPr lang="en-US" altLang="zh-CN" b="0" dirty="0" err="1"/>
              <a:t>inode</a:t>
            </a:r>
            <a:r>
              <a:rPr lang="zh-CN" altLang="en-US" b="0" dirty="0"/>
              <a:t>，位置记录在</a:t>
            </a:r>
            <a:r>
              <a:rPr lang="en-US" altLang="zh-CN" b="0" dirty="0" err="1"/>
              <a:t>inode</a:t>
            </a:r>
            <a:r>
              <a:rPr lang="zh-CN" altLang="en-US" b="0" dirty="0"/>
              <a:t> </a:t>
            </a:r>
            <a:r>
              <a:rPr lang="en-US" altLang="zh-CN" b="0" dirty="0"/>
              <a:t>map</a:t>
            </a:r>
            <a:r>
              <a:rPr lang="zh-CN" altLang="en-US" b="0" dirty="0"/>
              <a:t>中</a:t>
            </a:r>
            <a:endParaRPr lang="en-US" altLang="zh-CN" b="0" dirty="0"/>
          </a:p>
          <a:p>
            <a:pPr lvl="1"/>
            <a:r>
              <a:rPr lang="zh-CN" altLang="en-US" dirty="0"/>
              <a:t>对应</a:t>
            </a:r>
            <a:r>
              <a:rPr lang="en-US" altLang="zh-CN" dirty="0"/>
              <a:t>4</a:t>
            </a:r>
            <a:r>
              <a:rPr lang="zh-CN" altLang="en-US" dirty="0"/>
              <a:t>个文件分别为：</a:t>
            </a:r>
            <a:r>
              <a:rPr lang="en-US" altLang="zh-CN" dirty="0"/>
              <a:t>/</a:t>
            </a:r>
            <a:r>
              <a:rPr lang="zh-CN" altLang="en-US" dirty="0"/>
              <a:t>，</a:t>
            </a:r>
            <a:r>
              <a:rPr lang="en-US" altLang="zh-CN" dirty="0"/>
              <a:t>/dir2</a:t>
            </a:r>
            <a:r>
              <a:rPr lang="zh-CN" altLang="en-US" dirty="0"/>
              <a:t>，</a:t>
            </a:r>
            <a:r>
              <a:rPr lang="en-US" altLang="zh-CN" dirty="0"/>
              <a:t>/file2</a:t>
            </a:r>
            <a:r>
              <a:rPr lang="zh-CN" altLang="en-US" dirty="0"/>
              <a:t>，</a:t>
            </a:r>
            <a:r>
              <a:rPr lang="en-US" altLang="zh-CN" dirty="0"/>
              <a:t>/dir2/file1</a:t>
            </a:r>
          </a:p>
          <a:p>
            <a:pPr marL="0" indent="0">
              <a:buNone/>
            </a:pPr>
            <a:endParaRPr lang="en-US" altLang="zh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7ACB61-3112-A946-A055-69ABA9100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44ABDF-4DA5-0542-B8CC-AD03DF333B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7B91466-6B39-124F-A675-E974C15AB74E}"/>
              </a:ext>
            </a:extLst>
          </p:cNvPr>
          <p:cNvCxnSpPr>
            <a:cxnSpLocks/>
          </p:cNvCxnSpPr>
          <p:nvPr/>
        </p:nvCxnSpPr>
        <p:spPr>
          <a:xfrm>
            <a:off x="539750" y="3941557"/>
            <a:ext cx="632223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BFC321F-63BA-E04B-92F1-3D95B40CA671}"/>
              </a:ext>
            </a:extLst>
          </p:cNvPr>
          <p:cNvCxnSpPr>
            <a:cxnSpLocks/>
          </p:cNvCxnSpPr>
          <p:nvPr/>
        </p:nvCxnSpPr>
        <p:spPr>
          <a:xfrm>
            <a:off x="539750" y="4462496"/>
            <a:ext cx="632223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02014A18-EDCD-A540-86D7-F5E313F3A157}"/>
              </a:ext>
            </a:extLst>
          </p:cNvPr>
          <p:cNvSpPr/>
          <p:nvPr/>
        </p:nvSpPr>
        <p:spPr>
          <a:xfrm>
            <a:off x="539750" y="3956612"/>
            <a:ext cx="465918" cy="50467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zh-CN" altLang="en-US" sz="700" dirty="0"/>
              <a:t>数据块</a:t>
            </a:r>
            <a:endParaRPr lang="en-US" altLang="zh-CN" sz="700" dirty="0"/>
          </a:p>
          <a:p>
            <a:pPr algn="ctr"/>
            <a:endParaRPr lang="en-US" sz="700" dirty="0"/>
          </a:p>
          <a:p>
            <a:pPr algn="ctr"/>
            <a:r>
              <a:rPr lang="zh-CN" altLang="en-CN" sz="700" dirty="0"/>
              <a:t>文件内容</a:t>
            </a:r>
            <a:endParaRPr lang="en-US" altLang="zh-CN" sz="700" dirty="0"/>
          </a:p>
          <a:p>
            <a:pPr algn="ctr"/>
            <a:endParaRPr lang="en-CN" sz="70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475035B-5076-CE4A-9F19-68BF993F590E}"/>
              </a:ext>
            </a:extLst>
          </p:cNvPr>
          <p:cNvSpPr/>
          <p:nvPr/>
        </p:nvSpPr>
        <p:spPr>
          <a:xfrm>
            <a:off x="1005668" y="3956612"/>
            <a:ext cx="465918" cy="50387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CN" sz="1050" dirty="0"/>
              <a:t>inode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CC28A91-2C3C-9D46-8AAB-5A828CBD34C3}"/>
              </a:ext>
            </a:extLst>
          </p:cNvPr>
          <p:cNvSpPr txBox="1"/>
          <p:nvPr/>
        </p:nvSpPr>
        <p:spPr>
          <a:xfrm>
            <a:off x="6046228" y="458996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CN" dirty="0"/>
              <a:t>存储</a:t>
            </a:r>
            <a:r>
              <a:rPr lang="zh-CN" altLang="en-US" dirty="0"/>
              <a:t>设备</a:t>
            </a:r>
            <a:endParaRPr lang="en-CN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4880B7D-A1C2-5E43-B3D8-770C84D0C60B}"/>
              </a:ext>
            </a:extLst>
          </p:cNvPr>
          <p:cNvSpPr/>
          <p:nvPr/>
        </p:nvSpPr>
        <p:spPr>
          <a:xfrm>
            <a:off x="1469171" y="3956612"/>
            <a:ext cx="465918" cy="50467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700" dirty="0"/>
              <a:t>数据块</a:t>
            </a:r>
            <a:endParaRPr lang="en-US" altLang="zh-CN" sz="700" dirty="0"/>
          </a:p>
          <a:p>
            <a:pPr algn="ctr"/>
            <a:br>
              <a:rPr lang="en-US" altLang="zh-CN" sz="700" dirty="0"/>
            </a:br>
            <a:r>
              <a:rPr lang="en-US" altLang="zh-CN" sz="700" dirty="0"/>
              <a:t>file1:</a:t>
            </a:r>
            <a:r>
              <a:rPr lang="zh-CN" altLang="en-US" sz="700" dirty="0"/>
              <a:t> </a:t>
            </a:r>
            <a:r>
              <a:rPr lang="en-US" altLang="zh-CN" sz="700" dirty="0"/>
              <a:t>3</a:t>
            </a:r>
          </a:p>
          <a:p>
            <a:pPr algn="ctr"/>
            <a:endParaRPr lang="en-CN" sz="70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6FD4F20-2CF3-ED4F-A239-C265197886F3}"/>
              </a:ext>
            </a:extLst>
          </p:cNvPr>
          <p:cNvSpPr/>
          <p:nvPr/>
        </p:nvSpPr>
        <p:spPr>
          <a:xfrm>
            <a:off x="1936605" y="3956612"/>
            <a:ext cx="465918" cy="50387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CN" sz="1050" dirty="0"/>
              <a:t>inode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EC5068C-6F7D-7747-9A47-86FC6C1060C8}"/>
              </a:ext>
            </a:extLst>
          </p:cNvPr>
          <p:cNvSpPr/>
          <p:nvPr/>
        </p:nvSpPr>
        <p:spPr>
          <a:xfrm>
            <a:off x="2400108" y="3956612"/>
            <a:ext cx="465918" cy="50467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zh-CN" altLang="en-US" sz="700" dirty="0"/>
              <a:t>数据块</a:t>
            </a:r>
            <a:endParaRPr lang="en-US" altLang="zh-CN" sz="700" dirty="0"/>
          </a:p>
          <a:p>
            <a:pPr algn="ctr"/>
            <a:br>
              <a:rPr lang="en-US" altLang="zh-CN" sz="700" dirty="0"/>
            </a:br>
            <a:r>
              <a:rPr lang="zh-CN" altLang="en-CN" sz="700" dirty="0"/>
              <a:t>文件</a:t>
            </a:r>
            <a:r>
              <a:rPr lang="zh-CN" altLang="en-US" sz="700" dirty="0"/>
              <a:t>内容</a:t>
            </a:r>
            <a:endParaRPr lang="en-US" altLang="zh-CN" sz="700" dirty="0"/>
          </a:p>
          <a:p>
            <a:pPr algn="ctr"/>
            <a:endParaRPr lang="en-US" altLang="zh-CN" sz="70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1DD3697-5DE0-E84D-A30E-F5D2B4839970}"/>
              </a:ext>
            </a:extLst>
          </p:cNvPr>
          <p:cNvSpPr/>
          <p:nvPr/>
        </p:nvSpPr>
        <p:spPr>
          <a:xfrm>
            <a:off x="2863611" y="3956612"/>
            <a:ext cx="465918" cy="50387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zh-CN" altLang="en-US" sz="700" dirty="0"/>
              <a:t>数据块</a:t>
            </a:r>
            <a:endParaRPr lang="en-US" altLang="zh-CN" sz="700" dirty="0"/>
          </a:p>
          <a:p>
            <a:pPr algn="ctr"/>
            <a:br>
              <a:rPr lang="en-US" altLang="zh-CN" sz="700" dirty="0"/>
            </a:br>
            <a:r>
              <a:rPr lang="zh-CN" altLang="en-CN" sz="700" dirty="0"/>
              <a:t>文件</a:t>
            </a:r>
            <a:r>
              <a:rPr lang="zh-CN" altLang="en-US" sz="700" dirty="0"/>
              <a:t>内容</a:t>
            </a:r>
            <a:endParaRPr lang="en-US" altLang="zh-CN" sz="700" dirty="0"/>
          </a:p>
          <a:p>
            <a:pPr algn="ctr"/>
            <a:endParaRPr lang="en-US" altLang="zh-CN" sz="70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1BBAEF5-AD48-774E-97AF-55C3C68FA464}"/>
              </a:ext>
            </a:extLst>
          </p:cNvPr>
          <p:cNvSpPr/>
          <p:nvPr/>
        </p:nvSpPr>
        <p:spPr>
          <a:xfrm>
            <a:off x="3327114" y="3956612"/>
            <a:ext cx="465918" cy="50467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zh-CN" altLang="en-US" sz="700" dirty="0"/>
              <a:t>数据块</a:t>
            </a:r>
            <a:endParaRPr lang="en-US" altLang="zh-CN" sz="700" dirty="0"/>
          </a:p>
          <a:p>
            <a:pPr algn="ctr"/>
            <a:br>
              <a:rPr lang="en-US" altLang="zh-CN" sz="700" dirty="0"/>
            </a:br>
            <a:r>
              <a:rPr lang="zh-CN" altLang="en-CN" sz="700" dirty="0"/>
              <a:t>文件</a:t>
            </a:r>
            <a:r>
              <a:rPr lang="zh-CN" altLang="en-US" sz="700" dirty="0"/>
              <a:t>内容</a:t>
            </a:r>
            <a:endParaRPr lang="en-US" altLang="zh-CN" sz="700" dirty="0"/>
          </a:p>
          <a:p>
            <a:pPr algn="ctr"/>
            <a:endParaRPr lang="en-US" altLang="zh-CN" sz="70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95FA7CB-251F-6042-93CB-7125D455C92D}"/>
              </a:ext>
            </a:extLst>
          </p:cNvPr>
          <p:cNvSpPr/>
          <p:nvPr/>
        </p:nvSpPr>
        <p:spPr>
          <a:xfrm>
            <a:off x="3790617" y="3956612"/>
            <a:ext cx="465918" cy="50387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CN" sz="1050" dirty="0"/>
              <a:t>inode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422C66C-7CE3-4F4E-94EF-4E0433E73DFC}"/>
              </a:ext>
            </a:extLst>
          </p:cNvPr>
          <p:cNvSpPr/>
          <p:nvPr/>
        </p:nvSpPr>
        <p:spPr>
          <a:xfrm>
            <a:off x="5182222" y="3956612"/>
            <a:ext cx="465918" cy="50387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altLang="zh-CN" sz="1050" dirty="0" err="1"/>
              <a:t>i</a:t>
            </a:r>
            <a:r>
              <a:rPr lang="en-CN" sz="1050" dirty="0"/>
              <a:t>node</a:t>
            </a:r>
            <a:br>
              <a:rPr lang="en-US" altLang="zh-CN" sz="1050" dirty="0"/>
            </a:br>
            <a:r>
              <a:rPr lang="en-US" altLang="zh-CN" sz="1050" dirty="0"/>
              <a:t>map</a:t>
            </a:r>
            <a:endParaRPr lang="en-CN" sz="105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32890B8-F554-1044-9B9C-8078F48923DA}"/>
              </a:ext>
            </a:extLst>
          </p:cNvPr>
          <p:cNvSpPr/>
          <p:nvPr/>
        </p:nvSpPr>
        <p:spPr>
          <a:xfrm>
            <a:off x="4254120" y="3956612"/>
            <a:ext cx="465918" cy="50467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zh-CN" altLang="en-US" sz="700" dirty="0"/>
              <a:t>数据块</a:t>
            </a:r>
            <a:endParaRPr lang="en-US" altLang="zh-CN" sz="700" dirty="0"/>
          </a:p>
          <a:p>
            <a:pPr algn="ctr"/>
            <a:br>
              <a:rPr lang="en-US" altLang="zh-CN" sz="700" dirty="0"/>
            </a:br>
            <a:r>
              <a:rPr lang="en-US" altLang="zh-CN" sz="700" dirty="0"/>
              <a:t>dir2:</a:t>
            </a:r>
            <a:r>
              <a:rPr lang="zh-CN" altLang="en-US" sz="700" dirty="0"/>
              <a:t> </a:t>
            </a:r>
            <a:r>
              <a:rPr lang="en-US" altLang="zh-CN" sz="700" dirty="0"/>
              <a:t>4</a:t>
            </a:r>
          </a:p>
          <a:p>
            <a:pPr algn="ctr"/>
            <a:r>
              <a:rPr lang="en-US" altLang="zh-CN" sz="700" dirty="0"/>
              <a:t>file2:</a:t>
            </a:r>
            <a:r>
              <a:rPr lang="zh-CN" altLang="en-US" sz="700" dirty="0"/>
              <a:t> </a:t>
            </a:r>
            <a:r>
              <a:rPr lang="en-US" altLang="zh-CN" sz="700" dirty="0"/>
              <a:t>5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81388C1-DEAD-DC44-870E-F03CC25E48BB}"/>
              </a:ext>
            </a:extLst>
          </p:cNvPr>
          <p:cNvSpPr/>
          <p:nvPr/>
        </p:nvSpPr>
        <p:spPr>
          <a:xfrm>
            <a:off x="4717623" y="3956612"/>
            <a:ext cx="465918" cy="50387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CN" sz="1050" dirty="0"/>
              <a:t>inode</a:t>
            </a:r>
          </a:p>
        </p:txBody>
      </p:sp>
      <p:cxnSp>
        <p:nvCxnSpPr>
          <p:cNvPr id="33" name="Elbow Connector 32">
            <a:extLst>
              <a:ext uri="{FF2B5EF4-FFF2-40B4-BE49-F238E27FC236}">
                <a16:creationId xmlns:a16="http://schemas.microsoft.com/office/drawing/2014/main" id="{D7CFDDBF-8D58-2048-8CDA-F777EEDC17E7}"/>
              </a:ext>
            </a:extLst>
          </p:cNvPr>
          <p:cNvCxnSpPr>
            <a:stCxn id="30" idx="2"/>
            <a:endCxn id="32" idx="2"/>
          </p:cNvCxnSpPr>
          <p:nvPr/>
        </p:nvCxnSpPr>
        <p:spPr>
          <a:xfrm rot="5400000">
            <a:off x="5182882" y="4228183"/>
            <a:ext cx="12700" cy="464599"/>
          </a:xfrm>
          <a:prstGeom prst="bentConnector3">
            <a:avLst>
              <a:gd name="adj1" fmla="val 180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Elbow Connector 33">
            <a:extLst>
              <a:ext uri="{FF2B5EF4-FFF2-40B4-BE49-F238E27FC236}">
                <a16:creationId xmlns:a16="http://schemas.microsoft.com/office/drawing/2014/main" id="{14EBC160-D85A-F14A-A006-17BC1B58B8AF}"/>
              </a:ext>
            </a:extLst>
          </p:cNvPr>
          <p:cNvCxnSpPr>
            <a:cxnSpLocks/>
            <a:stCxn id="30" idx="2"/>
            <a:endCxn id="25" idx="2"/>
          </p:cNvCxnSpPr>
          <p:nvPr/>
        </p:nvCxnSpPr>
        <p:spPr>
          <a:xfrm rot="5400000">
            <a:off x="3792373" y="2837674"/>
            <a:ext cx="12700" cy="3245617"/>
          </a:xfrm>
          <a:prstGeom prst="bentConnector3">
            <a:avLst>
              <a:gd name="adj1" fmla="val 180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Elbow Connector 34">
            <a:extLst>
              <a:ext uri="{FF2B5EF4-FFF2-40B4-BE49-F238E27FC236}">
                <a16:creationId xmlns:a16="http://schemas.microsoft.com/office/drawing/2014/main" id="{44A67CEE-068A-CD41-BB9E-6E9009617119}"/>
              </a:ext>
            </a:extLst>
          </p:cNvPr>
          <p:cNvCxnSpPr>
            <a:cxnSpLocks/>
            <a:stCxn id="30" idx="2"/>
            <a:endCxn id="22" idx="2"/>
          </p:cNvCxnSpPr>
          <p:nvPr/>
        </p:nvCxnSpPr>
        <p:spPr>
          <a:xfrm rot="5400000">
            <a:off x="3326904" y="2372205"/>
            <a:ext cx="12700" cy="4176554"/>
          </a:xfrm>
          <a:prstGeom prst="bentConnector3">
            <a:avLst>
              <a:gd name="adj1" fmla="val 180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Elbow Connector 35">
            <a:extLst>
              <a:ext uri="{FF2B5EF4-FFF2-40B4-BE49-F238E27FC236}">
                <a16:creationId xmlns:a16="http://schemas.microsoft.com/office/drawing/2014/main" id="{367A0C57-811A-CF46-97F3-0A6DCAC9FA09}"/>
              </a:ext>
            </a:extLst>
          </p:cNvPr>
          <p:cNvCxnSpPr>
            <a:cxnSpLocks/>
            <a:stCxn id="30" idx="2"/>
            <a:endCxn id="29" idx="2"/>
          </p:cNvCxnSpPr>
          <p:nvPr/>
        </p:nvCxnSpPr>
        <p:spPr>
          <a:xfrm rot="5400000">
            <a:off x="4719379" y="3764680"/>
            <a:ext cx="12700" cy="1391605"/>
          </a:xfrm>
          <a:prstGeom prst="bentConnector3">
            <a:avLst>
              <a:gd name="adj1" fmla="val 180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Elbow Connector 36">
            <a:extLst>
              <a:ext uri="{FF2B5EF4-FFF2-40B4-BE49-F238E27FC236}">
                <a16:creationId xmlns:a16="http://schemas.microsoft.com/office/drawing/2014/main" id="{7F5AD048-EDEF-3248-A517-6C3E5E98ACC4}"/>
              </a:ext>
            </a:extLst>
          </p:cNvPr>
          <p:cNvCxnSpPr>
            <a:cxnSpLocks/>
            <a:stCxn id="22" idx="0"/>
            <a:endCxn id="21" idx="0"/>
          </p:cNvCxnSpPr>
          <p:nvPr/>
        </p:nvCxnSpPr>
        <p:spPr>
          <a:xfrm rot="16200000" flipV="1">
            <a:off x="1005668" y="3723653"/>
            <a:ext cx="12700" cy="465918"/>
          </a:xfrm>
          <a:prstGeom prst="bentConnector3">
            <a:avLst>
              <a:gd name="adj1" fmla="val 180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Elbow Connector 37">
            <a:extLst>
              <a:ext uri="{FF2B5EF4-FFF2-40B4-BE49-F238E27FC236}">
                <a16:creationId xmlns:a16="http://schemas.microsoft.com/office/drawing/2014/main" id="{7B855569-8308-804E-A549-BAC579FC8484}"/>
              </a:ext>
            </a:extLst>
          </p:cNvPr>
          <p:cNvCxnSpPr>
            <a:cxnSpLocks/>
            <a:stCxn id="29" idx="0"/>
            <a:endCxn id="28" idx="0"/>
          </p:cNvCxnSpPr>
          <p:nvPr/>
        </p:nvCxnSpPr>
        <p:spPr>
          <a:xfrm rot="16200000" flipV="1">
            <a:off x="3791825" y="3724860"/>
            <a:ext cx="12700" cy="463503"/>
          </a:xfrm>
          <a:prstGeom prst="bentConnector3">
            <a:avLst>
              <a:gd name="adj1" fmla="val 180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Elbow Connector 38">
            <a:extLst>
              <a:ext uri="{FF2B5EF4-FFF2-40B4-BE49-F238E27FC236}">
                <a16:creationId xmlns:a16="http://schemas.microsoft.com/office/drawing/2014/main" id="{BFC10FE9-229D-CC4E-9258-1FEAF9BEC742}"/>
              </a:ext>
            </a:extLst>
          </p:cNvPr>
          <p:cNvCxnSpPr>
            <a:cxnSpLocks/>
            <a:stCxn id="32" idx="0"/>
            <a:endCxn id="31" idx="0"/>
          </p:cNvCxnSpPr>
          <p:nvPr/>
        </p:nvCxnSpPr>
        <p:spPr>
          <a:xfrm rot="16200000" flipV="1">
            <a:off x="4718831" y="3724860"/>
            <a:ext cx="12700" cy="463503"/>
          </a:xfrm>
          <a:prstGeom prst="bentConnector3">
            <a:avLst>
              <a:gd name="adj1" fmla="val 180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Elbow Connector 39">
            <a:extLst>
              <a:ext uri="{FF2B5EF4-FFF2-40B4-BE49-F238E27FC236}">
                <a16:creationId xmlns:a16="http://schemas.microsoft.com/office/drawing/2014/main" id="{B13484D2-3009-4D43-9ECC-1EBC92726C36}"/>
              </a:ext>
            </a:extLst>
          </p:cNvPr>
          <p:cNvCxnSpPr>
            <a:cxnSpLocks/>
            <a:stCxn id="25" idx="0"/>
            <a:endCxn id="24" idx="0"/>
          </p:cNvCxnSpPr>
          <p:nvPr/>
        </p:nvCxnSpPr>
        <p:spPr>
          <a:xfrm rot="16200000" flipV="1">
            <a:off x="1935847" y="3722895"/>
            <a:ext cx="12700" cy="467434"/>
          </a:xfrm>
          <a:prstGeom prst="bentConnector3">
            <a:avLst>
              <a:gd name="adj1" fmla="val 180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Elbow Connector 40">
            <a:extLst>
              <a:ext uri="{FF2B5EF4-FFF2-40B4-BE49-F238E27FC236}">
                <a16:creationId xmlns:a16="http://schemas.microsoft.com/office/drawing/2014/main" id="{F4CD6395-353F-4A48-879F-8FB18DB4E472}"/>
              </a:ext>
            </a:extLst>
          </p:cNvPr>
          <p:cNvCxnSpPr>
            <a:cxnSpLocks/>
            <a:stCxn id="29" idx="0"/>
            <a:endCxn id="26" idx="0"/>
          </p:cNvCxnSpPr>
          <p:nvPr/>
        </p:nvCxnSpPr>
        <p:spPr>
          <a:xfrm rot="16200000" flipV="1">
            <a:off x="3328322" y="3261357"/>
            <a:ext cx="12700" cy="1390509"/>
          </a:xfrm>
          <a:prstGeom prst="bentConnector3">
            <a:avLst>
              <a:gd name="adj1" fmla="val 180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Elbow Connector 41">
            <a:extLst>
              <a:ext uri="{FF2B5EF4-FFF2-40B4-BE49-F238E27FC236}">
                <a16:creationId xmlns:a16="http://schemas.microsoft.com/office/drawing/2014/main" id="{86FC1300-1692-A243-925B-A48B7A58D44D}"/>
              </a:ext>
            </a:extLst>
          </p:cNvPr>
          <p:cNvCxnSpPr>
            <a:cxnSpLocks/>
            <a:stCxn id="29" idx="0"/>
            <a:endCxn id="27" idx="0"/>
          </p:cNvCxnSpPr>
          <p:nvPr/>
        </p:nvCxnSpPr>
        <p:spPr>
          <a:xfrm rot="16200000" flipV="1">
            <a:off x="3560073" y="3493109"/>
            <a:ext cx="12700" cy="927006"/>
          </a:xfrm>
          <a:prstGeom prst="bentConnector3">
            <a:avLst>
              <a:gd name="adj1" fmla="val 180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EA7BC5DA-75BA-B845-AB90-B04F34B44B3B}"/>
              </a:ext>
            </a:extLst>
          </p:cNvPr>
          <p:cNvSpPr txBox="1"/>
          <p:nvPr/>
        </p:nvSpPr>
        <p:spPr>
          <a:xfrm>
            <a:off x="4487079" y="3433564"/>
            <a:ext cx="2343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/</a:t>
            </a:r>
            <a:endParaRPr lang="en-CN" sz="14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C991FD8-56A6-DA4B-9E97-A3DB1FBF22FC}"/>
              </a:ext>
            </a:extLst>
          </p:cNvPr>
          <p:cNvSpPr txBox="1"/>
          <p:nvPr/>
        </p:nvSpPr>
        <p:spPr>
          <a:xfrm>
            <a:off x="779059" y="3433564"/>
            <a:ext cx="5132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file1</a:t>
            </a:r>
            <a:endParaRPr lang="en-CN" sz="14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F49F221-97CD-7A41-8488-A71D532A273A}"/>
              </a:ext>
            </a:extLst>
          </p:cNvPr>
          <p:cNvSpPr txBox="1"/>
          <p:nvPr/>
        </p:nvSpPr>
        <p:spPr>
          <a:xfrm>
            <a:off x="1719012" y="3433564"/>
            <a:ext cx="4828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dir2</a:t>
            </a:r>
            <a:endParaRPr lang="en-CN" sz="14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19B107C-BA4D-A241-9A53-07A70749C1AA}"/>
              </a:ext>
            </a:extLst>
          </p:cNvPr>
          <p:cNvSpPr txBox="1"/>
          <p:nvPr/>
        </p:nvSpPr>
        <p:spPr>
          <a:xfrm>
            <a:off x="3662497" y="3433564"/>
            <a:ext cx="5132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file2</a:t>
            </a:r>
            <a:endParaRPr lang="en-CN" sz="1400" dirty="0"/>
          </a:p>
        </p:txBody>
      </p:sp>
    </p:spTree>
    <p:extLst>
      <p:ext uri="{BB962C8B-B14F-4D97-AF65-F5344CB8AC3E}">
        <p14:creationId xmlns:p14="http://schemas.microsoft.com/office/powerpoint/2010/main" val="37030029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F8192-BB25-1E46-98BE-755D58932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Review</a:t>
            </a:r>
            <a:r>
              <a:rPr lang="zh-CN" altLang="en-US" dirty="0"/>
              <a:t>：创建文件举例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BB1BF2-A5F5-AD4A-BF63-200B0A0ABC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0" dirty="0"/>
              <a:t>echo</a:t>
            </a:r>
            <a:r>
              <a:rPr lang="zh-CN" altLang="en-US" b="0" dirty="0"/>
              <a:t> </a:t>
            </a:r>
            <a:r>
              <a:rPr lang="en-US" altLang="zh-CN" b="0" dirty="0"/>
              <a:t>hello</a:t>
            </a:r>
            <a:r>
              <a:rPr lang="zh-CN" altLang="en-US" b="0" dirty="0"/>
              <a:t> </a:t>
            </a:r>
            <a:r>
              <a:rPr lang="en-US" altLang="zh-CN" b="0" dirty="0"/>
              <a:t>&gt;</a:t>
            </a:r>
            <a:r>
              <a:rPr lang="zh-CN" altLang="en-US" b="0" dirty="0"/>
              <a:t> </a:t>
            </a:r>
            <a:r>
              <a:rPr lang="en-US" altLang="zh-CN" b="0" dirty="0"/>
              <a:t>/file3</a:t>
            </a:r>
          </a:p>
          <a:p>
            <a:pPr lvl="1"/>
            <a:r>
              <a:rPr lang="zh-CN" altLang="en-US" dirty="0"/>
              <a:t>创建文件</a:t>
            </a:r>
            <a:endParaRPr lang="en-US" altLang="zh-CN" dirty="0"/>
          </a:p>
          <a:p>
            <a:pPr lvl="1"/>
            <a:r>
              <a:rPr lang="zh-CN" altLang="en-US" dirty="0"/>
              <a:t>修改文件数据</a:t>
            </a:r>
            <a:endParaRPr lang="en-US" altLang="zh-CN" b="0" dirty="0"/>
          </a:p>
          <a:p>
            <a:pPr marL="457200" lvl="1" indent="0">
              <a:buNone/>
            </a:pPr>
            <a:endParaRPr lang="en-CN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7ACB61-3112-A946-A055-69ABA9100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</a:t>
            </a:fld>
            <a:endParaRPr lang="zh-CN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44ABDF-4DA5-0542-B8CC-AD03DF333B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7B91466-6B39-124F-A675-E974C15AB74E}"/>
              </a:ext>
            </a:extLst>
          </p:cNvPr>
          <p:cNvCxnSpPr>
            <a:cxnSpLocks/>
          </p:cNvCxnSpPr>
          <p:nvPr/>
        </p:nvCxnSpPr>
        <p:spPr>
          <a:xfrm>
            <a:off x="539750" y="3941557"/>
            <a:ext cx="806469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BFC321F-63BA-E04B-92F1-3D95B40CA671}"/>
              </a:ext>
            </a:extLst>
          </p:cNvPr>
          <p:cNvCxnSpPr>
            <a:cxnSpLocks/>
          </p:cNvCxnSpPr>
          <p:nvPr/>
        </p:nvCxnSpPr>
        <p:spPr>
          <a:xfrm>
            <a:off x="539750" y="4462496"/>
            <a:ext cx="806469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02014A18-EDCD-A540-86D7-F5E313F3A157}"/>
              </a:ext>
            </a:extLst>
          </p:cNvPr>
          <p:cNvSpPr/>
          <p:nvPr/>
        </p:nvSpPr>
        <p:spPr>
          <a:xfrm>
            <a:off x="539750" y="3956612"/>
            <a:ext cx="465918" cy="50467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zh-CN" altLang="en-US" sz="700" dirty="0"/>
              <a:t>数据块</a:t>
            </a:r>
            <a:endParaRPr lang="en-US" altLang="zh-CN" sz="700" dirty="0"/>
          </a:p>
          <a:p>
            <a:pPr algn="ctr"/>
            <a:endParaRPr lang="en-US" sz="700" dirty="0"/>
          </a:p>
          <a:p>
            <a:pPr algn="ctr"/>
            <a:r>
              <a:rPr lang="zh-CN" altLang="en-CN" sz="700" dirty="0"/>
              <a:t>文件内容</a:t>
            </a:r>
            <a:endParaRPr lang="en-US" altLang="zh-CN" sz="700" dirty="0"/>
          </a:p>
          <a:p>
            <a:pPr algn="ctr"/>
            <a:endParaRPr lang="en-CN" sz="70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475035B-5076-CE4A-9F19-68BF993F590E}"/>
              </a:ext>
            </a:extLst>
          </p:cNvPr>
          <p:cNvSpPr/>
          <p:nvPr/>
        </p:nvSpPr>
        <p:spPr>
          <a:xfrm>
            <a:off x="1005668" y="3956612"/>
            <a:ext cx="465918" cy="50387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CN" sz="1050" dirty="0"/>
              <a:t>inode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CC28A91-2C3C-9D46-8AAB-5A828CBD34C3}"/>
              </a:ext>
            </a:extLst>
          </p:cNvPr>
          <p:cNvSpPr txBox="1"/>
          <p:nvPr/>
        </p:nvSpPr>
        <p:spPr>
          <a:xfrm>
            <a:off x="6786609" y="4807417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CN" dirty="0"/>
              <a:t>存储</a:t>
            </a:r>
            <a:r>
              <a:rPr lang="zh-CN" altLang="en-US" dirty="0"/>
              <a:t>设备</a:t>
            </a:r>
            <a:endParaRPr lang="en-CN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4880B7D-A1C2-5E43-B3D8-770C84D0C60B}"/>
              </a:ext>
            </a:extLst>
          </p:cNvPr>
          <p:cNvSpPr/>
          <p:nvPr/>
        </p:nvSpPr>
        <p:spPr>
          <a:xfrm>
            <a:off x="1469171" y="3956612"/>
            <a:ext cx="465918" cy="50467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700" dirty="0"/>
              <a:t>数据块</a:t>
            </a:r>
            <a:endParaRPr lang="en-US" altLang="zh-CN" sz="700" dirty="0"/>
          </a:p>
          <a:p>
            <a:pPr algn="ctr"/>
            <a:br>
              <a:rPr lang="en-US" altLang="zh-CN" sz="700" dirty="0"/>
            </a:br>
            <a:r>
              <a:rPr lang="en-US" altLang="zh-CN" sz="700" dirty="0"/>
              <a:t>file1:</a:t>
            </a:r>
            <a:r>
              <a:rPr lang="zh-CN" altLang="en-US" sz="700" dirty="0"/>
              <a:t> </a:t>
            </a:r>
            <a:r>
              <a:rPr lang="en-US" altLang="zh-CN" sz="700" dirty="0"/>
              <a:t>3</a:t>
            </a:r>
          </a:p>
          <a:p>
            <a:pPr algn="ctr"/>
            <a:endParaRPr lang="en-CN" sz="70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6FD4F20-2CF3-ED4F-A239-C265197886F3}"/>
              </a:ext>
            </a:extLst>
          </p:cNvPr>
          <p:cNvSpPr/>
          <p:nvPr/>
        </p:nvSpPr>
        <p:spPr>
          <a:xfrm>
            <a:off x="1936605" y="3956612"/>
            <a:ext cx="465918" cy="50387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CN" sz="1050" dirty="0"/>
              <a:t>inode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EC5068C-6F7D-7747-9A47-86FC6C1060C8}"/>
              </a:ext>
            </a:extLst>
          </p:cNvPr>
          <p:cNvSpPr/>
          <p:nvPr/>
        </p:nvSpPr>
        <p:spPr>
          <a:xfrm>
            <a:off x="2400108" y="3956612"/>
            <a:ext cx="465918" cy="50467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zh-CN" altLang="en-US" sz="700" dirty="0"/>
              <a:t>数据块</a:t>
            </a:r>
            <a:endParaRPr lang="en-US" altLang="zh-CN" sz="700" dirty="0"/>
          </a:p>
          <a:p>
            <a:pPr algn="ctr"/>
            <a:br>
              <a:rPr lang="en-US" altLang="zh-CN" sz="700" dirty="0"/>
            </a:br>
            <a:r>
              <a:rPr lang="zh-CN" altLang="en-CN" sz="700" dirty="0"/>
              <a:t>文件</a:t>
            </a:r>
            <a:r>
              <a:rPr lang="zh-CN" altLang="en-US" sz="700" dirty="0"/>
              <a:t>内容</a:t>
            </a:r>
            <a:endParaRPr lang="en-US" altLang="zh-CN" sz="700" dirty="0"/>
          </a:p>
          <a:p>
            <a:pPr algn="ctr"/>
            <a:endParaRPr lang="en-US" altLang="zh-CN" sz="70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1DD3697-5DE0-E84D-A30E-F5D2B4839970}"/>
              </a:ext>
            </a:extLst>
          </p:cNvPr>
          <p:cNvSpPr/>
          <p:nvPr/>
        </p:nvSpPr>
        <p:spPr>
          <a:xfrm>
            <a:off x="2863611" y="3956612"/>
            <a:ext cx="465918" cy="50387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zh-CN" altLang="en-US" sz="700" dirty="0"/>
              <a:t>数据块</a:t>
            </a:r>
            <a:endParaRPr lang="en-US" altLang="zh-CN" sz="700" dirty="0"/>
          </a:p>
          <a:p>
            <a:pPr algn="ctr"/>
            <a:br>
              <a:rPr lang="en-US" altLang="zh-CN" sz="700" dirty="0"/>
            </a:br>
            <a:r>
              <a:rPr lang="zh-CN" altLang="en-CN" sz="700" dirty="0"/>
              <a:t>文件</a:t>
            </a:r>
            <a:r>
              <a:rPr lang="zh-CN" altLang="en-US" sz="700" dirty="0"/>
              <a:t>内容</a:t>
            </a:r>
            <a:endParaRPr lang="en-US" altLang="zh-CN" sz="700" dirty="0"/>
          </a:p>
          <a:p>
            <a:pPr algn="ctr"/>
            <a:endParaRPr lang="en-US" altLang="zh-CN" sz="70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1BBAEF5-AD48-774E-97AF-55C3C68FA464}"/>
              </a:ext>
            </a:extLst>
          </p:cNvPr>
          <p:cNvSpPr/>
          <p:nvPr/>
        </p:nvSpPr>
        <p:spPr>
          <a:xfrm>
            <a:off x="3327114" y="3956612"/>
            <a:ext cx="465918" cy="50467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zh-CN" altLang="en-US" sz="700" dirty="0"/>
              <a:t>数据块</a:t>
            </a:r>
            <a:endParaRPr lang="en-US" altLang="zh-CN" sz="700" dirty="0"/>
          </a:p>
          <a:p>
            <a:pPr algn="ctr"/>
            <a:br>
              <a:rPr lang="en-US" altLang="zh-CN" sz="700" dirty="0"/>
            </a:br>
            <a:r>
              <a:rPr lang="zh-CN" altLang="en-CN" sz="700" dirty="0"/>
              <a:t>文件</a:t>
            </a:r>
            <a:r>
              <a:rPr lang="zh-CN" altLang="en-US" sz="700" dirty="0"/>
              <a:t>内容</a:t>
            </a:r>
            <a:endParaRPr lang="en-US" altLang="zh-CN" sz="700" dirty="0"/>
          </a:p>
          <a:p>
            <a:pPr algn="ctr"/>
            <a:endParaRPr lang="en-US" altLang="zh-CN" sz="70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95FA7CB-251F-6042-93CB-7125D455C92D}"/>
              </a:ext>
            </a:extLst>
          </p:cNvPr>
          <p:cNvSpPr/>
          <p:nvPr/>
        </p:nvSpPr>
        <p:spPr>
          <a:xfrm>
            <a:off x="3790617" y="3956612"/>
            <a:ext cx="465918" cy="50387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CN" sz="1050" dirty="0"/>
              <a:t>inode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422C66C-7CE3-4F4E-94EF-4E0433E73DFC}"/>
              </a:ext>
            </a:extLst>
          </p:cNvPr>
          <p:cNvSpPr/>
          <p:nvPr/>
        </p:nvSpPr>
        <p:spPr>
          <a:xfrm>
            <a:off x="5182222" y="3956612"/>
            <a:ext cx="465918" cy="503870"/>
          </a:xfrm>
          <a:prstGeom prst="rect">
            <a:avLst/>
          </a:prstGeom>
          <a:pattFill prst="wdUpDiag">
            <a:fgClr>
              <a:schemeClr val="bg2">
                <a:lumMod val="75000"/>
              </a:schemeClr>
            </a:fgClr>
            <a:bgClr>
              <a:schemeClr val="accent4">
                <a:lumMod val="20000"/>
                <a:lumOff val="80000"/>
              </a:schemeClr>
            </a:bgClr>
          </a:patt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altLang="zh-CN" sz="1050" dirty="0" err="1"/>
              <a:t>i</a:t>
            </a:r>
            <a:r>
              <a:rPr lang="en-CN" sz="1050" dirty="0"/>
              <a:t>node</a:t>
            </a:r>
            <a:br>
              <a:rPr lang="en-US" altLang="zh-CN" sz="1050" dirty="0"/>
            </a:br>
            <a:r>
              <a:rPr lang="en-US" altLang="zh-CN" sz="1050" dirty="0"/>
              <a:t>map</a:t>
            </a:r>
            <a:endParaRPr lang="en-CN" sz="105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32890B8-F554-1044-9B9C-8078F48923DA}"/>
              </a:ext>
            </a:extLst>
          </p:cNvPr>
          <p:cNvSpPr/>
          <p:nvPr/>
        </p:nvSpPr>
        <p:spPr>
          <a:xfrm>
            <a:off x="4254120" y="3956612"/>
            <a:ext cx="465918" cy="504676"/>
          </a:xfrm>
          <a:prstGeom prst="rect">
            <a:avLst/>
          </a:prstGeom>
          <a:pattFill prst="wdUpDiag">
            <a:fgClr>
              <a:schemeClr val="bg2">
                <a:lumMod val="75000"/>
              </a:schemeClr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zh-CN" altLang="en-US" sz="700" dirty="0"/>
              <a:t>数据块</a:t>
            </a:r>
            <a:endParaRPr lang="en-US" altLang="zh-CN" sz="700" dirty="0"/>
          </a:p>
          <a:p>
            <a:pPr algn="ctr"/>
            <a:br>
              <a:rPr lang="en-US" altLang="zh-CN" sz="700" dirty="0"/>
            </a:br>
            <a:r>
              <a:rPr lang="en-US" altLang="zh-CN" sz="700" dirty="0"/>
              <a:t>dir2:</a:t>
            </a:r>
            <a:r>
              <a:rPr lang="zh-CN" altLang="en-US" sz="700" dirty="0"/>
              <a:t> </a:t>
            </a:r>
            <a:r>
              <a:rPr lang="en-US" altLang="zh-CN" sz="700" dirty="0"/>
              <a:t>4</a:t>
            </a:r>
          </a:p>
          <a:p>
            <a:pPr algn="ctr"/>
            <a:r>
              <a:rPr lang="en-US" altLang="zh-CN" sz="700" dirty="0"/>
              <a:t>file2:</a:t>
            </a:r>
            <a:r>
              <a:rPr lang="zh-CN" altLang="en-US" sz="700" dirty="0"/>
              <a:t> </a:t>
            </a:r>
            <a:r>
              <a:rPr lang="en-US" altLang="zh-CN" sz="700" dirty="0"/>
              <a:t>5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81388C1-DEAD-DC44-870E-F03CC25E48BB}"/>
              </a:ext>
            </a:extLst>
          </p:cNvPr>
          <p:cNvSpPr/>
          <p:nvPr/>
        </p:nvSpPr>
        <p:spPr>
          <a:xfrm>
            <a:off x="4717623" y="3956612"/>
            <a:ext cx="465918" cy="503870"/>
          </a:xfrm>
          <a:prstGeom prst="rect">
            <a:avLst/>
          </a:prstGeom>
          <a:pattFill prst="wdUpDiag">
            <a:fgClr>
              <a:schemeClr val="bg2">
                <a:lumMod val="75000"/>
              </a:schemeClr>
            </a:fgClr>
            <a:bgClr>
              <a:schemeClr val="accent1">
                <a:lumMod val="20000"/>
                <a:lumOff val="80000"/>
              </a:schemeClr>
            </a:bgClr>
          </a:patt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CN" sz="1050" dirty="0"/>
              <a:t>inode</a:t>
            </a:r>
          </a:p>
        </p:txBody>
      </p:sp>
      <p:cxnSp>
        <p:nvCxnSpPr>
          <p:cNvPr id="33" name="Elbow Connector 32">
            <a:extLst>
              <a:ext uri="{FF2B5EF4-FFF2-40B4-BE49-F238E27FC236}">
                <a16:creationId xmlns:a16="http://schemas.microsoft.com/office/drawing/2014/main" id="{D7CFDDBF-8D58-2048-8CDA-F777EEDC17E7}"/>
              </a:ext>
            </a:extLst>
          </p:cNvPr>
          <p:cNvCxnSpPr>
            <a:stCxn id="30" idx="2"/>
            <a:endCxn id="32" idx="2"/>
          </p:cNvCxnSpPr>
          <p:nvPr/>
        </p:nvCxnSpPr>
        <p:spPr>
          <a:xfrm rot="5400000">
            <a:off x="5182882" y="4228183"/>
            <a:ext cx="12700" cy="464599"/>
          </a:xfrm>
          <a:prstGeom prst="bentConnector3">
            <a:avLst>
              <a:gd name="adj1" fmla="val 180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Elbow Connector 33">
            <a:extLst>
              <a:ext uri="{FF2B5EF4-FFF2-40B4-BE49-F238E27FC236}">
                <a16:creationId xmlns:a16="http://schemas.microsoft.com/office/drawing/2014/main" id="{14EBC160-D85A-F14A-A006-17BC1B58B8AF}"/>
              </a:ext>
            </a:extLst>
          </p:cNvPr>
          <p:cNvCxnSpPr>
            <a:cxnSpLocks/>
            <a:stCxn id="30" idx="2"/>
            <a:endCxn id="25" idx="2"/>
          </p:cNvCxnSpPr>
          <p:nvPr/>
        </p:nvCxnSpPr>
        <p:spPr>
          <a:xfrm rot="5400000">
            <a:off x="3792373" y="2837674"/>
            <a:ext cx="12700" cy="3245617"/>
          </a:xfrm>
          <a:prstGeom prst="bentConnector3">
            <a:avLst>
              <a:gd name="adj1" fmla="val 180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Elbow Connector 34">
            <a:extLst>
              <a:ext uri="{FF2B5EF4-FFF2-40B4-BE49-F238E27FC236}">
                <a16:creationId xmlns:a16="http://schemas.microsoft.com/office/drawing/2014/main" id="{44A67CEE-068A-CD41-BB9E-6E9009617119}"/>
              </a:ext>
            </a:extLst>
          </p:cNvPr>
          <p:cNvCxnSpPr>
            <a:cxnSpLocks/>
            <a:stCxn id="30" idx="2"/>
            <a:endCxn id="22" idx="2"/>
          </p:cNvCxnSpPr>
          <p:nvPr/>
        </p:nvCxnSpPr>
        <p:spPr>
          <a:xfrm rot="5400000">
            <a:off x="3326904" y="2372205"/>
            <a:ext cx="12700" cy="4176554"/>
          </a:xfrm>
          <a:prstGeom prst="bentConnector3">
            <a:avLst>
              <a:gd name="adj1" fmla="val 180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Elbow Connector 35">
            <a:extLst>
              <a:ext uri="{FF2B5EF4-FFF2-40B4-BE49-F238E27FC236}">
                <a16:creationId xmlns:a16="http://schemas.microsoft.com/office/drawing/2014/main" id="{367A0C57-811A-CF46-97F3-0A6DCAC9FA09}"/>
              </a:ext>
            </a:extLst>
          </p:cNvPr>
          <p:cNvCxnSpPr>
            <a:cxnSpLocks/>
            <a:stCxn id="30" idx="2"/>
            <a:endCxn id="29" idx="2"/>
          </p:cNvCxnSpPr>
          <p:nvPr/>
        </p:nvCxnSpPr>
        <p:spPr>
          <a:xfrm rot="5400000">
            <a:off x="4719379" y="3764680"/>
            <a:ext cx="12700" cy="1391605"/>
          </a:xfrm>
          <a:prstGeom prst="bentConnector3">
            <a:avLst>
              <a:gd name="adj1" fmla="val 180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Elbow Connector 36">
            <a:extLst>
              <a:ext uri="{FF2B5EF4-FFF2-40B4-BE49-F238E27FC236}">
                <a16:creationId xmlns:a16="http://schemas.microsoft.com/office/drawing/2014/main" id="{7F5AD048-EDEF-3248-A517-6C3E5E98ACC4}"/>
              </a:ext>
            </a:extLst>
          </p:cNvPr>
          <p:cNvCxnSpPr>
            <a:cxnSpLocks/>
            <a:stCxn id="22" idx="0"/>
            <a:endCxn id="21" idx="0"/>
          </p:cNvCxnSpPr>
          <p:nvPr/>
        </p:nvCxnSpPr>
        <p:spPr>
          <a:xfrm rot="16200000" flipV="1">
            <a:off x="1005668" y="3723653"/>
            <a:ext cx="12700" cy="465918"/>
          </a:xfrm>
          <a:prstGeom prst="bentConnector3">
            <a:avLst>
              <a:gd name="adj1" fmla="val 180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Elbow Connector 37">
            <a:extLst>
              <a:ext uri="{FF2B5EF4-FFF2-40B4-BE49-F238E27FC236}">
                <a16:creationId xmlns:a16="http://schemas.microsoft.com/office/drawing/2014/main" id="{7B855569-8308-804E-A549-BAC579FC8484}"/>
              </a:ext>
            </a:extLst>
          </p:cNvPr>
          <p:cNvCxnSpPr>
            <a:cxnSpLocks/>
            <a:stCxn id="29" idx="0"/>
            <a:endCxn id="28" idx="0"/>
          </p:cNvCxnSpPr>
          <p:nvPr/>
        </p:nvCxnSpPr>
        <p:spPr>
          <a:xfrm rot="16200000" flipV="1">
            <a:off x="3791825" y="3724860"/>
            <a:ext cx="12700" cy="463503"/>
          </a:xfrm>
          <a:prstGeom prst="bentConnector3">
            <a:avLst>
              <a:gd name="adj1" fmla="val 180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Elbow Connector 38">
            <a:extLst>
              <a:ext uri="{FF2B5EF4-FFF2-40B4-BE49-F238E27FC236}">
                <a16:creationId xmlns:a16="http://schemas.microsoft.com/office/drawing/2014/main" id="{BFC10FE9-229D-CC4E-9258-1FEAF9BEC742}"/>
              </a:ext>
            </a:extLst>
          </p:cNvPr>
          <p:cNvCxnSpPr>
            <a:cxnSpLocks/>
            <a:stCxn id="32" idx="0"/>
            <a:endCxn id="31" idx="0"/>
          </p:cNvCxnSpPr>
          <p:nvPr/>
        </p:nvCxnSpPr>
        <p:spPr>
          <a:xfrm rot="16200000" flipV="1">
            <a:off x="4718831" y="3724860"/>
            <a:ext cx="12700" cy="463503"/>
          </a:xfrm>
          <a:prstGeom prst="bentConnector3">
            <a:avLst>
              <a:gd name="adj1" fmla="val 180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Elbow Connector 39">
            <a:extLst>
              <a:ext uri="{FF2B5EF4-FFF2-40B4-BE49-F238E27FC236}">
                <a16:creationId xmlns:a16="http://schemas.microsoft.com/office/drawing/2014/main" id="{B13484D2-3009-4D43-9ECC-1EBC92726C36}"/>
              </a:ext>
            </a:extLst>
          </p:cNvPr>
          <p:cNvCxnSpPr>
            <a:cxnSpLocks/>
            <a:stCxn id="25" idx="0"/>
            <a:endCxn id="24" idx="0"/>
          </p:cNvCxnSpPr>
          <p:nvPr/>
        </p:nvCxnSpPr>
        <p:spPr>
          <a:xfrm rot="16200000" flipV="1">
            <a:off x="1935847" y="3722895"/>
            <a:ext cx="12700" cy="467434"/>
          </a:xfrm>
          <a:prstGeom prst="bentConnector3">
            <a:avLst>
              <a:gd name="adj1" fmla="val 180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Elbow Connector 40">
            <a:extLst>
              <a:ext uri="{FF2B5EF4-FFF2-40B4-BE49-F238E27FC236}">
                <a16:creationId xmlns:a16="http://schemas.microsoft.com/office/drawing/2014/main" id="{F4CD6395-353F-4A48-879F-8FB18DB4E472}"/>
              </a:ext>
            </a:extLst>
          </p:cNvPr>
          <p:cNvCxnSpPr>
            <a:cxnSpLocks/>
            <a:stCxn id="29" idx="0"/>
            <a:endCxn id="26" idx="0"/>
          </p:cNvCxnSpPr>
          <p:nvPr/>
        </p:nvCxnSpPr>
        <p:spPr>
          <a:xfrm rot="16200000" flipV="1">
            <a:off x="3328322" y="3261357"/>
            <a:ext cx="12700" cy="1390509"/>
          </a:xfrm>
          <a:prstGeom prst="bentConnector3">
            <a:avLst>
              <a:gd name="adj1" fmla="val 180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Elbow Connector 41">
            <a:extLst>
              <a:ext uri="{FF2B5EF4-FFF2-40B4-BE49-F238E27FC236}">
                <a16:creationId xmlns:a16="http://schemas.microsoft.com/office/drawing/2014/main" id="{86FC1300-1692-A243-925B-A48B7A58D44D}"/>
              </a:ext>
            </a:extLst>
          </p:cNvPr>
          <p:cNvCxnSpPr>
            <a:cxnSpLocks/>
            <a:stCxn id="29" idx="0"/>
            <a:endCxn id="27" idx="0"/>
          </p:cNvCxnSpPr>
          <p:nvPr/>
        </p:nvCxnSpPr>
        <p:spPr>
          <a:xfrm rot="16200000" flipV="1">
            <a:off x="3560073" y="3493109"/>
            <a:ext cx="12700" cy="927006"/>
          </a:xfrm>
          <a:prstGeom prst="bentConnector3">
            <a:avLst>
              <a:gd name="adj1" fmla="val 180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EA7BC5DA-75BA-B845-AB90-B04F34B44B3B}"/>
              </a:ext>
            </a:extLst>
          </p:cNvPr>
          <p:cNvSpPr txBox="1"/>
          <p:nvPr/>
        </p:nvSpPr>
        <p:spPr>
          <a:xfrm>
            <a:off x="4487079" y="3433564"/>
            <a:ext cx="2343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/</a:t>
            </a:r>
            <a:endParaRPr lang="en-CN" sz="14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C991FD8-56A6-DA4B-9E97-A3DB1FBF22FC}"/>
              </a:ext>
            </a:extLst>
          </p:cNvPr>
          <p:cNvSpPr txBox="1"/>
          <p:nvPr/>
        </p:nvSpPr>
        <p:spPr>
          <a:xfrm>
            <a:off x="779059" y="3433564"/>
            <a:ext cx="5132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file1</a:t>
            </a:r>
            <a:endParaRPr lang="en-CN" sz="14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F49F221-97CD-7A41-8488-A71D532A273A}"/>
              </a:ext>
            </a:extLst>
          </p:cNvPr>
          <p:cNvSpPr txBox="1"/>
          <p:nvPr/>
        </p:nvSpPr>
        <p:spPr>
          <a:xfrm>
            <a:off x="1719012" y="3433564"/>
            <a:ext cx="4828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dir2</a:t>
            </a:r>
            <a:endParaRPr lang="en-CN" sz="14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19B107C-BA4D-A241-9A53-07A70749C1AA}"/>
              </a:ext>
            </a:extLst>
          </p:cNvPr>
          <p:cNvSpPr txBox="1"/>
          <p:nvPr/>
        </p:nvSpPr>
        <p:spPr>
          <a:xfrm>
            <a:off x="3662497" y="3433564"/>
            <a:ext cx="5132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file2</a:t>
            </a:r>
            <a:endParaRPr lang="en-CN" sz="1400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1721B8E-8237-7E45-A317-C5ACAC6D99BA}"/>
              </a:ext>
            </a:extLst>
          </p:cNvPr>
          <p:cNvSpPr/>
          <p:nvPr/>
        </p:nvSpPr>
        <p:spPr>
          <a:xfrm>
            <a:off x="5649773" y="3957216"/>
            <a:ext cx="465918" cy="50467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zh-CN" altLang="en-US" sz="700" dirty="0"/>
              <a:t>数据块</a:t>
            </a:r>
            <a:endParaRPr lang="en-US" altLang="zh-CN" sz="700" dirty="0"/>
          </a:p>
          <a:p>
            <a:pPr algn="ctr"/>
            <a:endParaRPr lang="en-US" sz="700" dirty="0"/>
          </a:p>
          <a:p>
            <a:pPr algn="ctr"/>
            <a:r>
              <a:rPr lang="en-US" altLang="zh-CN" sz="700" dirty="0"/>
              <a:t>hello</a:t>
            </a:r>
          </a:p>
          <a:p>
            <a:pPr algn="ctr"/>
            <a:endParaRPr lang="en-CN" sz="700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E60B4630-3C65-C44D-898A-E8CC2335ED0C}"/>
              </a:ext>
            </a:extLst>
          </p:cNvPr>
          <p:cNvSpPr/>
          <p:nvPr/>
        </p:nvSpPr>
        <p:spPr>
          <a:xfrm>
            <a:off x="6115578" y="3957216"/>
            <a:ext cx="465918" cy="50387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CN" sz="1050" dirty="0"/>
              <a:t>inode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4B69127E-C25F-2D4A-A675-ABDC58C4057E}"/>
              </a:ext>
            </a:extLst>
          </p:cNvPr>
          <p:cNvSpPr/>
          <p:nvPr/>
        </p:nvSpPr>
        <p:spPr>
          <a:xfrm>
            <a:off x="6581810" y="3957216"/>
            <a:ext cx="465918" cy="50467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zh-CN" altLang="en-US" sz="700" dirty="0"/>
              <a:t>数据块</a:t>
            </a:r>
            <a:br>
              <a:rPr lang="en-US" altLang="zh-CN" sz="700" dirty="0"/>
            </a:br>
            <a:r>
              <a:rPr lang="en-US" altLang="zh-CN" sz="700" dirty="0"/>
              <a:t>dir2:</a:t>
            </a:r>
            <a:r>
              <a:rPr lang="zh-CN" altLang="en-US" sz="700" dirty="0"/>
              <a:t> </a:t>
            </a:r>
            <a:r>
              <a:rPr lang="en-US" altLang="zh-CN" sz="700" dirty="0"/>
              <a:t>4</a:t>
            </a:r>
          </a:p>
          <a:p>
            <a:pPr algn="ctr"/>
            <a:r>
              <a:rPr lang="en-US" altLang="zh-CN" sz="700" dirty="0"/>
              <a:t>file2:</a:t>
            </a:r>
            <a:r>
              <a:rPr lang="zh-CN" altLang="en-US" sz="700" dirty="0"/>
              <a:t> </a:t>
            </a:r>
            <a:r>
              <a:rPr lang="en-US" altLang="zh-CN" sz="700" dirty="0"/>
              <a:t>5</a:t>
            </a:r>
          </a:p>
          <a:p>
            <a:pPr algn="ctr"/>
            <a:r>
              <a:rPr lang="en-US" altLang="zh-CN" sz="700" dirty="0"/>
              <a:t>file3:</a:t>
            </a:r>
            <a:r>
              <a:rPr lang="zh-CN" altLang="en-US" sz="700" dirty="0"/>
              <a:t> </a:t>
            </a:r>
            <a:r>
              <a:rPr lang="en-US" altLang="zh-CN" sz="700" dirty="0"/>
              <a:t>6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54CD5F70-91B1-4043-AA36-E2E91FE279AE}"/>
              </a:ext>
            </a:extLst>
          </p:cNvPr>
          <p:cNvSpPr/>
          <p:nvPr/>
        </p:nvSpPr>
        <p:spPr>
          <a:xfrm>
            <a:off x="7510529" y="3957216"/>
            <a:ext cx="465918" cy="50387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altLang="zh-CN" sz="1050" dirty="0" err="1"/>
              <a:t>i</a:t>
            </a:r>
            <a:r>
              <a:rPr lang="en-CN" sz="1050" dirty="0"/>
              <a:t>node</a:t>
            </a:r>
            <a:br>
              <a:rPr lang="en-US" altLang="zh-CN" sz="1050" dirty="0"/>
            </a:br>
            <a:r>
              <a:rPr lang="en-US" altLang="zh-CN" sz="1050" dirty="0"/>
              <a:t>map</a:t>
            </a:r>
            <a:endParaRPr lang="en-CN" sz="1050" dirty="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A766DF1F-6A67-CD45-88ED-6639FE588E6C}"/>
              </a:ext>
            </a:extLst>
          </p:cNvPr>
          <p:cNvSpPr/>
          <p:nvPr/>
        </p:nvSpPr>
        <p:spPr>
          <a:xfrm>
            <a:off x="7045930" y="3957216"/>
            <a:ext cx="465918" cy="50387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CN" sz="1050" dirty="0"/>
              <a:t>inode</a:t>
            </a:r>
          </a:p>
        </p:txBody>
      </p:sp>
      <p:cxnSp>
        <p:nvCxnSpPr>
          <p:cNvPr id="55" name="Elbow Connector 54">
            <a:extLst>
              <a:ext uri="{FF2B5EF4-FFF2-40B4-BE49-F238E27FC236}">
                <a16:creationId xmlns:a16="http://schemas.microsoft.com/office/drawing/2014/main" id="{F0886F6F-BF65-0140-B040-32C87DC29C7C}"/>
              </a:ext>
            </a:extLst>
          </p:cNvPr>
          <p:cNvCxnSpPr>
            <a:cxnSpLocks/>
            <a:stCxn id="54" idx="0"/>
            <a:endCxn id="50" idx="0"/>
          </p:cNvCxnSpPr>
          <p:nvPr/>
        </p:nvCxnSpPr>
        <p:spPr>
          <a:xfrm rot="16200000" flipV="1">
            <a:off x="7046829" y="3725156"/>
            <a:ext cx="12700" cy="464120"/>
          </a:xfrm>
          <a:prstGeom prst="bentConnector3">
            <a:avLst>
              <a:gd name="adj1" fmla="val 18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Elbow Connector 55">
            <a:extLst>
              <a:ext uri="{FF2B5EF4-FFF2-40B4-BE49-F238E27FC236}">
                <a16:creationId xmlns:a16="http://schemas.microsoft.com/office/drawing/2014/main" id="{69F4B4AE-F5AD-4349-975E-FB4C2F51A652}"/>
              </a:ext>
            </a:extLst>
          </p:cNvPr>
          <p:cNvCxnSpPr>
            <a:cxnSpLocks/>
            <a:stCxn id="48" idx="0"/>
            <a:endCxn id="47" idx="0"/>
          </p:cNvCxnSpPr>
          <p:nvPr/>
        </p:nvCxnSpPr>
        <p:spPr>
          <a:xfrm rot="16200000" flipV="1">
            <a:off x="6115635" y="3724313"/>
            <a:ext cx="12700" cy="465805"/>
          </a:xfrm>
          <a:prstGeom prst="bentConnector3">
            <a:avLst>
              <a:gd name="adj1" fmla="val 18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A2F246F6-CD33-E24F-A067-12AAA3F2B844}"/>
              </a:ext>
            </a:extLst>
          </p:cNvPr>
          <p:cNvSpPr txBox="1"/>
          <p:nvPr/>
        </p:nvSpPr>
        <p:spPr>
          <a:xfrm>
            <a:off x="5940152" y="3443231"/>
            <a:ext cx="5132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file3</a:t>
            </a:r>
            <a:endParaRPr lang="en-CN" sz="14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C7382ED-0EB4-484A-9ADA-6E7A8F691247}"/>
              </a:ext>
            </a:extLst>
          </p:cNvPr>
          <p:cNvSpPr txBox="1"/>
          <p:nvPr/>
        </p:nvSpPr>
        <p:spPr>
          <a:xfrm>
            <a:off x="6811767" y="3443231"/>
            <a:ext cx="2343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/</a:t>
            </a:r>
            <a:endParaRPr lang="en-CN" sz="1400" dirty="0"/>
          </a:p>
        </p:txBody>
      </p:sp>
      <p:cxnSp>
        <p:nvCxnSpPr>
          <p:cNvPr id="59" name="Elbow Connector 58">
            <a:extLst>
              <a:ext uri="{FF2B5EF4-FFF2-40B4-BE49-F238E27FC236}">
                <a16:creationId xmlns:a16="http://schemas.microsoft.com/office/drawing/2014/main" id="{D0922F0C-0C9F-5049-96E5-E6077E8BADF4}"/>
              </a:ext>
            </a:extLst>
          </p:cNvPr>
          <p:cNvCxnSpPr>
            <a:cxnSpLocks/>
            <a:stCxn id="53" idx="2"/>
            <a:endCxn id="54" idx="2"/>
          </p:cNvCxnSpPr>
          <p:nvPr/>
        </p:nvCxnSpPr>
        <p:spPr>
          <a:xfrm rot="5400000">
            <a:off x="7511189" y="4228787"/>
            <a:ext cx="12700" cy="464599"/>
          </a:xfrm>
          <a:prstGeom prst="bentConnector3">
            <a:avLst>
              <a:gd name="adj1" fmla="val 18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Elbow Connector 59">
            <a:extLst>
              <a:ext uri="{FF2B5EF4-FFF2-40B4-BE49-F238E27FC236}">
                <a16:creationId xmlns:a16="http://schemas.microsoft.com/office/drawing/2014/main" id="{9AEE73FA-7E7F-A54E-870A-6F1C664A3E7C}"/>
              </a:ext>
            </a:extLst>
          </p:cNvPr>
          <p:cNvCxnSpPr>
            <a:cxnSpLocks/>
            <a:stCxn id="53" idx="2"/>
            <a:endCxn id="48" idx="2"/>
          </p:cNvCxnSpPr>
          <p:nvPr/>
        </p:nvCxnSpPr>
        <p:spPr>
          <a:xfrm rot="5400000">
            <a:off x="7046013" y="3763611"/>
            <a:ext cx="12700" cy="1394951"/>
          </a:xfrm>
          <a:prstGeom prst="bentConnector3">
            <a:avLst>
              <a:gd name="adj1" fmla="val 18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Elbow Connector 60">
            <a:extLst>
              <a:ext uri="{FF2B5EF4-FFF2-40B4-BE49-F238E27FC236}">
                <a16:creationId xmlns:a16="http://schemas.microsoft.com/office/drawing/2014/main" id="{59B9EF02-626C-564B-AC78-73DA85F11D16}"/>
              </a:ext>
            </a:extLst>
          </p:cNvPr>
          <p:cNvCxnSpPr>
            <a:cxnSpLocks/>
            <a:stCxn id="53" idx="2"/>
            <a:endCxn id="29" idx="2"/>
          </p:cNvCxnSpPr>
          <p:nvPr/>
        </p:nvCxnSpPr>
        <p:spPr>
          <a:xfrm rot="5400000" flipH="1">
            <a:off x="5883230" y="2600828"/>
            <a:ext cx="604" cy="3719912"/>
          </a:xfrm>
          <a:prstGeom prst="bentConnector3">
            <a:avLst>
              <a:gd name="adj1" fmla="val -5725678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Elbow Connector 64">
            <a:extLst>
              <a:ext uri="{FF2B5EF4-FFF2-40B4-BE49-F238E27FC236}">
                <a16:creationId xmlns:a16="http://schemas.microsoft.com/office/drawing/2014/main" id="{521F4BCB-0C2A-B342-892E-72984ACD9890}"/>
              </a:ext>
            </a:extLst>
          </p:cNvPr>
          <p:cNvCxnSpPr>
            <a:cxnSpLocks/>
            <a:stCxn id="53" idx="2"/>
            <a:endCxn id="25" idx="2"/>
          </p:cNvCxnSpPr>
          <p:nvPr/>
        </p:nvCxnSpPr>
        <p:spPr>
          <a:xfrm rot="5400000" flipH="1">
            <a:off x="4956224" y="1673822"/>
            <a:ext cx="604" cy="5573924"/>
          </a:xfrm>
          <a:prstGeom prst="bentConnector3">
            <a:avLst>
              <a:gd name="adj1" fmla="val -5767251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Elbow Connector 68">
            <a:extLst>
              <a:ext uri="{FF2B5EF4-FFF2-40B4-BE49-F238E27FC236}">
                <a16:creationId xmlns:a16="http://schemas.microsoft.com/office/drawing/2014/main" id="{85C7AE15-5DE5-7343-A68C-196B2C856048}"/>
              </a:ext>
            </a:extLst>
          </p:cNvPr>
          <p:cNvCxnSpPr>
            <a:cxnSpLocks/>
            <a:stCxn id="53" idx="2"/>
            <a:endCxn id="22" idx="2"/>
          </p:cNvCxnSpPr>
          <p:nvPr/>
        </p:nvCxnSpPr>
        <p:spPr>
          <a:xfrm rot="5400000" flipH="1">
            <a:off x="4490756" y="1208354"/>
            <a:ext cx="604" cy="6504861"/>
          </a:xfrm>
          <a:prstGeom prst="bentConnector3">
            <a:avLst>
              <a:gd name="adj1" fmla="val -5767268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23501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7703C-D57D-964D-84AC-9A67C0018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Review</a:t>
            </a:r>
            <a:r>
              <a:rPr lang="zh-CN" altLang="en-US" dirty="0"/>
              <a:t>：</a:t>
            </a:r>
            <a:r>
              <a:rPr lang="zh-CN" altLang="en-CN" dirty="0"/>
              <a:t>段</a:t>
            </a:r>
            <a:r>
              <a:rPr lang="zh-CN" altLang="en-US" dirty="0"/>
              <a:t>清理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0B0136-BD62-E04E-8A03-BE4922BE9B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zh-CN" altLang="en-CN" sz="1800" b="0" dirty="0"/>
              <a:t>将</a:t>
            </a:r>
            <a:r>
              <a:rPr lang="zh-CN" altLang="en-US" sz="1800" b="0" dirty="0"/>
              <a:t>一些段读入内存中准备清理</a:t>
            </a:r>
            <a:endParaRPr lang="en-US" altLang="zh-CN" sz="1800" b="0" dirty="0"/>
          </a:p>
          <a:p>
            <a:pPr marL="457200" indent="-457200">
              <a:buFont typeface="+mj-lt"/>
              <a:buAutoNum type="arabicPeriod"/>
            </a:pPr>
            <a:r>
              <a:rPr lang="zh-CN" altLang="en-US" sz="1800" b="0" dirty="0"/>
              <a:t>识别出有效数据</a:t>
            </a:r>
            <a:endParaRPr lang="en-US" altLang="zh-CN" sz="1800" b="0" dirty="0"/>
          </a:p>
          <a:p>
            <a:pPr marL="457200" indent="-457200">
              <a:buFont typeface="+mj-lt"/>
              <a:buAutoNum type="arabicPeriod"/>
            </a:pPr>
            <a:r>
              <a:rPr lang="zh-CN" altLang="en-US" sz="1800" b="0" dirty="0"/>
              <a:t>将有效数据整理后写入到干净段中（对应拷贝方法）</a:t>
            </a:r>
            <a:endParaRPr lang="en-US" altLang="zh-CN" sz="1800" b="0" dirty="0"/>
          </a:p>
          <a:p>
            <a:pPr marL="457200" indent="-457200">
              <a:buFont typeface="+mj-lt"/>
              <a:buAutoNum type="arabicPeriod"/>
            </a:pPr>
            <a:r>
              <a:rPr lang="zh-CN" altLang="en-US" sz="1800" b="0" dirty="0"/>
              <a:t>标记被清理的段为干净</a:t>
            </a:r>
            <a:endParaRPr lang="en-US" altLang="zh-CN" sz="1800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851791-18D3-3A40-BDA0-D9610F35D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E269D3-2FEA-FA4E-9CC3-4B686E5E52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21BECF8A-E6E1-4F4C-8C0C-B6A1837C666C}"/>
              </a:ext>
            </a:extLst>
          </p:cNvPr>
          <p:cNvSpPr/>
          <p:nvPr/>
        </p:nvSpPr>
        <p:spPr>
          <a:xfrm>
            <a:off x="1115616" y="3404244"/>
            <a:ext cx="1675606" cy="38936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en-CN" sz="700"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374D8E43-6955-7D4C-B854-05B9B1767BF4}"/>
              </a:ext>
            </a:extLst>
          </p:cNvPr>
          <p:cNvSpPr/>
          <p:nvPr/>
        </p:nvSpPr>
        <p:spPr>
          <a:xfrm>
            <a:off x="3624919" y="3404243"/>
            <a:ext cx="1675606" cy="38936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en-CN" sz="700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954BCE61-AA0A-4645-9869-02E773CB9859}"/>
              </a:ext>
            </a:extLst>
          </p:cNvPr>
          <p:cNvSpPr/>
          <p:nvPr/>
        </p:nvSpPr>
        <p:spPr>
          <a:xfrm>
            <a:off x="5645823" y="3404244"/>
            <a:ext cx="1675606" cy="38936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en-CN" sz="700" dirty="0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1E43EDD1-A9A7-614F-9EFE-B1160D3CC18E}"/>
              </a:ext>
            </a:extLst>
          </p:cNvPr>
          <p:cNvSpPr/>
          <p:nvPr/>
        </p:nvSpPr>
        <p:spPr>
          <a:xfrm>
            <a:off x="2321921" y="4651755"/>
            <a:ext cx="1675606" cy="38936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en-CN" sz="700" dirty="0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9D291F20-0E1B-4B40-84B5-93F9857B9016}"/>
              </a:ext>
            </a:extLst>
          </p:cNvPr>
          <p:cNvSpPr/>
          <p:nvPr/>
        </p:nvSpPr>
        <p:spPr>
          <a:xfrm>
            <a:off x="2324025" y="4651753"/>
            <a:ext cx="284100" cy="38935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en-CN" sz="700" dirty="0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4D02FC83-4F5B-D74C-8967-139BA075090F}"/>
              </a:ext>
            </a:extLst>
          </p:cNvPr>
          <p:cNvSpPr/>
          <p:nvPr/>
        </p:nvSpPr>
        <p:spPr>
          <a:xfrm>
            <a:off x="2607166" y="4650527"/>
            <a:ext cx="548465" cy="38935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en-CN" sz="700" dirty="0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6C795482-7547-9444-BD82-F6A543B53AA5}"/>
              </a:ext>
            </a:extLst>
          </p:cNvPr>
          <p:cNvSpPr/>
          <p:nvPr/>
        </p:nvSpPr>
        <p:spPr>
          <a:xfrm>
            <a:off x="3156567" y="4650527"/>
            <a:ext cx="548465" cy="38935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en-CN" sz="700" dirty="0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71288A48-D39C-C94A-8023-F29E6CF9A2E1}"/>
              </a:ext>
            </a:extLst>
          </p:cNvPr>
          <p:cNvSpPr/>
          <p:nvPr/>
        </p:nvSpPr>
        <p:spPr>
          <a:xfrm>
            <a:off x="4264546" y="4650526"/>
            <a:ext cx="1675606" cy="38936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en-CN" sz="700" dirty="0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CA810592-36FE-4A49-981E-36DE066E88EB}"/>
              </a:ext>
            </a:extLst>
          </p:cNvPr>
          <p:cNvSpPr/>
          <p:nvPr/>
        </p:nvSpPr>
        <p:spPr>
          <a:xfrm>
            <a:off x="3705032" y="4650527"/>
            <a:ext cx="284101" cy="38935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en-CN" sz="700" dirty="0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D052D2B2-A630-3E4F-B3D6-1AD6BE78222A}"/>
              </a:ext>
            </a:extLst>
          </p:cNvPr>
          <p:cNvSpPr/>
          <p:nvPr/>
        </p:nvSpPr>
        <p:spPr>
          <a:xfrm>
            <a:off x="4263772" y="4649298"/>
            <a:ext cx="284101" cy="38935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en-CN" sz="700" dirty="0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EED8C14F-3831-3B4F-A06E-0C87D8966E1F}"/>
              </a:ext>
            </a:extLst>
          </p:cNvPr>
          <p:cNvSpPr/>
          <p:nvPr/>
        </p:nvSpPr>
        <p:spPr>
          <a:xfrm>
            <a:off x="4547307" y="4649297"/>
            <a:ext cx="284101" cy="38935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en-CN" sz="700" dirty="0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498D9899-F014-DC48-AFD3-6F7873F6D0CB}"/>
              </a:ext>
            </a:extLst>
          </p:cNvPr>
          <p:cNvSpPr/>
          <p:nvPr/>
        </p:nvSpPr>
        <p:spPr>
          <a:xfrm>
            <a:off x="4830634" y="4649296"/>
            <a:ext cx="142356" cy="38935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en-CN" sz="700" dirty="0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B5E76540-479D-2B4C-AB6A-EBB2112EC564}"/>
              </a:ext>
            </a:extLst>
          </p:cNvPr>
          <p:cNvSpPr/>
          <p:nvPr/>
        </p:nvSpPr>
        <p:spPr>
          <a:xfrm>
            <a:off x="4971910" y="4649295"/>
            <a:ext cx="284101" cy="38935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en-CN" sz="700" dirty="0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2F89ADF0-03AB-4247-8D9D-C3F356316B2F}"/>
              </a:ext>
            </a:extLst>
          </p:cNvPr>
          <p:cNvSpPr/>
          <p:nvPr/>
        </p:nvSpPr>
        <p:spPr>
          <a:xfrm>
            <a:off x="5254157" y="4648063"/>
            <a:ext cx="142356" cy="38935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en-CN" sz="7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3674DA5-EDE5-5240-B548-609CF3BEEB88}"/>
              </a:ext>
            </a:extLst>
          </p:cNvPr>
          <p:cNvSpPr txBox="1"/>
          <p:nvPr/>
        </p:nvSpPr>
        <p:spPr>
          <a:xfrm>
            <a:off x="281919" y="4196833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干净段链表</a:t>
            </a:r>
            <a:endParaRPr lang="en-CN" dirty="0"/>
          </a:p>
        </p:txBody>
      </p:sp>
      <p:cxnSp>
        <p:nvCxnSpPr>
          <p:cNvPr id="39" name="Curved Connector 38">
            <a:extLst>
              <a:ext uri="{FF2B5EF4-FFF2-40B4-BE49-F238E27FC236}">
                <a16:creationId xmlns:a16="http://schemas.microsoft.com/office/drawing/2014/main" id="{F801FD85-C1C0-5349-9C2E-FCCA734628DE}"/>
              </a:ext>
            </a:extLst>
          </p:cNvPr>
          <p:cNvCxnSpPr>
            <a:cxnSpLocks/>
            <a:stCxn id="38" idx="3"/>
            <a:endCxn id="55" idx="1"/>
          </p:cNvCxnSpPr>
          <p:nvPr/>
        </p:nvCxnSpPr>
        <p:spPr>
          <a:xfrm flipH="1" flipV="1">
            <a:off x="1115616" y="3598924"/>
            <a:ext cx="505131" cy="782575"/>
          </a:xfrm>
          <a:prstGeom prst="curvedConnector5">
            <a:avLst>
              <a:gd name="adj1" fmla="val -45256"/>
              <a:gd name="adj2" fmla="val 49360"/>
              <a:gd name="adj3" fmla="val 145256"/>
            </a:avLst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urved Connector 40">
            <a:extLst>
              <a:ext uri="{FF2B5EF4-FFF2-40B4-BE49-F238E27FC236}">
                <a16:creationId xmlns:a16="http://schemas.microsoft.com/office/drawing/2014/main" id="{31572525-A194-E54A-A443-DA5DBD6646EC}"/>
              </a:ext>
            </a:extLst>
          </p:cNvPr>
          <p:cNvCxnSpPr>
            <a:cxnSpLocks/>
            <a:stCxn id="55" idx="3"/>
            <a:endCxn id="56" idx="1"/>
          </p:cNvCxnSpPr>
          <p:nvPr/>
        </p:nvCxnSpPr>
        <p:spPr>
          <a:xfrm flipV="1">
            <a:off x="2791222" y="3598923"/>
            <a:ext cx="833697" cy="1"/>
          </a:xfrm>
          <a:prstGeom prst="curvedConnector3">
            <a:avLst>
              <a:gd name="adj1" fmla="val 50000"/>
            </a:avLst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urved Connector 41">
            <a:extLst>
              <a:ext uri="{FF2B5EF4-FFF2-40B4-BE49-F238E27FC236}">
                <a16:creationId xmlns:a16="http://schemas.microsoft.com/office/drawing/2014/main" id="{4AEEDB45-9F65-B64A-8E50-03B993C630D7}"/>
              </a:ext>
            </a:extLst>
          </p:cNvPr>
          <p:cNvCxnSpPr>
            <a:cxnSpLocks/>
            <a:stCxn id="56" idx="3"/>
            <a:endCxn id="57" idx="1"/>
          </p:cNvCxnSpPr>
          <p:nvPr/>
        </p:nvCxnSpPr>
        <p:spPr>
          <a:xfrm>
            <a:off x="5300525" y="3598923"/>
            <a:ext cx="345298" cy="1"/>
          </a:xfrm>
          <a:prstGeom prst="curvedConnector3">
            <a:avLst>
              <a:gd name="adj1" fmla="val 50000"/>
            </a:avLst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98287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FF5AB-E45A-A84C-AE35-92DD30D0D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闪存盘的性能特性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32A5E4-F5A0-FB47-8BF0-E8CAAA1461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000" dirty="0"/>
              <a:t>非对称读写</a:t>
            </a:r>
            <a:endParaRPr lang="en-US" altLang="zh-CN" sz="2000" dirty="0"/>
          </a:p>
          <a:p>
            <a:pPr lvl="1"/>
            <a:r>
              <a:rPr lang="en-US" altLang="zh-CN" sz="1600" dirty="0"/>
              <a:t>Block</a:t>
            </a:r>
            <a:r>
              <a:rPr lang="zh-CN" altLang="en-US" sz="1600" dirty="0"/>
              <a:t>需要擦除后才能使用，需要考虑垃圾回收</a:t>
            </a:r>
            <a:endParaRPr lang="en-US" altLang="zh-CN" sz="1600" dirty="0"/>
          </a:p>
          <a:p>
            <a:pPr lvl="1"/>
            <a:r>
              <a:rPr lang="zh-CN" altLang="en-US" sz="1600" dirty="0"/>
              <a:t>页</a:t>
            </a:r>
            <a:r>
              <a:rPr lang="en-US" altLang="zh-CN" sz="1600" dirty="0"/>
              <a:t> (page) </a:t>
            </a:r>
            <a:r>
              <a:rPr lang="zh-CN" altLang="en-US" sz="1600" dirty="0"/>
              <a:t>是读写单元</a:t>
            </a:r>
            <a:r>
              <a:rPr lang="en-US" altLang="zh-CN" sz="1600" dirty="0"/>
              <a:t> (8-16KB)</a:t>
            </a:r>
            <a:r>
              <a:rPr lang="zh-CN" altLang="en-US" sz="1600" dirty="0"/>
              <a:t>，块</a:t>
            </a:r>
            <a:r>
              <a:rPr lang="en-US" altLang="zh-CN" sz="1600" dirty="0"/>
              <a:t> (block) </a:t>
            </a:r>
            <a:r>
              <a:rPr lang="zh-CN" altLang="en-US" sz="1600" dirty="0"/>
              <a:t>是擦除单元</a:t>
            </a:r>
            <a:r>
              <a:rPr lang="en-US" altLang="zh-CN" sz="1600" dirty="0"/>
              <a:t> (4-8MB)</a:t>
            </a:r>
          </a:p>
          <a:p>
            <a:r>
              <a:rPr lang="zh-CN" altLang="en-CN" sz="2000" dirty="0"/>
              <a:t>磨损均衡</a:t>
            </a:r>
            <a:endParaRPr lang="en-US" altLang="zh-CN" sz="2000" dirty="0"/>
          </a:p>
          <a:p>
            <a:pPr lvl="1"/>
            <a:r>
              <a:rPr lang="zh-CN" altLang="en-US" sz="1600" dirty="0"/>
              <a:t>频繁写入同一个块会造成</a:t>
            </a:r>
            <a:r>
              <a:rPr lang="zh-CN" altLang="en-CN" sz="1600" b="1" dirty="0">
                <a:solidFill>
                  <a:schemeClr val="accent1"/>
                </a:solidFill>
              </a:rPr>
              <a:t>写穿</a:t>
            </a:r>
            <a:r>
              <a:rPr lang="zh-CN" altLang="en-US" sz="1600" dirty="0"/>
              <a:t>问题</a:t>
            </a:r>
            <a:endParaRPr lang="en-US" altLang="zh-CN" sz="1600" dirty="0"/>
          </a:p>
          <a:p>
            <a:pPr lvl="1"/>
            <a:r>
              <a:rPr lang="zh-CN" altLang="en-US" sz="1600" dirty="0"/>
              <a:t>因此需要</a:t>
            </a:r>
            <a:r>
              <a:rPr lang="zh-CN" altLang="en-CN" sz="1600" dirty="0"/>
              <a:t>将写</a:t>
            </a:r>
            <a:r>
              <a:rPr lang="zh-CN" altLang="en-US" sz="1600" dirty="0"/>
              <a:t>入操作尽可能均匀地分摊在整个设备</a:t>
            </a:r>
            <a:endParaRPr lang="en-US" altLang="zh-CN" sz="1600" dirty="0"/>
          </a:p>
          <a:p>
            <a:r>
              <a:rPr lang="zh-CN" altLang="en-US" sz="2000" dirty="0"/>
              <a:t>随机访问性能</a:t>
            </a:r>
            <a:endParaRPr lang="en-US" altLang="zh-CN" sz="2000" dirty="0"/>
          </a:p>
          <a:p>
            <a:pPr lvl="1"/>
            <a:r>
              <a:rPr lang="zh-CN" altLang="en-US" sz="1600" dirty="0"/>
              <a:t>随机访问的速度提升，但仍与顺序访问有一定差距</a:t>
            </a:r>
            <a:endParaRPr lang="en-US" altLang="zh-CN" sz="1400" dirty="0"/>
          </a:p>
          <a:p>
            <a:r>
              <a:rPr lang="zh-CN" altLang="en-CN" sz="2000" dirty="0"/>
              <a:t>多通道</a:t>
            </a:r>
            <a:endParaRPr lang="en-US" altLang="zh-CN" sz="2000" dirty="0"/>
          </a:p>
          <a:p>
            <a:pPr lvl="1"/>
            <a:r>
              <a:rPr lang="zh-CN" altLang="en-US" sz="1800" dirty="0"/>
              <a:t>高并行性</a:t>
            </a:r>
            <a:endParaRPr lang="en-US" altLang="zh-CN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EE74AC-B71D-DA4B-97CF-3245F2802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3EC55B-232E-5641-9D72-41229A119F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BE4C733-3386-5347-B00D-3BFE9EB2B6B6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90439" y="2451046"/>
            <a:ext cx="2459122" cy="3070750"/>
          </a:xfrm>
          <a:prstGeom prst="rect">
            <a:avLst/>
          </a:prstGeom>
        </p:spPr>
      </p:pic>
      <p:pic>
        <p:nvPicPr>
          <p:cNvPr id="7" name="Picture 5">
            <a:extLst>
              <a:ext uri="{FF2B5EF4-FFF2-40B4-BE49-F238E27FC236}">
                <a16:creationId xmlns:a16="http://schemas.microsoft.com/office/drawing/2014/main" id="{1D6F8918-EE07-4849-B3DE-DFC47F3887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6216" y="142832"/>
            <a:ext cx="2547555" cy="1866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53457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9D3D0-B189-1A48-9B0D-1A8D50835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Flash Translation Layer (FTL)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F9AF85-D8A8-9A44-B873-4708DF6E31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0" dirty="0"/>
              <a:t>逻辑地址到物理地址的转换</a:t>
            </a:r>
            <a:endParaRPr lang="en-US" altLang="zh-CN" b="0" dirty="0"/>
          </a:p>
          <a:p>
            <a:pPr lvl="1"/>
            <a:r>
              <a:rPr lang="zh-CN" altLang="en-US" dirty="0"/>
              <a:t>对外使用逻辑地址</a:t>
            </a:r>
            <a:endParaRPr lang="en-US" altLang="zh-CN" dirty="0"/>
          </a:p>
          <a:p>
            <a:pPr lvl="1"/>
            <a:r>
              <a:rPr lang="zh-CN" altLang="en-US" dirty="0"/>
              <a:t>内部使用物理地址</a:t>
            </a:r>
            <a:endParaRPr lang="en-US" altLang="zh-CN" dirty="0"/>
          </a:p>
          <a:p>
            <a:pPr lvl="1"/>
            <a:r>
              <a:rPr lang="zh-CN" altLang="en-CN" dirty="0"/>
              <a:t>可</a:t>
            </a:r>
            <a:r>
              <a:rPr lang="zh-CN" altLang="en-US" dirty="0"/>
              <a:t>软件实现，也可以固件实现</a:t>
            </a:r>
            <a:endParaRPr lang="en-US" altLang="zh-CN" dirty="0"/>
          </a:p>
          <a:p>
            <a:pPr lvl="1"/>
            <a:r>
              <a:rPr lang="zh-CN" altLang="en-US" dirty="0"/>
              <a:t>用于垃圾回收、数据迁移、磨损均衡（</a:t>
            </a:r>
            <a:r>
              <a:rPr lang="en-US" altLang="zh-CN" dirty="0"/>
              <a:t>wear-levelling</a:t>
            </a:r>
            <a:r>
              <a:rPr lang="zh-CN" altLang="en-US" dirty="0"/>
              <a:t>）等</a:t>
            </a:r>
            <a:endParaRPr lang="en-US" altLang="zh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1F3CE2-D0BD-B446-9A7F-C99157AEF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8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BF3C99-AA6D-AC40-A0AC-D49AF813F7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499A78E-A789-A84E-B7C9-B0A56B257CF1}"/>
              </a:ext>
            </a:extLst>
          </p:cNvPr>
          <p:cNvGrpSpPr/>
          <p:nvPr/>
        </p:nvGrpSpPr>
        <p:grpSpPr>
          <a:xfrm>
            <a:off x="1851375" y="3617819"/>
            <a:ext cx="5441249" cy="1487318"/>
            <a:chOff x="755576" y="3664777"/>
            <a:chExt cx="6705966" cy="1833017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4A730C1-7C94-2A4B-A199-8AC267823D48}"/>
                </a:ext>
              </a:extLst>
            </p:cNvPr>
            <p:cNvSpPr/>
            <p:nvPr/>
          </p:nvSpPr>
          <p:spPr>
            <a:xfrm>
              <a:off x="3827198" y="4128994"/>
              <a:ext cx="685246" cy="105725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N" sz="1600" dirty="0"/>
                <a:t>FTL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54634372-7414-344C-9B00-E87CBF251864}"/>
                </a:ext>
              </a:extLst>
            </p:cNvPr>
            <p:cNvCxnSpPr>
              <a:cxnSpLocks/>
              <a:stCxn id="15" idx="3"/>
              <a:endCxn id="9" idx="1"/>
            </p:cNvCxnSpPr>
            <p:nvPr/>
          </p:nvCxnSpPr>
          <p:spPr>
            <a:xfrm>
              <a:off x="2048681" y="4657624"/>
              <a:ext cx="1778517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C4C57873-6A64-0642-9CAA-100B3DC198C3}"/>
                </a:ext>
              </a:extLst>
            </p:cNvPr>
            <p:cNvCxnSpPr>
              <a:cxnSpLocks/>
              <a:stCxn id="9" idx="3"/>
              <a:endCxn id="14" idx="1"/>
            </p:cNvCxnSpPr>
            <p:nvPr/>
          </p:nvCxnSpPr>
          <p:spPr>
            <a:xfrm>
              <a:off x="4512444" y="4657623"/>
              <a:ext cx="1144928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DB64EE9-8055-E54F-A737-C24C16DD64BB}"/>
                </a:ext>
              </a:extLst>
            </p:cNvPr>
            <p:cNvSpPr txBox="1"/>
            <p:nvPr/>
          </p:nvSpPr>
          <p:spPr>
            <a:xfrm>
              <a:off x="2282523" y="4287895"/>
              <a:ext cx="1125194" cy="37889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逻辑块号</a:t>
              </a:r>
              <a:endParaRPr lang="en-CN" sz="1400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F110D53-4BB4-A542-8512-E70AF36B2CA9}"/>
                </a:ext>
              </a:extLst>
            </p:cNvPr>
            <p:cNvSpPr txBox="1"/>
            <p:nvPr/>
          </p:nvSpPr>
          <p:spPr>
            <a:xfrm>
              <a:off x="4520720" y="4273508"/>
              <a:ext cx="986215" cy="3413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dirty="0"/>
                <a:t>物理块号</a:t>
              </a:r>
              <a:endParaRPr lang="en-CN" sz="1200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4CBA11A-E94E-FE4C-89D5-7FC965629D57}"/>
                </a:ext>
              </a:extLst>
            </p:cNvPr>
            <p:cNvSpPr/>
            <p:nvPr/>
          </p:nvSpPr>
          <p:spPr>
            <a:xfrm>
              <a:off x="5657372" y="4325668"/>
              <a:ext cx="1426020" cy="66390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N" sz="1600" dirty="0"/>
                <a:t>Flash</a:t>
              </a:r>
              <a:r>
                <a:rPr lang="zh-CN" altLang="en-US" sz="1600" dirty="0"/>
                <a:t>存储</a:t>
              </a:r>
              <a:endParaRPr lang="en-CN" sz="1600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61515D6-77E9-D143-B155-328FDF29B221}"/>
                </a:ext>
              </a:extLst>
            </p:cNvPr>
            <p:cNvSpPr/>
            <p:nvPr/>
          </p:nvSpPr>
          <p:spPr>
            <a:xfrm>
              <a:off x="755576" y="4227568"/>
              <a:ext cx="1293105" cy="86011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CN" sz="1600" dirty="0"/>
                <a:t>主机</a:t>
              </a:r>
              <a:endParaRPr lang="en-CN" sz="1600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718ACCE-D532-E54D-B3B9-5A1ED376878B}"/>
                </a:ext>
              </a:extLst>
            </p:cNvPr>
            <p:cNvSpPr/>
            <p:nvPr/>
          </p:nvSpPr>
          <p:spPr>
            <a:xfrm>
              <a:off x="3429105" y="3664777"/>
              <a:ext cx="4015239" cy="183301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600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1E861DF-2D10-804E-8A8C-44D60EC08C41}"/>
                </a:ext>
              </a:extLst>
            </p:cNvPr>
            <p:cNvSpPr txBox="1"/>
            <p:nvPr/>
          </p:nvSpPr>
          <p:spPr>
            <a:xfrm>
              <a:off x="6336348" y="3701854"/>
              <a:ext cx="1125194" cy="37889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CN" sz="1400" dirty="0"/>
                <a:t>固态硬盘</a:t>
              </a:r>
              <a:endParaRPr lang="en-CN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2685580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000C42A-4CEC-F142-A3FB-21D9A7928A5C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85507" y="1921396"/>
            <a:ext cx="4121464" cy="278000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7231236-3220-BB45-9B91-DDCB0E7F7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altLang="zh-CN" dirty="0"/>
              <a:t>F2FS</a:t>
            </a:r>
            <a:r>
              <a:rPr lang="zh-CN" altLang="en-CN" dirty="0"/>
              <a:t>的</a:t>
            </a:r>
            <a:r>
              <a:rPr lang="zh-CN" altLang="en-US" dirty="0"/>
              <a:t>改进</a:t>
            </a:r>
            <a:r>
              <a:rPr lang="en-US" altLang="zh-CN" dirty="0"/>
              <a:t>-1</a:t>
            </a:r>
            <a:r>
              <a:rPr lang="zh-CN" altLang="en-US" dirty="0"/>
              <a:t>：</a:t>
            </a:r>
            <a:r>
              <a:rPr lang="en-US" altLang="zh-CN" dirty="0"/>
              <a:t>NAT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C855C6-D0F8-D745-AF50-C63C44935D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000" b="0" dirty="0"/>
              <a:t>引入一层 </a:t>
            </a:r>
            <a:r>
              <a:rPr lang="en-US" altLang="zh-CN" sz="2000" b="0" dirty="0"/>
              <a:t>indirection</a:t>
            </a:r>
            <a:r>
              <a:rPr lang="zh-CN" altLang="en-US" sz="2000" b="0" dirty="0"/>
              <a:t>：</a:t>
            </a:r>
            <a:r>
              <a:rPr lang="en-US" altLang="zh-CN" sz="2000" b="0" dirty="0"/>
              <a:t>NAT</a:t>
            </a:r>
            <a:r>
              <a:rPr lang="zh-CN" altLang="en-US" sz="2000" b="0" dirty="0"/>
              <a:t>（</a:t>
            </a:r>
            <a:r>
              <a:rPr lang="en-US" altLang="zh-CN" sz="2000" b="0" dirty="0">
                <a:solidFill>
                  <a:schemeClr val="accent1"/>
                </a:solidFill>
              </a:rPr>
              <a:t>node</a:t>
            </a:r>
            <a:r>
              <a:rPr lang="zh-CN" altLang="en-US" sz="2000" b="0" dirty="0">
                <a:solidFill>
                  <a:schemeClr val="accent1"/>
                </a:solidFill>
              </a:rPr>
              <a:t>地址转换表</a:t>
            </a:r>
            <a:r>
              <a:rPr lang="zh-CN" altLang="en-US" sz="2000" b="0" dirty="0"/>
              <a:t>）</a:t>
            </a:r>
            <a:endParaRPr lang="en-US" altLang="zh-CN" sz="2000" b="0" dirty="0"/>
          </a:p>
          <a:p>
            <a:pPr lvl="1"/>
            <a:r>
              <a:rPr lang="en-US" altLang="zh-CN" sz="1600" dirty="0">
                <a:solidFill>
                  <a:schemeClr val="accent1"/>
                </a:solidFill>
              </a:rPr>
              <a:t>NAT</a:t>
            </a:r>
            <a:r>
              <a:rPr lang="zh-CN" altLang="en-US" sz="1600" dirty="0">
                <a:solidFill>
                  <a:schemeClr val="accent1"/>
                </a:solidFill>
              </a:rPr>
              <a:t>：</a:t>
            </a:r>
            <a:r>
              <a:rPr lang="en-US" altLang="zh-CN" sz="1600" dirty="0">
                <a:solidFill>
                  <a:schemeClr val="accent1"/>
                </a:solidFill>
              </a:rPr>
              <a:t>Node</a:t>
            </a:r>
            <a:r>
              <a:rPr lang="zh-CN" altLang="en-US" sz="1600" dirty="0">
                <a:solidFill>
                  <a:schemeClr val="accent1"/>
                </a:solidFill>
              </a:rPr>
              <a:t> </a:t>
            </a:r>
            <a:r>
              <a:rPr lang="en-US" altLang="zh-CN" sz="1600" dirty="0">
                <a:solidFill>
                  <a:schemeClr val="accent1"/>
                </a:solidFill>
              </a:rPr>
              <a:t>Address</a:t>
            </a:r>
            <a:r>
              <a:rPr lang="zh-CN" altLang="en-US" sz="1600" dirty="0">
                <a:solidFill>
                  <a:schemeClr val="accent1"/>
                </a:solidFill>
              </a:rPr>
              <a:t> </a:t>
            </a:r>
            <a:r>
              <a:rPr lang="en-US" altLang="zh-CN" sz="1600" dirty="0">
                <a:solidFill>
                  <a:schemeClr val="accent1"/>
                </a:solidFill>
              </a:rPr>
              <a:t>Table</a:t>
            </a:r>
          </a:p>
          <a:p>
            <a:pPr lvl="1"/>
            <a:r>
              <a:rPr lang="zh-CN" altLang="en-US" sz="1600" dirty="0"/>
              <a:t>维护</a:t>
            </a:r>
            <a:r>
              <a:rPr lang="en-US" altLang="zh-CN" sz="1600" dirty="0"/>
              <a:t>node</a:t>
            </a:r>
            <a:r>
              <a:rPr lang="zh-CN" altLang="en-US" sz="1600" dirty="0"/>
              <a:t>号到逻辑块号的映射</a:t>
            </a:r>
            <a:endParaRPr lang="en-US" altLang="zh-CN" sz="1600" dirty="0"/>
          </a:p>
          <a:p>
            <a:pPr lvl="1"/>
            <a:r>
              <a:rPr lang="en-US" altLang="zh-CN" sz="1600" dirty="0"/>
              <a:t>Node</a:t>
            </a:r>
            <a:r>
              <a:rPr lang="zh-CN" altLang="en-US" sz="1600" dirty="0"/>
              <a:t>号需转换成逻辑块号才能使用</a:t>
            </a:r>
            <a:endParaRPr lang="en-US" altLang="zh-CN" sz="1600" dirty="0"/>
          </a:p>
          <a:p>
            <a:r>
              <a:rPr lang="en-US" altLang="zh-CN" sz="2000" b="0" dirty="0"/>
              <a:t>F2FS</a:t>
            </a:r>
            <a:r>
              <a:rPr lang="zh-CN" altLang="en-US" sz="2000" b="0" dirty="0"/>
              <a:t>中的文件结构</a:t>
            </a:r>
            <a:endParaRPr lang="en-US" altLang="zh-CN" sz="2000" b="0" dirty="0"/>
          </a:p>
          <a:p>
            <a:pPr lvl="1"/>
            <a:r>
              <a:rPr lang="zh-CN" altLang="en-CN" sz="1600" b="0" dirty="0"/>
              <a:t>直接</a:t>
            </a:r>
            <a:r>
              <a:rPr lang="en-US" altLang="zh-CN" sz="1600" b="0" dirty="0"/>
              <a:t>node</a:t>
            </a:r>
            <a:r>
              <a:rPr lang="zh-CN" altLang="en-US" sz="1600" b="0" dirty="0"/>
              <a:t>：</a:t>
            </a:r>
            <a:r>
              <a:rPr lang="zh-CN" altLang="en-US" sz="1600" dirty="0"/>
              <a:t>保存数据块的逻辑块号</a:t>
            </a:r>
            <a:endParaRPr lang="en-US" altLang="zh-CN" sz="1600" dirty="0"/>
          </a:p>
          <a:p>
            <a:pPr lvl="1"/>
            <a:r>
              <a:rPr lang="zh-CN" altLang="en-CN" sz="1600" b="0" dirty="0"/>
              <a:t>间接</a:t>
            </a:r>
            <a:r>
              <a:rPr lang="en-US" altLang="zh-CN" sz="1600" b="0" dirty="0"/>
              <a:t>node</a:t>
            </a:r>
            <a:r>
              <a:rPr lang="zh-CN" altLang="en-US" sz="1600" b="0" dirty="0"/>
              <a:t>：</a:t>
            </a:r>
            <a:r>
              <a:rPr lang="zh-CN" altLang="en-US" sz="1600" dirty="0"/>
              <a:t>保存</a:t>
            </a:r>
            <a:r>
              <a:rPr lang="en-US" altLang="zh-CN" sz="1600" dirty="0"/>
              <a:t>node</a:t>
            </a:r>
            <a:r>
              <a:rPr lang="zh-CN" altLang="en-US" sz="1600" dirty="0"/>
              <a:t>号</a:t>
            </a:r>
            <a:br>
              <a:rPr lang="en-US" altLang="zh-CN" sz="1600" dirty="0"/>
            </a:br>
            <a:r>
              <a:rPr lang="zh-CN" altLang="en-US" sz="1600" dirty="0"/>
              <a:t>                （相当于索引块）</a:t>
            </a:r>
            <a:endParaRPr lang="en-US" altLang="zh-CN" sz="1600" dirty="0"/>
          </a:p>
          <a:p>
            <a:pPr lvl="1"/>
            <a:r>
              <a:rPr lang="zh-CN" altLang="en-US" sz="1600" b="0" dirty="0"/>
              <a:t>数据块</a:t>
            </a:r>
            <a:r>
              <a:rPr lang="zh-CN" altLang="en-US" sz="1600" dirty="0"/>
              <a:t>：保存数据</a:t>
            </a:r>
            <a:endParaRPr lang="en-CN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55EEDD-58D1-534B-9A90-AEE9CB6D7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9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A22782-E573-B14E-9950-1E3F048625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E8F4964-A3FD-CD42-8F2A-5C2CC294AF95}"/>
              </a:ext>
            </a:extLst>
          </p:cNvPr>
          <p:cNvSpPr txBox="1"/>
          <p:nvPr/>
        </p:nvSpPr>
        <p:spPr>
          <a:xfrm>
            <a:off x="6812280" y="1362523"/>
            <a:ext cx="2152208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1800" b="0" dirty="0">
                <a:solidFill>
                  <a:schemeClr val="accent1"/>
                </a:solidFill>
              </a:rPr>
              <a:t>想起了什么原则？</a:t>
            </a:r>
            <a:endParaRPr lang="zh-CN" alt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62926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4265B5F-E8D0-9B4B-8BB0-FFF98707AFC9}"/>
              </a:ext>
            </a:extLst>
          </p:cNvPr>
          <p:cNvSpPr/>
          <p:nvPr/>
        </p:nvSpPr>
        <p:spPr>
          <a:xfrm>
            <a:off x="1249134" y="4785990"/>
            <a:ext cx="6460909" cy="360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en-CN" sz="105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AA801F-C21B-904D-B19B-F50F0A7BC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N" altLang="zh-CN" dirty="0"/>
              <a:t>F2FS</a:t>
            </a:r>
            <a:r>
              <a:rPr lang="zh-CN" altLang="en-CN" dirty="0"/>
              <a:t>的</a:t>
            </a:r>
            <a:r>
              <a:rPr lang="zh-CN" altLang="en-US" dirty="0"/>
              <a:t>改进</a:t>
            </a:r>
            <a:r>
              <a:rPr lang="en-US" altLang="zh-CN" dirty="0"/>
              <a:t>-1</a:t>
            </a:r>
            <a:r>
              <a:rPr lang="zh-CN" altLang="en-US" dirty="0"/>
              <a:t>：</a:t>
            </a:r>
            <a:r>
              <a:rPr lang="en-US" altLang="zh-CN" dirty="0"/>
              <a:t>NAT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635DD5-5238-954F-AA1D-0B15F66DB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10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9D56D5-E01E-584F-BDA4-4A95035763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81DD187-7A04-924A-88CE-EC24085D9896}"/>
              </a:ext>
            </a:extLst>
          </p:cNvPr>
          <p:cNvSpPr/>
          <p:nvPr/>
        </p:nvSpPr>
        <p:spPr>
          <a:xfrm>
            <a:off x="1457656" y="4785990"/>
            <a:ext cx="284100" cy="36000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CN" sz="1000" dirty="0"/>
              <a:t>SB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34A33EC-B566-C04E-B991-752EFCE381FB}"/>
              </a:ext>
            </a:extLst>
          </p:cNvPr>
          <p:cNvSpPr/>
          <p:nvPr/>
        </p:nvSpPr>
        <p:spPr>
          <a:xfrm>
            <a:off x="1741756" y="4785990"/>
            <a:ext cx="284100" cy="36000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CN" sz="1000" dirty="0"/>
              <a:t>CP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E071324-7B69-9744-A3AA-B557FD8A43C8}"/>
              </a:ext>
            </a:extLst>
          </p:cNvPr>
          <p:cNvSpPr/>
          <p:nvPr/>
        </p:nvSpPr>
        <p:spPr>
          <a:xfrm>
            <a:off x="2874661" y="4785990"/>
            <a:ext cx="284100" cy="36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altLang="zh-CN" sz="1000" dirty="0">
              <a:solidFill>
                <a:sysClr val="windowText" lastClr="000000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5A7ED0E-B78C-414B-9434-CB86EAA92D2B}"/>
              </a:ext>
            </a:extLst>
          </p:cNvPr>
          <p:cNvSpPr/>
          <p:nvPr/>
        </p:nvSpPr>
        <p:spPr>
          <a:xfrm>
            <a:off x="4209650" y="4785990"/>
            <a:ext cx="284100" cy="36000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altLang="zh-CN" sz="1000" dirty="0">
              <a:solidFill>
                <a:sysClr val="windowText" lastClr="000000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5D016D2-BDBC-004F-85CF-DE5499846E97}"/>
              </a:ext>
            </a:extLst>
          </p:cNvPr>
          <p:cNvSpPr/>
          <p:nvPr/>
        </p:nvSpPr>
        <p:spPr>
          <a:xfrm>
            <a:off x="5277544" y="4784832"/>
            <a:ext cx="185483" cy="360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CN" sz="10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41776D0-E41D-D949-9A98-1BBB02569D5C}"/>
              </a:ext>
            </a:extLst>
          </p:cNvPr>
          <p:cNvSpPr/>
          <p:nvPr/>
        </p:nvSpPr>
        <p:spPr>
          <a:xfrm>
            <a:off x="3927607" y="4785990"/>
            <a:ext cx="284100" cy="360000"/>
          </a:xfrm>
          <a:prstGeom prst="rect">
            <a:avLst/>
          </a:prstGeom>
          <a:solidFill>
            <a:schemeClr val="accent4">
              <a:lumMod val="7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altLang="zh-CN" sz="1000" dirty="0">
              <a:solidFill>
                <a:sysClr val="windowText" lastClr="000000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80BB814-B838-D94B-85BA-DD5EBCA25B94}"/>
              </a:ext>
            </a:extLst>
          </p:cNvPr>
          <p:cNvSpPr/>
          <p:nvPr/>
        </p:nvSpPr>
        <p:spPr>
          <a:xfrm>
            <a:off x="3159234" y="4785990"/>
            <a:ext cx="284100" cy="36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CN" sz="1000" dirty="0">
              <a:solidFill>
                <a:sysClr val="windowText" lastClr="000000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37910C3-C981-CB43-9299-479EEBF512B2}"/>
              </a:ext>
            </a:extLst>
          </p:cNvPr>
          <p:cNvSpPr/>
          <p:nvPr/>
        </p:nvSpPr>
        <p:spPr>
          <a:xfrm>
            <a:off x="6176524" y="4785990"/>
            <a:ext cx="284100" cy="360000"/>
          </a:xfrm>
          <a:prstGeom prst="rect">
            <a:avLst/>
          </a:prstGeom>
          <a:solidFill>
            <a:srgbClr val="0070C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CN" sz="1000" dirty="0">
              <a:solidFill>
                <a:schemeClr val="lt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A9BB4F2-F16A-0246-B396-F25B7E09DA5D}"/>
              </a:ext>
            </a:extLst>
          </p:cNvPr>
          <p:cNvSpPr/>
          <p:nvPr/>
        </p:nvSpPr>
        <p:spPr>
          <a:xfrm>
            <a:off x="5100561" y="4786669"/>
            <a:ext cx="156145" cy="360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CN" sz="1000" dirty="0">
              <a:solidFill>
                <a:schemeClr val="lt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70D0D23-F3D0-7247-84CE-3EB8FC0F5754}"/>
              </a:ext>
            </a:extLst>
          </p:cNvPr>
          <p:cNvSpPr/>
          <p:nvPr/>
        </p:nvSpPr>
        <p:spPr>
          <a:xfrm>
            <a:off x="5889357" y="4788868"/>
            <a:ext cx="284100" cy="360000"/>
          </a:xfrm>
          <a:prstGeom prst="rect">
            <a:avLst/>
          </a:prstGeom>
          <a:solidFill>
            <a:srgbClr val="0070C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altLang="zh-CN" sz="1000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3934CEA-E1FA-0A49-883A-B4D52CEAFAA2}"/>
              </a:ext>
            </a:extLst>
          </p:cNvPr>
          <p:cNvSpPr/>
          <p:nvPr/>
        </p:nvSpPr>
        <p:spPr>
          <a:xfrm>
            <a:off x="963340" y="1489348"/>
            <a:ext cx="432806" cy="504056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CN" sz="1000" dirty="0"/>
              <a:t>超级块</a:t>
            </a:r>
            <a:endParaRPr lang="en-CN" sz="100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D70729-9C16-DF4D-B077-3EFA2A00E87D}"/>
              </a:ext>
            </a:extLst>
          </p:cNvPr>
          <p:cNvSpPr/>
          <p:nvPr/>
        </p:nvSpPr>
        <p:spPr>
          <a:xfrm>
            <a:off x="1463843" y="1489348"/>
            <a:ext cx="432806" cy="504056"/>
          </a:xfrm>
          <a:prstGeom prst="rect">
            <a:avLst/>
          </a:prstGeom>
          <a:solidFill>
            <a:schemeClr val="accent5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/>
              <a:t>检查点</a:t>
            </a:r>
            <a:endParaRPr lang="en-CN" sz="1000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C1AA524-9DDD-3E4A-8026-8D13EB0BF4E9}"/>
              </a:ext>
            </a:extLst>
          </p:cNvPr>
          <p:cNvSpPr/>
          <p:nvPr/>
        </p:nvSpPr>
        <p:spPr>
          <a:xfrm>
            <a:off x="997188" y="2887865"/>
            <a:ext cx="933309" cy="369972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/>
              <a:t>段使用表</a:t>
            </a:r>
            <a:endParaRPr lang="en-CN" sz="1000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660AFEA-57A9-B448-B44B-8F439D7ED339}"/>
              </a:ext>
            </a:extLst>
          </p:cNvPr>
          <p:cNvSpPr/>
          <p:nvPr/>
        </p:nvSpPr>
        <p:spPr>
          <a:xfrm>
            <a:off x="997188" y="3373453"/>
            <a:ext cx="933309" cy="369972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/>
              <a:t>段概要</a:t>
            </a:r>
            <a:endParaRPr lang="en-CN" sz="1000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B7BA522-C109-C84E-8D7E-B5B7A7374F8F}"/>
              </a:ext>
            </a:extLst>
          </p:cNvPr>
          <p:cNvSpPr/>
          <p:nvPr/>
        </p:nvSpPr>
        <p:spPr>
          <a:xfrm>
            <a:off x="1998361" y="1490180"/>
            <a:ext cx="429565" cy="494652"/>
          </a:xfrm>
          <a:prstGeom prst="rect">
            <a:avLst/>
          </a:prstGeom>
          <a:solidFill>
            <a:srgbClr val="92D050"/>
          </a:solidFill>
          <a:ln w="28575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lang="en-US" altLang="zh-CN" sz="1000" dirty="0">
                <a:solidFill>
                  <a:sysClr val="windowText" lastClr="000000"/>
                </a:solidFill>
              </a:rPr>
              <a:t>NAT</a:t>
            </a:r>
            <a:endParaRPr lang="en-CN" sz="1000" dirty="0">
              <a:solidFill>
                <a:sysClr val="windowText" lastClr="000000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663CC65-3A6E-B14A-AE33-FDC44C60434D}"/>
              </a:ext>
            </a:extLst>
          </p:cNvPr>
          <p:cNvSpPr/>
          <p:nvPr/>
        </p:nvSpPr>
        <p:spPr>
          <a:xfrm>
            <a:off x="4000453" y="2226928"/>
            <a:ext cx="933309" cy="345604"/>
          </a:xfrm>
          <a:prstGeom prst="rect">
            <a:avLst/>
          </a:prstGeom>
          <a:solidFill>
            <a:srgbClr val="0070C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/>
              <a:t>目录</a:t>
            </a:r>
            <a:endParaRPr lang="en-US" altLang="zh-CN" sz="1000" dirty="0"/>
          </a:p>
          <a:p>
            <a:pPr algn="ctr"/>
            <a:r>
              <a:rPr lang="en-US" altLang="zh-CN" sz="1000" dirty="0" err="1"/>
              <a:t>inode</a:t>
            </a:r>
            <a:endParaRPr lang="en-CN" sz="1000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9A78A4F-7661-4041-8453-8422DD84399F}"/>
              </a:ext>
            </a:extLst>
          </p:cNvPr>
          <p:cNvSpPr/>
          <p:nvPr/>
        </p:nvSpPr>
        <p:spPr>
          <a:xfrm>
            <a:off x="4000453" y="2839212"/>
            <a:ext cx="933309" cy="345604"/>
          </a:xfrm>
          <a:prstGeom prst="rect">
            <a:avLst/>
          </a:prstGeom>
          <a:solidFill>
            <a:srgbClr val="0070C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CN" sz="1000" dirty="0"/>
              <a:t>常规文件</a:t>
            </a:r>
            <a:r>
              <a:rPr lang="en-US" altLang="zh-CN" sz="1000" dirty="0" err="1"/>
              <a:t>inode</a:t>
            </a:r>
            <a:endParaRPr lang="en-CN" sz="1000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EFED4E3-A7F9-4F4F-A11E-A2E76A541DB8}"/>
              </a:ext>
            </a:extLst>
          </p:cNvPr>
          <p:cNvSpPr/>
          <p:nvPr/>
        </p:nvSpPr>
        <p:spPr>
          <a:xfrm>
            <a:off x="5655279" y="2471680"/>
            <a:ext cx="933309" cy="345604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CN" sz="1000" dirty="0"/>
              <a:t>目录数据</a:t>
            </a:r>
            <a:endParaRPr lang="en-CN" sz="1000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957CB33-91E4-6546-9ADE-83EB07781A29}"/>
              </a:ext>
            </a:extLst>
          </p:cNvPr>
          <p:cNvSpPr/>
          <p:nvPr/>
        </p:nvSpPr>
        <p:spPr>
          <a:xfrm>
            <a:off x="5655280" y="3184816"/>
            <a:ext cx="933309" cy="345604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ysClr val="windowText" lastClr="000000"/>
                </a:solidFill>
              </a:rPr>
              <a:t>文件</a:t>
            </a:r>
            <a:r>
              <a:rPr lang="zh-CN" altLang="en-CN" sz="1000" dirty="0">
                <a:solidFill>
                  <a:sysClr val="windowText" lastClr="000000"/>
                </a:solidFill>
              </a:rPr>
              <a:t>数据</a:t>
            </a:r>
            <a:endParaRPr lang="en-CN" sz="1000" dirty="0">
              <a:solidFill>
                <a:sysClr val="windowText" lastClr="000000"/>
              </a:solidFill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B5083F75-75F6-9E4A-A0F5-CD2929CDF635}"/>
              </a:ext>
            </a:extLst>
          </p:cNvPr>
          <p:cNvSpPr/>
          <p:nvPr/>
        </p:nvSpPr>
        <p:spPr>
          <a:xfrm>
            <a:off x="6279327" y="4116828"/>
            <a:ext cx="933309" cy="345604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ysClr val="windowText" lastClr="000000"/>
                </a:solidFill>
              </a:rPr>
              <a:t>直接</a:t>
            </a:r>
            <a:r>
              <a:rPr lang="en-US" altLang="zh-CN" sz="1000" dirty="0">
                <a:solidFill>
                  <a:sysClr val="windowText" lastClr="000000"/>
                </a:solidFill>
              </a:rPr>
              <a:t>node</a:t>
            </a:r>
            <a:endParaRPr lang="en-CN" sz="1000" dirty="0">
              <a:solidFill>
                <a:sysClr val="windowText" lastClr="000000"/>
              </a:solidFill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D4BC379-3842-CA47-ADBC-93D3CBD5BB3D}"/>
              </a:ext>
            </a:extLst>
          </p:cNvPr>
          <p:cNvSpPr/>
          <p:nvPr/>
        </p:nvSpPr>
        <p:spPr>
          <a:xfrm>
            <a:off x="4826872" y="3757664"/>
            <a:ext cx="933309" cy="345604"/>
          </a:xfrm>
          <a:prstGeom prst="rect">
            <a:avLst/>
          </a:prstGeom>
          <a:solidFill>
            <a:schemeClr val="accent4">
              <a:lumMod val="7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ysClr val="windowText" lastClr="000000"/>
                </a:solidFill>
              </a:rPr>
              <a:t>间接</a:t>
            </a:r>
            <a:r>
              <a:rPr lang="en-US" altLang="zh-CN" sz="1000" dirty="0">
                <a:solidFill>
                  <a:sysClr val="windowText" lastClr="000000"/>
                </a:solidFill>
              </a:rPr>
              <a:t>node</a:t>
            </a:r>
            <a:endParaRPr lang="en-CN" sz="1000" dirty="0">
              <a:solidFill>
                <a:sysClr val="windowText" lastClr="000000"/>
              </a:solidFill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FDEF791-0082-1645-8BCE-8AE568AD370A}"/>
              </a:ext>
            </a:extLst>
          </p:cNvPr>
          <p:cNvSpPr/>
          <p:nvPr/>
        </p:nvSpPr>
        <p:spPr>
          <a:xfrm>
            <a:off x="7481522" y="3201965"/>
            <a:ext cx="933309" cy="345604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ysClr val="windowText" lastClr="000000"/>
                </a:solidFill>
              </a:rPr>
              <a:t>文件</a:t>
            </a:r>
            <a:r>
              <a:rPr lang="zh-CN" altLang="en-CN" sz="1000" dirty="0">
                <a:solidFill>
                  <a:sysClr val="windowText" lastClr="000000"/>
                </a:solidFill>
              </a:rPr>
              <a:t>数据</a:t>
            </a:r>
            <a:endParaRPr lang="en-CN" sz="1000" dirty="0">
              <a:solidFill>
                <a:sysClr val="windowText" lastClr="000000"/>
              </a:solidFill>
            </a:endParaRPr>
          </a:p>
        </p:txBody>
      </p:sp>
      <p:cxnSp>
        <p:nvCxnSpPr>
          <p:cNvPr id="48" name="Elbow Connector 47">
            <a:extLst>
              <a:ext uri="{FF2B5EF4-FFF2-40B4-BE49-F238E27FC236}">
                <a16:creationId xmlns:a16="http://schemas.microsoft.com/office/drawing/2014/main" id="{E4CD613D-B629-7948-ACDB-AA9721336B44}"/>
              </a:ext>
            </a:extLst>
          </p:cNvPr>
          <p:cNvCxnSpPr>
            <a:cxnSpLocks/>
            <a:stCxn id="34" idx="2"/>
            <a:endCxn id="35" idx="0"/>
          </p:cNvCxnSpPr>
          <p:nvPr/>
        </p:nvCxnSpPr>
        <p:spPr>
          <a:xfrm rot="5400000">
            <a:off x="1124815" y="2332433"/>
            <a:ext cx="894461" cy="21640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Elbow Connector 50">
            <a:extLst>
              <a:ext uri="{FF2B5EF4-FFF2-40B4-BE49-F238E27FC236}">
                <a16:creationId xmlns:a16="http://schemas.microsoft.com/office/drawing/2014/main" id="{40265B92-DAB0-A247-A15C-84CDD230CBA6}"/>
              </a:ext>
            </a:extLst>
          </p:cNvPr>
          <p:cNvCxnSpPr>
            <a:cxnSpLocks/>
            <a:stCxn id="37" idx="3"/>
            <a:endCxn id="38" idx="1"/>
          </p:cNvCxnSpPr>
          <p:nvPr/>
        </p:nvCxnSpPr>
        <p:spPr>
          <a:xfrm>
            <a:off x="2427926" y="1737506"/>
            <a:ext cx="1572527" cy="66222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Elbow Connector 54">
            <a:extLst>
              <a:ext uri="{FF2B5EF4-FFF2-40B4-BE49-F238E27FC236}">
                <a16:creationId xmlns:a16="http://schemas.microsoft.com/office/drawing/2014/main" id="{F524F4DB-A289-A14E-995E-94A83CE1166F}"/>
              </a:ext>
            </a:extLst>
          </p:cNvPr>
          <p:cNvCxnSpPr>
            <a:cxnSpLocks/>
            <a:stCxn id="37" idx="3"/>
            <a:endCxn id="39" idx="1"/>
          </p:cNvCxnSpPr>
          <p:nvPr/>
        </p:nvCxnSpPr>
        <p:spPr>
          <a:xfrm>
            <a:off x="2427926" y="1737506"/>
            <a:ext cx="1572527" cy="127450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Elbow Connector 58">
            <a:extLst>
              <a:ext uri="{FF2B5EF4-FFF2-40B4-BE49-F238E27FC236}">
                <a16:creationId xmlns:a16="http://schemas.microsoft.com/office/drawing/2014/main" id="{83022C20-C7D5-9143-8E60-63FDF125E3A2}"/>
              </a:ext>
            </a:extLst>
          </p:cNvPr>
          <p:cNvCxnSpPr>
            <a:cxnSpLocks/>
            <a:stCxn id="38" idx="3"/>
            <a:endCxn id="40" idx="1"/>
          </p:cNvCxnSpPr>
          <p:nvPr/>
        </p:nvCxnSpPr>
        <p:spPr>
          <a:xfrm>
            <a:off x="4933762" y="2399730"/>
            <a:ext cx="721517" cy="24475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Elbow Connector 62">
            <a:extLst>
              <a:ext uri="{FF2B5EF4-FFF2-40B4-BE49-F238E27FC236}">
                <a16:creationId xmlns:a16="http://schemas.microsoft.com/office/drawing/2014/main" id="{B98E09AD-0E97-3E4D-9E74-332DF949EA1E}"/>
              </a:ext>
            </a:extLst>
          </p:cNvPr>
          <p:cNvCxnSpPr>
            <a:cxnSpLocks/>
            <a:stCxn id="39" idx="3"/>
            <a:endCxn id="41" idx="1"/>
          </p:cNvCxnSpPr>
          <p:nvPr/>
        </p:nvCxnSpPr>
        <p:spPr>
          <a:xfrm>
            <a:off x="4933762" y="3012014"/>
            <a:ext cx="721518" cy="34560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Elbow Connector 65">
            <a:extLst>
              <a:ext uri="{FF2B5EF4-FFF2-40B4-BE49-F238E27FC236}">
                <a16:creationId xmlns:a16="http://schemas.microsoft.com/office/drawing/2014/main" id="{A8BFD7C2-C92A-CF42-B964-4D8B338E82F5}"/>
              </a:ext>
            </a:extLst>
          </p:cNvPr>
          <p:cNvCxnSpPr>
            <a:cxnSpLocks/>
            <a:stCxn id="39" idx="2"/>
            <a:endCxn id="43" idx="0"/>
          </p:cNvCxnSpPr>
          <p:nvPr/>
        </p:nvCxnSpPr>
        <p:spPr>
          <a:xfrm rot="16200000" flipH="1">
            <a:off x="4593893" y="3058030"/>
            <a:ext cx="572848" cy="826419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" name="Elbow Connector 69">
            <a:extLst>
              <a:ext uri="{FF2B5EF4-FFF2-40B4-BE49-F238E27FC236}">
                <a16:creationId xmlns:a16="http://schemas.microsoft.com/office/drawing/2014/main" id="{69361DFE-FC58-BD4C-B43B-D4827874AD6B}"/>
              </a:ext>
            </a:extLst>
          </p:cNvPr>
          <p:cNvCxnSpPr>
            <a:cxnSpLocks/>
            <a:stCxn id="43" idx="3"/>
            <a:endCxn id="57" idx="0"/>
          </p:cNvCxnSpPr>
          <p:nvPr/>
        </p:nvCxnSpPr>
        <p:spPr>
          <a:xfrm>
            <a:off x="5760181" y="3930466"/>
            <a:ext cx="1326097" cy="358019"/>
          </a:xfrm>
          <a:prstGeom prst="bentConnector2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5" name="Elbow Connector 74">
            <a:extLst>
              <a:ext uri="{FF2B5EF4-FFF2-40B4-BE49-F238E27FC236}">
                <a16:creationId xmlns:a16="http://schemas.microsoft.com/office/drawing/2014/main" id="{CF118D76-4BB7-0147-8C2C-0E03067F3492}"/>
              </a:ext>
            </a:extLst>
          </p:cNvPr>
          <p:cNvCxnSpPr>
            <a:cxnSpLocks/>
            <a:stCxn id="42" idx="3"/>
            <a:endCxn id="44" idx="2"/>
          </p:cNvCxnSpPr>
          <p:nvPr/>
        </p:nvCxnSpPr>
        <p:spPr>
          <a:xfrm flipV="1">
            <a:off x="7212636" y="3547569"/>
            <a:ext cx="735541" cy="74206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0B273302-4A4E-4841-AF30-18BD303D3037}"/>
              </a:ext>
            </a:extLst>
          </p:cNvPr>
          <p:cNvSpPr txBox="1"/>
          <p:nvPr/>
        </p:nvSpPr>
        <p:spPr>
          <a:xfrm>
            <a:off x="6815327" y="3184815"/>
            <a:ext cx="4280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…</a:t>
            </a:r>
            <a:endParaRPr lang="en-CN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37A22199-192E-7E4F-9110-37A3F0CEE7F9}"/>
              </a:ext>
            </a:extLst>
          </p:cNvPr>
          <p:cNvSpPr txBox="1"/>
          <p:nvPr/>
        </p:nvSpPr>
        <p:spPr>
          <a:xfrm>
            <a:off x="2105725" y="3184815"/>
            <a:ext cx="9541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CN" sz="1200" dirty="0"/>
              <a:t>用于</a:t>
            </a:r>
            <a:r>
              <a:rPr lang="zh-CN" altLang="en-US" sz="1200" dirty="0"/>
              <a:t>段清理</a:t>
            </a:r>
            <a:endParaRPr lang="en-CN" sz="1200" dirty="0"/>
          </a:p>
        </p:txBody>
      </p:sp>
      <p:sp>
        <p:nvSpPr>
          <p:cNvPr id="80" name="Right Brace 79">
            <a:extLst>
              <a:ext uri="{FF2B5EF4-FFF2-40B4-BE49-F238E27FC236}">
                <a16:creationId xmlns:a16="http://schemas.microsoft.com/office/drawing/2014/main" id="{849B04C6-C233-CD42-9F62-1E992E6EE725}"/>
              </a:ext>
            </a:extLst>
          </p:cNvPr>
          <p:cNvSpPr/>
          <p:nvPr/>
        </p:nvSpPr>
        <p:spPr>
          <a:xfrm>
            <a:off x="1998834" y="2887864"/>
            <a:ext cx="167965" cy="869691"/>
          </a:xfrm>
          <a:prstGeom prst="rightBrace">
            <a:avLst>
              <a:gd name="adj1" fmla="val 22133"/>
              <a:gd name="adj2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EF23BCF4-EDE4-9F41-8189-77D0765B4B41}"/>
              </a:ext>
            </a:extLst>
          </p:cNvPr>
          <p:cNvCxnSpPr>
            <a:cxnSpLocks/>
          </p:cNvCxnSpPr>
          <p:nvPr/>
        </p:nvCxnSpPr>
        <p:spPr>
          <a:xfrm>
            <a:off x="755650" y="3865612"/>
            <a:ext cx="493484" cy="79622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B2FF6CFD-DC99-F040-B0C6-218629FA1005}"/>
              </a:ext>
            </a:extLst>
          </p:cNvPr>
          <p:cNvCxnSpPr>
            <a:cxnSpLocks/>
          </p:cNvCxnSpPr>
          <p:nvPr/>
        </p:nvCxnSpPr>
        <p:spPr>
          <a:xfrm flipH="1">
            <a:off x="7710043" y="3873658"/>
            <a:ext cx="822397" cy="78818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Rectangle 44">
            <a:extLst>
              <a:ext uri="{FF2B5EF4-FFF2-40B4-BE49-F238E27FC236}">
                <a16:creationId xmlns:a16="http://schemas.microsoft.com/office/drawing/2014/main" id="{789ACD0B-00DB-9E42-85E5-816388D2C02D}"/>
              </a:ext>
            </a:extLst>
          </p:cNvPr>
          <p:cNvSpPr/>
          <p:nvPr/>
        </p:nvSpPr>
        <p:spPr>
          <a:xfrm>
            <a:off x="2022910" y="4785990"/>
            <a:ext cx="284100" cy="360000"/>
          </a:xfrm>
          <a:prstGeom prst="rect">
            <a:avLst/>
          </a:prstGeom>
          <a:solidFill>
            <a:srgbClr val="92D050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CN" sz="1000" dirty="0">
              <a:solidFill>
                <a:sysClr val="windowText" lastClr="000000"/>
              </a:solidFill>
            </a:endParaRPr>
          </a:p>
        </p:txBody>
      </p:sp>
      <p:cxnSp>
        <p:nvCxnSpPr>
          <p:cNvPr id="58" name="Elbow Connector 57">
            <a:extLst>
              <a:ext uri="{FF2B5EF4-FFF2-40B4-BE49-F238E27FC236}">
                <a16:creationId xmlns:a16="http://schemas.microsoft.com/office/drawing/2014/main" id="{133B94EC-F58B-774A-87B0-1AC2EE673D11}"/>
              </a:ext>
            </a:extLst>
          </p:cNvPr>
          <p:cNvCxnSpPr>
            <a:cxnSpLocks/>
            <a:stCxn id="37" idx="3"/>
            <a:endCxn id="43" idx="1"/>
          </p:cNvCxnSpPr>
          <p:nvPr/>
        </p:nvCxnSpPr>
        <p:spPr>
          <a:xfrm>
            <a:off x="2427926" y="1737506"/>
            <a:ext cx="2398946" cy="2192960"/>
          </a:xfrm>
          <a:prstGeom prst="bentConnector3">
            <a:avLst>
              <a:gd name="adj1" fmla="val 32786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Elbow Connector 59">
            <a:extLst>
              <a:ext uri="{FF2B5EF4-FFF2-40B4-BE49-F238E27FC236}">
                <a16:creationId xmlns:a16="http://schemas.microsoft.com/office/drawing/2014/main" id="{EA3B1074-16AC-AD43-BF8E-EA445A6E6816}"/>
              </a:ext>
            </a:extLst>
          </p:cNvPr>
          <p:cNvCxnSpPr>
            <a:cxnSpLocks/>
            <a:stCxn id="37" idx="3"/>
            <a:endCxn id="57" idx="1"/>
          </p:cNvCxnSpPr>
          <p:nvPr/>
        </p:nvCxnSpPr>
        <p:spPr>
          <a:xfrm>
            <a:off x="2427926" y="1737506"/>
            <a:ext cx="4191697" cy="2723781"/>
          </a:xfrm>
          <a:prstGeom prst="bentConnector3">
            <a:avLst>
              <a:gd name="adj1" fmla="val 18863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CE231844-2D33-E24D-B333-F8B735649F57}"/>
              </a:ext>
            </a:extLst>
          </p:cNvPr>
          <p:cNvSpPr txBox="1"/>
          <p:nvPr/>
        </p:nvSpPr>
        <p:spPr>
          <a:xfrm>
            <a:off x="4083594" y="3429553"/>
            <a:ext cx="103265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dirty="0">
                <a:solidFill>
                  <a:srgbClr val="C00000"/>
                </a:solidFill>
              </a:rPr>
              <a:t>使用</a:t>
            </a:r>
            <a:r>
              <a:rPr lang="en-US" altLang="zh-CN" sz="1100" dirty="0">
                <a:solidFill>
                  <a:srgbClr val="C00000"/>
                </a:solidFill>
              </a:rPr>
              <a:t>NAT</a:t>
            </a:r>
            <a:r>
              <a:rPr lang="zh-CN" altLang="en-US" sz="1100" dirty="0">
                <a:solidFill>
                  <a:srgbClr val="C00000"/>
                </a:solidFill>
              </a:rPr>
              <a:t>翻译</a:t>
            </a:r>
            <a:endParaRPr lang="en-CN" sz="1100" dirty="0">
              <a:solidFill>
                <a:srgbClr val="C00000"/>
              </a:solidFill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BB501C73-5729-6F45-959A-5D07CC5D5E6F}"/>
              </a:ext>
            </a:extLst>
          </p:cNvPr>
          <p:cNvSpPr txBox="1"/>
          <p:nvPr/>
        </p:nvSpPr>
        <p:spPr>
          <a:xfrm>
            <a:off x="6005664" y="3699937"/>
            <a:ext cx="103265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dirty="0">
                <a:solidFill>
                  <a:srgbClr val="C00000"/>
                </a:solidFill>
              </a:rPr>
              <a:t>使用</a:t>
            </a:r>
            <a:r>
              <a:rPr lang="en-US" altLang="zh-CN" sz="1100" dirty="0">
                <a:solidFill>
                  <a:srgbClr val="C00000"/>
                </a:solidFill>
              </a:rPr>
              <a:t>NAT</a:t>
            </a:r>
            <a:r>
              <a:rPr lang="zh-CN" altLang="en-US" sz="1100" dirty="0">
                <a:solidFill>
                  <a:srgbClr val="C00000"/>
                </a:solidFill>
              </a:rPr>
              <a:t>翻译</a:t>
            </a:r>
            <a:endParaRPr lang="en-CN" sz="1100" dirty="0">
              <a:solidFill>
                <a:srgbClr val="C00000"/>
              </a:solidFill>
            </a:endParaRPr>
          </a:p>
        </p:txBody>
      </p:sp>
      <p:sp>
        <p:nvSpPr>
          <p:cNvPr id="77" name="Right Arrow 76">
            <a:extLst>
              <a:ext uri="{FF2B5EF4-FFF2-40B4-BE49-F238E27FC236}">
                <a16:creationId xmlns:a16="http://schemas.microsoft.com/office/drawing/2014/main" id="{5E3628CF-E787-9247-8891-CCB4084D825C}"/>
              </a:ext>
            </a:extLst>
          </p:cNvPr>
          <p:cNvSpPr/>
          <p:nvPr/>
        </p:nvSpPr>
        <p:spPr>
          <a:xfrm>
            <a:off x="5100561" y="4896220"/>
            <a:ext cx="554718" cy="153621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83" name="Right Arrow 82">
            <a:extLst>
              <a:ext uri="{FF2B5EF4-FFF2-40B4-BE49-F238E27FC236}">
                <a16:creationId xmlns:a16="http://schemas.microsoft.com/office/drawing/2014/main" id="{EBD823FC-83D3-0842-8293-5AC4E0779CF2}"/>
              </a:ext>
            </a:extLst>
          </p:cNvPr>
          <p:cNvSpPr/>
          <p:nvPr/>
        </p:nvSpPr>
        <p:spPr>
          <a:xfrm>
            <a:off x="5952312" y="4896220"/>
            <a:ext cx="635912" cy="153621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B1CA7BF-8C1C-F74E-957C-A2F6FB1BB1F6}"/>
              </a:ext>
            </a:extLst>
          </p:cNvPr>
          <p:cNvSpPr txBox="1"/>
          <p:nvPr/>
        </p:nvSpPr>
        <p:spPr>
          <a:xfrm>
            <a:off x="7522704" y="2210211"/>
            <a:ext cx="14414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CN" sz="1400" b="1" dirty="0">
                <a:solidFill>
                  <a:srgbClr val="C00000"/>
                </a:solidFill>
              </a:rPr>
              <a:t>修改</a:t>
            </a:r>
            <a:r>
              <a:rPr lang="zh-CN" altLang="en-US" sz="1400" b="1" dirty="0">
                <a:solidFill>
                  <a:srgbClr val="C00000"/>
                </a:solidFill>
              </a:rPr>
              <a:t>一小块数据</a:t>
            </a:r>
            <a:endParaRPr lang="en-CN" sz="1400" b="1" dirty="0">
              <a:solidFill>
                <a:srgbClr val="C00000"/>
              </a:solidFill>
            </a:endParaRP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71B24026-EA14-0940-A7CD-F049BE5AE889}"/>
              </a:ext>
            </a:extLst>
          </p:cNvPr>
          <p:cNvCxnSpPr>
            <a:cxnSpLocks/>
            <a:stCxn id="50" idx="2"/>
            <a:endCxn id="44" idx="0"/>
          </p:cNvCxnSpPr>
          <p:nvPr/>
        </p:nvCxnSpPr>
        <p:spPr>
          <a:xfrm flipH="1">
            <a:off x="7948177" y="2517988"/>
            <a:ext cx="295237" cy="6839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ctangle 55">
            <a:extLst>
              <a:ext uri="{FF2B5EF4-FFF2-40B4-BE49-F238E27FC236}">
                <a16:creationId xmlns:a16="http://schemas.microsoft.com/office/drawing/2014/main" id="{712DF734-1352-2C4C-A8EE-CCF19DA8CBA0}"/>
              </a:ext>
            </a:extLst>
          </p:cNvPr>
          <p:cNvSpPr/>
          <p:nvPr/>
        </p:nvSpPr>
        <p:spPr>
          <a:xfrm>
            <a:off x="7979315" y="3257837"/>
            <a:ext cx="933309" cy="345604"/>
          </a:xfrm>
          <a:prstGeom prst="rect">
            <a:avLst/>
          </a:prstGeom>
          <a:solidFill>
            <a:schemeClr val="bg1">
              <a:lumMod val="75000"/>
            </a:scheme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ysClr val="windowText" lastClr="000000"/>
                </a:solidFill>
              </a:rPr>
              <a:t>文件</a:t>
            </a:r>
            <a:r>
              <a:rPr lang="zh-CN" altLang="en-CN" sz="1000" dirty="0">
                <a:solidFill>
                  <a:sysClr val="windowText" lastClr="000000"/>
                </a:solidFill>
              </a:rPr>
              <a:t>数据</a:t>
            </a:r>
            <a:endParaRPr lang="en-CN" sz="1000" dirty="0">
              <a:solidFill>
                <a:sysClr val="windowText" lastClr="000000"/>
              </a:solidFill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2075829B-20B7-F64E-BAC0-16CB0A79D6DA}"/>
              </a:ext>
            </a:extLst>
          </p:cNvPr>
          <p:cNvSpPr/>
          <p:nvPr/>
        </p:nvSpPr>
        <p:spPr>
          <a:xfrm>
            <a:off x="6619623" y="4288485"/>
            <a:ext cx="933309" cy="345604"/>
          </a:xfrm>
          <a:prstGeom prst="rect">
            <a:avLst/>
          </a:prstGeom>
          <a:solidFill>
            <a:schemeClr val="accent4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ysClr val="windowText" lastClr="000000"/>
                </a:solidFill>
              </a:rPr>
              <a:t>直接</a:t>
            </a:r>
            <a:r>
              <a:rPr lang="en-US" altLang="zh-CN" sz="1000" dirty="0">
                <a:solidFill>
                  <a:sysClr val="windowText" lastClr="000000"/>
                </a:solidFill>
              </a:rPr>
              <a:t>node</a:t>
            </a:r>
            <a:endParaRPr lang="en-CN" sz="1000" dirty="0">
              <a:solidFill>
                <a:sysClr val="windowText" lastClr="000000"/>
              </a:solidFill>
            </a:endParaRPr>
          </a:p>
        </p:txBody>
      </p:sp>
      <p:cxnSp>
        <p:nvCxnSpPr>
          <p:cNvPr id="61" name="Elbow Connector 60">
            <a:extLst>
              <a:ext uri="{FF2B5EF4-FFF2-40B4-BE49-F238E27FC236}">
                <a16:creationId xmlns:a16="http://schemas.microsoft.com/office/drawing/2014/main" id="{1A34B020-5C86-974B-97E3-E4C4B2AF85A9}"/>
              </a:ext>
            </a:extLst>
          </p:cNvPr>
          <p:cNvCxnSpPr>
            <a:cxnSpLocks/>
            <a:stCxn id="57" idx="3"/>
            <a:endCxn id="56" idx="2"/>
          </p:cNvCxnSpPr>
          <p:nvPr/>
        </p:nvCxnSpPr>
        <p:spPr>
          <a:xfrm flipV="1">
            <a:off x="7552932" y="3603441"/>
            <a:ext cx="893038" cy="857846"/>
          </a:xfrm>
          <a:prstGeom prst="bentConnector2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2" name="Rectangle 61">
            <a:extLst>
              <a:ext uri="{FF2B5EF4-FFF2-40B4-BE49-F238E27FC236}">
                <a16:creationId xmlns:a16="http://schemas.microsoft.com/office/drawing/2014/main" id="{7175E624-4A2E-EC46-8307-5DC83C3AECA8}"/>
              </a:ext>
            </a:extLst>
          </p:cNvPr>
          <p:cNvSpPr/>
          <p:nvPr/>
        </p:nvSpPr>
        <p:spPr>
          <a:xfrm>
            <a:off x="3451163" y="4785990"/>
            <a:ext cx="284100" cy="36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CN" sz="1000" dirty="0">
              <a:solidFill>
                <a:sysClr val="windowText" lastClr="000000"/>
              </a:solidFill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A4006C04-6092-DD49-AC68-E069574E2A5C}"/>
              </a:ext>
            </a:extLst>
          </p:cNvPr>
          <p:cNvSpPr/>
          <p:nvPr/>
        </p:nvSpPr>
        <p:spPr>
          <a:xfrm>
            <a:off x="4501029" y="4785990"/>
            <a:ext cx="284100" cy="360000"/>
          </a:xfrm>
          <a:prstGeom prst="rect">
            <a:avLst/>
          </a:prstGeom>
          <a:solidFill>
            <a:schemeClr val="accent4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altLang="zh-CN" sz="1000" dirty="0">
              <a:solidFill>
                <a:sysClr val="windowText" lastClr="000000"/>
              </a:solidFill>
            </a:endParaRPr>
          </a:p>
        </p:txBody>
      </p:sp>
      <p:sp>
        <p:nvSpPr>
          <p:cNvPr id="31" name="Right Arrow 30">
            <a:extLst>
              <a:ext uri="{FF2B5EF4-FFF2-40B4-BE49-F238E27FC236}">
                <a16:creationId xmlns:a16="http://schemas.microsoft.com/office/drawing/2014/main" id="{5384B7E3-ED2C-B143-8B5B-A13F4D6D75F3}"/>
              </a:ext>
            </a:extLst>
          </p:cNvPr>
          <p:cNvSpPr/>
          <p:nvPr/>
        </p:nvSpPr>
        <p:spPr>
          <a:xfrm>
            <a:off x="2939121" y="4891878"/>
            <a:ext cx="637956" cy="153621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81" name="Right Arrow 80">
            <a:extLst>
              <a:ext uri="{FF2B5EF4-FFF2-40B4-BE49-F238E27FC236}">
                <a16:creationId xmlns:a16="http://schemas.microsoft.com/office/drawing/2014/main" id="{CD0D2409-9C81-3944-8806-06BAD863670B}"/>
              </a:ext>
            </a:extLst>
          </p:cNvPr>
          <p:cNvSpPr/>
          <p:nvPr/>
        </p:nvSpPr>
        <p:spPr>
          <a:xfrm>
            <a:off x="3975197" y="4892765"/>
            <a:ext cx="662840" cy="153621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68" name="Right Brace 67">
            <a:extLst>
              <a:ext uri="{FF2B5EF4-FFF2-40B4-BE49-F238E27FC236}">
                <a16:creationId xmlns:a16="http://schemas.microsoft.com/office/drawing/2014/main" id="{0976DD6D-F84F-0544-B911-6D7F25777C70}"/>
              </a:ext>
            </a:extLst>
          </p:cNvPr>
          <p:cNvSpPr/>
          <p:nvPr/>
        </p:nvSpPr>
        <p:spPr>
          <a:xfrm rot="16200000">
            <a:off x="1611650" y="637984"/>
            <a:ext cx="167965" cy="1464586"/>
          </a:xfrm>
          <a:prstGeom prst="rightBrace">
            <a:avLst>
              <a:gd name="adj1" fmla="val 22133"/>
              <a:gd name="adj2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74F04A1-8FA2-194F-B865-0A40716FB3FE}"/>
              </a:ext>
            </a:extLst>
          </p:cNvPr>
          <p:cNvSpPr txBox="1"/>
          <p:nvPr/>
        </p:nvSpPr>
        <p:spPr>
          <a:xfrm>
            <a:off x="1043851" y="1044314"/>
            <a:ext cx="13035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/>
              <a:t>保存在固定位置</a:t>
            </a:r>
            <a:endParaRPr lang="en-CN" sz="1200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A37875A-2886-CA49-AD79-85303BC2F04C}"/>
              </a:ext>
            </a:extLst>
          </p:cNvPr>
          <p:cNvSpPr txBox="1"/>
          <p:nvPr/>
        </p:nvSpPr>
        <p:spPr>
          <a:xfrm>
            <a:off x="331942" y="1631065"/>
            <a:ext cx="35422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CN" sz="2000" dirty="0"/>
              <a:t>逻辑</a:t>
            </a:r>
            <a:r>
              <a:rPr lang="zh-CN" altLang="en-US" sz="2000" dirty="0"/>
              <a:t>结构</a:t>
            </a:r>
            <a:endParaRPr lang="en-CN" sz="2000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91AD702-56E2-924B-83B0-1448965A8CBD}"/>
              </a:ext>
            </a:extLst>
          </p:cNvPr>
          <p:cNvSpPr txBox="1"/>
          <p:nvPr/>
        </p:nvSpPr>
        <p:spPr>
          <a:xfrm>
            <a:off x="367002" y="4161072"/>
            <a:ext cx="2841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存储结构</a:t>
            </a:r>
            <a:endParaRPr lang="en-CN" sz="2000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D6C7F15F-54F7-E74D-9A5C-574E4C8BABE0}"/>
              </a:ext>
            </a:extLst>
          </p:cNvPr>
          <p:cNvSpPr txBox="1"/>
          <p:nvPr/>
        </p:nvSpPr>
        <p:spPr>
          <a:xfrm>
            <a:off x="4005990" y="1216674"/>
            <a:ext cx="50333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通过修改</a:t>
            </a:r>
            <a:r>
              <a:rPr lang="en-US" altLang="zh-CN" dirty="0">
                <a:solidFill>
                  <a:srgbClr val="C00000"/>
                </a:solidFill>
              </a:rPr>
              <a:t>NAT</a:t>
            </a:r>
            <a:r>
              <a:rPr lang="zh-CN" altLang="en-US" dirty="0">
                <a:solidFill>
                  <a:srgbClr val="C00000"/>
                </a:solidFill>
              </a:rPr>
              <a:t>中的映射，修改只传递到</a:t>
            </a:r>
            <a:r>
              <a:rPr lang="en-US" altLang="zh-CN" dirty="0">
                <a:solidFill>
                  <a:srgbClr val="C00000"/>
                </a:solidFill>
              </a:rPr>
              <a:t>node</a:t>
            </a:r>
            <a:r>
              <a:rPr lang="zh-CN" altLang="en-US" dirty="0">
                <a:solidFill>
                  <a:srgbClr val="C00000"/>
                </a:solidFill>
              </a:rPr>
              <a:t>结构</a:t>
            </a:r>
          </a:p>
        </p:txBody>
      </p:sp>
    </p:spTree>
    <p:extLst>
      <p:ext uri="{BB962C8B-B14F-4D97-AF65-F5344CB8AC3E}">
        <p14:creationId xmlns:p14="http://schemas.microsoft.com/office/powerpoint/2010/main" val="27225301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4265B5F-E8D0-9B4B-8BB0-FFF98707AFC9}"/>
              </a:ext>
            </a:extLst>
          </p:cNvPr>
          <p:cNvSpPr/>
          <p:nvPr/>
        </p:nvSpPr>
        <p:spPr>
          <a:xfrm>
            <a:off x="1249134" y="4785990"/>
            <a:ext cx="6460909" cy="360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en-CN" sz="105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AA801F-C21B-904D-B19B-F50F0A7BC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N" altLang="zh-CN" dirty="0"/>
              <a:t>F2FS</a:t>
            </a:r>
            <a:r>
              <a:rPr lang="zh-CN" altLang="en-CN" dirty="0"/>
              <a:t>的</a:t>
            </a:r>
            <a:r>
              <a:rPr lang="zh-CN" altLang="en-US" dirty="0"/>
              <a:t>改进</a:t>
            </a:r>
            <a:r>
              <a:rPr lang="en-US" altLang="zh-CN" dirty="0"/>
              <a:t>-2</a:t>
            </a:r>
            <a:r>
              <a:rPr lang="zh-CN" altLang="en-US" dirty="0"/>
              <a:t>：多</a:t>
            </a:r>
            <a:r>
              <a:rPr lang="en-US" altLang="zh-CN" dirty="0"/>
              <a:t>log</a:t>
            </a:r>
            <a:r>
              <a:rPr lang="zh-CN" altLang="en-US" dirty="0"/>
              <a:t>并行写入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635DD5-5238-954F-AA1D-0B15F66DB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11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9D56D5-E01E-584F-BDA4-4A95035763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81DD187-7A04-924A-88CE-EC24085D9896}"/>
              </a:ext>
            </a:extLst>
          </p:cNvPr>
          <p:cNvSpPr/>
          <p:nvPr/>
        </p:nvSpPr>
        <p:spPr>
          <a:xfrm>
            <a:off x="1457656" y="4785990"/>
            <a:ext cx="284100" cy="36000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CN" sz="1000" dirty="0"/>
              <a:t>SB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34A33EC-B566-C04E-B991-752EFCE381FB}"/>
              </a:ext>
            </a:extLst>
          </p:cNvPr>
          <p:cNvSpPr/>
          <p:nvPr/>
        </p:nvSpPr>
        <p:spPr>
          <a:xfrm>
            <a:off x="1741756" y="4785990"/>
            <a:ext cx="284100" cy="36000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CN" sz="1000" dirty="0"/>
              <a:t>CP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E071324-7B69-9744-A3AA-B557FD8A43C8}"/>
              </a:ext>
            </a:extLst>
          </p:cNvPr>
          <p:cNvSpPr/>
          <p:nvPr/>
        </p:nvSpPr>
        <p:spPr>
          <a:xfrm>
            <a:off x="2874661" y="4785990"/>
            <a:ext cx="284100" cy="36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altLang="zh-CN" sz="1000" dirty="0">
              <a:solidFill>
                <a:sysClr val="windowText" lastClr="000000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5A7ED0E-B78C-414B-9434-CB86EAA92D2B}"/>
              </a:ext>
            </a:extLst>
          </p:cNvPr>
          <p:cNvSpPr/>
          <p:nvPr/>
        </p:nvSpPr>
        <p:spPr>
          <a:xfrm>
            <a:off x="4209650" y="4785990"/>
            <a:ext cx="284100" cy="36000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altLang="zh-CN" sz="1000" dirty="0">
              <a:solidFill>
                <a:sysClr val="windowText" lastClr="000000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5D016D2-BDBC-004F-85CF-DE5499846E97}"/>
              </a:ext>
            </a:extLst>
          </p:cNvPr>
          <p:cNvSpPr/>
          <p:nvPr/>
        </p:nvSpPr>
        <p:spPr>
          <a:xfrm>
            <a:off x="5277544" y="4784832"/>
            <a:ext cx="185483" cy="360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CN" sz="10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41776D0-E41D-D949-9A98-1BBB02569D5C}"/>
              </a:ext>
            </a:extLst>
          </p:cNvPr>
          <p:cNvSpPr/>
          <p:nvPr/>
        </p:nvSpPr>
        <p:spPr>
          <a:xfrm>
            <a:off x="3927607" y="4785990"/>
            <a:ext cx="284100" cy="360000"/>
          </a:xfrm>
          <a:prstGeom prst="rect">
            <a:avLst/>
          </a:prstGeom>
          <a:solidFill>
            <a:schemeClr val="accent4">
              <a:lumMod val="7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altLang="zh-CN" sz="1000" dirty="0">
              <a:solidFill>
                <a:sysClr val="windowText" lastClr="000000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80BB814-B838-D94B-85BA-DD5EBCA25B94}"/>
              </a:ext>
            </a:extLst>
          </p:cNvPr>
          <p:cNvSpPr/>
          <p:nvPr/>
        </p:nvSpPr>
        <p:spPr>
          <a:xfrm>
            <a:off x="3159234" y="4785990"/>
            <a:ext cx="284100" cy="36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CN" sz="1000" dirty="0">
              <a:solidFill>
                <a:sysClr val="windowText" lastClr="000000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37910C3-C981-CB43-9299-479EEBF512B2}"/>
              </a:ext>
            </a:extLst>
          </p:cNvPr>
          <p:cNvSpPr/>
          <p:nvPr/>
        </p:nvSpPr>
        <p:spPr>
          <a:xfrm>
            <a:off x="6176524" y="4785990"/>
            <a:ext cx="284100" cy="360000"/>
          </a:xfrm>
          <a:prstGeom prst="rect">
            <a:avLst/>
          </a:prstGeom>
          <a:solidFill>
            <a:srgbClr val="0070C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CN" sz="1000" dirty="0">
              <a:solidFill>
                <a:schemeClr val="lt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A9BB4F2-F16A-0246-B396-F25B7E09DA5D}"/>
              </a:ext>
            </a:extLst>
          </p:cNvPr>
          <p:cNvSpPr/>
          <p:nvPr/>
        </p:nvSpPr>
        <p:spPr>
          <a:xfrm>
            <a:off x="5100561" y="4786669"/>
            <a:ext cx="156145" cy="360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CN" sz="1000" dirty="0">
              <a:solidFill>
                <a:schemeClr val="lt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70D0D23-F3D0-7247-84CE-3EB8FC0F5754}"/>
              </a:ext>
            </a:extLst>
          </p:cNvPr>
          <p:cNvSpPr/>
          <p:nvPr/>
        </p:nvSpPr>
        <p:spPr>
          <a:xfrm>
            <a:off x="5889357" y="4788868"/>
            <a:ext cx="284100" cy="360000"/>
          </a:xfrm>
          <a:prstGeom prst="rect">
            <a:avLst/>
          </a:prstGeom>
          <a:solidFill>
            <a:srgbClr val="0070C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altLang="zh-CN" sz="1000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3934CEA-E1FA-0A49-883A-B4D52CEAFAA2}"/>
              </a:ext>
            </a:extLst>
          </p:cNvPr>
          <p:cNvSpPr/>
          <p:nvPr/>
        </p:nvSpPr>
        <p:spPr>
          <a:xfrm>
            <a:off x="963340" y="1489348"/>
            <a:ext cx="432806" cy="504056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CN" sz="1000" dirty="0"/>
              <a:t>超级块</a:t>
            </a:r>
            <a:endParaRPr lang="en-CN" sz="100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D70729-9C16-DF4D-B077-3EFA2A00E87D}"/>
              </a:ext>
            </a:extLst>
          </p:cNvPr>
          <p:cNvSpPr/>
          <p:nvPr/>
        </p:nvSpPr>
        <p:spPr>
          <a:xfrm>
            <a:off x="1463843" y="1489348"/>
            <a:ext cx="432806" cy="504056"/>
          </a:xfrm>
          <a:prstGeom prst="rect">
            <a:avLst/>
          </a:prstGeom>
          <a:solidFill>
            <a:schemeClr val="accent5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/>
              <a:t>检查点</a:t>
            </a:r>
            <a:endParaRPr lang="en-CN" sz="1000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C1AA524-9DDD-3E4A-8026-8D13EB0BF4E9}"/>
              </a:ext>
            </a:extLst>
          </p:cNvPr>
          <p:cNvSpPr/>
          <p:nvPr/>
        </p:nvSpPr>
        <p:spPr>
          <a:xfrm>
            <a:off x="997188" y="2887865"/>
            <a:ext cx="933309" cy="369972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/>
              <a:t>段使用表</a:t>
            </a:r>
            <a:endParaRPr lang="en-CN" sz="1000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660AFEA-57A9-B448-B44B-8F439D7ED339}"/>
              </a:ext>
            </a:extLst>
          </p:cNvPr>
          <p:cNvSpPr/>
          <p:nvPr/>
        </p:nvSpPr>
        <p:spPr>
          <a:xfrm>
            <a:off x="997188" y="3373453"/>
            <a:ext cx="933309" cy="369972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/>
              <a:t>段概要</a:t>
            </a:r>
            <a:endParaRPr lang="en-CN" sz="1000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B7BA522-C109-C84E-8D7E-B5B7A7374F8F}"/>
              </a:ext>
            </a:extLst>
          </p:cNvPr>
          <p:cNvSpPr/>
          <p:nvPr/>
        </p:nvSpPr>
        <p:spPr>
          <a:xfrm>
            <a:off x="1998361" y="1490180"/>
            <a:ext cx="429565" cy="494652"/>
          </a:xfrm>
          <a:prstGeom prst="rect">
            <a:avLst/>
          </a:prstGeom>
          <a:solidFill>
            <a:srgbClr val="92D050"/>
          </a:solidFill>
          <a:ln w="127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wrap="none" rtlCol="0" anchor="ctr"/>
          <a:lstStyle/>
          <a:p>
            <a:pPr algn="ctr"/>
            <a:r>
              <a:rPr lang="en-US" altLang="zh-CN" sz="1000" dirty="0">
                <a:solidFill>
                  <a:sysClr val="windowText" lastClr="000000"/>
                </a:solidFill>
              </a:rPr>
              <a:t>NAT</a:t>
            </a:r>
            <a:endParaRPr lang="en-CN" sz="1000" dirty="0">
              <a:solidFill>
                <a:sysClr val="windowText" lastClr="000000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663CC65-3A6E-B14A-AE33-FDC44C60434D}"/>
              </a:ext>
            </a:extLst>
          </p:cNvPr>
          <p:cNvSpPr/>
          <p:nvPr/>
        </p:nvSpPr>
        <p:spPr>
          <a:xfrm>
            <a:off x="4000453" y="2226928"/>
            <a:ext cx="933309" cy="345604"/>
          </a:xfrm>
          <a:prstGeom prst="rect">
            <a:avLst/>
          </a:prstGeom>
          <a:solidFill>
            <a:srgbClr val="0070C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/>
              <a:t>目录</a:t>
            </a:r>
            <a:endParaRPr lang="en-US" altLang="zh-CN" sz="1000" dirty="0"/>
          </a:p>
          <a:p>
            <a:pPr algn="ctr"/>
            <a:r>
              <a:rPr lang="en-US" altLang="zh-CN" sz="1000" dirty="0" err="1"/>
              <a:t>inode</a:t>
            </a:r>
            <a:endParaRPr lang="en-CN" sz="1000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9A78A4F-7661-4041-8453-8422DD84399F}"/>
              </a:ext>
            </a:extLst>
          </p:cNvPr>
          <p:cNvSpPr/>
          <p:nvPr/>
        </p:nvSpPr>
        <p:spPr>
          <a:xfrm>
            <a:off x="4000453" y="2839212"/>
            <a:ext cx="933309" cy="345604"/>
          </a:xfrm>
          <a:prstGeom prst="rect">
            <a:avLst/>
          </a:prstGeom>
          <a:solidFill>
            <a:srgbClr val="0070C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CN" sz="1000" dirty="0"/>
              <a:t>常规文件</a:t>
            </a:r>
            <a:r>
              <a:rPr lang="en-US" altLang="zh-CN" sz="1000" dirty="0" err="1"/>
              <a:t>inode</a:t>
            </a:r>
            <a:endParaRPr lang="en-CN" sz="1000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EFED4E3-A7F9-4F4F-A11E-A2E76A541DB8}"/>
              </a:ext>
            </a:extLst>
          </p:cNvPr>
          <p:cNvSpPr/>
          <p:nvPr/>
        </p:nvSpPr>
        <p:spPr>
          <a:xfrm>
            <a:off x="5655279" y="2471680"/>
            <a:ext cx="933309" cy="345604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CN" sz="1000" dirty="0"/>
              <a:t>目录数据</a:t>
            </a:r>
            <a:endParaRPr lang="en-CN" sz="1000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957CB33-91E4-6546-9ADE-83EB07781A29}"/>
              </a:ext>
            </a:extLst>
          </p:cNvPr>
          <p:cNvSpPr/>
          <p:nvPr/>
        </p:nvSpPr>
        <p:spPr>
          <a:xfrm>
            <a:off x="5655280" y="3184816"/>
            <a:ext cx="933309" cy="345604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ysClr val="windowText" lastClr="000000"/>
                </a:solidFill>
              </a:rPr>
              <a:t>文件</a:t>
            </a:r>
            <a:r>
              <a:rPr lang="zh-CN" altLang="en-CN" sz="1000" dirty="0">
                <a:solidFill>
                  <a:sysClr val="windowText" lastClr="000000"/>
                </a:solidFill>
              </a:rPr>
              <a:t>数据</a:t>
            </a:r>
            <a:endParaRPr lang="en-CN" sz="1000" dirty="0">
              <a:solidFill>
                <a:sysClr val="windowText" lastClr="000000"/>
              </a:solidFill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B5083F75-75F6-9E4A-A0F5-CD2929CDF635}"/>
              </a:ext>
            </a:extLst>
          </p:cNvPr>
          <p:cNvSpPr/>
          <p:nvPr/>
        </p:nvSpPr>
        <p:spPr>
          <a:xfrm>
            <a:off x="6279327" y="4116828"/>
            <a:ext cx="933309" cy="345604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ysClr val="windowText" lastClr="000000"/>
                </a:solidFill>
              </a:rPr>
              <a:t>直接</a:t>
            </a:r>
            <a:r>
              <a:rPr lang="en-US" altLang="zh-CN" sz="1000" dirty="0">
                <a:solidFill>
                  <a:sysClr val="windowText" lastClr="000000"/>
                </a:solidFill>
              </a:rPr>
              <a:t>node</a:t>
            </a:r>
            <a:endParaRPr lang="en-CN" sz="1000" dirty="0">
              <a:solidFill>
                <a:sysClr val="windowText" lastClr="000000"/>
              </a:solidFill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D4BC379-3842-CA47-ADBC-93D3CBD5BB3D}"/>
              </a:ext>
            </a:extLst>
          </p:cNvPr>
          <p:cNvSpPr/>
          <p:nvPr/>
        </p:nvSpPr>
        <p:spPr>
          <a:xfrm>
            <a:off x="4826872" y="3757664"/>
            <a:ext cx="933309" cy="345604"/>
          </a:xfrm>
          <a:prstGeom prst="rect">
            <a:avLst/>
          </a:prstGeom>
          <a:solidFill>
            <a:schemeClr val="accent4">
              <a:lumMod val="7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ysClr val="windowText" lastClr="000000"/>
                </a:solidFill>
              </a:rPr>
              <a:t>间接</a:t>
            </a:r>
            <a:r>
              <a:rPr lang="en-US" altLang="zh-CN" sz="1000" dirty="0">
                <a:solidFill>
                  <a:sysClr val="windowText" lastClr="000000"/>
                </a:solidFill>
              </a:rPr>
              <a:t>node</a:t>
            </a:r>
            <a:endParaRPr lang="en-CN" sz="1000" dirty="0">
              <a:solidFill>
                <a:sysClr val="windowText" lastClr="000000"/>
              </a:solidFill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FDEF791-0082-1645-8BCE-8AE568AD370A}"/>
              </a:ext>
            </a:extLst>
          </p:cNvPr>
          <p:cNvSpPr/>
          <p:nvPr/>
        </p:nvSpPr>
        <p:spPr>
          <a:xfrm>
            <a:off x="7481522" y="3201965"/>
            <a:ext cx="933309" cy="345604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ysClr val="windowText" lastClr="000000"/>
                </a:solidFill>
              </a:rPr>
              <a:t>文件</a:t>
            </a:r>
            <a:r>
              <a:rPr lang="zh-CN" altLang="en-CN" sz="1000" dirty="0">
                <a:solidFill>
                  <a:sysClr val="windowText" lastClr="000000"/>
                </a:solidFill>
              </a:rPr>
              <a:t>数据</a:t>
            </a:r>
            <a:endParaRPr lang="en-CN" sz="1000" dirty="0">
              <a:solidFill>
                <a:sysClr val="windowText" lastClr="000000"/>
              </a:solidFill>
            </a:endParaRPr>
          </a:p>
        </p:txBody>
      </p:sp>
      <p:cxnSp>
        <p:nvCxnSpPr>
          <p:cNvPr id="48" name="Elbow Connector 47">
            <a:extLst>
              <a:ext uri="{FF2B5EF4-FFF2-40B4-BE49-F238E27FC236}">
                <a16:creationId xmlns:a16="http://schemas.microsoft.com/office/drawing/2014/main" id="{E4CD613D-B629-7948-ACDB-AA9721336B44}"/>
              </a:ext>
            </a:extLst>
          </p:cNvPr>
          <p:cNvCxnSpPr>
            <a:cxnSpLocks/>
            <a:stCxn id="34" idx="2"/>
            <a:endCxn id="35" idx="0"/>
          </p:cNvCxnSpPr>
          <p:nvPr/>
        </p:nvCxnSpPr>
        <p:spPr>
          <a:xfrm rot="5400000">
            <a:off x="1124815" y="2332433"/>
            <a:ext cx="894461" cy="21640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Elbow Connector 50">
            <a:extLst>
              <a:ext uri="{FF2B5EF4-FFF2-40B4-BE49-F238E27FC236}">
                <a16:creationId xmlns:a16="http://schemas.microsoft.com/office/drawing/2014/main" id="{40265B92-DAB0-A247-A15C-84CDD230CBA6}"/>
              </a:ext>
            </a:extLst>
          </p:cNvPr>
          <p:cNvCxnSpPr>
            <a:cxnSpLocks/>
            <a:stCxn id="37" idx="3"/>
            <a:endCxn id="38" idx="1"/>
          </p:cNvCxnSpPr>
          <p:nvPr/>
        </p:nvCxnSpPr>
        <p:spPr>
          <a:xfrm>
            <a:off x="2427926" y="1737506"/>
            <a:ext cx="1572527" cy="66222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Elbow Connector 54">
            <a:extLst>
              <a:ext uri="{FF2B5EF4-FFF2-40B4-BE49-F238E27FC236}">
                <a16:creationId xmlns:a16="http://schemas.microsoft.com/office/drawing/2014/main" id="{F524F4DB-A289-A14E-995E-94A83CE1166F}"/>
              </a:ext>
            </a:extLst>
          </p:cNvPr>
          <p:cNvCxnSpPr>
            <a:cxnSpLocks/>
            <a:stCxn id="37" idx="3"/>
            <a:endCxn id="39" idx="1"/>
          </p:cNvCxnSpPr>
          <p:nvPr/>
        </p:nvCxnSpPr>
        <p:spPr>
          <a:xfrm>
            <a:off x="2427926" y="1737506"/>
            <a:ext cx="1572527" cy="127450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Elbow Connector 58">
            <a:extLst>
              <a:ext uri="{FF2B5EF4-FFF2-40B4-BE49-F238E27FC236}">
                <a16:creationId xmlns:a16="http://schemas.microsoft.com/office/drawing/2014/main" id="{83022C20-C7D5-9143-8E60-63FDF125E3A2}"/>
              </a:ext>
            </a:extLst>
          </p:cNvPr>
          <p:cNvCxnSpPr>
            <a:cxnSpLocks/>
            <a:stCxn id="38" idx="3"/>
            <a:endCxn id="40" idx="1"/>
          </p:cNvCxnSpPr>
          <p:nvPr/>
        </p:nvCxnSpPr>
        <p:spPr>
          <a:xfrm>
            <a:off x="4933762" y="2399730"/>
            <a:ext cx="721517" cy="24475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Elbow Connector 62">
            <a:extLst>
              <a:ext uri="{FF2B5EF4-FFF2-40B4-BE49-F238E27FC236}">
                <a16:creationId xmlns:a16="http://schemas.microsoft.com/office/drawing/2014/main" id="{B98E09AD-0E97-3E4D-9E74-332DF949EA1E}"/>
              </a:ext>
            </a:extLst>
          </p:cNvPr>
          <p:cNvCxnSpPr>
            <a:cxnSpLocks/>
            <a:stCxn id="39" idx="3"/>
            <a:endCxn id="41" idx="1"/>
          </p:cNvCxnSpPr>
          <p:nvPr/>
        </p:nvCxnSpPr>
        <p:spPr>
          <a:xfrm>
            <a:off x="4933762" y="3012014"/>
            <a:ext cx="721518" cy="34560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Elbow Connector 65">
            <a:extLst>
              <a:ext uri="{FF2B5EF4-FFF2-40B4-BE49-F238E27FC236}">
                <a16:creationId xmlns:a16="http://schemas.microsoft.com/office/drawing/2014/main" id="{A8BFD7C2-C92A-CF42-B964-4D8B338E82F5}"/>
              </a:ext>
            </a:extLst>
          </p:cNvPr>
          <p:cNvCxnSpPr>
            <a:cxnSpLocks/>
            <a:stCxn id="39" idx="2"/>
            <a:endCxn id="43" idx="0"/>
          </p:cNvCxnSpPr>
          <p:nvPr/>
        </p:nvCxnSpPr>
        <p:spPr>
          <a:xfrm rot="16200000" flipH="1">
            <a:off x="4593893" y="3058030"/>
            <a:ext cx="572848" cy="826419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" name="Elbow Connector 69">
            <a:extLst>
              <a:ext uri="{FF2B5EF4-FFF2-40B4-BE49-F238E27FC236}">
                <a16:creationId xmlns:a16="http://schemas.microsoft.com/office/drawing/2014/main" id="{69361DFE-FC58-BD4C-B43B-D4827874AD6B}"/>
              </a:ext>
            </a:extLst>
          </p:cNvPr>
          <p:cNvCxnSpPr>
            <a:cxnSpLocks/>
            <a:stCxn id="43" idx="3"/>
            <a:endCxn id="57" idx="0"/>
          </p:cNvCxnSpPr>
          <p:nvPr/>
        </p:nvCxnSpPr>
        <p:spPr>
          <a:xfrm>
            <a:off x="5760181" y="3930466"/>
            <a:ext cx="1326097" cy="358019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5" name="Elbow Connector 74">
            <a:extLst>
              <a:ext uri="{FF2B5EF4-FFF2-40B4-BE49-F238E27FC236}">
                <a16:creationId xmlns:a16="http://schemas.microsoft.com/office/drawing/2014/main" id="{CF118D76-4BB7-0147-8C2C-0E03067F3492}"/>
              </a:ext>
            </a:extLst>
          </p:cNvPr>
          <p:cNvCxnSpPr>
            <a:cxnSpLocks/>
            <a:stCxn id="42" idx="3"/>
            <a:endCxn id="44" idx="2"/>
          </p:cNvCxnSpPr>
          <p:nvPr/>
        </p:nvCxnSpPr>
        <p:spPr>
          <a:xfrm flipV="1">
            <a:off x="7212636" y="3547569"/>
            <a:ext cx="735541" cy="74206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0B273302-4A4E-4841-AF30-18BD303D3037}"/>
              </a:ext>
            </a:extLst>
          </p:cNvPr>
          <p:cNvSpPr txBox="1"/>
          <p:nvPr/>
        </p:nvSpPr>
        <p:spPr>
          <a:xfrm>
            <a:off x="6815327" y="3184815"/>
            <a:ext cx="4280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…</a:t>
            </a:r>
            <a:endParaRPr lang="en-CN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37A22199-192E-7E4F-9110-37A3F0CEE7F9}"/>
              </a:ext>
            </a:extLst>
          </p:cNvPr>
          <p:cNvSpPr txBox="1"/>
          <p:nvPr/>
        </p:nvSpPr>
        <p:spPr>
          <a:xfrm>
            <a:off x="2105725" y="3184815"/>
            <a:ext cx="9541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CN" sz="1200" dirty="0"/>
              <a:t>用于</a:t>
            </a:r>
            <a:r>
              <a:rPr lang="zh-CN" altLang="en-US" sz="1200" dirty="0"/>
              <a:t>段清理</a:t>
            </a:r>
            <a:endParaRPr lang="en-CN" sz="1200" dirty="0"/>
          </a:p>
        </p:txBody>
      </p:sp>
      <p:sp>
        <p:nvSpPr>
          <p:cNvPr id="80" name="Right Brace 79">
            <a:extLst>
              <a:ext uri="{FF2B5EF4-FFF2-40B4-BE49-F238E27FC236}">
                <a16:creationId xmlns:a16="http://schemas.microsoft.com/office/drawing/2014/main" id="{849B04C6-C233-CD42-9F62-1E992E6EE725}"/>
              </a:ext>
            </a:extLst>
          </p:cNvPr>
          <p:cNvSpPr/>
          <p:nvPr/>
        </p:nvSpPr>
        <p:spPr>
          <a:xfrm>
            <a:off x="1998834" y="2887864"/>
            <a:ext cx="167965" cy="869691"/>
          </a:xfrm>
          <a:prstGeom prst="rightBrace">
            <a:avLst>
              <a:gd name="adj1" fmla="val 22133"/>
              <a:gd name="adj2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EF23BCF4-EDE4-9F41-8189-77D0765B4B41}"/>
              </a:ext>
            </a:extLst>
          </p:cNvPr>
          <p:cNvCxnSpPr>
            <a:cxnSpLocks/>
          </p:cNvCxnSpPr>
          <p:nvPr/>
        </p:nvCxnSpPr>
        <p:spPr>
          <a:xfrm>
            <a:off x="755650" y="3865612"/>
            <a:ext cx="493484" cy="79622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B2FF6CFD-DC99-F040-B0C6-218629FA1005}"/>
              </a:ext>
            </a:extLst>
          </p:cNvPr>
          <p:cNvCxnSpPr>
            <a:cxnSpLocks/>
          </p:cNvCxnSpPr>
          <p:nvPr/>
        </p:nvCxnSpPr>
        <p:spPr>
          <a:xfrm flipH="1">
            <a:off x="7710043" y="3873658"/>
            <a:ext cx="822397" cy="78818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Rectangle 44">
            <a:extLst>
              <a:ext uri="{FF2B5EF4-FFF2-40B4-BE49-F238E27FC236}">
                <a16:creationId xmlns:a16="http://schemas.microsoft.com/office/drawing/2014/main" id="{789ACD0B-00DB-9E42-85E5-816388D2C02D}"/>
              </a:ext>
            </a:extLst>
          </p:cNvPr>
          <p:cNvSpPr/>
          <p:nvPr/>
        </p:nvSpPr>
        <p:spPr>
          <a:xfrm>
            <a:off x="2022910" y="4785990"/>
            <a:ext cx="284100" cy="360000"/>
          </a:xfrm>
          <a:prstGeom prst="rect">
            <a:avLst/>
          </a:prstGeom>
          <a:solidFill>
            <a:srgbClr val="92D050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CN" sz="1000" dirty="0">
              <a:solidFill>
                <a:sysClr val="windowText" lastClr="000000"/>
              </a:solidFill>
            </a:endParaRPr>
          </a:p>
        </p:txBody>
      </p:sp>
      <p:cxnSp>
        <p:nvCxnSpPr>
          <p:cNvPr id="58" name="Elbow Connector 57">
            <a:extLst>
              <a:ext uri="{FF2B5EF4-FFF2-40B4-BE49-F238E27FC236}">
                <a16:creationId xmlns:a16="http://schemas.microsoft.com/office/drawing/2014/main" id="{133B94EC-F58B-774A-87B0-1AC2EE673D11}"/>
              </a:ext>
            </a:extLst>
          </p:cNvPr>
          <p:cNvCxnSpPr>
            <a:cxnSpLocks/>
            <a:stCxn id="37" idx="3"/>
            <a:endCxn id="43" idx="1"/>
          </p:cNvCxnSpPr>
          <p:nvPr/>
        </p:nvCxnSpPr>
        <p:spPr>
          <a:xfrm>
            <a:off x="2427926" y="1737506"/>
            <a:ext cx="2398946" cy="2192960"/>
          </a:xfrm>
          <a:prstGeom prst="bentConnector3">
            <a:avLst>
              <a:gd name="adj1" fmla="val 32786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Elbow Connector 59">
            <a:extLst>
              <a:ext uri="{FF2B5EF4-FFF2-40B4-BE49-F238E27FC236}">
                <a16:creationId xmlns:a16="http://schemas.microsoft.com/office/drawing/2014/main" id="{EA3B1074-16AC-AD43-BF8E-EA445A6E6816}"/>
              </a:ext>
            </a:extLst>
          </p:cNvPr>
          <p:cNvCxnSpPr>
            <a:cxnSpLocks/>
            <a:stCxn id="37" idx="3"/>
            <a:endCxn id="57" idx="1"/>
          </p:cNvCxnSpPr>
          <p:nvPr/>
        </p:nvCxnSpPr>
        <p:spPr>
          <a:xfrm>
            <a:off x="2427926" y="1737506"/>
            <a:ext cx="4191697" cy="2723781"/>
          </a:xfrm>
          <a:prstGeom prst="bentConnector3">
            <a:avLst>
              <a:gd name="adj1" fmla="val 18863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CE231844-2D33-E24D-B333-F8B735649F57}"/>
              </a:ext>
            </a:extLst>
          </p:cNvPr>
          <p:cNvSpPr txBox="1"/>
          <p:nvPr/>
        </p:nvSpPr>
        <p:spPr>
          <a:xfrm>
            <a:off x="4083594" y="3429553"/>
            <a:ext cx="103265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dirty="0"/>
              <a:t>使用</a:t>
            </a:r>
            <a:r>
              <a:rPr lang="en-US" altLang="zh-CN" sz="1100" dirty="0"/>
              <a:t>NAT</a:t>
            </a:r>
            <a:r>
              <a:rPr lang="zh-CN" altLang="en-US" sz="1100" dirty="0"/>
              <a:t>翻译</a:t>
            </a:r>
            <a:endParaRPr lang="en-CN" sz="1100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BB501C73-5729-6F45-959A-5D07CC5D5E6F}"/>
              </a:ext>
            </a:extLst>
          </p:cNvPr>
          <p:cNvSpPr txBox="1"/>
          <p:nvPr/>
        </p:nvSpPr>
        <p:spPr>
          <a:xfrm>
            <a:off x="6005664" y="3699937"/>
            <a:ext cx="103265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dirty="0"/>
              <a:t>使用</a:t>
            </a:r>
            <a:r>
              <a:rPr lang="en-US" altLang="zh-CN" sz="1100" dirty="0"/>
              <a:t>NAT</a:t>
            </a:r>
            <a:r>
              <a:rPr lang="zh-CN" altLang="en-US" sz="1100" dirty="0"/>
              <a:t>翻译</a:t>
            </a:r>
            <a:endParaRPr lang="en-CN" sz="1100" dirty="0"/>
          </a:p>
        </p:txBody>
      </p:sp>
      <p:sp>
        <p:nvSpPr>
          <p:cNvPr id="77" name="Right Arrow 76">
            <a:extLst>
              <a:ext uri="{FF2B5EF4-FFF2-40B4-BE49-F238E27FC236}">
                <a16:creationId xmlns:a16="http://schemas.microsoft.com/office/drawing/2014/main" id="{5E3628CF-E787-9247-8891-CCB4084D825C}"/>
              </a:ext>
            </a:extLst>
          </p:cNvPr>
          <p:cNvSpPr/>
          <p:nvPr/>
        </p:nvSpPr>
        <p:spPr>
          <a:xfrm>
            <a:off x="5100561" y="4896220"/>
            <a:ext cx="554718" cy="153621"/>
          </a:xfrm>
          <a:prstGeom prst="rightArrow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83" name="Right Arrow 82">
            <a:extLst>
              <a:ext uri="{FF2B5EF4-FFF2-40B4-BE49-F238E27FC236}">
                <a16:creationId xmlns:a16="http://schemas.microsoft.com/office/drawing/2014/main" id="{EBD823FC-83D3-0842-8293-5AC4E0779CF2}"/>
              </a:ext>
            </a:extLst>
          </p:cNvPr>
          <p:cNvSpPr/>
          <p:nvPr/>
        </p:nvSpPr>
        <p:spPr>
          <a:xfrm>
            <a:off x="5952312" y="4896220"/>
            <a:ext cx="635912" cy="153621"/>
          </a:xfrm>
          <a:prstGeom prst="rightArrow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B1CA7BF-8C1C-F74E-957C-A2F6FB1BB1F6}"/>
              </a:ext>
            </a:extLst>
          </p:cNvPr>
          <p:cNvSpPr txBox="1"/>
          <p:nvPr/>
        </p:nvSpPr>
        <p:spPr>
          <a:xfrm>
            <a:off x="7522704" y="2210211"/>
            <a:ext cx="14414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CN" sz="1400" dirty="0"/>
              <a:t>修改</a:t>
            </a:r>
            <a:r>
              <a:rPr lang="zh-CN" altLang="en-US" sz="1400" dirty="0"/>
              <a:t>一小块数据</a:t>
            </a:r>
            <a:endParaRPr lang="en-CN" sz="1400" dirty="0"/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71B24026-EA14-0940-A7CD-F049BE5AE889}"/>
              </a:ext>
            </a:extLst>
          </p:cNvPr>
          <p:cNvCxnSpPr>
            <a:cxnSpLocks/>
            <a:stCxn id="50" idx="2"/>
            <a:endCxn id="44" idx="0"/>
          </p:cNvCxnSpPr>
          <p:nvPr/>
        </p:nvCxnSpPr>
        <p:spPr>
          <a:xfrm flipH="1">
            <a:off x="7948177" y="2517988"/>
            <a:ext cx="295237" cy="68397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ctangle 55">
            <a:extLst>
              <a:ext uri="{FF2B5EF4-FFF2-40B4-BE49-F238E27FC236}">
                <a16:creationId xmlns:a16="http://schemas.microsoft.com/office/drawing/2014/main" id="{712DF734-1352-2C4C-A8EE-CCF19DA8CBA0}"/>
              </a:ext>
            </a:extLst>
          </p:cNvPr>
          <p:cNvSpPr/>
          <p:nvPr/>
        </p:nvSpPr>
        <p:spPr>
          <a:xfrm>
            <a:off x="7979315" y="3257837"/>
            <a:ext cx="933309" cy="345604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ysClr val="windowText" lastClr="000000"/>
                </a:solidFill>
              </a:rPr>
              <a:t>文件</a:t>
            </a:r>
            <a:r>
              <a:rPr lang="zh-CN" altLang="en-CN" sz="1000" dirty="0">
                <a:solidFill>
                  <a:sysClr val="windowText" lastClr="000000"/>
                </a:solidFill>
              </a:rPr>
              <a:t>数据</a:t>
            </a:r>
            <a:endParaRPr lang="en-CN" sz="1000" dirty="0">
              <a:solidFill>
                <a:sysClr val="windowText" lastClr="000000"/>
              </a:solidFill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2075829B-20B7-F64E-BAC0-16CB0A79D6DA}"/>
              </a:ext>
            </a:extLst>
          </p:cNvPr>
          <p:cNvSpPr/>
          <p:nvPr/>
        </p:nvSpPr>
        <p:spPr>
          <a:xfrm>
            <a:off x="6619623" y="4288485"/>
            <a:ext cx="933309" cy="345604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ysClr val="windowText" lastClr="000000"/>
                </a:solidFill>
              </a:rPr>
              <a:t>直接</a:t>
            </a:r>
            <a:r>
              <a:rPr lang="en-US" altLang="zh-CN" sz="1000" dirty="0">
                <a:solidFill>
                  <a:sysClr val="windowText" lastClr="000000"/>
                </a:solidFill>
              </a:rPr>
              <a:t>node</a:t>
            </a:r>
            <a:endParaRPr lang="en-CN" sz="1000" dirty="0">
              <a:solidFill>
                <a:sysClr val="windowText" lastClr="000000"/>
              </a:solidFill>
            </a:endParaRPr>
          </a:p>
        </p:txBody>
      </p:sp>
      <p:cxnSp>
        <p:nvCxnSpPr>
          <p:cNvPr id="61" name="Elbow Connector 60">
            <a:extLst>
              <a:ext uri="{FF2B5EF4-FFF2-40B4-BE49-F238E27FC236}">
                <a16:creationId xmlns:a16="http://schemas.microsoft.com/office/drawing/2014/main" id="{1A34B020-5C86-974B-97E3-E4C4B2AF85A9}"/>
              </a:ext>
            </a:extLst>
          </p:cNvPr>
          <p:cNvCxnSpPr>
            <a:cxnSpLocks/>
            <a:stCxn id="57" idx="3"/>
            <a:endCxn id="56" idx="2"/>
          </p:cNvCxnSpPr>
          <p:nvPr/>
        </p:nvCxnSpPr>
        <p:spPr>
          <a:xfrm flipV="1">
            <a:off x="7552932" y="3603441"/>
            <a:ext cx="893038" cy="857846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2" name="Rectangle 61">
            <a:extLst>
              <a:ext uri="{FF2B5EF4-FFF2-40B4-BE49-F238E27FC236}">
                <a16:creationId xmlns:a16="http://schemas.microsoft.com/office/drawing/2014/main" id="{7175E624-4A2E-EC46-8307-5DC83C3AECA8}"/>
              </a:ext>
            </a:extLst>
          </p:cNvPr>
          <p:cNvSpPr/>
          <p:nvPr/>
        </p:nvSpPr>
        <p:spPr>
          <a:xfrm>
            <a:off x="3451163" y="4785990"/>
            <a:ext cx="284100" cy="360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CN" sz="1000" dirty="0">
              <a:solidFill>
                <a:sysClr val="windowText" lastClr="000000"/>
              </a:solidFill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A4006C04-6092-DD49-AC68-E069574E2A5C}"/>
              </a:ext>
            </a:extLst>
          </p:cNvPr>
          <p:cNvSpPr/>
          <p:nvPr/>
        </p:nvSpPr>
        <p:spPr>
          <a:xfrm>
            <a:off x="4501029" y="4785990"/>
            <a:ext cx="284100" cy="360000"/>
          </a:xfrm>
          <a:prstGeom prst="rect">
            <a:avLst/>
          </a:prstGeom>
          <a:solidFill>
            <a:schemeClr val="accent4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altLang="zh-CN" sz="1000" dirty="0">
              <a:solidFill>
                <a:sysClr val="windowText" lastClr="000000"/>
              </a:solidFill>
            </a:endParaRPr>
          </a:p>
        </p:txBody>
      </p:sp>
      <p:sp>
        <p:nvSpPr>
          <p:cNvPr id="31" name="Right Arrow 30">
            <a:extLst>
              <a:ext uri="{FF2B5EF4-FFF2-40B4-BE49-F238E27FC236}">
                <a16:creationId xmlns:a16="http://schemas.microsoft.com/office/drawing/2014/main" id="{5384B7E3-ED2C-B143-8B5B-A13F4D6D75F3}"/>
              </a:ext>
            </a:extLst>
          </p:cNvPr>
          <p:cNvSpPr/>
          <p:nvPr/>
        </p:nvSpPr>
        <p:spPr>
          <a:xfrm>
            <a:off x="2939121" y="4891878"/>
            <a:ext cx="637956" cy="153621"/>
          </a:xfrm>
          <a:prstGeom prst="rightArrow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81" name="Right Arrow 80">
            <a:extLst>
              <a:ext uri="{FF2B5EF4-FFF2-40B4-BE49-F238E27FC236}">
                <a16:creationId xmlns:a16="http://schemas.microsoft.com/office/drawing/2014/main" id="{CD0D2409-9C81-3944-8806-06BAD863670B}"/>
              </a:ext>
            </a:extLst>
          </p:cNvPr>
          <p:cNvSpPr/>
          <p:nvPr/>
        </p:nvSpPr>
        <p:spPr>
          <a:xfrm>
            <a:off x="3975197" y="4892765"/>
            <a:ext cx="662840" cy="153621"/>
          </a:xfrm>
          <a:prstGeom prst="rightArrow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68" name="Right Brace 67">
            <a:extLst>
              <a:ext uri="{FF2B5EF4-FFF2-40B4-BE49-F238E27FC236}">
                <a16:creationId xmlns:a16="http://schemas.microsoft.com/office/drawing/2014/main" id="{0976DD6D-F84F-0544-B911-6D7F25777C70}"/>
              </a:ext>
            </a:extLst>
          </p:cNvPr>
          <p:cNvSpPr/>
          <p:nvPr/>
        </p:nvSpPr>
        <p:spPr>
          <a:xfrm rot="16200000">
            <a:off x="1611650" y="637984"/>
            <a:ext cx="167965" cy="1464586"/>
          </a:xfrm>
          <a:prstGeom prst="rightBrace">
            <a:avLst>
              <a:gd name="adj1" fmla="val 22133"/>
              <a:gd name="adj2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74F04A1-8FA2-194F-B865-0A40716FB3FE}"/>
              </a:ext>
            </a:extLst>
          </p:cNvPr>
          <p:cNvSpPr txBox="1"/>
          <p:nvPr/>
        </p:nvSpPr>
        <p:spPr>
          <a:xfrm>
            <a:off x="1043851" y="1044314"/>
            <a:ext cx="13035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/>
              <a:t>保存在固定位置</a:t>
            </a:r>
            <a:endParaRPr lang="en-CN" sz="1200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A37875A-2886-CA49-AD79-85303BC2F04C}"/>
              </a:ext>
            </a:extLst>
          </p:cNvPr>
          <p:cNvSpPr txBox="1"/>
          <p:nvPr/>
        </p:nvSpPr>
        <p:spPr>
          <a:xfrm>
            <a:off x="331942" y="1631065"/>
            <a:ext cx="35422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CN" sz="2000" dirty="0"/>
              <a:t>逻辑</a:t>
            </a:r>
            <a:r>
              <a:rPr lang="zh-CN" altLang="en-US" sz="2000" dirty="0"/>
              <a:t>结构</a:t>
            </a:r>
            <a:endParaRPr lang="en-CN" sz="2000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91AD702-56E2-924B-83B0-1448965A8CBD}"/>
              </a:ext>
            </a:extLst>
          </p:cNvPr>
          <p:cNvSpPr txBox="1"/>
          <p:nvPr/>
        </p:nvSpPr>
        <p:spPr>
          <a:xfrm>
            <a:off x="367002" y="4161072"/>
            <a:ext cx="2841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存储结构</a:t>
            </a:r>
            <a:endParaRPr lang="en-CN" sz="2000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73168D7D-74C5-C948-8EB1-6260E4265AF9}"/>
              </a:ext>
            </a:extLst>
          </p:cNvPr>
          <p:cNvSpPr txBox="1"/>
          <p:nvPr/>
        </p:nvSpPr>
        <p:spPr>
          <a:xfrm>
            <a:off x="4005990" y="1216674"/>
            <a:ext cx="2273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多个</a:t>
            </a:r>
            <a:r>
              <a:rPr lang="en-US" altLang="zh-CN" dirty="0">
                <a:solidFill>
                  <a:srgbClr val="C00000"/>
                </a:solidFill>
              </a:rPr>
              <a:t>log</a:t>
            </a:r>
            <a:r>
              <a:rPr lang="zh-CN" altLang="en-US" dirty="0">
                <a:solidFill>
                  <a:srgbClr val="C00000"/>
                </a:solidFill>
              </a:rPr>
              <a:t>，并行写入</a:t>
            </a:r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BAC99786-F461-6E4E-BBCC-5A8BBB735024}"/>
              </a:ext>
            </a:extLst>
          </p:cNvPr>
          <p:cNvCxnSpPr>
            <a:cxnSpLocks/>
            <a:stCxn id="85" idx="2"/>
          </p:cNvCxnSpPr>
          <p:nvPr/>
        </p:nvCxnSpPr>
        <p:spPr>
          <a:xfrm>
            <a:off x="5142659" y="1586006"/>
            <a:ext cx="1167806" cy="3107632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258397E8-2D8B-8B4F-AEE9-6A14F8FDAE29}"/>
              </a:ext>
            </a:extLst>
          </p:cNvPr>
          <p:cNvCxnSpPr>
            <a:cxnSpLocks/>
            <a:stCxn id="85" idx="2"/>
            <a:endCxn id="19" idx="0"/>
          </p:cNvCxnSpPr>
          <p:nvPr/>
        </p:nvCxnSpPr>
        <p:spPr>
          <a:xfrm flipH="1">
            <a:off x="3301284" y="1586006"/>
            <a:ext cx="1841375" cy="3199984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12ECF06D-CB6E-3E49-B677-640C39F09BEA}"/>
              </a:ext>
            </a:extLst>
          </p:cNvPr>
          <p:cNvCxnSpPr>
            <a:cxnSpLocks/>
            <a:stCxn id="85" idx="2"/>
          </p:cNvCxnSpPr>
          <p:nvPr/>
        </p:nvCxnSpPr>
        <p:spPr>
          <a:xfrm flipH="1">
            <a:off x="4352771" y="1586006"/>
            <a:ext cx="789888" cy="3107632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9111FB45-E35C-5447-A772-A8010D0CA15A}"/>
              </a:ext>
            </a:extLst>
          </p:cNvPr>
          <p:cNvCxnSpPr>
            <a:cxnSpLocks/>
            <a:stCxn id="85" idx="2"/>
          </p:cNvCxnSpPr>
          <p:nvPr/>
        </p:nvCxnSpPr>
        <p:spPr>
          <a:xfrm>
            <a:off x="5142659" y="1586006"/>
            <a:ext cx="183727" cy="3075835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38648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6437CE6-834A-674D-B58D-1A9B06C46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瓦式磁盘</a:t>
            </a:r>
            <a:endParaRPr lang="en-CN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CFDBFE3-9FEB-7541-A8AC-6C1CFA5B26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Shingled </a:t>
            </a:r>
            <a:r>
              <a:rPr lang="en-US" altLang="zh-CN" b="1" dirty="0"/>
              <a:t>M</a:t>
            </a:r>
            <a:r>
              <a:rPr lang="en-US" b="1" dirty="0"/>
              <a:t>agnetic </a:t>
            </a:r>
            <a:r>
              <a:rPr lang="en-US" altLang="zh-CN" b="1" dirty="0"/>
              <a:t>R</a:t>
            </a:r>
            <a:r>
              <a:rPr lang="en-US" b="1" dirty="0"/>
              <a:t>ecording</a:t>
            </a:r>
            <a:r>
              <a:rPr lang="zh-CN" altLang="en-US" b="1" dirty="0"/>
              <a:t> </a:t>
            </a:r>
            <a:r>
              <a:rPr lang="en-US" altLang="zh-CN" b="1" dirty="0"/>
              <a:t>(SMR)</a:t>
            </a:r>
            <a:r>
              <a:rPr lang="zh-CN" altLang="en-US" b="1" dirty="0"/>
              <a:t> </a:t>
            </a:r>
            <a:r>
              <a:rPr lang="en-US" altLang="zh-CN" b="1" dirty="0"/>
              <a:t>Disk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137BB9-10B3-1344-872B-D2110A485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12</a:t>
            </a:fld>
            <a:endParaRPr lang="zh-CN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99D6D3-5D0C-6845-98C5-8C86CD64B8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1DD1C2-9EDA-E045-817F-971242A96BA6}"/>
              </a:ext>
            </a:extLst>
          </p:cNvPr>
          <p:cNvSpPr txBox="1"/>
          <p:nvPr/>
        </p:nvSpPr>
        <p:spPr>
          <a:xfrm>
            <a:off x="0" y="5494627"/>
            <a:ext cx="573746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He, </a:t>
            </a:r>
            <a:r>
              <a:rPr lang="en-US" sz="900" dirty="0" err="1"/>
              <a:t>Weiping</a:t>
            </a:r>
            <a:r>
              <a:rPr lang="en-US" sz="900" dirty="0"/>
              <a:t>, and David HC Du. </a:t>
            </a:r>
            <a:r>
              <a:rPr lang="en-US" sz="900" i="1" dirty="0"/>
              <a:t>Smart: An approach to shingled magnetic recording translation.</a:t>
            </a:r>
            <a:r>
              <a:rPr lang="en-US" sz="900" dirty="0"/>
              <a:t> In </a:t>
            </a:r>
            <a:r>
              <a:rPr lang="en-US" sz="900" i="1" dirty="0"/>
              <a:t>FAST’ 17.</a:t>
            </a:r>
          </a:p>
        </p:txBody>
      </p:sp>
    </p:spTree>
    <p:extLst>
      <p:ext uri="{BB962C8B-B14F-4D97-AF65-F5344CB8AC3E}">
        <p14:creationId xmlns:p14="http://schemas.microsoft.com/office/powerpoint/2010/main" val="41473178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8D80AF0-C7FD-8246-A2B3-FC239E06028C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68823" y="3309514"/>
            <a:ext cx="2799522" cy="198744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FC208FD-8DB0-8E4E-8217-2E5A91360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瓦式</a:t>
            </a:r>
            <a:r>
              <a:rPr lang="zh-CN" altLang="en-CN" dirty="0"/>
              <a:t>磁盘</a:t>
            </a:r>
            <a:r>
              <a:rPr lang="zh-CN" altLang="en-US" dirty="0"/>
              <a:t> 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4FCE3D-9DC3-D941-A6C3-5F337E66AC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b="0" dirty="0"/>
              <a:t>传统磁盘密度难以提升</a:t>
            </a:r>
            <a:endParaRPr lang="en-US" altLang="zh-CN" b="0" dirty="0"/>
          </a:p>
          <a:p>
            <a:pPr lvl="1"/>
            <a:r>
              <a:rPr lang="zh-CN" altLang="en-US" dirty="0"/>
              <a:t>写磁头的宽度难以减小</a:t>
            </a:r>
            <a:endParaRPr lang="en-US" altLang="zh-CN" b="0" dirty="0"/>
          </a:p>
          <a:p>
            <a:r>
              <a:rPr lang="zh-CN" altLang="en-US" b="0" dirty="0"/>
              <a:t>瓦式磁盘将磁道重叠，提升存储密度</a:t>
            </a:r>
            <a:endParaRPr lang="en-US" altLang="zh-CN" b="0" dirty="0"/>
          </a:p>
          <a:p>
            <a:pPr lvl="1"/>
            <a:r>
              <a:rPr lang="zh-CN" altLang="en-US" dirty="0"/>
              <a:t>减小读磁头的宽度</a:t>
            </a:r>
            <a:endParaRPr lang="en-US" dirty="0"/>
          </a:p>
          <a:p>
            <a:endParaRPr lang="en-CN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2E35B6-BDE3-4F4B-B25E-0B95DD41D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A4AA5-0A9C-DE4A-B267-D90C44E6E4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C5E81F7-8C8D-C54E-867D-C1DB80F72D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3675" y="3553498"/>
            <a:ext cx="1814251" cy="1776190"/>
          </a:xfrm>
          <a:prstGeom prst="rect">
            <a:avLst/>
          </a:prstGeom>
        </p:spPr>
      </p:pic>
      <p:sp>
        <p:nvSpPr>
          <p:cNvPr id="9" name="Right Arrow 8">
            <a:extLst>
              <a:ext uri="{FF2B5EF4-FFF2-40B4-BE49-F238E27FC236}">
                <a16:creationId xmlns:a16="http://schemas.microsoft.com/office/drawing/2014/main" id="{083CF0FF-4F96-394F-9260-D6FA10A237F7}"/>
              </a:ext>
            </a:extLst>
          </p:cNvPr>
          <p:cNvSpPr/>
          <p:nvPr/>
        </p:nvSpPr>
        <p:spPr>
          <a:xfrm>
            <a:off x="3834064" y="4240933"/>
            <a:ext cx="998650" cy="403986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0056630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760DD-6523-4C4C-9B94-36A3BA2C4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CN" dirty="0"/>
              <a:t>瓦式</a:t>
            </a:r>
            <a:r>
              <a:rPr lang="zh-CN" altLang="en-US" dirty="0"/>
              <a:t>磁盘的问题：随机写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82558-EE86-A048-8C7F-6AAB4FB4EB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b="0" dirty="0"/>
              <a:t>随机写会覆盖后面磁道的数据</a:t>
            </a:r>
            <a:endParaRPr lang="en-US" altLang="zh-CN" b="0" dirty="0"/>
          </a:p>
          <a:p>
            <a:pPr lvl="1"/>
            <a:r>
              <a:rPr lang="zh-CN" altLang="en-US" b="0" dirty="0"/>
              <a:t>只能顺序写入</a:t>
            </a:r>
            <a:endParaRPr lang="en-US" altLang="zh-CN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971AAA-3D67-5849-B215-2D9A1FE55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14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4CA80D-3D7E-D742-A90D-347EB4FB81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B1F97B4-4DC6-3648-ACBA-2DC094BA8940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87278" y="1329943"/>
            <a:ext cx="2799522" cy="1987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7085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760DD-6523-4C4C-9B94-36A3BA2C4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CN" dirty="0"/>
              <a:t>瓦式</a:t>
            </a:r>
            <a:r>
              <a:rPr lang="zh-CN" altLang="en-US" dirty="0"/>
              <a:t>磁盘的问题：随机写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82558-EE86-A048-8C7F-6AAB4FB4EB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b="0" dirty="0"/>
              <a:t>随机写会覆盖后面磁道的数据</a:t>
            </a:r>
            <a:endParaRPr lang="en-US" altLang="zh-CN" b="0" dirty="0"/>
          </a:p>
          <a:p>
            <a:pPr lvl="1"/>
            <a:r>
              <a:rPr lang="zh-CN" altLang="en-US" b="0" dirty="0"/>
              <a:t>只能顺序写入</a:t>
            </a:r>
            <a:endParaRPr lang="en-US" altLang="zh-CN" b="0" dirty="0"/>
          </a:p>
          <a:p>
            <a:r>
              <a:rPr lang="zh-CN" altLang="en-US" b="0" dirty="0"/>
              <a:t>避免整个磁盘只能顺序写入</a:t>
            </a:r>
            <a:endParaRPr lang="en-US" altLang="zh-CN" b="0" dirty="0"/>
          </a:p>
          <a:p>
            <a:pPr lvl="1"/>
            <a:r>
              <a:rPr lang="zh-CN" altLang="en-US" dirty="0"/>
              <a:t>磁盘划分成多个</a:t>
            </a:r>
            <a:r>
              <a:rPr lang="en-US" altLang="zh-CN" dirty="0"/>
              <a:t>Band</a:t>
            </a:r>
            <a:r>
              <a:rPr lang="zh-CN" altLang="en-US" dirty="0"/>
              <a:t>，</a:t>
            </a:r>
            <a:r>
              <a:rPr lang="en-US" altLang="zh-CN" dirty="0"/>
              <a:t>Band</a:t>
            </a:r>
            <a:r>
              <a:rPr lang="zh-CN" altLang="en-US" dirty="0"/>
              <a:t>间增大距离</a:t>
            </a:r>
            <a:endParaRPr lang="en-US" altLang="zh-CN" dirty="0"/>
          </a:p>
          <a:p>
            <a:pPr lvl="1"/>
            <a:r>
              <a:rPr lang="zh-CN" altLang="en-US" dirty="0"/>
              <a:t>每个</a:t>
            </a:r>
            <a:r>
              <a:rPr lang="en-US" altLang="zh-CN" dirty="0"/>
              <a:t>Band</a:t>
            </a:r>
            <a:r>
              <a:rPr lang="zh-CN" altLang="en-US" dirty="0"/>
              <a:t>内必须顺序写入 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971AAA-3D67-5849-B215-2D9A1FE55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15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4CA80D-3D7E-D742-A90D-347EB4FB81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B1F97B4-4DC6-3648-ACBA-2DC094BA8940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87278" y="1329943"/>
            <a:ext cx="2799522" cy="198744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19D5B60-73FB-354C-8962-1050CCE7393E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691680" y="3798546"/>
            <a:ext cx="5457546" cy="1574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42326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760DD-6523-4C4C-9B94-36A3BA2C4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Band</a:t>
            </a:r>
            <a:r>
              <a:rPr lang="zh-CN" altLang="en-US" dirty="0"/>
              <a:t>内随机写怎么办？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82558-EE86-A048-8C7F-6AAB4FB4EB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N" altLang="zh-CN" b="0" dirty="0"/>
              <a:t>Band</a:t>
            </a:r>
            <a:r>
              <a:rPr lang="zh-CN" altLang="en-CN" b="0" dirty="0"/>
              <a:t>大小</a:t>
            </a:r>
            <a:r>
              <a:rPr lang="zh-CN" altLang="en-US" b="0" dirty="0"/>
              <a:t>（</a:t>
            </a:r>
            <a:r>
              <a:rPr lang="en-US" altLang="zh-CN" b="0" dirty="0"/>
              <a:t>30MB</a:t>
            </a:r>
            <a:r>
              <a:rPr lang="zh-CN" altLang="en-US" b="0" dirty="0"/>
              <a:t>） </a:t>
            </a:r>
            <a:r>
              <a:rPr lang="en-US" altLang="zh-CN" b="0" dirty="0"/>
              <a:t>&gt;</a:t>
            </a:r>
            <a:r>
              <a:rPr lang="zh-CN" altLang="en-US" b="0" dirty="0"/>
              <a:t> 块设备读写粒度（</a:t>
            </a:r>
            <a:r>
              <a:rPr lang="en-US" altLang="zh-CN" b="0" dirty="0"/>
              <a:t>4KB</a:t>
            </a:r>
            <a:r>
              <a:rPr lang="zh-CN" altLang="en-US" b="0" dirty="0"/>
              <a:t>）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971AAA-3D67-5849-B215-2D9A1FE55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16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4CA80D-3D7E-D742-A90D-347EB4FB81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19D5B60-73FB-354C-8962-1050CCE7393E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691680" y="3798546"/>
            <a:ext cx="5457546" cy="1574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40577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760DD-6523-4C4C-9B94-36A3BA2C4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CN" dirty="0"/>
              <a:t>方法</a:t>
            </a:r>
            <a:r>
              <a:rPr lang="zh-CN" altLang="en-US" dirty="0"/>
              <a:t>一：多次拷贝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82558-EE86-A048-8C7F-6AAB4FB4EB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b="0" dirty="0"/>
              <a:t>修改</a:t>
            </a:r>
            <a:r>
              <a:rPr lang="en-CN" altLang="zh-CN" b="0" dirty="0"/>
              <a:t>Band</a:t>
            </a:r>
            <a:r>
              <a:rPr lang="zh-CN" altLang="en-US" b="0" dirty="0"/>
              <a:t> </a:t>
            </a:r>
            <a:r>
              <a:rPr lang="en-US" altLang="zh-CN" b="0" dirty="0"/>
              <a:t>X</a:t>
            </a:r>
            <a:r>
              <a:rPr lang="zh-CN" altLang="en-CN" b="0" dirty="0"/>
              <a:t>中</a:t>
            </a:r>
            <a:r>
              <a:rPr lang="zh-CN" altLang="en-US" b="0" dirty="0"/>
              <a:t>的</a:t>
            </a:r>
            <a:r>
              <a:rPr lang="en-US" altLang="zh-CN" b="0" dirty="0"/>
              <a:t>4KB</a:t>
            </a:r>
            <a:r>
              <a:rPr lang="zh-CN" altLang="en-US" b="0" dirty="0"/>
              <a:t>数据</a:t>
            </a:r>
            <a:endParaRPr lang="en-US" altLang="zh-CN" b="0" dirty="0"/>
          </a:p>
          <a:p>
            <a:pPr marL="800100" lvl="1" indent="-342900">
              <a:buFont typeface="+mj-lt"/>
              <a:buAutoNum type="arabicPeriod"/>
            </a:pPr>
            <a:r>
              <a:rPr lang="zh-CN" altLang="en-US" sz="1800" dirty="0"/>
              <a:t>找到空闲</a:t>
            </a:r>
            <a:r>
              <a:rPr lang="en-US" altLang="zh-CN" sz="1800" dirty="0"/>
              <a:t>Band</a:t>
            </a:r>
            <a:r>
              <a:rPr lang="zh-CN" altLang="en-US" sz="1800" dirty="0"/>
              <a:t> </a:t>
            </a:r>
            <a:r>
              <a:rPr lang="en-US" altLang="zh-CN" sz="1800" dirty="0"/>
              <a:t>Y</a:t>
            </a:r>
          </a:p>
          <a:p>
            <a:pPr marL="800100" lvl="1" indent="-342900">
              <a:buFont typeface="+mj-lt"/>
              <a:buAutoNum type="arabicPeriod"/>
            </a:pPr>
            <a:r>
              <a:rPr lang="zh-CN" altLang="en-US" sz="1800" dirty="0"/>
              <a:t>从</a:t>
            </a:r>
            <a:r>
              <a:rPr lang="en-US" altLang="zh-CN" sz="1800" dirty="0"/>
              <a:t>Band X</a:t>
            </a:r>
            <a:r>
              <a:rPr lang="zh-CN" altLang="en-US" sz="1800" dirty="0"/>
              <a:t>的数据拷贝到</a:t>
            </a:r>
            <a:r>
              <a:rPr lang="en-US" altLang="zh-CN" sz="1800" dirty="0"/>
              <a:t>Band Y</a:t>
            </a:r>
            <a:r>
              <a:rPr lang="zh-CN" altLang="en-US" sz="1800" dirty="0"/>
              <a:t>，拷贝时将</a:t>
            </a:r>
            <a:r>
              <a:rPr lang="en-US" altLang="zh-CN" sz="1800" dirty="0"/>
              <a:t>4KB</a:t>
            </a:r>
            <a:r>
              <a:rPr lang="zh-CN" altLang="en-US" sz="1800" dirty="0"/>
              <a:t>修改写入</a:t>
            </a:r>
            <a:endParaRPr lang="en-US" altLang="zh-CN" sz="1800" dirty="0"/>
          </a:p>
          <a:p>
            <a:pPr marL="800100" lvl="1" indent="-342900">
              <a:buFont typeface="+mj-lt"/>
              <a:buAutoNum type="arabicPeriod"/>
            </a:pPr>
            <a:r>
              <a:rPr lang="zh-CN" altLang="en-US" sz="1800" dirty="0"/>
              <a:t>将</a:t>
            </a:r>
            <a:r>
              <a:rPr lang="en-US" altLang="zh-CN" sz="1800" dirty="0"/>
              <a:t>Band</a:t>
            </a:r>
            <a:r>
              <a:rPr lang="zh-CN" altLang="en-US" sz="1800" dirty="0"/>
              <a:t> </a:t>
            </a:r>
            <a:r>
              <a:rPr lang="en-US" altLang="zh-CN" sz="1800" dirty="0"/>
              <a:t>Y</a:t>
            </a:r>
            <a:r>
              <a:rPr lang="zh-CN" altLang="en-US" sz="1800" dirty="0"/>
              <a:t>中的数据拷贝回</a:t>
            </a:r>
            <a:r>
              <a:rPr lang="en-US" altLang="zh-CN" sz="1800" dirty="0"/>
              <a:t>Band</a:t>
            </a:r>
            <a:r>
              <a:rPr lang="zh-CN" altLang="en-US" sz="1800" dirty="0"/>
              <a:t> </a:t>
            </a:r>
            <a:r>
              <a:rPr lang="en-US" altLang="zh-CN" sz="1800" dirty="0"/>
              <a:t>X</a:t>
            </a:r>
            <a:endParaRPr lang="en-US" altLang="zh-CN" dirty="0"/>
          </a:p>
          <a:p>
            <a:r>
              <a:rPr lang="en-US" altLang="zh-CN" b="0" dirty="0"/>
              <a:t>4KB</a:t>
            </a:r>
            <a:r>
              <a:rPr lang="zh-CN" altLang="en-US" b="0" dirty="0"/>
              <a:t>随机写 → </a:t>
            </a:r>
            <a:r>
              <a:rPr lang="en-US" altLang="zh-CN" b="0" dirty="0"/>
              <a:t>120</a:t>
            </a:r>
            <a:r>
              <a:rPr lang="en-US" b="0" dirty="0"/>
              <a:t>MB</a:t>
            </a:r>
            <a:r>
              <a:rPr lang="zh-CN" altLang="en-US" b="0" dirty="0"/>
              <a:t>访问</a:t>
            </a:r>
            <a:endParaRPr lang="en-US" altLang="zh-CN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971AAA-3D67-5849-B215-2D9A1FE55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17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4CA80D-3D7E-D742-A90D-347EB4FB81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F1E98E9-946B-0544-AB2D-AFDDB92F8E7B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691680" y="3798546"/>
            <a:ext cx="5457546" cy="1574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74233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760DD-6523-4C4C-9B94-36A3BA2C4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CN" dirty="0"/>
              <a:t>方法</a:t>
            </a:r>
            <a:r>
              <a:rPr lang="zh-CN" altLang="en-US" dirty="0"/>
              <a:t>二：缓存</a:t>
            </a:r>
            <a:r>
              <a:rPr lang="en-US" altLang="zh-CN" dirty="0"/>
              <a:t>+</a:t>
            </a:r>
            <a:r>
              <a:rPr lang="zh-CN" altLang="en-US" dirty="0"/>
              <a:t>动态映射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82558-EE86-A048-8C7F-6AAB4FB4EB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b="0" dirty="0"/>
              <a:t>大容量持久缓存</a:t>
            </a:r>
            <a:endParaRPr lang="en-US" altLang="zh-CN" b="0" dirty="0"/>
          </a:p>
          <a:p>
            <a:pPr lvl="1"/>
            <a:r>
              <a:rPr lang="zh-CN" altLang="en-US" sz="1800" dirty="0"/>
              <a:t>在磁盘头部预留的区域，</a:t>
            </a:r>
            <a:r>
              <a:rPr lang="zh-CN" altLang="en-CN" sz="1800" dirty="0"/>
              <a:t>磁道</a:t>
            </a:r>
            <a:r>
              <a:rPr lang="zh-CN" altLang="en-US" sz="1800" dirty="0"/>
              <a:t>不重叠，可随机写入</a:t>
            </a:r>
            <a:endParaRPr lang="en-US" altLang="zh-CN" sz="1800" dirty="0"/>
          </a:p>
          <a:p>
            <a:pPr lvl="1"/>
            <a:r>
              <a:rPr lang="zh-CN" altLang="en-US" sz="1800" dirty="0"/>
              <a:t>给固件（</a:t>
            </a:r>
            <a:r>
              <a:rPr lang="en-US" altLang="zh-CN" sz="1800" dirty="0"/>
              <a:t>STL</a:t>
            </a:r>
            <a:r>
              <a:rPr lang="zh-CN" altLang="en-US" sz="1800" dirty="0"/>
              <a:t>）单独使用，外部不可见</a:t>
            </a:r>
            <a:endParaRPr lang="en-US" altLang="zh-CN" dirty="0"/>
          </a:p>
          <a:p>
            <a:r>
              <a:rPr lang="zh-CN" altLang="en-CN" b="0" dirty="0"/>
              <a:t>动态</a:t>
            </a:r>
            <a:r>
              <a:rPr lang="zh-CN" altLang="en-US" b="0" dirty="0"/>
              <a:t>映射：</a:t>
            </a:r>
            <a:r>
              <a:rPr lang="en-US" altLang="zh-CN" b="0" dirty="0"/>
              <a:t>Shingle Translation Layer (</a:t>
            </a:r>
            <a:r>
              <a:rPr lang="en-CN" altLang="zh-CN" b="0" dirty="0"/>
              <a:t>STL</a:t>
            </a:r>
            <a:r>
              <a:rPr lang="en-US" altLang="zh-CN" b="0" dirty="0"/>
              <a:t>)</a:t>
            </a:r>
            <a:endParaRPr lang="en-CN" altLang="zh-CN" b="0" dirty="0"/>
          </a:p>
          <a:p>
            <a:pPr lvl="1"/>
            <a:r>
              <a:rPr lang="zh-CN" altLang="en-US" dirty="0"/>
              <a:t>从外部（逻辑）地址到内部（物理）地址的映射</a:t>
            </a:r>
            <a:endParaRPr lang="en-US" altLang="zh-CN" dirty="0"/>
          </a:p>
          <a:p>
            <a:pPr lvl="1"/>
            <a:endParaRPr lang="en-US" altLang="zh-CN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971AAA-3D67-5849-B215-2D9A1FE55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18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4CA80D-3D7E-D742-A90D-347EB4FB81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A034DAC-B772-0045-8BEA-312B97164E2C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65514" y="3851692"/>
            <a:ext cx="6660232" cy="144527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A22BBC0A-DDD3-FB43-B91A-B43330A34FFE}"/>
              </a:ext>
            </a:extLst>
          </p:cNvPr>
          <p:cNvSpPr/>
          <p:nvPr/>
        </p:nvSpPr>
        <p:spPr>
          <a:xfrm>
            <a:off x="1546404" y="4205907"/>
            <a:ext cx="144142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b="1" dirty="0"/>
              <a:t>大容量持久缓存</a:t>
            </a:r>
            <a:endParaRPr lang="en-US" altLang="zh-CN" sz="1400" b="1" dirty="0"/>
          </a:p>
        </p:txBody>
      </p:sp>
    </p:spTree>
    <p:extLst>
      <p:ext uri="{BB962C8B-B14F-4D97-AF65-F5344CB8AC3E}">
        <p14:creationId xmlns:p14="http://schemas.microsoft.com/office/powerpoint/2010/main" val="12847777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760DD-6523-4C4C-9B94-36A3BA2C4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CN" dirty="0"/>
              <a:t>方法</a:t>
            </a:r>
            <a:r>
              <a:rPr lang="zh-CN" altLang="en-US" dirty="0"/>
              <a:t>二：缓存</a:t>
            </a:r>
            <a:r>
              <a:rPr lang="en-US" altLang="zh-CN" dirty="0"/>
              <a:t>+</a:t>
            </a:r>
            <a:r>
              <a:rPr lang="zh-CN" altLang="en-US" dirty="0"/>
              <a:t>动态映射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82558-EE86-A048-8C7F-6AAB4FB4EB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b="0" dirty="0"/>
              <a:t>修改</a:t>
            </a:r>
            <a:r>
              <a:rPr lang="en-CN" altLang="zh-CN" b="0" dirty="0"/>
              <a:t>Band</a:t>
            </a:r>
            <a:r>
              <a:rPr lang="zh-CN" altLang="en-US" b="0" dirty="0"/>
              <a:t> </a:t>
            </a:r>
            <a:r>
              <a:rPr lang="en-US" altLang="zh-CN" b="0" dirty="0"/>
              <a:t>X</a:t>
            </a:r>
            <a:r>
              <a:rPr lang="zh-CN" altLang="en-CN" b="0" dirty="0"/>
              <a:t>中</a:t>
            </a:r>
            <a:r>
              <a:rPr lang="zh-CN" altLang="en-US" b="0" dirty="0"/>
              <a:t>的</a:t>
            </a:r>
            <a:r>
              <a:rPr lang="en-US" altLang="zh-CN" b="0" dirty="0"/>
              <a:t>4KB</a:t>
            </a:r>
            <a:r>
              <a:rPr lang="zh-CN" altLang="en-US" b="0" dirty="0"/>
              <a:t>数据</a:t>
            </a:r>
            <a:endParaRPr lang="en-US" altLang="zh-CN" b="0" dirty="0"/>
          </a:p>
          <a:p>
            <a:pPr marL="800100" lvl="1" indent="-342900">
              <a:buFont typeface="+mj-lt"/>
              <a:buAutoNum type="arabicPeriod"/>
            </a:pPr>
            <a:r>
              <a:rPr lang="zh-CN" altLang="en-US" sz="1800" dirty="0"/>
              <a:t>将修改写入缓存，标记</a:t>
            </a:r>
            <a:r>
              <a:rPr lang="en-US" altLang="zh-CN" sz="1800" dirty="0"/>
              <a:t>Band</a:t>
            </a:r>
            <a:r>
              <a:rPr lang="zh-CN" altLang="en-US" sz="1800" dirty="0"/>
              <a:t> </a:t>
            </a:r>
            <a:r>
              <a:rPr lang="en-US" altLang="zh-CN" sz="1800" dirty="0"/>
              <a:t>X</a:t>
            </a:r>
            <a:r>
              <a:rPr lang="zh-CN" altLang="en-US" sz="1800" dirty="0"/>
              <a:t>为</a:t>
            </a:r>
            <a:r>
              <a:rPr lang="en-US" altLang="zh-CN" sz="1800" dirty="0"/>
              <a:t>dirty</a:t>
            </a:r>
          </a:p>
          <a:p>
            <a:pPr marL="800100" lvl="1" indent="-342900">
              <a:buFont typeface="+mj-lt"/>
              <a:buAutoNum type="arabicPeriod"/>
            </a:pPr>
            <a:r>
              <a:rPr lang="zh-CN" altLang="en-US" sz="1800" dirty="0"/>
              <a:t>修改</a:t>
            </a:r>
            <a:r>
              <a:rPr lang="en-US" altLang="zh-CN" sz="1800" dirty="0"/>
              <a:t>STL</a:t>
            </a:r>
            <a:r>
              <a:rPr lang="zh-CN" altLang="en-US" sz="1800" dirty="0"/>
              <a:t>映射（让</a:t>
            </a:r>
            <a:r>
              <a:rPr lang="zh-CN" altLang="en-CN" sz="1800" dirty="0"/>
              <a:t>原位置</a:t>
            </a:r>
            <a:r>
              <a:rPr lang="zh-CN" altLang="en-US" sz="1800" dirty="0"/>
              <a:t>指向持久化缓存）</a:t>
            </a:r>
            <a:endParaRPr lang="en-US" altLang="zh-CN" sz="1800" dirty="0"/>
          </a:p>
          <a:p>
            <a:pPr marL="800100" lvl="1" indent="-342900">
              <a:buFont typeface="+mj-lt"/>
              <a:buAutoNum type="arabicPeriod"/>
            </a:pPr>
            <a:r>
              <a:rPr lang="zh-CN" altLang="en-US" sz="1800" dirty="0"/>
              <a:t>空闲时，根据缓存内容，清理 </a:t>
            </a:r>
            <a:r>
              <a:rPr lang="en-US" altLang="zh-CN" sz="1800" dirty="0"/>
              <a:t>dirty</a:t>
            </a:r>
            <a:r>
              <a:rPr lang="zh-CN" altLang="en-US" sz="1800" dirty="0"/>
              <a:t> </a:t>
            </a:r>
            <a:r>
              <a:rPr lang="en-US" altLang="zh-CN" sz="1800" dirty="0"/>
              <a:t>Band</a:t>
            </a:r>
          </a:p>
          <a:p>
            <a:r>
              <a:rPr lang="en-US" altLang="zh-CN" b="0" dirty="0"/>
              <a:t>4KB</a:t>
            </a:r>
            <a:r>
              <a:rPr lang="zh-CN" altLang="en-US" b="0" dirty="0"/>
              <a:t>随机写 → 修改</a:t>
            </a:r>
            <a:r>
              <a:rPr lang="en-US" altLang="zh-CN" b="0" dirty="0"/>
              <a:t>4KB</a:t>
            </a:r>
            <a:r>
              <a:rPr lang="zh-CN" altLang="en-US" b="0" dirty="0"/>
              <a:t>缓存</a:t>
            </a:r>
            <a:endParaRPr lang="en-US" altLang="zh-CN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971AAA-3D67-5849-B215-2D9A1FE55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19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4CA80D-3D7E-D742-A90D-347EB4FB81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A211753-9744-0F4D-B63D-344F82E797D3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65514" y="3851692"/>
            <a:ext cx="6660232" cy="1445270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41CDF6EC-2DE4-3547-A650-7F6F7B4AE7E7}"/>
              </a:ext>
            </a:extLst>
          </p:cNvPr>
          <p:cNvSpPr/>
          <p:nvPr/>
        </p:nvSpPr>
        <p:spPr>
          <a:xfrm>
            <a:off x="1546404" y="4205907"/>
            <a:ext cx="144142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b="1" dirty="0"/>
              <a:t>大容量持久缓存</a:t>
            </a:r>
            <a:endParaRPr lang="en-US" altLang="zh-CN" sz="1400" b="1" dirty="0"/>
          </a:p>
        </p:txBody>
      </p:sp>
    </p:spTree>
    <p:extLst>
      <p:ext uri="{BB962C8B-B14F-4D97-AF65-F5344CB8AC3E}">
        <p14:creationId xmlns:p14="http://schemas.microsoft.com/office/powerpoint/2010/main" val="3550939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C208FD-8DB0-8E4E-8217-2E5A91360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瓦式</a:t>
            </a:r>
            <a:r>
              <a:rPr lang="zh-CN" altLang="en-CN" dirty="0"/>
              <a:t>磁盘</a:t>
            </a:r>
            <a:r>
              <a:rPr lang="zh-CN" altLang="en-US" dirty="0"/>
              <a:t>种类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2E35B6-BDE3-4F4B-B25E-0B95DD41D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20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A4AA5-0A9C-DE4A-B267-D90C44E6E4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67FC719-6D11-7147-87CA-04F348E3BB11}"/>
              </a:ext>
            </a:extLst>
          </p:cNvPr>
          <p:cNvGraphicFramePr>
            <a:graphicFrameLocks noGrp="1"/>
          </p:cNvGraphicFramePr>
          <p:nvPr/>
        </p:nvGraphicFramePr>
        <p:xfrm>
          <a:off x="610579" y="1711960"/>
          <a:ext cx="7848873" cy="2291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7958">
                  <a:extLst>
                    <a:ext uri="{9D8B030D-6E8A-4147-A177-3AD203B41FA5}">
                      <a16:colId xmlns:a16="http://schemas.microsoft.com/office/drawing/2014/main" val="1479768344"/>
                    </a:ext>
                  </a:extLst>
                </a:gridCol>
                <a:gridCol w="1897349">
                  <a:extLst>
                    <a:ext uri="{9D8B030D-6E8A-4147-A177-3AD203B41FA5}">
                      <a16:colId xmlns:a16="http://schemas.microsoft.com/office/drawing/2014/main" val="391583000"/>
                    </a:ext>
                  </a:extLst>
                </a:gridCol>
                <a:gridCol w="3453566">
                  <a:extLst>
                    <a:ext uri="{9D8B030D-6E8A-4147-A177-3AD203B41FA5}">
                      <a16:colId xmlns:a16="http://schemas.microsoft.com/office/drawing/2014/main" val="42411194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N" sz="1800" dirty="0"/>
                        <a:t>SMR</a:t>
                      </a:r>
                      <a:r>
                        <a:rPr lang="zh-CN" altLang="en-US" sz="1800" dirty="0"/>
                        <a:t>磁盘种类</a:t>
                      </a:r>
                      <a:endParaRPr lang="en-C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接口</a:t>
                      </a:r>
                      <a:endParaRPr lang="en-C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CN" sz="1800" dirty="0"/>
                        <a:t>随机写</a:t>
                      </a:r>
                      <a:r>
                        <a:rPr lang="zh-CN" altLang="en-US" sz="1800" dirty="0"/>
                        <a:t>处理方法</a:t>
                      </a:r>
                      <a:endParaRPr lang="en-CN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38095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N" sz="1800" dirty="0"/>
                        <a:t>Drive</a:t>
                      </a:r>
                      <a:r>
                        <a:rPr lang="en-US" altLang="zh-CN" sz="1800" dirty="0"/>
                        <a:t>-managed</a:t>
                      </a:r>
                      <a:r>
                        <a:rPr lang="zh-CN" altLang="en-US" sz="1800" dirty="0"/>
                        <a:t> </a:t>
                      </a:r>
                      <a:r>
                        <a:rPr lang="en-US" altLang="zh-CN" sz="1800" dirty="0"/>
                        <a:t>SMR</a:t>
                      </a:r>
                    </a:p>
                    <a:p>
                      <a:pPr algn="ctr"/>
                      <a:r>
                        <a:rPr lang="en-US" altLang="zh-CN" sz="1800" dirty="0"/>
                        <a:t>(DM-SMR)</a:t>
                      </a:r>
                      <a:endParaRPr lang="en-C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CN" sz="1800" dirty="0"/>
                        <a:t>普通</a:t>
                      </a:r>
                      <a:r>
                        <a:rPr lang="zh-CN" altLang="en-US" sz="1800" dirty="0"/>
                        <a:t>块设备接口</a:t>
                      </a:r>
                      <a:endParaRPr lang="en-US" altLang="zh-C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固件进行缓存和清理</a:t>
                      </a:r>
                      <a:endParaRPr lang="en-CN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97463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Host-aware</a:t>
                      </a:r>
                      <a:r>
                        <a:rPr lang="zh-CN" altLang="en-US" sz="1800" dirty="0"/>
                        <a:t> </a:t>
                      </a:r>
                      <a:r>
                        <a:rPr lang="en-US" altLang="zh-CN" sz="1800" dirty="0"/>
                        <a:t>SMR</a:t>
                      </a:r>
                    </a:p>
                    <a:p>
                      <a:pPr algn="ctr"/>
                      <a:r>
                        <a:rPr lang="en-US" altLang="zh-CN" sz="1800" dirty="0"/>
                        <a:t>(HA-SMR)</a:t>
                      </a:r>
                      <a:endParaRPr lang="en-C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CN" sz="1800" dirty="0"/>
                        <a:t>特殊</a:t>
                      </a:r>
                      <a:r>
                        <a:rPr lang="zh-CN" altLang="en-US" sz="1800" dirty="0"/>
                        <a:t>指令接口</a:t>
                      </a:r>
                      <a:endParaRPr lang="en-C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固件进行缓存和清理</a:t>
                      </a:r>
                      <a:endParaRPr lang="en-CN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7079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Host-managed</a:t>
                      </a:r>
                      <a:r>
                        <a:rPr lang="zh-CN" altLang="en-US" sz="1800" dirty="0"/>
                        <a:t> </a:t>
                      </a:r>
                      <a:r>
                        <a:rPr lang="en-US" altLang="zh-CN" sz="1800" dirty="0"/>
                        <a:t>SMR</a:t>
                      </a:r>
                    </a:p>
                    <a:p>
                      <a:pPr algn="ctr"/>
                      <a:r>
                        <a:rPr lang="en-US" altLang="zh-CN" sz="1800" dirty="0"/>
                        <a:t>(HM-SMR)</a:t>
                      </a:r>
                      <a:endParaRPr lang="en-C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CN" sz="1800" dirty="0"/>
                        <a:t>特殊</a:t>
                      </a:r>
                      <a:r>
                        <a:rPr lang="zh-CN" altLang="en-US" sz="1800" dirty="0"/>
                        <a:t>指令接口</a:t>
                      </a:r>
                      <a:endParaRPr lang="en-C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必须顺序写，随机写</a:t>
                      </a:r>
                      <a:r>
                        <a:rPr lang="zh-CN" altLang="en-CN" sz="1800" dirty="0"/>
                        <a:t>请求</a:t>
                      </a:r>
                      <a:r>
                        <a:rPr lang="zh-CN" altLang="en-US" sz="1800" dirty="0"/>
                        <a:t>被拒绝</a:t>
                      </a:r>
                      <a:endParaRPr lang="en-CN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6996347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416A4233-7C5A-714A-8AD9-E02908E0D469}"/>
              </a:ext>
            </a:extLst>
          </p:cNvPr>
          <p:cNvSpPr/>
          <p:nvPr/>
        </p:nvSpPr>
        <p:spPr>
          <a:xfrm>
            <a:off x="323528" y="2137420"/>
            <a:ext cx="8363272" cy="504056"/>
          </a:xfrm>
          <a:prstGeom prst="rect">
            <a:avLst/>
          </a:prstGeom>
          <a:noFill/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1565F0D-33EB-6148-AE9E-933598DF591D}"/>
              </a:ext>
            </a:extLst>
          </p:cNvPr>
          <p:cNvSpPr txBox="1"/>
          <p:nvPr/>
        </p:nvSpPr>
        <p:spPr>
          <a:xfrm>
            <a:off x="3275856" y="4499156"/>
            <a:ext cx="41088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无需修改软件，可直接替换传统磁盘！</a:t>
            </a:r>
            <a:endParaRPr lang="en-CN" dirty="0">
              <a:solidFill>
                <a:srgbClr val="C00000"/>
              </a:solidFill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23F6DC2-487E-854C-BB4D-B2590DD8F337}"/>
              </a:ext>
            </a:extLst>
          </p:cNvPr>
          <p:cNvCxnSpPr>
            <a:stCxn id="10" idx="0"/>
            <a:endCxn id="9" idx="2"/>
          </p:cNvCxnSpPr>
          <p:nvPr/>
        </p:nvCxnSpPr>
        <p:spPr>
          <a:xfrm flipH="1" flipV="1">
            <a:off x="4505164" y="2641476"/>
            <a:ext cx="825101" cy="18576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8871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AE7499-FC0E-D042-9A2B-1AD6C2802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DM-SMR</a:t>
            </a:r>
            <a:r>
              <a:rPr lang="zh-CN" altLang="en-US" dirty="0"/>
              <a:t>上使用</a:t>
            </a:r>
            <a:r>
              <a:rPr lang="en-US" altLang="zh-CN" dirty="0"/>
              <a:t>Ext4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58B947-93EF-6040-A5B1-AFFB48CA4C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0" dirty="0"/>
              <a:t>当随机写入时，</a:t>
            </a:r>
            <a:r>
              <a:rPr lang="en-US" altLang="zh-CN" b="0" dirty="0"/>
              <a:t>Ext4</a:t>
            </a:r>
            <a:r>
              <a:rPr lang="zh-CN" altLang="en-US" b="0" dirty="0"/>
              <a:t>吞吐量非常低！</a:t>
            </a:r>
            <a:endParaRPr lang="en-CN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E812DC-E44C-A64F-8E89-FA7D9AD27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21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91F0FA-3EBD-3C4B-8A2A-A8AD827588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F0BD7D5-4918-2A46-BC9A-E0373ABC1E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5694" y="2209428"/>
            <a:ext cx="4597400" cy="27432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5087529-F74D-A241-B2F5-54E0BE3F4309}"/>
              </a:ext>
            </a:extLst>
          </p:cNvPr>
          <p:cNvSpPr txBox="1"/>
          <p:nvPr/>
        </p:nvSpPr>
        <p:spPr>
          <a:xfrm>
            <a:off x="6516216" y="2822837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传统磁盘</a:t>
            </a:r>
            <a:endParaRPr lang="en-C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DB0519B-16EB-9B4D-A910-57EB2B2A4380}"/>
              </a:ext>
            </a:extLst>
          </p:cNvPr>
          <p:cNvSpPr txBox="1"/>
          <p:nvPr/>
        </p:nvSpPr>
        <p:spPr>
          <a:xfrm>
            <a:off x="6623094" y="3396362"/>
            <a:ext cx="1159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SMR</a:t>
            </a:r>
            <a:r>
              <a:rPr lang="zh-CN" altLang="en-US" dirty="0"/>
              <a:t>磁盘</a:t>
            </a:r>
            <a:endParaRPr lang="en-CN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BBB29A7-A4BB-E340-8DCB-0D1588723021}"/>
              </a:ext>
            </a:extLst>
          </p:cNvPr>
          <p:cNvCxnSpPr/>
          <p:nvPr/>
        </p:nvCxnSpPr>
        <p:spPr>
          <a:xfrm flipH="1">
            <a:off x="6084168" y="3109600"/>
            <a:ext cx="432048" cy="28676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A5C9703-AD09-5B46-B617-0D410AD7816D}"/>
              </a:ext>
            </a:extLst>
          </p:cNvPr>
          <p:cNvCxnSpPr>
            <a:cxnSpLocks/>
          </p:cNvCxnSpPr>
          <p:nvPr/>
        </p:nvCxnSpPr>
        <p:spPr>
          <a:xfrm flipH="1">
            <a:off x="6156176" y="3596998"/>
            <a:ext cx="503902" cy="36871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2C6920CA-4C7A-1847-9D25-59D0278B3F4E}"/>
              </a:ext>
            </a:extLst>
          </p:cNvPr>
          <p:cNvSpPr txBox="1"/>
          <p:nvPr/>
        </p:nvSpPr>
        <p:spPr>
          <a:xfrm>
            <a:off x="1525106" y="4983775"/>
            <a:ext cx="55451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思考一下：</a:t>
            </a:r>
            <a:r>
              <a:rPr lang="zh-CN" altLang="en-CN" dirty="0">
                <a:solidFill>
                  <a:srgbClr val="C00000"/>
                </a:solidFill>
              </a:rPr>
              <a:t>为何</a:t>
            </a:r>
            <a:r>
              <a:rPr lang="zh-CN" altLang="en-US" dirty="0">
                <a:solidFill>
                  <a:srgbClr val="C00000"/>
                </a:solidFill>
              </a:rPr>
              <a:t>这段时间内</a:t>
            </a:r>
            <a:r>
              <a:rPr lang="en-US" altLang="zh-CN" dirty="0">
                <a:solidFill>
                  <a:srgbClr val="C00000"/>
                </a:solidFill>
              </a:rPr>
              <a:t>SMR</a:t>
            </a:r>
            <a:r>
              <a:rPr lang="zh-CN" altLang="en-US" dirty="0">
                <a:solidFill>
                  <a:srgbClr val="C00000"/>
                </a:solidFill>
              </a:rPr>
              <a:t>磁盘上吞吐量很高？</a:t>
            </a:r>
            <a:endParaRPr lang="en-CN" dirty="0">
              <a:solidFill>
                <a:srgbClr val="C00000"/>
              </a:solidFill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A696615-43A9-0A42-B46E-131156C00EE7}"/>
              </a:ext>
            </a:extLst>
          </p:cNvPr>
          <p:cNvCxnSpPr>
            <a:cxnSpLocks/>
          </p:cNvCxnSpPr>
          <p:nvPr/>
        </p:nvCxnSpPr>
        <p:spPr>
          <a:xfrm flipV="1">
            <a:off x="3059833" y="4236752"/>
            <a:ext cx="360039" cy="77491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4367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5429E-F7CF-514F-B358-62F55749F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如何改进</a:t>
            </a:r>
            <a:r>
              <a:rPr lang="en-US" altLang="zh-CN" dirty="0"/>
              <a:t>Ext4</a:t>
            </a:r>
            <a:r>
              <a:rPr lang="zh-CN" altLang="en-US" dirty="0"/>
              <a:t>来适应瓦式磁盘呢？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54AF27-A98D-354F-81D4-FEF59DA464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13771"/>
            <a:ext cx="8579296" cy="3975977"/>
          </a:xfrm>
        </p:spPr>
        <p:txBody>
          <a:bodyPr>
            <a:normAutofit lnSpcReduction="10000"/>
          </a:bodyPr>
          <a:lstStyle/>
          <a:p>
            <a:r>
              <a:rPr lang="zh-CN" altLang="en-US" sz="2000" dirty="0"/>
              <a:t>以</a:t>
            </a:r>
            <a:r>
              <a:rPr lang="en-US" altLang="zh-CN" sz="2000" dirty="0"/>
              <a:t>DM-SMR</a:t>
            </a:r>
            <a:r>
              <a:rPr lang="zh-CN" altLang="en-US" sz="2000" dirty="0"/>
              <a:t>磁盘为目标</a:t>
            </a:r>
            <a:endParaRPr lang="en-US" altLang="zh-CN" sz="2000" dirty="0"/>
          </a:p>
          <a:p>
            <a:pPr lvl="1"/>
            <a:r>
              <a:rPr lang="en-US" altLang="zh-CN" sz="1800" b="0" dirty="0"/>
              <a:t>HM-SMR</a:t>
            </a:r>
            <a:r>
              <a:rPr lang="zh-CN" altLang="en-US" sz="1800" b="0" dirty="0"/>
              <a:t>和</a:t>
            </a:r>
            <a:r>
              <a:rPr lang="en-US" altLang="zh-CN" sz="1800" b="0" dirty="0"/>
              <a:t>HA-SMR</a:t>
            </a:r>
            <a:r>
              <a:rPr lang="zh-CN" altLang="en-US" sz="1800" b="0" dirty="0"/>
              <a:t>需要文件系统的设计新的文件系统</a:t>
            </a:r>
            <a:endParaRPr lang="en-US" altLang="zh-CN" sz="1800" b="0" dirty="0"/>
          </a:p>
          <a:p>
            <a:pPr lvl="1"/>
            <a:r>
              <a:rPr lang="zh-CN" altLang="en-US" sz="1800" b="0" dirty="0"/>
              <a:t>在成熟的</a:t>
            </a:r>
            <a:r>
              <a:rPr lang="en-US" altLang="zh-CN" sz="1800" b="0" dirty="0"/>
              <a:t>Ext4</a:t>
            </a:r>
            <a:r>
              <a:rPr lang="zh-CN" altLang="en-US" sz="1800" b="0" dirty="0"/>
              <a:t>上优化：消除元数据写回造成的随机写入</a:t>
            </a:r>
            <a:endParaRPr lang="en-US" sz="1800" b="0" dirty="0"/>
          </a:p>
          <a:p>
            <a:r>
              <a:rPr lang="zh-CN" altLang="en-US" sz="2000" dirty="0"/>
              <a:t>修改量小</a:t>
            </a:r>
            <a:endParaRPr lang="en-US" altLang="zh-CN" sz="2000" dirty="0"/>
          </a:p>
          <a:p>
            <a:pPr lvl="1"/>
            <a:r>
              <a:rPr lang="en-US" sz="1800" b="0" dirty="0"/>
              <a:t>Ext4 + journaling </a:t>
            </a:r>
            <a:r>
              <a:rPr lang="zh-CN" altLang="en-US" sz="1800" b="0" dirty="0"/>
              <a:t>代码</a:t>
            </a:r>
            <a:r>
              <a:rPr lang="en-US" sz="1800" b="0" dirty="0"/>
              <a:t> ~50,000 </a:t>
            </a:r>
            <a:r>
              <a:rPr lang="zh-CN" altLang="en-US" sz="1800" b="0" dirty="0"/>
              <a:t>行</a:t>
            </a:r>
            <a:endParaRPr lang="en-US" sz="1800" b="0" dirty="0"/>
          </a:p>
          <a:p>
            <a:pPr lvl="1"/>
            <a:r>
              <a:rPr lang="zh-CN" altLang="en-US" sz="1800" b="0" dirty="0"/>
              <a:t>仅仅修改</a:t>
            </a:r>
            <a:r>
              <a:rPr lang="en-US" sz="1800" b="0" dirty="0"/>
              <a:t> ~40 </a:t>
            </a:r>
            <a:r>
              <a:rPr lang="zh-CN" altLang="en-US" sz="1800" b="0" dirty="0"/>
              <a:t>行代码，新文件中添加</a:t>
            </a:r>
            <a:r>
              <a:rPr lang="en-US" sz="1800" b="0" dirty="0"/>
              <a:t> ~600 LOC </a:t>
            </a:r>
            <a:r>
              <a:rPr lang="zh-CN" altLang="en-US" sz="1800" b="0" dirty="0"/>
              <a:t>代码</a:t>
            </a:r>
            <a:endParaRPr lang="en-US" altLang="zh-CN" sz="1800" b="0" dirty="0"/>
          </a:p>
          <a:p>
            <a:r>
              <a:rPr lang="zh-CN" altLang="en-US" sz="2000" dirty="0"/>
              <a:t>效果显著</a:t>
            </a:r>
            <a:endParaRPr lang="en-US" altLang="zh-CN" sz="2000" dirty="0"/>
          </a:p>
          <a:p>
            <a:pPr lvl="1"/>
            <a:r>
              <a:rPr lang="zh-CN" altLang="en-US" sz="1800" b="0" dirty="0"/>
              <a:t>元数据修改较少时</a:t>
            </a:r>
            <a:r>
              <a:rPr lang="en-US" altLang="zh-CN" sz="1800" b="0" dirty="0"/>
              <a:t>(&lt;1%)</a:t>
            </a:r>
            <a:r>
              <a:rPr lang="zh-CN" altLang="en-US" sz="1800" b="0" dirty="0"/>
              <a:t>，在</a:t>
            </a:r>
            <a:r>
              <a:rPr lang="en-US" altLang="zh-CN" sz="1800" b="0" dirty="0"/>
              <a:t>SMR</a:t>
            </a:r>
            <a:r>
              <a:rPr lang="zh-CN" altLang="en-US" sz="1800" b="0" dirty="0"/>
              <a:t>磁盘上有</a:t>
            </a:r>
            <a:r>
              <a:rPr lang="en-US" altLang="zh-CN" sz="1800" b="0" dirty="0"/>
              <a:t>1.7-5.4</a:t>
            </a:r>
            <a:r>
              <a:rPr lang="zh-CN" altLang="en-US" sz="1800" b="0" dirty="0"/>
              <a:t>倍性能提升</a:t>
            </a:r>
            <a:endParaRPr lang="en-US" altLang="zh-CN" sz="1800" b="0" dirty="0"/>
          </a:p>
          <a:p>
            <a:pPr lvl="1"/>
            <a:r>
              <a:rPr lang="zh-CN" altLang="en-US" sz="1800" b="0" dirty="0"/>
              <a:t>有大量元数据修改时，在</a:t>
            </a:r>
            <a:r>
              <a:rPr lang="en-US" altLang="zh-CN" sz="1800" b="0" dirty="0"/>
              <a:t>SMR</a:t>
            </a:r>
            <a:r>
              <a:rPr lang="zh-CN" altLang="en-US" sz="1800" b="0" dirty="0"/>
              <a:t>和普通磁盘上，有</a:t>
            </a:r>
            <a:r>
              <a:rPr lang="en-US" altLang="zh-CN" sz="1800" b="0" dirty="0"/>
              <a:t>2-13</a:t>
            </a:r>
            <a:r>
              <a:rPr lang="zh-CN" altLang="en-US" sz="1800" b="0" dirty="0"/>
              <a:t>倍性能提升</a:t>
            </a:r>
            <a:endParaRPr lang="en-US" altLang="zh-CN" sz="1800" b="0" dirty="0"/>
          </a:p>
          <a:p>
            <a:pPr lvl="1"/>
            <a:r>
              <a:rPr lang="zh-CN" altLang="en-US" sz="1800" b="0" dirty="0"/>
              <a:t>特定场景下达到</a:t>
            </a:r>
            <a:r>
              <a:rPr lang="en-US" sz="1800" b="0" dirty="0"/>
              <a:t>40</a:t>
            </a:r>
            <a:r>
              <a:rPr lang="zh-CN" altLang="en-US" sz="1800" b="0" dirty="0"/>
              <a:t>倍性能提升</a:t>
            </a:r>
            <a:endParaRPr lang="en-US" altLang="zh-CN" sz="1800" b="0" dirty="0"/>
          </a:p>
          <a:p>
            <a:pPr marL="0" indent="0">
              <a:buNone/>
            </a:pPr>
            <a:endParaRPr lang="en-CN" sz="2000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C93CE2-9D13-8142-8181-A20AD2924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22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FE8A5C-E623-4E49-809D-F6C3A4BAE4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3B40B4-FD9A-004E-A40A-A6984EC4EB84}"/>
              </a:ext>
            </a:extLst>
          </p:cNvPr>
          <p:cNvSpPr txBox="1"/>
          <p:nvPr/>
        </p:nvSpPr>
        <p:spPr>
          <a:xfrm>
            <a:off x="28389" y="5161002"/>
            <a:ext cx="252825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/>
              <a:t>Aghayev</a:t>
            </a:r>
            <a:r>
              <a:rPr lang="en-US" sz="1000" dirty="0"/>
              <a:t>, </a:t>
            </a:r>
            <a:r>
              <a:rPr lang="en-US" sz="1000" dirty="0" err="1"/>
              <a:t>Abutalib</a:t>
            </a:r>
            <a:r>
              <a:rPr lang="en-US" sz="1000" dirty="0"/>
              <a:t>, Theodore </a:t>
            </a:r>
            <a:r>
              <a:rPr lang="en-US" sz="1000" dirty="0" err="1"/>
              <a:t>Ts’o</a:t>
            </a:r>
            <a:r>
              <a:rPr lang="en-US" sz="1000" dirty="0"/>
              <a:t>, Garth </a:t>
            </a:r>
            <a:br>
              <a:rPr lang="en-US" sz="1000" dirty="0"/>
            </a:br>
            <a:r>
              <a:rPr lang="en-US" sz="1000" dirty="0"/>
              <a:t>Gibson, and Peter </a:t>
            </a:r>
            <a:r>
              <a:rPr lang="en-US" sz="1000" dirty="0" err="1"/>
              <a:t>Desnoyers</a:t>
            </a:r>
            <a:r>
              <a:rPr lang="en-US" sz="1000" dirty="0"/>
              <a:t>. </a:t>
            </a:r>
            <a:r>
              <a:rPr lang="en-US" sz="1000" i="1" dirty="0"/>
              <a:t>Evolving </a:t>
            </a:r>
            <a:br>
              <a:rPr lang="en-US" sz="1000" i="1" dirty="0"/>
            </a:br>
            <a:r>
              <a:rPr lang="en-US" sz="1000" i="1" dirty="0"/>
              <a:t>ext4 for shingled disks.</a:t>
            </a:r>
            <a:r>
              <a:rPr lang="en-US" sz="1000" dirty="0"/>
              <a:t> In</a:t>
            </a:r>
            <a:r>
              <a:rPr lang="en-US" sz="1000" i="1" dirty="0"/>
              <a:t> FAST ’17</a:t>
            </a:r>
            <a:r>
              <a:rPr lang="en-US" sz="1000" dirty="0"/>
              <a:t>.</a:t>
            </a:r>
            <a:endParaRPr lang="en-CN" sz="1000" dirty="0"/>
          </a:p>
        </p:txBody>
      </p:sp>
    </p:spTree>
    <p:extLst>
      <p:ext uri="{BB962C8B-B14F-4D97-AF65-F5344CB8AC3E}">
        <p14:creationId xmlns:p14="http://schemas.microsoft.com/office/powerpoint/2010/main" val="15871692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03E5E-D8A7-BB44-89A4-612F0EAA1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观察：持久</a:t>
            </a:r>
            <a:r>
              <a:rPr lang="zh-CN" altLang="en-CN" dirty="0"/>
              <a:t>缓存</a:t>
            </a:r>
            <a:r>
              <a:rPr lang="zh-CN" altLang="en-US" dirty="0"/>
              <a:t>对吞吐量的影响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6C9A42-4A13-2340-8FCD-502CF1690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0A64C2-6B70-9A4B-AA1E-DAA5EA0E18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3DE462F-967E-0648-AEBE-0F0461C5B607}"/>
              </a:ext>
            </a:extLst>
          </p:cNvPr>
          <p:cNvSpPr txBox="1"/>
          <p:nvPr/>
        </p:nvSpPr>
        <p:spPr>
          <a:xfrm>
            <a:off x="1068404" y="2848789"/>
            <a:ext cx="535915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CN" sz="1600" dirty="0"/>
              <a:t>若</a:t>
            </a:r>
            <a:r>
              <a:rPr lang="zh-CN" altLang="en-US" sz="1600" dirty="0"/>
              <a:t>持久化缓存中的写比较分散，清理时需要清理大量</a:t>
            </a:r>
            <a:r>
              <a:rPr lang="en-US" altLang="zh-CN" sz="1600" dirty="0"/>
              <a:t>Band</a:t>
            </a:r>
          </a:p>
          <a:p>
            <a:r>
              <a:rPr lang="zh-CN" altLang="en-US" sz="1600" dirty="0"/>
              <a:t>假设清理</a:t>
            </a:r>
            <a:r>
              <a:rPr lang="en-US" altLang="zh-CN" sz="1600" dirty="0"/>
              <a:t>1</a:t>
            </a:r>
            <a:r>
              <a:rPr lang="zh-CN" altLang="en-US" sz="1600" dirty="0"/>
              <a:t>个</a:t>
            </a:r>
            <a:r>
              <a:rPr lang="en-US" altLang="zh-CN" sz="1600" dirty="0"/>
              <a:t>Band</a:t>
            </a:r>
            <a:r>
              <a:rPr lang="zh-CN" altLang="en-US" sz="1600" dirty="0"/>
              <a:t>需要</a:t>
            </a:r>
            <a:r>
              <a:rPr lang="en-US" altLang="zh-CN" sz="1600" dirty="0"/>
              <a:t>1</a:t>
            </a:r>
            <a:r>
              <a:rPr lang="zh-CN" altLang="en-US" sz="1600" dirty="0"/>
              <a:t>秒，吞吐量为</a:t>
            </a:r>
            <a:r>
              <a:rPr lang="en-US" altLang="zh-CN" sz="1600" dirty="0"/>
              <a:t>1</a:t>
            </a:r>
            <a:r>
              <a:rPr lang="zh-CN" altLang="en-US" sz="1600" dirty="0"/>
              <a:t>个随机写</a:t>
            </a:r>
            <a:r>
              <a:rPr lang="en-US" altLang="zh-CN" sz="1600" dirty="0"/>
              <a:t>/</a:t>
            </a:r>
            <a:r>
              <a:rPr lang="zh-CN" altLang="en-US" sz="1600" dirty="0"/>
              <a:t>秒</a:t>
            </a:r>
            <a:endParaRPr lang="en-US" altLang="zh-CN" sz="1600" dirty="0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98844E12-E209-9844-9FDD-C1DC59B92918}"/>
              </a:ext>
            </a:extLst>
          </p:cNvPr>
          <p:cNvGrpSpPr/>
          <p:nvPr/>
        </p:nvGrpSpPr>
        <p:grpSpPr>
          <a:xfrm>
            <a:off x="1187625" y="1129308"/>
            <a:ext cx="7097739" cy="3024336"/>
            <a:chOff x="1187624" y="1129308"/>
            <a:chExt cx="7543922" cy="3214454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78D606E-966A-BB42-81FC-F8C949C4901B}"/>
                </a:ext>
              </a:extLst>
            </p:cNvPr>
            <p:cNvSpPr/>
            <p:nvPr/>
          </p:nvSpPr>
          <p:spPr>
            <a:xfrm>
              <a:off x="1187624" y="1590751"/>
              <a:ext cx="1623854" cy="42984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600"/>
            </a:p>
          </p:txBody>
        </p:sp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4128C3DB-3AA0-9D40-B489-E33F8DD31A57}"/>
                </a:ext>
              </a:extLst>
            </p:cNvPr>
            <p:cNvSpPr/>
            <p:nvPr/>
          </p:nvSpPr>
          <p:spPr>
            <a:xfrm>
              <a:off x="1330905" y="1648990"/>
              <a:ext cx="313364" cy="313364"/>
            </a:xfrm>
            <a:prstGeom prst="round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600"/>
            </a:p>
          </p:txBody>
        </p:sp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A8BBA227-F109-1A41-8C86-3A85C18485E3}"/>
                </a:ext>
              </a:extLst>
            </p:cNvPr>
            <p:cNvSpPr/>
            <p:nvPr/>
          </p:nvSpPr>
          <p:spPr>
            <a:xfrm>
              <a:off x="1832823" y="1648990"/>
              <a:ext cx="313364" cy="313364"/>
            </a:xfrm>
            <a:prstGeom prst="round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600"/>
            </a:p>
          </p:txBody>
        </p:sp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D57C2C83-51B5-8A47-AF88-1C86517819E6}"/>
                </a:ext>
              </a:extLst>
            </p:cNvPr>
            <p:cNvSpPr/>
            <p:nvPr/>
          </p:nvSpPr>
          <p:spPr>
            <a:xfrm>
              <a:off x="2334742" y="1648990"/>
              <a:ext cx="313364" cy="313364"/>
            </a:xfrm>
            <a:prstGeom prst="roundRect">
              <a:avLst/>
            </a:prstGeom>
            <a:solidFill>
              <a:srgbClr val="FF93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60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3922E4FE-C088-C646-BD61-6942DA039496}"/>
                </a:ext>
              </a:extLst>
            </p:cNvPr>
            <p:cNvSpPr/>
            <p:nvPr/>
          </p:nvSpPr>
          <p:spPr>
            <a:xfrm>
              <a:off x="4739804" y="1139866"/>
              <a:ext cx="2595161" cy="42984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60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D6EB2918-0958-6647-80EC-CBB61A1D84A3}"/>
                </a:ext>
              </a:extLst>
            </p:cNvPr>
            <p:cNvSpPr/>
            <p:nvPr/>
          </p:nvSpPr>
          <p:spPr>
            <a:xfrm>
              <a:off x="4739803" y="1726393"/>
              <a:ext cx="2595161" cy="42984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60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28E275AC-69AE-F04E-84A6-5D639ECC3128}"/>
                </a:ext>
              </a:extLst>
            </p:cNvPr>
            <p:cNvSpPr/>
            <p:nvPr/>
          </p:nvSpPr>
          <p:spPr>
            <a:xfrm>
              <a:off x="4746037" y="2354499"/>
              <a:ext cx="2595161" cy="42984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600"/>
            </a:p>
          </p:txBody>
        </p:sp>
        <p:sp>
          <p:nvSpPr>
            <p:cNvPr id="19" name="Rounded Rectangle 18">
              <a:extLst>
                <a:ext uri="{FF2B5EF4-FFF2-40B4-BE49-F238E27FC236}">
                  <a16:creationId xmlns:a16="http://schemas.microsoft.com/office/drawing/2014/main" id="{D2B8811B-4801-6842-88F0-CF91D24AB678}"/>
                </a:ext>
              </a:extLst>
            </p:cNvPr>
            <p:cNvSpPr/>
            <p:nvPr/>
          </p:nvSpPr>
          <p:spPr>
            <a:xfrm>
              <a:off x="5580112" y="1198795"/>
              <a:ext cx="313364" cy="313364"/>
            </a:xfrm>
            <a:prstGeom prst="round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600"/>
            </a:p>
          </p:txBody>
        </p:sp>
        <p:sp>
          <p:nvSpPr>
            <p:cNvPr id="20" name="Rounded Rectangle 19">
              <a:extLst>
                <a:ext uri="{FF2B5EF4-FFF2-40B4-BE49-F238E27FC236}">
                  <a16:creationId xmlns:a16="http://schemas.microsoft.com/office/drawing/2014/main" id="{63EC5C8A-E3D5-6642-B769-1F22F4F2ACB3}"/>
                </a:ext>
              </a:extLst>
            </p:cNvPr>
            <p:cNvSpPr/>
            <p:nvPr/>
          </p:nvSpPr>
          <p:spPr>
            <a:xfrm>
              <a:off x="5251765" y="1779955"/>
              <a:ext cx="313364" cy="313364"/>
            </a:xfrm>
            <a:prstGeom prst="round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600"/>
            </a:p>
          </p:txBody>
        </p:sp>
        <p:sp>
          <p:nvSpPr>
            <p:cNvPr id="21" name="Rounded Rectangle 20">
              <a:extLst>
                <a:ext uri="{FF2B5EF4-FFF2-40B4-BE49-F238E27FC236}">
                  <a16:creationId xmlns:a16="http://schemas.microsoft.com/office/drawing/2014/main" id="{5D6D8800-8682-5843-9A52-6F060E1A8EB4}"/>
                </a:ext>
              </a:extLst>
            </p:cNvPr>
            <p:cNvSpPr/>
            <p:nvPr/>
          </p:nvSpPr>
          <p:spPr>
            <a:xfrm>
              <a:off x="6396518" y="2412739"/>
              <a:ext cx="313364" cy="313364"/>
            </a:xfrm>
            <a:prstGeom prst="roundRect">
              <a:avLst/>
            </a:prstGeom>
            <a:solidFill>
              <a:srgbClr val="FF93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60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B3F3444F-7B54-0745-8EA6-AB5CDD2890F6}"/>
                </a:ext>
              </a:extLst>
            </p:cNvPr>
            <p:cNvSpPr txBox="1"/>
            <p:nvPr/>
          </p:nvSpPr>
          <p:spPr>
            <a:xfrm>
              <a:off x="3541261" y="1138816"/>
              <a:ext cx="9541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N" sz="1600" dirty="0"/>
                <a:t>Band</a:t>
              </a:r>
              <a:r>
                <a:rPr lang="zh-CN" altLang="en-US" sz="1600" dirty="0"/>
                <a:t> </a:t>
              </a:r>
              <a:r>
                <a:rPr lang="en-US" altLang="zh-CN" sz="1600" dirty="0"/>
                <a:t>N</a:t>
              </a:r>
              <a:endParaRPr lang="en-CN" sz="1600" dirty="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64ACDC97-5DF6-224E-AF6D-3186CE3B4209}"/>
                </a:ext>
              </a:extLst>
            </p:cNvPr>
            <p:cNvSpPr txBox="1"/>
            <p:nvPr/>
          </p:nvSpPr>
          <p:spPr>
            <a:xfrm>
              <a:off x="3541261" y="1729431"/>
              <a:ext cx="12170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N" sz="1600" dirty="0"/>
                <a:t>Band</a:t>
              </a:r>
              <a:r>
                <a:rPr lang="zh-CN" altLang="en-US" sz="1600" dirty="0"/>
                <a:t> </a:t>
              </a:r>
              <a:r>
                <a:rPr lang="en-US" altLang="zh-CN" sz="1600" dirty="0"/>
                <a:t>N+1</a:t>
              </a:r>
              <a:endParaRPr lang="en-CN" sz="1600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1562B86E-18BB-5949-98A4-D066C486A2ED}"/>
                </a:ext>
              </a:extLst>
            </p:cNvPr>
            <p:cNvSpPr txBox="1"/>
            <p:nvPr/>
          </p:nvSpPr>
          <p:spPr>
            <a:xfrm>
              <a:off x="3541261" y="2379797"/>
              <a:ext cx="12170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N" sz="1600" dirty="0"/>
                <a:t>Band</a:t>
              </a:r>
              <a:r>
                <a:rPr lang="zh-CN" altLang="en-US" sz="1600" dirty="0"/>
                <a:t> </a:t>
              </a:r>
              <a:r>
                <a:rPr lang="en-US" altLang="zh-CN" sz="1600" dirty="0"/>
                <a:t>N+2</a:t>
              </a:r>
              <a:endParaRPr lang="en-CN" sz="1600" dirty="0"/>
            </a:p>
          </p:txBody>
        </p:sp>
        <p:sp>
          <p:nvSpPr>
            <p:cNvPr id="25" name="Right Brace 24">
              <a:extLst>
                <a:ext uri="{FF2B5EF4-FFF2-40B4-BE49-F238E27FC236}">
                  <a16:creationId xmlns:a16="http://schemas.microsoft.com/office/drawing/2014/main" id="{527EB879-D767-054B-AC75-6DB8C6D21CAC}"/>
                </a:ext>
              </a:extLst>
            </p:cNvPr>
            <p:cNvSpPr/>
            <p:nvPr/>
          </p:nvSpPr>
          <p:spPr>
            <a:xfrm>
              <a:off x="7620000" y="1129308"/>
              <a:ext cx="264368" cy="1655035"/>
            </a:xfrm>
            <a:prstGeom prst="rightBrace">
              <a:avLst>
                <a:gd name="adj1" fmla="val 47862"/>
                <a:gd name="adj2" fmla="val 50000"/>
              </a:avLst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CN" sz="160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60CD6495-9537-DB4D-AE40-964024E199CC}"/>
                </a:ext>
              </a:extLst>
            </p:cNvPr>
            <p:cNvSpPr txBox="1"/>
            <p:nvPr/>
          </p:nvSpPr>
          <p:spPr>
            <a:xfrm>
              <a:off x="7944151" y="1751971"/>
              <a:ext cx="78739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dirty="0"/>
                <a:t>90MB</a:t>
              </a:r>
              <a:endParaRPr lang="en-CN" sz="1600" dirty="0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5168CE77-412F-354D-B62B-B2C9457B9613}"/>
                </a:ext>
              </a:extLst>
            </p:cNvPr>
            <p:cNvSpPr/>
            <p:nvPr/>
          </p:nvSpPr>
          <p:spPr>
            <a:xfrm>
              <a:off x="1199848" y="3913918"/>
              <a:ext cx="1623854" cy="42984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600"/>
            </a:p>
          </p:txBody>
        </p:sp>
        <p:sp>
          <p:nvSpPr>
            <p:cNvPr id="29" name="Rounded Rectangle 28">
              <a:extLst>
                <a:ext uri="{FF2B5EF4-FFF2-40B4-BE49-F238E27FC236}">
                  <a16:creationId xmlns:a16="http://schemas.microsoft.com/office/drawing/2014/main" id="{6EE52812-D91D-F245-91E4-DB2721F57682}"/>
                </a:ext>
              </a:extLst>
            </p:cNvPr>
            <p:cNvSpPr/>
            <p:nvPr/>
          </p:nvSpPr>
          <p:spPr>
            <a:xfrm>
              <a:off x="1343129" y="3972156"/>
              <a:ext cx="313364" cy="313364"/>
            </a:xfrm>
            <a:prstGeom prst="round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600"/>
            </a:p>
          </p:txBody>
        </p:sp>
        <p:sp>
          <p:nvSpPr>
            <p:cNvPr id="30" name="Rounded Rectangle 29">
              <a:extLst>
                <a:ext uri="{FF2B5EF4-FFF2-40B4-BE49-F238E27FC236}">
                  <a16:creationId xmlns:a16="http://schemas.microsoft.com/office/drawing/2014/main" id="{54399708-A453-4A4A-9F76-FE6125CB96CF}"/>
                </a:ext>
              </a:extLst>
            </p:cNvPr>
            <p:cNvSpPr/>
            <p:nvPr/>
          </p:nvSpPr>
          <p:spPr>
            <a:xfrm>
              <a:off x="1845047" y="3972156"/>
              <a:ext cx="313364" cy="313364"/>
            </a:xfrm>
            <a:prstGeom prst="round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600"/>
            </a:p>
          </p:txBody>
        </p:sp>
        <p:sp>
          <p:nvSpPr>
            <p:cNvPr id="31" name="Rounded Rectangle 30">
              <a:extLst>
                <a:ext uri="{FF2B5EF4-FFF2-40B4-BE49-F238E27FC236}">
                  <a16:creationId xmlns:a16="http://schemas.microsoft.com/office/drawing/2014/main" id="{03E7935F-7466-FD46-AFED-A750F4E1094F}"/>
                </a:ext>
              </a:extLst>
            </p:cNvPr>
            <p:cNvSpPr/>
            <p:nvPr/>
          </p:nvSpPr>
          <p:spPr>
            <a:xfrm>
              <a:off x="2346966" y="3972156"/>
              <a:ext cx="313364" cy="313364"/>
            </a:xfrm>
            <a:prstGeom prst="roundRect">
              <a:avLst/>
            </a:prstGeom>
            <a:solidFill>
              <a:srgbClr val="FF93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600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4FF28CB2-30C9-5F40-A35C-3433E3389A88}"/>
                </a:ext>
              </a:extLst>
            </p:cNvPr>
            <p:cNvSpPr/>
            <p:nvPr/>
          </p:nvSpPr>
          <p:spPr>
            <a:xfrm>
              <a:off x="4752027" y="3913918"/>
              <a:ext cx="2595161" cy="42984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600"/>
            </a:p>
          </p:txBody>
        </p:sp>
        <p:sp>
          <p:nvSpPr>
            <p:cNvPr id="35" name="Rounded Rectangle 34">
              <a:extLst>
                <a:ext uri="{FF2B5EF4-FFF2-40B4-BE49-F238E27FC236}">
                  <a16:creationId xmlns:a16="http://schemas.microsoft.com/office/drawing/2014/main" id="{14E719F8-4A8A-514E-A89D-C017D3499571}"/>
                </a:ext>
              </a:extLst>
            </p:cNvPr>
            <p:cNvSpPr/>
            <p:nvPr/>
          </p:nvSpPr>
          <p:spPr>
            <a:xfrm>
              <a:off x="5839515" y="3967480"/>
              <a:ext cx="313364" cy="313364"/>
            </a:xfrm>
            <a:prstGeom prst="round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600"/>
            </a:p>
          </p:txBody>
        </p:sp>
        <p:sp>
          <p:nvSpPr>
            <p:cNvPr id="36" name="Rounded Rectangle 35">
              <a:extLst>
                <a:ext uri="{FF2B5EF4-FFF2-40B4-BE49-F238E27FC236}">
                  <a16:creationId xmlns:a16="http://schemas.microsoft.com/office/drawing/2014/main" id="{EC84CCD1-9837-4742-9C78-EB4E0171F242}"/>
                </a:ext>
              </a:extLst>
            </p:cNvPr>
            <p:cNvSpPr/>
            <p:nvPr/>
          </p:nvSpPr>
          <p:spPr>
            <a:xfrm>
              <a:off x="5263989" y="3967480"/>
              <a:ext cx="313364" cy="313364"/>
            </a:xfrm>
            <a:prstGeom prst="round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600"/>
            </a:p>
          </p:txBody>
        </p:sp>
        <p:sp>
          <p:nvSpPr>
            <p:cNvPr id="37" name="Rounded Rectangle 36">
              <a:extLst>
                <a:ext uri="{FF2B5EF4-FFF2-40B4-BE49-F238E27FC236}">
                  <a16:creationId xmlns:a16="http://schemas.microsoft.com/office/drawing/2014/main" id="{70468F53-EFB4-4E4B-8594-E3A78DF67590}"/>
                </a:ext>
              </a:extLst>
            </p:cNvPr>
            <p:cNvSpPr/>
            <p:nvPr/>
          </p:nvSpPr>
          <p:spPr>
            <a:xfrm>
              <a:off x="6465015" y="3967480"/>
              <a:ext cx="313364" cy="313364"/>
            </a:xfrm>
            <a:prstGeom prst="roundRect">
              <a:avLst/>
            </a:prstGeom>
            <a:solidFill>
              <a:srgbClr val="FF93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600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1FAE4C92-981C-7E44-810E-16ECEE232438}"/>
                </a:ext>
              </a:extLst>
            </p:cNvPr>
            <p:cNvSpPr txBox="1"/>
            <p:nvPr/>
          </p:nvSpPr>
          <p:spPr>
            <a:xfrm>
              <a:off x="3553485" y="3916956"/>
              <a:ext cx="9541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N" sz="1600" dirty="0"/>
                <a:t>Band</a:t>
              </a:r>
              <a:r>
                <a:rPr lang="zh-CN" altLang="en-US" sz="1600" dirty="0"/>
                <a:t> </a:t>
              </a:r>
              <a:r>
                <a:rPr lang="en-US" altLang="zh-CN" sz="1600" dirty="0"/>
                <a:t>N</a:t>
              </a:r>
              <a:endParaRPr lang="en-CN" sz="1600" dirty="0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49CFE1D9-7220-3C48-A652-20DDBEFCB57A}"/>
                </a:ext>
              </a:extLst>
            </p:cNvPr>
            <p:cNvSpPr txBox="1"/>
            <p:nvPr/>
          </p:nvSpPr>
          <p:spPr>
            <a:xfrm>
              <a:off x="7550454" y="3939496"/>
              <a:ext cx="78739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dirty="0"/>
                <a:t>30MB</a:t>
              </a:r>
              <a:endParaRPr lang="en-CN" sz="1600" dirty="0"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AB87218F-E4A6-C64D-AFE9-DCC32F07031B}"/>
              </a:ext>
            </a:extLst>
          </p:cNvPr>
          <p:cNvSpPr txBox="1"/>
          <p:nvPr/>
        </p:nvSpPr>
        <p:spPr>
          <a:xfrm>
            <a:off x="1068404" y="4474955"/>
            <a:ext cx="70118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/>
              <a:t>若三个随机写在一个</a:t>
            </a:r>
            <a:r>
              <a:rPr lang="en-US" altLang="zh-CN" sz="1600" dirty="0"/>
              <a:t>Band</a:t>
            </a:r>
            <a:r>
              <a:rPr lang="zh-CN" altLang="en-US" sz="1600" dirty="0"/>
              <a:t>中，则只需清理一个</a:t>
            </a:r>
            <a:r>
              <a:rPr lang="en-US" altLang="zh-CN" sz="1600" dirty="0"/>
              <a:t>Band</a:t>
            </a:r>
            <a:r>
              <a:rPr lang="zh-CN" altLang="en-US" sz="1600" dirty="0"/>
              <a:t>；吞吐量为</a:t>
            </a:r>
            <a:r>
              <a:rPr lang="en-US" altLang="zh-CN" sz="1600" dirty="0"/>
              <a:t>3</a:t>
            </a:r>
            <a:r>
              <a:rPr lang="zh-CN" altLang="en-US" sz="1600" dirty="0"/>
              <a:t>个随机写</a:t>
            </a:r>
            <a:r>
              <a:rPr lang="en-US" altLang="zh-CN" sz="1600" dirty="0"/>
              <a:t>/</a:t>
            </a:r>
            <a:r>
              <a:rPr lang="zh-CN" altLang="en-US" sz="1600" dirty="0"/>
              <a:t>秒</a:t>
            </a:r>
            <a:endParaRPr lang="en-CN" sz="16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77BA3FA-052A-C040-9140-E953C1C66D3C}"/>
              </a:ext>
            </a:extLst>
          </p:cNvPr>
          <p:cNvSpPr txBox="1"/>
          <p:nvPr/>
        </p:nvSpPr>
        <p:spPr>
          <a:xfrm>
            <a:off x="1063740" y="4796179"/>
            <a:ext cx="54425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CN" sz="1600" dirty="0">
                <a:solidFill>
                  <a:srgbClr val="C00000"/>
                </a:solidFill>
              </a:rPr>
              <a:t>随机写</a:t>
            </a:r>
            <a:r>
              <a:rPr lang="zh-CN" altLang="en-US" sz="1600" dirty="0">
                <a:solidFill>
                  <a:srgbClr val="C00000"/>
                </a:solidFill>
              </a:rPr>
              <a:t>的跨度</a:t>
            </a:r>
            <a:r>
              <a:rPr lang="en-US" sz="1600" dirty="0">
                <a:solidFill>
                  <a:srgbClr val="C00000"/>
                </a:solidFill>
              </a:rPr>
              <a:t>→ </a:t>
            </a:r>
            <a:r>
              <a:rPr lang="zh-CN" altLang="en-US" sz="1600" dirty="0">
                <a:solidFill>
                  <a:srgbClr val="C00000"/>
                </a:solidFill>
              </a:rPr>
              <a:t>脏</a:t>
            </a:r>
            <a:r>
              <a:rPr lang="en-US" sz="1600" dirty="0">
                <a:solidFill>
                  <a:srgbClr val="C00000"/>
                </a:solidFill>
              </a:rPr>
              <a:t>band</a:t>
            </a:r>
            <a:r>
              <a:rPr lang="zh-CN" altLang="en-US" sz="1600" dirty="0">
                <a:solidFill>
                  <a:srgbClr val="C00000"/>
                </a:solidFill>
              </a:rPr>
              <a:t>数量</a:t>
            </a:r>
            <a:r>
              <a:rPr lang="en-US" sz="1600" dirty="0">
                <a:solidFill>
                  <a:srgbClr val="C00000"/>
                </a:solidFill>
              </a:rPr>
              <a:t> → </a:t>
            </a:r>
            <a:r>
              <a:rPr lang="zh-CN" altLang="en-US" sz="1600" dirty="0">
                <a:solidFill>
                  <a:srgbClr val="C00000"/>
                </a:solidFill>
              </a:rPr>
              <a:t>清理时的工作量</a:t>
            </a:r>
            <a:r>
              <a:rPr lang="en-US" sz="1600" dirty="0">
                <a:solidFill>
                  <a:srgbClr val="C00000"/>
                </a:solidFill>
              </a:rPr>
              <a:t> → </a:t>
            </a:r>
            <a:r>
              <a:rPr lang="zh-CN" altLang="en-US" sz="1600" dirty="0">
                <a:solidFill>
                  <a:srgbClr val="C00000"/>
                </a:solidFill>
              </a:rPr>
              <a:t>吞吐量</a:t>
            </a:r>
            <a:endParaRPr lang="en-CN" sz="16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70022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E60AFE6-50BD-DE4B-B13E-CDB1A1A60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回顾：</a:t>
            </a:r>
            <a:r>
              <a:rPr lang="en-US" altLang="zh-CN" dirty="0"/>
              <a:t>Ext2</a:t>
            </a:r>
            <a:r>
              <a:rPr lang="zh-CN" altLang="en-US" dirty="0"/>
              <a:t>文件系统的存储布局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0321DC-FF66-574C-B3CB-371226E6F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24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F555BA-49CC-3842-B9DA-E63F0D1AC1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DCF951C-DE8D-EC46-9153-C87CBA2295A7}"/>
              </a:ext>
            </a:extLst>
          </p:cNvPr>
          <p:cNvSpPr/>
          <p:nvPr/>
        </p:nvSpPr>
        <p:spPr>
          <a:xfrm>
            <a:off x="899790" y="3981416"/>
            <a:ext cx="575866" cy="5040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CN" sz="1400" dirty="0"/>
              <a:t>引导</a:t>
            </a:r>
            <a:endParaRPr lang="en-CN" sz="14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32DA3BC-30AE-5F48-BA21-9C7B4E849A3E}"/>
              </a:ext>
            </a:extLst>
          </p:cNvPr>
          <p:cNvSpPr/>
          <p:nvPr/>
        </p:nvSpPr>
        <p:spPr>
          <a:xfrm>
            <a:off x="1475656" y="3981416"/>
            <a:ext cx="2160240" cy="5040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CN" sz="1400" dirty="0"/>
              <a:t>块</a:t>
            </a:r>
            <a:r>
              <a:rPr lang="zh-CN" altLang="en-US" sz="1400" dirty="0"/>
              <a:t>组</a:t>
            </a:r>
            <a:endParaRPr lang="en-CN" sz="14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4ABEDC5-F220-4449-B6F6-6565149AB744}"/>
              </a:ext>
            </a:extLst>
          </p:cNvPr>
          <p:cNvSpPr/>
          <p:nvPr/>
        </p:nvSpPr>
        <p:spPr>
          <a:xfrm>
            <a:off x="3635896" y="3981416"/>
            <a:ext cx="2160240" cy="5040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块组</a:t>
            </a:r>
            <a:endParaRPr lang="en-CN" sz="14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D8B3C7-B3C9-0D46-A2B5-8318254EE8D0}"/>
              </a:ext>
            </a:extLst>
          </p:cNvPr>
          <p:cNvSpPr/>
          <p:nvPr/>
        </p:nvSpPr>
        <p:spPr>
          <a:xfrm>
            <a:off x="6660232" y="3981416"/>
            <a:ext cx="2160240" cy="5040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块组</a:t>
            </a:r>
            <a:endParaRPr lang="en-CN" sz="14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05CF96C-E7A9-FA4C-A873-4D6EEE0B3101}"/>
              </a:ext>
            </a:extLst>
          </p:cNvPr>
          <p:cNvSpPr/>
          <p:nvPr/>
        </p:nvSpPr>
        <p:spPr>
          <a:xfrm>
            <a:off x="755576" y="2929508"/>
            <a:ext cx="720080" cy="5040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超级块</a:t>
            </a:r>
            <a:endParaRPr lang="en-CN" sz="14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FEC3191-DC2C-AF40-861C-D4729E098BA9}"/>
              </a:ext>
            </a:extLst>
          </p:cNvPr>
          <p:cNvSpPr/>
          <p:nvPr/>
        </p:nvSpPr>
        <p:spPr>
          <a:xfrm>
            <a:off x="2195736" y="2929508"/>
            <a:ext cx="720080" cy="5040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块</a:t>
            </a:r>
            <a:endParaRPr lang="en-US" altLang="zh-CN" sz="1400" dirty="0"/>
          </a:p>
          <a:p>
            <a:pPr algn="ctr"/>
            <a:r>
              <a:rPr lang="en-US" altLang="zh-CN" sz="1400" dirty="0"/>
              <a:t>bitmap</a:t>
            </a:r>
            <a:endParaRPr lang="en-CN" sz="14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50E4962-A8D5-954C-872D-C4B1741E0F6F}"/>
              </a:ext>
            </a:extLst>
          </p:cNvPr>
          <p:cNvSpPr/>
          <p:nvPr/>
        </p:nvSpPr>
        <p:spPr>
          <a:xfrm>
            <a:off x="2915816" y="2929508"/>
            <a:ext cx="720080" cy="5040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 err="1"/>
              <a:t>i</a:t>
            </a:r>
            <a:r>
              <a:rPr lang="en-CN" altLang="zh-CN" sz="1400" dirty="0"/>
              <a:t>node</a:t>
            </a:r>
          </a:p>
          <a:p>
            <a:pPr algn="ctr"/>
            <a:r>
              <a:rPr lang="en-US" altLang="zh-CN" sz="1400" dirty="0"/>
              <a:t>bitmap</a:t>
            </a:r>
            <a:endParaRPr lang="en-CN" sz="14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876BA93-AB4A-B948-92C2-C7D809539D83}"/>
              </a:ext>
            </a:extLst>
          </p:cNvPr>
          <p:cNvSpPr/>
          <p:nvPr/>
        </p:nvSpPr>
        <p:spPr>
          <a:xfrm>
            <a:off x="3635896" y="2929508"/>
            <a:ext cx="720080" cy="5040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 err="1"/>
              <a:t>inode</a:t>
            </a:r>
            <a:r>
              <a:rPr lang="zh-CN" altLang="en-US" sz="1400" dirty="0"/>
              <a:t>表</a:t>
            </a:r>
            <a:endParaRPr lang="en-US" altLang="zh-CN" sz="14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DF2EAEF-0799-FB41-94A2-F6A7991399F1}"/>
              </a:ext>
            </a:extLst>
          </p:cNvPr>
          <p:cNvSpPr/>
          <p:nvPr/>
        </p:nvSpPr>
        <p:spPr>
          <a:xfrm>
            <a:off x="4355976" y="2929508"/>
            <a:ext cx="2088232" cy="5040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CN" sz="1400" dirty="0"/>
              <a:t>数据</a:t>
            </a:r>
            <a:r>
              <a:rPr lang="zh-CN" altLang="en-US" sz="1400" dirty="0"/>
              <a:t>块</a:t>
            </a:r>
            <a:endParaRPr lang="en-US" altLang="zh-CN" sz="1400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3C91C44-D778-EF4B-85B3-F299F876ED14}"/>
              </a:ext>
            </a:extLst>
          </p:cNvPr>
          <p:cNvCxnSpPr>
            <a:cxnSpLocks/>
          </p:cNvCxnSpPr>
          <p:nvPr/>
        </p:nvCxnSpPr>
        <p:spPr>
          <a:xfrm flipH="1" flipV="1">
            <a:off x="755576" y="3433564"/>
            <a:ext cx="720080" cy="5478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CEB9F50-4B21-C24B-9507-E48C11991B46}"/>
              </a:ext>
            </a:extLst>
          </p:cNvPr>
          <p:cNvCxnSpPr>
            <a:cxnSpLocks/>
          </p:cNvCxnSpPr>
          <p:nvPr/>
        </p:nvCxnSpPr>
        <p:spPr>
          <a:xfrm flipV="1">
            <a:off x="3635896" y="3433564"/>
            <a:ext cx="2808312" cy="5478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8E64BC9C-8AA9-A144-AC5A-8A1C2002AF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333501"/>
            <a:ext cx="8229600" cy="37716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2000" b="0" dirty="0"/>
              <a:t>将磁盘分为多个块组，每个块组中都有超级块，互为备份</a:t>
            </a:r>
            <a:endParaRPr lang="en-US" altLang="zh-CN" sz="2000" b="0" dirty="0"/>
          </a:p>
          <a:p>
            <a:pPr marL="0" indent="0">
              <a:buNone/>
            </a:pPr>
            <a:r>
              <a:rPr lang="zh-CN" altLang="en-US" sz="2000" b="0" dirty="0"/>
              <a:t>超级块（</a:t>
            </a:r>
            <a:r>
              <a:rPr lang="en-US" altLang="zh-CN" sz="2000" b="0" dirty="0"/>
              <a:t>Super</a:t>
            </a:r>
            <a:r>
              <a:rPr lang="zh-CN" altLang="en-US" sz="2000" b="0" dirty="0"/>
              <a:t> </a:t>
            </a:r>
            <a:r>
              <a:rPr lang="en-US" altLang="zh-CN" sz="2000" b="0" dirty="0"/>
              <a:t>Block</a:t>
            </a:r>
            <a:r>
              <a:rPr lang="zh-CN" altLang="en-US" sz="2000" b="0" dirty="0"/>
              <a:t>）记录了整个文件系统的元数据</a:t>
            </a:r>
            <a:endParaRPr lang="en-US" altLang="zh-CN" sz="2000" b="0" dirty="0"/>
          </a:p>
          <a:p>
            <a:pPr marL="0" indent="0">
              <a:buNone/>
            </a:pPr>
            <a:r>
              <a:rPr lang="zh-CN" altLang="en-US" sz="2000" b="0" dirty="0"/>
              <a:t>块组描述表记录了块组中各个区域的位置和大小</a:t>
            </a:r>
            <a:endParaRPr lang="en-CN" sz="2000" b="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C34E703-87AF-1346-83DB-4105AAC93376}"/>
              </a:ext>
            </a:extLst>
          </p:cNvPr>
          <p:cNvSpPr/>
          <p:nvPr/>
        </p:nvSpPr>
        <p:spPr>
          <a:xfrm>
            <a:off x="1475656" y="2929508"/>
            <a:ext cx="720080" cy="5040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块组描述表</a:t>
            </a:r>
            <a:endParaRPr lang="en-CN" sz="1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BEDA50C-2CA2-124A-A442-CF074B6CFF5F}"/>
              </a:ext>
            </a:extLst>
          </p:cNvPr>
          <p:cNvSpPr txBox="1"/>
          <p:nvPr/>
        </p:nvSpPr>
        <p:spPr>
          <a:xfrm>
            <a:off x="6012160" y="4025225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…</a:t>
            </a:r>
            <a:endParaRPr lang="en-CN" dirty="0"/>
          </a:p>
        </p:txBody>
      </p:sp>
      <p:sp>
        <p:nvSpPr>
          <p:cNvPr id="20" name="Right Brace 19">
            <a:extLst>
              <a:ext uri="{FF2B5EF4-FFF2-40B4-BE49-F238E27FC236}">
                <a16:creationId xmlns:a16="http://schemas.microsoft.com/office/drawing/2014/main" id="{88908AB4-84A6-044C-8C12-1039673127D8}"/>
              </a:ext>
            </a:extLst>
          </p:cNvPr>
          <p:cNvSpPr/>
          <p:nvPr/>
        </p:nvSpPr>
        <p:spPr>
          <a:xfrm rot="5400000">
            <a:off x="4704573" y="747074"/>
            <a:ext cx="311115" cy="7920682"/>
          </a:xfrm>
          <a:prstGeom prst="rightBrace">
            <a:avLst>
              <a:gd name="adj1" fmla="val 34720"/>
              <a:gd name="adj2" fmla="val 50000"/>
            </a:avLst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 sz="160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9D5043A-3C1D-6B43-B5E2-7951AD8C531E}"/>
              </a:ext>
            </a:extLst>
          </p:cNvPr>
          <p:cNvSpPr txBox="1"/>
          <p:nvPr/>
        </p:nvSpPr>
        <p:spPr>
          <a:xfrm>
            <a:off x="3491880" y="4894331"/>
            <a:ext cx="264687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/>
              <a:t>存储设备上的</a:t>
            </a:r>
            <a:r>
              <a:rPr lang="en-US" altLang="zh-CN" sz="1600" dirty="0"/>
              <a:t>Ext2</a:t>
            </a:r>
            <a:r>
              <a:rPr lang="zh-CN" altLang="en-US" sz="1600" dirty="0"/>
              <a:t>文件系统</a:t>
            </a:r>
            <a:endParaRPr lang="en-CN" sz="1600" dirty="0"/>
          </a:p>
        </p:txBody>
      </p:sp>
    </p:spTree>
    <p:extLst>
      <p:ext uri="{BB962C8B-B14F-4D97-AF65-F5344CB8AC3E}">
        <p14:creationId xmlns:p14="http://schemas.microsoft.com/office/powerpoint/2010/main" val="1677846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56FA6-A5ED-944C-A280-B9404A341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CN" dirty="0"/>
              <a:t>然而</a:t>
            </a:r>
            <a:r>
              <a:rPr lang="zh-CN" altLang="en-US" dirty="0"/>
              <a:t>：</a:t>
            </a:r>
            <a:r>
              <a:rPr lang="en-CN" dirty="0"/>
              <a:t>Ext4</a:t>
            </a:r>
            <a:r>
              <a:rPr lang="zh-CN" altLang="en-CN" dirty="0"/>
              <a:t>的</a:t>
            </a:r>
            <a:r>
              <a:rPr lang="zh-CN" altLang="en-US" dirty="0"/>
              <a:t>元数据非常分散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F16930-B54F-1C43-B68D-5AF52A171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25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7719B6-DFA0-604C-A618-CF591F0AE6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2686E80-CC67-9C48-9C40-A59335F14354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3133" y="3518377"/>
            <a:ext cx="7553185" cy="1787395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28F7287-C0CF-2D49-912C-CEEE763E77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229600" cy="3771636"/>
          </a:xfrm>
        </p:spPr>
        <p:txBody>
          <a:bodyPr>
            <a:normAutofit/>
          </a:bodyPr>
          <a:lstStyle/>
          <a:p>
            <a:r>
              <a:rPr lang="zh-CN" altLang="en-US" sz="1800" b="0" dirty="0"/>
              <a:t>类似</a:t>
            </a:r>
            <a:r>
              <a:rPr lang="en-US" altLang="zh-CN" sz="1800" b="0" dirty="0"/>
              <a:t>Ext2</a:t>
            </a:r>
            <a:r>
              <a:rPr lang="zh-CN" altLang="en-US" sz="1800" b="0" dirty="0"/>
              <a:t>，</a:t>
            </a:r>
            <a:r>
              <a:rPr lang="en-CN" altLang="zh-CN" sz="1800" b="0"/>
              <a:t>Ext4</a:t>
            </a:r>
            <a:r>
              <a:rPr lang="zh-CN" altLang="en-US" sz="1800" b="0" dirty="0"/>
              <a:t>同样</a:t>
            </a:r>
            <a:r>
              <a:rPr lang="zh-CN" altLang="en-CN" sz="1800" b="0" dirty="0"/>
              <a:t>使用</a:t>
            </a:r>
            <a:r>
              <a:rPr lang="zh-CN" altLang="en-US" sz="1800" b="0" dirty="0"/>
              <a:t>块组（</a:t>
            </a:r>
            <a:r>
              <a:rPr lang="en-US" altLang="zh-CN" sz="1800" b="0" dirty="0" err="1"/>
              <a:t>flex_bg</a:t>
            </a:r>
            <a:r>
              <a:rPr lang="zh-CN" altLang="en-US" sz="1800" b="0" dirty="0"/>
              <a:t>）将文件系统分成多个区域</a:t>
            </a:r>
            <a:endParaRPr lang="en-US" altLang="zh-CN" sz="1800" b="0" dirty="0"/>
          </a:p>
          <a:p>
            <a:pPr lvl="1"/>
            <a:r>
              <a:rPr lang="zh-CN" altLang="en-US" sz="1400" dirty="0"/>
              <a:t>每个块组前</a:t>
            </a:r>
            <a:r>
              <a:rPr lang="en-US" altLang="zh-CN" sz="1400" dirty="0"/>
              <a:t>16MB</a:t>
            </a:r>
            <a:r>
              <a:rPr lang="zh-CN" altLang="en-US" sz="1400" dirty="0"/>
              <a:t>用来保存元数据，其余保存数据</a:t>
            </a:r>
            <a:endParaRPr lang="en-US" altLang="zh-CN" sz="1400" dirty="0"/>
          </a:p>
          <a:p>
            <a:r>
              <a:rPr lang="zh-CN" altLang="en-US" sz="1800" b="0" dirty="0"/>
              <a:t>每次数据修改产生多处元数据的修改</a:t>
            </a:r>
            <a:endParaRPr lang="en-US" altLang="zh-CN" sz="1800" b="0" dirty="0"/>
          </a:p>
          <a:p>
            <a:r>
              <a:rPr lang="en-US" altLang="zh-CN" sz="1800" b="0" dirty="0"/>
              <a:t>8TB</a:t>
            </a:r>
            <a:r>
              <a:rPr lang="zh-CN" altLang="en-US" sz="1800" b="0" dirty="0"/>
              <a:t>分区上有</a:t>
            </a:r>
            <a:r>
              <a:rPr lang="en-US" sz="1800" b="0" dirty="0"/>
              <a:t>4,000</a:t>
            </a:r>
            <a:r>
              <a:rPr lang="zh-CN" altLang="en-US" sz="1800" b="0" dirty="0"/>
              <a:t>个块组，元数据分散在</a:t>
            </a:r>
            <a:r>
              <a:rPr lang="en-US" sz="1800" b="0" dirty="0">
                <a:highlight>
                  <a:srgbClr val="FFFF00"/>
                </a:highlight>
              </a:rPr>
              <a:t>4,000</a:t>
            </a:r>
            <a:r>
              <a:rPr lang="zh-CN" altLang="en-US" sz="1800" b="0" dirty="0">
                <a:highlight>
                  <a:srgbClr val="FFFF00"/>
                </a:highlight>
              </a:rPr>
              <a:t>个</a:t>
            </a:r>
            <a:r>
              <a:rPr lang="en-US" altLang="zh-CN" sz="1800" b="0" dirty="0">
                <a:highlight>
                  <a:srgbClr val="FFFF00"/>
                </a:highlight>
              </a:rPr>
              <a:t>Band</a:t>
            </a:r>
            <a:r>
              <a:rPr lang="zh-CN" altLang="en-US" sz="1800" b="0" dirty="0"/>
              <a:t>！</a:t>
            </a:r>
            <a:endParaRPr lang="en-US" altLang="zh-CN" sz="1800" b="0" dirty="0"/>
          </a:p>
          <a:p>
            <a:r>
              <a:rPr lang="zh-CN" altLang="en-US" sz="1800" b="0" dirty="0">
                <a:solidFill>
                  <a:srgbClr val="C00000"/>
                </a:solidFill>
              </a:rPr>
              <a:t>分散的元数据随机写 </a:t>
            </a:r>
            <a:r>
              <a:rPr lang="en-US" sz="1800" b="0" dirty="0">
                <a:solidFill>
                  <a:srgbClr val="C00000"/>
                </a:solidFill>
              </a:rPr>
              <a:t>→</a:t>
            </a:r>
            <a:r>
              <a:rPr lang="zh-CN" altLang="en-US" sz="1800" b="0" dirty="0">
                <a:solidFill>
                  <a:srgbClr val="C00000"/>
                </a:solidFill>
              </a:rPr>
              <a:t> 脏</a:t>
            </a:r>
            <a:r>
              <a:rPr lang="en-US" altLang="zh-CN" sz="1800" b="0" dirty="0">
                <a:solidFill>
                  <a:srgbClr val="C00000"/>
                </a:solidFill>
              </a:rPr>
              <a:t>band</a:t>
            </a:r>
            <a:r>
              <a:rPr lang="zh-CN" altLang="en-US" sz="1800" b="0" dirty="0">
                <a:solidFill>
                  <a:srgbClr val="C00000"/>
                </a:solidFill>
              </a:rPr>
              <a:t>数量</a:t>
            </a:r>
            <a:r>
              <a:rPr lang="en-US" sz="1800" b="0" dirty="0">
                <a:solidFill>
                  <a:srgbClr val="C00000"/>
                </a:solidFill>
              </a:rPr>
              <a:t>↓</a:t>
            </a:r>
            <a:r>
              <a:rPr lang="zh-CN" altLang="en-US" sz="1800" b="0" dirty="0">
                <a:solidFill>
                  <a:srgbClr val="C00000"/>
                </a:solidFill>
              </a:rPr>
              <a:t> </a:t>
            </a:r>
            <a:r>
              <a:rPr lang="en-US" sz="1800" b="0" dirty="0">
                <a:solidFill>
                  <a:srgbClr val="C00000"/>
                </a:solidFill>
              </a:rPr>
              <a:t>→ </a:t>
            </a:r>
            <a:r>
              <a:rPr lang="zh-CN" altLang="en-US" sz="1800" b="0" dirty="0">
                <a:solidFill>
                  <a:srgbClr val="C00000"/>
                </a:solidFill>
              </a:rPr>
              <a:t>清理工作的负担</a:t>
            </a:r>
            <a:r>
              <a:rPr lang="en-US" sz="1800" b="0" dirty="0">
                <a:solidFill>
                  <a:srgbClr val="C00000"/>
                </a:solidFill>
              </a:rPr>
              <a:t>↓ → </a:t>
            </a:r>
            <a:r>
              <a:rPr lang="zh-CN" altLang="en-US" sz="1800" b="0" dirty="0">
                <a:solidFill>
                  <a:srgbClr val="C00000"/>
                </a:solidFill>
              </a:rPr>
              <a:t>吞吐量</a:t>
            </a:r>
            <a:r>
              <a:rPr lang="en-US" sz="1800" b="0" dirty="0">
                <a:solidFill>
                  <a:srgbClr val="C00000"/>
                </a:solidFill>
              </a:rPr>
              <a:t>↑ </a:t>
            </a:r>
          </a:p>
          <a:p>
            <a:endParaRPr lang="en-US" altLang="zh-CN" sz="1800" b="0" dirty="0"/>
          </a:p>
          <a:p>
            <a:endParaRPr lang="en-US" altLang="zh-CN" sz="1800" b="0" dirty="0"/>
          </a:p>
        </p:txBody>
      </p:sp>
    </p:spTree>
    <p:extLst>
      <p:ext uri="{BB962C8B-B14F-4D97-AF65-F5344CB8AC3E}">
        <p14:creationId xmlns:p14="http://schemas.microsoft.com/office/powerpoint/2010/main" val="41416659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56FA6-A5ED-944C-A280-B9404A341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CN" dirty="0"/>
              <a:t>回顾</a:t>
            </a:r>
            <a:r>
              <a:rPr lang="zh-CN" altLang="en-US" dirty="0"/>
              <a:t>：</a:t>
            </a:r>
            <a:r>
              <a:rPr lang="en-CN" dirty="0"/>
              <a:t>Ext4</a:t>
            </a:r>
            <a:r>
              <a:rPr lang="zh-CN" altLang="en-US" dirty="0"/>
              <a:t>上的元数据写回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F16930-B54F-1C43-B68D-5AF52A171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26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7719B6-DFA0-604C-A618-CF591F0AE6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28F7287-C0CF-2D49-912C-CEEE763E77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229600" cy="3771636"/>
          </a:xfrm>
        </p:spPr>
        <p:txBody>
          <a:bodyPr>
            <a:normAutofit/>
          </a:bodyPr>
          <a:lstStyle/>
          <a:p>
            <a:r>
              <a:rPr lang="en-CN" altLang="zh-CN" sz="2800" b="0" dirty="0"/>
              <a:t>Ext4</a:t>
            </a:r>
            <a:r>
              <a:rPr lang="zh-CN" altLang="en-CN" sz="2800" b="0" dirty="0"/>
              <a:t>使用</a:t>
            </a:r>
            <a:r>
              <a:rPr lang="en-CN" altLang="zh-CN" sz="2800" b="0" dirty="0"/>
              <a:t>JBD</a:t>
            </a:r>
            <a:r>
              <a:rPr lang="en-US" altLang="zh-CN" sz="2800" b="0" dirty="0"/>
              <a:t>2</a:t>
            </a:r>
            <a:r>
              <a:rPr lang="zh-CN" altLang="en-CN" sz="2800" b="0" dirty="0"/>
              <a:t>记录</a:t>
            </a:r>
            <a:r>
              <a:rPr lang="zh-CN" altLang="en-US" sz="2800" b="0" dirty="0"/>
              <a:t>元数据日志</a:t>
            </a:r>
            <a:endParaRPr lang="en-US" altLang="zh-CN" sz="2800" b="0" dirty="0"/>
          </a:p>
          <a:p>
            <a:pPr lvl="1"/>
            <a:r>
              <a:rPr lang="en-US" altLang="zh-CN" b="0" dirty="0"/>
              <a:t>128MB</a:t>
            </a:r>
            <a:r>
              <a:rPr lang="zh-CN" altLang="en-US" b="0" dirty="0"/>
              <a:t>的日志区域</a:t>
            </a:r>
            <a:endParaRPr lang="en-US" altLang="zh-CN" dirty="0"/>
          </a:p>
          <a:p>
            <a:pPr marL="800100" lvl="1" indent="-342900">
              <a:buFont typeface="+mj-lt"/>
              <a:buAutoNum type="arabicPeriod"/>
            </a:pPr>
            <a:r>
              <a:rPr lang="en-US" altLang="zh-CN" b="0" dirty="0"/>
              <a:t>JBD2</a:t>
            </a:r>
            <a:r>
              <a:rPr lang="zh-CN" altLang="en-CN" b="0" dirty="0"/>
              <a:t>首先</a:t>
            </a:r>
            <a:r>
              <a:rPr lang="zh-CN" altLang="en-US" b="0" dirty="0"/>
              <a:t>将元数据写入日志区域</a:t>
            </a:r>
            <a:r>
              <a:rPr lang="en-US" altLang="zh-CN" b="0" i="1" dirty="0"/>
              <a:t>J</a:t>
            </a:r>
            <a:r>
              <a:rPr lang="zh-CN" altLang="en-US" b="0" i="1" dirty="0"/>
              <a:t>，</a:t>
            </a:r>
            <a:r>
              <a:rPr lang="zh-CN" altLang="en-US" b="0" dirty="0"/>
              <a:t>标记元数据为脏</a:t>
            </a:r>
            <a:endParaRPr lang="en-US" altLang="zh-CN" b="0" dirty="0"/>
          </a:p>
          <a:p>
            <a:pPr marL="800100" lvl="1" indent="-342900">
              <a:buFont typeface="+mj-lt"/>
              <a:buAutoNum type="arabicPeriod"/>
            </a:pPr>
            <a:r>
              <a:rPr lang="zh-CN" altLang="en-US" b="0" dirty="0"/>
              <a:t>脏元数据在日志提交后被写回到其应有位置</a:t>
            </a:r>
            <a:r>
              <a:rPr lang="en-US" altLang="zh-CN" b="0" i="1" dirty="0"/>
              <a:t>S</a:t>
            </a:r>
            <a:endParaRPr lang="en-US" b="0" i="1" dirty="0"/>
          </a:p>
          <a:p>
            <a:endParaRPr lang="en-US" altLang="zh-CN" b="0" dirty="0"/>
          </a:p>
          <a:p>
            <a:endParaRPr lang="en-US" altLang="zh-CN" b="0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A2CF079-E556-D84B-9D0C-8880732AE1D0}"/>
              </a:ext>
            </a:extLst>
          </p:cNvPr>
          <p:cNvGrpSpPr/>
          <p:nvPr/>
        </p:nvGrpSpPr>
        <p:grpSpPr>
          <a:xfrm>
            <a:off x="1816617" y="3652230"/>
            <a:ext cx="5510766" cy="1509526"/>
            <a:chOff x="1150640" y="3380655"/>
            <a:chExt cx="6229672" cy="1706451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06770BF-C801-0A4E-A385-BFF73CB32859}"/>
                </a:ext>
              </a:extLst>
            </p:cNvPr>
            <p:cNvSpPr/>
            <p:nvPr/>
          </p:nvSpPr>
          <p:spPr>
            <a:xfrm>
              <a:off x="1150640" y="3380655"/>
              <a:ext cx="2520280" cy="122413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C7E3D2D-E22B-DF48-8ED5-AA027B9A4AB0}"/>
                </a:ext>
              </a:extLst>
            </p:cNvPr>
            <p:cNvSpPr/>
            <p:nvPr/>
          </p:nvSpPr>
          <p:spPr>
            <a:xfrm>
              <a:off x="4860032" y="3380655"/>
              <a:ext cx="2520280" cy="122413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D5FF18B-AF06-1041-87B0-4D35C897D4AE}"/>
                </a:ext>
              </a:extLst>
            </p:cNvPr>
            <p:cNvSpPr/>
            <p:nvPr/>
          </p:nvSpPr>
          <p:spPr>
            <a:xfrm>
              <a:off x="3155792" y="3443370"/>
              <a:ext cx="216024" cy="204089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0F937B5-A839-764A-B9BB-1EBD0E9741E2}"/>
                </a:ext>
              </a:extLst>
            </p:cNvPr>
            <p:cNvSpPr/>
            <p:nvPr/>
          </p:nvSpPr>
          <p:spPr>
            <a:xfrm>
              <a:off x="5141640" y="3812702"/>
              <a:ext cx="1086544" cy="204089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2BAAE27-B05A-DB49-8817-89B534F2D0DC}"/>
                </a:ext>
              </a:extLst>
            </p:cNvPr>
            <p:cNvSpPr/>
            <p:nvPr/>
          </p:nvSpPr>
          <p:spPr>
            <a:xfrm>
              <a:off x="5141640" y="4273321"/>
              <a:ext cx="216024" cy="204089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cxnSp>
          <p:nvCxnSpPr>
            <p:cNvPr id="6" name="Curved Connector 5">
              <a:extLst>
                <a:ext uri="{FF2B5EF4-FFF2-40B4-BE49-F238E27FC236}">
                  <a16:creationId xmlns:a16="http://schemas.microsoft.com/office/drawing/2014/main" id="{E274C77F-0C2E-6E47-ACF3-EE51C9ACD191}"/>
                </a:ext>
              </a:extLst>
            </p:cNvPr>
            <p:cNvCxnSpPr>
              <a:cxnSpLocks/>
              <a:stCxn id="10" idx="3"/>
              <a:endCxn id="12" idx="1"/>
            </p:cNvCxnSpPr>
            <p:nvPr/>
          </p:nvCxnSpPr>
          <p:spPr>
            <a:xfrm>
              <a:off x="3371816" y="3545415"/>
              <a:ext cx="1769824" cy="82995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urved Connector 12">
              <a:extLst>
                <a:ext uri="{FF2B5EF4-FFF2-40B4-BE49-F238E27FC236}">
                  <a16:creationId xmlns:a16="http://schemas.microsoft.com/office/drawing/2014/main" id="{D7C97B8C-449F-D049-BAAB-742322217961}"/>
                </a:ext>
              </a:extLst>
            </p:cNvPr>
            <p:cNvCxnSpPr>
              <a:cxnSpLocks/>
              <a:stCxn id="10" idx="3"/>
            </p:cNvCxnSpPr>
            <p:nvPr/>
          </p:nvCxnSpPr>
          <p:spPr>
            <a:xfrm>
              <a:off x="3371816" y="3545415"/>
              <a:ext cx="2031506" cy="37776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9809FF6-F1C3-024E-BD63-EEDF9CD26A91}"/>
                </a:ext>
              </a:extLst>
            </p:cNvPr>
            <p:cNvSpPr txBox="1"/>
            <p:nvPr/>
          </p:nvSpPr>
          <p:spPr>
            <a:xfrm>
              <a:off x="4928035" y="3513815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N" i="1" dirty="0">
                  <a:solidFill>
                    <a:srgbClr val="C00000"/>
                  </a:solidFill>
                </a:rPr>
                <a:t>J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F05E911-0E68-DC45-BA3B-174CF28E28FA}"/>
                </a:ext>
              </a:extLst>
            </p:cNvPr>
            <p:cNvSpPr txBox="1"/>
            <p:nvPr/>
          </p:nvSpPr>
          <p:spPr>
            <a:xfrm>
              <a:off x="5300718" y="4170560"/>
              <a:ext cx="3385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i="1" dirty="0">
                  <a:solidFill>
                    <a:srgbClr val="C00000"/>
                  </a:solidFill>
                </a:rPr>
                <a:t>S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3077A1B8-4540-3648-A38C-F0591FDEDE23}"/>
                </a:ext>
              </a:extLst>
            </p:cNvPr>
            <p:cNvSpPr txBox="1"/>
            <p:nvPr/>
          </p:nvSpPr>
          <p:spPr>
            <a:xfrm>
              <a:off x="5857461" y="4717774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/>
                <a:t>磁盘</a:t>
              </a:r>
              <a:endParaRPr lang="en-CN" dirty="0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4206CA76-9B67-7941-862D-84E405F5A4E6}"/>
                </a:ext>
              </a:extLst>
            </p:cNvPr>
            <p:cNvSpPr txBox="1"/>
            <p:nvPr/>
          </p:nvSpPr>
          <p:spPr>
            <a:xfrm>
              <a:off x="2087614" y="4717774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/>
                <a:t>内存</a:t>
              </a:r>
              <a:endParaRPr lang="en-CN" dirty="0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0D797B19-D0EE-9B43-BEBF-1929FD0D20FC}"/>
                </a:ext>
              </a:extLst>
            </p:cNvPr>
            <p:cNvSpPr txBox="1"/>
            <p:nvPr/>
          </p:nvSpPr>
          <p:spPr>
            <a:xfrm>
              <a:off x="5844786" y="3985077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日志</a:t>
              </a:r>
              <a:endParaRPr lang="en-CN" sz="1400" dirty="0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E1BA7BF2-39C9-BC48-93EF-FCA171FF83F2}"/>
              </a:ext>
            </a:extLst>
          </p:cNvPr>
          <p:cNvSpPr/>
          <p:nvPr/>
        </p:nvSpPr>
        <p:spPr>
          <a:xfrm>
            <a:off x="884814" y="2769639"/>
            <a:ext cx="5565234" cy="427398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DA13DB9-F9CE-F54C-9512-D776CE97818D}"/>
              </a:ext>
            </a:extLst>
          </p:cNvPr>
          <p:cNvSpPr txBox="1"/>
          <p:nvPr/>
        </p:nvSpPr>
        <p:spPr>
          <a:xfrm>
            <a:off x="3667431" y="3256267"/>
            <a:ext cx="53142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solidFill>
                  <a:srgbClr val="C00000"/>
                </a:solidFill>
              </a:rPr>
              <a:t>频繁的元数据写回，造成大量的分散随机写，降低吞吐量</a:t>
            </a:r>
            <a:endParaRPr lang="en-CN" sz="1600" dirty="0">
              <a:solidFill>
                <a:srgbClr val="C00000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39DAC88-3A4F-964C-8CE1-0AAC2097D621}"/>
              </a:ext>
            </a:extLst>
          </p:cNvPr>
          <p:cNvSpPr/>
          <p:nvPr/>
        </p:nvSpPr>
        <p:spPr>
          <a:xfrm>
            <a:off x="6601268" y="3801030"/>
            <a:ext cx="191095" cy="18053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243170D-8DC4-1E4B-BFCD-FC9DC39A10FA}"/>
              </a:ext>
            </a:extLst>
          </p:cNvPr>
          <p:cNvSpPr/>
          <p:nvPr/>
        </p:nvSpPr>
        <p:spPr>
          <a:xfrm>
            <a:off x="6863593" y="4128088"/>
            <a:ext cx="191095" cy="18053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C6CED82-E86D-E346-AE93-48C43C13EDDA}"/>
              </a:ext>
            </a:extLst>
          </p:cNvPr>
          <p:cNvSpPr/>
          <p:nvPr/>
        </p:nvSpPr>
        <p:spPr>
          <a:xfrm>
            <a:off x="6026762" y="4486090"/>
            <a:ext cx="191095" cy="18053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8E1F5B1-081C-5347-9152-E156A5B1BEC5}"/>
              </a:ext>
            </a:extLst>
          </p:cNvPr>
          <p:cNvSpPr/>
          <p:nvPr/>
        </p:nvSpPr>
        <p:spPr>
          <a:xfrm>
            <a:off x="5987879" y="3770023"/>
            <a:ext cx="191095" cy="18053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A216710-26D4-8F42-9A9F-C0B44989EAAA}"/>
              </a:ext>
            </a:extLst>
          </p:cNvPr>
          <p:cNvSpPr/>
          <p:nvPr/>
        </p:nvSpPr>
        <p:spPr>
          <a:xfrm>
            <a:off x="6490474" y="4395821"/>
            <a:ext cx="191095" cy="18053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EE29B44-CDBE-C746-84F6-EE407D13997A}"/>
              </a:ext>
            </a:extLst>
          </p:cNvPr>
          <p:cNvSpPr/>
          <p:nvPr/>
        </p:nvSpPr>
        <p:spPr>
          <a:xfrm>
            <a:off x="6903893" y="4486089"/>
            <a:ext cx="191095" cy="18053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546950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56FA6-A5ED-944C-A280-B9404A341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回到问题：</a:t>
            </a:r>
            <a:r>
              <a:rPr lang="en-CN" dirty="0"/>
              <a:t>Ext4</a:t>
            </a:r>
            <a:r>
              <a:rPr lang="zh-CN" altLang="en-US" dirty="0"/>
              <a:t>上的元数据分散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F16930-B54F-1C43-B68D-5AF52A171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27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7719B6-DFA0-604C-A618-CF591F0AE6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28F7287-C0CF-2D49-912C-CEEE763E77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229600" cy="3771636"/>
          </a:xfrm>
        </p:spPr>
        <p:txBody>
          <a:bodyPr>
            <a:normAutofit/>
          </a:bodyPr>
          <a:lstStyle/>
          <a:p>
            <a:r>
              <a:rPr lang="zh-CN" altLang="en-CN" b="0" dirty="0"/>
              <a:t>修改磁盘</a:t>
            </a:r>
            <a:r>
              <a:rPr lang="zh-CN" altLang="en-US" b="0" dirty="0"/>
              <a:t>布局需要大规模修改</a:t>
            </a:r>
            <a:r>
              <a:rPr lang="en-US" altLang="zh-CN" b="0" dirty="0"/>
              <a:t>Ext4</a:t>
            </a:r>
          </a:p>
          <a:p>
            <a:pPr lvl="1"/>
            <a:r>
              <a:rPr lang="zh-CN" altLang="en-US" b="0" dirty="0"/>
              <a:t>人力成本、新增</a:t>
            </a:r>
            <a:r>
              <a:rPr lang="en-US" altLang="zh-CN" b="0" dirty="0"/>
              <a:t>Bug</a:t>
            </a:r>
            <a:r>
              <a:rPr lang="zh-CN" altLang="en-US" b="0" dirty="0"/>
              <a:t>、破坏原有功能</a:t>
            </a:r>
            <a:r>
              <a:rPr lang="en-US" altLang="zh-CN" b="0" dirty="0"/>
              <a:t>……</a:t>
            </a:r>
          </a:p>
          <a:p>
            <a:r>
              <a:rPr lang="zh-CN" altLang="en-US" b="0" dirty="0"/>
              <a:t>怎么办？</a:t>
            </a:r>
            <a:endParaRPr lang="en-US" altLang="zh-CN" b="0" dirty="0"/>
          </a:p>
          <a:p>
            <a:r>
              <a:rPr lang="zh-CN" altLang="en-US" sz="2400" b="0" dirty="0"/>
              <a:t>引入</a:t>
            </a:r>
            <a:r>
              <a:rPr lang="en-US" altLang="zh-CN" sz="2400" b="0" dirty="0"/>
              <a:t>Indirection</a:t>
            </a:r>
            <a:r>
              <a:rPr lang="zh-CN" altLang="en-US" sz="2400" b="0" dirty="0"/>
              <a:t>：以</a:t>
            </a:r>
            <a:r>
              <a:rPr lang="en-US" altLang="zh-CN" sz="2400" b="0" dirty="0"/>
              <a:t>LFS</a:t>
            </a:r>
            <a:r>
              <a:rPr lang="zh-CN" altLang="en-US" sz="2400" b="0" dirty="0"/>
              <a:t>形式增加一个元数据缓存</a:t>
            </a:r>
            <a:endParaRPr lang="en-CN" b="0" dirty="0"/>
          </a:p>
          <a:p>
            <a:endParaRPr lang="en-US" altLang="zh-CN" b="0" dirty="0"/>
          </a:p>
          <a:p>
            <a:endParaRPr lang="en-US" altLang="zh-CN" b="0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1C61B492-21C1-F74F-A0CD-5DCDC44FD003}"/>
              </a:ext>
            </a:extLst>
          </p:cNvPr>
          <p:cNvGrpSpPr/>
          <p:nvPr/>
        </p:nvGrpSpPr>
        <p:grpSpPr>
          <a:xfrm>
            <a:off x="1948055" y="3662740"/>
            <a:ext cx="5247889" cy="1437518"/>
            <a:chOff x="1150640" y="3380655"/>
            <a:chExt cx="6229672" cy="1706451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3E33DE00-43C3-0B44-BD92-F0BD1C0C8342}"/>
                </a:ext>
              </a:extLst>
            </p:cNvPr>
            <p:cNvSpPr/>
            <p:nvPr/>
          </p:nvSpPr>
          <p:spPr>
            <a:xfrm>
              <a:off x="1150640" y="3380655"/>
              <a:ext cx="2520280" cy="122413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3CDE7CA9-1820-024E-9575-F507618AADEF}"/>
                </a:ext>
              </a:extLst>
            </p:cNvPr>
            <p:cNvSpPr/>
            <p:nvPr/>
          </p:nvSpPr>
          <p:spPr>
            <a:xfrm>
              <a:off x="4860032" y="3380655"/>
              <a:ext cx="2520280" cy="122413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E7E96E05-D618-3B40-B607-51FA1BB0C34E}"/>
                </a:ext>
              </a:extLst>
            </p:cNvPr>
            <p:cNvSpPr/>
            <p:nvPr/>
          </p:nvSpPr>
          <p:spPr>
            <a:xfrm>
              <a:off x="3155792" y="3443370"/>
              <a:ext cx="216024" cy="204089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7D5E9EE-6F06-E44B-8355-97CB547EE950}"/>
                </a:ext>
              </a:extLst>
            </p:cNvPr>
            <p:cNvSpPr/>
            <p:nvPr/>
          </p:nvSpPr>
          <p:spPr>
            <a:xfrm>
              <a:off x="5004048" y="3812702"/>
              <a:ext cx="2304256" cy="204089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cxnSp>
          <p:nvCxnSpPr>
            <p:cNvPr id="33" name="Curved Connector 5">
              <a:extLst>
                <a:ext uri="{FF2B5EF4-FFF2-40B4-BE49-F238E27FC236}">
                  <a16:creationId xmlns:a16="http://schemas.microsoft.com/office/drawing/2014/main" id="{10D91588-F425-F644-A1F8-D6E04DFC40D5}"/>
                </a:ext>
              </a:extLst>
            </p:cNvPr>
            <p:cNvCxnSpPr>
              <a:cxnSpLocks/>
              <a:endCxn id="47" idx="3"/>
            </p:cNvCxnSpPr>
            <p:nvPr/>
          </p:nvCxnSpPr>
          <p:spPr>
            <a:xfrm>
              <a:off x="1780230" y="3779284"/>
              <a:ext cx="143524" cy="101936"/>
            </a:xfrm>
            <a:prstGeom prst="bentConnector3">
              <a:avLst>
                <a:gd name="adj1" fmla="val 259276"/>
              </a:avLst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urved Connector 12">
              <a:extLst>
                <a:ext uri="{FF2B5EF4-FFF2-40B4-BE49-F238E27FC236}">
                  <a16:creationId xmlns:a16="http://schemas.microsoft.com/office/drawing/2014/main" id="{357C1C01-1D5A-2544-89B5-C4168C4DED28}"/>
                </a:ext>
              </a:extLst>
            </p:cNvPr>
            <p:cNvCxnSpPr>
              <a:cxnSpLocks/>
              <a:stCxn id="31" idx="3"/>
            </p:cNvCxnSpPr>
            <p:nvPr/>
          </p:nvCxnSpPr>
          <p:spPr>
            <a:xfrm>
              <a:off x="3371816" y="3545415"/>
              <a:ext cx="2031506" cy="37776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0B658A9D-8256-1748-9B64-3AD26E8BB13C}"/>
                </a:ext>
              </a:extLst>
            </p:cNvPr>
            <p:cNvSpPr txBox="1"/>
            <p:nvPr/>
          </p:nvSpPr>
          <p:spPr>
            <a:xfrm>
              <a:off x="4863832" y="3450522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N" i="1" dirty="0">
                  <a:solidFill>
                    <a:srgbClr val="C00000"/>
                  </a:solidFill>
                </a:rPr>
                <a:t>J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26004CF9-FA37-7B4A-943E-A0704DD87356}"/>
                </a:ext>
              </a:extLst>
            </p:cNvPr>
            <p:cNvSpPr txBox="1"/>
            <p:nvPr/>
          </p:nvSpPr>
          <p:spPr>
            <a:xfrm>
              <a:off x="5857461" y="4717774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/>
                <a:t>磁盘</a:t>
              </a:r>
              <a:endParaRPr lang="en-CN" dirty="0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A132324A-441D-5D4B-AB09-A51123544F36}"/>
                </a:ext>
              </a:extLst>
            </p:cNvPr>
            <p:cNvSpPr txBox="1"/>
            <p:nvPr/>
          </p:nvSpPr>
          <p:spPr>
            <a:xfrm>
              <a:off x="2087614" y="4717774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/>
                <a:t>内存</a:t>
              </a:r>
              <a:endParaRPr lang="en-CN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2ED006B3-FF29-E64F-B02A-A173E714E3B1}"/>
                </a:ext>
              </a:extLst>
            </p:cNvPr>
            <p:cNvSpPr txBox="1"/>
            <p:nvPr/>
          </p:nvSpPr>
          <p:spPr>
            <a:xfrm>
              <a:off x="5844786" y="3985077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日志</a:t>
              </a:r>
              <a:endParaRPr lang="en-CN" sz="1400" dirty="0"/>
            </a:p>
          </p:txBody>
        </p: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D9E37325-73B4-3A4E-8284-3C4DFC0434E1}"/>
                </a:ext>
              </a:extLst>
            </p:cNvPr>
            <p:cNvGrpSpPr/>
            <p:nvPr/>
          </p:nvGrpSpPr>
          <p:grpSpPr>
            <a:xfrm>
              <a:off x="1481902" y="3590384"/>
              <a:ext cx="441852" cy="548581"/>
              <a:chOff x="112948" y="3284454"/>
              <a:chExt cx="441852" cy="548581"/>
            </a:xfrm>
          </p:grpSpPr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ECDD23F2-0750-8143-9CF4-1D1BB164088B}"/>
                  </a:ext>
                </a:extLst>
              </p:cNvPr>
              <p:cNvSpPr/>
              <p:nvPr/>
            </p:nvSpPr>
            <p:spPr>
              <a:xfrm>
                <a:off x="112948" y="3284454"/>
                <a:ext cx="220926" cy="548581"/>
              </a:xfrm>
              <a:prstGeom prst="rect">
                <a:avLst/>
              </a:prstGeom>
              <a:ln>
                <a:solidFill>
                  <a:srgbClr val="C0000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CN"/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09452DEF-277F-B642-8F7C-AA6A2911D9A9}"/>
                  </a:ext>
                </a:extLst>
              </p:cNvPr>
              <p:cNvSpPr/>
              <p:nvPr/>
            </p:nvSpPr>
            <p:spPr>
              <a:xfrm>
                <a:off x="333874" y="3284454"/>
                <a:ext cx="220926" cy="548581"/>
              </a:xfrm>
              <a:prstGeom prst="rect">
                <a:avLst/>
              </a:prstGeom>
              <a:ln>
                <a:solidFill>
                  <a:srgbClr val="C0000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CN"/>
              </a:p>
            </p:txBody>
          </p:sp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345964E6-2FCC-2248-8BBE-455BB14ADECC}"/>
                  </a:ext>
                </a:extLst>
              </p:cNvPr>
              <p:cNvSpPr/>
              <p:nvPr/>
            </p:nvSpPr>
            <p:spPr>
              <a:xfrm>
                <a:off x="112948" y="3443370"/>
                <a:ext cx="220926" cy="263839"/>
              </a:xfrm>
              <a:prstGeom prst="rect">
                <a:avLst/>
              </a:prstGeom>
              <a:ln>
                <a:solidFill>
                  <a:srgbClr val="C0000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CN" i="1" dirty="0"/>
                  <a:t>S</a:t>
                </a:r>
              </a:p>
            </p:txBody>
          </p:sp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85FF9A73-1B2E-FA44-B282-EF61C130D78F}"/>
                  </a:ext>
                </a:extLst>
              </p:cNvPr>
              <p:cNvSpPr/>
              <p:nvPr/>
            </p:nvSpPr>
            <p:spPr>
              <a:xfrm>
                <a:off x="333874" y="3443370"/>
                <a:ext cx="220926" cy="263839"/>
              </a:xfrm>
              <a:prstGeom prst="rect">
                <a:avLst/>
              </a:prstGeom>
              <a:ln>
                <a:solidFill>
                  <a:srgbClr val="C0000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CN" i="1" dirty="0"/>
                  <a:t>J</a:t>
                </a:r>
              </a:p>
            </p:txBody>
          </p:sp>
        </p:grp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7974D45B-84C0-A24A-BED6-196F2FBE62F6}"/>
                </a:ext>
              </a:extLst>
            </p:cNvPr>
            <p:cNvSpPr txBox="1"/>
            <p:nvPr/>
          </p:nvSpPr>
          <p:spPr>
            <a:xfrm>
              <a:off x="1380525" y="4088655"/>
              <a:ext cx="6848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N" dirty="0"/>
                <a:t>jmap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3563812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56FA6-A5ED-944C-A280-B9404A341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N" dirty="0"/>
              <a:t>解决方法</a:t>
            </a:r>
            <a:r>
              <a:rPr lang="zh-CN" altLang="en-US" dirty="0"/>
              <a:t>：以</a:t>
            </a:r>
            <a:r>
              <a:rPr lang="en-US" altLang="zh-CN" dirty="0"/>
              <a:t>LFS</a:t>
            </a:r>
            <a:r>
              <a:rPr lang="zh-CN" altLang="en-US" dirty="0"/>
              <a:t>形式增加一个元数据缓存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F16930-B54F-1C43-B68D-5AF52A171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28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7719B6-DFA0-604C-A618-CF591F0AE6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28F7287-C0CF-2D49-912C-CEEE763E77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229600" cy="3771636"/>
          </a:xfrm>
        </p:spPr>
        <p:txBody>
          <a:bodyPr>
            <a:normAutofit/>
          </a:bodyPr>
          <a:lstStyle/>
          <a:p>
            <a:r>
              <a:rPr lang="zh-CN" altLang="en-US" b="0" dirty="0"/>
              <a:t>以</a:t>
            </a:r>
            <a:r>
              <a:rPr lang="en-US" altLang="zh-CN" b="0" dirty="0"/>
              <a:t>LFS</a:t>
            </a:r>
            <a:r>
              <a:rPr lang="zh-CN" altLang="en-US" b="0" dirty="0"/>
              <a:t>形式维护</a:t>
            </a:r>
            <a:r>
              <a:rPr lang="en-US" altLang="zh-CN" b="0" dirty="0"/>
              <a:t>10GB</a:t>
            </a:r>
            <a:r>
              <a:rPr lang="zh-CN" altLang="en-US" b="0" dirty="0"/>
              <a:t>日志空间作为元数据缓存</a:t>
            </a:r>
            <a:endParaRPr lang="en-US" altLang="zh-CN" b="0" dirty="0"/>
          </a:p>
          <a:p>
            <a:pPr marL="800100" lvl="1" indent="-342900">
              <a:buFont typeface="+mj-lt"/>
              <a:buAutoNum type="arabicPeriod"/>
            </a:pPr>
            <a:r>
              <a:rPr lang="en-US" altLang="zh-CN" sz="1800" b="0" dirty="0"/>
              <a:t>JBD2</a:t>
            </a:r>
            <a:r>
              <a:rPr lang="zh-CN" altLang="en-CN" sz="1800" b="0" dirty="0"/>
              <a:t>首先</a:t>
            </a:r>
            <a:r>
              <a:rPr lang="zh-CN" altLang="en-US" sz="1800" b="0" dirty="0"/>
              <a:t>将元数据写入日志区域</a:t>
            </a:r>
            <a:r>
              <a:rPr lang="en-US" altLang="zh-CN" sz="1800" b="0" i="1" dirty="0"/>
              <a:t>J</a:t>
            </a:r>
            <a:r>
              <a:rPr lang="zh-CN" altLang="en-US" sz="1800" b="0" dirty="0"/>
              <a:t>，将元数据标记为</a:t>
            </a:r>
            <a:r>
              <a:rPr lang="en-US" altLang="zh-CN" sz="1800" b="0" dirty="0"/>
              <a:t>clean</a:t>
            </a:r>
            <a:r>
              <a:rPr lang="zh-CN" altLang="en-US" sz="1800" b="0" dirty="0"/>
              <a:t>（无需写回）</a:t>
            </a:r>
            <a:endParaRPr lang="en-US" altLang="zh-CN" sz="1800" dirty="0"/>
          </a:p>
          <a:p>
            <a:pPr marL="800100" lvl="1" indent="-342900">
              <a:buFont typeface="+mj-lt"/>
              <a:buAutoNum type="arabicPeriod"/>
            </a:pPr>
            <a:r>
              <a:rPr lang="en-CN" altLang="zh-CN" sz="1800" b="0" dirty="0"/>
              <a:t>JBD</a:t>
            </a:r>
            <a:r>
              <a:rPr lang="en-US" altLang="zh-CN" sz="1800" b="0" dirty="0"/>
              <a:t>2</a:t>
            </a:r>
            <a:r>
              <a:rPr lang="zh-CN" altLang="en-US" sz="1800" b="0" dirty="0"/>
              <a:t>在内存中的</a:t>
            </a:r>
            <a:r>
              <a:rPr lang="en-US" altLang="zh-CN" sz="1800" b="0" dirty="0" err="1"/>
              <a:t>jmap</a:t>
            </a:r>
            <a:r>
              <a:rPr lang="zh-CN" altLang="en-US" sz="1800" b="0" dirty="0"/>
              <a:t>中将</a:t>
            </a:r>
            <a:r>
              <a:rPr lang="en-US" altLang="zh-CN" sz="1800" b="0" i="1" dirty="0"/>
              <a:t>S</a:t>
            </a:r>
            <a:r>
              <a:rPr lang="zh-CN" altLang="en-US" sz="1800" b="0" dirty="0"/>
              <a:t>映射到</a:t>
            </a:r>
            <a:r>
              <a:rPr lang="en-US" altLang="zh-CN" sz="1800" b="0" i="1" dirty="0"/>
              <a:t>J</a:t>
            </a:r>
          </a:p>
          <a:p>
            <a:r>
              <a:rPr lang="en-US" altLang="zh-CN" b="0" dirty="0"/>
              <a:t>Indirection:</a:t>
            </a:r>
            <a:r>
              <a:rPr lang="zh-CN" altLang="en-US" b="0" dirty="0"/>
              <a:t> 元数据访问需要通过 </a:t>
            </a:r>
            <a:r>
              <a:rPr lang="en-US" altLang="zh-CN" b="0" dirty="0" err="1"/>
              <a:t>jmap</a:t>
            </a:r>
            <a:r>
              <a:rPr lang="zh-CN" altLang="en-US" b="0" dirty="0"/>
              <a:t> 进行一次地址转换</a:t>
            </a:r>
            <a:endParaRPr lang="en-US" altLang="zh-CN" b="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997D77F-6BF2-6146-929A-3845482F84D5}"/>
              </a:ext>
            </a:extLst>
          </p:cNvPr>
          <p:cNvGrpSpPr/>
          <p:nvPr/>
        </p:nvGrpSpPr>
        <p:grpSpPr>
          <a:xfrm>
            <a:off x="1948055" y="3662740"/>
            <a:ext cx="5247889" cy="1437518"/>
            <a:chOff x="1150640" y="3380655"/>
            <a:chExt cx="6229672" cy="1706451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06770BF-C801-0A4E-A385-BFF73CB32859}"/>
                </a:ext>
              </a:extLst>
            </p:cNvPr>
            <p:cNvSpPr/>
            <p:nvPr/>
          </p:nvSpPr>
          <p:spPr>
            <a:xfrm>
              <a:off x="1150640" y="3380655"/>
              <a:ext cx="2520280" cy="122413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C7E3D2D-E22B-DF48-8ED5-AA027B9A4AB0}"/>
                </a:ext>
              </a:extLst>
            </p:cNvPr>
            <p:cNvSpPr/>
            <p:nvPr/>
          </p:nvSpPr>
          <p:spPr>
            <a:xfrm>
              <a:off x="4860032" y="3380655"/>
              <a:ext cx="2520280" cy="122413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D5FF18B-AF06-1041-87B0-4D35C897D4AE}"/>
                </a:ext>
              </a:extLst>
            </p:cNvPr>
            <p:cNvSpPr/>
            <p:nvPr/>
          </p:nvSpPr>
          <p:spPr>
            <a:xfrm>
              <a:off x="3155792" y="3443370"/>
              <a:ext cx="216024" cy="204089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0F937B5-A839-764A-B9BB-1EBD0E9741E2}"/>
                </a:ext>
              </a:extLst>
            </p:cNvPr>
            <p:cNvSpPr/>
            <p:nvPr/>
          </p:nvSpPr>
          <p:spPr>
            <a:xfrm>
              <a:off x="5004048" y="3812702"/>
              <a:ext cx="2304256" cy="204089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cxnSp>
          <p:nvCxnSpPr>
            <p:cNvPr id="6" name="Curved Connector 5">
              <a:extLst>
                <a:ext uri="{FF2B5EF4-FFF2-40B4-BE49-F238E27FC236}">
                  <a16:creationId xmlns:a16="http://schemas.microsoft.com/office/drawing/2014/main" id="{E274C77F-0C2E-6E47-ACF3-EE51C9ACD191}"/>
                </a:ext>
              </a:extLst>
            </p:cNvPr>
            <p:cNvCxnSpPr>
              <a:cxnSpLocks/>
              <a:endCxn id="21" idx="3"/>
            </p:cNvCxnSpPr>
            <p:nvPr/>
          </p:nvCxnSpPr>
          <p:spPr>
            <a:xfrm>
              <a:off x="1780230" y="3779284"/>
              <a:ext cx="143524" cy="101936"/>
            </a:xfrm>
            <a:prstGeom prst="bentConnector3">
              <a:avLst>
                <a:gd name="adj1" fmla="val 259276"/>
              </a:avLst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urved Connector 12">
              <a:extLst>
                <a:ext uri="{FF2B5EF4-FFF2-40B4-BE49-F238E27FC236}">
                  <a16:creationId xmlns:a16="http://schemas.microsoft.com/office/drawing/2014/main" id="{D7C97B8C-449F-D049-BAAB-742322217961}"/>
                </a:ext>
              </a:extLst>
            </p:cNvPr>
            <p:cNvCxnSpPr>
              <a:cxnSpLocks/>
              <a:stCxn id="10" idx="3"/>
            </p:cNvCxnSpPr>
            <p:nvPr/>
          </p:nvCxnSpPr>
          <p:spPr>
            <a:xfrm>
              <a:off x="3371816" y="3545415"/>
              <a:ext cx="2031506" cy="37776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9809FF6-F1C3-024E-BD63-EEDF9CD26A91}"/>
                </a:ext>
              </a:extLst>
            </p:cNvPr>
            <p:cNvSpPr txBox="1"/>
            <p:nvPr/>
          </p:nvSpPr>
          <p:spPr>
            <a:xfrm>
              <a:off x="4863832" y="3450522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N" i="1" dirty="0">
                  <a:solidFill>
                    <a:srgbClr val="C00000"/>
                  </a:solidFill>
                </a:rPr>
                <a:t>J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3077A1B8-4540-3648-A38C-F0591FDEDE23}"/>
                </a:ext>
              </a:extLst>
            </p:cNvPr>
            <p:cNvSpPr txBox="1"/>
            <p:nvPr/>
          </p:nvSpPr>
          <p:spPr>
            <a:xfrm>
              <a:off x="5857461" y="4717774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/>
                <a:t>磁盘</a:t>
              </a:r>
              <a:endParaRPr lang="en-CN" dirty="0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4206CA76-9B67-7941-862D-84E405F5A4E6}"/>
                </a:ext>
              </a:extLst>
            </p:cNvPr>
            <p:cNvSpPr txBox="1"/>
            <p:nvPr/>
          </p:nvSpPr>
          <p:spPr>
            <a:xfrm>
              <a:off x="2087614" y="4717774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/>
                <a:t>内存</a:t>
              </a:r>
              <a:endParaRPr lang="en-CN" dirty="0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0D797B19-D0EE-9B43-BEBF-1929FD0D20FC}"/>
                </a:ext>
              </a:extLst>
            </p:cNvPr>
            <p:cNvSpPr txBox="1"/>
            <p:nvPr/>
          </p:nvSpPr>
          <p:spPr>
            <a:xfrm>
              <a:off x="5756998" y="3985077"/>
              <a:ext cx="645463" cy="36535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日志</a:t>
              </a:r>
              <a:endParaRPr lang="en-CN" sz="1400" dirty="0"/>
            </a:p>
          </p:txBody>
        </p: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310EB2FE-C775-E045-B548-C5CAE8B7967F}"/>
                </a:ext>
              </a:extLst>
            </p:cNvPr>
            <p:cNvGrpSpPr/>
            <p:nvPr/>
          </p:nvGrpSpPr>
          <p:grpSpPr>
            <a:xfrm>
              <a:off x="1481902" y="3590384"/>
              <a:ext cx="441852" cy="548581"/>
              <a:chOff x="112948" y="3284454"/>
              <a:chExt cx="441852" cy="548581"/>
            </a:xfrm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B33DE776-CCF7-9E49-B6A3-5645B7D40A88}"/>
                  </a:ext>
                </a:extLst>
              </p:cNvPr>
              <p:cNvSpPr/>
              <p:nvPr/>
            </p:nvSpPr>
            <p:spPr>
              <a:xfrm>
                <a:off x="112948" y="3284454"/>
                <a:ext cx="220926" cy="548581"/>
              </a:xfrm>
              <a:prstGeom prst="rect">
                <a:avLst/>
              </a:prstGeom>
              <a:ln>
                <a:solidFill>
                  <a:srgbClr val="C0000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CN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5D10C389-05A4-6C45-AAFB-0ACDAED6D8CF}"/>
                  </a:ext>
                </a:extLst>
              </p:cNvPr>
              <p:cNvSpPr/>
              <p:nvPr/>
            </p:nvSpPr>
            <p:spPr>
              <a:xfrm>
                <a:off x="333874" y="3284454"/>
                <a:ext cx="220926" cy="548581"/>
              </a:xfrm>
              <a:prstGeom prst="rect">
                <a:avLst/>
              </a:prstGeom>
              <a:ln>
                <a:solidFill>
                  <a:srgbClr val="C0000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CN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6B103C81-6451-9F47-ADE1-CA19117E7500}"/>
                  </a:ext>
                </a:extLst>
              </p:cNvPr>
              <p:cNvSpPr/>
              <p:nvPr/>
            </p:nvSpPr>
            <p:spPr>
              <a:xfrm>
                <a:off x="112948" y="3443370"/>
                <a:ext cx="220926" cy="263839"/>
              </a:xfrm>
              <a:prstGeom prst="rect">
                <a:avLst/>
              </a:prstGeom>
              <a:ln>
                <a:solidFill>
                  <a:srgbClr val="C0000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CN" i="1" dirty="0"/>
                  <a:t>S</a:t>
                </a: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41998769-BEC3-C549-BFC8-660DA44D1AA2}"/>
                  </a:ext>
                </a:extLst>
              </p:cNvPr>
              <p:cNvSpPr/>
              <p:nvPr/>
            </p:nvSpPr>
            <p:spPr>
              <a:xfrm>
                <a:off x="333874" y="3443370"/>
                <a:ext cx="220926" cy="263839"/>
              </a:xfrm>
              <a:prstGeom prst="rect">
                <a:avLst/>
              </a:prstGeom>
              <a:ln>
                <a:solidFill>
                  <a:srgbClr val="C0000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CN" i="1" dirty="0"/>
                  <a:t>J</a:t>
                </a:r>
              </a:p>
            </p:txBody>
          </p: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0571DA5-B430-8A4C-BC13-A66A3A9D13B6}"/>
                </a:ext>
              </a:extLst>
            </p:cNvPr>
            <p:cNvSpPr txBox="1"/>
            <p:nvPr/>
          </p:nvSpPr>
          <p:spPr>
            <a:xfrm>
              <a:off x="1380525" y="4088655"/>
              <a:ext cx="6848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N" dirty="0"/>
                <a:t>jmap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2305641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56FA6-A5ED-944C-A280-B9404A341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日志满了怎么办？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F16930-B54F-1C43-B68D-5AF52A171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29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7719B6-DFA0-604C-A618-CF591F0AE6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28F7287-C0CF-2D49-912C-CEEE763E77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229600" cy="3771636"/>
          </a:xfrm>
        </p:spPr>
        <p:txBody>
          <a:bodyPr>
            <a:normAutofit/>
          </a:bodyPr>
          <a:lstStyle/>
          <a:p>
            <a:r>
              <a:rPr lang="zh-CN" altLang="en-US" b="0" dirty="0"/>
              <a:t>日志空间清理</a:t>
            </a:r>
            <a:endParaRPr lang="en-US" altLang="zh-CN" sz="1800" dirty="0"/>
          </a:p>
          <a:p>
            <a:pPr lvl="1"/>
            <a:r>
              <a:rPr lang="zh-CN" altLang="en-US" sz="1800" dirty="0"/>
              <a:t>无效的元数据（被新修改覆盖过的元数据）可以直接被回收</a:t>
            </a:r>
            <a:endParaRPr lang="en-US" altLang="zh-CN" sz="1800" dirty="0"/>
          </a:p>
          <a:p>
            <a:pPr lvl="1"/>
            <a:r>
              <a:rPr lang="zh-CN" altLang="en-US" sz="1800" dirty="0"/>
              <a:t>对于冷的元数据，可将其写回到</a:t>
            </a:r>
            <a:r>
              <a:rPr lang="en-US" altLang="zh-CN" sz="1800" dirty="0"/>
              <a:t>Ext4</a:t>
            </a:r>
            <a:r>
              <a:rPr lang="zh-CN" altLang="en-US" sz="1800" dirty="0"/>
              <a:t>中其原本的位置</a:t>
            </a:r>
            <a:r>
              <a:rPr lang="en-US" altLang="zh-CN" sz="1800" i="1" dirty="0"/>
              <a:t>S</a:t>
            </a:r>
          </a:p>
          <a:p>
            <a:pPr lvl="1"/>
            <a:r>
              <a:rPr lang="zh-CN" altLang="en-US" sz="1800" b="0" dirty="0"/>
              <a:t>热的元数据继续保留在日志中</a:t>
            </a:r>
            <a:endParaRPr lang="en-US" altLang="zh-CN" sz="1800" b="0" dirty="0"/>
          </a:p>
          <a:p>
            <a:r>
              <a:rPr lang="zh-CN" altLang="en-US" b="0" dirty="0"/>
              <a:t>挂载</a:t>
            </a:r>
            <a:r>
              <a:rPr lang="en-US" altLang="zh-CN" b="0" dirty="0"/>
              <a:t>FS</a:t>
            </a:r>
            <a:r>
              <a:rPr lang="zh-CN" altLang="en-US" b="0" dirty="0"/>
              <a:t>时，读取日志，恢复出</a:t>
            </a:r>
            <a:r>
              <a:rPr lang="en-US" altLang="zh-CN" b="0" dirty="0" err="1"/>
              <a:t>jmap</a:t>
            </a:r>
            <a:endParaRPr lang="en-US" altLang="zh-CN" b="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997D77F-6BF2-6146-929A-3845482F84D5}"/>
              </a:ext>
            </a:extLst>
          </p:cNvPr>
          <p:cNvGrpSpPr/>
          <p:nvPr/>
        </p:nvGrpSpPr>
        <p:grpSpPr>
          <a:xfrm>
            <a:off x="1948055" y="3662740"/>
            <a:ext cx="5247889" cy="1437518"/>
            <a:chOff x="1150640" y="3380655"/>
            <a:chExt cx="6229672" cy="1706451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06770BF-C801-0A4E-A385-BFF73CB32859}"/>
                </a:ext>
              </a:extLst>
            </p:cNvPr>
            <p:cNvSpPr/>
            <p:nvPr/>
          </p:nvSpPr>
          <p:spPr>
            <a:xfrm>
              <a:off x="1150640" y="3380655"/>
              <a:ext cx="2520280" cy="122413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C7E3D2D-E22B-DF48-8ED5-AA027B9A4AB0}"/>
                </a:ext>
              </a:extLst>
            </p:cNvPr>
            <p:cNvSpPr/>
            <p:nvPr/>
          </p:nvSpPr>
          <p:spPr>
            <a:xfrm>
              <a:off x="4860032" y="3380655"/>
              <a:ext cx="2520280" cy="122413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D5FF18B-AF06-1041-87B0-4D35C897D4AE}"/>
                </a:ext>
              </a:extLst>
            </p:cNvPr>
            <p:cNvSpPr/>
            <p:nvPr/>
          </p:nvSpPr>
          <p:spPr>
            <a:xfrm>
              <a:off x="3155792" y="3443370"/>
              <a:ext cx="216024" cy="204089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0F937B5-A839-764A-B9BB-1EBD0E9741E2}"/>
                </a:ext>
              </a:extLst>
            </p:cNvPr>
            <p:cNvSpPr/>
            <p:nvPr/>
          </p:nvSpPr>
          <p:spPr>
            <a:xfrm>
              <a:off x="5004048" y="3812702"/>
              <a:ext cx="2304256" cy="204089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cxnSp>
          <p:nvCxnSpPr>
            <p:cNvPr id="6" name="Curved Connector 5">
              <a:extLst>
                <a:ext uri="{FF2B5EF4-FFF2-40B4-BE49-F238E27FC236}">
                  <a16:creationId xmlns:a16="http://schemas.microsoft.com/office/drawing/2014/main" id="{E274C77F-0C2E-6E47-ACF3-EE51C9ACD191}"/>
                </a:ext>
              </a:extLst>
            </p:cNvPr>
            <p:cNvCxnSpPr>
              <a:cxnSpLocks/>
              <a:endCxn id="21" idx="3"/>
            </p:cNvCxnSpPr>
            <p:nvPr/>
          </p:nvCxnSpPr>
          <p:spPr>
            <a:xfrm>
              <a:off x="1780230" y="3779284"/>
              <a:ext cx="143524" cy="101936"/>
            </a:xfrm>
            <a:prstGeom prst="bentConnector3">
              <a:avLst>
                <a:gd name="adj1" fmla="val 259276"/>
              </a:avLst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urved Connector 12">
              <a:extLst>
                <a:ext uri="{FF2B5EF4-FFF2-40B4-BE49-F238E27FC236}">
                  <a16:creationId xmlns:a16="http://schemas.microsoft.com/office/drawing/2014/main" id="{D7C97B8C-449F-D049-BAAB-742322217961}"/>
                </a:ext>
              </a:extLst>
            </p:cNvPr>
            <p:cNvCxnSpPr>
              <a:cxnSpLocks/>
              <a:stCxn id="10" idx="3"/>
            </p:cNvCxnSpPr>
            <p:nvPr/>
          </p:nvCxnSpPr>
          <p:spPr>
            <a:xfrm>
              <a:off x="3371816" y="3545415"/>
              <a:ext cx="2031506" cy="37776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9809FF6-F1C3-024E-BD63-EEDF9CD26A91}"/>
                </a:ext>
              </a:extLst>
            </p:cNvPr>
            <p:cNvSpPr txBox="1"/>
            <p:nvPr/>
          </p:nvSpPr>
          <p:spPr>
            <a:xfrm>
              <a:off x="4863832" y="3450522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N" i="1" dirty="0">
                  <a:solidFill>
                    <a:srgbClr val="C00000"/>
                  </a:solidFill>
                </a:rPr>
                <a:t>J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3077A1B8-4540-3648-A38C-F0591FDEDE23}"/>
                </a:ext>
              </a:extLst>
            </p:cNvPr>
            <p:cNvSpPr txBox="1"/>
            <p:nvPr/>
          </p:nvSpPr>
          <p:spPr>
            <a:xfrm>
              <a:off x="5857461" y="4717774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/>
                <a:t>磁盘</a:t>
              </a:r>
              <a:endParaRPr lang="en-CN" dirty="0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4206CA76-9B67-7941-862D-84E405F5A4E6}"/>
                </a:ext>
              </a:extLst>
            </p:cNvPr>
            <p:cNvSpPr txBox="1"/>
            <p:nvPr/>
          </p:nvSpPr>
          <p:spPr>
            <a:xfrm>
              <a:off x="2087614" y="4717774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/>
                <a:t>内存</a:t>
              </a:r>
              <a:endParaRPr lang="en-CN" dirty="0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0D797B19-D0EE-9B43-BEBF-1929FD0D20FC}"/>
                </a:ext>
              </a:extLst>
            </p:cNvPr>
            <p:cNvSpPr txBox="1"/>
            <p:nvPr/>
          </p:nvSpPr>
          <p:spPr>
            <a:xfrm>
              <a:off x="5844786" y="3985077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日志</a:t>
              </a:r>
              <a:endParaRPr lang="en-CN" sz="1400" dirty="0"/>
            </a:p>
          </p:txBody>
        </p: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310EB2FE-C775-E045-B548-C5CAE8B7967F}"/>
                </a:ext>
              </a:extLst>
            </p:cNvPr>
            <p:cNvGrpSpPr/>
            <p:nvPr/>
          </p:nvGrpSpPr>
          <p:grpSpPr>
            <a:xfrm>
              <a:off x="1481902" y="3590384"/>
              <a:ext cx="441852" cy="548581"/>
              <a:chOff x="112948" y="3284454"/>
              <a:chExt cx="441852" cy="548581"/>
            </a:xfrm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B33DE776-CCF7-9E49-B6A3-5645B7D40A88}"/>
                  </a:ext>
                </a:extLst>
              </p:cNvPr>
              <p:cNvSpPr/>
              <p:nvPr/>
            </p:nvSpPr>
            <p:spPr>
              <a:xfrm>
                <a:off x="112948" y="3284454"/>
                <a:ext cx="220926" cy="548581"/>
              </a:xfrm>
              <a:prstGeom prst="rect">
                <a:avLst/>
              </a:prstGeom>
              <a:ln>
                <a:solidFill>
                  <a:srgbClr val="C0000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CN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5D10C389-05A4-6C45-AAFB-0ACDAED6D8CF}"/>
                  </a:ext>
                </a:extLst>
              </p:cNvPr>
              <p:cNvSpPr/>
              <p:nvPr/>
            </p:nvSpPr>
            <p:spPr>
              <a:xfrm>
                <a:off x="333874" y="3284454"/>
                <a:ext cx="220926" cy="548581"/>
              </a:xfrm>
              <a:prstGeom prst="rect">
                <a:avLst/>
              </a:prstGeom>
              <a:ln>
                <a:solidFill>
                  <a:srgbClr val="C0000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CN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6B103C81-6451-9F47-ADE1-CA19117E7500}"/>
                  </a:ext>
                </a:extLst>
              </p:cNvPr>
              <p:cNvSpPr/>
              <p:nvPr/>
            </p:nvSpPr>
            <p:spPr>
              <a:xfrm>
                <a:off x="112948" y="3443370"/>
                <a:ext cx="220926" cy="263839"/>
              </a:xfrm>
              <a:prstGeom prst="rect">
                <a:avLst/>
              </a:prstGeom>
              <a:ln>
                <a:solidFill>
                  <a:srgbClr val="C0000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CN" i="1" dirty="0"/>
                  <a:t>S</a:t>
                </a: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41998769-BEC3-C549-BFC8-660DA44D1AA2}"/>
                  </a:ext>
                </a:extLst>
              </p:cNvPr>
              <p:cNvSpPr/>
              <p:nvPr/>
            </p:nvSpPr>
            <p:spPr>
              <a:xfrm>
                <a:off x="333874" y="3443370"/>
                <a:ext cx="220926" cy="263839"/>
              </a:xfrm>
              <a:prstGeom prst="rect">
                <a:avLst/>
              </a:prstGeom>
              <a:ln>
                <a:solidFill>
                  <a:srgbClr val="C0000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CN" i="1" dirty="0"/>
                  <a:t>J</a:t>
                </a:r>
              </a:p>
            </p:txBody>
          </p: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0571DA5-B430-8A4C-BC13-A66A3A9D13B6}"/>
                </a:ext>
              </a:extLst>
            </p:cNvPr>
            <p:cNvSpPr txBox="1"/>
            <p:nvPr/>
          </p:nvSpPr>
          <p:spPr>
            <a:xfrm>
              <a:off x="1380525" y="4088655"/>
              <a:ext cx="6848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N" dirty="0"/>
                <a:t>jmap</a:t>
              </a:r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EB568650-5C78-D74B-9245-D83C998759AF}"/>
              </a:ext>
            </a:extLst>
          </p:cNvPr>
          <p:cNvSpPr/>
          <p:nvPr/>
        </p:nvSpPr>
        <p:spPr>
          <a:xfrm>
            <a:off x="5347054" y="4441882"/>
            <a:ext cx="191095" cy="18053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C79B04B-BE3E-2648-9588-B3B136F0A9C5}"/>
              </a:ext>
            </a:extLst>
          </p:cNvPr>
          <p:cNvSpPr txBox="1"/>
          <p:nvPr/>
        </p:nvSpPr>
        <p:spPr>
          <a:xfrm>
            <a:off x="5487775" y="4350980"/>
            <a:ext cx="299485" cy="3267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i="1" dirty="0">
                <a:solidFill>
                  <a:srgbClr val="C00000"/>
                </a:solidFill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353857292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61907-24B5-4C4A-BF38-D57BBE425A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实现：对</a:t>
            </a:r>
            <a:r>
              <a:rPr lang="en-US" altLang="zh-CN" dirty="0"/>
              <a:t>Ext4</a:t>
            </a:r>
            <a:r>
              <a:rPr lang="zh-CN" altLang="en-US" dirty="0"/>
              <a:t>的</a:t>
            </a:r>
            <a:r>
              <a:rPr lang="zh-CN" altLang="en-CN" dirty="0"/>
              <a:t>修改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C0AF7F-BF44-4943-85D6-A1A37B88D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30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1AC04C-8753-6446-A72F-F4AF230716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36B03B-6CA1-D142-A7B5-A8A902683D26}"/>
              </a:ext>
            </a:extLst>
          </p:cNvPr>
          <p:cNvSpPr txBox="1"/>
          <p:nvPr/>
        </p:nvSpPr>
        <p:spPr>
          <a:xfrm>
            <a:off x="870050" y="1752165"/>
            <a:ext cx="6046848" cy="43088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rgbClr val="C00000"/>
                </a:solidFill>
                <a:latin typeface="Courier" pitchFamily="2" charset="0"/>
              </a:rPr>
              <a:t>-</a:t>
            </a:r>
            <a:r>
              <a:rPr lang="zh-CN" altLang="en-US" sz="1100" dirty="0">
                <a:solidFill>
                  <a:srgbClr val="C00000"/>
                </a:solidFill>
                <a:latin typeface="Courier" pitchFamily="2" charset="0"/>
              </a:rPr>
              <a:t>  </a:t>
            </a:r>
            <a:r>
              <a:rPr lang="en-US" sz="1100" dirty="0" err="1">
                <a:solidFill>
                  <a:srgbClr val="C00000"/>
                </a:solidFill>
                <a:latin typeface="Courier" pitchFamily="2" charset="0"/>
              </a:rPr>
              <a:t>submit_bh</a:t>
            </a:r>
            <a:r>
              <a:rPr lang="en-US" sz="1100" dirty="0">
                <a:solidFill>
                  <a:srgbClr val="C00000"/>
                </a:solidFill>
                <a:latin typeface="Courier" pitchFamily="2" charset="0"/>
              </a:rPr>
              <a:t>(READ | REQ_META | REQ_PRIO, </a:t>
            </a:r>
            <a:r>
              <a:rPr lang="en-US" sz="1100" dirty="0" err="1">
                <a:solidFill>
                  <a:srgbClr val="C00000"/>
                </a:solidFill>
                <a:latin typeface="Courier" pitchFamily="2" charset="0"/>
              </a:rPr>
              <a:t>bh</a:t>
            </a:r>
            <a:r>
              <a:rPr lang="en-US" sz="1100" dirty="0">
                <a:solidFill>
                  <a:srgbClr val="C00000"/>
                </a:solidFill>
                <a:latin typeface="Courier" pitchFamily="2" charset="0"/>
              </a:rPr>
              <a:t>);</a:t>
            </a:r>
          </a:p>
          <a:p>
            <a:r>
              <a:rPr lang="en-US" sz="1100" dirty="0">
                <a:solidFill>
                  <a:srgbClr val="0A9940"/>
                </a:solidFill>
                <a:latin typeface="Courier" pitchFamily="2" charset="0"/>
              </a:rPr>
              <a:t>+</a:t>
            </a:r>
            <a:r>
              <a:rPr lang="zh-CN" altLang="en-US" sz="1100" dirty="0">
                <a:solidFill>
                  <a:srgbClr val="0A9940"/>
                </a:solidFill>
                <a:latin typeface="Courier" pitchFamily="2" charset="0"/>
              </a:rPr>
              <a:t>  </a:t>
            </a:r>
            <a:r>
              <a:rPr lang="en-US" sz="1100" dirty="0">
                <a:solidFill>
                  <a:srgbClr val="0A9940"/>
                </a:solidFill>
                <a:latin typeface="Courier" pitchFamily="2" charset="0"/>
              </a:rPr>
              <a:t>jbd2_submit_bh(journal, READ | REQ_META | REQ_PRIO, </a:t>
            </a:r>
            <a:r>
              <a:rPr lang="en-US" sz="1100" dirty="0" err="1">
                <a:solidFill>
                  <a:srgbClr val="0A9940"/>
                </a:solidFill>
                <a:latin typeface="Courier" pitchFamily="2" charset="0"/>
              </a:rPr>
              <a:t>bh</a:t>
            </a:r>
            <a:r>
              <a:rPr lang="en-US" sz="1100" dirty="0">
                <a:solidFill>
                  <a:srgbClr val="0A9940"/>
                </a:solidFill>
                <a:latin typeface="Courier" pitchFamily="2" charset="0"/>
              </a:rPr>
              <a:t>, __</a:t>
            </a:r>
            <a:r>
              <a:rPr lang="en-US" sz="1100" dirty="0" err="1">
                <a:solidFill>
                  <a:srgbClr val="0A9940"/>
                </a:solidFill>
                <a:latin typeface="Courier" pitchFamily="2" charset="0"/>
              </a:rPr>
              <a:t>func</a:t>
            </a:r>
            <a:r>
              <a:rPr lang="en-US" sz="1100" dirty="0">
                <a:solidFill>
                  <a:srgbClr val="0A9940"/>
                </a:solidFill>
                <a:latin typeface="Courier" pitchFamily="2" charset="0"/>
              </a:rPr>
              <a:t>__);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091EFBC-E259-2B40-83C8-E0BC31CCDC16}"/>
              </a:ext>
            </a:extLst>
          </p:cNvPr>
          <p:cNvSpPr txBox="1"/>
          <p:nvPr/>
        </p:nvSpPr>
        <p:spPr>
          <a:xfrm>
            <a:off x="901385" y="2719780"/>
            <a:ext cx="5955476" cy="235449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050" dirty="0">
                <a:solidFill>
                  <a:srgbClr val="0A9940"/>
                </a:solidFill>
                <a:latin typeface="Courier" pitchFamily="2" charset="0"/>
              </a:rPr>
              <a:t>+void jbd2_submit_bh(</a:t>
            </a:r>
            <a:r>
              <a:rPr lang="en-US" sz="1050" dirty="0" err="1">
                <a:solidFill>
                  <a:srgbClr val="0A9940"/>
                </a:solidFill>
                <a:latin typeface="Courier" pitchFamily="2" charset="0"/>
              </a:rPr>
              <a:t>journal_t</a:t>
            </a:r>
            <a:r>
              <a:rPr lang="en-US" sz="1050" dirty="0">
                <a:solidFill>
                  <a:srgbClr val="0A9940"/>
                </a:solidFill>
                <a:latin typeface="Courier" pitchFamily="2" charset="0"/>
              </a:rPr>
              <a:t> *journal, int </a:t>
            </a:r>
            <a:r>
              <a:rPr lang="en-US" sz="1050" dirty="0" err="1">
                <a:solidFill>
                  <a:srgbClr val="0A9940"/>
                </a:solidFill>
                <a:latin typeface="Courier" pitchFamily="2" charset="0"/>
              </a:rPr>
              <a:t>rw</a:t>
            </a:r>
            <a:r>
              <a:rPr lang="en-US" sz="1050" dirty="0">
                <a:solidFill>
                  <a:srgbClr val="0A9940"/>
                </a:solidFill>
                <a:latin typeface="Courier" pitchFamily="2" charset="0"/>
              </a:rPr>
              <a:t>, struct </a:t>
            </a:r>
            <a:r>
              <a:rPr lang="en-US" sz="1050" dirty="0" err="1">
                <a:solidFill>
                  <a:srgbClr val="0A9940"/>
                </a:solidFill>
                <a:latin typeface="Courier" pitchFamily="2" charset="0"/>
              </a:rPr>
              <a:t>buffer_head</a:t>
            </a:r>
            <a:r>
              <a:rPr lang="en-US" sz="1050" dirty="0">
                <a:solidFill>
                  <a:srgbClr val="0A9940"/>
                </a:solidFill>
                <a:latin typeface="Courier" pitchFamily="2" charset="0"/>
              </a:rPr>
              <a:t> *</a:t>
            </a:r>
            <a:r>
              <a:rPr lang="en-US" sz="1050" dirty="0" err="1">
                <a:solidFill>
                  <a:srgbClr val="0A9940"/>
                </a:solidFill>
                <a:latin typeface="Courier" pitchFamily="2" charset="0"/>
              </a:rPr>
              <a:t>bh</a:t>
            </a:r>
            <a:r>
              <a:rPr lang="en-US" sz="1050" dirty="0">
                <a:solidFill>
                  <a:srgbClr val="0A9940"/>
                </a:solidFill>
                <a:latin typeface="Courier" pitchFamily="2" charset="0"/>
              </a:rPr>
              <a:t>,</a:t>
            </a:r>
          </a:p>
          <a:p>
            <a:r>
              <a:rPr lang="en-US" sz="1050" dirty="0">
                <a:solidFill>
                  <a:srgbClr val="0A9940"/>
                </a:solidFill>
                <a:latin typeface="Courier" pitchFamily="2" charset="0"/>
              </a:rPr>
              <a:t>+		const char *</a:t>
            </a:r>
            <a:r>
              <a:rPr lang="en-US" sz="1050" dirty="0" err="1">
                <a:solidFill>
                  <a:srgbClr val="0A9940"/>
                </a:solidFill>
                <a:latin typeface="Courier" pitchFamily="2" charset="0"/>
              </a:rPr>
              <a:t>func</a:t>
            </a:r>
            <a:r>
              <a:rPr lang="en-US" sz="1050" dirty="0">
                <a:solidFill>
                  <a:srgbClr val="0A9940"/>
                </a:solidFill>
                <a:latin typeface="Courier" pitchFamily="2" charset="0"/>
              </a:rPr>
              <a:t>)</a:t>
            </a:r>
          </a:p>
          <a:p>
            <a:r>
              <a:rPr lang="en-US" sz="1050" dirty="0">
                <a:solidFill>
                  <a:srgbClr val="0A9940"/>
                </a:solidFill>
                <a:latin typeface="Courier" pitchFamily="2" charset="0"/>
              </a:rPr>
              <a:t>+{</a:t>
            </a:r>
          </a:p>
          <a:p>
            <a:r>
              <a:rPr lang="en-US" sz="1050" dirty="0">
                <a:solidFill>
                  <a:srgbClr val="0A9940"/>
                </a:solidFill>
                <a:latin typeface="Courier" pitchFamily="2" charset="0"/>
              </a:rPr>
              <a:t>+	</a:t>
            </a:r>
            <a:r>
              <a:rPr lang="en-US" sz="1050" dirty="0" err="1">
                <a:solidFill>
                  <a:srgbClr val="0A9940"/>
                </a:solidFill>
                <a:latin typeface="Courier" pitchFamily="2" charset="0"/>
              </a:rPr>
              <a:t>sector_t</a:t>
            </a:r>
            <a:r>
              <a:rPr lang="en-US" sz="1050" dirty="0">
                <a:solidFill>
                  <a:srgbClr val="0A9940"/>
                </a:solidFill>
                <a:latin typeface="Courier" pitchFamily="2" charset="0"/>
              </a:rPr>
              <a:t> </a:t>
            </a:r>
            <a:r>
              <a:rPr lang="en-US" sz="1050" dirty="0" err="1">
                <a:solidFill>
                  <a:srgbClr val="0A9940"/>
                </a:solidFill>
                <a:latin typeface="Courier" pitchFamily="2" charset="0"/>
              </a:rPr>
              <a:t>fsblk</a:t>
            </a:r>
            <a:r>
              <a:rPr lang="en-US" sz="1050" dirty="0">
                <a:solidFill>
                  <a:srgbClr val="0A9940"/>
                </a:solidFill>
                <a:latin typeface="Courier" pitchFamily="2" charset="0"/>
              </a:rPr>
              <a:t> = </a:t>
            </a:r>
            <a:r>
              <a:rPr lang="en-US" sz="1050" dirty="0" err="1">
                <a:solidFill>
                  <a:srgbClr val="0A9940"/>
                </a:solidFill>
                <a:latin typeface="Courier" pitchFamily="2" charset="0"/>
              </a:rPr>
              <a:t>bh</a:t>
            </a:r>
            <a:r>
              <a:rPr lang="en-US" sz="1050" dirty="0">
                <a:solidFill>
                  <a:srgbClr val="0A9940"/>
                </a:solidFill>
                <a:latin typeface="Courier" pitchFamily="2" charset="0"/>
              </a:rPr>
              <a:t>-&gt;</a:t>
            </a:r>
            <a:r>
              <a:rPr lang="en-US" sz="1050" dirty="0" err="1">
                <a:solidFill>
                  <a:srgbClr val="0A9940"/>
                </a:solidFill>
                <a:latin typeface="Courier" pitchFamily="2" charset="0"/>
              </a:rPr>
              <a:t>b_blocknr</a:t>
            </a:r>
            <a:r>
              <a:rPr lang="en-US" sz="1050" dirty="0">
                <a:solidFill>
                  <a:srgbClr val="0A9940"/>
                </a:solidFill>
                <a:latin typeface="Courier" pitchFamily="2" charset="0"/>
              </a:rPr>
              <a:t>;</a:t>
            </a:r>
          </a:p>
          <a:p>
            <a:r>
              <a:rPr lang="en-US" altLang="zh-CN" sz="1050" dirty="0">
                <a:solidFill>
                  <a:srgbClr val="0A9940"/>
                </a:solidFill>
                <a:latin typeface="Courier" pitchFamily="2" charset="0"/>
              </a:rPr>
              <a:t>+</a:t>
            </a:r>
            <a:r>
              <a:rPr lang="zh-CN" altLang="en-US" sz="1050" dirty="0">
                <a:solidFill>
                  <a:srgbClr val="0A9940"/>
                </a:solidFill>
                <a:latin typeface="Courier" pitchFamily="2" charset="0"/>
              </a:rPr>
              <a:t>           </a:t>
            </a:r>
            <a:r>
              <a:rPr lang="en-US" altLang="zh-CN" sz="1050" dirty="0">
                <a:solidFill>
                  <a:srgbClr val="0A9940"/>
                </a:solidFill>
                <a:latin typeface="Courier" pitchFamily="2" charset="0"/>
              </a:rPr>
              <a:t>...</a:t>
            </a:r>
            <a:endParaRPr lang="en-US" sz="1050" dirty="0">
              <a:solidFill>
                <a:srgbClr val="0A9940"/>
              </a:solidFill>
              <a:latin typeface="Courier" pitchFamily="2" charset="0"/>
            </a:endParaRPr>
          </a:p>
          <a:p>
            <a:r>
              <a:rPr lang="en-US" sz="1050" dirty="0">
                <a:solidFill>
                  <a:srgbClr val="0A9940"/>
                </a:solidFill>
                <a:latin typeface="Courier" pitchFamily="2" charset="0"/>
              </a:rPr>
              <a:t>+	je = jbd2_jmap_lookup(journal, </a:t>
            </a:r>
            <a:r>
              <a:rPr lang="en-US" sz="1050" dirty="0" err="1">
                <a:solidFill>
                  <a:srgbClr val="0A9940"/>
                </a:solidFill>
                <a:latin typeface="Courier" pitchFamily="2" charset="0"/>
              </a:rPr>
              <a:t>fsblk</a:t>
            </a:r>
            <a:r>
              <a:rPr lang="en-US" sz="1050" dirty="0">
                <a:solidFill>
                  <a:srgbClr val="0A9940"/>
                </a:solidFill>
                <a:latin typeface="Courier" pitchFamily="2" charset="0"/>
              </a:rPr>
              <a:t>, </a:t>
            </a:r>
            <a:r>
              <a:rPr lang="en-US" sz="1050" dirty="0" err="1">
                <a:solidFill>
                  <a:srgbClr val="0A9940"/>
                </a:solidFill>
                <a:latin typeface="Courier" pitchFamily="2" charset="0"/>
              </a:rPr>
              <a:t>func</a:t>
            </a:r>
            <a:r>
              <a:rPr lang="en-US" sz="1050" dirty="0">
                <a:solidFill>
                  <a:srgbClr val="0A9940"/>
                </a:solidFill>
                <a:latin typeface="Courier" pitchFamily="2" charset="0"/>
              </a:rPr>
              <a:t>);</a:t>
            </a:r>
          </a:p>
          <a:p>
            <a:r>
              <a:rPr lang="en-US" sz="1050" dirty="0">
                <a:solidFill>
                  <a:srgbClr val="0A9940"/>
                </a:solidFill>
                <a:latin typeface="Courier" pitchFamily="2" charset="0"/>
              </a:rPr>
              <a:t>+	if (!je) {</a:t>
            </a:r>
          </a:p>
          <a:p>
            <a:r>
              <a:rPr lang="en-US" sz="1050" dirty="0">
                <a:solidFill>
                  <a:srgbClr val="0A9940"/>
                </a:solidFill>
                <a:latin typeface="Courier" pitchFamily="2" charset="0"/>
              </a:rPr>
              <a:t>+		</a:t>
            </a:r>
            <a:r>
              <a:rPr lang="en-US" sz="1050" dirty="0" err="1">
                <a:solidFill>
                  <a:srgbClr val="0A9940"/>
                </a:solidFill>
                <a:latin typeface="Courier" pitchFamily="2" charset="0"/>
              </a:rPr>
              <a:t>submit_bh</a:t>
            </a:r>
            <a:r>
              <a:rPr lang="en-US" sz="1050" dirty="0">
                <a:solidFill>
                  <a:srgbClr val="0A9940"/>
                </a:solidFill>
                <a:latin typeface="Courier" pitchFamily="2" charset="0"/>
              </a:rPr>
              <a:t>(</a:t>
            </a:r>
            <a:r>
              <a:rPr lang="en-US" sz="1050" dirty="0" err="1">
                <a:solidFill>
                  <a:srgbClr val="0A9940"/>
                </a:solidFill>
                <a:latin typeface="Courier" pitchFamily="2" charset="0"/>
              </a:rPr>
              <a:t>rw</a:t>
            </a:r>
            <a:r>
              <a:rPr lang="en-US" sz="1050" dirty="0">
                <a:solidFill>
                  <a:srgbClr val="0A9940"/>
                </a:solidFill>
                <a:latin typeface="Courier" pitchFamily="2" charset="0"/>
              </a:rPr>
              <a:t>, </a:t>
            </a:r>
            <a:r>
              <a:rPr lang="en-US" sz="1050" dirty="0" err="1">
                <a:solidFill>
                  <a:srgbClr val="0A9940"/>
                </a:solidFill>
                <a:latin typeface="Courier" pitchFamily="2" charset="0"/>
              </a:rPr>
              <a:t>bh</a:t>
            </a:r>
            <a:r>
              <a:rPr lang="en-US" sz="1050" dirty="0">
                <a:solidFill>
                  <a:srgbClr val="0A9940"/>
                </a:solidFill>
                <a:latin typeface="Courier" pitchFamily="2" charset="0"/>
              </a:rPr>
              <a:t>);</a:t>
            </a:r>
          </a:p>
          <a:p>
            <a:r>
              <a:rPr lang="en-US" sz="1050" dirty="0">
                <a:solidFill>
                  <a:srgbClr val="0A9940"/>
                </a:solidFill>
                <a:latin typeface="Courier" pitchFamily="2" charset="0"/>
              </a:rPr>
              <a:t>+		return;</a:t>
            </a:r>
          </a:p>
          <a:p>
            <a:r>
              <a:rPr lang="en-US" sz="1050" dirty="0">
                <a:solidFill>
                  <a:srgbClr val="0A9940"/>
                </a:solidFill>
                <a:latin typeface="Courier" pitchFamily="2" charset="0"/>
              </a:rPr>
              <a:t>+	}</a:t>
            </a:r>
          </a:p>
          <a:p>
            <a:r>
              <a:rPr lang="en-US" altLang="zh-CN" sz="1050" dirty="0">
                <a:solidFill>
                  <a:srgbClr val="0A9940"/>
                </a:solidFill>
                <a:latin typeface="Courier" pitchFamily="2" charset="0"/>
              </a:rPr>
              <a:t>+</a:t>
            </a:r>
            <a:r>
              <a:rPr lang="zh-CN" altLang="en-US" sz="1050" dirty="0">
                <a:solidFill>
                  <a:srgbClr val="0A9940"/>
                </a:solidFill>
                <a:latin typeface="Courier" pitchFamily="2" charset="0"/>
              </a:rPr>
              <a:t>           </a:t>
            </a:r>
            <a:r>
              <a:rPr lang="en-US" altLang="zh-CN" sz="1050" dirty="0">
                <a:solidFill>
                  <a:srgbClr val="0A9940"/>
                </a:solidFill>
                <a:latin typeface="Courier" pitchFamily="2" charset="0"/>
              </a:rPr>
              <a:t>...</a:t>
            </a:r>
            <a:endParaRPr lang="en-US" sz="1050" dirty="0">
              <a:solidFill>
                <a:srgbClr val="0A9940"/>
              </a:solidFill>
              <a:latin typeface="Courier" pitchFamily="2" charset="0"/>
            </a:endParaRPr>
          </a:p>
          <a:p>
            <a:r>
              <a:rPr lang="en-US" sz="1050" dirty="0">
                <a:solidFill>
                  <a:srgbClr val="0A9940"/>
                </a:solidFill>
                <a:latin typeface="Courier" pitchFamily="2" charset="0"/>
              </a:rPr>
              <a:t>+	</a:t>
            </a:r>
            <a:r>
              <a:rPr lang="en-US" sz="1050" dirty="0" err="1">
                <a:solidFill>
                  <a:srgbClr val="0A9940"/>
                </a:solidFill>
                <a:latin typeface="Courier" pitchFamily="2" charset="0"/>
              </a:rPr>
              <a:t>logblk</a:t>
            </a:r>
            <a:r>
              <a:rPr lang="en-US" sz="1050" dirty="0">
                <a:solidFill>
                  <a:srgbClr val="0A9940"/>
                </a:solidFill>
                <a:latin typeface="Courier" pitchFamily="2" charset="0"/>
              </a:rPr>
              <a:t> = je-&gt;</a:t>
            </a:r>
            <a:r>
              <a:rPr lang="en-US" sz="1050" dirty="0" err="1">
                <a:solidFill>
                  <a:srgbClr val="0A9940"/>
                </a:solidFill>
                <a:latin typeface="Courier" pitchFamily="2" charset="0"/>
              </a:rPr>
              <a:t>mapping.logblk</a:t>
            </a:r>
            <a:r>
              <a:rPr lang="en-US" sz="1050" dirty="0">
                <a:solidFill>
                  <a:srgbClr val="0A9940"/>
                </a:solidFill>
                <a:latin typeface="Courier" pitchFamily="2" charset="0"/>
              </a:rPr>
              <a:t>;</a:t>
            </a:r>
          </a:p>
          <a:p>
            <a:r>
              <a:rPr lang="en-US" sz="1050" dirty="0">
                <a:solidFill>
                  <a:srgbClr val="0A9940"/>
                </a:solidFill>
                <a:latin typeface="Courier" pitchFamily="2" charset="0"/>
              </a:rPr>
              <a:t>+	</a:t>
            </a:r>
            <a:r>
              <a:rPr lang="en-US" sz="1050" dirty="0" err="1">
                <a:solidFill>
                  <a:srgbClr val="0A9940"/>
                </a:solidFill>
                <a:latin typeface="Courier" pitchFamily="2" charset="0"/>
              </a:rPr>
              <a:t>read_block_from_log</a:t>
            </a:r>
            <a:r>
              <a:rPr lang="en-US" sz="1050" dirty="0">
                <a:solidFill>
                  <a:srgbClr val="0A9940"/>
                </a:solidFill>
                <a:latin typeface="Courier" pitchFamily="2" charset="0"/>
              </a:rPr>
              <a:t>(journal, </a:t>
            </a:r>
            <a:r>
              <a:rPr lang="en-US" sz="1050" dirty="0" err="1">
                <a:solidFill>
                  <a:srgbClr val="0A9940"/>
                </a:solidFill>
                <a:latin typeface="Courier" pitchFamily="2" charset="0"/>
              </a:rPr>
              <a:t>rw</a:t>
            </a:r>
            <a:r>
              <a:rPr lang="en-US" sz="1050" dirty="0">
                <a:solidFill>
                  <a:srgbClr val="0A9940"/>
                </a:solidFill>
                <a:latin typeface="Courier" pitchFamily="2" charset="0"/>
              </a:rPr>
              <a:t>, </a:t>
            </a:r>
            <a:r>
              <a:rPr lang="en-US" sz="1050" dirty="0" err="1">
                <a:solidFill>
                  <a:srgbClr val="0A9940"/>
                </a:solidFill>
                <a:latin typeface="Courier" pitchFamily="2" charset="0"/>
              </a:rPr>
              <a:t>bh</a:t>
            </a:r>
            <a:r>
              <a:rPr lang="en-US" sz="1050" dirty="0">
                <a:solidFill>
                  <a:srgbClr val="0A9940"/>
                </a:solidFill>
                <a:latin typeface="Courier" pitchFamily="2" charset="0"/>
              </a:rPr>
              <a:t>, </a:t>
            </a:r>
            <a:r>
              <a:rPr lang="en-US" sz="1050" dirty="0" err="1">
                <a:solidFill>
                  <a:srgbClr val="0A9940"/>
                </a:solidFill>
                <a:latin typeface="Courier" pitchFamily="2" charset="0"/>
              </a:rPr>
              <a:t>logblk</a:t>
            </a:r>
            <a:r>
              <a:rPr lang="en-US" sz="1050" dirty="0">
                <a:solidFill>
                  <a:srgbClr val="0A9940"/>
                </a:solidFill>
                <a:latin typeface="Courier" pitchFamily="2" charset="0"/>
              </a:rPr>
              <a:t>);</a:t>
            </a:r>
          </a:p>
          <a:p>
            <a:r>
              <a:rPr lang="en-US" sz="1050" dirty="0">
                <a:solidFill>
                  <a:srgbClr val="0A9940"/>
                </a:solidFill>
                <a:latin typeface="Courier" pitchFamily="2" charset="0"/>
              </a:rPr>
              <a:t>+}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C82BE41-ECF2-E341-B204-F52A131B8667}"/>
              </a:ext>
            </a:extLst>
          </p:cNvPr>
          <p:cNvSpPr txBox="1"/>
          <p:nvPr/>
        </p:nvSpPr>
        <p:spPr>
          <a:xfrm>
            <a:off x="7079655" y="3250931"/>
            <a:ext cx="82426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CN" sz="1200" dirty="0">
                <a:solidFill>
                  <a:srgbClr val="C00000"/>
                </a:solidFill>
              </a:rPr>
              <a:t>查找</a:t>
            </a:r>
            <a:r>
              <a:rPr lang="en-US" altLang="zh-CN" sz="1200" dirty="0" err="1">
                <a:solidFill>
                  <a:srgbClr val="C00000"/>
                </a:solidFill>
              </a:rPr>
              <a:t>jmap</a:t>
            </a:r>
            <a:endParaRPr lang="en-CN" sz="1200" dirty="0">
              <a:solidFill>
                <a:srgbClr val="C00000"/>
              </a:solidFill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D4E02DE-AFC6-704E-BAD6-318A5158E3BE}"/>
              </a:ext>
            </a:extLst>
          </p:cNvPr>
          <p:cNvCxnSpPr>
            <a:cxnSpLocks/>
            <a:stCxn id="12" idx="1"/>
          </p:cNvCxnSpPr>
          <p:nvPr/>
        </p:nvCxnSpPr>
        <p:spPr>
          <a:xfrm flipH="1">
            <a:off x="5495479" y="3389431"/>
            <a:ext cx="1584176" cy="2158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C3638ACC-9F99-534C-B131-93D992602AD3}"/>
              </a:ext>
            </a:extLst>
          </p:cNvPr>
          <p:cNvSpPr txBox="1"/>
          <p:nvPr/>
        </p:nvSpPr>
        <p:spPr>
          <a:xfrm>
            <a:off x="5711503" y="3952289"/>
            <a:ext cx="28680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solidFill>
                  <a:srgbClr val="C00000"/>
                </a:solidFill>
                <a:latin typeface="Courier" pitchFamily="2" charset="0"/>
              </a:rPr>
              <a:t>不在</a:t>
            </a:r>
            <a:r>
              <a:rPr lang="en-US" altLang="zh-CN" sz="1200" dirty="0" err="1">
                <a:solidFill>
                  <a:srgbClr val="C00000"/>
                </a:solidFill>
                <a:latin typeface="Courier" pitchFamily="2" charset="0"/>
              </a:rPr>
              <a:t>jmap</a:t>
            </a:r>
            <a:r>
              <a:rPr lang="zh-CN" altLang="en-US" sz="1200" dirty="0">
                <a:solidFill>
                  <a:srgbClr val="C00000"/>
                </a:solidFill>
                <a:latin typeface="Courier" pitchFamily="2" charset="0"/>
              </a:rPr>
              <a:t>中，直接访问磁盘对应</a:t>
            </a:r>
            <a:r>
              <a:rPr lang="en-US" altLang="zh-CN" sz="1200" dirty="0">
                <a:solidFill>
                  <a:srgbClr val="C00000"/>
                </a:solidFill>
                <a:latin typeface="Courier" pitchFamily="2" charset="0"/>
              </a:rPr>
              <a:t>block</a:t>
            </a:r>
            <a:endParaRPr lang="en-CN" sz="1200" dirty="0">
              <a:solidFill>
                <a:srgbClr val="C00000"/>
              </a:solidFill>
            </a:endParaRPr>
          </a:p>
        </p:txBody>
      </p:sp>
      <p:sp>
        <p:nvSpPr>
          <p:cNvPr id="18" name="Right Brace 17">
            <a:extLst>
              <a:ext uri="{FF2B5EF4-FFF2-40B4-BE49-F238E27FC236}">
                <a16:creationId xmlns:a16="http://schemas.microsoft.com/office/drawing/2014/main" id="{B1BDF1F4-D993-A445-AC7A-3021185B9FDE}"/>
              </a:ext>
            </a:extLst>
          </p:cNvPr>
          <p:cNvSpPr/>
          <p:nvPr/>
        </p:nvSpPr>
        <p:spPr>
          <a:xfrm>
            <a:off x="5495479" y="3815821"/>
            <a:ext cx="179040" cy="548964"/>
          </a:xfrm>
          <a:prstGeom prst="rightBrace">
            <a:avLst>
              <a:gd name="adj1" fmla="val 28600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600C4B8-01BD-D140-8FD3-A18CB032B062}"/>
              </a:ext>
            </a:extLst>
          </p:cNvPr>
          <p:cNvSpPr txBox="1"/>
          <p:nvPr/>
        </p:nvSpPr>
        <p:spPr>
          <a:xfrm>
            <a:off x="5711503" y="4576250"/>
            <a:ext cx="33297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solidFill>
                  <a:srgbClr val="C00000"/>
                </a:solidFill>
                <a:latin typeface="Courier" pitchFamily="2" charset="0"/>
              </a:rPr>
              <a:t>根据</a:t>
            </a:r>
            <a:r>
              <a:rPr lang="en-US" altLang="zh-CN" sz="1200" dirty="0" err="1">
                <a:solidFill>
                  <a:srgbClr val="C00000"/>
                </a:solidFill>
                <a:latin typeface="Courier" pitchFamily="2" charset="0"/>
              </a:rPr>
              <a:t>jmap</a:t>
            </a:r>
            <a:r>
              <a:rPr lang="zh-CN" altLang="en-US" sz="1200" dirty="0">
                <a:solidFill>
                  <a:srgbClr val="C00000"/>
                </a:solidFill>
                <a:latin typeface="Courier" pitchFamily="2" charset="0"/>
              </a:rPr>
              <a:t>中记录的地址，在日志中读取</a:t>
            </a:r>
            <a:r>
              <a:rPr lang="en-US" altLang="zh-CN" sz="1200" dirty="0">
                <a:solidFill>
                  <a:srgbClr val="C00000"/>
                </a:solidFill>
                <a:latin typeface="Courier" pitchFamily="2" charset="0"/>
              </a:rPr>
              <a:t>block</a:t>
            </a: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1020F353-B4B8-F94F-9684-DE464272823E}"/>
              </a:ext>
            </a:extLst>
          </p:cNvPr>
          <p:cNvSpPr/>
          <p:nvPr/>
        </p:nvSpPr>
        <p:spPr>
          <a:xfrm>
            <a:off x="5508498" y="4527867"/>
            <a:ext cx="179040" cy="412982"/>
          </a:xfrm>
          <a:prstGeom prst="rightBrace">
            <a:avLst>
              <a:gd name="adj1" fmla="val 28600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AD06416-425D-0E4E-91D6-86AD2EAA6230}"/>
              </a:ext>
            </a:extLst>
          </p:cNvPr>
          <p:cNvSpPr txBox="1"/>
          <p:nvPr/>
        </p:nvSpPr>
        <p:spPr>
          <a:xfrm>
            <a:off x="769994" y="2297021"/>
            <a:ext cx="30796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CN" sz="1600" dirty="0"/>
              <a:t>新增</a:t>
            </a:r>
            <a:r>
              <a:rPr lang="zh-CN" altLang="en-US" sz="1600" dirty="0"/>
              <a:t>文件：</a:t>
            </a:r>
            <a:r>
              <a:rPr lang="en-US" altLang="zh-CN" sz="1600" dirty="0" err="1"/>
              <a:t>jmap.c</a:t>
            </a:r>
            <a:r>
              <a:rPr lang="zh-CN" altLang="en-US" sz="1600" dirty="0"/>
              <a:t>（维护</a:t>
            </a:r>
            <a:r>
              <a:rPr lang="en-US" altLang="zh-CN" sz="1600" dirty="0" err="1"/>
              <a:t>jmap</a:t>
            </a:r>
            <a:r>
              <a:rPr lang="zh-CN" altLang="en-US" sz="1600" dirty="0"/>
              <a:t>）</a:t>
            </a:r>
            <a:endParaRPr lang="en-CN" sz="16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FBF638C-4578-7A4F-A49A-B593B2333EF7}"/>
              </a:ext>
            </a:extLst>
          </p:cNvPr>
          <p:cNvSpPr txBox="1"/>
          <p:nvPr/>
        </p:nvSpPr>
        <p:spPr>
          <a:xfrm>
            <a:off x="755650" y="1364359"/>
            <a:ext cx="33810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/>
              <a:t>修改的</a:t>
            </a:r>
            <a:r>
              <a:rPr lang="en-US" altLang="zh-CN" sz="1600" dirty="0"/>
              <a:t>~40</a:t>
            </a:r>
            <a:r>
              <a:rPr lang="zh-CN" altLang="en-US" sz="1600" dirty="0"/>
              <a:t>行代码：将请求转给</a:t>
            </a:r>
            <a:r>
              <a:rPr lang="en-US" altLang="zh-CN" sz="1600" dirty="0"/>
              <a:t>jbd2</a:t>
            </a:r>
            <a:endParaRPr lang="en-CN" sz="16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18A9A06-31D4-E74F-87B2-DDB037EFA37B}"/>
              </a:ext>
            </a:extLst>
          </p:cNvPr>
          <p:cNvSpPr txBox="1"/>
          <p:nvPr/>
        </p:nvSpPr>
        <p:spPr>
          <a:xfrm>
            <a:off x="6856992" y="2724087"/>
            <a:ext cx="17732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CN" sz="1200" dirty="0">
                <a:solidFill>
                  <a:srgbClr val="C00000"/>
                </a:solidFill>
              </a:rPr>
              <a:t>拦截</a:t>
            </a:r>
            <a:r>
              <a:rPr lang="en-US" altLang="zh-CN" sz="1200" dirty="0">
                <a:solidFill>
                  <a:srgbClr val="C00000"/>
                </a:solidFill>
              </a:rPr>
              <a:t>Ext4</a:t>
            </a:r>
            <a:r>
              <a:rPr lang="zh-CN" altLang="en-US" sz="1200" dirty="0">
                <a:solidFill>
                  <a:srgbClr val="C00000"/>
                </a:solidFill>
              </a:rPr>
              <a:t>对</a:t>
            </a:r>
            <a:r>
              <a:rPr lang="en-US" altLang="zh-CN" sz="1200" dirty="0">
                <a:solidFill>
                  <a:srgbClr val="C00000"/>
                </a:solidFill>
              </a:rPr>
              <a:t>block</a:t>
            </a:r>
            <a:r>
              <a:rPr lang="zh-CN" altLang="en-US" sz="1200" dirty="0">
                <a:solidFill>
                  <a:srgbClr val="C00000"/>
                </a:solidFill>
              </a:rPr>
              <a:t>的请求</a:t>
            </a:r>
            <a:endParaRPr lang="en-CN" sz="1200" dirty="0">
              <a:solidFill>
                <a:srgbClr val="C00000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5329940-7312-DA40-B401-852279233D23}"/>
              </a:ext>
            </a:extLst>
          </p:cNvPr>
          <p:cNvSpPr/>
          <p:nvPr/>
        </p:nvSpPr>
        <p:spPr>
          <a:xfrm>
            <a:off x="933937" y="2719781"/>
            <a:ext cx="5922924" cy="362342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96840362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61907-24B5-4C4A-BF38-D57BBE425A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实现：对</a:t>
            </a:r>
            <a:r>
              <a:rPr lang="en-US" altLang="zh-CN" dirty="0"/>
              <a:t>Ext4</a:t>
            </a:r>
            <a:r>
              <a:rPr lang="zh-CN" altLang="en-US" dirty="0"/>
              <a:t>的</a:t>
            </a:r>
            <a:r>
              <a:rPr lang="zh-CN" altLang="en-CN" dirty="0"/>
              <a:t>修改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C0AF7F-BF44-4943-85D6-A1A37B88D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31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1AC04C-8753-6446-A72F-F4AF230716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091EFBC-E259-2B40-83C8-E0BC31CCDC16}"/>
              </a:ext>
            </a:extLst>
          </p:cNvPr>
          <p:cNvSpPr txBox="1"/>
          <p:nvPr/>
        </p:nvSpPr>
        <p:spPr>
          <a:xfrm>
            <a:off x="901385" y="1624075"/>
            <a:ext cx="5195653" cy="364715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endParaRPr lang="en-US" sz="1050" dirty="0">
              <a:solidFill>
                <a:srgbClr val="0A9940"/>
              </a:solidFill>
              <a:latin typeface="Courier" pitchFamily="2" charset="0"/>
            </a:endParaRPr>
          </a:p>
          <a:p>
            <a:r>
              <a:rPr lang="en-US" sz="1050" dirty="0">
                <a:solidFill>
                  <a:srgbClr val="0A9940"/>
                </a:solidFill>
                <a:latin typeface="Courier" pitchFamily="2" charset="0"/>
              </a:rPr>
              <a:t>+static void </a:t>
            </a:r>
            <a:r>
              <a:rPr lang="en-US" sz="1050" dirty="0" err="1">
                <a:solidFill>
                  <a:srgbClr val="0A9940"/>
                </a:solidFill>
                <a:latin typeface="Courier" pitchFamily="2" charset="0"/>
              </a:rPr>
              <a:t>do_clean_batch</a:t>
            </a:r>
            <a:r>
              <a:rPr lang="en-US" sz="1050" dirty="0">
                <a:solidFill>
                  <a:srgbClr val="0A9940"/>
                </a:solidFill>
                <a:latin typeface="Courier" pitchFamily="2" charset="0"/>
              </a:rPr>
              <a:t>(struct </a:t>
            </a:r>
            <a:r>
              <a:rPr lang="en-US" sz="1050" dirty="0" err="1">
                <a:solidFill>
                  <a:srgbClr val="0A9940"/>
                </a:solidFill>
                <a:latin typeface="Courier" pitchFamily="2" charset="0"/>
              </a:rPr>
              <a:t>work_struct</a:t>
            </a:r>
            <a:r>
              <a:rPr lang="en-US" sz="1050" dirty="0">
                <a:solidFill>
                  <a:srgbClr val="0A9940"/>
                </a:solidFill>
                <a:latin typeface="Courier" pitchFamily="2" charset="0"/>
              </a:rPr>
              <a:t> *work)</a:t>
            </a:r>
          </a:p>
          <a:p>
            <a:r>
              <a:rPr lang="en-US" sz="1050" dirty="0">
                <a:solidFill>
                  <a:srgbClr val="0A9940"/>
                </a:solidFill>
                <a:latin typeface="Courier" pitchFamily="2" charset="0"/>
              </a:rPr>
              <a:t>+{</a:t>
            </a:r>
          </a:p>
          <a:p>
            <a:r>
              <a:rPr lang="en-US" sz="1050" dirty="0">
                <a:solidFill>
                  <a:srgbClr val="0A9940"/>
                </a:solidFill>
                <a:latin typeface="Courier" pitchFamily="2" charset="0"/>
              </a:rPr>
              <a:t>+	struct </a:t>
            </a:r>
            <a:r>
              <a:rPr lang="en-US" sz="1050" dirty="0" err="1">
                <a:solidFill>
                  <a:srgbClr val="0A9940"/>
                </a:solidFill>
                <a:latin typeface="Courier" pitchFamily="2" charset="0"/>
              </a:rPr>
              <a:t>cleaner_ctx</a:t>
            </a:r>
            <a:r>
              <a:rPr lang="en-US" sz="1050" dirty="0">
                <a:solidFill>
                  <a:srgbClr val="0A9940"/>
                </a:solidFill>
                <a:latin typeface="Courier" pitchFamily="2" charset="0"/>
              </a:rPr>
              <a:t> *</a:t>
            </a:r>
            <a:r>
              <a:rPr lang="en-US" sz="1050" dirty="0" err="1">
                <a:solidFill>
                  <a:srgbClr val="0A9940"/>
                </a:solidFill>
                <a:latin typeface="Courier" pitchFamily="2" charset="0"/>
              </a:rPr>
              <a:t>ctx</a:t>
            </a:r>
            <a:r>
              <a:rPr lang="en-US" sz="1050" dirty="0">
                <a:solidFill>
                  <a:srgbClr val="0A9940"/>
                </a:solidFill>
                <a:latin typeface="Courier" pitchFamily="2" charset="0"/>
              </a:rPr>
              <a:t>;</a:t>
            </a:r>
          </a:p>
          <a:p>
            <a:r>
              <a:rPr lang="en-US" sz="1050" dirty="0">
                <a:solidFill>
                  <a:srgbClr val="0A9940"/>
                </a:solidFill>
                <a:latin typeface="Courier" pitchFamily="2" charset="0"/>
              </a:rPr>
              <a:t>+	</a:t>
            </a:r>
            <a:r>
              <a:rPr lang="en-US" sz="1050" dirty="0" err="1">
                <a:solidFill>
                  <a:srgbClr val="0A9940"/>
                </a:solidFill>
                <a:latin typeface="Courier" pitchFamily="2" charset="0"/>
              </a:rPr>
              <a:t>handle_t</a:t>
            </a:r>
            <a:r>
              <a:rPr lang="en-US" sz="1050" dirty="0">
                <a:solidFill>
                  <a:srgbClr val="0A9940"/>
                </a:solidFill>
                <a:latin typeface="Courier" pitchFamily="2" charset="0"/>
              </a:rPr>
              <a:t> *handle = NULL;</a:t>
            </a:r>
          </a:p>
          <a:p>
            <a:r>
              <a:rPr lang="en-US" sz="1050" dirty="0">
                <a:solidFill>
                  <a:srgbClr val="0A9940"/>
                </a:solidFill>
                <a:latin typeface="Courier" pitchFamily="2" charset="0"/>
              </a:rPr>
              <a:t>+	int </a:t>
            </a:r>
            <a:r>
              <a:rPr lang="en-US" sz="1050" dirty="0" err="1">
                <a:solidFill>
                  <a:srgbClr val="0A9940"/>
                </a:solidFill>
                <a:latin typeface="Courier" pitchFamily="2" charset="0"/>
              </a:rPr>
              <a:t>nr_live</a:t>
            </a:r>
            <a:r>
              <a:rPr lang="en-US" sz="1050" dirty="0">
                <a:solidFill>
                  <a:srgbClr val="0A9940"/>
                </a:solidFill>
                <a:latin typeface="Courier" pitchFamily="2" charset="0"/>
              </a:rPr>
              <a:t>, err;</a:t>
            </a:r>
          </a:p>
          <a:p>
            <a:r>
              <a:rPr lang="en-US" sz="1050" dirty="0">
                <a:solidFill>
                  <a:srgbClr val="0A9940"/>
                </a:solidFill>
                <a:latin typeface="Courier" pitchFamily="2" charset="0"/>
              </a:rPr>
              <a:t>+	</a:t>
            </a:r>
            <a:r>
              <a:rPr lang="en-US" altLang="zh-CN" sz="1050" dirty="0">
                <a:solidFill>
                  <a:srgbClr val="0A9940"/>
                </a:solidFill>
                <a:latin typeface="Courier" pitchFamily="2" charset="0"/>
              </a:rPr>
              <a:t>...</a:t>
            </a:r>
            <a:endParaRPr lang="en-US" sz="1050" dirty="0">
              <a:solidFill>
                <a:srgbClr val="0A9940"/>
              </a:solidFill>
              <a:latin typeface="Courier" pitchFamily="2" charset="0"/>
            </a:endParaRPr>
          </a:p>
          <a:p>
            <a:r>
              <a:rPr lang="en-US" sz="1050" dirty="0">
                <a:solidFill>
                  <a:srgbClr val="0A9940"/>
                </a:solidFill>
                <a:latin typeface="Courier" pitchFamily="2" charset="0"/>
              </a:rPr>
              <a:t>+	</a:t>
            </a:r>
            <a:r>
              <a:rPr lang="en-US" sz="1050" dirty="0" err="1">
                <a:solidFill>
                  <a:srgbClr val="0A9940"/>
                </a:solidFill>
                <a:latin typeface="Courier" pitchFamily="2" charset="0"/>
              </a:rPr>
              <a:t>nr_live</a:t>
            </a:r>
            <a:r>
              <a:rPr lang="en-US" sz="1050" dirty="0">
                <a:solidFill>
                  <a:srgbClr val="0A9940"/>
                </a:solidFill>
                <a:latin typeface="Courier" pitchFamily="2" charset="0"/>
              </a:rPr>
              <a:t> = </a:t>
            </a:r>
            <a:r>
              <a:rPr lang="en-US" sz="1050" dirty="0" err="1">
                <a:solidFill>
                  <a:srgbClr val="0A9940"/>
                </a:solidFill>
                <a:latin typeface="Courier" pitchFamily="2" charset="0"/>
              </a:rPr>
              <a:t>find_live_blocks</a:t>
            </a:r>
            <a:r>
              <a:rPr lang="en-US" sz="1050" dirty="0">
                <a:solidFill>
                  <a:srgbClr val="0A9940"/>
                </a:solidFill>
                <a:latin typeface="Courier" pitchFamily="2" charset="0"/>
              </a:rPr>
              <a:t>(</a:t>
            </a:r>
            <a:r>
              <a:rPr lang="en-US" sz="1050" dirty="0" err="1">
                <a:solidFill>
                  <a:srgbClr val="0A9940"/>
                </a:solidFill>
                <a:latin typeface="Courier" pitchFamily="2" charset="0"/>
              </a:rPr>
              <a:t>ctx</a:t>
            </a:r>
            <a:r>
              <a:rPr lang="en-US" sz="1050" dirty="0">
                <a:solidFill>
                  <a:srgbClr val="0A9940"/>
                </a:solidFill>
                <a:latin typeface="Courier" pitchFamily="2" charset="0"/>
              </a:rPr>
              <a:t>);</a:t>
            </a:r>
          </a:p>
          <a:p>
            <a:r>
              <a:rPr lang="en-US" sz="1050" dirty="0">
                <a:solidFill>
                  <a:srgbClr val="0A9940"/>
                </a:solidFill>
                <a:latin typeface="Courier" pitchFamily="2" charset="0"/>
              </a:rPr>
              <a:t>+	if (</a:t>
            </a:r>
            <a:r>
              <a:rPr lang="en-US" sz="1050" dirty="0" err="1">
                <a:solidFill>
                  <a:srgbClr val="0A9940"/>
                </a:solidFill>
                <a:latin typeface="Courier" pitchFamily="2" charset="0"/>
              </a:rPr>
              <a:t>nr_live</a:t>
            </a:r>
            <a:r>
              <a:rPr lang="en-US" sz="1050" dirty="0">
                <a:solidFill>
                  <a:srgbClr val="0A9940"/>
                </a:solidFill>
                <a:latin typeface="Courier" pitchFamily="2" charset="0"/>
              </a:rPr>
              <a:t> == 0)</a:t>
            </a:r>
          </a:p>
          <a:p>
            <a:r>
              <a:rPr lang="en-US" sz="1050" dirty="0">
                <a:solidFill>
                  <a:srgbClr val="0A9940"/>
                </a:solidFill>
                <a:latin typeface="Courier" pitchFamily="2" charset="0"/>
              </a:rPr>
              <a:t>+		</a:t>
            </a:r>
            <a:r>
              <a:rPr lang="en-US" sz="1050" dirty="0" err="1">
                <a:solidFill>
                  <a:srgbClr val="0A9940"/>
                </a:solidFill>
                <a:latin typeface="Courier" pitchFamily="2" charset="0"/>
              </a:rPr>
              <a:t>goto</a:t>
            </a:r>
            <a:r>
              <a:rPr lang="en-US" sz="1050" dirty="0">
                <a:solidFill>
                  <a:srgbClr val="0A9940"/>
                </a:solidFill>
                <a:latin typeface="Courier" pitchFamily="2" charset="0"/>
              </a:rPr>
              <a:t> done;</a:t>
            </a:r>
          </a:p>
          <a:p>
            <a:r>
              <a:rPr lang="en-US" sz="1050" dirty="0">
                <a:solidFill>
                  <a:srgbClr val="0A9940"/>
                </a:solidFill>
                <a:latin typeface="Courier" pitchFamily="2" charset="0"/>
              </a:rPr>
              <a:t>+	</a:t>
            </a:r>
            <a:r>
              <a:rPr lang="en-US" altLang="zh-CN" sz="1050" dirty="0">
                <a:solidFill>
                  <a:srgbClr val="0A9940"/>
                </a:solidFill>
                <a:latin typeface="Courier" pitchFamily="2" charset="0"/>
              </a:rPr>
              <a:t>...</a:t>
            </a:r>
            <a:endParaRPr lang="en-US" sz="1050" dirty="0">
              <a:solidFill>
                <a:srgbClr val="0A9940"/>
              </a:solidFill>
              <a:latin typeface="Courier" pitchFamily="2" charset="0"/>
            </a:endParaRPr>
          </a:p>
          <a:p>
            <a:r>
              <a:rPr lang="en-US" sz="1050" dirty="0">
                <a:solidFill>
                  <a:srgbClr val="0A9940"/>
                </a:solidFill>
                <a:latin typeface="Courier" pitchFamily="2" charset="0"/>
              </a:rPr>
              <a:t>+	</a:t>
            </a:r>
            <a:r>
              <a:rPr lang="en-US" sz="1050" dirty="0" err="1">
                <a:solidFill>
                  <a:srgbClr val="0A9940"/>
                </a:solidFill>
                <a:latin typeface="Courier" pitchFamily="2" charset="0"/>
              </a:rPr>
              <a:t>read_live_blocks</a:t>
            </a:r>
            <a:r>
              <a:rPr lang="en-US" sz="1050" dirty="0">
                <a:solidFill>
                  <a:srgbClr val="0A9940"/>
                </a:solidFill>
                <a:latin typeface="Courier" pitchFamily="2" charset="0"/>
              </a:rPr>
              <a:t>(</a:t>
            </a:r>
            <a:r>
              <a:rPr lang="en-US" sz="1050" dirty="0" err="1">
                <a:solidFill>
                  <a:srgbClr val="0A9940"/>
                </a:solidFill>
                <a:latin typeface="Courier" pitchFamily="2" charset="0"/>
              </a:rPr>
              <a:t>ctx</a:t>
            </a:r>
            <a:r>
              <a:rPr lang="en-US" sz="1050" dirty="0">
                <a:solidFill>
                  <a:srgbClr val="0A9940"/>
                </a:solidFill>
                <a:latin typeface="Courier" pitchFamily="2" charset="0"/>
              </a:rPr>
              <a:t>, </a:t>
            </a:r>
            <a:r>
              <a:rPr lang="en-US" sz="1050" dirty="0" err="1">
                <a:solidFill>
                  <a:srgbClr val="0A9940"/>
                </a:solidFill>
                <a:latin typeface="Courier" pitchFamily="2" charset="0"/>
              </a:rPr>
              <a:t>nr_live</a:t>
            </a:r>
            <a:r>
              <a:rPr lang="en-US" sz="1050" dirty="0">
                <a:solidFill>
                  <a:srgbClr val="0A9940"/>
                </a:solidFill>
                <a:latin typeface="Courier" pitchFamily="2" charset="0"/>
              </a:rPr>
              <a:t>);</a:t>
            </a:r>
          </a:p>
          <a:p>
            <a:r>
              <a:rPr lang="en-US" sz="1050" dirty="0">
                <a:solidFill>
                  <a:srgbClr val="0A9940"/>
                </a:solidFill>
                <a:latin typeface="Courier" pitchFamily="2" charset="0"/>
              </a:rPr>
              <a:t>+</a:t>
            </a:r>
          </a:p>
          <a:p>
            <a:r>
              <a:rPr lang="en-US" sz="1050" dirty="0">
                <a:solidFill>
                  <a:srgbClr val="0A9940"/>
                </a:solidFill>
                <a:latin typeface="Courier" pitchFamily="2" charset="0"/>
              </a:rPr>
              <a:t>+	handle = jbd2_journal_start(</a:t>
            </a:r>
            <a:r>
              <a:rPr lang="en-US" sz="1050" dirty="0" err="1">
                <a:solidFill>
                  <a:srgbClr val="0A9940"/>
                </a:solidFill>
                <a:latin typeface="Courier" pitchFamily="2" charset="0"/>
              </a:rPr>
              <a:t>ctx</a:t>
            </a:r>
            <a:r>
              <a:rPr lang="en-US" sz="1050" dirty="0">
                <a:solidFill>
                  <a:srgbClr val="0A9940"/>
                </a:solidFill>
                <a:latin typeface="Courier" pitchFamily="2" charset="0"/>
              </a:rPr>
              <a:t>-&gt;journal, </a:t>
            </a:r>
            <a:r>
              <a:rPr lang="en-US" sz="1050" dirty="0" err="1">
                <a:solidFill>
                  <a:srgbClr val="0A9940"/>
                </a:solidFill>
                <a:latin typeface="Courier" pitchFamily="2" charset="0"/>
              </a:rPr>
              <a:t>nr_live</a:t>
            </a:r>
            <a:r>
              <a:rPr lang="en-US" sz="1050" dirty="0">
                <a:solidFill>
                  <a:srgbClr val="0A9940"/>
                </a:solidFill>
                <a:latin typeface="Courier" pitchFamily="2" charset="0"/>
              </a:rPr>
              <a:t>);</a:t>
            </a:r>
          </a:p>
          <a:p>
            <a:r>
              <a:rPr lang="en-US" sz="1050" dirty="0">
                <a:solidFill>
                  <a:srgbClr val="0A9940"/>
                </a:solidFill>
                <a:latin typeface="Courier" pitchFamily="2" charset="0"/>
              </a:rPr>
              <a:t>+</a:t>
            </a:r>
          </a:p>
          <a:p>
            <a:r>
              <a:rPr lang="en-US" sz="1050" dirty="0">
                <a:solidFill>
                  <a:srgbClr val="0A9940"/>
                </a:solidFill>
                <a:latin typeface="Courier" pitchFamily="2" charset="0"/>
              </a:rPr>
              <a:t>+	</a:t>
            </a:r>
            <a:r>
              <a:rPr lang="en-US" altLang="zh-CN" sz="1050" dirty="0">
                <a:solidFill>
                  <a:srgbClr val="0A9940"/>
                </a:solidFill>
                <a:latin typeface="Courier" pitchFamily="2" charset="0"/>
              </a:rPr>
              <a:t>...</a:t>
            </a:r>
            <a:endParaRPr lang="en-US" sz="1050" dirty="0">
              <a:solidFill>
                <a:srgbClr val="0A9940"/>
              </a:solidFill>
              <a:latin typeface="Courier" pitchFamily="2" charset="0"/>
            </a:endParaRPr>
          </a:p>
          <a:p>
            <a:r>
              <a:rPr lang="en-US" sz="1050" dirty="0">
                <a:solidFill>
                  <a:srgbClr val="0A9940"/>
                </a:solidFill>
                <a:latin typeface="Courier" pitchFamily="2" charset="0"/>
              </a:rPr>
              <a:t>+	</a:t>
            </a:r>
            <a:r>
              <a:rPr lang="en-US" sz="1050" dirty="0" err="1">
                <a:solidFill>
                  <a:srgbClr val="0A9940"/>
                </a:solidFill>
                <a:latin typeface="Courier" pitchFamily="2" charset="0"/>
              </a:rPr>
              <a:t>attach_live_blocks</a:t>
            </a:r>
            <a:r>
              <a:rPr lang="en-US" sz="1050" dirty="0">
                <a:solidFill>
                  <a:srgbClr val="0A9940"/>
                </a:solidFill>
                <a:latin typeface="Courier" pitchFamily="2" charset="0"/>
              </a:rPr>
              <a:t>(</a:t>
            </a:r>
            <a:r>
              <a:rPr lang="en-US" sz="1050" dirty="0" err="1">
                <a:solidFill>
                  <a:srgbClr val="0A9940"/>
                </a:solidFill>
                <a:latin typeface="Courier" pitchFamily="2" charset="0"/>
              </a:rPr>
              <a:t>ctx</a:t>
            </a:r>
            <a:r>
              <a:rPr lang="en-US" sz="1050" dirty="0">
                <a:solidFill>
                  <a:srgbClr val="0A9940"/>
                </a:solidFill>
                <a:latin typeface="Courier" pitchFamily="2" charset="0"/>
              </a:rPr>
              <a:t>, handle, </a:t>
            </a:r>
            <a:r>
              <a:rPr lang="en-US" sz="1050" dirty="0" err="1">
                <a:solidFill>
                  <a:srgbClr val="0A9940"/>
                </a:solidFill>
                <a:latin typeface="Courier" pitchFamily="2" charset="0"/>
              </a:rPr>
              <a:t>nr_live</a:t>
            </a:r>
            <a:r>
              <a:rPr lang="en-US" sz="1050" dirty="0">
                <a:solidFill>
                  <a:srgbClr val="0A9940"/>
                </a:solidFill>
                <a:latin typeface="Courier" pitchFamily="2" charset="0"/>
              </a:rPr>
              <a:t>);</a:t>
            </a:r>
          </a:p>
          <a:p>
            <a:r>
              <a:rPr lang="en-US" sz="1050" dirty="0">
                <a:solidFill>
                  <a:srgbClr val="0A9940"/>
                </a:solidFill>
                <a:latin typeface="Courier" pitchFamily="2" charset="0"/>
              </a:rPr>
              <a:t>+</a:t>
            </a:r>
          </a:p>
          <a:p>
            <a:r>
              <a:rPr lang="en-US" sz="1050" dirty="0">
                <a:solidFill>
                  <a:srgbClr val="0A9940"/>
                </a:solidFill>
                <a:latin typeface="Courier" pitchFamily="2" charset="0"/>
              </a:rPr>
              <a:t>+	err = jbd2_journal_stop(handle);</a:t>
            </a:r>
          </a:p>
          <a:p>
            <a:r>
              <a:rPr lang="en-US" sz="1050" dirty="0">
                <a:solidFill>
                  <a:srgbClr val="0A9940"/>
                </a:solidFill>
                <a:latin typeface="Courier" pitchFamily="2" charset="0"/>
              </a:rPr>
              <a:t>+done:</a:t>
            </a:r>
          </a:p>
          <a:p>
            <a:r>
              <a:rPr lang="en-US" sz="1050" dirty="0">
                <a:solidFill>
                  <a:srgbClr val="0A9940"/>
                </a:solidFill>
                <a:latin typeface="Courier" pitchFamily="2" charset="0"/>
              </a:rPr>
              <a:t>+	</a:t>
            </a:r>
            <a:r>
              <a:rPr lang="en-US" altLang="zh-CN" sz="1050" dirty="0">
                <a:solidFill>
                  <a:srgbClr val="0A9940"/>
                </a:solidFill>
                <a:latin typeface="Courier" pitchFamily="2" charset="0"/>
              </a:rPr>
              <a:t>...</a:t>
            </a:r>
            <a:endParaRPr lang="en-US" sz="1050" dirty="0">
              <a:solidFill>
                <a:srgbClr val="0A9940"/>
              </a:solidFill>
              <a:latin typeface="Courier" pitchFamily="2" charset="0"/>
            </a:endParaRPr>
          </a:p>
          <a:p>
            <a:r>
              <a:rPr lang="en-US" sz="1050" dirty="0">
                <a:solidFill>
                  <a:srgbClr val="0A9940"/>
                </a:solidFill>
                <a:latin typeface="Courier" pitchFamily="2" charset="0"/>
              </a:rPr>
              <a:t>+}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C82BE41-ECF2-E341-B204-F52A131B8667}"/>
              </a:ext>
            </a:extLst>
          </p:cNvPr>
          <p:cNvSpPr txBox="1"/>
          <p:nvPr/>
        </p:nvSpPr>
        <p:spPr>
          <a:xfrm>
            <a:off x="6571774" y="3425816"/>
            <a:ext cx="14830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CN" sz="1200" dirty="0">
                <a:solidFill>
                  <a:srgbClr val="C00000"/>
                </a:solidFill>
                <a:latin typeface="Courier" pitchFamily="2" charset="0"/>
              </a:rPr>
              <a:t>新</a:t>
            </a:r>
            <a:r>
              <a:rPr lang="zh-CN" altLang="en-US" sz="1200" dirty="0">
                <a:solidFill>
                  <a:srgbClr val="C00000"/>
                </a:solidFill>
                <a:latin typeface="Courier" pitchFamily="2" charset="0"/>
              </a:rPr>
              <a:t>的</a:t>
            </a:r>
            <a:r>
              <a:rPr lang="en-US" altLang="zh-CN" sz="1200" dirty="0">
                <a:solidFill>
                  <a:srgbClr val="C00000"/>
                </a:solidFill>
                <a:latin typeface="Courier" pitchFamily="2" charset="0"/>
              </a:rPr>
              <a:t>JBD2</a:t>
            </a:r>
            <a:r>
              <a:rPr lang="zh-CN" altLang="en-US" sz="1200" dirty="0">
                <a:solidFill>
                  <a:srgbClr val="C00000"/>
                </a:solidFill>
                <a:latin typeface="Courier" pitchFamily="2" charset="0"/>
              </a:rPr>
              <a:t>原子更新</a:t>
            </a:r>
            <a:endParaRPr lang="en-CN" sz="1200" dirty="0">
              <a:solidFill>
                <a:srgbClr val="C00000"/>
              </a:solidFill>
              <a:latin typeface="Courier" pitchFamily="2" charset="0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D4E02DE-AFC6-704E-BAD6-318A5158E3BE}"/>
              </a:ext>
            </a:extLst>
          </p:cNvPr>
          <p:cNvCxnSpPr>
            <a:cxnSpLocks/>
            <a:stCxn id="12" idx="1"/>
          </p:cNvCxnSpPr>
          <p:nvPr/>
        </p:nvCxnSpPr>
        <p:spPr>
          <a:xfrm flipH="1">
            <a:off x="5982591" y="3564316"/>
            <a:ext cx="589183" cy="2305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C3638ACC-9F99-534C-B131-93D992602AD3}"/>
              </a:ext>
            </a:extLst>
          </p:cNvPr>
          <p:cNvSpPr txBox="1"/>
          <p:nvPr/>
        </p:nvSpPr>
        <p:spPr>
          <a:xfrm>
            <a:off x="4824666" y="2971453"/>
            <a:ext cx="30796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solidFill>
                  <a:srgbClr val="C00000"/>
                </a:solidFill>
                <a:latin typeface="Courier" pitchFamily="2" charset="0"/>
              </a:rPr>
              <a:t>扫描日志中有效块，并加入</a:t>
            </a:r>
            <a:r>
              <a:rPr lang="en-US" altLang="zh-CN" sz="1200" dirty="0" err="1">
                <a:solidFill>
                  <a:srgbClr val="C00000"/>
                </a:solidFill>
                <a:latin typeface="Courier" pitchFamily="2" charset="0"/>
              </a:rPr>
              <a:t>ctx</a:t>
            </a:r>
            <a:r>
              <a:rPr lang="zh-CN" altLang="en-US" sz="1200" dirty="0">
                <a:solidFill>
                  <a:srgbClr val="C00000"/>
                </a:solidFill>
                <a:latin typeface="Courier" pitchFamily="2" charset="0"/>
              </a:rPr>
              <a:t>中临时保存</a:t>
            </a:r>
            <a:endParaRPr lang="en-CN" sz="1200" dirty="0">
              <a:solidFill>
                <a:srgbClr val="C00000"/>
              </a:solidFill>
            </a:endParaRPr>
          </a:p>
        </p:txBody>
      </p:sp>
      <p:sp>
        <p:nvSpPr>
          <p:cNvPr id="18" name="Right Brace 17">
            <a:extLst>
              <a:ext uri="{FF2B5EF4-FFF2-40B4-BE49-F238E27FC236}">
                <a16:creationId xmlns:a16="http://schemas.microsoft.com/office/drawing/2014/main" id="{B1BDF1F4-D993-A445-AC7A-3021185B9FDE}"/>
              </a:ext>
            </a:extLst>
          </p:cNvPr>
          <p:cNvSpPr/>
          <p:nvPr/>
        </p:nvSpPr>
        <p:spPr>
          <a:xfrm>
            <a:off x="4572000" y="2701967"/>
            <a:ext cx="179040" cy="903360"/>
          </a:xfrm>
          <a:prstGeom prst="rightBrace">
            <a:avLst>
              <a:gd name="adj1" fmla="val 28600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600C4B8-01BD-D140-8FD3-A18CB032B062}"/>
              </a:ext>
            </a:extLst>
          </p:cNvPr>
          <p:cNvSpPr txBox="1"/>
          <p:nvPr/>
        </p:nvSpPr>
        <p:spPr>
          <a:xfrm>
            <a:off x="5417982" y="4110220"/>
            <a:ext cx="308289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CN" sz="1200" dirty="0">
                <a:solidFill>
                  <a:srgbClr val="C00000"/>
                </a:solidFill>
                <a:latin typeface="Courier" pitchFamily="2" charset="0"/>
              </a:rPr>
              <a:t>将</a:t>
            </a:r>
            <a:r>
              <a:rPr lang="en-US" altLang="zh-CN" sz="1200" dirty="0" err="1">
                <a:solidFill>
                  <a:srgbClr val="C00000"/>
                </a:solidFill>
                <a:latin typeface="Courier" pitchFamily="2" charset="0"/>
              </a:rPr>
              <a:t>ctx</a:t>
            </a:r>
            <a:r>
              <a:rPr lang="zh-CN" altLang="en-US" sz="1200" dirty="0">
                <a:solidFill>
                  <a:srgbClr val="C00000"/>
                </a:solidFill>
                <a:latin typeface="Courier" pitchFamily="2" charset="0"/>
              </a:rPr>
              <a:t>中的有效块加入到</a:t>
            </a:r>
            <a:r>
              <a:rPr lang="en-US" altLang="zh-CN" sz="1200" dirty="0">
                <a:solidFill>
                  <a:srgbClr val="C00000"/>
                </a:solidFill>
                <a:latin typeface="Courier" pitchFamily="2" charset="0"/>
              </a:rPr>
              <a:t>JBD2</a:t>
            </a:r>
            <a:r>
              <a:rPr lang="zh-CN" altLang="en-US" sz="1200" dirty="0">
                <a:solidFill>
                  <a:srgbClr val="C00000"/>
                </a:solidFill>
                <a:latin typeface="Courier" pitchFamily="2" charset="0"/>
              </a:rPr>
              <a:t>原子更新中</a:t>
            </a:r>
            <a:endParaRPr lang="en-US" altLang="zh-CN" sz="1200" dirty="0">
              <a:solidFill>
                <a:srgbClr val="C00000"/>
              </a:solidFill>
              <a:latin typeface="Courier" pitchFamily="2" charset="0"/>
            </a:endParaRP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1020F353-B4B8-F94F-9684-DE464272823E}"/>
              </a:ext>
            </a:extLst>
          </p:cNvPr>
          <p:cNvSpPr/>
          <p:nvPr/>
        </p:nvSpPr>
        <p:spPr>
          <a:xfrm>
            <a:off x="5220072" y="4053348"/>
            <a:ext cx="179040" cy="412982"/>
          </a:xfrm>
          <a:prstGeom prst="rightBrace">
            <a:avLst>
              <a:gd name="adj1" fmla="val 28600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AD06416-425D-0E4E-91D6-86AD2EAA6230}"/>
              </a:ext>
            </a:extLst>
          </p:cNvPr>
          <p:cNvSpPr txBox="1"/>
          <p:nvPr/>
        </p:nvSpPr>
        <p:spPr>
          <a:xfrm>
            <a:off x="769994" y="1201316"/>
            <a:ext cx="425456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CN" sz="1600" dirty="0"/>
              <a:t>新增</a:t>
            </a:r>
            <a:r>
              <a:rPr lang="zh-CN" altLang="en-US" sz="1600" dirty="0"/>
              <a:t>文件：</a:t>
            </a:r>
            <a:r>
              <a:rPr lang="en-US" altLang="zh-CN" sz="1600" dirty="0" err="1"/>
              <a:t>cleaner.c</a:t>
            </a:r>
            <a:r>
              <a:rPr lang="zh-CN" altLang="en-US" sz="1600" dirty="0"/>
              <a:t> （维护</a:t>
            </a:r>
            <a:r>
              <a:rPr lang="en-US" altLang="zh-CN" sz="1600" dirty="0"/>
              <a:t>10GB</a:t>
            </a:r>
            <a:r>
              <a:rPr lang="zh-CN" altLang="en-US" sz="1600" dirty="0"/>
              <a:t>日志空间）</a:t>
            </a:r>
            <a:endParaRPr lang="en-CN" sz="16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B3D2DB3-E046-3049-A13B-43459023B6D2}"/>
              </a:ext>
            </a:extLst>
          </p:cNvPr>
          <p:cNvSpPr txBox="1"/>
          <p:nvPr/>
        </p:nvSpPr>
        <p:spPr>
          <a:xfrm>
            <a:off x="5546017" y="4587502"/>
            <a:ext cx="14830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solidFill>
                  <a:srgbClr val="C00000"/>
                </a:solidFill>
                <a:latin typeface="Courier" pitchFamily="2" charset="0"/>
              </a:rPr>
              <a:t>结束</a:t>
            </a:r>
            <a:r>
              <a:rPr lang="en-US" altLang="zh-CN" sz="1200" dirty="0">
                <a:solidFill>
                  <a:srgbClr val="C00000"/>
                </a:solidFill>
                <a:latin typeface="Courier" pitchFamily="2" charset="0"/>
              </a:rPr>
              <a:t>JBD2</a:t>
            </a:r>
            <a:r>
              <a:rPr lang="zh-CN" altLang="en-US" sz="1200" dirty="0">
                <a:solidFill>
                  <a:srgbClr val="C00000"/>
                </a:solidFill>
                <a:latin typeface="Courier" pitchFamily="2" charset="0"/>
              </a:rPr>
              <a:t>原子更新</a:t>
            </a:r>
            <a:endParaRPr lang="en-CN" sz="1200" dirty="0">
              <a:solidFill>
                <a:srgbClr val="C00000"/>
              </a:solidFill>
              <a:latin typeface="Courier" pitchFamily="2" charset="0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E2884D8-843C-7A42-9653-1AE40284E691}"/>
              </a:ext>
            </a:extLst>
          </p:cNvPr>
          <p:cNvCxnSpPr>
            <a:cxnSpLocks/>
            <a:stCxn id="17" idx="1"/>
          </p:cNvCxnSpPr>
          <p:nvPr/>
        </p:nvCxnSpPr>
        <p:spPr>
          <a:xfrm flipH="1" flipV="1">
            <a:off x="4522147" y="4678476"/>
            <a:ext cx="1023870" cy="475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4FE8D814-60E7-6D41-94F8-8C36E1B35CFA}"/>
              </a:ext>
            </a:extLst>
          </p:cNvPr>
          <p:cNvSpPr txBox="1"/>
          <p:nvPr/>
        </p:nvSpPr>
        <p:spPr>
          <a:xfrm>
            <a:off x="5220072" y="1773381"/>
            <a:ext cx="41312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CN" sz="1200" dirty="0">
                <a:solidFill>
                  <a:srgbClr val="C00000"/>
                </a:solidFill>
                <a:latin typeface="Courier" pitchFamily="2" charset="0"/>
              </a:rPr>
              <a:t>将</a:t>
            </a:r>
            <a:r>
              <a:rPr lang="en-US" altLang="zh-CN" sz="1200" dirty="0">
                <a:solidFill>
                  <a:srgbClr val="C00000"/>
                </a:solidFill>
                <a:latin typeface="Courier" pitchFamily="2" charset="0"/>
              </a:rPr>
              <a:t>10GB</a:t>
            </a:r>
            <a:r>
              <a:rPr lang="zh-CN" altLang="en-US" sz="1200" dirty="0">
                <a:solidFill>
                  <a:srgbClr val="C00000"/>
                </a:solidFill>
                <a:latin typeface="Courier" pitchFamily="2" charset="0"/>
              </a:rPr>
              <a:t>日志空间的元数据写回到其在</a:t>
            </a:r>
            <a:r>
              <a:rPr lang="en-US" altLang="zh-CN" sz="1200" dirty="0">
                <a:solidFill>
                  <a:srgbClr val="C00000"/>
                </a:solidFill>
                <a:latin typeface="Courier" pitchFamily="2" charset="0"/>
              </a:rPr>
              <a:t>Ext4</a:t>
            </a:r>
            <a:r>
              <a:rPr lang="zh-CN" altLang="en-US" sz="1200" dirty="0">
                <a:solidFill>
                  <a:srgbClr val="C00000"/>
                </a:solidFill>
                <a:latin typeface="Courier" pitchFamily="2" charset="0"/>
              </a:rPr>
              <a:t>中的原本位置</a:t>
            </a:r>
            <a:endParaRPr lang="en-CN" sz="1200" dirty="0">
              <a:solidFill>
                <a:srgbClr val="C00000"/>
              </a:solidFill>
              <a:latin typeface="Courier" pitchFamily="2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5BDDDBB-598F-3742-AB3F-313443F53002}"/>
              </a:ext>
            </a:extLst>
          </p:cNvPr>
          <p:cNvSpPr/>
          <p:nvPr/>
        </p:nvSpPr>
        <p:spPr>
          <a:xfrm>
            <a:off x="962467" y="1792223"/>
            <a:ext cx="4257605" cy="202517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82469102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CE62D9-8849-004B-96D9-9F0C88842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CN" dirty="0"/>
              <a:t>非易失性内存</a:t>
            </a:r>
            <a:endParaRPr lang="en-C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32FA65-E714-1942-A3A7-B74CC6750A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dirty="0"/>
              <a:t>Non-volatile</a:t>
            </a:r>
            <a:r>
              <a:rPr lang="zh-CN" altLang="en-US" dirty="0"/>
              <a:t> </a:t>
            </a:r>
            <a:r>
              <a:rPr lang="en-US" altLang="zh-CN" dirty="0"/>
              <a:t>Memory</a:t>
            </a:r>
            <a:r>
              <a:rPr lang="zh-CN" altLang="en-US" dirty="0"/>
              <a:t> </a:t>
            </a:r>
            <a:r>
              <a:rPr lang="en-US" altLang="zh-CN" dirty="0"/>
              <a:t>(NVM)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B1C8FC-3CEB-0641-B0E8-2273C933E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32</a:t>
            </a:fld>
            <a:endParaRPr lang="zh-CN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AC9A8154-E8E4-514E-B5A5-6B39C82D18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</p:spPr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2033320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61907-24B5-4C4A-BF38-D57BBE425A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非易失性内存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673A6E-4118-AB42-9402-532A69F68F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CN" b="0" dirty="0"/>
              <a:t>如果</a:t>
            </a:r>
            <a:r>
              <a:rPr lang="zh-CN" altLang="en-US" b="0" dirty="0"/>
              <a:t>内存里面的数据重启后还在，岂不是很棒？</a:t>
            </a:r>
            <a:endParaRPr lang="en-US" altLang="zh-CN" b="0" dirty="0"/>
          </a:p>
          <a:p>
            <a:pPr marL="0" indent="0">
              <a:buNone/>
            </a:pPr>
            <a:r>
              <a:rPr lang="zh-CN" altLang="en-US" b="0" dirty="0">
                <a:solidFill>
                  <a:srgbClr val="C00000"/>
                </a:solidFill>
              </a:rPr>
              <a:t>思考一下：会有哪些好处？</a:t>
            </a:r>
            <a:endParaRPr lang="en-CN" b="0" dirty="0">
              <a:solidFill>
                <a:srgbClr val="C0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C0AF7F-BF44-4943-85D6-A1A37B88D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1AC04C-8753-6446-A72F-F4AF230716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0393333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000" b="0" dirty="0"/>
              <a:t>在内存条上加上</a:t>
            </a:r>
            <a:r>
              <a:rPr lang="en-US" altLang="zh-CN" sz="2000" b="0" dirty="0"/>
              <a:t>Flash</a:t>
            </a:r>
            <a:r>
              <a:rPr lang="zh-CN" altLang="en-US" sz="2000" b="0" dirty="0"/>
              <a:t>和超级电容</a:t>
            </a:r>
            <a:endParaRPr lang="en-US" altLang="zh-CN" sz="2000" b="0" dirty="0"/>
          </a:p>
          <a:p>
            <a:pPr lvl="1"/>
            <a:r>
              <a:rPr lang="zh-CN" altLang="en-US" sz="1800" b="0" dirty="0"/>
              <a:t>平时数据在</a:t>
            </a:r>
            <a:r>
              <a:rPr lang="en-US" altLang="zh-CN" sz="1800" b="0" dirty="0"/>
              <a:t>DRAM</a:t>
            </a:r>
            <a:r>
              <a:rPr lang="zh-CN" altLang="en-US" sz="1800" b="0" dirty="0"/>
              <a:t>中；断电后转移到</a:t>
            </a:r>
            <a:r>
              <a:rPr lang="en-US" altLang="zh-CN" sz="1800" b="0" dirty="0"/>
              <a:t>Flash</a:t>
            </a:r>
            <a:r>
              <a:rPr lang="zh-CN" altLang="en-US" sz="1800" b="0" dirty="0"/>
              <a:t>中持久保存</a:t>
            </a:r>
            <a:endParaRPr lang="en-US" sz="1800" b="0" dirty="0"/>
          </a:p>
          <a:p>
            <a:endParaRPr lang="en-US" sz="2000" b="0" dirty="0"/>
          </a:p>
          <a:p>
            <a:endParaRPr lang="en-US" sz="2000" b="0" dirty="0"/>
          </a:p>
          <a:p>
            <a:endParaRPr lang="en-US" sz="2000" b="0" dirty="0"/>
          </a:p>
          <a:p>
            <a:endParaRPr lang="en-US" sz="2000" b="0" dirty="0"/>
          </a:p>
          <a:p>
            <a:r>
              <a:rPr lang="zh-CN" altLang="en-US" sz="2000" b="0" dirty="0"/>
              <a:t>容量很难再提升</a:t>
            </a:r>
            <a:endParaRPr lang="en-US" sz="2000" b="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5242" y="2137420"/>
            <a:ext cx="5569768" cy="215410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NVDIMM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screen">
            <a:alphaModFix amt="8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32678" y="3154820"/>
            <a:ext cx="3186678" cy="1950317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24C2786-B51B-A549-83C6-170E34363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34</a:t>
            </a:fld>
            <a:endParaRPr lang="zh-CN" alt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904892F0-21AC-DC45-8867-C1F98A65F0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</p:spPr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3238463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Intel </a:t>
            </a:r>
            <a:r>
              <a:rPr lang="en-US" dirty="0" err="1"/>
              <a:t>Optane</a:t>
            </a:r>
            <a:r>
              <a:rPr lang="en-US" dirty="0"/>
              <a:t> DC Persistent Memory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AC208B-B32F-D24F-A8E6-3184B92B4621}"/>
              </a:ext>
            </a:extLst>
          </p:cNvPr>
          <p:cNvSpPr txBox="1"/>
          <p:nvPr/>
        </p:nvSpPr>
        <p:spPr>
          <a:xfrm>
            <a:off x="87638" y="5465941"/>
            <a:ext cx="116570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50" dirty="0"/>
              <a:t>Figure</a:t>
            </a:r>
            <a:r>
              <a:rPr lang="zh-CN" altLang="en-US" sz="1050" dirty="0"/>
              <a:t> </a:t>
            </a:r>
            <a:r>
              <a:rPr lang="en-US" altLang="zh-CN" sz="1050" dirty="0"/>
              <a:t>from</a:t>
            </a:r>
            <a:r>
              <a:rPr lang="zh-CN" altLang="en-US" sz="1050" dirty="0"/>
              <a:t> </a:t>
            </a:r>
            <a:r>
              <a:rPr lang="en-US" altLang="zh-CN" sz="1050" dirty="0"/>
              <a:t>Intel</a:t>
            </a:r>
            <a:endParaRPr lang="en-US" sz="105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48C691-E431-DF4B-A731-58CFDEB3C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35</a:t>
            </a:fld>
            <a:endParaRPr lang="zh-CN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83EBA28-E3E1-C44C-9BC8-9C7C2EF27330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90679" y="1253926"/>
            <a:ext cx="3384376" cy="253828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943A7AE-712C-864F-B78A-B86E6B3FD5A7}"/>
              </a:ext>
            </a:extLst>
          </p:cNvPr>
          <p:cNvSpPr txBox="1"/>
          <p:nvPr/>
        </p:nvSpPr>
        <p:spPr>
          <a:xfrm>
            <a:off x="674642" y="1705372"/>
            <a:ext cx="6201614" cy="28073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sz="2000" dirty="0"/>
              <a:t>内存接口</a:t>
            </a:r>
            <a:endParaRPr lang="en-US" altLang="zh-CN" sz="2000" dirty="0"/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sz="2000" dirty="0"/>
              <a:t>字节寻址</a:t>
            </a:r>
            <a:endParaRPr lang="en-US" altLang="zh-CN" sz="2000" dirty="0"/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sz="2000" dirty="0"/>
              <a:t>持久保存数据</a:t>
            </a:r>
            <a:endParaRPr lang="en-US" altLang="zh-CN" sz="2000" dirty="0"/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sz="2000" dirty="0"/>
              <a:t>高密度 </a:t>
            </a:r>
            <a:r>
              <a:rPr lang="en-US" altLang="zh-CN" sz="2000" dirty="0"/>
              <a:t>(512GB/DIMM)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sz="2000" dirty="0"/>
              <a:t>需要磨损均衡，但耐磨度比</a:t>
            </a:r>
            <a:r>
              <a:rPr lang="en-US" altLang="zh-CN" sz="2000" dirty="0"/>
              <a:t>NAND</a:t>
            </a:r>
            <a:r>
              <a:rPr lang="zh-CN" altLang="en-US" sz="2000" dirty="0"/>
              <a:t>好</a:t>
            </a:r>
            <a:r>
              <a:rPr lang="en-US" altLang="zh-CN" sz="2000" dirty="0"/>
              <a:t>10</a:t>
            </a:r>
            <a:r>
              <a:rPr lang="zh-CN" altLang="en-US" sz="2000" dirty="0"/>
              <a:t>倍</a:t>
            </a:r>
            <a:endParaRPr lang="en-US" altLang="zh-CN" sz="2000" dirty="0"/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sz="2000" dirty="0"/>
              <a:t>比</a:t>
            </a:r>
            <a:r>
              <a:rPr lang="en-US" altLang="zh-CN" sz="2000" dirty="0"/>
              <a:t>DRAM</a:t>
            </a:r>
            <a:r>
              <a:rPr lang="zh-CN" altLang="en-US" sz="2000" dirty="0"/>
              <a:t>慢十倍以内，比</a:t>
            </a:r>
            <a:r>
              <a:rPr lang="en-US" altLang="zh-CN" sz="2000" dirty="0"/>
              <a:t>NAND</a:t>
            </a:r>
            <a:r>
              <a:rPr lang="zh-CN" altLang="en-US" sz="2000" dirty="0"/>
              <a:t>快</a:t>
            </a:r>
            <a:r>
              <a:rPr lang="en-US" altLang="zh-CN" sz="2000" dirty="0"/>
              <a:t>1000</a:t>
            </a:r>
            <a:r>
              <a:rPr lang="zh-CN" altLang="en-US" sz="2000" dirty="0"/>
              <a:t>倍</a:t>
            </a:r>
            <a:endParaRPr lang="en-US" altLang="zh-CN" sz="2000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FF2D7F39-047A-364F-B21F-1E7BD20F9C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</p:spPr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5537217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CN" dirty="0"/>
              <a:t>非易失性内存</a:t>
            </a:r>
            <a:r>
              <a:rPr lang="zh-CN" altLang="en-US" dirty="0"/>
              <a:t>带来的新问题</a:t>
            </a:r>
            <a:endParaRPr kumimoji="1" lang="zh-CN" altLang="en-US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15" name="Content Placeholder 14"/>
          <p:cNvPicPr>
            <a:picLocks noGrp="1" noChangeAspect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528" y="1273324"/>
            <a:ext cx="4325234" cy="3771900"/>
          </a:xfrm>
          <a:prstGeom prst="rect">
            <a:avLst/>
          </a:prstGeom>
        </p:spPr>
      </p:pic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277011"/>
              </p:ext>
            </p:extLst>
          </p:nvPr>
        </p:nvGraphicFramePr>
        <p:xfrm>
          <a:off x="4657210" y="2497460"/>
          <a:ext cx="4038039" cy="11074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6262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16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0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DISK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NVM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数据缓存位置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内存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CPU </a:t>
                      </a:r>
                      <a:r>
                        <a:rPr lang="zh-CN" altLang="en-US" dirty="0"/>
                        <a:t>缓存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432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写回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软件控制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硬件控制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18A989-B151-2C48-B5CD-2718520D3E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</p:spPr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4FB813-672C-8D4B-96B9-5979F10AFFA0}"/>
              </a:ext>
            </a:extLst>
          </p:cNvPr>
          <p:cNvSpPr txBox="1"/>
          <p:nvPr/>
        </p:nvSpPr>
        <p:spPr>
          <a:xfrm>
            <a:off x="0" y="5486134"/>
            <a:ext cx="52565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/>
              <a:t>Some</a:t>
            </a:r>
            <a:r>
              <a:rPr lang="zh-CN" altLang="en-US" sz="1200" dirty="0"/>
              <a:t> </a:t>
            </a:r>
            <a:r>
              <a:rPr lang="en-US" altLang="zh-CN" sz="1200" dirty="0"/>
              <a:t>figures</a:t>
            </a:r>
            <a:r>
              <a:rPr lang="zh-CN" altLang="en-US" sz="1200" dirty="0"/>
              <a:t> </a:t>
            </a:r>
            <a:r>
              <a:rPr lang="en-US" altLang="zh-CN" sz="1200" dirty="0"/>
              <a:t>and</a:t>
            </a:r>
            <a:r>
              <a:rPr lang="zh-CN" altLang="en-US" sz="1200" dirty="0"/>
              <a:t> </a:t>
            </a:r>
            <a:r>
              <a:rPr lang="en-US" altLang="zh-CN" sz="1200" dirty="0"/>
              <a:t>slides</a:t>
            </a:r>
            <a:r>
              <a:rPr lang="zh-CN" altLang="en-US" sz="1200" dirty="0"/>
              <a:t> </a:t>
            </a:r>
            <a:r>
              <a:rPr lang="en-US" altLang="zh-CN" sz="1200" dirty="0"/>
              <a:t>from</a:t>
            </a:r>
            <a:r>
              <a:rPr lang="zh-CN" altLang="en-US" sz="1200" dirty="0"/>
              <a:t> </a:t>
            </a:r>
            <a:r>
              <a:rPr lang="en-US" sz="1200" dirty="0"/>
              <a:t>https://</a:t>
            </a:r>
            <a:r>
              <a:rPr lang="en-US" sz="1200" dirty="0" err="1"/>
              <a:t>research.cs.wisc.edu</a:t>
            </a:r>
            <a:r>
              <a:rPr lang="en-US" sz="1200" dirty="0"/>
              <a:t>/sonar/tutorial/</a:t>
            </a:r>
            <a:endParaRPr lang="en-CN" sz="1200" dirty="0"/>
          </a:p>
        </p:txBody>
      </p:sp>
    </p:spTree>
    <p:extLst>
      <p:ext uri="{BB962C8B-B14F-4D97-AF65-F5344CB8AC3E}">
        <p14:creationId xmlns:p14="http://schemas.microsoft.com/office/powerpoint/2010/main" val="74690495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D30EB-E71D-0E41-B6DE-727049094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内存写入顺序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F59AA3-8F76-424D-85E6-97D3EBC0C5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0" dirty="0"/>
              <a:t>Writeback</a:t>
            </a:r>
            <a:r>
              <a:rPr lang="zh-CN" altLang="en-US" b="0" dirty="0"/>
              <a:t>模式的</a:t>
            </a:r>
            <a:r>
              <a:rPr lang="en-US" altLang="zh-CN" b="0" dirty="0"/>
              <a:t>CPU</a:t>
            </a:r>
            <a:r>
              <a:rPr lang="zh-CN" altLang="en-US" b="0" dirty="0"/>
              <a:t>缓存</a:t>
            </a:r>
            <a:endParaRPr lang="en-US" altLang="zh-CN" b="0" dirty="0"/>
          </a:p>
          <a:p>
            <a:pPr lvl="1"/>
            <a:r>
              <a:rPr lang="zh-CN" altLang="en-US" b="0" dirty="0"/>
              <a:t>虽然能提升性能，但</a:t>
            </a:r>
            <a:r>
              <a:rPr lang="zh-CN" altLang="en-US" dirty="0"/>
              <a:t>会打乱数据写入内存的顺序</a:t>
            </a:r>
            <a:endParaRPr lang="en-CN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11CF8A-17DA-E84E-BD34-5737DCB80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37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EE6174-0C26-4E46-9779-9FBA176653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06D8C6B-6F29-2E4A-8A7D-8DA2BB61E1F9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4611" y="2785492"/>
            <a:ext cx="7314778" cy="1842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539893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D30EB-E71D-0E41-B6DE-727049094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CN" dirty="0"/>
              <a:t>非易失性</a:t>
            </a:r>
            <a:r>
              <a:rPr lang="zh-CN" altLang="en-US" dirty="0"/>
              <a:t>内存写入顺序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F59AA3-8F76-424D-85E6-97D3EBC0C5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0" dirty="0"/>
              <a:t>考虑持久性和一致性，写入顺序很重要</a:t>
            </a:r>
            <a:endParaRPr lang="en-US" altLang="zh-CN" b="0" dirty="0"/>
          </a:p>
          <a:p>
            <a:pPr lvl="1"/>
            <a:endParaRPr lang="en-US" b="0" dirty="0"/>
          </a:p>
          <a:p>
            <a:pPr lvl="1"/>
            <a:endParaRPr lang="en-US" dirty="0"/>
          </a:p>
          <a:p>
            <a:pPr lvl="1"/>
            <a:endParaRPr lang="en-US" b="0" dirty="0"/>
          </a:p>
          <a:p>
            <a:pPr lvl="1"/>
            <a:endParaRPr lang="en-US" dirty="0"/>
          </a:p>
          <a:p>
            <a:endParaRPr lang="en-CN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11CF8A-17DA-E84E-BD34-5737DCB80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38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EE6174-0C26-4E46-9779-9FBA176653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FBCC9E3-80AD-CD45-9475-70DE7E43AF2B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3608" y="1921396"/>
            <a:ext cx="6696744" cy="2868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098116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D30EB-E71D-0E41-B6DE-727049094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CN" dirty="0"/>
              <a:t>非易失性</a:t>
            </a:r>
            <a:r>
              <a:rPr lang="zh-CN" altLang="en-US" dirty="0"/>
              <a:t>内存写入顺序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F59AA3-8F76-424D-85E6-97D3EBC0C5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0" dirty="0"/>
              <a:t>考虑持久性和一致性，写入顺序很重要</a:t>
            </a:r>
            <a:endParaRPr lang="en-US" altLang="zh-CN" b="0" dirty="0"/>
          </a:p>
          <a:p>
            <a:pPr lvl="1"/>
            <a:endParaRPr lang="en-US" b="0" dirty="0"/>
          </a:p>
          <a:p>
            <a:pPr lvl="1"/>
            <a:endParaRPr lang="en-US" dirty="0"/>
          </a:p>
          <a:p>
            <a:pPr lvl="1"/>
            <a:endParaRPr lang="en-US" b="0" dirty="0"/>
          </a:p>
          <a:p>
            <a:pPr lvl="1"/>
            <a:endParaRPr lang="en-US" dirty="0"/>
          </a:p>
          <a:p>
            <a:endParaRPr lang="en-CN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11CF8A-17DA-E84E-BD34-5737DCB80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39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EE6174-0C26-4E46-9779-9FBA176653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FBCC9E3-80AD-CD45-9475-70DE7E43AF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43608" y="1921396"/>
            <a:ext cx="6696744" cy="268555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E5C923A-4004-CC41-B004-B0D6E8077791}"/>
              </a:ext>
            </a:extLst>
          </p:cNvPr>
          <p:cNvSpPr txBox="1"/>
          <p:nvPr/>
        </p:nvSpPr>
        <p:spPr>
          <a:xfrm>
            <a:off x="786651" y="4587901"/>
            <a:ext cx="72507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400" dirty="0">
                <a:solidFill>
                  <a:srgbClr val="C00000"/>
                </a:solidFill>
                <a:latin typeface="+mn-ea"/>
                <a:cs typeface="DengXian" charset="-122"/>
              </a:rPr>
              <a:t>错误的写入顺序在恢复时将垃圾数据视为有效数据！</a:t>
            </a:r>
            <a:endParaRPr lang="en-US" sz="2400" dirty="0">
              <a:solidFill>
                <a:srgbClr val="C00000"/>
              </a:solidFill>
              <a:latin typeface="+mn-ea"/>
              <a:cs typeface="DengXian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4037407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思考</a:t>
            </a:r>
            <a:r>
              <a:rPr kumimoji="1" lang="en-US" altLang="zh-CN" dirty="0"/>
              <a:t>🤔</a:t>
            </a:r>
            <a:r>
              <a:rPr kumimoji="1" lang="zh-CN" altLang="en-US" dirty="0"/>
              <a:t>：有哪些解决方法？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333501"/>
            <a:ext cx="8229600" cy="3396207"/>
          </a:xfrm>
        </p:spPr>
        <p:txBody>
          <a:bodyPr>
            <a:normAutofit/>
          </a:bodyPr>
          <a:lstStyle/>
          <a:p>
            <a:r>
              <a:rPr kumimoji="1" lang="zh-CN" altLang="en-US" b="0" dirty="0"/>
              <a:t>关闭</a:t>
            </a:r>
            <a:r>
              <a:rPr kumimoji="1" lang="en-US" altLang="zh-CN" b="0" dirty="0"/>
              <a:t>CPU</a:t>
            </a:r>
            <a:r>
              <a:rPr kumimoji="1" lang="zh-CN" altLang="en-US" b="0" dirty="0"/>
              <a:t>缓存？</a:t>
            </a:r>
            <a:endParaRPr kumimoji="1" lang="en-US" altLang="zh-CN" b="0" dirty="0"/>
          </a:p>
          <a:p>
            <a:r>
              <a:rPr kumimoji="1" lang="zh-CN" altLang="en-US" b="0" dirty="0"/>
              <a:t>使用</a:t>
            </a:r>
            <a:r>
              <a:rPr lang="en-US" b="0" dirty="0"/>
              <a:t>Write-through</a:t>
            </a:r>
            <a:r>
              <a:rPr lang="zh-CN" altLang="en-US" b="0" dirty="0"/>
              <a:t>模式的缓存？</a:t>
            </a:r>
            <a:endParaRPr lang="en-US" b="0" dirty="0"/>
          </a:p>
          <a:p>
            <a:r>
              <a:rPr lang="zh-CN" altLang="en-US" b="0" dirty="0"/>
              <a:t>每次写入后刷除整个缓存？</a:t>
            </a:r>
            <a:br>
              <a:rPr lang="en-US" b="0" dirty="0"/>
            </a:b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3970547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333501"/>
            <a:ext cx="8229600" cy="3900263"/>
          </a:xfrm>
        </p:spPr>
        <p:txBody>
          <a:bodyPr>
            <a:normAutofit/>
          </a:bodyPr>
          <a:lstStyle/>
          <a:p>
            <a:r>
              <a:rPr kumimoji="1" lang="zh-CN" altLang="en-US" sz="2000" b="0" dirty="0"/>
              <a:t>使用</a:t>
            </a:r>
            <a:r>
              <a:rPr kumimoji="1" lang="en-US" altLang="zh-CN" sz="2000" b="0" dirty="0"/>
              <a:t>CLFLUSH</a:t>
            </a:r>
            <a:r>
              <a:rPr kumimoji="1" lang="zh-CN" altLang="en-US" sz="2000" b="0" dirty="0"/>
              <a:t>指令将数据逐出（</a:t>
            </a:r>
            <a:r>
              <a:rPr kumimoji="1" lang="en-US" altLang="zh-CN" sz="2000" b="0" dirty="0"/>
              <a:t>Evict</a:t>
            </a:r>
            <a:r>
              <a:rPr kumimoji="1" lang="zh-CN" altLang="en-US" sz="2000" b="0" dirty="0"/>
              <a:t>）缓存，以保证顺序</a:t>
            </a:r>
            <a:endParaRPr kumimoji="1" lang="en-US" altLang="zh-CN" sz="2000" b="0" dirty="0"/>
          </a:p>
          <a:p>
            <a:pPr marL="0" indent="0">
              <a:buNone/>
            </a:pPr>
            <a:br>
              <a:rPr kumimoji="1" lang="en-US" altLang="zh-CN" sz="2000" b="0" dirty="0"/>
            </a:br>
            <a:endParaRPr kumimoji="1" lang="en-US" altLang="zh-CN" sz="2000" b="0" dirty="0"/>
          </a:p>
          <a:p>
            <a:r>
              <a:rPr kumimoji="1" lang="en-US" altLang="zh-CN" sz="2000" b="0" dirty="0"/>
              <a:t>CLFLUSH</a:t>
            </a:r>
            <a:r>
              <a:rPr kumimoji="1" lang="zh-CN" altLang="en-US" sz="2000" b="0" dirty="0"/>
              <a:t>的缺点</a:t>
            </a:r>
            <a:endParaRPr kumimoji="1" lang="en-US" altLang="zh-CN" sz="2000" b="0" dirty="0"/>
          </a:p>
          <a:p>
            <a:pPr lvl="1"/>
            <a:r>
              <a:rPr lang="zh-CN" altLang="en-US" sz="1800" dirty="0"/>
              <a:t>顺序执行，阻塞</a:t>
            </a:r>
            <a:r>
              <a:rPr lang="en-US" altLang="zh-CN" sz="1800" dirty="0"/>
              <a:t>CPU</a:t>
            </a:r>
            <a:r>
              <a:rPr lang="zh-CN" altLang="en-US" sz="1800" dirty="0"/>
              <a:t>流水线</a:t>
            </a:r>
            <a:endParaRPr lang="en-US" sz="1800" dirty="0"/>
          </a:p>
          <a:p>
            <a:pPr lvl="1"/>
            <a:r>
              <a:rPr lang="zh-CN" altLang="en-US" sz="1800" dirty="0"/>
              <a:t>会将</a:t>
            </a:r>
            <a:r>
              <a:rPr lang="en-US" altLang="zh-CN" sz="1800" dirty="0" err="1"/>
              <a:t>cacheline</a:t>
            </a:r>
            <a:r>
              <a:rPr lang="zh-CN" altLang="en-US" sz="1800" dirty="0"/>
              <a:t>无效化（</a:t>
            </a:r>
            <a:r>
              <a:rPr lang="en-US" altLang="zh-CN" sz="1800" dirty="0"/>
              <a:t>Cache-Line</a:t>
            </a:r>
            <a:r>
              <a:rPr lang="zh-CN" altLang="en-US" sz="1800" dirty="0"/>
              <a:t> </a:t>
            </a:r>
            <a:r>
              <a:rPr lang="en-US" altLang="zh-CN" sz="1800" dirty="0"/>
              <a:t>Flush</a:t>
            </a:r>
            <a:r>
              <a:rPr lang="zh-CN" altLang="en-US" sz="1800" dirty="0"/>
              <a:t>的语义）</a:t>
            </a:r>
            <a:endParaRPr lang="en-US" sz="1800" dirty="0"/>
          </a:p>
          <a:p>
            <a:pPr lvl="1"/>
            <a:endParaRPr kumimoji="1" lang="en-US" altLang="zh-CN" sz="1800" dirty="0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03848" y="1792144"/>
            <a:ext cx="2016224" cy="942428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95736" y="4135642"/>
            <a:ext cx="4392488" cy="109812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使用</a:t>
            </a:r>
            <a:r>
              <a:rPr lang="en-US" altLang="zh-CN" dirty="0"/>
              <a:t>CLFLUSH</a:t>
            </a:r>
            <a:r>
              <a:rPr lang="zh-CN" altLang="en-US" dirty="0"/>
              <a:t>保证顺序</a:t>
            </a:r>
            <a:endParaRPr lang="en-US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91023223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44008" y="1921396"/>
            <a:ext cx="3866148" cy="2123658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Intel x86 </a:t>
            </a:r>
            <a:r>
              <a:rPr lang="zh-CN" altLang="en-US" dirty="0"/>
              <a:t>拓展指令集</a:t>
            </a:r>
            <a:endParaRPr lang="en-US" dirty="0">
              <a:effectLst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333501"/>
            <a:ext cx="8229600" cy="3900263"/>
          </a:xfrm>
        </p:spPr>
        <p:txBody>
          <a:bodyPr>
            <a:normAutofit/>
          </a:bodyPr>
          <a:lstStyle/>
          <a:p>
            <a:r>
              <a:rPr lang="en-US" sz="1800" b="0" dirty="0" err="1"/>
              <a:t>新指令</a:t>
            </a:r>
            <a:r>
              <a:rPr lang="zh-CN" altLang="en-US" sz="1800" b="0" dirty="0"/>
              <a:t>：</a:t>
            </a:r>
            <a:r>
              <a:rPr lang="en-US" sz="1800" b="0" dirty="0"/>
              <a:t>CLFLUSHOPT</a:t>
            </a:r>
          </a:p>
          <a:p>
            <a:pPr lvl="1"/>
            <a:r>
              <a:rPr lang="zh-CN" altLang="en-US" sz="1800" dirty="0"/>
              <a:t>可以看做可并行执行</a:t>
            </a:r>
            <a:r>
              <a:rPr lang="zh-CN" altLang="en-US" sz="1600" dirty="0"/>
              <a:t>的</a:t>
            </a:r>
            <a:r>
              <a:rPr lang="en-US" sz="1600" dirty="0"/>
              <a:t>CLFLUSH</a:t>
            </a:r>
          </a:p>
          <a:p>
            <a:pPr lvl="1"/>
            <a:r>
              <a:rPr lang="zh-CN" altLang="en-US" sz="1600" dirty="0"/>
              <a:t>需要用 </a:t>
            </a:r>
            <a:r>
              <a:rPr lang="en-US" altLang="zh-CN" sz="1600" dirty="0" err="1"/>
              <a:t>sfence</a:t>
            </a:r>
            <a:r>
              <a:rPr lang="zh-CN" altLang="en-US" sz="1600" dirty="0"/>
              <a:t> 来保证顺序</a:t>
            </a:r>
            <a:endParaRPr lang="en-US" sz="1600" dirty="0"/>
          </a:p>
          <a:p>
            <a:pPr lvl="1"/>
            <a:endParaRPr lang="en-US" sz="1600" dirty="0"/>
          </a:p>
          <a:p>
            <a:pPr lvl="1"/>
            <a:endParaRPr lang="en-US" sz="1600" dirty="0"/>
          </a:p>
          <a:p>
            <a:pPr marL="457200" lvl="1" indent="0">
              <a:buNone/>
            </a:pPr>
            <a:endParaRPr lang="en-US" sz="1800" dirty="0"/>
          </a:p>
          <a:p>
            <a:endParaRPr lang="en-US" sz="1800" b="0" dirty="0"/>
          </a:p>
          <a:p>
            <a:r>
              <a:rPr lang="en-US" altLang="zh-CN" sz="1800" b="0" dirty="0" err="1"/>
              <a:t>新指令</a:t>
            </a:r>
            <a:r>
              <a:rPr lang="zh-CN" altLang="en-US" sz="1800" b="0" dirty="0"/>
              <a:t>： </a:t>
            </a:r>
            <a:r>
              <a:rPr lang="en-US" sz="1800" b="0" dirty="0"/>
              <a:t>CLWB</a:t>
            </a:r>
          </a:p>
          <a:p>
            <a:pPr lvl="1"/>
            <a:r>
              <a:rPr kumimoji="1" lang="en-US" altLang="zh-CN" sz="1800" dirty="0"/>
              <a:t>Cache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Line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Write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Back</a:t>
            </a:r>
          </a:p>
          <a:p>
            <a:pPr lvl="1"/>
            <a:r>
              <a:rPr kumimoji="1" lang="zh-CN" altLang="en-US" sz="1800" dirty="0"/>
              <a:t>与</a:t>
            </a:r>
            <a:r>
              <a:rPr kumimoji="1" lang="en-US" altLang="zh-CN" sz="1800" dirty="0"/>
              <a:t>CLFLUSHOPT</a:t>
            </a:r>
            <a:r>
              <a:rPr kumimoji="1" lang="zh-CN" altLang="en-US" sz="1800" dirty="0"/>
              <a:t>类似，区别在于不会将</a:t>
            </a:r>
            <a:r>
              <a:rPr kumimoji="1" lang="en-US" altLang="zh-CN" sz="1800" dirty="0" err="1"/>
              <a:t>cacheline</a:t>
            </a:r>
            <a:r>
              <a:rPr kumimoji="1" lang="zh-CN" altLang="en-US" sz="1800" dirty="0"/>
              <a:t>无效化</a:t>
            </a:r>
            <a:endParaRPr kumimoji="1" lang="en-US" altLang="zh-CN" sz="1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5650" y="2569468"/>
            <a:ext cx="3058130" cy="1172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541460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举例：</a:t>
            </a:r>
            <a:r>
              <a:rPr kumimoji="1" lang="en-US" altLang="zh-CN" dirty="0"/>
              <a:t>NVM</a:t>
            </a:r>
            <a:r>
              <a:rPr kumimoji="1" lang="zh-CN" altLang="en-US" dirty="0"/>
              <a:t>上的写时复制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6678" y="1093658"/>
            <a:ext cx="2181105" cy="1748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79658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举例：</a:t>
            </a:r>
            <a:r>
              <a:rPr kumimoji="1" lang="en-US" altLang="zh-CN" dirty="0"/>
              <a:t>NVM</a:t>
            </a:r>
            <a:r>
              <a:rPr kumimoji="1" lang="zh-CN" altLang="en-US" dirty="0"/>
              <a:t>上的写时复制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6679" y="1110382"/>
            <a:ext cx="2160240" cy="173155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200" y="1008557"/>
            <a:ext cx="3223866" cy="1954131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652120" y="1134819"/>
            <a:ext cx="139499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6DBF"/>
                </a:solidFill>
                <a:latin typeface="Consolas" charset="0"/>
                <a:ea typeface="Consolas" charset="0"/>
                <a:cs typeface="Consolas" charset="0"/>
              </a:rPr>
              <a:t>STORE Y’</a:t>
            </a:r>
          </a:p>
          <a:p>
            <a:r>
              <a:rPr lang="en-US" b="1" dirty="0">
                <a:solidFill>
                  <a:srgbClr val="006DBF"/>
                </a:solidFill>
                <a:latin typeface="Consolas" charset="0"/>
                <a:ea typeface="Consolas" charset="0"/>
                <a:cs typeface="Consolas" charset="0"/>
              </a:rPr>
              <a:t>STORE Z’</a:t>
            </a:r>
          </a:p>
          <a:p>
            <a:r>
              <a:rPr lang="en-US" b="1" dirty="0">
                <a:solidFill>
                  <a:srgbClr val="006DBF"/>
                </a:solidFill>
                <a:latin typeface="Consolas" charset="0"/>
                <a:ea typeface="Consolas" charset="0"/>
                <a:cs typeface="Consolas" charset="0"/>
              </a:rPr>
              <a:t>CLWB Y’</a:t>
            </a:r>
          </a:p>
          <a:p>
            <a:r>
              <a:rPr lang="en-US" b="1" dirty="0">
                <a:solidFill>
                  <a:srgbClr val="006DBF"/>
                </a:solidFill>
                <a:latin typeface="Consolas" charset="0"/>
                <a:ea typeface="Consolas" charset="0"/>
                <a:cs typeface="Consolas" charset="0"/>
              </a:rPr>
              <a:t>CLWB Z’</a:t>
            </a:r>
          </a:p>
          <a:p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SFENCE</a:t>
            </a:r>
          </a:p>
          <a:p>
            <a:r>
              <a:rPr lang="en-US" b="1" dirty="0">
                <a:solidFill>
                  <a:srgbClr val="FF0000"/>
                </a:solidFill>
                <a:latin typeface="Consolas" charset="0"/>
                <a:ea typeface="Consolas" charset="0"/>
                <a:cs typeface="Consolas" charset="0"/>
              </a:rPr>
              <a:t>STORE R’</a:t>
            </a:r>
          </a:p>
          <a:p>
            <a:r>
              <a:rPr lang="en-US" b="1" dirty="0">
                <a:solidFill>
                  <a:srgbClr val="FF0000"/>
                </a:solidFill>
                <a:latin typeface="Consolas" charset="0"/>
                <a:ea typeface="Consolas" charset="0"/>
                <a:cs typeface="Consolas" charset="0"/>
              </a:rPr>
              <a:t>CLWB R’ </a:t>
            </a:r>
            <a:endParaRPr lang="en-US" b="1" dirty="0">
              <a:effectLst/>
              <a:latin typeface="Consolas" charset="0"/>
              <a:ea typeface="Consolas" charset="0"/>
              <a:cs typeface="Consola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36415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5656343" y="1140017"/>
            <a:ext cx="1363929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6DBF"/>
                </a:solidFill>
                <a:latin typeface="Consolas" charset="0"/>
                <a:ea typeface="Consolas" charset="0"/>
                <a:cs typeface="Consolas" charset="0"/>
              </a:rPr>
              <a:t>STORE Y’</a:t>
            </a:r>
          </a:p>
          <a:p>
            <a:r>
              <a:rPr lang="en-US" b="1" dirty="0">
                <a:solidFill>
                  <a:srgbClr val="006DBF"/>
                </a:solidFill>
                <a:latin typeface="Consolas" charset="0"/>
                <a:ea typeface="Consolas" charset="0"/>
                <a:cs typeface="Consolas" charset="0"/>
              </a:rPr>
              <a:t>STORE Z’</a:t>
            </a:r>
          </a:p>
          <a:p>
            <a:r>
              <a:rPr lang="en-US" b="1" dirty="0">
                <a:solidFill>
                  <a:srgbClr val="006DBF"/>
                </a:solidFill>
                <a:latin typeface="Consolas" charset="0"/>
                <a:ea typeface="Consolas" charset="0"/>
                <a:cs typeface="Consolas" charset="0"/>
              </a:rPr>
              <a:t>CLWB Y’</a:t>
            </a:r>
          </a:p>
          <a:p>
            <a:r>
              <a:rPr lang="en-US" b="1" dirty="0">
                <a:solidFill>
                  <a:srgbClr val="006DBF"/>
                </a:solidFill>
                <a:latin typeface="Consolas" charset="0"/>
                <a:ea typeface="Consolas" charset="0"/>
                <a:cs typeface="Consolas" charset="0"/>
              </a:rPr>
              <a:t>CLWB Z’</a:t>
            </a:r>
          </a:p>
          <a:p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SFENCE</a:t>
            </a:r>
          </a:p>
          <a:p>
            <a:r>
              <a:rPr lang="en-US" b="1" dirty="0">
                <a:solidFill>
                  <a:srgbClr val="FF0000"/>
                </a:solidFill>
                <a:latin typeface="Consolas" charset="0"/>
                <a:ea typeface="Consolas" charset="0"/>
                <a:cs typeface="Consolas" charset="0"/>
              </a:rPr>
              <a:t>STORE R’</a:t>
            </a:r>
          </a:p>
          <a:p>
            <a:r>
              <a:rPr lang="en-US" b="1" dirty="0">
                <a:solidFill>
                  <a:srgbClr val="FF0000"/>
                </a:solidFill>
                <a:latin typeface="Consolas" charset="0"/>
                <a:ea typeface="Consolas" charset="0"/>
                <a:cs typeface="Consolas" charset="0"/>
              </a:rPr>
              <a:t>CLWB R’</a:t>
            </a:r>
          </a:p>
          <a:p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SFENCE</a:t>
            </a:r>
          </a:p>
          <a:p>
            <a:r>
              <a:rPr lang="en-US" b="1" dirty="0">
                <a:solidFill>
                  <a:srgbClr val="00AF4F"/>
                </a:solidFill>
                <a:latin typeface="Consolas" charset="0"/>
                <a:ea typeface="Consolas" charset="0"/>
                <a:cs typeface="Consolas" charset="0"/>
              </a:rPr>
              <a:t>STORE X’</a:t>
            </a:r>
          </a:p>
          <a:p>
            <a:r>
              <a:rPr lang="en-US" b="1" dirty="0">
                <a:solidFill>
                  <a:srgbClr val="00AF4F"/>
                </a:solidFill>
                <a:latin typeface="Consolas" charset="0"/>
                <a:ea typeface="Consolas" charset="0"/>
                <a:cs typeface="Consolas" charset="0"/>
              </a:rPr>
              <a:t>STORE Z’’</a:t>
            </a:r>
          </a:p>
          <a:p>
            <a:r>
              <a:rPr lang="en-US" b="1" dirty="0">
                <a:solidFill>
                  <a:srgbClr val="00AF4F"/>
                </a:solidFill>
                <a:latin typeface="Consolas" charset="0"/>
                <a:ea typeface="Consolas" charset="0"/>
                <a:cs typeface="Consolas" charset="0"/>
              </a:rPr>
              <a:t>CLWB X’</a:t>
            </a:r>
          </a:p>
          <a:p>
            <a:r>
              <a:rPr lang="en-US" b="1" dirty="0">
                <a:solidFill>
                  <a:srgbClr val="00AF4F"/>
                </a:solidFill>
                <a:latin typeface="Consolas" charset="0"/>
                <a:ea typeface="Consolas" charset="0"/>
                <a:cs typeface="Consolas" charset="0"/>
              </a:rPr>
              <a:t>CLWB Z’’</a:t>
            </a:r>
          </a:p>
          <a:p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SFENCE</a:t>
            </a:r>
          </a:p>
          <a:p>
            <a:r>
              <a:rPr lang="en-US" b="1" dirty="0">
                <a:solidFill>
                  <a:srgbClr val="6D2D9E"/>
                </a:solidFill>
                <a:latin typeface="Consolas" charset="0"/>
                <a:ea typeface="Consolas" charset="0"/>
                <a:cs typeface="Consolas" charset="0"/>
              </a:rPr>
              <a:t>STORE R’</a:t>
            </a:r>
          </a:p>
          <a:p>
            <a:r>
              <a:rPr lang="en-US" b="1" dirty="0">
                <a:solidFill>
                  <a:srgbClr val="6D2D9E"/>
                </a:solidFill>
                <a:latin typeface="Consolas" charset="0"/>
                <a:ea typeface="Consolas" charset="0"/>
                <a:cs typeface="Consolas" charset="0"/>
              </a:rPr>
              <a:t>CLWB R’ </a:t>
            </a:r>
            <a:endParaRPr lang="en-US" b="1" dirty="0">
              <a:effectLst/>
              <a:latin typeface="Consolas" charset="0"/>
              <a:ea typeface="Consolas" charset="0"/>
              <a:cs typeface="Consolas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举例：</a:t>
            </a:r>
            <a:r>
              <a:rPr kumimoji="1" lang="en-US" altLang="zh-CN" dirty="0"/>
              <a:t>NVM</a:t>
            </a:r>
            <a:r>
              <a:rPr kumimoji="1" lang="zh-CN" altLang="en-US" dirty="0"/>
              <a:t>上的写时复制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6679" y="1110382"/>
            <a:ext cx="2160240" cy="173155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200" y="1008557"/>
            <a:ext cx="3223866" cy="195413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6679" y="1008557"/>
            <a:ext cx="4138376" cy="2337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34880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CE62D9-8849-004B-96D9-9F0C88842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CN" dirty="0"/>
              <a:t>非易失性内存</a:t>
            </a:r>
            <a:r>
              <a:rPr lang="zh-CN" altLang="en-US" dirty="0"/>
              <a:t>文件系统</a:t>
            </a:r>
            <a:endParaRPr lang="en-C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32FA65-E714-1942-A3A7-B74CC6750A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dirty="0"/>
              <a:t>Non-volatile</a:t>
            </a:r>
            <a:r>
              <a:rPr lang="zh-CN" altLang="en-US" dirty="0"/>
              <a:t> </a:t>
            </a:r>
            <a:r>
              <a:rPr lang="en-US" altLang="zh-CN" dirty="0"/>
              <a:t>Memory</a:t>
            </a:r>
            <a:r>
              <a:rPr lang="zh-CN" altLang="en-US" dirty="0"/>
              <a:t> </a:t>
            </a:r>
            <a:r>
              <a:rPr lang="en-US" altLang="zh-CN" dirty="0"/>
              <a:t>File</a:t>
            </a:r>
            <a:r>
              <a:rPr lang="zh-CN" altLang="en-US" dirty="0"/>
              <a:t> </a:t>
            </a:r>
            <a:r>
              <a:rPr lang="en-US" altLang="zh-CN" dirty="0"/>
              <a:t>System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B1C8FC-3CEB-0641-B0E8-2273C933E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46</a:t>
            </a:fld>
            <a:endParaRPr lang="zh-CN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AC9A8154-E8E4-514E-B5A5-6B39C82D18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</p:spPr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9029182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非易失性内存改变存储栈</a:t>
            </a:r>
          </a:p>
        </p:txBody>
      </p:sp>
      <p:sp>
        <p:nvSpPr>
          <p:cNvPr id="4" name="Rectangle 3"/>
          <p:cNvSpPr/>
          <p:nvPr/>
        </p:nvSpPr>
        <p:spPr>
          <a:xfrm>
            <a:off x="1100837" y="1129840"/>
            <a:ext cx="1163370" cy="355031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App</a:t>
            </a:r>
          </a:p>
        </p:txBody>
      </p:sp>
      <p:sp>
        <p:nvSpPr>
          <p:cNvPr id="5" name="Rectangle 4"/>
          <p:cNvSpPr/>
          <p:nvPr/>
        </p:nvSpPr>
        <p:spPr>
          <a:xfrm>
            <a:off x="1105808" y="1745425"/>
            <a:ext cx="2530265" cy="35503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系统调用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100837" y="2172464"/>
            <a:ext cx="2535060" cy="35503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VFS</a:t>
            </a:r>
          </a:p>
        </p:txBody>
      </p:sp>
      <p:sp>
        <p:nvSpPr>
          <p:cNvPr id="7" name="Rectangle 6"/>
          <p:cNvSpPr/>
          <p:nvPr/>
        </p:nvSpPr>
        <p:spPr>
          <a:xfrm>
            <a:off x="1100837" y="3036560"/>
            <a:ext cx="2535060" cy="3550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通用块层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100837" y="2604512"/>
            <a:ext cx="2534280" cy="355031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文件系统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100837" y="3468608"/>
            <a:ext cx="2535060" cy="355031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I/O </a:t>
            </a:r>
            <a:r>
              <a:rPr lang="zh-CN" altLang="en-US" dirty="0">
                <a:solidFill>
                  <a:schemeClr val="tx1"/>
                </a:solidFill>
              </a:rPr>
              <a:t>调度器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524988" y="1129306"/>
            <a:ext cx="1163370" cy="355031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App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099873" y="3900655"/>
            <a:ext cx="2535060" cy="50458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设备驱动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4" name="Straight Connector 13"/>
          <p:cNvCxnSpPr>
            <a:cxnSpLocks/>
          </p:cNvCxnSpPr>
          <p:nvPr/>
        </p:nvCxnSpPr>
        <p:spPr>
          <a:xfrm>
            <a:off x="1037213" y="1627823"/>
            <a:ext cx="2730687" cy="0"/>
          </a:xfrm>
          <a:prstGeom prst="line">
            <a:avLst/>
          </a:prstGeom>
          <a:ln w="317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cxnSpLocks/>
          </p:cNvCxnSpPr>
          <p:nvPr/>
        </p:nvCxnSpPr>
        <p:spPr>
          <a:xfrm>
            <a:off x="1037213" y="4548728"/>
            <a:ext cx="2752278" cy="0"/>
          </a:xfrm>
          <a:prstGeom prst="line">
            <a:avLst/>
          </a:prstGeom>
          <a:ln w="3492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037213" y="4548728"/>
            <a:ext cx="9741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I/O </a:t>
            </a:r>
            <a:r>
              <a:rPr lang="zh-CN" altLang="en-US" sz="1400" dirty="0"/>
              <a:t>总线</a:t>
            </a:r>
            <a:endParaRPr lang="en-US" sz="140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0329A5A-3D3B-4340-A8BB-3B2FDC4AB339}"/>
              </a:ext>
            </a:extLst>
          </p:cNvPr>
          <p:cNvSpPr/>
          <p:nvPr/>
        </p:nvSpPr>
        <p:spPr>
          <a:xfrm>
            <a:off x="1099872" y="4878038"/>
            <a:ext cx="827078" cy="39505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磁盘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FCEC19B-0A62-8B40-B062-430D19EFA5B9}"/>
              </a:ext>
            </a:extLst>
          </p:cNvPr>
          <p:cNvSpPr/>
          <p:nvPr/>
        </p:nvSpPr>
        <p:spPr>
          <a:xfrm>
            <a:off x="2011338" y="4875491"/>
            <a:ext cx="1248776" cy="39505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固态硬盘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7BC861C-7B94-0046-85C1-8AF8A7D3DE46}"/>
              </a:ext>
            </a:extLst>
          </p:cNvPr>
          <p:cNvSpPr txBox="1"/>
          <p:nvPr/>
        </p:nvSpPr>
        <p:spPr>
          <a:xfrm>
            <a:off x="3267381" y="4875491"/>
            <a:ext cx="5221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…</a:t>
            </a:r>
            <a:endParaRPr lang="en-CN" dirty="0"/>
          </a:p>
        </p:txBody>
      </p:sp>
      <p:sp>
        <p:nvSpPr>
          <p:cNvPr id="86" name="Footer Placeholder 4">
            <a:extLst>
              <a:ext uri="{FF2B5EF4-FFF2-40B4-BE49-F238E27FC236}">
                <a16:creationId xmlns:a16="http://schemas.microsoft.com/office/drawing/2014/main" id="{A6400F4C-BE28-9B48-9C16-1004CF3184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</p:spPr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2821576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非易失性内存改变存储栈</a:t>
            </a:r>
          </a:p>
        </p:txBody>
      </p:sp>
      <p:sp>
        <p:nvSpPr>
          <p:cNvPr id="4" name="Rectangle 3"/>
          <p:cNvSpPr/>
          <p:nvPr/>
        </p:nvSpPr>
        <p:spPr>
          <a:xfrm>
            <a:off x="1100837" y="1129840"/>
            <a:ext cx="1163370" cy="355031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App</a:t>
            </a:r>
          </a:p>
        </p:txBody>
      </p:sp>
      <p:sp>
        <p:nvSpPr>
          <p:cNvPr id="5" name="Rectangle 4"/>
          <p:cNvSpPr/>
          <p:nvPr/>
        </p:nvSpPr>
        <p:spPr>
          <a:xfrm>
            <a:off x="1105808" y="1745425"/>
            <a:ext cx="2530265" cy="35503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系统调用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100837" y="2172464"/>
            <a:ext cx="2535060" cy="35503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VFS</a:t>
            </a:r>
          </a:p>
        </p:txBody>
      </p:sp>
      <p:sp>
        <p:nvSpPr>
          <p:cNvPr id="7" name="Rectangle 6"/>
          <p:cNvSpPr/>
          <p:nvPr/>
        </p:nvSpPr>
        <p:spPr>
          <a:xfrm>
            <a:off x="1100837" y="3036560"/>
            <a:ext cx="2535060" cy="3550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通用块层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100837" y="2604512"/>
            <a:ext cx="2534280" cy="355031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文件系统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100837" y="3468608"/>
            <a:ext cx="2535060" cy="355031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I/O </a:t>
            </a:r>
            <a:r>
              <a:rPr lang="zh-CN" altLang="en-US" dirty="0">
                <a:solidFill>
                  <a:schemeClr val="tx1"/>
                </a:solidFill>
              </a:rPr>
              <a:t>调度器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524988" y="1129306"/>
            <a:ext cx="1163370" cy="355031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App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099873" y="3900655"/>
            <a:ext cx="2535060" cy="50458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设备驱动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4" name="Straight Connector 13"/>
          <p:cNvCxnSpPr>
            <a:cxnSpLocks/>
          </p:cNvCxnSpPr>
          <p:nvPr/>
        </p:nvCxnSpPr>
        <p:spPr>
          <a:xfrm>
            <a:off x="1037213" y="1627823"/>
            <a:ext cx="2730687" cy="0"/>
          </a:xfrm>
          <a:prstGeom prst="line">
            <a:avLst/>
          </a:prstGeom>
          <a:ln w="317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cxnSpLocks/>
          </p:cNvCxnSpPr>
          <p:nvPr/>
        </p:nvCxnSpPr>
        <p:spPr>
          <a:xfrm>
            <a:off x="1037213" y="4548728"/>
            <a:ext cx="2752278" cy="0"/>
          </a:xfrm>
          <a:prstGeom prst="line">
            <a:avLst/>
          </a:prstGeom>
          <a:ln w="3492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037213" y="4548728"/>
            <a:ext cx="9741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I/O </a:t>
            </a:r>
            <a:r>
              <a:rPr lang="zh-CN" altLang="en-US" sz="1400" dirty="0"/>
              <a:t>总线</a:t>
            </a:r>
            <a:endParaRPr lang="en-US" sz="140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0329A5A-3D3B-4340-A8BB-3B2FDC4AB339}"/>
              </a:ext>
            </a:extLst>
          </p:cNvPr>
          <p:cNvSpPr/>
          <p:nvPr/>
        </p:nvSpPr>
        <p:spPr>
          <a:xfrm>
            <a:off x="1099872" y="4878038"/>
            <a:ext cx="827078" cy="39505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磁盘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FCEC19B-0A62-8B40-B062-430D19EFA5B9}"/>
              </a:ext>
            </a:extLst>
          </p:cNvPr>
          <p:cNvSpPr/>
          <p:nvPr/>
        </p:nvSpPr>
        <p:spPr>
          <a:xfrm>
            <a:off x="2011338" y="4875491"/>
            <a:ext cx="1248776" cy="39505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固态硬盘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7BC861C-7B94-0046-85C1-8AF8A7D3DE46}"/>
              </a:ext>
            </a:extLst>
          </p:cNvPr>
          <p:cNvSpPr txBox="1"/>
          <p:nvPr/>
        </p:nvSpPr>
        <p:spPr>
          <a:xfrm>
            <a:off x="3267381" y="4875491"/>
            <a:ext cx="5221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…</a:t>
            </a:r>
            <a:endParaRPr lang="en-CN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F52599C4-0DB9-DC4D-9D32-985F5B515751}"/>
              </a:ext>
            </a:extLst>
          </p:cNvPr>
          <p:cNvSpPr/>
          <p:nvPr/>
        </p:nvSpPr>
        <p:spPr>
          <a:xfrm>
            <a:off x="5807251" y="1110854"/>
            <a:ext cx="1122458" cy="355031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App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0F7C6EEA-BC68-E84A-833D-6787BECF1F1B}"/>
              </a:ext>
            </a:extLst>
          </p:cNvPr>
          <p:cNvSpPr/>
          <p:nvPr/>
        </p:nvSpPr>
        <p:spPr>
          <a:xfrm>
            <a:off x="5812222" y="1726439"/>
            <a:ext cx="2441283" cy="35503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系统调用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54ADFD0F-DEEE-0146-AEB3-1886E73B5F62}"/>
              </a:ext>
            </a:extLst>
          </p:cNvPr>
          <p:cNvSpPr/>
          <p:nvPr/>
        </p:nvSpPr>
        <p:spPr>
          <a:xfrm>
            <a:off x="5807251" y="2153478"/>
            <a:ext cx="2445910" cy="35503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VFS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DA6DF802-2A36-3041-A958-59C04E03FA02}"/>
              </a:ext>
            </a:extLst>
          </p:cNvPr>
          <p:cNvSpPr/>
          <p:nvPr/>
        </p:nvSpPr>
        <p:spPr>
          <a:xfrm>
            <a:off x="5807251" y="3017574"/>
            <a:ext cx="2445910" cy="3550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通用块层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F4684766-864C-5249-A042-422BD8CCD9D8}"/>
              </a:ext>
            </a:extLst>
          </p:cNvPr>
          <p:cNvSpPr/>
          <p:nvPr/>
        </p:nvSpPr>
        <p:spPr>
          <a:xfrm>
            <a:off x="5807251" y="2585526"/>
            <a:ext cx="2445158" cy="355031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NVM</a:t>
            </a:r>
            <a:r>
              <a:rPr lang="zh-CN" altLang="en-US" dirty="0">
                <a:solidFill>
                  <a:schemeClr val="tx1"/>
                </a:solidFill>
              </a:rPr>
              <a:t> 文件系统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566EE2CD-7636-D74D-8D8E-AF4AD2FB8F0B}"/>
              </a:ext>
            </a:extLst>
          </p:cNvPr>
          <p:cNvSpPr/>
          <p:nvPr/>
        </p:nvSpPr>
        <p:spPr>
          <a:xfrm>
            <a:off x="5807251" y="3449622"/>
            <a:ext cx="2445910" cy="355031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I/O </a:t>
            </a:r>
            <a:r>
              <a:rPr lang="zh-CN" altLang="en-US" dirty="0">
                <a:solidFill>
                  <a:schemeClr val="tx1"/>
                </a:solidFill>
              </a:rPr>
              <a:t>调度器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83BA1772-7572-1D48-8DF4-60C3EC58E56E}"/>
              </a:ext>
            </a:extLst>
          </p:cNvPr>
          <p:cNvSpPr/>
          <p:nvPr/>
        </p:nvSpPr>
        <p:spPr>
          <a:xfrm>
            <a:off x="7175702" y="1110320"/>
            <a:ext cx="1122458" cy="355031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App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F18758EB-0348-F14C-B203-0D1F040CB2CA}"/>
              </a:ext>
            </a:extLst>
          </p:cNvPr>
          <p:cNvSpPr/>
          <p:nvPr/>
        </p:nvSpPr>
        <p:spPr>
          <a:xfrm>
            <a:off x="5806287" y="3881669"/>
            <a:ext cx="2445910" cy="50458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设备驱动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52F1830B-19DE-AA4C-AE76-353963638759}"/>
              </a:ext>
            </a:extLst>
          </p:cNvPr>
          <p:cNvCxnSpPr>
            <a:cxnSpLocks/>
          </p:cNvCxnSpPr>
          <p:nvPr/>
        </p:nvCxnSpPr>
        <p:spPr>
          <a:xfrm>
            <a:off x="5743627" y="1608837"/>
            <a:ext cx="2634658" cy="0"/>
          </a:xfrm>
          <a:prstGeom prst="line">
            <a:avLst/>
          </a:prstGeom>
          <a:ln w="317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7679D80E-B2B7-9940-87FE-7DEEFD0ECFBE}"/>
              </a:ext>
            </a:extLst>
          </p:cNvPr>
          <p:cNvCxnSpPr>
            <a:cxnSpLocks/>
          </p:cNvCxnSpPr>
          <p:nvPr/>
        </p:nvCxnSpPr>
        <p:spPr>
          <a:xfrm>
            <a:off x="5743627" y="4529742"/>
            <a:ext cx="2655489" cy="0"/>
          </a:xfrm>
          <a:prstGeom prst="line">
            <a:avLst/>
          </a:prstGeom>
          <a:ln w="3492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F4280570-C756-EC44-946A-25EEE96B5206}"/>
              </a:ext>
            </a:extLst>
          </p:cNvPr>
          <p:cNvSpPr txBox="1"/>
          <p:nvPr/>
        </p:nvSpPr>
        <p:spPr>
          <a:xfrm>
            <a:off x="5743627" y="4529742"/>
            <a:ext cx="9321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内存总线</a:t>
            </a:r>
            <a:endParaRPr lang="en-US" sz="1400" dirty="0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6D659A5D-96DB-164B-B144-A1C3C273404C}"/>
              </a:ext>
            </a:extLst>
          </p:cNvPr>
          <p:cNvSpPr/>
          <p:nvPr/>
        </p:nvSpPr>
        <p:spPr>
          <a:xfrm>
            <a:off x="6531523" y="4875491"/>
            <a:ext cx="1079695" cy="39505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NVM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9" name="Rounded Rectangle 68">
            <a:extLst>
              <a:ext uri="{FF2B5EF4-FFF2-40B4-BE49-F238E27FC236}">
                <a16:creationId xmlns:a16="http://schemas.microsoft.com/office/drawing/2014/main" id="{C152BC62-7FCB-E547-8421-9CF10DEED083}"/>
              </a:ext>
            </a:extLst>
          </p:cNvPr>
          <p:cNvSpPr/>
          <p:nvPr/>
        </p:nvSpPr>
        <p:spPr>
          <a:xfrm>
            <a:off x="3998328" y="2425452"/>
            <a:ext cx="1565746" cy="420217"/>
          </a:xfrm>
          <a:prstGeom prst="roundRect">
            <a:avLst/>
          </a:prstGeom>
          <a:solidFill>
            <a:srgbClr val="F79646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字节寻址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0" name="Rounded Rectangle 69">
            <a:extLst>
              <a:ext uri="{FF2B5EF4-FFF2-40B4-BE49-F238E27FC236}">
                <a16:creationId xmlns:a16="http://schemas.microsoft.com/office/drawing/2014/main" id="{03136563-8D4B-6E40-B5B4-816CD9EDD7DB}"/>
              </a:ext>
            </a:extLst>
          </p:cNvPr>
          <p:cNvSpPr/>
          <p:nvPr/>
        </p:nvSpPr>
        <p:spPr>
          <a:xfrm>
            <a:off x="3960666" y="3017415"/>
            <a:ext cx="1576710" cy="396920"/>
          </a:xfrm>
          <a:prstGeom prst="roundRect">
            <a:avLst/>
          </a:prstGeom>
          <a:solidFill>
            <a:srgbClr val="F79646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kern="0" dirty="0">
                <a:solidFill>
                  <a:prstClr val="white"/>
                </a:solidFill>
                <a:latin typeface="Calibri"/>
              </a:rPr>
              <a:t>延迟低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1" name="Rounded Rectangle 70">
            <a:extLst>
              <a:ext uri="{FF2B5EF4-FFF2-40B4-BE49-F238E27FC236}">
                <a16:creationId xmlns:a16="http://schemas.microsoft.com/office/drawing/2014/main" id="{8634E8B9-D17E-9649-BF49-504BAABB842E}"/>
              </a:ext>
            </a:extLst>
          </p:cNvPr>
          <p:cNvSpPr/>
          <p:nvPr/>
        </p:nvSpPr>
        <p:spPr>
          <a:xfrm>
            <a:off x="3971630" y="3621424"/>
            <a:ext cx="1576710" cy="396920"/>
          </a:xfrm>
          <a:prstGeom prst="roundRect">
            <a:avLst/>
          </a:prstGeom>
          <a:solidFill>
            <a:srgbClr val="F79646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kern="0" dirty="0">
                <a:solidFill>
                  <a:prstClr val="white"/>
                </a:solidFill>
                <a:latin typeface="Calibri"/>
              </a:rPr>
              <a:t>CPU</a:t>
            </a:r>
            <a:r>
              <a:rPr lang="zh-CN" altLang="en-US" kern="0" dirty="0">
                <a:solidFill>
                  <a:prstClr val="white"/>
                </a:solidFill>
                <a:latin typeface="Calibri"/>
              </a:rPr>
              <a:t>指令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访问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0C097F5D-2BBD-B44C-966E-AD24BBB1DFEF}"/>
              </a:ext>
            </a:extLst>
          </p:cNvPr>
          <p:cNvCxnSpPr>
            <a:cxnSpLocks/>
          </p:cNvCxnSpPr>
          <p:nvPr/>
        </p:nvCxnSpPr>
        <p:spPr>
          <a:xfrm>
            <a:off x="5410150" y="2590766"/>
            <a:ext cx="516355" cy="596992"/>
          </a:xfrm>
          <a:prstGeom prst="line">
            <a:avLst/>
          </a:prstGeom>
          <a:noFill/>
          <a:ln w="34925" cap="flat" cmpd="sng" algn="ctr">
            <a:solidFill>
              <a:srgbClr val="F79646"/>
            </a:solidFill>
            <a:prstDash val="solid"/>
          </a:ln>
          <a:effectLst/>
        </p:spPr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32068002-0A3C-0145-9776-90CD48C1F6D0}"/>
              </a:ext>
            </a:extLst>
          </p:cNvPr>
          <p:cNvCxnSpPr>
            <a:cxnSpLocks/>
          </p:cNvCxnSpPr>
          <p:nvPr/>
        </p:nvCxnSpPr>
        <p:spPr>
          <a:xfrm>
            <a:off x="5117164" y="3248463"/>
            <a:ext cx="809341" cy="380454"/>
          </a:xfrm>
          <a:prstGeom prst="line">
            <a:avLst/>
          </a:prstGeom>
          <a:noFill/>
          <a:ln w="34925" cap="flat" cmpd="sng" algn="ctr">
            <a:solidFill>
              <a:srgbClr val="F79646"/>
            </a:solidFill>
            <a:prstDash val="solid"/>
          </a:ln>
          <a:effectLst/>
        </p:spPr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59C1BFD7-97EA-F94F-A02B-A21252B0D9B6}"/>
              </a:ext>
            </a:extLst>
          </p:cNvPr>
          <p:cNvCxnSpPr>
            <a:cxnSpLocks/>
          </p:cNvCxnSpPr>
          <p:nvPr/>
        </p:nvCxnSpPr>
        <p:spPr>
          <a:xfrm>
            <a:off x="5117164" y="3921605"/>
            <a:ext cx="809341" cy="195606"/>
          </a:xfrm>
          <a:prstGeom prst="line">
            <a:avLst/>
          </a:prstGeom>
          <a:noFill/>
          <a:ln w="34925" cap="flat" cmpd="sng" algn="ctr">
            <a:solidFill>
              <a:srgbClr val="F79646"/>
            </a:solidFill>
            <a:prstDash val="solid"/>
          </a:ln>
          <a:effectLst/>
        </p:spPr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16D1F266-59EF-154C-AB1F-A640817BE538}"/>
              </a:ext>
            </a:extLst>
          </p:cNvPr>
          <p:cNvCxnSpPr/>
          <p:nvPr/>
        </p:nvCxnSpPr>
        <p:spPr>
          <a:xfrm>
            <a:off x="5743627" y="3217540"/>
            <a:ext cx="2773191" cy="0"/>
          </a:xfrm>
          <a:prstGeom prst="line">
            <a:avLst/>
          </a:prstGeom>
          <a:ln w="50800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FCDD3CF8-B1DA-AC46-991E-B31C05533FF3}"/>
              </a:ext>
            </a:extLst>
          </p:cNvPr>
          <p:cNvCxnSpPr/>
          <p:nvPr/>
        </p:nvCxnSpPr>
        <p:spPr>
          <a:xfrm>
            <a:off x="5743627" y="3649588"/>
            <a:ext cx="2773191" cy="0"/>
          </a:xfrm>
          <a:prstGeom prst="line">
            <a:avLst/>
          </a:prstGeom>
          <a:ln w="50800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3474CFAD-9C2B-A54D-83BE-03BF13345224}"/>
              </a:ext>
            </a:extLst>
          </p:cNvPr>
          <p:cNvCxnSpPr/>
          <p:nvPr/>
        </p:nvCxnSpPr>
        <p:spPr>
          <a:xfrm>
            <a:off x="5743627" y="4175074"/>
            <a:ext cx="2773191" cy="0"/>
          </a:xfrm>
          <a:prstGeom prst="line">
            <a:avLst/>
          </a:prstGeom>
          <a:ln w="50800">
            <a:solidFill>
              <a:schemeClr val="tx1"/>
            </a:solidFill>
            <a:prstDash val="soli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Footer Placeholder 4">
            <a:extLst>
              <a:ext uri="{FF2B5EF4-FFF2-40B4-BE49-F238E27FC236}">
                <a16:creationId xmlns:a16="http://schemas.microsoft.com/office/drawing/2014/main" id="{A6400F4C-BE28-9B48-9C16-1004CF3184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</p:spPr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1499679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AD9C9-58FF-EC40-839B-FF7E838D3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一致性技术与</a:t>
            </a:r>
            <a:r>
              <a:rPr lang="zh-CN" altLang="en-CN" dirty="0"/>
              <a:t>非易失性内存</a:t>
            </a:r>
            <a:r>
              <a:rPr lang="zh-CN" altLang="en-US" dirty="0"/>
              <a:t>文件系统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544E7-AAFA-1E40-A9CF-3A88DA3093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CN" b="0" dirty="0"/>
              <a:t>原子</a:t>
            </a:r>
            <a:r>
              <a:rPr lang="zh-CN" altLang="en-US" b="0" dirty="0"/>
              <a:t>指令：</a:t>
            </a:r>
            <a:r>
              <a:rPr lang="en-CN" altLang="zh-CN" b="0" dirty="0"/>
              <a:t>ALL</a:t>
            </a:r>
          </a:p>
          <a:p>
            <a:r>
              <a:rPr lang="zh-CN" altLang="en-CN" b="0" dirty="0"/>
              <a:t>写时复制</a:t>
            </a:r>
            <a:r>
              <a:rPr lang="zh-CN" altLang="en-US" b="0" dirty="0"/>
              <a:t>：</a:t>
            </a:r>
            <a:r>
              <a:rPr lang="en-US" altLang="zh-CN" b="0" dirty="0"/>
              <a:t>BPFS</a:t>
            </a:r>
            <a:r>
              <a:rPr lang="en-US" altLang="zh-CN" b="0" baseline="30000" dirty="0"/>
              <a:t>[</a:t>
            </a:r>
            <a:r>
              <a:rPr lang="en-US" b="0" i="1" baseline="30000" dirty="0"/>
              <a:t>SOSP</a:t>
            </a:r>
            <a:r>
              <a:rPr lang="zh-CN" altLang="en-US" b="0" i="1" baseline="30000" dirty="0"/>
              <a:t> </a:t>
            </a:r>
            <a:r>
              <a:rPr lang="en-US" b="0" i="1" baseline="30000" dirty="0"/>
              <a:t>’09</a:t>
            </a:r>
            <a:r>
              <a:rPr lang="en-US" altLang="zh-CN" b="0" baseline="30000" dirty="0"/>
              <a:t>]</a:t>
            </a:r>
            <a:r>
              <a:rPr lang="en-US" altLang="zh-CN" b="0" dirty="0"/>
              <a:t>,</a:t>
            </a:r>
            <a:r>
              <a:rPr lang="zh-CN" altLang="en-US" b="0" dirty="0"/>
              <a:t> </a:t>
            </a:r>
            <a:r>
              <a:rPr lang="en-US" altLang="zh-CN" b="0" dirty="0"/>
              <a:t>PMFS</a:t>
            </a:r>
            <a:r>
              <a:rPr lang="en-US" altLang="zh-CN" b="0" baseline="30000" dirty="0"/>
              <a:t>[</a:t>
            </a:r>
            <a:r>
              <a:rPr lang="en-US" altLang="zh-CN" b="0" i="1" baseline="30000" dirty="0" err="1"/>
              <a:t>EuroSys</a:t>
            </a:r>
            <a:r>
              <a:rPr lang="zh-CN" altLang="en-US" b="0" i="1" baseline="30000" dirty="0"/>
              <a:t> </a:t>
            </a:r>
            <a:r>
              <a:rPr lang="en-US" b="0" i="1" baseline="30000" dirty="0"/>
              <a:t>’</a:t>
            </a:r>
            <a:r>
              <a:rPr lang="en-US" altLang="zh-CN" b="0" i="1" baseline="30000" dirty="0"/>
              <a:t>14</a:t>
            </a:r>
            <a:r>
              <a:rPr lang="en-US" altLang="zh-CN" b="0" baseline="30000" dirty="0"/>
              <a:t>]</a:t>
            </a:r>
            <a:r>
              <a:rPr lang="en-US" altLang="zh-CN" b="0" dirty="0"/>
              <a:t>, NOVA</a:t>
            </a:r>
            <a:r>
              <a:rPr lang="en-US" altLang="zh-CN" b="0" baseline="30000" dirty="0"/>
              <a:t>[</a:t>
            </a:r>
            <a:r>
              <a:rPr lang="en-US" altLang="zh-CN" b="0" i="1" baseline="30000" dirty="0"/>
              <a:t>FAST</a:t>
            </a:r>
            <a:r>
              <a:rPr lang="zh-CN" altLang="en-US" b="0" i="1" baseline="30000" dirty="0"/>
              <a:t> </a:t>
            </a:r>
            <a:r>
              <a:rPr lang="en-US" altLang="zh-CN" b="0" i="1" baseline="30000" dirty="0"/>
              <a:t>’16</a:t>
            </a:r>
            <a:r>
              <a:rPr lang="en-US" altLang="zh-CN" b="0" baseline="30000" dirty="0"/>
              <a:t>]</a:t>
            </a:r>
            <a:endParaRPr lang="en-CN" b="0" dirty="0"/>
          </a:p>
          <a:p>
            <a:r>
              <a:rPr lang="zh-CN" altLang="en-CN" b="0" dirty="0"/>
              <a:t>日志</a:t>
            </a:r>
            <a:r>
              <a:rPr lang="zh-CN" altLang="en-US" b="0" dirty="0"/>
              <a:t> </a:t>
            </a:r>
            <a:r>
              <a:rPr lang="en-US" altLang="zh-CN" b="0" dirty="0"/>
              <a:t>(Journaling):</a:t>
            </a:r>
            <a:r>
              <a:rPr lang="zh-CN" altLang="en-US" b="0" dirty="0"/>
              <a:t> </a:t>
            </a:r>
            <a:r>
              <a:rPr lang="en-US" altLang="zh-CN" b="0" dirty="0"/>
              <a:t>PMFS,</a:t>
            </a:r>
            <a:r>
              <a:rPr lang="zh-CN" altLang="en-US" b="0" dirty="0"/>
              <a:t> </a:t>
            </a:r>
            <a:r>
              <a:rPr lang="en-US" altLang="zh-CN" b="0" dirty="0"/>
              <a:t>NOVA</a:t>
            </a:r>
            <a:endParaRPr lang="en-US" altLang="zh-CN" b="0" baseline="30000" dirty="0"/>
          </a:p>
          <a:p>
            <a:r>
              <a:rPr lang="en-US" altLang="zh-CN" b="0" dirty="0"/>
              <a:t>Log-structured:</a:t>
            </a:r>
            <a:r>
              <a:rPr lang="zh-CN" altLang="en-US" b="0" dirty="0"/>
              <a:t> </a:t>
            </a:r>
            <a:r>
              <a:rPr lang="en-US" altLang="zh-CN" b="0" dirty="0"/>
              <a:t>NOVA</a:t>
            </a:r>
          </a:p>
          <a:p>
            <a:r>
              <a:rPr lang="en-US" altLang="zh-CN" b="0" dirty="0"/>
              <a:t>Soft</a:t>
            </a:r>
            <a:r>
              <a:rPr lang="zh-CN" altLang="en-US" b="0" dirty="0"/>
              <a:t> </a:t>
            </a:r>
            <a:r>
              <a:rPr lang="en-US" altLang="zh-CN" b="0" dirty="0"/>
              <a:t>updates:</a:t>
            </a:r>
            <a:r>
              <a:rPr lang="zh-CN" altLang="en-US" b="0" dirty="0"/>
              <a:t> </a:t>
            </a:r>
            <a:r>
              <a:rPr lang="en-US" altLang="zh-CN" b="0" dirty="0" err="1"/>
              <a:t>SoupFS</a:t>
            </a:r>
            <a:r>
              <a:rPr lang="en-US" altLang="zh-CN" b="0" baseline="30000" dirty="0"/>
              <a:t>[</a:t>
            </a:r>
            <a:r>
              <a:rPr lang="en-US" altLang="zh-CN" b="0" i="1" baseline="30000" dirty="0"/>
              <a:t>USENIX</a:t>
            </a:r>
            <a:r>
              <a:rPr lang="zh-CN" altLang="en-US" b="0" i="1" baseline="30000" dirty="0"/>
              <a:t> </a:t>
            </a:r>
            <a:r>
              <a:rPr lang="en-US" altLang="zh-CN" b="0" i="1" baseline="30000" dirty="0"/>
              <a:t>ATC</a:t>
            </a:r>
            <a:r>
              <a:rPr lang="zh-CN" altLang="en-US" b="0" i="1" baseline="30000" dirty="0"/>
              <a:t> </a:t>
            </a:r>
            <a:r>
              <a:rPr lang="en-US" altLang="zh-CN" b="0" i="1" baseline="30000" dirty="0"/>
              <a:t>’17</a:t>
            </a:r>
            <a:r>
              <a:rPr lang="en-US" altLang="zh-CN" b="0" baseline="30000" dirty="0"/>
              <a:t>]</a:t>
            </a:r>
          </a:p>
          <a:p>
            <a:endParaRPr lang="en-CN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49388F-4C19-D648-B3DF-5F0EA6C2D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49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1338AD-139F-1844-8145-18231FDFB8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3391663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PMFS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55976" y="824094"/>
            <a:ext cx="4464495" cy="466204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B5F7CBF-D513-1242-8A2A-9F652CC5B804}"/>
              </a:ext>
            </a:extLst>
          </p:cNvPr>
          <p:cNvSpPr txBox="1"/>
          <p:nvPr/>
        </p:nvSpPr>
        <p:spPr>
          <a:xfrm>
            <a:off x="0" y="5407223"/>
            <a:ext cx="27126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Many</a:t>
            </a:r>
            <a:r>
              <a:rPr lang="zh-CN" altLang="en-US" sz="1400" dirty="0"/>
              <a:t> </a:t>
            </a:r>
            <a:r>
              <a:rPr lang="en-US" altLang="zh-CN" sz="1400" dirty="0"/>
              <a:t>s</a:t>
            </a:r>
            <a:r>
              <a:rPr lang="en-CN" sz="1400" dirty="0"/>
              <a:t>lides</a:t>
            </a:r>
            <a:r>
              <a:rPr lang="zh-CN" altLang="en-US" sz="1400" dirty="0"/>
              <a:t> </a:t>
            </a:r>
            <a:r>
              <a:rPr lang="en-US" altLang="zh-CN" sz="1400" dirty="0"/>
              <a:t>from</a:t>
            </a:r>
            <a:r>
              <a:rPr lang="zh-CN" altLang="en-US" sz="1400" dirty="0"/>
              <a:t> </a:t>
            </a:r>
            <a:r>
              <a:rPr lang="en-US" altLang="zh-CN" sz="1400" dirty="0"/>
              <a:t>the</a:t>
            </a:r>
            <a:r>
              <a:rPr lang="zh-CN" altLang="en-US" sz="1400" dirty="0"/>
              <a:t> </a:t>
            </a:r>
            <a:r>
              <a:rPr lang="en-US" altLang="zh-CN" sz="1400" dirty="0"/>
              <a:t>PMFS</a:t>
            </a:r>
            <a:r>
              <a:rPr lang="zh-CN" altLang="en-US" sz="1400" dirty="0"/>
              <a:t> </a:t>
            </a:r>
            <a:r>
              <a:rPr lang="en-US" altLang="zh-CN" sz="1400" dirty="0"/>
              <a:t>talk</a:t>
            </a:r>
            <a:endParaRPr lang="en-CN" sz="1400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CBDC4FC-54EE-A44F-9606-184447FA7F90}"/>
              </a:ext>
            </a:extLst>
          </p:cNvPr>
          <p:cNvSpPr txBox="1">
            <a:spLocks/>
          </p:cNvSpPr>
          <p:nvPr/>
        </p:nvSpPr>
        <p:spPr>
          <a:xfrm>
            <a:off x="457200" y="1333501"/>
            <a:ext cx="82296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4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CN" b="0" dirty="0"/>
              <a:t>为</a:t>
            </a:r>
            <a:r>
              <a:rPr lang="en-US" altLang="zh-CN" b="0" dirty="0"/>
              <a:t>NVM</a:t>
            </a:r>
            <a:r>
              <a:rPr lang="zh-CN" altLang="en-US" b="0" dirty="0"/>
              <a:t>和体系结构优化</a:t>
            </a:r>
            <a:endParaRPr lang="en-US" altLang="zh-CN" b="0" dirty="0"/>
          </a:p>
          <a:p>
            <a:pPr lvl="1"/>
            <a:r>
              <a:rPr lang="zh-CN" altLang="en-US" b="0" dirty="0"/>
              <a:t>多种原子更新技术</a:t>
            </a:r>
            <a:endParaRPr lang="en-US" b="1" dirty="0"/>
          </a:p>
          <a:p>
            <a:r>
              <a:rPr lang="zh-CN" altLang="en-US" b="0" dirty="0"/>
              <a:t>允许应用直接访问</a:t>
            </a:r>
            <a:r>
              <a:rPr lang="en-US" altLang="zh-CN" b="0" dirty="0"/>
              <a:t>NVM</a:t>
            </a:r>
          </a:p>
          <a:p>
            <a:pPr lvl="1"/>
            <a:r>
              <a:rPr lang="en-US" altLang="zh-CN" dirty="0"/>
              <a:t>DAX</a:t>
            </a:r>
            <a:r>
              <a:rPr lang="zh-CN" altLang="en-US" dirty="0"/>
              <a:t> </a:t>
            </a:r>
            <a:r>
              <a:rPr lang="en-US" altLang="zh-CN" dirty="0"/>
              <a:t>mmap</a:t>
            </a:r>
          </a:p>
          <a:p>
            <a:pPr lvl="2"/>
            <a:r>
              <a:rPr lang="en-US" altLang="zh-CN" dirty="0"/>
              <a:t>DAX:</a:t>
            </a:r>
            <a:r>
              <a:rPr lang="zh-CN" altLang="en-US" dirty="0"/>
              <a:t> </a:t>
            </a:r>
            <a:r>
              <a:rPr lang="en-US" altLang="zh-CN" dirty="0"/>
              <a:t>Direct</a:t>
            </a:r>
            <a:r>
              <a:rPr lang="zh-CN" altLang="en-US" dirty="0"/>
              <a:t> </a:t>
            </a:r>
            <a:r>
              <a:rPr lang="en-US" altLang="zh-CN" dirty="0"/>
              <a:t>Access</a:t>
            </a:r>
          </a:p>
          <a:p>
            <a:r>
              <a:rPr lang="en-US" altLang="zh-CN" b="0" dirty="0"/>
              <a:t>Wild</a:t>
            </a:r>
            <a:r>
              <a:rPr lang="zh-CN" altLang="en-US" b="0" dirty="0"/>
              <a:t> </a:t>
            </a:r>
            <a:r>
              <a:rPr lang="en-US" altLang="zh-CN" b="0" dirty="0"/>
              <a:t>writes</a:t>
            </a:r>
            <a:r>
              <a:rPr lang="zh-CN" altLang="en-US" b="0" dirty="0"/>
              <a:t>保护</a:t>
            </a:r>
            <a:endParaRPr lang="en-US" altLang="zh-CN" b="0" dirty="0"/>
          </a:p>
        </p:txBody>
      </p:sp>
    </p:spTree>
    <p:extLst>
      <p:ext uri="{BB962C8B-B14F-4D97-AF65-F5344CB8AC3E}">
        <p14:creationId xmlns:p14="http://schemas.microsoft.com/office/powerpoint/2010/main" val="402844515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PMFS</a:t>
            </a:r>
            <a:r>
              <a:rPr lang="zh-CN" altLang="en-US" dirty="0"/>
              <a:t>中的一致性保证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0" dirty="0"/>
              <a:t>现有方法</a:t>
            </a:r>
            <a:endParaRPr lang="en-US" altLang="zh-CN" b="0" dirty="0"/>
          </a:p>
          <a:p>
            <a:pPr lvl="1"/>
            <a:r>
              <a:rPr lang="zh-CN" altLang="en-US" dirty="0"/>
              <a:t>写时复制</a:t>
            </a:r>
            <a:r>
              <a:rPr lang="en-US" dirty="0"/>
              <a:t> (Shadow Paging)</a:t>
            </a:r>
          </a:p>
          <a:p>
            <a:pPr lvl="1"/>
            <a:r>
              <a:rPr lang="zh-CN" altLang="en-US" dirty="0"/>
              <a:t>日志</a:t>
            </a:r>
            <a:endParaRPr lang="en-US" altLang="zh-CN" dirty="0"/>
          </a:p>
          <a:p>
            <a:pPr lvl="1"/>
            <a:r>
              <a:rPr lang="en-US" dirty="0"/>
              <a:t>Log-structured updates</a:t>
            </a:r>
          </a:p>
          <a:p>
            <a:r>
              <a:rPr lang="en-US" b="0" dirty="0"/>
              <a:t>NVM</a:t>
            </a:r>
            <a:r>
              <a:rPr lang="zh-CN" altLang="en-US" b="0" dirty="0"/>
              <a:t>专有的方法</a:t>
            </a:r>
            <a:endParaRPr lang="en-US" altLang="zh-CN" b="0" dirty="0"/>
          </a:p>
          <a:p>
            <a:pPr lvl="1"/>
            <a:r>
              <a:rPr lang="zh-CN" altLang="en-US" dirty="0"/>
              <a:t>原子指令更新</a:t>
            </a:r>
            <a:endParaRPr lang="en-US" dirty="0"/>
          </a:p>
        </p:txBody>
      </p:sp>
      <p:sp>
        <p:nvSpPr>
          <p:cNvPr id="6" name="Rounded Rectangular Callout 5"/>
          <p:cNvSpPr/>
          <p:nvPr/>
        </p:nvSpPr>
        <p:spPr>
          <a:xfrm>
            <a:off x="5796136" y="1196152"/>
            <a:ext cx="2376264" cy="720080"/>
          </a:xfrm>
          <a:prstGeom prst="wedgeRoundRectCallout">
            <a:avLst>
              <a:gd name="adj1" fmla="val -107414"/>
              <a:gd name="adj2" fmla="val 64087"/>
              <a:gd name="adj3" fmla="val 16667"/>
            </a:avLst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用于文件数据更新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" name="Rounded Rectangular Callout 6"/>
          <p:cNvSpPr/>
          <p:nvPr/>
        </p:nvSpPr>
        <p:spPr>
          <a:xfrm>
            <a:off x="5580112" y="2394342"/>
            <a:ext cx="3106688" cy="720080"/>
          </a:xfrm>
          <a:prstGeom prst="wedgeRoundRectCallout">
            <a:avLst>
              <a:gd name="adj1" fmla="val -167606"/>
              <a:gd name="adj2" fmla="val -31154"/>
              <a:gd name="adj3" fmla="val 16667"/>
            </a:avLst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用于元数据更新，如</a:t>
            </a:r>
            <a:r>
              <a:rPr lang="en-US" altLang="zh-CN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inode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8" name="Rounded Rectangular Callout 7"/>
          <p:cNvSpPr/>
          <p:nvPr/>
        </p:nvSpPr>
        <p:spPr>
          <a:xfrm>
            <a:off x="5796136" y="4021459"/>
            <a:ext cx="2376264" cy="720080"/>
          </a:xfrm>
          <a:prstGeom prst="wedgeRoundRectCallout">
            <a:avLst>
              <a:gd name="adj1" fmla="val -168983"/>
              <a:gd name="adj2" fmla="val -56551"/>
              <a:gd name="adj3" fmla="val 16667"/>
            </a:avLst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用于小修改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794482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拓展的原子指令更新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CN" b="0" dirty="0"/>
              <a:t>8</a:t>
            </a:r>
            <a:r>
              <a:rPr lang="zh-CN" altLang="en-US" b="0" dirty="0"/>
              <a:t>字节更新</a:t>
            </a:r>
            <a:endParaRPr lang="en-US" altLang="zh-CN" b="0" dirty="0"/>
          </a:p>
          <a:p>
            <a:pPr lvl="1"/>
            <a:r>
              <a:rPr lang="en-US" dirty="0"/>
              <a:t>CPU</a:t>
            </a:r>
            <a:r>
              <a:rPr lang="zh-CN" altLang="en-US" dirty="0"/>
              <a:t>原本就支持</a:t>
            </a:r>
            <a:r>
              <a:rPr lang="en-US" altLang="zh-CN" dirty="0"/>
              <a:t>8</a:t>
            </a:r>
            <a:r>
              <a:rPr lang="zh-CN" altLang="en-US" dirty="0"/>
              <a:t>字节的原子更新</a:t>
            </a:r>
            <a:endParaRPr lang="en-US" dirty="0"/>
          </a:p>
          <a:p>
            <a:pPr lvl="1"/>
            <a:r>
              <a:rPr lang="zh-CN" altLang="en-US" dirty="0"/>
              <a:t>更新</a:t>
            </a:r>
            <a:r>
              <a:rPr lang="en-US" altLang="zh-CN" dirty="0" err="1"/>
              <a:t>inode</a:t>
            </a:r>
            <a:r>
              <a:rPr lang="zh-CN" altLang="en-US" dirty="0"/>
              <a:t>的访问时间</a:t>
            </a:r>
            <a:endParaRPr lang="en-US" dirty="0"/>
          </a:p>
          <a:p>
            <a:r>
              <a:rPr lang="en-US" b="0" dirty="0"/>
              <a:t>16</a:t>
            </a:r>
            <a:r>
              <a:rPr lang="zh-CN" altLang="en-US" b="0" dirty="0"/>
              <a:t>字节更新</a:t>
            </a:r>
            <a:r>
              <a:rPr lang="en-US" b="0" dirty="0"/>
              <a:t> </a:t>
            </a:r>
          </a:p>
          <a:p>
            <a:pPr lvl="1"/>
            <a:r>
              <a:rPr lang="zh-CN" altLang="en-US" dirty="0"/>
              <a:t>使用</a:t>
            </a:r>
            <a:r>
              <a:rPr lang="en-US" dirty="0"/>
              <a:t> </a:t>
            </a:r>
            <a:r>
              <a:rPr lang="en-US" i="1" dirty="0"/>
              <a:t>cmpxchg16b </a:t>
            </a:r>
            <a:r>
              <a:rPr lang="zh-CN" altLang="en-US" dirty="0"/>
              <a:t>指令</a:t>
            </a:r>
            <a:endParaRPr lang="en-US" dirty="0"/>
          </a:p>
          <a:p>
            <a:pPr lvl="1"/>
            <a:r>
              <a:rPr lang="zh-CN" altLang="en-US" dirty="0"/>
              <a:t>同时更新</a:t>
            </a:r>
            <a:r>
              <a:rPr lang="en-US" altLang="zh-CN" dirty="0" err="1"/>
              <a:t>inode</a:t>
            </a:r>
            <a:r>
              <a:rPr lang="zh-CN" altLang="en-US" dirty="0"/>
              <a:t>中的文件大小和修改时间</a:t>
            </a:r>
            <a:endParaRPr lang="en-US" dirty="0"/>
          </a:p>
          <a:p>
            <a:r>
              <a:rPr lang="en-US" b="0" dirty="0"/>
              <a:t>64</a:t>
            </a:r>
            <a:r>
              <a:rPr lang="zh-CN" altLang="en-US" b="0" dirty="0"/>
              <a:t>字节更新</a:t>
            </a:r>
            <a:endParaRPr lang="en-US" b="0" dirty="0"/>
          </a:p>
          <a:p>
            <a:pPr lvl="1"/>
            <a:r>
              <a:rPr lang="zh-CN" altLang="en-US" dirty="0"/>
              <a:t>使用硬件事务内存（</a:t>
            </a:r>
            <a:r>
              <a:rPr lang="en-US" altLang="zh-CN" dirty="0"/>
              <a:t>HTM</a:t>
            </a:r>
            <a:r>
              <a:rPr lang="zh-CN" altLang="en-US" dirty="0"/>
              <a:t>）</a:t>
            </a:r>
            <a:endParaRPr lang="en-US" dirty="0"/>
          </a:p>
          <a:p>
            <a:pPr lvl="1"/>
            <a:r>
              <a:rPr lang="zh-CN" altLang="en-US" dirty="0"/>
              <a:t>更新</a:t>
            </a:r>
            <a:r>
              <a:rPr lang="en-US" altLang="zh-CN" dirty="0" err="1"/>
              <a:t>inode</a:t>
            </a:r>
            <a:r>
              <a:rPr lang="zh-CN" altLang="en-US" dirty="0"/>
              <a:t>中的多个数据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92107164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95BAE-7B9B-324E-BF9F-B3D25D115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让</a:t>
            </a:r>
            <a:r>
              <a:rPr lang="zh-CN" altLang="en-CN" dirty="0"/>
              <a:t>应用</a:t>
            </a:r>
            <a:r>
              <a:rPr lang="zh-CN" altLang="en-US" dirty="0"/>
              <a:t>直接访问</a:t>
            </a:r>
            <a:r>
              <a:rPr lang="en-US" altLang="zh-CN" dirty="0"/>
              <a:t>NVM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B7F068-F87A-9D4C-AFD8-5BF3397E6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C6EBBD-62B9-814E-B1E8-FDD7B619C2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094F505-7B09-5043-82B5-2F7926801765}"/>
              </a:ext>
            </a:extLst>
          </p:cNvPr>
          <p:cNvCxnSpPr/>
          <p:nvPr/>
        </p:nvCxnSpPr>
        <p:spPr>
          <a:xfrm>
            <a:off x="5263651" y="2987881"/>
            <a:ext cx="3052765" cy="0"/>
          </a:xfrm>
          <a:prstGeom prst="line">
            <a:avLst/>
          </a:prstGeom>
          <a:noFill/>
          <a:ln w="31750" cap="flat" cmpd="sng" algn="ctr">
            <a:solidFill>
              <a:srgbClr val="FF0000"/>
            </a:solidFill>
            <a:prstDash val="solid"/>
          </a:ln>
          <a:effectLst/>
        </p:spPr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2D3E5BCB-D44B-864C-BD24-C3C24FAA2D19}"/>
              </a:ext>
            </a:extLst>
          </p:cNvPr>
          <p:cNvSpPr/>
          <p:nvPr/>
        </p:nvSpPr>
        <p:spPr>
          <a:xfrm>
            <a:off x="5580112" y="1345332"/>
            <a:ext cx="2808312" cy="576064"/>
          </a:xfrm>
          <a:prstGeom prst="rect">
            <a:avLst/>
          </a:prstGeom>
          <a:solidFill>
            <a:sysClr val="window" lastClr="FFFFFF">
              <a:lumMod val="75000"/>
            </a:sysClr>
          </a:solidFill>
          <a:ln w="25400" cap="flat" cmpd="sng" algn="ctr">
            <a:noFill/>
            <a:prstDash val="solid"/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应用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5524FCC-CE1D-1E4C-8D1E-D84FC5190FE1}"/>
              </a:ext>
            </a:extLst>
          </p:cNvPr>
          <p:cNvSpPr txBox="1"/>
          <p:nvPr/>
        </p:nvSpPr>
        <p:spPr>
          <a:xfrm>
            <a:off x="5263651" y="2641476"/>
            <a:ext cx="8002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solidFill>
                  <a:prstClr val="black"/>
                </a:solidFill>
                <a:latin typeface="Calibri"/>
              </a:rPr>
              <a:t>用户态</a:t>
            </a:r>
            <a:endParaRPr lang="en-US" sz="16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21E44D7-4F5E-834B-8843-CD5DAB324141}"/>
              </a:ext>
            </a:extLst>
          </p:cNvPr>
          <p:cNvSpPr txBox="1"/>
          <p:nvPr/>
        </p:nvSpPr>
        <p:spPr>
          <a:xfrm>
            <a:off x="5263651" y="2950542"/>
            <a:ext cx="8002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solidFill>
                  <a:prstClr val="black"/>
                </a:solidFill>
                <a:latin typeface="Calibri"/>
              </a:rPr>
              <a:t>内核态</a:t>
            </a:r>
            <a:endParaRPr lang="en-US" sz="16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CEAF13E-6AE3-0845-9B64-4BE6C012D86E}"/>
              </a:ext>
            </a:extLst>
          </p:cNvPr>
          <p:cNvSpPr/>
          <p:nvPr/>
        </p:nvSpPr>
        <p:spPr>
          <a:xfrm>
            <a:off x="5580112" y="4585692"/>
            <a:ext cx="2808312" cy="432048"/>
          </a:xfrm>
          <a:prstGeom prst="rect">
            <a:avLst/>
          </a:prstGeom>
          <a:solidFill>
            <a:srgbClr val="F79646"/>
          </a:solidFill>
          <a:ln w="25400" cap="flat" cmpd="sng" algn="ctr">
            <a:noFill/>
            <a:prstDash val="solid"/>
          </a:ln>
          <a:effectLst>
            <a:outerShdw blurRad="50800" dist="762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非易失性内存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405D0B8-8D09-9042-922D-357913BD128A}"/>
              </a:ext>
            </a:extLst>
          </p:cNvPr>
          <p:cNvCxnSpPr/>
          <p:nvPr/>
        </p:nvCxnSpPr>
        <p:spPr>
          <a:xfrm>
            <a:off x="5580112" y="4369668"/>
            <a:ext cx="2808312" cy="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dash"/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ECDF3AF0-10F1-704C-9156-739513AFF583}"/>
              </a:ext>
            </a:extLst>
          </p:cNvPr>
          <p:cNvSpPr/>
          <p:nvPr/>
        </p:nvSpPr>
        <p:spPr>
          <a:xfrm>
            <a:off x="5580112" y="3243693"/>
            <a:ext cx="1220682" cy="477903"/>
          </a:xfrm>
          <a:prstGeom prst="rect">
            <a:avLst/>
          </a:prstGeom>
          <a:solidFill>
            <a:srgbClr val="9BBB59"/>
          </a:solidFill>
          <a:ln w="25400" cap="flat" cmpd="sng" algn="ctr">
            <a:noFill/>
            <a:prstDash val="solid"/>
          </a:ln>
          <a:effectLst>
            <a:outerShdw blurRad="50800" dist="762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NVMFS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CB573DD-C6CF-5847-B74F-1B36D41828AC}"/>
              </a:ext>
            </a:extLst>
          </p:cNvPr>
          <p:cNvCxnSpPr>
            <a:cxnSpLocks/>
          </p:cNvCxnSpPr>
          <p:nvPr/>
        </p:nvCxnSpPr>
        <p:spPr>
          <a:xfrm>
            <a:off x="7308304" y="1921396"/>
            <a:ext cx="0" cy="2664296"/>
          </a:xfrm>
          <a:prstGeom prst="straightConnector1">
            <a:avLst/>
          </a:prstGeom>
          <a:noFill/>
          <a:ln w="31750" cap="flat" cmpd="sng" algn="ctr">
            <a:solidFill>
              <a:sysClr val="windowText" lastClr="000000"/>
            </a:solidFill>
            <a:prstDash val="solid"/>
            <a:headEnd type="arrow" w="med" len="med"/>
            <a:tailEnd type="arrow" w="med" len="med"/>
          </a:ln>
          <a:effectLst/>
        </p:spPr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6C63086-C66C-2E47-9005-3C5B4C15AD6E}"/>
              </a:ext>
            </a:extLst>
          </p:cNvPr>
          <p:cNvSpPr txBox="1"/>
          <p:nvPr/>
        </p:nvSpPr>
        <p:spPr>
          <a:xfrm>
            <a:off x="5149416" y="3912692"/>
            <a:ext cx="11537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load/store</a:t>
            </a:r>
            <a:endParaRPr lang="en-US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4913AAB-6B3B-2F4A-8BDD-42B8A21EEEAB}"/>
              </a:ext>
            </a:extLst>
          </p:cNvPr>
          <p:cNvSpPr/>
          <p:nvPr/>
        </p:nvSpPr>
        <p:spPr>
          <a:xfrm>
            <a:off x="6804248" y="3243693"/>
            <a:ext cx="1587630" cy="477903"/>
          </a:xfrm>
          <a:prstGeom prst="rect">
            <a:avLst/>
          </a:prstGeom>
          <a:solidFill>
            <a:srgbClr val="9BBB59"/>
          </a:solidFill>
          <a:ln w="25400" cap="flat" cmpd="sng" algn="ctr">
            <a:noFill/>
            <a:prstDash val="solid"/>
          </a:ln>
          <a:effectLst>
            <a:outerShdw blurRad="50800" dist="762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MMU 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(DAX)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7A17A0AA-1410-1A4C-A8A2-46D2110AA19E}"/>
              </a:ext>
            </a:extLst>
          </p:cNvPr>
          <p:cNvCxnSpPr>
            <a:cxnSpLocks/>
          </p:cNvCxnSpPr>
          <p:nvPr/>
        </p:nvCxnSpPr>
        <p:spPr>
          <a:xfrm>
            <a:off x="6228184" y="3721596"/>
            <a:ext cx="0" cy="864096"/>
          </a:xfrm>
          <a:prstGeom prst="straightConnector1">
            <a:avLst/>
          </a:prstGeom>
          <a:noFill/>
          <a:ln w="31750" cap="flat" cmpd="sng" algn="ctr">
            <a:solidFill>
              <a:sysClr val="windowText" lastClr="000000"/>
            </a:solidFill>
            <a:prstDash val="solid"/>
            <a:headEnd type="arrow" w="med" len="med"/>
            <a:tailEnd type="arrow" w="med" len="med"/>
          </a:ln>
          <a:effectLst/>
        </p:spPr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8E57F4EB-BA28-CC4D-936E-8177C6488B12}"/>
              </a:ext>
            </a:extLst>
          </p:cNvPr>
          <p:cNvCxnSpPr>
            <a:cxnSpLocks/>
          </p:cNvCxnSpPr>
          <p:nvPr/>
        </p:nvCxnSpPr>
        <p:spPr>
          <a:xfrm>
            <a:off x="6228184" y="1921396"/>
            <a:ext cx="0" cy="1322297"/>
          </a:xfrm>
          <a:prstGeom prst="straightConnector1">
            <a:avLst/>
          </a:prstGeom>
          <a:noFill/>
          <a:ln w="31750" cap="flat" cmpd="sng" algn="ctr">
            <a:solidFill>
              <a:sysClr val="windowText" lastClr="000000"/>
            </a:solidFill>
            <a:prstDash val="solid"/>
            <a:headEnd type="arrow" w="med" len="med"/>
            <a:tailEnd type="arrow" w="med" len="med"/>
          </a:ln>
          <a:effectLst/>
        </p:spPr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2C7C300F-2FF6-5947-9CAD-115DBCA47800}"/>
              </a:ext>
            </a:extLst>
          </p:cNvPr>
          <p:cNvSpPr txBox="1"/>
          <p:nvPr/>
        </p:nvSpPr>
        <p:spPr>
          <a:xfrm>
            <a:off x="5119436" y="2187363"/>
            <a:ext cx="11876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prstClr val="black"/>
                </a:solidFill>
                <a:latin typeface="Calibri"/>
              </a:rPr>
              <a:t>read/write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1CF66CE-6528-E644-861F-82680E595EE2}"/>
              </a:ext>
            </a:extLst>
          </p:cNvPr>
          <p:cNvSpPr txBox="1"/>
          <p:nvPr/>
        </p:nvSpPr>
        <p:spPr>
          <a:xfrm>
            <a:off x="6594519" y="2183949"/>
            <a:ext cx="7857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prstClr val="black"/>
                </a:solidFill>
                <a:latin typeface="Calibri"/>
              </a:rPr>
              <a:t>mmap</a:t>
            </a:r>
            <a:endParaRPr lang="en-US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2" name="Content Placeholder 2">
            <a:extLst>
              <a:ext uri="{FF2B5EF4-FFF2-40B4-BE49-F238E27FC236}">
                <a16:creationId xmlns:a16="http://schemas.microsoft.com/office/drawing/2014/main" id="{6C70FDD0-6319-064A-9789-7A09168082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229600" cy="3771636"/>
          </a:xfrm>
        </p:spPr>
        <p:txBody>
          <a:bodyPr/>
          <a:lstStyle/>
          <a:p>
            <a:r>
              <a:rPr lang="en-US" altLang="zh-CN" b="0" dirty="0"/>
              <a:t>DAX</a:t>
            </a:r>
            <a:r>
              <a:rPr lang="zh-CN" altLang="en-US" b="0" dirty="0"/>
              <a:t>（</a:t>
            </a:r>
            <a:r>
              <a:rPr lang="en-US" altLang="zh-CN" b="0" dirty="0"/>
              <a:t>direct</a:t>
            </a:r>
            <a:r>
              <a:rPr lang="zh-CN" altLang="en-US" b="0" dirty="0"/>
              <a:t> </a:t>
            </a:r>
            <a:r>
              <a:rPr lang="en-US" altLang="zh-CN" b="0" dirty="0"/>
              <a:t>access</a:t>
            </a:r>
            <a:r>
              <a:rPr lang="zh-CN" altLang="en-US" b="0" dirty="0"/>
              <a:t>）</a:t>
            </a:r>
            <a:endParaRPr lang="en-US" altLang="zh-CN" b="0" dirty="0"/>
          </a:p>
          <a:p>
            <a:pPr lvl="1"/>
            <a:r>
              <a:rPr lang="zh-CN" altLang="en-US" b="0" dirty="0"/>
              <a:t>文件</a:t>
            </a:r>
            <a:r>
              <a:rPr lang="en-US" altLang="zh-CN" b="0" dirty="0" err="1"/>
              <a:t>mmap</a:t>
            </a:r>
            <a:r>
              <a:rPr lang="zh-CN" altLang="en-US" b="0" dirty="0"/>
              <a:t>时</a:t>
            </a:r>
            <a:endParaRPr lang="en-US" altLang="zh-CN" b="0" dirty="0"/>
          </a:p>
          <a:p>
            <a:pPr lvl="1"/>
            <a:r>
              <a:rPr lang="zh-CN" altLang="en-CN" b="0" dirty="0"/>
              <a:t>通过</a:t>
            </a:r>
            <a:r>
              <a:rPr lang="zh-CN" altLang="en-US" b="0" dirty="0"/>
              <a:t>建立页表映射</a:t>
            </a:r>
            <a:endParaRPr lang="en-US" altLang="zh-CN" b="0" dirty="0"/>
          </a:p>
          <a:p>
            <a:pPr lvl="1"/>
            <a:r>
              <a:rPr lang="zh-CN" altLang="en-US" b="0" dirty="0"/>
              <a:t>将数据页映射给应用</a:t>
            </a:r>
            <a:endParaRPr lang="en-CN" b="0" dirty="0"/>
          </a:p>
        </p:txBody>
      </p:sp>
    </p:spTree>
    <p:extLst>
      <p:ext uri="{BB962C8B-B14F-4D97-AF65-F5344CB8AC3E}">
        <p14:creationId xmlns:p14="http://schemas.microsoft.com/office/powerpoint/2010/main" val="104689805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9752" y="4071938"/>
            <a:ext cx="4102100" cy="12192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如何防止</a:t>
            </a:r>
            <a:r>
              <a:rPr lang="en-US" altLang="zh-CN" dirty="0"/>
              <a:t>NVM</a:t>
            </a:r>
            <a:r>
              <a:rPr lang="zh-CN" altLang="en-US" dirty="0"/>
              <a:t>上的</a:t>
            </a:r>
            <a:r>
              <a:rPr lang="en-US" altLang="zh-CN" dirty="0"/>
              <a:t>wild</a:t>
            </a:r>
            <a:r>
              <a:rPr lang="zh-CN" altLang="en-US" dirty="0"/>
              <a:t> </a:t>
            </a:r>
            <a:r>
              <a:rPr lang="en-US" altLang="zh-CN" dirty="0"/>
              <a:t>writes</a:t>
            </a:r>
            <a:r>
              <a:rPr lang="zh-CN" altLang="en-US" dirty="0"/>
              <a:t>？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000" b="0" dirty="0"/>
              <a:t>程序</a:t>
            </a:r>
            <a:r>
              <a:rPr lang="en-US" altLang="zh-CN" sz="2000" b="0" dirty="0"/>
              <a:t>Bug</a:t>
            </a:r>
            <a:r>
              <a:rPr lang="zh-CN" altLang="en-US" sz="2000" b="0" dirty="0"/>
              <a:t>产生的</a:t>
            </a:r>
            <a:r>
              <a:rPr lang="en-US" altLang="zh-CN" sz="2000" b="0" dirty="0"/>
              <a:t>wild</a:t>
            </a:r>
            <a:r>
              <a:rPr lang="zh-CN" altLang="en-US" sz="2000" b="0" dirty="0"/>
              <a:t> </a:t>
            </a:r>
            <a:r>
              <a:rPr lang="en-US" altLang="zh-CN" sz="2000" b="0" dirty="0"/>
              <a:t>writes</a:t>
            </a:r>
            <a:r>
              <a:rPr lang="zh-CN" altLang="en-US" sz="2000" b="0" dirty="0"/>
              <a:t>会破坏</a:t>
            </a:r>
            <a:r>
              <a:rPr lang="en-US" altLang="zh-CN" sz="2000" b="0" dirty="0"/>
              <a:t>NVM</a:t>
            </a:r>
            <a:r>
              <a:rPr lang="zh-CN" altLang="en-US" sz="2000" b="0" dirty="0"/>
              <a:t>上的数据</a:t>
            </a:r>
            <a:endParaRPr lang="en-US" sz="2000" b="0" dirty="0"/>
          </a:p>
          <a:p>
            <a:r>
              <a:rPr lang="en-US" sz="2000" b="0" dirty="0"/>
              <a:t>Supervisor Mode Access Protection (SMAP) </a:t>
            </a:r>
          </a:p>
          <a:p>
            <a:pPr lvl="1"/>
            <a:r>
              <a:rPr lang="zh-CN" altLang="en-US" sz="1800" dirty="0"/>
              <a:t>防止内核错误地修改用户内存</a:t>
            </a:r>
            <a:endParaRPr lang="en-US" sz="1800" dirty="0"/>
          </a:p>
          <a:p>
            <a:r>
              <a:rPr lang="en-US" sz="2000" b="0" dirty="0"/>
              <a:t>Write windows</a:t>
            </a:r>
            <a:r>
              <a:rPr lang="en-US" sz="2000" b="0" i="1" dirty="0"/>
              <a:t> </a:t>
            </a:r>
            <a:r>
              <a:rPr lang="en-US" sz="2000" b="0" dirty="0"/>
              <a:t>(</a:t>
            </a:r>
            <a:r>
              <a:rPr lang="en-US" altLang="zh-CN" sz="2000" b="0" dirty="0"/>
              <a:t>PMFS</a:t>
            </a:r>
            <a:r>
              <a:rPr lang="zh-CN" altLang="en-US" sz="2000" b="0" dirty="0"/>
              <a:t>提出</a:t>
            </a:r>
            <a:r>
              <a:rPr lang="en-US" sz="2000" b="0" dirty="0"/>
              <a:t>) </a:t>
            </a:r>
          </a:p>
          <a:p>
            <a:pPr lvl="1"/>
            <a:r>
              <a:rPr lang="zh-CN" altLang="en-US" sz="1800" dirty="0"/>
              <a:t>挂载时，</a:t>
            </a:r>
            <a:r>
              <a:rPr lang="en-US" altLang="zh-CN" sz="1800" dirty="0"/>
              <a:t>NVM</a:t>
            </a:r>
            <a:r>
              <a:rPr lang="zh-CN" altLang="en-US" sz="1800" dirty="0"/>
              <a:t>映射为只读</a:t>
            </a:r>
            <a:endParaRPr lang="en-US" altLang="zh-CN" sz="1800" dirty="0"/>
          </a:p>
          <a:p>
            <a:pPr lvl="1"/>
            <a:r>
              <a:rPr lang="zh-CN" altLang="en-US" sz="1800" dirty="0"/>
              <a:t>写入时，</a:t>
            </a:r>
            <a:r>
              <a:rPr lang="en-US" altLang="zh-CN" sz="1800" dirty="0"/>
              <a:t>x86</a:t>
            </a:r>
            <a:r>
              <a:rPr lang="zh-CN" altLang="en-US" sz="1800" dirty="0"/>
              <a:t>的</a:t>
            </a:r>
            <a:r>
              <a:rPr lang="en-US" sz="1800" dirty="0"/>
              <a:t>CR0.WP</a:t>
            </a:r>
            <a:r>
              <a:rPr lang="zh-CN" altLang="en-US" sz="1800" dirty="0"/>
              <a:t>临时设置为</a:t>
            </a:r>
            <a:r>
              <a:rPr lang="en-US" altLang="zh-CN" sz="1800" dirty="0"/>
              <a:t>0</a:t>
            </a:r>
            <a:r>
              <a:rPr lang="zh-CN" altLang="en-US" sz="1800" dirty="0"/>
              <a:t>，内核可以修改只读映射</a:t>
            </a:r>
            <a:endParaRPr lang="en-US" sz="1800" dirty="0"/>
          </a:p>
          <a:p>
            <a:endParaRPr lang="en-US" sz="2000" b="0" dirty="0"/>
          </a:p>
          <a:p>
            <a:endParaRPr lang="en-US" sz="2000" b="0" dirty="0"/>
          </a:p>
        </p:txBody>
      </p:sp>
    </p:spTree>
    <p:extLst>
      <p:ext uri="{BB962C8B-B14F-4D97-AF65-F5344CB8AC3E}">
        <p14:creationId xmlns:p14="http://schemas.microsoft.com/office/powerpoint/2010/main" val="248411667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A0C1D5-A1AC-3E43-8BE8-56C73A3CD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不同</a:t>
            </a:r>
            <a:r>
              <a:rPr kumimoji="1" lang="en-US" altLang="zh-CN" dirty="0"/>
              <a:t>NVM</a:t>
            </a:r>
            <a:r>
              <a:rPr kumimoji="1" lang="zh-CN" altLang="en-US" dirty="0"/>
              <a:t>文件系统的层次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1540A25-7921-B54B-82FD-07F4CA9FF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454C849-23BC-924B-B5CB-D1A83722AB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34" name="Rectangle 52">
            <a:extLst>
              <a:ext uri="{FF2B5EF4-FFF2-40B4-BE49-F238E27FC236}">
                <a16:creationId xmlns:a16="http://schemas.microsoft.com/office/drawing/2014/main" id="{0A3B94E3-C48A-0C43-B19E-E4CA0277705E}"/>
              </a:ext>
            </a:extLst>
          </p:cNvPr>
          <p:cNvSpPr/>
          <p:nvPr/>
        </p:nvSpPr>
        <p:spPr>
          <a:xfrm>
            <a:off x="6530411" y="2177986"/>
            <a:ext cx="1580722" cy="1543610"/>
          </a:xfrm>
          <a:prstGeom prst="rect">
            <a:avLst/>
          </a:prstGeom>
          <a:solidFill>
            <a:srgbClr val="8064A2">
              <a:lumMod val="60000"/>
              <a:lumOff val="40000"/>
            </a:srgbClr>
          </a:solidFill>
          <a:ln w="25400" cap="flat" cmpd="sng" algn="ctr">
            <a:noFill/>
            <a:prstDash val="solid"/>
          </a:ln>
          <a:effectLst>
            <a:outerShdw blurRad="50800" dist="762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NVM Library /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libFS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&amp;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kernel module</a:t>
            </a:r>
          </a:p>
        </p:txBody>
      </p:sp>
      <p:cxnSp>
        <p:nvCxnSpPr>
          <p:cNvPr id="35" name="Straight Connector 7">
            <a:extLst>
              <a:ext uri="{FF2B5EF4-FFF2-40B4-BE49-F238E27FC236}">
                <a16:creationId xmlns:a16="http://schemas.microsoft.com/office/drawing/2014/main" id="{534DFE00-C939-5846-94E8-707E2805DB83}"/>
              </a:ext>
            </a:extLst>
          </p:cNvPr>
          <p:cNvCxnSpPr/>
          <p:nvPr/>
        </p:nvCxnSpPr>
        <p:spPr>
          <a:xfrm>
            <a:off x="755576" y="2987881"/>
            <a:ext cx="7848872" cy="0"/>
          </a:xfrm>
          <a:prstGeom prst="line">
            <a:avLst/>
          </a:prstGeom>
          <a:noFill/>
          <a:ln w="31750" cap="flat" cmpd="sng" algn="ctr">
            <a:solidFill>
              <a:srgbClr val="FF0000"/>
            </a:solidFill>
            <a:prstDash val="solid"/>
          </a:ln>
          <a:effectLst/>
        </p:spPr>
      </p:cxnSp>
      <p:cxnSp>
        <p:nvCxnSpPr>
          <p:cNvPr id="36" name="Straight Arrow Connector 45">
            <a:extLst>
              <a:ext uri="{FF2B5EF4-FFF2-40B4-BE49-F238E27FC236}">
                <a16:creationId xmlns:a16="http://schemas.microsoft.com/office/drawing/2014/main" id="{911D61AF-7DE5-E54D-B4A8-F18F1AE4CB18}"/>
              </a:ext>
            </a:extLst>
          </p:cNvPr>
          <p:cNvCxnSpPr>
            <a:stCxn id="40" idx="2"/>
          </p:cNvCxnSpPr>
          <p:nvPr/>
        </p:nvCxnSpPr>
        <p:spPr>
          <a:xfrm>
            <a:off x="5724128" y="2641476"/>
            <a:ext cx="0" cy="2448272"/>
          </a:xfrm>
          <a:prstGeom prst="straightConnector1">
            <a:avLst/>
          </a:prstGeom>
          <a:noFill/>
          <a:ln w="31750" cap="flat" cmpd="sng" algn="ctr">
            <a:solidFill>
              <a:sysClr val="windowText" lastClr="000000"/>
            </a:solidFill>
            <a:prstDash val="solid"/>
            <a:headEnd type="arrow" w="med" len="med"/>
            <a:tailEnd type="arrow" w="med" len="med"/>
          </a:ln>
          <a:effectLst/>
        </p:spPr>
      </p:cxnSp>
      <p:sp>
        <p:nvSpPr>
          <p:cNvPr id="37" name="Rectangle 5">
            <a:extLst>
              <a:ext uri="{FF2B5EF4-FFF2-40B4-BE49-F238E27FC236}">
                <a16:creationId xmlns:a16="http://schemas.microsoft.com/office/drawing/2014/main" id="{41466AA6-4BD1-8E45-BE6E-F6B616D0C540}"/>
              </a:ext>
            </a:extLst>
          </p:cNvPr>
          <p:cNvSpPr/>
          <p:nvPr/>
        </p:nvSpPr>
        <p:spPr>
          <a:xfrm>
            <a:off x="1295636" y="1129308"/>
            <a:ext cx="6948772" cy="576064"/>
          </a:xfrm>
          <a:prstGeom prst="rect">
            <a:avLst/>
          </a:prstGeom>
          <a:solidFill>
            <a:sysClr val="window" lastClr="FFFFFF">
              <a:lumMod val="75000"/>
            </a:sysClr>
          </a:solidFill>
          <a:ln w="25400" cap="flat" cmpd="sng" algn="ctr">
            <a:noFill/>
            <a:prstDash val="solid"/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Applications</a:t>
            </a:r>
          </a:p>
        </p:txBody>
      </p:sp>
      <p:sp>
        <p:nvSpPr>
          <p:cNvPr id="38" name="TextBox 8">
            <a:extLst>
              <a:ext uri="{FF2B5EF4-FFF2-40B4-BE49-F238E27FC236}">
                <a16:creationId xmlns:a16="http://schemas.microsoft.com/office/drawing/2014/main" id="{F591236E-850A-DF49-A3BE-8CB9CD6267A1}"/>
              </a:ext>
            </a:extLst>
          </p:cNvPr>
          <p:cNvSpPr txBox="1"/>
          <p:nvPr/>
        </p:nvSpPr>
        <p:spPr>
          <a:xfrm>
            <a:off x="395536" y="2569468"/>
            <a:ext cx="5918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Calibri"/>
              </a:rPr>
              <a:t>user</a:t>
            </a:r>
          </a:p>
        </p:txBody>
      </p:sp>
      <p:sp>
        <p:nvSpPr>
          <p:cNvPr id="39" name="TextBox 9">
            <a:extLst>
              <a:ext uri="{FF2B5EF4-FFF2-40B4-BE49-F238E27FC236}">
                <a16:creationId xmlns:a16="http://schemas.microsoft.com/office/drawing/2014/main" id="{D29595D4-C3B2-C24D-AE8F-CA9238B48C7D}"/>
              </a:ext>
            </a:extLst>
          </p:cNvPr>
          <p:cNvSpPr txBox="1"/>
          <p:nvPr/>
        </p:nvSpPr>
        <p:spPr>
          <a:xfrm>
            <a:off x="251520" y="3064232"/>
            <a:ext cx="767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prstClr val="black"/>
                </a:solidFill>
                <a:latin typeface="Calibri"/>
              </a:rPr>
              <a:t>kernel</a:t>
            </a:r>
          </a:p>
        </p:txBody>
      </p:sp>
      <p:sp>
        <p:nvSpPr>
          <p:cNvPr id="40" name="Rectangle 10">
            <a:extLst>
              <a:ext uri="{FF2B5EF4-FFF2-40B4-BE49-F238E27FC236}">
                <a16:creationId xmlns:a16="http://schemas.microsoft.com/office/drawing/2014/main" id="{EC676E17-C744-334F-B3F1-6CACD0D05026}"/>
              </a:ext>
            </a:extLst>
          </p:cNvPr>
          <p:cNvSpPr/>
          <p:nvPr/>
        </p:nvSpPr>
        <p:spPr>
          <a:xfrm>
            <a:off x="5292080" y="2177986"/>
            <a:ext cx="864096" cy="463490"/>
          </a:xfrm>
          <a:prstGeom prst="rect">
            <a:avLst/>
          </a:prstGeom>
          <a:solidFill>
            <a:srgbClr val="4BACC6">
              <a:lumMod val="60000"/>
              <a:lumOff val="40000"/>
            </a:srgbClr>
          </a:solidFill>
          <a:ln w="25400" cap="flat" cmpd="sng" algn="ctr">
            <a:noFill/>
            <a:prstDash val="solid"/>
          </a:ln>
          <a:effectLst>
            <a:outerShdw blurRad="50800" dist="762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NVM Library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1" name="Rectangle 11">
            <a:extLst>
              <a:ext uri="{FF2B5EF4-FFF2-40B4-BE49-F238E27FC236}">
                <a16:creationId xmlns:a16="http://schemas.microsoft.com/office/drawing/2014/main" id="{093C20CF-1E28-1E41-8806-AAEACE43B45A}"/>
              </a:ext>
            </a:extLst>
          </p:cNvPr>
          <p:cNvSpPr/>
          <p:nvPr/>
        </p:nvSpPr>
        <p:spPr>
          <a:xfrm>
            <a:off x="1655675" y="4225652"/>
            <a:ext cx="688883" cy="360040"/>
          </a:xfrm>
          <a:prstGeom prst="rect">
            <a:avLst/>
          </a:prstGeom>
          <a:solidFill>
            <a:srgbClr val="4F81BD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BTT</a:t>
            </a:r>
          </a:p>
        </p:txBody>
      </p:sp>
      <p:sp>
        <p:nvSpPr>
          <p:cNvPr id="42" name="Rectangle 12">
            <a:extLst>
              <a:ext uri="{FF2B5EF4-FFF2-40B4-BE49-F238E27FC236}">
                <a16:creationId xmlns:a16="http://schemas.microsoft.com/office/drawing/2014/main" id="{6CEA5599-2780-1A49-9627-C7CA8613A0D5}"/>
              </a:ext>
            </a:extLst>
          </p:cNvPr>
          <p:cNvSpPr/>
          <p:nvPr/>
        </p:nvSpPr>
        <p:spPr>
          <a:xfrm>
            <a:off x="1295636" y="5089748"/>
            <a:ext cx="6948772" cy="432048"/>
          </a:xfrm>
          <a:prstGeom prst="rect">
            <a:avLst/>
          </a:prstGeom>
          <a:solidFill>
            <a:srgbClr val="F79646"/>
          </a:solidFill>
          <a:ln w="25400" cap="flat" cmpd="sng" algn="ctr">
            <a:noFill/>
            <a:prstDash val="solid"/>
          </a:ln>
          <a:effectLst>
            <a:outerShdw blurRad="50800" dist="762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Byte-addressable NVM (Persistent Memory)</a:t>
            </a:r>
          </a:p>
        </p:txBody>
      </p:sp>
      <p:cxnSp>
        <p:nvCxnSpPr>
          <p:cNvPr id="43" name="Straight Connector 13">
            <a:extLst>
              <a:ext uri="{FF2B5EF4-FFF2-40B4-BE49-F238E27FC236}">
                <a16:creationId xmlns:a16="http://schemas.microsoft.com/office/drawing/2014/main" id="{6E4DB90A-A88F-7747-9DCE-B6642FBBF7F6}"/>
              </a:ext>
            </a:extLst>
          </p:cNvPr>
          <p:cNvCxnSpPr/>
          <p:nvPr/>
        </p:nvCxnSpPr>
        <p:spPr>
          <a:xfrm>
            <a:off x="755576" y="4801716"/>
            <a:ext cx="7848872" cy="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dash"/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</p:cxnSp>
      <p:sp>
        <p:nvSpPr>
          <p:cNvPr id="44" name="Rectangle 14">
            <a:extLst>
              <a:ext uri="{FF2B5EF4-FFF2-40B4-BE49-F238E27FC236}">
                <a16:creationId xmlns:a16="http://schemas.microsoft.com/office/drawing/2014/main" id="{1896E699-8343-6A49-9A73-25C5DFA18E40}"/>
              </a:ext>
            </a:extLst>
          </p:cNvPr>
          <p:cNvSpPr/>
          <p:nvPr/>
        </p:nvSpPr>
        <p:spPr>
          <a:xfrm>
            <a:off x="1655676" y="3243693"/>
            <a:ext cx="1404156" cy="477903"/>
          </a:xfrm>
          <a:prstGeom prst="rect">
            <a:avLst/>
          </a:prstGeom>
          <a:solidFill>
            <a:sysClr val="window" lastClr="FFFFFF">
              <a:lumMod val="75000"/>
            </a:sysClr>
          </a:solidFill>
          <a:ln w="25400" cap="flat" cmpd="sng" algn="ctr">
            <a:noFill/>
            <a:prstDash val="solid"/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DiskFS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5" name="Rectangle 15">
            <a:extLst>
              <a:ext uri="{FF2B5EF4-FFF2-40B4-BE49-F238E27FC236}">
                <a16:creationId xmlns:a16="http://schemas.microsoft.com/office/drawing/2014/main" id="{A8F14B0E-FF7A-C64F-A85F-95CC6172161B}"/>
              </a:ext>
            </a:extLst>
          </p:cNvPr>
          <p:cNvSpPr/>
          <p:nvPr/>
        </p:nvSpPr>
        <p:spPr>
          <a:xfrm>
            <a:off x="3347864" y="3243693"/>
            <a:ext cx="1220682" cy="477903"/>
          </a:xfrm>
          <a:prstGeom prst="rect">
            <a:avLst/>
          </a:prstGeom>
          <a:solidFill>
            <a:srgbClr val="9BBB59"/>
          </a:solidFill>
          <a:ln w="25400" cap="flat" cmpd="sng" algn="ctr">
            <a:noFill/>
            <a:prstDash val="solid"/>
          </a:ln>
          <a:effectLst>
            <a:outerShdw blurRad="50800" dist="762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NVMFS</a:t>
            </a:r>
          </a:p>
        </p:txBody>
      </p:sp>
      <p:cxnSp>
        <p:nvCxnSpPr>
          <p:cNvPr id="46" name="Straight Arrow Connector 18">
            <a:extLst>
              <a:ext uri="{FF2B5EF4-FFF2-40B4-BE49-F238E27FC236}">
                <a16:creationId xmlns:a16="http://schemas.microsoft.com/office/drawing/2014/main" id="{458B457F-0818-304B-A754-F44B3BB7E94F}"/>
              </a:ext>
            </a:extLst>
          </p:cNvPr>
          <p:cNvCxnSpPr/>
          <p:nvPr/>
        </p:nvCxnSpPr>
        <p:spPr>
          <a:xfrm>
            <a:off x="2296372" y="1705372"/>
            <a:ext cx="0" cy="1538321"/>
          </a:xfrm>
          <a:prstGeom prst="straightConnector1">
            <a:avLst/>
          </a:prstGeom>
          <a:noFill/>
          <a:ln w="31750" cap="flat" cmpd="sng" algn="ctr">
            <a:solidFill>
              <a:sysClr val="windowText" lastClr="000000"/>
            </a:solidFill>
            <a:prstDash val="solid"/>
            <a:headEnd type="arrow" w="med" len="med"/>
            <a:tailEnd type="arrow" w="med" len="med"/>
          </a:ln>
          <a:effectLst/>
        </p:spPr>
      </p:cxnSp>
      <p:sp>
        <p:nvSpPr>
          <p:cNvPr id="47" name="TextBox 20">
            <a:extLst>
              <a:ext uri="{FF2B5EF4-FFF2-40B4-BE49-F238E27FC236}">
                <a16:creationId xmlns:a16="http://schemas.microsoft.com/office/drawing/2014/main" id="{678AFAA5-FEDB-EE49-9548-CA6CB410095F}"/>
              </a:ext>
            </a:extLst>
          </p:cNvPr>
          <p:cNvSpPr txBox="1"/>
          <p:nvPr/>
        </p:nvSpPr>
        <p:spPr>
          <a:xfrm>
            <a:off x="1187624" y="2199966"/>
            <a:ext cx="11876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Calibri"/>
              </a:rPr>
              <a:t>read/write</a:t>
            </a:r>
          </a:p>
        </p:txBody>
      </p:sp>
      <p:cxnSp>
        <p:nvCxnSpPr>
          <p:cNvPr id="48" name="Straight Arrow Connector 21">
            <a:extLst>
              <a:ext uri="{FF2B5EF4-FFF2-40B4-BE49-F238E27FC236}">
                <a16:creationId xmlns:a16="http://schemas.microsoft.com/office/drawing/2014/main" id="{DBAABB6B-7AEB-264D-A008-37E06A574A94}"/>
              </a:ext>
            </a:extLst>
          </p:cNvPr>
          <p:cNvCxnSpPr>
            <a:endCxn id="41" idx="0"/>
          </p:cNvCxnSpPr>
          <p:nvPr/>
        </p:nvCxnSpPr>
        <p:spPr>
          <a:xfrm>
            <a:off x="1991827" y="3721596"/>
            <a:ext cx="8290" cy="504056"/>
          </a:xfrm>
          <a:prstGeom prst="straightConnector1">
            <a:avLst/>
          </a:prstGeom>
          <a:noFill/>
          <a:ln w="31750" cap="flat" cmpd="sng" algn="ctr">
            <a:solidFill>
              <a:sysClr val="windowText" lastClr="000000"/>
            </a:solidFill>
            <a:prstDash val="solid"/>
            <a:headEnd type="arrow" w="med" len="med"/>
            <a:tailEnd type="arrow" w="med" len="med"/>
          </a:ln>
          <a:effectLst/>
        </p:spPr>
      </p:cxnSp>
      <p:cxnSp>
        <p:nvCxnSpPr>
          <p:cNvPr id="49" name="Straight Arrow Connector 25">
            <a:extLst>
              <a:ext uri="{FF2B5EF4-FFF2-40B4-BE49-F238E27FC236}">
                <a16:creationId xmlns:a16="http://schemas.microsoft.com/office/drawing/2014/main" id="{576A911D-DC19-1145-AA2F-55D040169279}"/>
              </a:ext>
            </a:extLst>
          </p:cNvPr>
          <p:cNvCxnSpPr>
            <a:stCxn id="41" idx="2"/>
          </p:cNvCxnSpPr>
          <p:nvPr/>
        </p:nvCxnSpPr>
        <p:spPr>
          <a:xfrm flipH="1">
            <a:off x="1995361" y="4585692"/>
            <a:ext cx="4756" cy="504056"/>
          </a:xfrm>
          <a:prstGeom prst="straightConnector1">
            <a:avLst/>
          </a:prstGeom>
          <a:noFill/>
          <a:ln w="31750" cap="flat" cmpd="sng" algn="ctr">
            <a:solidFill>
              <a:sysClr val="windowText" lastClr="000000"/>
            </a:solidFill>
            <a:prstDash val="solid"/>
            <a:headEnd type="arrow" w="med" len="med"/>
            <a:tailEnd type="arrow" w="med" len="med"/>
          </a:ln>
          <a:effectLst/>
        </p:spPr>
      </p:cxnSp>
      <p:sp>
        <p:nvSpPr>
          <p:cNvPr id="50" name="TextBox 35">
            <a:extLst>
              <a:ext uri="{FF2B5EF4-FFF2-40B4-BE49-F238E27FC236}">
                <a16:creationId xmlns:a16="http://schemas.microsoft.com/office/drawing/2014/main" id="{183F94A2-CF63-8945-A2BE-360063D7464A}"/>
              </a:ext>
            </a:extLst>
          </p:cNvPr>
          <p:cNvSpPr txBox="1"/>
          <p:nvPr/>
        </p:nvSpPr>
        <p:spPr>
          <a:xfrm>
            <a:off x="971600" y="3825048"/>
            <a:ext cx="10390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Block I/O</a:t>
            </a:r>
            <a:endParaRPr lang="en-US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51" name="Straight Arrow Connector 36">
            <a:extLst>
              <a:ext uri="{FF2B5EF4-FFF2-40B4-BE49-F238E27FC236}">
                <a16:creationId xmlns:a16="http://schemas.microsoft.com/office/drawing/2014/main" id="{35DF50D9-AF6A-CC44-B548-88F368D2D384}"/>
              </a:ext>
            </a:extLst>
          </p:cNvPr>
          <p:cNvCxnSpPr/>
          <p:nvPr/>
        </p:nvCxnSpPr>
        <p:spPr>
          <a:xfrm>
            <a:off x="5076056" y="1705372"/>
            <a:ext cx="0" cy="3384376"/>
          </a:xfrm>
          <a:prstGeom prst="straightConnector1">
            <a:avLst/>
          </a:prstGeom>
          <a:noFill/>
          <a:ln w="31750" cap="flat" cmpd="sng" algn="ctr">
            <a:solidFill>
              <a:sysClr val="windowText" lastClr="000000"/>
            </a:solidFill>
            <a:prstDash val="solid"/>
            <a:headEnd type="arrow" w="med" len="med"/>
            <a:tailEnd type="arrow" w="med" len="med"/>
          </a:ln>
          <a:effectLst/>
        </p:spPr>
      </p:cxnSp>
      <p:sp>
        <p:nvSpPr>
          <p:cNvPr id="52" name="TextBox 38">
            <a:extLst>
              <a:ext uri="{FF2B5EF4-FFF2-40B4-BE49-F238E27FC236}">
                <a16:creationId xmlns:a16="http://schemas.microsoft.com/office/drawing/2014/main" id="{6B5388BE-0837-AC41-96DF-6D86B16BBFDE}"/>
              </a:ext>
            </a:extLst>
          </p:cNvPr>
          <p:cNvSpPr txBox="1"/>
          <p:nvPr/>
        </p:nvSpPr>
        <p:spPr>
          <a:xfrm>
            <a:off x="4272473" y="4611741"/>
            <a:ext cx="608885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prstClr val="black"/>
                </a:solidFill>
                <a:latin typeface="Calibri"/>
              </a:rPr>
              <a:t>ld/st</a:t>
            </a:r>
          </a:p>
        </p:txBody>
      </p:sp>
      <p:sp>
        <p:nvSpPr>
          <p:cNvPr id="53" name="Rectangle 39">
            <a:extLst>
              <a:ext uri="{FF2B5EF4-FFF2-40B4-BE49-F238E27FC236}">
                <a16:creationId xmlns:a16="http://schemas.microsoft.com/office/drawing/2014/main" id="{23E0ADC3-F34A-9148-823D-E623E5FD238A}"/>
              </a:ext>
            </a:extLst>
          </p:cNvPr>
          <p:cNvSpPr/>
          <p:nvPr/>
        </p:nvSpPr>
        <p:spPr>
          <a:xfrm>
            <a:off x="4568546" y="3243693"/>
            <a:ext cx="1587630" cy="477903"/>
          </a:xfrm>
          <a:prstGeom prst="rect">
            <a:avLst/>
          </a:prstGeom>
          <a:solidFill>
            <a:srgbClr val="9BBB59"/>
          </a:solidFill>
          <a:ln w="25400" cap="flat" cmpd="sng" algn="ctr">
            <a:noFill/>
            <a:prstDash val="solid"/>
          </a:ln>
          <a:effectLst>
            <a:outerShdw blurRad="50800" dist="762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Direct to NVM</a:t>
            </a:r>
            <a:b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(XIP/DAX)</a:t>
            </a:r>
          </a:p>
        </p:txBody>
      </p:sp>
      <p:cxnSp>
        <p:nvCxnSpPr>
          <p:cNvPr id="54" name="Straight Arrow Connector 40">
            <a:extLst>
              <a:ext uri="{FF2B5EF4-FFF2-40B4-BE49-F238E27FC236}">
                <a16:creationId xmlns:a16="http://schemas.microsoft.com/office/drawing/2014/main" id="{0AD63A22-9102-C449-A9C1-945BC9797BFA}"/>
              </a:ext>
            </a:extLst>
          </p:cNvPr>
          <p:cNvCxnSpPr/>
          <p:nvPr/>
        </p:nvCxnSpPr>
        <p:spPr>
          <a:xfrm>
            <a:off x="3995936" y="3721596"/>
            <a:ext cx="0" cy="1368152"/>
          </a:xfrm>
          <a:prstGeom prst="straightConnector1">
            <a:avLst/>
          </a:prstGeom>
          <a:noFill/>
          <a:ln w="31750" cap="flat" cmpd="sng" algn="ctr">
            <a:solidFill>
              <a:sysClr val="windowText" lastClr="000000"/>
            </a:solidFill>
            <a:prstDash val="solid"/>
            <a:headEnd type="arrow" w="med" len="med"/>
            <a:tailEnd type="arrow" w="med" len="med"/>
          </a:ln>
          <a:effectLst/>
        </p:spPr>
      </p:cxnSp>
      <p:cxnSp>
        <p:nvCxnSpPr>
          <p:cNvPr id="55" name="Straight Arrow Connector 41">
            <a:extLst>
              <a:ext uri="{FF2B5EF4-FFF2-40B4-BE49-F238E27FC236}">
                <a16:creationId xmlns:a16="http://schemas.microsoft.com/office/drawing/2014/main" id="{661282F7-D831-2B4E-B7A5-1434F5D6E38A}"/>
              </a:ext>
            </a:extLst>
          </p:cNvPr>
          <p:cNvCxnSpPr/>
          <p:nvPr/>
        </p:nvCxnSpPr>
        <p:spPr>
          <a:xfrm>
            <a:off x="3995936" y="1692769"/>
            <a:ext cx="0" cy="1550924"/>
          </a:xfrm>
          <a:prstGeom prst="straightConnector1">
            <a:avLst/>
          </a:prstGeom>
          <a:noFill/>
          <a:ln w="31750" cap="flat" cmpd="sng" algn="ctr">
            <a:solidFill>
              <a:sysClr val="windowText" lastClr="000000"/>
            </a:solidFill>
            <a:prstDash val="solid"/>
            <a:headEnd type="arrow" w="med" len="med"/>
            <a:tailEnd type="arrow" w="med" len="med"/>
          </a:ln>
          <a:effectLst/>
        </p:spPr>
      </p:cxnSp>
      <p:sp>
        <p:nvSpPr>
          <p:cNvPr id="56" name="TextBox 42">
            <a:extLst>
              <a:ext uri="{FF2B5EF4-FFF2-40B4-BE49-F238E27FC236}">
                <a16:creationId xmlns:a16="http://schemas.microsoft.com/office/drawing/2014/main" id="{89762A3A-FDF1-1D4B-B9D3-3F7A70172414}"/>
              </a:ext>
            </a:extLst>
          </p:cNvPr>
          <p:cNvSpPr txBox="1"/>
          <p:nvPr/>
        </p:nvSpPr>
        <p:spPr>
          <a:xfrm>
            <a:off x="2887188" y="2187363"/>
            <a:ext cx="11876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Calibri"/>
              </a:rPr>
              <a:t>read/write</a:t>
            </a:r>
          </a:p>
        </p:txBody>
      </p:sp>
      <p:sp>
        <p:nvSpPr>
          <p:cNvPr id="57" name="TextBox 44">
            <a:extLst>
              <a:ext uri="{FF2B5EF4-FFF2-40B4-BE49-F238E27FC236}">
                <a16:creationId xmlns:a16="http://schemas.microsoft.com/office/drawing/2014/main" id="{432CF031-7EAF-A746-BD7F-A23667F0C542}"/>
              </a:ext>
            </a:extLst>
          </p:cNvPr>
          <p:cNvSpPr txBox="1"/>
          <p:nvPr/>
        </p:nvSpPr>
        <p:spPr>
          <a:xfrm>
            <a:off x="4362271" y="2611220"/>
            <a:ext cx="7857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Calibri"/>
              </a:rPr>
              <a:t>mmap</a:t>
            </a:r>
          </a:p>
        </p:txBody>
      </p:sp>
      <p:sp>
        <p:nvSpPr>
          <p:cNvPr id="58" name="TextBox 48">
            <a:extLst>
              <a:ext uri="{FF2B5EF4-FFF2-40B4-BE49-F238E27FC236}">
                <a16:creationId xmlns:a16="http://schemas.microsoft.com/office/drawing/2014/main" id="{6A0CF64E-3E8F-9040-9416-247A05F8CA7A}"/>
              </a:ext>
            </a:extLst>
          </p:cNvPr>
          <p:cNvSpPr txBox="1"/>
          <p:nvPr/>
        </p:nvSpPr>
        <p:spPr>
          <a:xfrm>
            <a:off x="5717555" y="2645622"/>
            <a:ext cx="7857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prstClr val="black"/>
                </a:solidFill>
                <a:latin typeface="Calibri"/>
              </a:rPr>
              <a:t>mmap</a:t>
            </a:r>
          </a:p>
        </p:txBody>
      </p:sp>
      <p:cxnSp>
        <p:nvCxnSpPr>
          <p:cNvPr id="59" name="Straight Arrow Connector 49">
            <a:extLst>
              <a:ext uri="{FF2B5EF4-FFF2-40B4-BE49-F238E27FC236}">
                <a16:creationId xmlns:a16="http://schemas.microsoft.com/office/drawing/2014/main" id="{C9315F78-0781-A046-B89E-EEA316958612}"/>
              </a:ext>
            </a:extLst>
          </p:cNvPr>
          <p:cNvCxnSpPr/>
          <p:nvPr/>
        </p:nvCxnSpPr>
        <p:spPr>
          <a:xfrm>
            <a:off x="5730283" y="1705372"/>
            <a:ext cx="0" cy="478577"/>
          </a:xfrm>
          <a:prstGeom prst="straightConnector1">
            <a:avLst/>
          </a:prstGeom>
          <a:noFill/>
          <a:ln w="31750" cap="flat" cmpd="sng" algn="ctr">
            <a:solidFill>
              <a:sysClr val="windowText" lastClr="000000"/>
            </a:solidFill>
            <a:prstDash val="solid"/>
            <a:headEnd type="arrow" w="med" len="med"/>
            <a:tailEnd type="arrow" w="med" len="med"/>
          </a:ln>
          <a:effectLst/>
        </p:spPr>
      </p:cxnSp>
      <p:cxnSp>
        <p:nvCxnSpPr>
          <p:cNvPr id="60" name="Straight Arrow Connector 58">
            <a:extLst>
              <a:ext uri="{FF2B5EF4-FFF2-40B4-BE49-F238E27FC236}">
                <a16:creationId xmlns:a16="http://schemas.microsoft.com/office/drawing/2014/main" id="{34163A45-1568-C343-B4D4-72111C0D37FC}"/>
              </a:ext>
            </a:extLst>
          </p:cNvPr>
          <p:cNvCxnSpPr>
            <a:stCxn id="34" idx="2"/>
          </p:cNvCxnSpPr>
          <p:nvPr/>
        </p:nvCxnSpPr>
        <p:spPr>
          <a:xfrm flipH="1">
            <a:off x="7308304" y="3721596"/>
            <a:ext cx="12468" cy="1368152"/>
          </a:xfrm>
          <a:prstGeom prst="straightConnector1">
            <a:avLst/>
          </a:prstGeom>
          <a:noFill/>
          <a:ln w="31750" cap="flat" cmpd="sng" algn="ctr">
            <a:solidFill>
              <a:sysClr val="windowText" lastClr="000000"/>
            </a:solidFill>
            <a:prstDash val="solid"/>
            <a:headEnd type="arrow" w="med" len="med"/>
            <a:tailEnd type="arrow" w="med" len="med"/>
          </a:ln>
          <a:effectLst/>
        </p:spPr>
      </p:cxnSp>
      <p:cxnSp>
        <p:nvCxnSpPr>
          <p:cNvPr id="61" name="Straight Arrow Connector 62">
            <a:extLst>
              <a:ext uri="{FF2B5EF4-FFF2-40B4-BE49-F238E27FC236}">
                <a16:creationId xmlns:a16="http://schemas.microsoft.com/office/drawing/2014/main" id="{5322E1C7-6743-0144-BBAE-1747714899F2}"/>
              </a:ext>
            </a:extLst>
          </p:cNvPr>
          <p:cNvCxnSpPr>
            <a:cxnSpLocks/>
          </p:cNvCxnSpPr>
          <p:nvPr/>
        </p:nvCxnSpPr>
        <p:spPr>
          <a:xfrm>
            <a:off x="7812360" y="1692769"/>
            <a:ext cx="0" cy="485217"/>
          </a:xfrm>
          <a:prstGeom prst="straightConnector1">
            <a:avLst/>
          </a:prstGeom>
          <a:noFill/>
          <a:ln w="31750" cap="flat" cmpd="sng" algn="ctr">
            <a:solidFill>
              <a:sysClr val="windowText" lastClr="000000"/>
            </a:solidFill>
            <a:prstDash val="solid"/>
            <a:headEnd type="arrow" w="med" len="med"/>
            <a:tailEnd type="arrow" w="med" len="med"/>
          </a:ln>
          <a:effectLst/>
        </p:spPr>
      </p:cxnSp>
      <p:sp>
        <p:nvSpPr>
          <p:cNvPr id="62" name="TextBox 42">
            <a:extLst>
              <a:ext uri="{FF2B5EF4-FFF2-40B4-BE49-F238E27FC236}">
                <a16:creationId xmlns:a16="http://schemas.microsoft.com/office/drawing/2014/main" id="{E9118489-3551-BF45-8574-020A6A1996F1}"/>
              </a:ext>
            </a:extLst>
          </p:cNvPr>
          <p:cNvSpPr txBox="1"/>
          <p:nvPr/>
        </p:nvSpPr>
        <p:spPr>
          <a:xfrm>
            <a:off x="4427984" y="2184483"/>
            <a:ext cx="6088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Calibri"/>
              </a:rPr>
              <a:t>ld</a:t>
            </a:r>
            <a:r>
              <a:rPr lang="en-US" altLang="zh-CN" dirty="0">
                <a:solidFill>
                  <a:prstClr val="black"/>
                </a:solidFill>
                <a:latin typeface="Calibri"/>
              </a:rPr>
              <a:t>/st</a:t>
            </a:r>
            <a:endParaRPr lang="en-US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3" name="TextBox 42">
            <a:extLst>
              <a:ext uri="{FF2B5EF4-FFF2-40B4-BE49-F238E27FC236}">
                <a16:creationId xmlns:a16="http://schemas.microsoft.com/office/drawing/2014/main" id="{2F543743-5412-AA4B-B95D-610BC150675D}"/>
              </a:ext>
            </a:extLst>
          </p:cNvPr>
          <p:cNvSpPr txBox="1"/>
          <p:nvPr/>
        </p:nvSpPr>
        <p:spPr>
          <a:xfrm>
            <a:off x="5726981" y="1757013"/>
            <a:ext cx="20853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prstClr val="black"/>
                </a:solidFill>
                <a:latin typeface="Calibri"/>
              </a:rPr>
              <a:t>ld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/</a:t>
            </a:r>
            <a:r>
              <a:rPr lang="en-US" dirty="0" err="1">
                <a:solidFill>
                  <a:prstClr val="black"/>
                </a:solidFill>
                <a:latin typeface="Calibri"/>
              </a:rPr>
              <a:t>st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/read/write/obj</a:t>
            </a: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EB03622E-C738-8D42-8AD0-947BF59A0AF8}"/>
              </a:ext>
            </a:extLst>
          </p:cNvPr>
          <p:cNvSpPr txBox="1"/>
          <p:nvPr/>
        </p:nvSpPr>
        <p:spPr>
          <a:xfrm>
            <a:off x="2343453" y="4196035"/>
            <a:ext cx="258858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4E81B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Block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4E81B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4E81B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Translation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4E81B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4E81B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Table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4E81B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srgbClr val="4E81B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4E81B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(block-level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4E81B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4E81B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atomic)</a:t>
            </a:r>
          </a:p>
        </p:txBody>
      </p:sp>
    </p:spTree>
    <p:extLst>
      <p:ext uri="{BB962C8B-B14F-4D97-AF65-F5344CB8AC3E}">
        <p14:creationId xmlns:p14="http://schemas.microsoft.com/office/powerpoint/2010/main" val="38236035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BE384B"/>
      </a:accent1>
      <a:accent2>
        <a:srgbClr val="6A868F"/>
      </a:accent2>
      <a:accent3>
        <a:srgbClr val="32788E"/>
      </a:accent3>
      <a:accent4>
        <a:srgbClr val="D6C88B"/>
      </a:accent4>
      <a:accent5>
        <a:srgbClr val="D66E49"/>
      </a:accent5>
      <a:accent6>
        <a:srgbClr val="BFBFBF"/>
      </a:accent6>
      <a:hlink>
        <a:srgbClr val="BE384B"/>
      </a:hlink>
      <a:folHlink>
        <a:srgbClr val="BFBFBF"/>
      </a:folHlink>
    </a:clrScheme>
    <a:fontScheme name="2obzv3wc">
      <a:majorFont>
        <a:latin typeface="Arial" panose="020B0A04020102020204"/>
        <a:ea typeface="微软雅黑"/>
        <a:cs typeface=""/>
      </a:majorFont>
      <a:minorFont>
        <a:latin typeface="Arial" panose="020B060402020202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JTU-Red" id="{D8CCD1CF-4E9C-2949-907F-EF4853CAD992}" vid="{47F94616-763E-7D43-9BB0-722503DC19A3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SJTU-Red</Template>
  <TotalTime>53143</TotalTime>
  <Words>3877</Words>
  <Application>Microsoft Macintosh PowerPoint</Application>
  <PresentationFormat>全屏显示(16:10)</PresentationFormat>
  <Paragraphs>703</Paragraphs>
  <Slides>55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55</vt:i4>
      </vt:variant>
    </vt:vector>
  </HeadingPairs>
  <TitlesOfParts>
    <vt:vector size="64" baseType="lpstr">
      <vt:lpstr>DengXian</vt:lpstr>
      <vt:lpstr>DengXian</vt:lpstr>
      <vt:lpstr>微软雅黑</vt:lpstr>
      <vt:lpstr>Arial</vt:lpstr>
      <vt:lpstr>Calibri</vt:lpstr>
      <vt:lpstr>Consolas</vt:lpstr>
      <vt:lpstr>Courier</vt:lpstr>
      <vt:lpstr>Wingdings</vt:lpstr>
      <vt:lpstr>Office 主题​​</vt:lpstr>
      <vt:lpstr>新型存储设备的文件系统</vt:lpstr>
      <vt:lpstr>版权声明</vt:lpstr>
      <vt:lpstr>磁盘的机械结构与性能特性</vt:lpstr>
      <vt:lpstr>Review：LFS</vt:lpstr>
      <vt:lpstr>Review：创建文件举例</vt:lpstr>
      <vt:lpstr>Review：段清理</vt:lpstr>
      <vt:lpstr>闪存盘的性能特性</vt:lpstr>
      <vt:lpstr>Flash Translation Layer (FTL)</vt:lpstr>
      <vt:lpstr>F2FS的改进-1：NAT</vt:lpstr>
      <vt:lpstr>F2FS的改进-1：NAT</vt:lpstr>
      <vt:lpstr>F2FS的改进-2：多log并行写入</vt:lpstr>
      <vt:lpstr>瓦式磁盘</vt:lpstr>
      <vt:lpstr>瓦式磁盘 </vt:lpstr>
      <vt:lpstr>瓦式磁盘的问题：随机写</vt:lpstr>
      <vt:lpstr>瓦式磁盘的问题：随机写</vt:lpstr>
      <vt:lpstr>Band内随机写怎么办？</vt:lpstr>
      <vt:lpstr>方法一：多次拷贝</vt:lpstr>
      <vt:lpstr>方法二：缓存+动态映射</vt:lpstr>
      <vt:lpstr>方法二：缓存+动态映射</vt:lpstr>
      <vt:lpstr>瓦式磁盘种类</vt:lpstr>
      <vt:lpstr>DM-SMR上使用Ext4</vt:lpstr>
      <vt:lpstr>如何改进Ext4来适应瓦式磁盘呢？</vt:lpstr>
      <vt:lpstr>观察：持久缓存对吞吐量的影响</vt:lpstr>
      <vt:lpstr>回顾：Ext2文件系统的存储布局</vt:lpstr>
      <vt:lpstr>然而：Ext4的元数据非常分散</vt:lpstr>
      <vt:lpstr>回顾：Ext4上的元数据写回</vt:lpstr>
      <vt:lpstr>回到问题：Ext4上的元数据分散</vt:lpstr>
      <vt:lpstr>解决方法：以LFS形式增加一个元数据缓存</vt:lpstr>
      <vt:lpstr>日志满了怎么办？</vt:lpstr>
      <vt:lpstr>实现：对Ext4的修改</vt:lpstr>
      <vt:lpstr>实现：对Ext4的修改</vt:lpstr>
      <vt:lpstr>非易失性内存</vt:lpstr>
      <vt:lpstr>非易失性内存</vt:lpstr>
      <vt:lpstr>NVDIMM</vt:lpstr>
      <vt:lpstr>Intel Optane DC Persistent Memory</vt:lpstr>
      <vt:lpstr>非易失性内存带来的新问题</vt:lpstr>
      <vt:lpstr>内存写入顺序</vt:lpstr>
      <vt:lpstr>非易失性内存写入顺序</vt:lpstr>
      <vt:lpstr>非易失性内存写入顺序</vt:lpstr>
      <vt:lpstr>思考🤔：有哪些解决方法？</vt:lpstr>
      <vt:lpstr>使用CLFLUSH保证顺序</vt:lpstr>
      <vt:lpstr>Intel x86 拓展指令集</vt:lpstr>
      <vt:lpstr>举例：NVM上的写时复制</vt:lpstr>
      <vt:lpstr>举例：NVM上的写时复制</vt:lpstr>
      <vt:lpstr>举例：NVM上的写时复制</vt:lpstr>
      <vt:lpstr>非易失性内存文件系统</vt:lpstr>
      <vt:lpstr>非易失性内存改变存储栈</vt:lpstr>
      <vt:lpstr>非易失性内存改变存储栈</vt:lpstr>
      <vt:lpstr>一致性技术与非易失性内存文件系统</vt:lpstr>
      <vt:lpstr>PMFS</vt:lpstr>
      <vt:lpstr>PMFS中的一致性保证</vt:lpstr>
      <vt:lpstr>拓展的原子指令更新</vt:lpstr>
      <vt:lpstr>让应用直接访问NVM</vt:lpstr>
      <vt:lpstr>如何防止NVM上的wild writes？</vt:lpstr>
      <vt:lpstr>不同NVM文件系统的层次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虚拟机隔离与安全</dc:title>
  <dc:creator>Xia Yubin</dc:creator>
  <cp:lastModifiedBy>Yubin Xia</cp:lastModifiedBy>
  <cp:revision>5261</cp:revision>
  <cp:lastPrinted>2016-06-13T07:55:34Z</cp:lastPrinted>
  <dcterms:created xsi:type="dcterms:W3CDTF">2017-11-24T09:35:45Z</dcterms:created>
  <dcterms:modified xsi:type="dcterms:W3CDTF">2022-04-19T01:51:02Z</dcterms:modified>
</cp:coreProperties>
</file>