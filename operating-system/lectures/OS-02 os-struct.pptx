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62"/>
  </p:notesMasterIdLst>
  <p:handoutMasterIdLst>
    <p:handoutMasterId r:id="rId63"/>
  </p:handoutMasterIdLst>
  <p:sldIdLst>
    <p:sldId id="2604" r:id="rId3"/>
    <p:sldId id="1359" r:id="rId4"/>
    <p:sldId id="2625" r:id="rId5"/>
    <p:sldId id="2601" r:id="rId6"/>
    <p:sldId id="2602" r:id="rId7"/>
    <p:sldId id="2603" r:id="rId8"/>
    <p:sldId id="2039" r:id="rId9"/>
    <p:sldId id="2240" r:id="rId10"/>
    <p:sldId id="1371" r:id="rId11"/>
    <p:sldId id="2631" r:id="rId12"/>
    <p:sldId id="2632" r:id="rId13"/>
    <p:sldId id="2633" r:id="rId14"/>
    <p:sldId id="2233" r:id="rId15"/>
    <p:sldId id="2634" r:id="rId16"/>
    <p:sldId id="2251" r:id="rId17"/>
    <p:sldId id="2635" r:id="rId18"/>
    <p:sldId id="2636" r:id="rId19"/>
    <p:sldId id="2236" r:id="rId20"/>
    <p:sldId id="2250" r:id="rId21"/>
    <p:sldId id="2637" r:id="rId22"/>
    <p:sldId id="2638" r:id="rId23"/>
    <p:sldId id="2639" r:id="rId24"/>
    <p:sldId id="2263" r:id="rId25"/>
    <p:sldId id="2267" r:id="rId26"/>
    <p:sldId id="2264" r:id="rId27"/>
    <p:sldId id="2274" r:id="rId28"/>
    <p:sldId id="2265" r:id="rId29"/>
    <p:sldId id="2266" r:id="rId30"/>
    <p:sldId id="2640" r:id="rId31"/>
    <p:sldId id="2275" r:id="rId32"/>
    <p:sldId id="2641" r:id="rId33"/>
    <p:sldId id="2642" r:id="rId34"/>
    <p:sldId id="2643" r:id="rId35"/>
    <p:sldId id="2644" r:id="rId36"/>
    <p:sldId id="2645" r:id="rId37"/>
    <p:sldId id="2646" r:id="rId38"/>
    <p:sldId id="2647" r:id="rId39"/>
    <p:sldId id="2247" r:id="rId40"/>
    <p:sldId id="2242" r:id="rId41"/>
    <p:sldId id="2648" r:id="rId42"/>
    <p:sldId id="2256" r:id="rId43"/>
    <p:sldId id="2257" r:id="rId44"/>
    <p:sldId id="2259" r:id="rId45"/>
    <p:sldId id="2261" r:id="rId46"/>
    <p:sldId id="2262" r:id="rId47"/>
    <p:sldId id="2649" r:id="rId48"/>
    <p:sldId id="2271" r:id="rId49"/>
    <p:sldId id="2260" r:id="rId50"/>
    <p:sldId id="2650" r:id="rId51"/>
    <p:sldId id="2253" r:id="rId52"/>
    <p:sldId id="2248" r:id="rId53"/>
    <p:sldId id="2651" r:id="rId54"/>
    <p:sldId id="2652" r:id="rId55"/>
    <p:sldId id="2653" r:id="rId56"/>
    <p:sldId id="2654" r:id="rId57"/>
    <p:sldId id="2280" r:id="rId58"/>
    <p:sldId id="2249" r:id="rId59"/>
    <p:sldId id="2655" r:id="rId60"/>
    <p:sldId id="2656" r:id="rId6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87417" autoAdjust="0"/>
  </p:normalViewPr>
  <p:slideViewPr>
    <p:cSldViewPr>
      <p:cViewPr varScale="1">
        <p:scale>
          <a:sx n="147" d="100"/>
          <a:sy n="147" d="100"/>
        </p:scale>
        <p:origin x="200" y="44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30824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CPU时间消耗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72-E04F-8106-BFDC8BE6A5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72-E04F-8106-BFDC8BE6A5BF}"/>
              </c:ext>
            </c:extLst>
          </c:dPt>
          <c:cat>
            <c:strRef>
              <c:f>Sheet1!$A$2:$A$3</c:f>
              <c:strCache>
                <c:ptCount val="2"/>
                <c:pt idx="0">
                  <c:v>通信开销</c:v>
                </c:pt>
                <c:pt idx="1">
                  <c:v>应用逻辑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72-E04F-8106-BFDC8BE6A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2022/2/17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4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731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180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2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2022/2/17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A-large-semaphore-based-operating-system-Lauesen/f028001d7426f7ae6a71f8deee9935a66cba4e04" TargetMode="External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62350163_Comprehensive_Formal_Verification_of_an_OS_Microkerne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nx.com/" TargetMode="External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zdnet.com/article/minix-intels-hidden-in-chip-operating-system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.wikipedia.org/wiki/%E5%BE%AE%E5%85%A7%E6%A0%B8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k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rrelfish.org/documentation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操作系统的结构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夏虞斌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75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9F499-5495-CC4D-92F4-76576497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操作系统的演化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A9F7E-BE6B-EA49-A090-CCF95B9C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外部演化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接口的演化：更好的应对新场景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POSIX</a:t>
            </a:r>
            <a:r>
              <a:rPr kumimoji="1" lang="zh-CN" altLang="en-US" sz="1800" dirty="0"/>
              <a:t>接口：定义了一组系统调用的接口，以为应用提供兼容性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Linux</a:t>
            </a:r>
            <a:r>
              <a:rPr kumimoji="1" lang="zh-CN" altLang="en-US" sz="1800" dirty="0"/>
              <a:t>：系统调用不断有新的加入、旧的退出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鸿蒙：分布式软总线等</a:t>
            </a:r>
            <a:endParaRPr kumimoji="1" lang="en-US" altLang="zh-CN" sz="1600" dirty="0"/>
          </a:p>
          <a:p>
            <a:r>
              <a:rPr kumimoji="1" lang="zh-CN" altLang="en-US" sz="2400" dirty="0"/>
              <a:t>内部演化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架构的演化：更好地应对复杂性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如：宏内核架构、微内核架构、外核架构、多内核架构等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更好的扩展性、容错性、安全性、兼容性、灵活性、性能等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71343-A238-CB4F-B13F-75D9B3CB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00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DD233-C301-C045-ABF5-32226A7B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课程的特点：抽象与具体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D7A48-CAEB-DE42-982D-CF3064F4B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许多课程强调抽象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如：抽象数据类型、渐进分析等</a:t>
            </a:r>
            <a:endParaRPr kumimoji="1" lang="en-US" altLang="zh-CN" dirty="0"/>
          </a:p>
          <a:p>
            <a:r>
              <a:rPr kumimoji="1" lang="zh-CN" altLang="en-US" dirty="0"/>
              <a:t>这些抽象通常会带来不可避免的限制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需要理解底层的实现细节，才能突破限制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A4F15-E718-9645-94D8-CB58E6E0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08836A-08A5-844F-A225-131BDBEDD415}"/>
              </a:ext>
            </a:extLst>
          </p:cNvPr>
          <p:cNvSpPr/>
          <p:nvPr/>
        </p:nvSpPr>
        <p:spPr>
          <a:xfrm>
            <a:off x="535477" y="3768126"/>
            <a:ext cx="8073044" cy="12267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</a:rPr>
              <a:t>“</a:t>
            </a:r>
            <a:r>
              <a:rPr lang="en-US" altLang="zh-CN" sz="2800" b="1" dirty="0">
                <a:solidFill>
                  <a:srgbClr val="C00000"/>
                </a:solidFill>
              </a:rPr>
              <a:t>What</a:t>
            </a:r>
            <a:r>
              <a:rPr lang="zh-CN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I</a:t>
            </a:r>
            <a:r>
              <a:rPr lang="zh-CN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cannot</a:t>
            </a:r>
            <a:r>
              <a:rPr lang="zh-CN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create,</a:t>
            </a:r>
            <a:r>
              <a:rPr lang="zh-CN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I</a:t>
            </a:r>
            <a:r>
              <a:rPr lang="zh-CN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do not understand</a:t>
            </a:r>
            <a:r>
              <a:rPr lang="zh-CN" altLang="en-US" sz="2800" b="1" dirty="0">
                <a:solidFill>
                  <a:srgbClr val="C00000"/>
                </a:solidFill>
              </a:rPr>
              <a:t>” 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>
                <a:solidFill>
                  <a:srgbClr val="C00000"/>
                </a:solidFill>
              </a:rPr>
              <a:t>Richard Feynman </a:t>
            </a:r>
            <a:r>
              <a:rPr lang="en-US" altLang="zh-CN" sz="2400" dirty="0">
                <a:solidFill>
                  <a:srgbClr val="C00000"/>
                </a:solidFill>
              </a:rPr>
              <a:t>(CIT)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89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323FC-A58F-3A48-91BD-DE8FDF58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为什么操作系统比较难</a:t>
            </a:r>
            <a:r>
              <a:rPr kumimoji="1" lang="en-US" altLang="zh-CN" dirty="0"/>
              <a:t>/</a:t>
            </a:r>
            <a:r>
              <a:rPr kumimoji="1" lang="zh-CN" altLang="en-US" dirty="0"/>
              <a:t>有意思？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F1B8F-47CD-E54D-8395-95DBF2895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418389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深入事情本质：直接管理硬件细节</a:t>
            </a:r>
            <a:endParaRPr lang="en-US" altLang="zh-CN" sz="2000" dirty="0"/>
          </a:p>
          <a:p>
            <a:pPr lvl="1"/>
            <a:r>
              <a:rPr lang="zh-CN" altLang="en-US" sz="1600" dirty="0"/>
              <a:t>好处：实现资源的高效利用，从根本上解决问题，做一个高效程序员（降维）</a:t>
            </a:r>
            <a:endParaRPr lang="en-US" altLang="zh-CN" sz="1600" dirty="0"/>
          </a:p>
          <a:p>
            <a:pPr lvl="1"/>
            <a:r>
              <a:rPr lang="zh-CN" altLang="en-US" sz="1600" dirty="0"/>
              <a:t>挑战：需要理解与处理硬件细节，硬件甚至可能出错</a:t>
            </a:r>
            <a:endParaRPr lang="en-US" altLang="zh-CN" sz="1600" dirty="0"/>
          </a:p>
          <a:p>
            <a:pPr lvl="1"/>
            <a:r>
              <a:rPr lang="zh-CN" altLang="en-US" sz="1600" dirty="0"/>
              <a:t>“</a:t>
            </a:r>
            <a:r>
              <a:rPr lang="zh-CN" altLang="en-US" sz="1600" b="1" dirty="0">
                <a:solidFill>
                  <a:schemeClr val="accent1"/>
                </a:solidFill>
              </a:rPr>
              <a:t>把简单带给用户、把复杂留给自己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2"/>
            <a:r>
              <a:rPr lang="zh-CN" altLang="en-US" sz="1400" dirty="0"/>
              <a:t>对比：用户态写一个</a:t>
            </a:r>
            <a:r>
              <a:rPr lang="en-US" altLang="zh-CN" sz="1400" dirty="0"/>
              <a:t>Hello World</a:t>
            </a:r>
            <a:r>
              <a:rPr lang="zh-CN" altLang="en-US" sz="1400" dirty="0"/>
              <a:t>和在操作系统内核中输出一个</a:t>
            </a:r>
            <a:r>
              <a:rPr lang="en-US" altLang="zh-CN" sz="1400" dirty="0"/>
              <a:t>Hello World</a:t>
            </a:r>
          </a:p>
          <a:p>
            <a:pPr lvl="2"/>
            <a:endParaRPr lang="en-US" altLang="zh-CN" sz="1400" dirty="0"/>
          </a:p>
          <a:p>
            <a:r>
              <a:rPr lang="zh-CN" altLang="en-US" sz="2000" dirty="0"/>
              <a:t>锻炼系统架构能力</a:t>
            </a:r>
            <a:endParaRPr lang="en-US" altLang="zh-CN" sz="2000" dirty="0"/>
          </a:p>
          <a:p>
            <a:pPr lvl="1"/>
            <a:r>
              <a:rPr lang="zh-CN" altLang="en-US" sz="1600" dirty="0"/>
              <a:t>将复杂问题进行抽象与化简</a:t>
            </a:r>
            <a:endParaRPr lang="en-US" altLang="zh-CN" sz="1600" dirty="0"/>
          </a:p>
          <a:p>
            <a:pPr lvl="1"/>
            <a:r>
              <a:rPr lang="zh-CN" altLang="en-US" sz="1600" dirty="0"/>
              <a:t>计算机科学中</a:t>
            </a:r>
            <a:r>
              <a:rPr lang="en-US" altLang="zh-CN" sz="1600" b="1" dirty="0">
                <a:solidFill>
                  <a:schemeClr val="accent1"/>
                </a:solidFill>
              </a:rPr>
              <a:t>30%</a:t>
            </a:r>
            <a:r>
              <a:rPr lang="zh-CN" altLang="en-US" sz="1600" dirty="0"/>
              <a:t>的原则是从操作系统中来的</a:t>
            </a:r>
            <a:r>
              <a:rPr lang="en-US" altLang="zh-CN" sz="1600" dirty="0"/>
              <a:t> (13/41, http://</a:t>
            </a:r>
            <a:r>
              <a:rPr lang="en-US" altLang="zh-CN" sz="1600" dirty="0" err="1"/>
              <a:t>greatprinciples.org</a:t>
            </a:r>
            <a:r>
              <a:rPr lang="en-US" altLang="zh-CN" sz="1600" dirty="0"/>
              <a:t>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81CB7-1FC7-AC45-8CCC-66B3350D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99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B7212-F12A-D74A-92BD-E30CFBD4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操作系统的机遇和挑战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7D179-7F37-624E-B49F-315DCC65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400" dirty="0">
                <a:latin typeface="+mn-lt"/>
              </a:rPr>
              <a:t>新的硬件层出不穷</a:t>
            </a:r>
            <a:endParaRPr kumimoji="1" lang="en-US" altLang="zh-CN" sz="2400" dirty="0">
              <a:latin typeface="+mn-lt"/>
            </a:endParaRPr>
          </a:p>
          <a:p>
            <a:pPr lvl="1"/>
            <a:r>
              <a:rPr kumimoji="1" lang="zh-CN" altLang="en-US" sz="2000" dirty="0">
                <a:latin typeface="+mn-lt"/>
              </a:rPr>
              <a:t>硬件种类越来越多：如自动驾驶、无人机、各种</a:t>
            </a:r>
            <a:r>
              <a:rPr kumimoji="1" lang="en-US" altLang="zh-CN" sz="2000" dirty="0">
                <a:latin typeface="+mn-lt"/>
              </a:rPr>
              <a:t>IoT</a:t>
            </a:r>
            <a:r>
              <a:rPr kumimoji="1" lang="zh-CN" altLang="en-US" sz="2000" dirty="0">
                <a:latin typeface="+mn-lt"/>
              </a:rPr>
              <a:t>设备等</a:t>
            </a:r>
            <a:endParaRPr kumimoji="1" lang="en-US" altLang="zh-CN" sz="2000" dirty="0">
              <a:latin typeface="+mn-lt"/>
            </a:endParaRPr>
          </a:p>
          <a:p>
            <a:pPr lvl="1"/>
            <a:r>
              <a:rPr kumimoji="1" lang="zh-CN" altLang="en-US" sz="2000" dirty="0">
                <a:latin typeface="+mn-lt"/>
              </a:rPr>
              <a:t>硬件互联越来越复杂：如</a:t>
            </a:r>
            <a:r>
              <a:rPr kumimoji="1" lang="en-US" altLang="zh-CN" sz="2000" dirty="0" err="1">
                <a:latin typeface="+mn-lt"/>
              </a:rPr>
              <a:t>AirDrop</a:t>
            </a:r>
            <a:r>
              <a:rPr kumimoji="1" lang="zh-CN" altLang="en-US" sz="2000" dirty="0">
                <a:latin typeface="+mn-lt"/>
              </a:rPr>
              <a:t>、摄像头和驾驶系统等</a:t>
            </a:r>
            <a:endParaRPr kumimoji="1" lang="en-US" altLang="zh-CN" sz="2000" dirty="0">
              <a:latin typeface="+mn-lt"/>
            </a:endParaRPr>
          </a:p>
          <a:p>
            <a:pPr lvl="1"/>
            <a:endParaRPr kumimoji="1" lang="en-US" altLang="zh-CN" sz="2000" dirty="0">
              <a:latin typeface="+mn-lt"/>
            </a:endParaRPr>
          </a:p>
          <a:p>
            <a:r>
              <a:rPr kumimoji="1" lang="zh-CN" altLang="en-US" sz="2400" dirty="0">
                <a:latin typeface="+mn-lt"/>
              </a:rPr>
              <a:t>应用需求日新月异</a:t>
            </a:r>
            <a:endParaRPr kumimoji="1" lang="en-US" altLang="zh-CN" sz="2400" dirty="0">
              <a:latin typeface="+mn-lt"/>
            </a:endParaRPr>
          </a:p>
          <a:p>
            <a:pPr lvl="1"/>
            <a:r>
              <a:rPr kumimoji="1" lang="zh-CN" altLang="en-US" sz="2000" dirty="0">
                <a:latin typeface="+mn-lt"/>
              </a:rPr>
              <a:t>对时延的要求越来越苛刻，如自动驾驶系统</a:t>
            </a:r>
            <a:endParaRPr kumimoji="1" lang="en-US" altLang="zh-CN" sz="2000" dirty="0">
              <a:latin typeface="+mn-lt"/>
            </a:endParaRPr>
          </a:p>
          <a:p>
            <a:pPr lvl="1"/>
            <a:r>
              <a:rPr kumimoji="1" lang="zh-CN" altLang="en-US" sz="2000" dirty="0">
                <a:latin typeface="+mn-lt"/>
              </a:rPr>
              <a:t>对资源利用率要求越来越高，如数据中心混部</a:t>
            </a:r>
            <a:endParaRPr kumimoji="1" lang="en-US" altLang="zh-CN" sz="2000" dirty="0">
              <a:latin typeface="+mn-lt"/>
            </a:endParaRPr>
          </a:p>
          <a:p>
            <a:pPr lvl="1"/>
            <a:endParaRPr kumimoji="1" lang="en-US" altLang="zh-CN" sz="2000" dirty="0">
              <a:latin typeface="+mn-lt"/>
            </a:endParaRPr>
          </a:p>
          <a:p>
            <a:r>
              <a:rPr kumimoji="1" lang="zh-CN" altLang="en-US" sz="2400" dirty="0">
                <a:solidFill>
                  <a:schemeClr val="accent1"/>
                </a:solidFill>
                <a:latin typeface="+mn-lt"/>
              </a:rPr>
              <a:t>新的硬件和应用呼唤新的抽象和管理</a:t>
            </a:r>
            <a:r>
              <a:rPr kumimoji="1" lang="en-US" altLang="zh-CN" sz="2400" dirty="0">
                <a:solidFill>
                  <a:schemeClr val="accent1"/>
                </a:solidFill>
                <a:latin typeface="+mn-lt"/>
              </a:rPr>
              <a:t>——</a:t>
            </a:r>
            <a:r>
              <a:rPr kumimoji="1" lang="zh-CN" altLang="en-US" sz="2400" dirty="0">
                <a:solidFill>
                  <a:schemeClr val="accent1"/>
                </a:solidFill>
                <a:latin typeface="+mn-lt"/>
              </a:rPr>
              <a:t>新的操作系统</a:t>
            </a:r>
            <a:endParaRPr kumimoji="1" lang="en-US" altLang="zh-CN" sz="2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88E478-06E9-5246-A637-C9DCE4E6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52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27CE5-1235-404D-8FC6-D7F6B560A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583" y="1345332"/>
            <a:ext cx="5440607" cy="3572702"/>
          </a:xfrm>
        </p:spPr>
        <p:txBody>
          <a:bodyPr>
            <a:normAutofit fontScale="62500" lnSpcReduction="20000"/>
          </a:bodyPr>
          <a:lstStyle/>
          <a:p>
            <a:r>
              <a:rPr kumimoji="1" lang="zh-CN" altLang="en-US" dirty="0"/>
              <a:t>计算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zh-CN" altLang="en-US" b="0" dirty="0"/>
              <a:t>从通用计算走向领域计算，各种</a:t>
            </a:r>
            <a:r>
              <a:rPr kumimoji="1" lang="en-US" altLang="zh-CN" b="0" dirty="0" err="1"/>
              <a:t>xPU</a:t>
            </a:r>
            <a:r>
              <a:rPr kumimoji="1" lang="zh-CN" altLang="en-US" b="0" dirty="0"/>
              <a:t>不断繁荣</a:t>
            </a:r>
            <a:endParaRPr kumimoji="1" lang="en-US" altLang="zh-CN" b="0" dirty="0"/>
          </a:p>
          <a:p>
            <a:pPr lvl="1"/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TPU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NPU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IPU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等支撑人工智能算力需求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/>
              <a:t>存储：</a:t>
            </a:r>
            <a:r>
              <a:rPr kumimoji="1" lang="zh-CN" altLang="en-US" b="0" dirty="0"/>
              <a:t>智能存储，存算一体，非易失内存（</a:t>
            </a:r>
            <a:r>
              <a:rPr kumimoji="1" lang="en-US" altLang="zh-CN" b="0" dirty="0"/>
              <a:t>SCM</a:t>
            </a:r>
            <a:r>
              <a:rPr kumimoji="1" lang="zh-CN" altLang="en-US" b="0" dirty="0"/>
              <a:t>），内存与持久存储走向融合</a:t>
            </a:r>
            <a:endParaRPr kumimoji="1" lang="en-US" altLang="zh-CN" b="0" dirty="0"/>
          </a:p>
          <a:p>
            <a:pPr lvl="1"/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0" dirty="0"/>
              <a:t>数据中心</a:t>
            </a:r>
            <a:r>
              <a:rPr kumimoji="1" lang="zh-CN" altLang="en-US" dirty="0"/>
              <a:t>网络</a:t>
            </a:r>
            <a:r>
              <a:rPr kumimoji="1" lang="zh-CN" altLang="en-US" b="0" dirty="0"/>
              <a:t>：</a:t>
            </a:r>
            <a:r>
              <a:rPr kumimoji="1" lang="en-US" altLang="zh-CN" b="0" dirty="0" err="1"/>
              <a:t>Infiniband</a:t>
            </a:r>
            <a:r>
              <a:rPr kumimoji="1" lang="zh-CN" altLang="en-US" b="0" dirty="0"/>
              <a:t>等网络走向</a:t>
            </a:r>
            <a:r>
              <a:rPr kumimoji="1" lang="zh-CN" altLang="en-US" dirty="0"/>
              <a:t>纳秒级</a:t>
            </a:r>
            <a:r>
              <a:rPr kumimoji="1" lang="zh-CN" altLang="en-US" b="0" dirty="0"/>
              <a:t>时延</a:t>
            </a:r>
            <a:endParaRPr kumimoji="1" lang="en-US" altLang="zh-CN" b="0" dirty="0"/>
          </a:p>
          <a:p>
            <a:pPr lvl="1"/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0" dirty="0"/>
              <a:t>广域</a:t>
            </a:r>
            <a:r>
              <a:rPr kumimoji="1" lang="zh-CN" altLang="en-US" dirty="0"/>
              <a:t>网络</a:t>
            </a:r>
            <a:r>
              <a:rPr kumimoji="1" lang="zh-CN" altLang="en-US" b="0" dirty="0"/>
              <a:t>：</a:t>
            </a:r>
            <a:r>
              <a:rPr kumimoji="1" lang="en-US" altLang="zh-CN" b="0" dirty="0"/>
              <a:t>5G</a:t>
            </a:r>
            <a:r>
              <a:rPr kumimoji="1" lang="zh-CN" altLang="en-US" b="0" dirty="0"/>
              <a:t>大连接、</a:t>
            </a:r>
            <a:r>
              <a:rPr kumimoji="1" lang="zh-CN" altLang="en-US" dirty="0"/>
              <a:t>低时延</a:t>
            </a:r>
            <a:r>
              <a:rPr kumimoji="1" lang="zh-CN" altLang="en-US" b="0" dirty="0"/>
              <a:t>、高可靠使能新型高吞吐、低时延广域计算</a:t>
            </a:r>
            <a:endParaRPr kumimoji="1" lang="en-US" altLang="zh-CN" b="0" dirty="0"/>
          </a:p>
          <a:p>
            <a:pPr marL="0" indent="0">
              <a:buNone/>
            </a:pPr>
            <a:endParaRPr kumimoji="1" lang="en-US" altLang="zh-CN" b="0" dirty="0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17202F9B-6A59-D242-AA6E-5595BBA4AF53}"/>
              </a:ext>
            </a:extLst>
          </p:cNvPr>
          <p:cNvSpPr txBox="1"/>
          <p:nvPr/>
        </p:nvSpPr>
        <p:spPr>
          <a:xfrm>
            <a:off x="6989762" y="2061617"/>
            <a:ext cx="138548" cy="3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9196">
              <a:defRPr/>
            </a:pPr>
            <a:endParaRPr lang="en-US" sz="1731" dirty="0">
              <a:solidFill>
                <a:srgbClr val="000000"/>
              </a:solidFill>
              <a:latin typeface="Times New Roman"/>
              <a:ea typeface="Microsoft YaHei"/>
            </a:endParaRPr>
          </a:p>
        </p:txBody>
      </p:sp>
      <p:sp>
        <p:nvSpPr>
          <p:cNvPr id="6" name="TextBox 51">
            <a:extLst>
              <a:ext uri="{FF2B5EF4-FFF2-40B4-BE49-F238E27FC236}">
                <a16:creationId xmlns:a16="http://schemas.microsoft.com/office/drawing/2014/main" id="{006D9D63-34B6-F845-A6FC-152240DA46F4}"/>
              </a:ext>
            </a:extLst>
          </p:cNvPr>
          <p:cNvSpPr txBox="1"/>
          <p:nvPr/>
        </p:nvSpPr>
        <p:spPr>
          <a:xfrm>
            <a:off x="6989762" y="2061617"/>
            <a:ext cx="138548" cy="3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9196">
              <a:defRPr/>
            </a:pPr>
            <a:endParaRPr lang="en-US" sz="1731" dirty="0">
              <a:solidFill>
                <a:srgbClr val="000000"/>
              </a:solidFill>
              <a:latin typeface="Times New Roman"/>
              <a:ea typeface="Microsoft YaHei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113018F-5B48-6E49-8AA9-57618839C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518" y="1345332"/>
            <a:ext cx="2703282" cy="3018935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DDE74CD4-DFD8-124D-8ADC-3FB24F04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硬件在新应用需求下迅猛发展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FBF736-8EE8-CF42-B77E-3BD35CCEB753}"/>
              </a:ext>
            </a:extLst>
          </p:cNvPr>
          <p:cNvSpPr/>
          <p:nvPr/>
        </p:nvSpPr>
        <p:spPr bwMode="auto">
          <a:xfrm>
            <a:off x="201393" y="4539352"/>
            <a:ext cx="8741213" cy="9004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9400" tIns="29700" rIns="59400" bIns="297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79196">
              <a:defRPr/>
            </a:pPr>
            <a:r>
              <a:rPr kumimoji="1" lang="zh-CN" altLang="en-US" sz="240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新型硬件的发展，需要新的操作系统抽象与设计来充分释放算力</a:t>
            </a:r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59D453A-E7EB-4B45-8430-AE35D581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87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D149A8-9973-8543-A77F-3AE34E74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结构的重要性</a:t>
            </a:r>
            <a:endParaRPr kumimoji="1" lang="en-US" altLang="zh-CN" sz="2400" dirty="0"/>
          </a:p>
          <a:p>
            <a:r>
              <a:rPr kumimoji="1" lang="zh-CN" altLang="en-US" sz="2400" dirty="0"/>
              <a:t>宏内核</a:t>
            </a:r>
            <a:endParaRPr kumimoji="1" lang="en-US" altLang="zh-CN" sz="2400" dirty="0"/>
          </a:p>
          <a:p>
            <a:r>
              <a:rPr kumimoji="1" lang="zh-CN" altLang="en-US" sz="2400" dirty="0"/>
              <a:t>微内核</a:t>
            </a:r>
            <a:endParaRPr kumimoji="1" lang="en-US" altLang="zh-CN" sz="2400" dirty="0"/>
          </a:p>
          <a:p>
            <a:r>
              <a:rPr kumimoji="1" lang="zh-CN" altLang="en-US" sz="2400" dirty="0"/>
              <a:t>外核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库</a:t>
            </a:r>
            <a:r>
              <a:rPr kumimoji="1" lang="en-US" altLang="zh-CN" sz="2400" dirty="0"/>
              <a:t>OS</a:t>
            </a:r>
          </a:p>
          <a:p>
            <a:r>
              <a:rPr kumimoji="1" lang="zh-CN" altLang="en-US" sz="2400" dirty="0"/>
              <a:t>多内核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复内核</a:t>
            </a:r>
            <a:endParaRPr kumimoji="1" lang="en-US" altLang="zh-CN" sz="2400" dirty="0"/>
          </a:p>
          <a:p>
            <a:r>
              <a:rPr kumimoji="1" lang="zh-CN" altLang="en-US" sz="2400" dirty="0"/>
              <a:t>不同架构的对比</a:t>
            </a:r>
            <a:endParaRPr kumimoji="1" lang="en-US" altLang="zh-CN" sz="2400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B5A8429-BCF6-164C-98F4-27E970C4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58659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结构的重要性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49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6B8DC4C-1698-BE42-B56F-B6FF425F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77A20E-7A0C-1F45-AAF6-0A09FCC31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5FADA-39C6-9249-898E-4BA1DFA0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3EC051-4FAE-5544-B655-3C8972FE41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90500"/>
            <a:ext cx="9216516" cy="61443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F6E6399-5574-3F4C-AF09-F6B7D92D8C3D}"/>
              </a:ext>
            </a:extLst>
          </p:cNvPr>
          <p:cNvSpPr/>
          <p:nvPr/>
        </p:nvSpPr>
        <p:spPr>
          <a:xfrm>
            <a:off x="3203848" y="2881672"/>
            <a:ext cx="5940152" cy="26979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瓦萨沉船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1626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年到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1628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年间，瑞典国王下令建造的一艘军舰，由于追求极致的续航力、容量、火力及防护力，整船被建成不合乎物理常规地高大笨重，再加上在建造时没有填入足够的压舱物，瓦萨号即便在港口停靠时也不能依靠自身保持平衡。尽管有着严重的结构缺陷，瓦萨号依然被允许起航：不出所料的是，在出海航行不到几分钟后，瓦萨号便被一阵微风吹倒，继而全船倾覆。</a:t>
            </a:r>
          </a:p>
        </p:txBody>
      </p:sp>
    </p:spTree>
    <p:extLst>
      <p:ext uri="{BB962C8B-B14F-4D97-AF65-F5344CB8AC3E}">
        <p14:creationId xmlns:p14="http://schemas.microsoft.com/office/powerpoint/2010/main" val="1429511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D361F-62D0-2144-95EE-E157CA91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操作系统复杂性与结构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A9AC1-30CA-6D4B-9D3E-0D7E5C772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操作系统中的</a:t>
            </a:r>
            <a:r>
              <a:rPr kumimoji="1" lang="en-US" altLang="zh-CN" sz="2400" dirty="0"/>
              <a:t>"</a:t>
            </a:r>
            <a:r>
              <a:rPr kumimoji="1" lang="zh-CN" altLang="en-US" sz="2400" dirty="0"/>
              <a:t>瓦萨号</a:t>
            </a:r>
            <a:r>
              <a:rPr kumimoji="1" lang="en-US" altLang="zh-CN" sz="2400" dirty="0"/>
              <a:t>"</a:t>
            </a:r>
          </a:p>
          <a:p>
            <a:pPr lvl="1"/>
            <a:r>
              <a:rPr kumimoji="1" lang="en-US" altLang="zh-CN" sz="2000" dirty="0"/>
              <a:t>1991-1995</a:t>
            </a:r>
            <a:r>
              <a:rPr kumimoji="1" lang="zh-CN" altLang="en-US" sz="2000" dirty="0"/>
              <a:t>年，</a:t>
            </a:r>
            <a:r>
              <a:rPr kumimoji="1" lang="en-US" altLang="zh-CN" sz="2000" dirty="0"/>
              <a:t>IBM</a:t>
            </a:r>
            <a:r>
              <a:rPr kumimoji="1" lang="zh-CN" altLang="en-US" sz="2000" dirty="0"/>
              <a:t>投入</a:t>
            </a:r>
            <a:r>
              <a:rPr kumimoji="1" lang="en-US" altLang="zh-CN" sz="2000" dirty="0"/>
              <a:t>20</a:t>
            </a:r>
            <a:r>
              <a:rPr kumimoji="1" lang="zh-CN" altLang="en-US" sz="2000" dirty="0"/>
              <a:t>亿美元打造</a:t>
            </a:r>
            <a:r>
              <a:rPr kumimoji="1" lang="en-US" altLang="zh-CN" sz="2000"/>
              <a:t>Workplace</a:t>
            </a:r>
            <a:r>
              <a:rPr kumimoji="1" lang="zh-CN" altLang="en-US" sz="2000"/>
              <a:t>操作系统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目标过于宏伟，系统过于复杂，导致项目失败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间接导致</a:t>
            </a:r>
            <a:r>
              <a:rPr kumimoji="1" lang="en-US" altLang="zh-CN" sz="2000" dirty="0"/>
              <a:t>IBM</a:t>
            </a:r>
            <a:r>
              <a:rPr kumimoji="1" lang="zh-CN" altLang="en-US" sz="2000" dirty="0"/>
              <a:t>全力投入扶植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操作系统</a:t>
            </a:r>
          </a:p>
          <a:p>
            <a:r>
              <a:rPr kumimoji="1" lang="zh-CN" altLang="en-US" sz="2400" dirty="0"/>
              <a:t>复杂系统的构建必须考虑其内部结构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不同目标之间往往存在冲突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不同需求之间需要进行权衡</a:t>
            </a:r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27FF43-403C-6045-85A1-3096FCC8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BA7DD-3B72-F34E-8D03-9C423011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操作系统的目标并不一致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411D63-06F8-4348-B42A-42B79893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/>
          <a:lstStyle/>
          <a:p>
            <a:r>
              <a:rPr kumimoji="1" lang="zh-CN" altLang="en-US" dirty="0"/>
              <a:t>用户目标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方便使用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容易学习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功能齐全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安全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流畅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7942B-ACE7-A74D-B45A-9C077079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B8C0B12-AF68-7E49-B13B-E98CF547D54B}"/>
              </a:ext>
            </a:extLst>
          </p:cNvPr>
          <p:cNvSpPr txBox="1">
            <a:spLocks/>
          </p:cNvSpPr>
          <p:nvPr/>
        </p:nvSpPr>
        <p:spPr>
          <a:xfrm>
            <a:off x="4572000" y="1327317"/>
            <a:ext cx="41148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系统目标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容易设计、实现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容易维护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灵活性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可靠性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高效性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972786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1F518-7C0B-C047-9547-35E3F1E8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降低操作系统复杂性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5B23DC-E1C3-3D45-AC48-7C6C37F08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重要设计原则：策略与机制的分离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策略（</a:t>
            </a:r>
            <a:r>
              <a:rPr kumimoji="1" lang="en-US" altLang="zh-CN" sz="2000" dirty="0"/>
              <a:t>Policy</a:t>
            </a:r>
            <a:r>
              <a:rPr kumimoji="1" lang="zh-CN" altLang="en-US" sz="2000" dirty="0"/>
              <a:t>）：要做什么 </a:t>
            </a:r>
            <a:r>
              <a:rPr kumimoji="1" lang="en-US" altLang="zh-CN" sz="2000" dirty="0"/>
              <a:t>——</a:t>
            </a:r>
            <a:r>
              <a:rPr kumimoji="1" lang="zh-CN" altLang="en-US" sz="2000" dirty="0"/>
              <a:t> 相对动态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机制（</a:t>
            </a:r>
            <a:r>
              <a:rPr kumimoji="1" lang="en-US" altLang="zh-CN" sz="2000" dirty="0"/>
              <a:t>Mechanism</a:t>
            </a:r>
            <a:r>
              <a:rPr kumimoji="1" lang="zh-CN" altLang="en-US" sz="2000" dirty="0"/>
              <a:t>）：该怎么做 </a:t>
            </a:r>
            <a:r>
              <a:rPr kumimoji="1" lang="en-US" altLang="zh-CN" sz="2000" dirty="0"/>
              <a:t>——</a:t>
            </a:r>
            <a:r>
              <a:rPr kumimoji="1" lang="zh-CN" altLang="en-US" sz="2000" dirty="0"/>
              <a:t> 相对静态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highlight>
                  <a:srgbClr val="FFFF00"/>
                </a:highlight>
              </a:rPr>
              <a:t>操作系统可仅通过调整策略来适应不同应用的需求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61DFC-38A3-9E41-BC24-4B925E2C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501EA1-CCB1-C44D-B79F-8F20F28907C3}"/>
              </a:ext>
            </a:extLst>
          </p:cNvPr>
          <p:cNvGraphicFramePr>
            <a:graphicFrameLocks noGrp="1"/>
          </p:cNvGraphicFramePr>
          <p:nvPr/>
        </p:nvGraphicFramePr>
        <p:xfrm>
          <a:off x="863587" y="3319844"/>
          <a:ext cx="7416825" cy="212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927898969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499159156"/>
                    </a:ext>
                  </a:extLst>
                </a:gridCol>
                <a:gridCol w="3240361">
                  <a:extLst>
                    <a:ext uri="{9D8B030D-6E8A-4147-A177-3AD203B41FA5}">
                      <a16:colId xmlns:a16="http://schemas.microsoft.com/office/drawing/2014/main" val="1431793350"/>
                    </a:ext>
                  </a:extLst>
                </a:gridCol>
              </a:tblGrid>
              <a:tr h="4538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机制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214914"/>
                  </a:ext>
                </a:extLst>
              </a:tr>
              <a:tr h="8347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登录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什么用户、以什么权限登录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输入处理、策略文件管理、桌面启动加载 </a:t>
                      </a:r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443459"/>
                  </a:ext>
                </a:extLst>
              </a:tr>
              <a:tr h="8347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调度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调度算法：</a:t>
                      </a:r>
                      <a:r>
                        <a:rPr lang="en-US" altLang="zh-CN" dirty="0"/>
                        <a:t>Round-robin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Earliest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Deadline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First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dirty="0"/>
                        <a:t>调度队列、调度实体（如线程）的表示、调度中断处理 </a:t>
                      </a:r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9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47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4D0FE-AC4B-9F4F-9799-8172787D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操作系统的架构及演进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F4D826-58B4-E543-B5CB-A3665D5A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586F7B-4425-F946-9041-B56E8201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518"/>
            <a:ext cx="9144000" cy="394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6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宏内核（</a:t>
            </a:r>
            <a:r>
              <a:rPr kumimoji="1" lang="en-US" altLang="zh-CN" dirty="0"/>
              <a:t>Monolithic-</a:t>
            </a:r>
            <a:r>
              <a:rPr kumimoji="1" lang="en-US" altLang="zh-CN" dirty="0" err="1"/>
              <a:t>KerneL</a:t>
            </a:r>
            <a:r>
              <a:rPr kumimoji="1" lang="zh-CN" altLang="en-US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1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9FD10-DBF5-1A42-998E-5469C677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宏内核（</a:t>
            </a:r>
            <a:r>
              <a:rPr kumimoji="1" lang="en-US" altLang="zh-CN" dirty="0"/>
              <a:t>Monolithic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82E858-4D97-A141-B503-434CF267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整个系统分为内核与应用两层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内核：运行在特权级，集中控制所有计算资源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应用：运行在非特权级，受内核管理，使用内核服务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C26B2-598A-1449-9AD9-C72BF17F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D6C0750-2241-5241-A719-A32BFD2777E5}"/>
              </a:ext>
            </a:extLst>
          </p:cNvPr>
          <p:cNvGrpSpPr>
            <a:grpSpLocks/>
          </p:cNvGrpSpPr>
          <p:nvPr/>
        </p:nvGrpSpPr>
        <p:grpSpPr bwMode="auto">
          <a:xfrm>
            <a:off x="3347864" y="3219319"/>
            <a:ext cx="2448272" cy="2210761"/>
            <a:chOff x="2936294" y="4217778"/>
            <a:chExt cx="2683038" cy="2368323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E9AC587B-F43D-E342-8120-9C78E07AC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6294" y="4217778"/>
              <a:ext cx="2683038" cy="2368323"/>
              <a:chOff x="2585006" y="2562157"/>
              <a:chExt cx="3657166" cy="4092829"/>
            </a:xfrm>
          </p:grpSpPr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23C7378F-FC8A-DD46-9C9E-1BC2DE8D15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5006" y="2562157"/>
                <a:ext cx="1685925" cy="62677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sm" len="sm"/>
                <a:tailEnd type="none" w="sm" len="sm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defPPr>
                  <a:defRPr lang="zh-CN"/>
                </a:defPPr>
                <a:lvl1pPr algn="ctr" eaLnBrk="0" fontAlgn="auto" hangingPunct="0">
                  <a:spcBef>
                    <a:spcPts val="0"/>
                  </a:spcBef>
                  <a:spcAft>
                    <a:spcPts val="0"/>
                  </a:spcAft>
                  <a:defRPr>
                    <a:solidFill>
                      <a:schemeClr val="bg1"/>
                    </a:solidFill>
                    <a:latin typeface="Arial Narrow" pitchFamily="32" charset="0"/>
                  </a:defRPr>
                </a:lvl1pPr>
              </a:lstStyle>
              <a:p>
                <a:r>
                  <a: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用户进程</a:t>
                </a:r>
                <a:endParaRPr lang="en-US" altLang="ko-KR" sz="1600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C125F82E-2BAF-FB48-97BF-7CFA4291F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5006" y="4227791"/>
                <a:ext cx="3657165" cy="24271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sm" len="sm"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内核</a:t>
                </a:r>
                <a:br>
                  <a:rPr lang="en-US" altLang="zh-CN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</a:br>
                <a:r>
                  <a:rPr lang="zh-CN" altLang="en-US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（整合了文件系统、内存</a:t>
                </a:r>
                <a:br>
                  <a:rPr lang="en-US" altLang="zh-CN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</a:br>
                <a:r>
                  <a:rPr lang="zh-CN" altLang="en-US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管理、设备驱动、进程</a:t>
                </a:r>
                <a:br>
                  <a:rPr lang="en-US" altLang="zh-CN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</a:br>
                <a:r>
                  <a:rPr lang="zh-CN" altLang="en-US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调度、同步原语、</a:t>
                </a:r>
                <a:r>
                  <a:rPr lang="en-US" altLang="zh-CN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IPC</a:t>
                </a:r>
                <a:r>
                  <a:rPr lang="zh-CN" altLang="en-US" sz="1600" dirty="0">
                    <a:solidFill>
                      <a:srgbClr val="FFFFFF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等）</a:t>
                </a:r>
                <a:endParaRPr lang="en-US" altLang="ko-KR" sz="1600" dirty="0">
                  <a:solidFill>
                    <a:srgbClr val="FFFFFF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0947D709-9F2B-9240-8C72-8E30E014F5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6247" y="2562157"/>
                <a:ext cx="1685925" cy="62677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sm" len="sm"/>
                <a:tailEnd type="none" w="sm" len="sm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用户进程</a:t>
                </a:r>
                <a:endParaRPr lang="en-US" altLang="ko-KR" sz="16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2" name="AutoShape 15">
                <a:extLst>
                  <a:ext uri="{FF2B5EF4-FFF2-40B4-BE49-F238E27FC236}">
                    <a16:creationId xmlns:a16="http://schemas.microsoft.com/office/drawing/2014/main" id="{C6B022C8-F374-4547-9FB5-733DD043D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6535" y="3188927"/>
                <a:ext cx="485775" cy="941665"/>
              </a:xfrm>
              <a:prstGeom prst="upDownArrow">
                <a:avLst>
                  <a:gd name="adj1" fmla="val 50000"/>
                  <a:gd name="adj2" fmla="val 2372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 sz="1600">
                  <a:latin typeface="等线" panose="02010600030101010101" pitchFamily="2" charset="-122"/>
                  <a:ea typeface="휴먼매직체" charset="0"/>
                  <a:cs typeface="휴먼매직체" charset="0"/>
                </a:endParaRPr>
              </a:p>
            </p:txBody>
          </p:sp>
          <p:sp>
            <p:nvSpPr>
              <p:cNvPr id="13" name="AutoShape 14">
                <a:extLst>
                  <a:ext uri="{FF2B5EF4-FFF2-40B4-BE49-F238E27FC236}">
                    <a16:creationId xmlns:a16="http://schemas.microsoft.com/office/drawing/2014/main" id="{CA5985F4-7AAC-A641-8438-FD9FFB4C2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0388" y="3216543"/>
                <a:ext cx="485775" cy="941665"/>
              </a:xfrm>
              <a:prstGeom prst="upDownArrow">
                <a:avLst>
                  <a:gd name="adj1" fmla="val 50000"/>
                  <a:gd name="adj2" fmla="val 2372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 sz="1600">
                  <a:latin typeface="等线" panose="02010600030101010101" pitchFamily="2" charset="-122"/>
                  <a:ea typeface="휴먼매직체" charset="0"/>
                  <a:cs typeface="휴먼매직체" charset="0"/>
                </a:endParaRPr>
              </a:p>
            </p:txBody>
          </p:sp>
        </p:grp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C3ED15A7-41A9-C143-A85B-71D761518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963" y="4682270"/>
              <a:ext cx="1499345" cy="362683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dirty="0">
                  <a:solidFill>
                    <a:srgbClr val="170D0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Arial Narrow"/>
                </a:rPr>
                <a:t>系统调用</a:t>
              </a:r>
              <a:endParaRPr lang="en-US" altLang="ko-KR" sz="1600" dirty="0">
                <a:solidFill>
                  <a:srgbClr val="170D0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 Narro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678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53F4C-5D88-0D4E-A116-E789782A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5C0E6-3D91-7949-9D58-354D1974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宏内核拥有丰富的沉淀和积累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拥有巨大的统一的社区和生态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针对不同场景优化了</a:t>
            </a:r>
            <a:r>
              <a:rPr kumimoji="1" lang="en-US" altLang="zh-CN" sz="2000" dirty="0"/>
              <a:t>30</a:t>
            </a:r>
            <a:r>
              <a:rPr kumimoji="1" lang="zh-CN" altLang="en-US" sz="2000" dirty="0"/>
              <a:t>年</a:t>
            </a:r>
            <a:endParaRPr kumimoji="1" lang="en-US" altLang="zh-CN" sz="2000" dirty="0"/>
          </a:p>
          <a:p>
            <a:r>
              <a:rPr kumimoji="1" lang="zh-CN" altLang="en-US" sz="2400" dirty="0"/>
              <a:t>宏内核的结构性缺陷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安全性与可靠性问题：模块之间没有很强的隔离机制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实时性支持：系统太复杂导致无法做最坏情况时延分析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系统过于庞大而阻碍了创新：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代码行数已经过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千万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974DA-52FA-2740-B232-E074250F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5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A4BAE-49D4-9849-973D-39D17043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宏内核难以满足的场景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AC304-5764-1E45-8B48-71D90EA69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sz="2200" dirty="0"/>
              <a:t>向上向下的扩展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很难去剪裁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扩展一个宏内核系统支持从</a:t>
            </a:r>
            <a:r>
              <a:rPr kumimoji="1" lang="en-US" altLang="zh-CN" sz="2000" dirty="0"/>
              <a:t>KB</a:t>
            </a:r>
            <a:r>
              <a:rPr kumimoji="1" lang="zh-CN" altLang="en-US" sz="2000" dirty="0"/>
              <a:t>级别到</a:t>
            </a:r>
            <a:r>
              <a:rPr kumimoji="1" lang="en-US" altLang="zh-CN" sz="2000" dirty="0"/>
              <a:t>TB</a:t>
            </a:r>
            <a:r>
              <a:rPr kumimoji="1" lang="zh-CN" altLang="en-US" sz="2000" dirty="0"/>
              <a:t>级别的场景</a:t>
            </a:r>
            <a:endParaRPr kumimoji="1" lang="en-US" altLang="zh-CN" sz="2000" dirty="0"/>
          </a:p>
          <a:p>
            <a:r>
              <a:rPr kumimoji="1" lang="zh-CN" altLang="en-US" sz="2200" dirty="0"/>
              <a:t>硬件异构性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很难长期支持一些定制化的方式去解决一些特定问题</a:t>
            </a:r>
            <a:endParaRPr kumimoji="1" lang="en-US" altLang="zh-CN" sz="2000" dirty="0"/>
          </a:p>
          <a:p>
            <a:r>
              <a:rPr kumimoji="1" lang="zh-CN" altLang="en-US" sz="2200" dirty="0"/>
              <a:t>功能安全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一个广泛共识：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无法通过汽车安全完整性认证（</a:t>
            </a:r>
            <a:r>
              <a:rPr kumimoji="1" lang="en-US" altLang="zh-CN" sz="2000" dirty="0"/>
              <a:t>ASIL-D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r>
              <a:rPr kumimoji="1" lang="zh-CN" altLang="en-US" sz="2200" dirty="0"/>
              <a:t>信息安全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单点错误会导致整个系统出错，而现在有数百个安全问题（</a:t>
            </a:r>
            <a:r>
              <a:rPr kumimoji="1" lang="en-US" altLang="zh-CN" sz="2000" dirty="0"/>
              <a:t>CVE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r>
              <a:rPr kumimoji="1" lang="zh-CN" altLang="en-US" sz="2200" dirty="0"/>
              <a:t>确定性时延</a:t>
            </a:r>
            <a:endParaRPr kumimoji="1" lang="en-US" altLang="zh-CN" sz="2200" dirty="0"/>
          </a:p>
          <a:p>
            <a:pPr lvl="1"/>
            <a:r>
              <a:rPr kumimoji="1" lang="en-US" altLang="zh-CN" sz="2000" dirty="0"/>
              <a:t>Linux</a:t>
            </a:r>
            <a:r>
              <a:rPr kumimoji="1" lang="zh-CN" altLang="en-US" sz="2000" dirty="0"/>
              <a:t>花费</a:t>
            </a:r>
            <a:r>
              <a:rPr kumimoji="1" lang="en-US" altLang="zh-CN" sz="2000" dirty="0"/>
              <a:t>10+</a:t>
            </a:r>
            <a:r>
              <a:rPr kumimoji="1" lang="zh-CN" altLang="en-US" sz="2000" dirty="0"/>
              <a:t>年合并实时补丁，目前依然不确定是否能支持确定性时延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A388F7-018B-5B40-B9DB-882F594E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055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微内核（</a:t>
            </a:r>
            <a:r>
              <a:rPr kumimoji="1" lang="en-US" altLang="zh-CN" dirty="0"/>
              <a:t>Micro-Kernel</a:t>
            </a:r>
            <a:r>
              <a:rPr kumimoji="1" lang="zh-CN" altLang="en-US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61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7D507-088D-074C-8092-C8A15312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7F5600-7BCF-5C46-9762-CE435E8E2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设计原则：最小化内核功能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将操作系统功能移到用户态，称为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服务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Server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在用户模块之间，使用消息传递机制通信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B2BE5-BD51-A04C-BD1B-AD727AE4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741507C-3392-4D48-9EBF-DA84998D1DD9}"/>
              </a:ext>
            </a:extLst>
          </p:cNvPr>
          <p:cNvGrpSpPr/>
          <p:nvPr/>
        </p:nvGrpSpPr>
        <p:grpSpPr>
          <a:xfrm>
            <a:off x="2771800" y="2859317"/>
            <a:ext cx="2952328" cy="2638454"/>
            <a:chOff x="2699792" y="2958104"/>
            <a:chExt cx="2952328" cy="263845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8F8275-5185-904C-BDC6-CF860B54B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99792" y="2958104"/>
              <a:ext cx="2808312" cy="263845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218210D-92EF-F747-AF05-CD94780B997F}"/>
                </a:ext>
              </a:extLst>
            </p:cNvPr>
            <p:cNvSpPr/>
            <p:nvPr/>
          </p:nvSpPr>
          <p:spPr>
            <a:xfrm>
              <a:off x="5364088" y="4729708"/>
              <a:ext cx="288032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6006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82CE3-40B1-CF4A-9E18-64DB4729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例：文件的创建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280FFC-DC1F-8042-93C5-C3B7AE51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9E1E810-295D-7A4B-9EC3-1187E57D4858}"/>
              </a:ext>
            </a:extLst>
          </p:cNvPr>
          <p:cNvSpPr/>
          <p:nvPr/>
        </p:nvSpPr>
        <p:spPr>
          <a:xfrm>
            <a:off x="1472529" y="1488668"/>
            <a:ext cx="1584176" cy="504056"/>
          </a:xfrm>
          <a:prstGeom prst="rect">
            <a:avLst/>
          </a:prstGeom>
          <a:solidFill>
            <a:srgbClr val="C8FF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Application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B6117B-098E-674F-B2FA-2C9573E4B1FF}"/>
              </a:ext>
            </a:extLst>
          </p:cNvPr>
          <p:cNvSpPr/>
          <p:nvPr/>
        </p:nvSpPr>
        <p:spPr>
          <a:xfrm>
            <a:off x="1472529" y="2268656"/>
            <a:ext cx="1584176" cy="2364164"/>
          </a:xfrm>
          <a:prstGeom prst="rect">
            <a:avLst/>
          </a:prstGeom>
          <a:solidFill>
            <a:srgbClr val="FFB8B9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4046787-DBC7-CC4E-ADEB-56ECFAC11178}"/>
              </a:ext>
            </a:extLst>
          </p:cNvPr>
          <p:cNvSpPr/>
          <p:nvPr/>
        </p:nvSpPr>
        <p:spPr>
          <a:xfrm>
            <a:off x="1616545" y="2535596"/>
            <a:ext cx="1296144" cy="616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File</a:t>
            </a:r>
          </a:p>
          <a:p>
            <a:pPr algn="ctr"/>
            <a:r>
              <a:rPr kumimoji="1" lang="en-US" altLang="zh-CN" dirty="0"/>
              <a:t>System</a:t>
            </a:r>
            <a:endParaRPr kumimoji="1"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57F5C1-7C82-C345-BFC2-39183D33E760}"/>
              </a:ext>
            </a:extLst>
          </p:cNvPr>
          <p:cNvSpPr/>
          <p:nvPr/>
        </p:nvSpPr>
        <p:spPr>
          <a:xfrm>
            <a:off x="1616545" y="3727214"/>
            <a:ext cx="1296145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Disk</a:t>
            </a:r>
          </a:p>
          <a:p>
            <a:pPr algn="ctr"/>
            <a:r>
              <a:rPr kumimoji="1" lang="en-US" altLang="zh-CN" dirty="0"/>
              <a:t>Driver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BB0D24-C410-284A-98AF-B33F2D6B8082}"/>
              </a:ext>
            </a:extLst>
          </p:cNvPr>
          <p:cNvSpPr/>
          <p:nvPr/>
        </p:nvSpPr>
        <p:spPr>
          <a:xfrm>
            <a:off x="1472529" y="4851328"/>
            <a:ext cx="1584176" cy="4801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Disk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4DABBC-CCCC-BF48-9FA3-1C9AA3FE24BF}"/>
              </a:ext>
            </a:extLst>
          </p:cNvPr>
          <p:cNvCxnSpPr>
            <a:cxnSpLocks/>
          </p:cNvCxnSpPr>
          <p:nvPr/>
        </p:nvCxnSpPr>
        <p:spPr>
          <a:xfrm>
            <a:off x="2048593" y="1992724"/>
            <a:ext cx="0" cy="5428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5568BEDB-331B-3241-A131-9F18198F0BAA}"/>
              </a:ext>
            </a:extLst>
          </p:cNvPr>
          <p:cNvCxnSpPr>
            <a:cxnSpLocks/>
          </p:cNvCxnSpPr>
          <p:nvPr/>
        </p:nvCxnSpPr>
        <p:spPr>
          <a:xfrm>
            <a:off x="2048593" y="3152070"/>
            <a:ext cx="1" cy="5751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A5B2563-D87A-8248-BF9A-8DE36360FF7D}"/>
              </a:ext>
            </a:extLst>
          </p:cNvPr>
          <p:cNvCxnSpPr>
            <a:cxnSpLocks/>
          </p:cNvCxnSpPr>
          <p:nvPr/>
        </p:nvCxnSpPr>
        <p:spPr>
          <a:xfrm>
            <a:off x="2048593" y="4381712"/>
            <a:ext cx="5270" cy="469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4E5F55F-3D6C-6742-8CF4-726E34D0C2B9}"/>
              </a:ext>
            </a:extLst>
          </p:cNvPr>
          <p:cNvCxnSpPr>
            <a:cxnSpLocks/>
          </p:cNvCxnSpPr>
          <p:nvPr/>
        </p:nvCxnSpPr>
        <p:spPr>
          <a:xfrm>
            <a:off x="2408633" y="1988228"/>
            <a:ext cx="0" cy="54287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3ADEFCFE-E126-4F41-B7BC-C95EF4E184C3}"/>
              </a:ext>
            </a:extLst>
          </p:cNvPr>
          <p:cNvCxnSpPr>
            <a:cxnSpLocks/>
          </p:cNvCxnSpPr>
          <p:nvPr/>
        </p:nvCxnSpPr>
        <p:spPr>
          <a:xfrm>
            <a:off x="2408633" y="3147574"/>
            <a:ext cx="1" cy="57514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C8CC02C-F6E9-D14D-8BEF-0C478032D848}"/>
              </a:ext>
            </a:extLst>
          </p:cNvPr>
          <p:cNvCxnSpPr>
            <a:cxnSpLocks/>
          </p:cNvCxnSpPr>
          <p:nvPr/>
        </p:nvCxnSpPr>
        <p:spPr>
          <a:xfrm>
            <a:off x="2408633" y="4377216"/>
            <a:ext cx="5270" cy="46961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BBAF6665-62D2-674C-A32D-4BA43042AF47}"/>
              </a:ext>
            </a:extLst>
          </p:cNvPr>
          <p:cNvSpPr/>
          <p:nvPr/>
        </p:nvSpPr>
        <p:spPr>
          <a:xfrm>
            <a:off x="4013239" y="2195999"/>
            <a:ext cx="921928" cy="616474"/>
          </a:xfrm>
          <a:prstGeom prst="rect">
            <a:avLst/>
          </a:prstGeom>
          <a:solidFill>
            <a:srgbClr val="C8FF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App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B9E5CDB-B7FC-7E4F-B50E-3C5CCB2E118F}"/>
              </a:ext>
            </a:extLst>
          </p:cNvPr>
          <p:cNvSpPr/>
          <p:nvPr/>
        </p:nvSpPr>
        <p:spPr>
          <a:xfrm>
            <a:off x="5295207" y="2200494"/>
            <a:ext cx="1296144" cy="616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File</a:t>
            </a:r>
          </a:p>
          <a:p>
            <a:pPr algn="ctr"/>
            <a:r>
              <a:rPr kumimoji="1" lang="en-US" altLang="zh-CN" dirty="0"/>
              <a:t>System</a:t>
            </a:r>
            <a:endParaRPr kumimoji="1"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F86258E-CE92-434A-8205-22B5778AA7D4}"/>
              </a:ext>
            </a:extLst>
          </p:cNvPr>
          <p:cNvSpPr/>
          <p:nvPr/>
        </p:nvSpPr>
        <p:spPr>
          <a:xfrm>
            <a:off x="6879383" y="2200494"/>
            <a:ext cx="1296145" cy="616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Disk</a:t>
            </a:r>
          </a:p>
          <a:p>
            <a:pPr algn="ctr"/>
            <a:r>
              <a:rPr kumimoji="1" lang="en-US" altLang="zh-CN" dirty="0"/>
              <a:t>Driver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6D7DFDF-0E37-B347-91F5-F2963C59CB32}"/>
              </a:ext>
            </a:extLst>
          </p:cNvPr>
          <p:cNvSpPr/>
          <p:nvPr/>
        </p:nvSpPr>
        <p:spPr>
          <a:xfrm>
            <a:off x="4013239" y="3371961"/>
            <a:ext cx="4162290" cy="561670"/>
          </a:xfrm>
          <a:prstGeom prst="rect">
            <a:avLst/>
          </a:prstGeom>
          <a:solidFill>
            <a:srgbClr val="FFB8B9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Microkernel</a:t>
            </a:r>
            <a:endParaRPr kumimoji="1"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E65171D-CB4A-AF4D-BD69-A1370F1FF832}"/>
              </a:ext>
            </a:extLst>
          </p:cNvPr>
          <p:cNvSpPr/>
          <p:nvPr/>
        </p:nvSpPr>
        <p:spPr>
          <a:xfrm>
            <a:off x="6735367" y="4392744"/>
            <a:ext cx="1584176" cy="4801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Disk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E81520B-8218-724F-895B-5988C242F361}"/>
              </a:ext>
            </a:extLst>
          </p:cNvPr>
          <p:cNvGrpSpPr/>
          <p:nvPr/>
        </p:nvGrpSpPr>
        <p:grpSpPr>
          <a:xfrm>
            <a:off x="4301271" y="2771176"/>
            <a:ext cx="1368152" cy="738268"/>
            <a:chOff x="5004048" y="2479272"/>
            <a:chExt cx="1368152" cy="738268"/>
          </a:xfrm>
        </p:grpSpPr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F9818356-7B28-F448-B73A-D14ED3AD2C2A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48" y="2479272"/>
              <a:ext cx="0" cy="738268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线箭头连接符 56">
              <a:extLst>
                <a:ext uri="{FF2B5EF4-FFF2-40B4-BE49-F238E27FC236}">
                  <a16:creationId xmlns:a16="http://schemas.microsoft.com/office/drawing/2014/main" id="{F49551F5-AD7A-6541-A85A-6DC3110E12F5}"/>
                </a:ext>
              </a:extLst>
            </p:cNvPr>
            <p:cNvCxnSpPr>
              <a:cxnSpLocks/>
            </p:cNvCxnSpPr>
            <p:nvPr/>
          </p:nvCxnSpPr>
          <p:spPr>
            <a:xfrm>
              <a:off x="6372200" y="2520569"/>
              <a:ext cx="0" cy="696971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E28FDE72-C6D2-2A43-AF99-4FABF895A8B7}"/>
                </a:ext>
              </a:extLst>
            </p:cNvPr>
            <p:cNvCxnSpPr/>
            <p:nvPr/>
          </p:nvCxnSpPr>
          <p:spPr>
            <a:xfrm>
              <a:off x="5004048" y="3203227"/>
              <a:ext cx="13681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6046E35-86FA-F446-B842-6A49CCE9AE1A}"/>
              </a:ext>
            </a:extLst>
          </p:cNvPr>
          <p:cNvGrpSpPr/>
          <p:nvPr/>
        </p:nvGrpSpPr>
        <p:grpSpPr>
          <a:xfrm>
            <a:off x="6317495" y="2812473"/>
            <a:ext cx="1368152" cy="696971"/>
            <a:chOff x="7020272" y="2520569"/>
            <a:chExt cx="1368152" cy="696971"/>
          </a:xfrm>
        </p:grpSpPr>
        <p:cxnSp>
          <p:nvCxnSpPr>
            <p:cNvPr id="60" name="直线箭头连接符 59">
              <a:extLst>
                <a:ext uri="{FF2B5EF4-FFF2-40B4-BE49-F238E27FC236}">
                  <a16:creationId xmlns:a16="http://schemas.microsoft.com/office/drawing/2014/main" id="{17B8580B-8C96-D740-B4DA-A930252BB2DA}"/>
                </a:ext>
              </a:extLst>
            </p:cNvPr>
            <p:cNvCxnSpPr>
              <a:cxnSpLocks/>
            </p:cNvCxnSpPr>
            <p:nvPr/>
          </p:nvCxnSpPr>
          <p:spPr>
            <a:xfrm>
              <a:off x="7020272" y="2520569"/>
              <a:ext cx="0" cy="696971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523031D-1607-6A4E-9BA8-95C6245D14C8}"/>
                </a:ext>
              </a:extLst>
            </p:cNvPr>
            <p:cNvCxnSpPr>
              <a:cxnSpLocks/>
            </p:cNvCxnSpPr>
            <p:nvPr/>
          </p:nvCxnSpPr>
          <p:spPr>
            <a:xfrm>
              <a:off x="8388424" y="2520569"/>
              <a:ext cx="0" cy="696971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D04F8136-FB72-9448-993F-A7B28C6791D4}"/>
                </a:ext>
              </a:extLst>
            </p:cNvPr>
            <p:cNvCxnSpPr>
              <a:cxnSpLocks/>
            </p:cNvCxnSpPr>
            <p:nvPr/>
          </p:nvCxnSpPr>
          <p:spPr>
            <a:xfrm>
              <a:off x="7020272" y="3203227"/>
              <a:ext cx="13681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CB8F7B07-7E6E-6E46-B892-DDC04B1B84FC}"/>
              </a:ext>
            </a:extLst>
          </p:cNvPr>
          <p:cNvCxnSpPr>
            <a:cxnSpLocks/>
          </p:cNvCxnSpPr>
          <p:nvPr/>
        </p:nvCxnSpPr>
        <p:spPr>
          <a:xfrm>
            <a:off x="7829663" y="2812473"/>
            <a:ext cx="0" cy="15802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D773A4D2-28EC-8A46-B6DB-09589269D10C}"/>
              </a:ext>
            </a:extLst>
          </p:cNvPr>
          <p:cNvCxnSpPr>
            <a:cxnSpLocks/>
          </p:cNvCxnSpPr>
          <p:nvPr/>
        </p:nvCxnSpPr>
        <p:spPr>
          <a:xfrm>
            <a:off x="7984023" y="2829089"/>
            <a:ext cx="0" cy="156365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CB74271-3EC5-7740-A19C-341F21C2ECC1}"/>
              </a:ext>
            </a:extLst>
          </p:cNvPr>
          <p:cNvGrpSpPr/>
          <p:nvPr/>
        </p:nvGrpSpPr>
        <p:grpSpPr>
          <a:xfrm>
            <a:off x="4647852" y="2761096"/>
            <a:ext cx="805547" cy="676340"/>
            <a:chOff x="5350629" y="2469192"/>
            <a:chExt cx="805547" cy="676340"/>
          </a:xfrm>
        </p:grpSpPr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5AA93FE2-0096-D047-88DB-B5B7D0348AA7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88" y="2469192"/>
              <a:ext cx="0" cy="666672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0188E2B7-B536-EA4A-8033-D43303025EC3}"/>
                </a:ext>
              </a:extLst>
            </p:cNvPr>
            <p:cNvCxnSpPr>
              <a:cxnSpLocks/>
            </p:cNvCxnSpPr>
            <p:nvPr/>
          </p:nvCxnSpPr>
          <p:spPr>
            <a:xfrm>
              <a:off x="5350629" y="3129352"/>
              <a:ext cx="80554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线箭头连接符 67">
              <a:extLst>
                <a:ext uri="{FF2B5EF4-FFF2-40B4-BE49-F238E27FC236}">
                  <a16:creationId xmlns:a16="http://schemas.microsoft.com/office/drawing/2014/main" id="{2EB61017-52C2-3745-A48F-69F5917DE24F}"/>
                </a:ext>
              </a:extLst>
            </p:cNvPr>
            <p:cNvCxnSpPr>
              <a:cxnSpLocks/>
            </p:cNvCxnSpPr>
            <p:nvPr/>
          </p:nvCxnSpPr>
          <p:spPr>
            <a:xfrm>
              <a:off x="6156176" y="2537185"/>
              <a:ext cx="0" cy="608347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10E3A98-C0BD-8545-A750-6561AFED4104}"/>
              </a:ext>
            </a:extLst>
          </p:cNvPr>
          <p:cNvGrpSpPr/>
          <p:nvPr/>
        </p:nvGrpSpPr>
        <p:grpSpPr>
          <a:xfrm>
            <a:off x="6448052" y="2829089"/>
            <a:ext cx="805547" cy="615394"/>
            <a:chOff x="7150829" y="2537185"/>
            <a:chExt cx="805547" cy="615394"/>
          </a:xfrm>
        </p:grpSpPr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8BD65877-0E11-2844-A949-4179D69047F3}"/>
                </a:ext>
              </a:extLst>
            </p:cNvPr>
            <p:cNvCxnSpPr>
              <a:cxnSpLocks/>
            </p:cNvCxnSpPr>
            <p:nvPr/>
          </p:nvCxnSpPr>
          <p:spPr>
            <a:xfrm>
              <a:off x="7164288" y="2537185"/>
              <a:ext cx="0" cy="605726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B0427133-CD86-8C4E-9BA8-8525E5253362}"/>
                </a:ext>
              </a:extLst>
            </p:cNvPr>
            <p:cNvCxnSpPr>
              <a:cxnSpLocks/>
            </p:cNvCxnSpPr>
            <p:nvPr/>
          </p:nvCxnSpPr>
          <p:spPr>
            <a:xfrm>
              <a:off x="7150829" y="3136399"/>
              <a:ext cx="80554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5BD48986-5628-FC47-8C70-C6D811C85F5C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2544232"/>
              <a:ext cx="0" cy="608347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6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349BC-F535-9947-8B1C-44A33244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微内核的历史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BAF91-A743-784C-97F4-67301733B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1969</a:t>
            </a:r>
            <a:r>
              <a:rPr kumimoji="1" lang="zh-CN" altLang="en-US" sz="2400" dirty="0"/>
              <a:t>年，</a:t>
            </a:r>
            <a:r>
              <a:rPr kumimoji="1" lang="en-US" altLang="zh-CN" sz="2400" dirty="0"/>
              <a:t>RC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4000</a:t>
            </a:r>
            <a:r>
              <a:rPr kumimoji="1" lang="zh-CN" altLang="en-US" sz="2400" dirty="0"/>
              <a:t>多路编程系统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提出模块化设计，允许模块间交互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提出复杂消息通信机制用于交互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提出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分离策略与机制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的原则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提出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管程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Monitor</a:t>
            </a:r>
            <a:r>
              <a:rPr kumimoji="1" lang="zh-CN" altLang="en-US" sz="2000" dirty="0"/>
              <a:t>）的概念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Per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Brinch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Hansen</a:t>
            </a:r>
            <a:r>
              <a:rPr kumimoji="1" lang="zh-CN" altLang="en-US" sz="2000" dirty="0"/>
              <a:t>等开发者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启发了后来的微内核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BEFF75-024C-E642-887F-31CEEE33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53444E-F7DC-DD40-A3AD-1719BE9E497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0072" y="2497460"/>
            <a:ext cx="3648033" cy="251430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9076CB0-B71D-F548-BC5D-DFDF5662CD46}"/>
              </a:ext>
            </a:extLst>
          </p:cNvPr>
          <p:cNvSpPr/>
          <p:nvPr/>
        </p:nvSpPr>
        <p:spPr>
          <a:xfrm>
            <a:off x="369201" y="5486134"/>
            <a:ext cx="864292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https://www.semanticscholar.org/paper/A-large-semaphore-based-operating-system-Lauesen/f028001d7426f7ae6a71f8deee9935a66cba4e04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27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B3E13-25D4-1F40-A827-50D6F143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Mach</a:t>
            </a:r>
            <a:r>
              <a:rPr kumimoji="1" lang="zh-CN" altLang="en-US" dirty="0"/>
              <a:t>微内核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4339C-C60D-5A4A-A1D6-89FD795D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Autofit/>
          </a:bodyPr>
          <a:lstStyle/>
          <a:p>
            <a:r>
              <a:rPr kumimoji="1" lang="en-US" altLang="zh-CN" sz="1800" dirty="0"/>
              <a:t>1985</a:t>
            </a:r>
            <a:r>
              <a:rPr kumimoji="1" lang="zh-CN" altLang="en-US" sz="1800" dirty="0"/>
              <a:t>年，</a:t>
            </a:r>
            <a:r>
              <a:rPr kumimoji="1" lang="en-US" altLang="zh-CN" sz="1800" dirty="0"/>
              <a:t>Mach</a:t>
            </a:r>
            <a:r>
              <a:rPr kumimoji="1" lang="zh-CN" altLang="en-US" sz="1800" dirty="0"/>
              <a:t> 发布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由</a:t>
            </a:r>
            <a:r>
              <a:rPr kumimoji="1" lang="en-US" altLang="zh-CN" sz="1600" dirty="0"/>
              <a:t>CMU</a:t>
            </a:r>
            <a:r>
              <a:rPr kumimoji="1" lang="zh-CN" altLang="en-US" sz="1600" dirty="0"/>
              <a:t>开发，</a:t>
            </a:r>
            <a:r>
              <a:rPr kumimoji="1" lang="en-US" altLang="zh-CN" sz="1600" dirty="0"/>
              <a:t>Rick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Rashid</a:t>
            </a:r>
            <a:r>
              <a:rPr kumimoji="1" lang="zh-CN" altLang="en-US" sz="1600" dirty="0"/>
              <a:t>领导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对操作系统发展产生了重大影响</a:t>
            </a:r>
            <a:endParaRPr kumimoji="1" lang="en-US" altLang="zh-CN" sz="1600" dirty="0"/>
          </a:p>
          <a:p>
            <a:r>
              <a:rPr kumimoji="1" lang="en-US" altLang="zh-CN" sz="1800" dirty="0"/>
              <a:t>1986</a:t>
            </a:r>
            <a:r>
              <a:rPr kumimoji="1" lang="zh-CN" altLang="en-US" sz="1800" dirty="0"/>
              <a:t>年，</a:t>
            </a:r>
            <a:r>
              <a:rPr kumimoji="1" lang="en-US" altLang="zh-CN" sz="1800" dirty="0"/>
              <a:t>Mach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2.5</a:t>
            </a:r>
            <a:r>
              <a:rPr kumimoji="1" lang="zh-CN" altLang="en-US" sz="14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（性能比</a:t>
            </a:r>
            <a:r>
              <a:rPr kumimoji="1" lang="en-US" altLang="zh-CN" sz="14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UNIX</a:t>
            </a:r>
            <a:r>
              <a:rPr kumimoji="1" lang="zh-CN" altLang="en-US" sz="14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差</a:t>
            </a:r>
            <a:r>
              <a:rPr kumimoji="1" lang="en-US" altLang="zh-CN" sz="14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25%</a:t>
            </a:r>
            <a:r>
              <a:rPr kumimoji="1" lang="zh-CN" altLang="en-US" sz="14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包含大量</a:t>
            </a:r>
            <a:r>
              <a:rPr kumimoji="1" lang="en-US" altLang="zh-CN" sz="1600" dirty="0"/>
              <a:t>BSD</a:t>
            </a:r>
            <a:r>
              <a:rPr kumimoji="1" lang="zh-CN" altLang="en-US" sz="1600" dirty="0"/>
              <a:t>的代码，如</a:t>
            </a:r>
            <a:r>
              <a:rPr kumimoji="1" lang="en-US" altLang="zh-CN" sz="1600" dirty="0"/>
              <a:t>1:1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task</a:t>
            </a:r>
            <a:r>
              <a:rPr kumimoji="1" lang="zh-CN" altLang="en-US" sz="1600" dirty="0"/>
              <a:t>与</a:t>
            </a:r>
            <a:r>
              <a:rPr kumimoji="1" lang="en-US" altLang="zh-CN" sz="1600" dirty="0"/>
              <a:t>process</a:t>
            </a:r>
            <a:r>
              <a:rPr kumimoji="1" lang="zh-CN" altLang="en-US" sz="1600" dirty="0"/>
              <a:t>映射，导致内核比</a:t>
            </a:r>
            <a:r>
              <a:rPr kumimoji="1" lang="en-US" altLang="zh-CN" sz="1600" dirty="0"/>
              <a:t>UNIX</a:t>
            </a:r>
            <a:r>
              <a:rPr kumimoji="1" lang="zh-CN" altLang="en-US" sz="1600" dirty="0"/>
              <a:t>更大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取得了商业成功，用于</a:t>
            </a:r>
            <a:r>
              <a:rPr kumimoji="1" lang="en-US" altLang="zh-CN" sz="1600" dirty="0"/>
              <a:t>NeXT</a:t>
            </a:r>
            <a:r>
              <a:rPr kumimoji="1" lang="zh-CN" altLang="en-US" sz="1600" dirty="0"/>
              <a:t>，最终被苹果收购</a:t>
            </a:r>
            <a:endParaRPr kumimoji="1" lang="en-US" altLang="zh-CN" sz="1600" dirty="0"/>
          </a:p>
          <a:p>
            <a:r>
              <a:rPr kumimoji="1" lang="en-US" altLang="zh-CN" sz="1800" dirty="0"/>
              <a:t>1990</a:t>
            </a:r>
            <a:r>
              <a:rPr kumimoji="1" lang="zh-CN" altLang="en-US" sz="1800" dirty="0"/>
              <a:t>年，</a:t>
            </a:r>
            <a:r>
              <a:rPr kumimoji="1" lang="en-US" altLang="zh-CN" sz="1800" dirty="0"/>
              <a:t>Mach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3.0</a:t>
            </a:r>
            <a:r>
              <a:rPr kumimoji="1" lang="zh-CN" altLang="en-US" sz="1400" b="0" dirty="0"/>
              <a:t>（性能比</a:t>
            </a:r>
            <a:r>
              <a:rPr kumimoji="1" lang="en-US" altLang="zh-CN" sz="1400" b="0" dirty="0"/>
              <a:t>UNIX</a:t>
            </a:r>
            <a:r>
              <a:rPr kumimoji="1" lang="zh-CN" altLang="en-US" sz="1400" b="0" dirty="0"/>
              <a:t>差</a:t>
            </a:r>
            <a:r>
              <a:rPr kumimoji="1" lang="en-US" altLang="zh-CN" sz="1400" b="0" dirty="0"/>
              <a:t>67%</a:t>
            </a:r>
            <a:r>
              <a:rPr kumimoji="1" lang="zh-CN" altLang="en-US" sz="1400" b="0" dirty="0"/>
              <a:t>）</a:t>
            </a:r>
            <a:endParaRPr kumimoji="1" lang="en-US" altLang="zh-CN" sz="1800" b="0" dirty="0"/>
          </a:p>
          <a:p>
            <a:pPr lvl="1"/>
            <a:r>
              <a:rPr kumimoji="1" lang="zh-CN" altLang="en-US" sz="1600" dirty="0"/>
              <a:t>规避法律风险，去掉了</a:t>
            </a:r>
            <a:r>
              <a:rPr kumimoji="1" lang="en-US" altLang="zh-CN" sz="1600" dirty="0"/>
              <a:t>BSD</a:t>
            </a:r>
            <a:r>
              <a:rPr kumimoji="1" lang="zh-CN" altLang="en-US" sz="1600" dirty="0"/>
              <a:t>的代码，重写了</a:t>
            </a:r>
            <a:r>
              <a:rPr kumimoji="1" lang="en-US" altLang="zh-CN" sz="1600" dirty="0"/>
              <a:t>IPC</a:t>
            </a:r>
            <a:r>
              <a:rPr kumimoji="1" lang="zh-CN" altLang="en-US" sz="1600" dirty="0"/>
              <a:t>以提高性能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提出</a:t>
            </a:r>
            <a:r>
              <a:rPr kumimoji="1" lang="en-US" altLang="zh-CN" sz="1600" b="1" dirty="0">
                <a:solidFill>
                  <a:schemeClr val="accent1"/>
                </a:solidFill>
              </a:rPr>
              <a:t>"continuation"</a:t>
            </a:r>
            <a:r>
              <a:rPr kumimoji="1" lang="zh-CN" altLang="en-US" sz="1600" dirty="0"/>
              <a:t>，为用户态应用提供了更多控制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允许应用自己在切换的时候保存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恢复上下文，进一步减小</a:t>
            </a:r>
            <a:r>
              <a:rPr kumimoji="1" lang="en-US" altLang="zh-CN" sz="1400" dirty="0"/>
              <a:t>microkernel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A016C9-789E-6941-B926-8631394E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94867AF-C228-824A-BFC4-B224A1A123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48"/>
          <a:stretch/>
        </p:blipFill>
        <p:spPr>
          <a:xfrm>
            <a:off x="6553259" y="465697"/>
            <a:ext cx="1723607" cy="1735604"/>
          </a:xfrm>
          <a:prstGeom prst="ellipse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549B7BE2-2487-1B49-906A-710CCA8CF5FB}"/>
              </a:ext>
            </a:extLst>
          </p:cNvPr>
          <p:cNvSpPr txBox="1"/>
          <p:nvPr/>
        </p:nvSpPr>
        <p:spPr>
          <a:xfrm>
            <a:off x="6736030" y="2236217"/>
            <a:ext cx="1358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cs typeface="Helvetica Neue "/>
              </a:rPr>
              <a:t>Rick Rashid</a:t>
            </a:r>
          </a:p>
        </p:txBody>
      </p:sp>
    </p:spTree>
    <p:extLst>
      <p:ext uri="{BB962C8B-B14F-4D97-AF65-F5344CB8AC3E}">
        <p14:creationId xmlns:p14="http://schemas.microsoft.com/office/powerpoint/2010/main" val="1568580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9C176-40BA-BD40-9CA4-2CEA6BE2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Mach</a:t>
            </a:r>
            <a:r>
              <a:rPr kumimoji="1" lang="zh-CN" altLang="en-US" dirty="0"/>
              <a:t>实现了哪些功能？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79B4-F65E-E848-9970-D4E245E2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任务和线程管理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任务，是资源分配的基本单位；线程，是执行的基本单位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对应用提供调度接口，应用程序可实现其自定义的调度策略</a:t>
            </a:r>
            <a:endParaRPr kumimoji="1" lang="en-US" altLang="zh-CN" sz="2000" dirty="0"/>
          </a:p>
          <a:p>
            <a:r>
              <a:rPr kumimoji="1" lang="zh-CN" altLang="en-US" sz="2400" dirty="0"/>
              <a:t>进程间通信（</a:t>
            </a:r>
            <a:r>
              <a:rPr kumimoji="1" lang="en-US" altLang="zh-CN" sz="2400" dirty="0"/>
              <a:t>IPC</a:t>
            </a:r>
            <a:r>
              <a:rPr kumimoji="1" lang="zh-CN" altLang="en-US" sz="2400" dirty="0"/>
              <a:t>）</a:t>
            </a:r>
            <a:r>
              <a:rPr kumimoji="1" lang="zh-CN" altLang="en-US" sz="2400" b="0" dirty="0"/>
              <a:t>：</a:t>
            </a:r>
            <a:r>
              <a:rPr kumimoji="1" lang="zh-CN" altLang="en-US" sz="2000" b="0" dirty="0"/>
              <a:t>通过端口（</a:t>
            </a:r>
            <a:r>
              <a:rPr kumimoji="1" lang="en-US" altLang="zh-CN" sz="2000" b="0" dirty="0"/>
              <a:t>port</a:t>
            </a:r>
            <a:r>
              <a:rPr kumimoji="1" lang="zh-CN" altLang="en-US" sz="2000" b="0" dirty="0"/>
              <a:t>）进行通信</a:t>
            </a:r>
            <a:endParaRPr kumimoji="1" lang="en-US" altLang="zh-CN" sz="2000" b="0" dirty="0"/>
          </a:p>
          <a:p>
            <a:r>
              <a:rPr kumimoji="1" lang="zh-CN" altLang="en-US" sz="2400" dirty="0"/>
              <a:t>内存对象管理</a:t>
            </a:r>
            <a:r>
              <a:rPr kumimoji="1" lang="zh-CN" altLang="en-US" sz="2400" b="0" dirty="0"/>
              <a:t>：</a:t>
            </a:r>
            <a:r>
              <a:rPr kumimoji="1" lang="zh-CN" altLang="en-US" sz="2000" b="0" dirty="0"/>
              <a:t>虚拟内存</a:t>
            </a:r>
            <a:endParaRPr kumimoji="1" lang="en-US" altLang="zh-CN" sz="2000" b="0" dirty="0"/>
          </a:p>
          <a:p>
            <a:r>
              <a:rPr kumimoji="1" lang="zh-CN" altLang="en-US" sz="2400" dirty="0"/>
              <a:t>系统调用重定向</a:t>
            </a:r>
            <a:r>
              <a:rPr kumimoji="1" lang="zh-CN" altLang="en-US" sz="2400" b="0" dirty="0"/>
              <a:t>：</a:t>
            </a:r>
            <a:r>
              <a:rPr kumimoji="1" lang="zh-CN" altLang="en-US" sz="2000" b="0" dirty="0"/>
              <a:t>允许用户态处理系统调用</a:t>
            </a:r>
            <a:endParaRPr kumimoji="1" lang="en-US" altLang="zh-CN" sz="2000" b="0" dirty="0"/>
          </a:p>
          <a:p>
            <a:pPr lvl="1"/>
            <a:r>
              <a:rPr kumimoji="1" lang="zh-CN" altLang="en-US" sz="2000" dirty="0"/>
              <a:t>支持对系统调用的功能扩展，例如，二进制翻译、跟踪、调试等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26838B-E34B-3344-942B-513F125E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627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75EE2-864F-A44D-AE40-0AE7A2CC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Mach</a:t>
            </a:r>
            <a:r>
              <a:rPr kumimoji="1" lang="zh-CN" altLang="en-US" dirty="0"/>
              <a:t>还实现了哪些功能？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98DD4-7323-4544-80DA-65C0813A4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设备支持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通过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实现（通过</a:t>
            </a:r>
            <a:r>
              <a:rPr kumimoji="1" lang="en-US" altLang="zh-CN" sz="2000" dirty="0"/>
              <a:t>port</a:t>
            </a:r>
            <a:r>
              <a:rPr kumimoji="1" lang="zh-CN" altLang="en-US" sz="2000" dirty="0"/>
              <a:t>来连接设备）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支持同步设备和异步设备</a:t>
            </a:r>
            <a:endParaRPr kumimoji="1" lang="en-US" altLang="zh-CN" sz="2000" dirty="0"/>
          </a:p>
          <a:p>
            <a:r>
              <a:rPr kumimoji="1" lang="zh-CN" altLang="en-US" sz="2400" dirty="0"/>
              <a:t>用户态的多进程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类似用户态的线程库，支持</a:t>
            </a:r>
            <a:r>
              <a:rPr kumimoji="1" lang="en-US" altLang="zh-CN" sz="2000" dirty="0"/>
              <a:t>wait()/signal()</a:t>
            </a:r>
            <a:r>
              <a:rPr kumimoji="1" lang="zh-CN" altLang="en-US" sz="2000" dirty="0"/>
              <a:t>等原语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一个或多个用户态线程可映射到同一个内核线程</a:t>
            </a:r>
            <a:endParaRPr kumimoji="1" lang="en-US" altLang="zh-CN" sz="2000" dirty="0"/>
          </a:p>
          <a:p>
            <a:r>
              <a:rPr kumimoji="1" lang="zh-CN" altLang="en-US" sz="2400" dirty="0"/>
              <a:t>分布式支持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可透明地将任务与资源映射到集群中的不同节点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6E2E9A-6356-D545-833F-88C20046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65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B5B23-1F5C-7A43-ABA4-F874CF4C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Mach</a:t>
            </a:r>
            <a:r>
              <a:rPr kumimoji="1" lang="zh-CN" altLang="en-US" dirty="0"/>
              <a:t>：用户态与内核态的分工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C684F-5BCC-1649-A267-59F9FE85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Mach</a:t>
            </a:r>
            <a:r>
              <a:rPr kumimoji="1" lang="zh-CN" altLang="en-US" sz="2400" dirty="0"/>
              <a:t>允许用户态代码实现</a:t>
            </a:r>
            <a:r>
              <a:rPr kumimoji="1" lang="en-US" altLang="zh-CN" sz="2400" dirty="0"/>
              <a:t>Paging</a:t>
            </a:r>
          </a:p>
          <a:p>
            <a:pPr lvl="1"/>
            <a:r>
              <a:rPr kumimoji="1" lang="zh-CN" altLang="en-US" sz="2000" dirty="0"/>
              <a:t>应用可自己管理自己的虚拟内存</a:t>
            </a:r>
            <a:endParaRPr kumimoji="1" lang="en-US" altLang="zh-CN" sz="2000" dirty="0"/>
          </a:p>
          <a:p>
            <a:r>
              <a:rPr kumimoji="1" lang="zh-CN" altLang="en-US" sz="2400" dirty="0"/>
              <a:t>重定向功能（</a:t>
            </a:r>
            <a:r>
              <a:rPr kumimoji="1" lang="en-US" altLang="zh-CN" sz="2400" dirty="0"/>
              <a:t>Redirection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允许发生中断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异常时，直接执行用户的二进制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这种连接不需要对内核做修改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45041B-7CB9-4840-A3DD-868D4C78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954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15641-AC99-F349-8D67-6BB200EB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L3/L4</a:t>
            </a:r>
            <a:r>
              <a:rPr kumimoji="1" lang="zh-CN" altLang="en-US" dirty="0"/>
              <a:t>：极大提升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1BF33-BC6A-704A-94A5-72088F9DB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L4</a:t>
            </a:r>
            <a:r>
              <a:rPr kumimoji="1" lang="zh-CN" altLang="en-US" sz="2400" dirty="0"/>
              <a:t>的</a:t>
            </a:r>
            <a:r>
              <a:rPr kumimoji="1" lang="en-US" altLang="zh-CN" sz="2400" dirty="0"/>
              <a:t>IPC</a:t>
            </a:r>
            <a:r>
              <a:rPr kumimoji="1" lang="zh-CN" altLang="en-US" sz="2400" dirty="0"/>
              <a:t>性能比</a:t>
            </a:r>
            <a:r>
              <a:rPr kumimoji="1" lang="en-US" altLang="zh-CN" sz="2400" dirty="0"/>
              <a:t>Mach</a:t>
            </a:r>
            <a:r>
              <a:rPr kumimoji="1" lang="zh-CN" altLang="en-US" sz="2400" dirty="0"/>
              <a:t>快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倍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IPC</a:t>
            </a:r>
            <a:r>
              <a:rPr kumimoji="1" lang="zh-CN" altLang="en-US" sz="2000" dirty="0"/>
              <a:t>仅传递信息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使用寄存器传参，限制消息长度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内核去掉了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的权限检查等功能，交给用户态判断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系统服务的接口直接暴露给用户态，可能导致</a:t>
            </a:r>
            <a:r>
              <a:rPr kumimoji="1" lang="en-US" altLang="zh-CN" sz="2000" dirty="0"/>
              <a:t>DoS</a:t>
            </a:r>
            <a:r>
              <a:rPr kumimoji="1" lang="zh-CN" altLang="en-US" sz="2000" dirty="0"/>
              <a:t>攻击</a:t>
            </a:r>
            <a:endParaRPr kumimoji="1" lang="en-US" altLang="zh-CN" sz="2000" dirty="0"/>
          </a:p>
          <a:p>
            <a:r>
              <a:rPr kumimoji="1" lang="zh-CN" altLang="en-US" sz="2400" dirty="0"/>
              <a:t>启发了大量相关系统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Pistachio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L4/MIPS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Fiasco</a:t>
            </a:r>
            <a:r>
              <a:rPr kumimoji="1" lang="zh-CN" altLang="en-US" sz="2000" dirty="0"/>
              <a:t>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2B570-D248-DE41-8274-9000EBED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10BF5F1-8B88-CD41-8C16-20A933819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9593" y="435319"/>
            <a:ext cx="1679553" cy="1679553"/>
          </a:xfrm>
          <a:prstGeom prst="ellipse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86E76F80-F3AA-9444-BF14-B76A9F16B997}"/>
              </a:ext>
            </a:extLst>
          </p:cNvPr>
          <p:cNvSpPr txBox="1"/>
          <p:nvPr/>
        </p:nvSpPr>
        <p:spPr>
          <a:xfrm>
            <a:off x="7013694" y="2137420"/>
            <a:ext cx="1734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cs typeface="Helvetica Neue Light"/>
              </a:rPr>
              <a:t>Jochen</a:t>
            </a:r>
            <a:r>
              <a:rPr lang="en-US" sz="1600" b="1" dirty="0">
                <a:cs typeface="Helvetica Neue Light"/>
              </a:rPr>
              <a:t> </a:t>
            </a:r>
            <a:r>
              <a:rPr lang="en-US" sz="1600" b="1" dirty="0" err="1">
                <a:cs typeface="Helvetica Neue Light"/>
              </a:rPr>
              <a:t>Liedtke</a:t>
            </a:r>
            <a:r>
              <a:rPr lang="en-US" sz="1600" b="1" dirty="0">
                <a:cs typeface="Helvetica Neue Ligh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3968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C5BC4-712E-E14B-A4F5-2D77CD8F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kumimoji="1" lang="en-US" altLang="zh-CN" dirty="0"/>
              <a:t>seL4</a:t>
            </a:r>
            <a:r>
              <a:rPr kumimoji="1" lang="zh-CN" altLang="en-US" dirty="0"/>
              <a:t>：被形式化证明的微内核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72B2F4-4B9B-A341-9E07-9A4F00DF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基于</a:t>
            </a:r>
            <a:r>
              <a:rPr kumimoji="1" lang="en-US" altLang="zh-CN" sz="2400" dirty="0"/>
              <a:t>L4</a:t>
            </a:r>
            <a:r>
              <a:rPr kumimoji="1" lang="zh-CN" altLang="en-US" sz="2400" dirty="0"/>
              <a:t>的微内核</a:t>
            </a:r>
            <a:endParaRPr kumimoji="1" lang="en-US" altLang="zh-CN" sz="2400" dirty="0"/>
          </a:p>
          <a:p>
            <a:r>
              <a:rPr kumimoji="1" lang="en-US" altLang="zh-CN" sz="2400" dirty="0"/>
              <a:t>IPC</a:t>
            </a:r>
            <a:r>
              <a:rPr kumimoji="1" lang="zh-CN" altLang="en-US" sz="2400" dirty="0"/>
              <a:t>机制：端点（</a:t>
            </a:r>
            <a:r>
              <a:rPr kumimoji="1" lang="en-US" altLang="zh-CN" sz="2400" dirty="0"/>
              <a:t>endpoint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通过</a:t>
            </a:r>
            <a:r>
              <a:rPr kumimoji="1" lang="en-US" altLang="zh-CN" sz="2000" dirty="0"/>
              <a:t>Capability</a:t>
            </a:r>
            <a:r>
              <a:rPr kumimoji="1" lang="zh-CN" altLang="en-US" sz="2000" dirty="0"/>
              <a:t>进行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的权限判断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Capability</a:t>
            </a:r>
            <a:r>
              <a:rPr kumimoji="1" lang="zh-CN" altLang="en-US" sz="2000" dirty="0"/>
              <a:t>可被复制和传输</a:t>
            </a:r>
            <a:endParaRPr kumimoji="1" lang="en-US" altLang="zh-CN" sz="2000" dirty="0"/>
          </a:p>
          <a:p>
            <a:r>
              <a:rPr kumimoji="1" lang="zh-CN" altLang="en-US" sz="2400" dirty="0"/>
              <a:t>第一个完成形式化验证的内核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8700</a:t>
            </a:r>
            <a:r>
              <a:rPr kumimoji="1" lang="zh-CN" altLang="en-US" sz="2000" dirty="0"/>
              <a:t>行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，</a:t>
            </a:r>
            <a:r>
              <a:rPr kumimoji="1" lang="en-US" altLang="zh-CN" sz="2000" dirty="0">
                <a:highlight>
                  <a:srgbClr val="FFFF00"/>
                </a:highlight>
              </a:rPr>
              <a:t>bug-free!</a:t>
            </a:r>
            <a:r>
              <a:rPr kumimoji="1" lang="zh-CN" altLang="en-US" sz="2000" dirty="0">
                <a:highlight>
                  <a:srgbClr val="FFFF00"/>
                </a:highlight>
              </a:rPr>
              <a:t> 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没有缓冲区溢出、空指针等错误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bug</a:t>
            </a:r>
            <a:r>
              <a:rPr kumimoji="1" lang="zh-CN" altLang="en-US" sz="2000" dirty="0"/>
              <a:t>的定义：取决于</a:t>
            </a:r>
            <a:r>
              <a:rPr kumimoji="1" lang="en-US" altLang="zh-CN" sz="2000" dirty="0"/>
              <a:t>specification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F53E8-6230-7A42-BB17-B4C0BFAA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3BF179-BA21-FF4A-9EBB-9E308A530D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0680" y="492060"/>
            <a:ext cx="1597546" cy="1597546"/>
          </a:xfrm>
          <a:prstGeom prst="ellipse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2529CBE3-55A0-9F4E-8357-F5AFAB08C7A4}"/>
              </a:ext>
            </a:extLst>
          </p:cNvPr>
          <p:cNvSpPr txBox="1"/>
          <p:nvPr/>
        </p:nvSpPr>
        <p:spPr>
          <a:xfrm>
            <a:off x="7109876" y="2137420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cs typeface="Helvetica Neue Light"/>
              </a:rPr>
              <a:t>Gernot</a:t>
            </a:r>
            <a:r>
              <a:rPr lang="zh-CN" altLang="en-US" sz="1600" b="1" dirty="0">
                <a:cs typeface="Helvetica Neue Light"/>
              </a:rPr>
              <a:t> </a:t>
            </a:r>
            <a:r>
              <a:rPr lang="en-US" altLang="zh-CN" sz="1600" b="1" dirty="0" err="1">
                <a:cs typeface="Helvetica Neue Light"/>
              </a:rPr>
              <a:t>Heiser</a:t>
            </a:r>
            <a:endParaRPr lang="en-US" sz="1600" b="1" dirty="0"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353268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67867-42DF-814E-8EF3-23640944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seL4</a:t>
            </a:r>
            <a:r>
              <a:rPr kumimoji="1" lang="zh-CN" altLang="en-US" dirty="0"/>
              <a:t>：被形式化证明的微内核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506BD7-03C9-F147-A7AB-3187D4FA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E565D2-8E6C-D64E-9A00-5A24D7C8F3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0625" y="1617124"/>
            <a:ext cx="5203863" cy="30763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22F2B94-FE94-1047-B96E-C3AFAEDC7D1C}"/>
              </a:ext>
            </a:extLst>
          </p:cNvPr>
          <p:cNvSpPr/>
          <p:nvPr/>
        </p:nvSpPr>
        <p:spPr>
          <a:xfrm>
            <a:off x="3951827" y="529696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Comprehensive Formal Verification of an OS Microkernel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2004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821BFFD-D59F-1248-8C9C-260EAEC8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对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的限制，以方便验证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栈变量不得取引用</a:t>
            </a:r>
            <a:br>
              <a:rPr kumimoji="1" lang="en-US" altLang="zh-CN" sz="2000" dirty="0"/>
            </a:br>
            <a:r>
              <a:rPr kumimoji="1" lang="zh-CN" altLang="en-US" sz="2000" dirty="0"/>
              <a:t>必要时用全局变量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不使用函数指针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不使用</a:t>
            </a:r>
            <a:r>
              <a:rPr kumimoji="1" lang="en-US" altLang="zh-CN" sz="2000" dirty="0"/>
              <a:t>union</a:t>
            </a:r>
          </a:p>
          <a:p>
            <a:r>
              <a:rPr kumimoji="1" lang="zh-CN" altLang="en-US" sz="2200" dirty="0"/>
              <a:t>用</a:t>
            </a:r>
            <a:r>
              <a:rPr kumimoji="1" lang="en-US" altLang="zh-CN" sz="2200" dirty="0"/>
              <a:t>Haskell</a:t>
            </a:r>
            <a:r>
              <a:rPr kumimoji="1" lang="zh-CN" altLang="en-US" sz="2200" dirty="0"/>
              <a:t>构造原型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用于验证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再手动转换为</a:t>
            </a:r>
            <a:r>
              <a:rPr kumimoji="1" lang="en-US" altLang="zh-CN" sz="2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30639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A9ECE-24F4-4E40-BDF9-DA8428BE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QNX</a:t>
            </a:r>
            <a:r>
              <a:rPr kumimoji="1" lang="zh-CN" altLang="en-US" dirty="0"/>
              <a:t> </a:t>
            </a:r>
            <a:r>
              <a:rPr kumimoji="1" lang="en-US" altLang="zh-CN" dirty="0"/>
              <a:t>Neutrino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ED430-66E0-5147-8D94-4460F2790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QNX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Quick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UNIX</a:t>
            </a:r>
          </a:p>
          <a:p>
            <a:pPr lvl="1"/>
            <a:r>
              <a:rPr kumimoji="1" lang="zh-CN" altLang="en-US" sz="2000" dirty="0"/>
              <a:t>使用</a:t>
            </a:r>
            <a:r>
              <a:rPr kumimoji="1" lang="en-US" altLang="zh-CN" sz="2000" dirty="0"/>
              <a:t>Neutrino</a:t>
            </a:r>
            <a:r>
              <a:rPr kumimoji="1" lang="zh-CN" altLang="en-US" sz="2000" dirty="0"/>
              <a:t>微内核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1980</a:t>
            </a:r>
            <a:r>
              <a:rPr kumimoji="1" lang="zh-CN" altLang="en-US" sz="2000" dirty="0"/>
              <a:t>年发布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2004</a:t>
            </a:r>
            <a:r>
              <a:rPr kumimoji="1" lang="zh-CN" altLang="en-US" sz="2000" dirty="0"/>
              <a:t>年被</a:t>
            </a:r>
            <a:r>
              <a:rPr kumimoji="1" lang="en-US" altLang="zh-CN" sz="2000" dirty="0"/>
              <a:t>Harman</a:t>
            </a:r>
            <a:r>
              <a:rPr kumimoji="1" lang="zh-CN" altLang="en-US" sz="2000" dirty="0"/>
              <a:t>国际收购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2010</a:t>
            </a:r>
            <a:r>
              <a:rPr kumimoji="1" lang="zh-CN" altLang="en-US" sz="2000" dirty="0"/>
              <a:t>被黑莓收购</a:t>
            </a:r>
            <a:endParaRPr kumimoji="1" lang="en-US" altLang="zh-CN" sz="2000" dirty="0"/>
          </a:p>
          <a:p>
            <a:r>
              <a:rPr kumimoji="1" lang="zh-CN" altLang="en-US" sz="2400" dirty="0"/>
              <a:t>满足实时要求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广泛用于交通、能源、医疗、航天航空领域，如波音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9E4BF-B437-AF46-9519-3F484E2D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60C978-DF77-CA47-BBD3-2DAE27F1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696867"/>
            <a:ext cx="3682752" cy="307840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F75805-3ADB-FF44-B02E-9E2084BD3B36}"/>
              </a:ext>
            </a:extLst>
          </p:cNvPr>
          <p:cNvSpPr/>
          <p:nvPr/>
        </p:nvSpPr>
        <p:spPr>
          <a:xfrm>
            <a:off x="6168964" y="5286027"/>
            <a:ext cx="17874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http://www.qnx.com/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52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73970-C605-904F-B20B-CCA66968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Google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Fuchsia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CC603-B2A4-F146-B0C7-E32C3D30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Google</a:t>
            </a:r>
            <a:r>
              <a:rPr kumimoji="1" lang="zh-CN" altLang="en-US" dirty="0"/>
              <a:t>开发的全新</a:t>
            </a:r>
            <a:r>
              <a:rPr kumimoji="1" lang="en-US" altLang="zh-CN" dirty="0"/>
              <a:t>OS</a:t>
            </a:r>
          </a:p>
          <a:p>
            <a:pPr lvl="1"/>
            <a:r>
              <a:rPr kumimoji="1" lang="zh-CN" altLang="en-US" dirty="0"/>
              <a:t>试图覆盖多个领域，具体用途未知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Zircon</a:t>
            </a:r>
            <a:r>
              <a:rPr kumimoji="1" lang="zh-CN" altLang="en-US" dirty="0"/>
              <a:t>微内核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仅提供</a:t>
            </a:r>
            <a:r>
              <a:rPr kumimoji="1" lang="en-US" altLang="zh-CN" dirty="0"/>
              <a:t>IPC</a:t>
            </a:r>
            <a:r>
              <a:rPr kumimoji="1" lang="zh-CN" altLang="en-US" dirty="0"/>
              <a:t>、进程管理、地址空间管理等功能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3869EF-3F4B-5141-8A34-29581190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165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3E49A-9369-B348-A3D5-58CDC690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MINIX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96D4A-D258-9A43-A689-7C65E968E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教学用的微内核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阿姆斯特丹自由大学，</a:t>
            </a:r>
            <a:r>
              <a:rPr kumimoji="1" lang="en-US" altLang="zh-CN" sz="2000" dirty="0"/>
              <a:t>Andrew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Tanenbaum</a:t>
            </a:r>
            <a:r>
              <a:rPr kumimoji="1" lang="zh-CN" altLang="en-US" sz="2000" dirty="0"/>
              <a:t>教授</a:t>
            </a:r>
            <a:endParaRPr kumimoji="1" lang="en-US" altLang="zh-CN" sz="2000" dirty="0"/>
          </a:p>
          <a:p>
            <a:r>
              <a:rPr kumimoji="1" lang="zh-CN" altLang="en-US" sz="2400" dirty="0"/>
              <a:t>被用于</a:t>
            </a:r>
            <a:r>
              <a:rPr kumimoji="1" lang="en-US" altLang="zh-CN" sz="2400" dirty="0"/>
              <a:t>Intel</a:t>
            </a:r>
            <a:r>
              <a:rPr kumimoji="1" lang="zh-CN" altLang="en-US" sz="2400" dirty="0"/>
              <a:t>的</a:t>
            </a:r>
            <a:r>
              <a:rPr kumimoji="1" lang="en-US" altLang="zh-CN" sz="2400" dirty="0"/>
              <a:t>ME</a:t>
            </a:r>
            <a:r>
              <a:rPr kumimoji="1" lang="zh-CN" altLang="en-US" sz="2400" dirty="0"/>
              <a:t>模块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也许是世界上用的最多的操作系统</a:t>
            </a:r>
            <a:r>
              <a:rPr kumimoji="1" lang="en-US" altLang="zh-CN" sz="2000" dirty="0"/>
              <a:t>...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40803-EE7D-0945-88AA-7839F0A9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FD23F8-90F4-A44A-9CEA-999F6D6CE5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95170" y="677838"/>
            <a:ext cx="1623021" cy="1623021"/>
          </a:xfrm>
          <a:prstGeom prst="ellipse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88D5153-9A74-854B-B709-E07695C2C3FF}"/>
              </a:ext>
            </a:extLst>
          </p:cNvPr>
          <p:cNvSpPr/>
          <p:nvPr/>
        </p:nvSpPr>
        <p:spPr>
          <a:xfrm>
            <a:off x="6420041" y="2416160"/>
            <a:ext cx="2373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b="1" dirty="0"/>
              <a:t>Andrew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Tanenbaum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D0DAA0-ECAA-2340-8F5E-91CDD4702C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286" y="3491127"/>
            <a:ext cx="7281428" cy="167891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DE95891-02B1-F04C-BB6F-EAA5B472E8E7}"/>
              </a:ext>
            </a:extLst>
          </p:cNvPr>
          <p:cNvSpPr/>
          <p:nvPr/>
        </p:nvSpPr>
        <p:spPr>
          <a:xfrm>
            <a:off x="1025629" y="5305772"/>
            <a:ext cx="6606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https://www.zdnet.com/article/minix-intels-hidden-in-chip-operating-system/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625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7D507-088D-074C-8092-C8A15312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7F5600-7BCF-5C46-9762-CE435E8E2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易于扩展：直接添加一个用户进程即可为操作系统增加服务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易于移植：大部分模块与底层硬件无关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更加可靠：在内核模式运行的代码量大大减少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更加安全：即使存在漏洞，服务与服务之间存在进程粒度隔离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更加健壮：单个模块出现问题不会影响到系统整体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200" dirty="0"/>
              <a:t>上世纪</a:t>
            </a:r>
            <a:r>
              <a:rPr kumimoji="1" lang="en-US" altLang="zh-CN" sz="2200" dirty="0"/>
              <a:t>80/90</a:t>
            </a:r>
            <a:r>
              <a:rPr kumimoji="1" lang="zh-CN" altLang="en-US" sz="2200" dirty="0"/>
              <a:t>年代，</a:t>
            </a:r>
            <a:r>
              <a:rPr kumimoji="1" lang="en-US" altLang="zh-CN" sz="2200" dirty="0"/>
              <a:t>"</a:t>
            </a:r>
            <a:r>
              <a:rPr kumimoji="1" lang="zh-CN" altLang="en-US" sz="2200" dirty="0"/>
              <a:t>微内核</a:t>
            </a:r>
            <a:r>
              <a:rPr kumimoji="1" lang="en-US" altLang="zh-CN" sz="2200" dirty="0"/>
              <a:t>"</a:t>
            </a:r>
            <a:r>
              <a:rPr kumimoji="1" lang="zh-CN" altLang="en-US" sz="2200" dirty="0"/>
              <a:t>一度成为下一代操作系统的代名词</a:t>
            </a:r>
            <a:endParaRPr kumimoji="1" lang="en-US" altLang="zh-CN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B2BE5-BD51-A04C-BD1B-AD727AE4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483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BD09A-EDBD-B945-B81C-C1CA7187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CDE1B-7449-9041-BD70-188F89150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缺点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性能较差：内核中的模块交互由函数调用变成了进程间通信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生态欠缺：尚未形成像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一样具有广泛开发者的社区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重用问题：重用宏内核操作系统提供兼容性，带来新问题</a:t>
            </a:r>
          </a:p>
          <a:p>
            <a:endParaRPr kumimoji="1"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6CD9-9115-BA43-95A3-AD4AED52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133DC1-2B9C-8C44-8AAA-75AE0236C551}"/>
              </a:ext>
            </a:extLst>
          </p:cNvPr>
          <p:cNvSpPr/>
          <p:nvPr/>
        </p:nvSpPr>
        <p:spPr>
          <a:xfrm>
            <a:off x="4974750" y="3989882"/>
            <a:ext cx="809738" cy="4673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服务</a:t>
            </a:r>
            <a:r>
              <a:rPr kumimoji="1"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-B</a:t>
            </a:r>
            <a:endParaRPr kumimoji="1" lang="zh-CN" altLang="en-US" sz="1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5E1A0C-07FD-7545-ADEF-A4EB59142D25}"/>
              </a:ext>
            </a:extLst>
          </p:cNvPr>
          <p:cNvSpPr/>
          <p:nvPr/>
        </p:nvSpPr>
        <p:spPr>
          <a:xfrm>
            <a:off x="879863" y="3991850"/>
            <a:ext cx="1835845" cy="9276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kumimoji="1" lang="zh-CN" altLang="en-US" sz="1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2D0ADB-23B6-5841-94DA-882C78AD37B9}"/>
              </a:ext>
            </a:extLst>
          </p:cNvPr>
          <p:cNvSpPr/>
          <p:nvPr/>
        </p:nvSpPr>
        <p:spPr>
          <a:xfrm>
            <a:off x="879863" y="3653297"/>
            <a:ext cx="1835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函数调用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5FF2914-CCD6-1F42-851E-43D2CCB72A24}"/>
              </a:ext>
            </a:extLst>
          </p:cNvPr>
          <p:cNvSpPr/>
          <p:nvPr/>
        </p:nvSpPr>
        <p:spPr>
          <a:xfrm>
            <a:off x="1081212" y="427988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DFC513C-4C01-7349-AE92-272202D85968}"/>
              </a:ext>
            </a:extLst>
          </p:cNvPr>
          <p:cNvSpPr/>
          <p:nvPr/>
        </p:nvSpPr>
        <p:spPr>
          <a:xfrm>
            <a:off x="2392031" y="427988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0D7907-D580-8549-9122-8719E01BD6ED}"/>
              </a:ext>
            </a:extLst>
          </p:cNvPr>
          <p:cNvSpPr/>
          <p:nvPr/>
        </p:nvSpPr>
        <p:spPr>
          <a:xfrm>
            <a:off x="3333173" y="3991849"/>
            <a:ext cx="809737" cy="451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服务</a:t>
            </a:r>
            <a:r>
              <a:rPr kumimoji="1"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-A</a:t>
            </a:r>
            <a:endParaRPr kumimoji="1" lang="zh-CN" altLang="en-US" sz="1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cxnSp>
        <p:nvCxnSpPr>
          <p:cNvPr id="11" name="曲线连接符 10">
            <a:extLst>
              <a:ext uri="{FF2B5EF4-FFF2-40B4-BE49-F238E27FC236}">
                <a16:creationId xmlns:a16="http://schemas.microsoft.com/office/drawing/2014/main" id="{948011AB-EAEC-1E47-9F7F-165945A05AF3}"/>
              </a:ext>
            </a:extLst>
          </p:cNvPr>
          <p:cNvCxnSpPr>
            <a:stCxn id="8" idx="4"/>
            <a:endCxn id="9" idx="4"/>
          </p:cNvCxnSpPr>
          <p:nvPr/>
        </p:nvCxnSpPr>
        <p:spPr>
          <a:xfrm rot="16200000" flipH="1">
            <a:off x="1808629" y="3768488"/>
            <a:ext cx="12700" cy="131081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9BFEBCA0-94E4-C54F-A3C6-75E0CDD09283}"/>
              </a:ext>
            </a:extLst>
          </p:cNvPr>
          <p:cNvSpPr/>
          <p:nvPr/>
        </p:nvSpPr>
        <p:spPr>
          <a:xfrm>
            <a:off x="3840203" y="429258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FF3C640-5854-424F-9564-490E273F0C73}"/>
              </a:ext>
            </a:extLst>
          </p:cNvPr>
          <p:cNvSpPr/>
          <p:nvPr/>
        </p:nvSpPr>
        <p:spPr>
          <a:xfrm>
            <a:off x="5151022" y="429258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9CA583-DFAA-DC46-9BA5-C3CD4110EC0C}"/>
              </a:ext>
            </a:extLst>
          </p:cNvPr>
          <p:cNvSpPr/>
          <p:nvPr/>
        </p:nvSpPr>
        <p:spPr>
          <a:xfrm>
            <a:off x="3333174" y="3649588"/>
            <a:ext cx="24513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同步进程间调用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34DE84-17BD-D540-AC59-54477FCCEE9C}"/>
              </a:ext>
            </a:extLst>
          </p:cNvPr>
          <p:cNvSpPr/>
          <p:nvPr/>
        </p:nvSpPr>
        <p:spPr>
          <a:xfrm>
            <a:off x="3336781" y="4499970"/>
            <a:ext cx="2447707" cy="400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kumimoji="1" lang="zh-CN" altLang="en-US" sz="1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B2EE8041-196F-E446-83CE-573F8C946F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7620" y="3781189"/>
            <a:ext cx="12700" cy="131081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6CA3F5CF-51AC-D543-B6FB-5DD283759AFB}"/>
              </a:ext>
            </a:extLst>
          </p:cNvPr>
          <p:cNvSpPr/>
          <p:nvPr/>
        </p:nvSpPr>
        <p:spPr>
          <a:xfrm>
            <a:off x="897056" y="4257445"/>
            <a:ext cx="18358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accent1"/>
                </a:solidFill>
              </a:rPr>
              <a:t>~30</a:t>
            </a:r>
            <a:r>
              <a:rPr lang="zh-CN" altLang="en-US" sz="1200" b="1" dirty="0">
                <a:solidFill>
                  <a:schemeClr val="accent1"/>
                </a:solidFill>
              </a:rPr>
              <a:t> </a:t>
            </a:r>
            <a:r>
              <a:rPr lang="en-US" altLang="zh-CN" sz="1200" b="1" dirty="0">
                <a:solidFill>
                  <a:schemeClr val="accent1"/>
                </a:solidFill>
              </a:rPr>
              <a:t>cycles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F5F0DB-DC19-8A4D-8952-B410982C938A}"/>
              </a:ext>
            </a:extLst>
          </p:cNvPr>
          <p:cNvSpPr/>
          <p:nvPr/>
        </p:nvSpPr>
        <p:spPr>
          <a:xfrm>
            <a:off x="3638928" y="3996461"/>
            <a:ext cx="18358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accent1"/>
                </a:solidFill>
              </a:rPr>
              <a:t>~4500</a:t>
            </a:r>
            <a:br>
              <a:rPr lang="en-US" altLang="zh-CN" sz="1200" b="1" dirty="0">
                <a:solidFill>
                  <a:schemeClr val="accent1"/>
                </a:solidFill>
              </a:rPr>
            </a:br>
            <a:r>
              <a:rPr lang="zh-CN" altLang="en-US" sz="1200" b="1" dirty="0">
                <a:solidFill>
                  <a:schemeClr val="accent1"/>
                </a:solidFill>
              </a:rPr>
              <a:t> </a:t>
            </a:r>
            <a:r>
              <a:rPr lang="en-US" altLang="zh-CN" sz="1200" b="1" dirty="0">
                <a:solidFill>
                  <a:schemeClr val="accent1"/>
                </a:solidFill>
              </a:rPr>
              <a:t>cycles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31D00B-1F52-7447-8CCB-6F92D08C6D97}"/>
              </a:ext>
            </a:extLst>
          </p:cNvPr>
          <p:cNvSpPr/>
          <p:nvPr/>
        </p:nvSpPr>
        <p:spPr>
          <a:xfrm>
            <a:off x="4250804" y="4649521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微内核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F99A5C-0331-FA42-AFB8-F529C7FAB772}"/>
              </a:ext>
            </a:extLst>
          </p:cNvPr>
          <p:cNvSpPr/>
          <p:nvPr/>
        </p:nvSpPr>
        <p:spPr>
          <a:xfrm>
            <a:off x="1474621" y="4646149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宏内核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44C2E39-A74D-E749-9502-C4C7BD05B8B1}"/>
              </a:ext>
            </a:extLst>
          </p:cNvPr>
          <p:cNvGrpSpPr/>
          <p:nvPr/>
        </p:nvGrpSpPr>
        <p:grpSpPr>
          <a:xfrm>
            <a:off x="5985763" y="3737004"/>
            <a:ext cx="2746475" cy="1361086"/>
            <a:chOff x="3203848" y="4081636"/>
            <a:chExt cx="2746475" cy="1361086"/>
          </a:xfrm>
        </p:grpSpPr>
        <p:graphicFrame>
          <p:nvGraphicFramePr>
            <p:cNvPr id="21" name="图表 20">
              <a:extLst>
                <a:ext uri="{FF2B5EF4-FFF2-40B4-BE49-F238E27FC236}">
                  <a16:creationId xmlns:a16="http://schemas.microsoft.com/office/drawing/2014/main" id="{FB0B400E-6AEF-8C48-BA20-1887BC64EC2D}"/>
                </a:ext>
              </a:extLst>
            </p:cNvPr>
            <p:cNvGraphicFramePr/>
            <p:nvPr/>
          </p:nvGraphicFramePr>
          <p:xfrm>
            <a:off x="3203848" y="4081636"/>
            <a:ext cx="2447707" cy="136108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7BD29CB-0DDB-714F-B2AD-9D09BB246214}"/>
                </a:ext>
              </a:extLst>
            </p:cNvPr>
            <p:cNvSpPr/>
            <p:nvPr/>
          </p:nvSpPr>
          <p:spPr>
            <a:xfrm>
              <a:off x="4466581" y="4444971"/>
              <a:ext cx="46679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kumimoji="1" lang="en-US" altLang="zh-CN" sz="1100" b="1" dirty="0">
                  <a:solidFill>
                    <a:schemeClr val="bg1"/>
                  </a:solidFill>
                </a:rPr>
                <a:t>30%</a:t>
              </a:r>
              <a:endParaRPr kumimoji="1" lang="zh-CN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01ABB3-3BED-BC4A-A3EF-B1EC79F2FB20}"/>
                </a:ext>
              </a:extLst>
            </p:cNvPr>
            <p:cNvSpPr/>
            <p:nvPr/>
          </p:nvSpPr>
          <p:spPr>
            <a:xfrm>
              <a:off x="4919272" y="4137194"/>
              <a:ext cx="1031051" cy="624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kumimoji="1" lang="en-US" altLang="zh-CN" sz="1400" b="1" dirty="0" err="1">
                  <a:solidFill>
                    <a:schemeClr val="accent1"/>
                  </a:solidFill>
                </a:rPr>
                <a:t>Sqlite</a:t>
              </a:r>
              <a:r>
                <a:rPr kumimoji="1" lang="zh-CN" altLang="en-US" sz="1400" b="1" dirty="0">
                  <a:solidFill>
                    <a:schemeClr val="accent1"/>
                  </a:solidFill>
                </a:rPr>
                <a:t>中的</a:t>
              </a:r>
              <a:br>
                <a:rPr kumimoji="1" lang="en-US" altLang="zh-CN" sz="1400" b="1" dirty="0">
                  <a:solidFill>
                    <a:schemeClr val="accent1"/>
                  </a:solidFill>
                </a:rPr>
              </a:br>
              <a:r>
                <a:rPr kumimoji="1" lang="zh-CN" altLang="en-US" sz="1400" b="1" dirty="0">
                  <a:solidFill>
                    <a:schemeClr val="accent1"/>
                  </a:solidFill>
                </a:rPr>
                <a:t>通信开销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8548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89083-71E3-2E43-AB80-71C63023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混合内核架构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225E6-0E46-3540-90CA-2EAA2CFE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宏内核与微内核的结合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将需要性能的模块重新放回内核态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macOS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iOS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Mach</a:t>
            </a:r>
            <a:r>
              <a:rPr kumimoji="1" lang="zh-CN" altLang="en-US" sz="2000" dirty="0"/>
              <a:t>微内核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BSD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4.3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系统框架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Windows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NT</a:t>
            </a:r>
            <a:r>
              <a:rPr kumimoji="1" lang="zh-CN" altLang="en-US" sz="2000" dirty="0"/>
              <a:t>：微内核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内核态的系统服务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系统框架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1F969-4A93-6941-9232-DF84B6A9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Picture 2" descr="http://upload.wikimedia.org/wikipedia/commons/thumb/d/d0/OS-structure2.svg/2000px-OS-structure2.svg.png">
            <a:extLst>
              <a:ext uri="{FF2B5EF4-FFF2-40B4-BE49-F238E27FC236}">
                <a16:creationId xmlns:a16="http://schemas.microsoft.com/office/drawing/2014/main" id="{CB44F062-881B-2743-8DCB-D1F99218AA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15616" y="3345649"/>
            <a:ext cx="6912768" cy="20716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92BC0D4-7A73-BC46-9540-16EEE35C3076}"/>
              </a:ext>
            </a:extLst>
          </p:cNvPr>
          <p:cNvSpPr/>
          <p:nvPr/>
        </p:nvSpPr>
        <p:spPr>
          <a:xfrm>
            <a:off x="2286000" y="542754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" altLang="zh-CN" sz="1100" dirty="0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https://zh.wikipedia.org/wiki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微内核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807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E8D18-5C42-A04D-A9C3-00D272E0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Windows</a:t>
            </a:r>
            <a:r>
              <a:rPr kumimoji="1" lang="zh-CN" altLang="en-US" dirty="0"/>
              <a:t> </a:t>
            </a:r>
            <a:r>
              <a:rPr kumimoji="1" lang="en-US" altLang="zh-CN" dirty="0"/>
              <a:t>NT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34ACE3-DFF1-F749-A5D0-3919353E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B4DEB8-441C-8644-B587-8C9DDB1169F8}"/>
              </a:ext>
            </a:extLst>
          </p:cNvPr>
          <p:cNvSpPr/>
          <p:nvPr/>
        </p:nvSpPr>
        <p:spPr>
          <a:xfrm>
            <a:off x="179512" y="5318292"/>
            <a:ext cx="79026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/>
                </a:solidFill>
              </a:rPr>
              <a:t>https://</a:t>
            </a:r>
            <a:r>
              <a:rPr lang="en-US" altLang="zh-CN" sz="1100" dirty="0" err="1">
                <a:solidFill>
                  <a:schemeClr val="tx2"/>
                </a:solidFill>
              </a:rPr>
              <a:t>en.wikipedia.org</a:t>
            </a:r>
            <a:r>
              <a:rPr lang="en-US" altLang="zh-CN" sz="1100" dirty="0">
                <a:solidFill>
                  <a:schemeClr val="tx2"/>
                </a:solidFill>
              </a:rPr>
              <a:t>/wiki/</a:t>
            </a:r>
            <a:r>
              <a:rPr lang="en-US" altLang="zh-CN" sz="1100" dirty="0" err="1">
                <a:solidFill>
                  <a:schemeClr val="tx2"/>
                </a:solidFill>
              </a:rPr>
              <a:t>Architecture_of_Windows_NT</a:t>
            </a:r>
            <a:endParaRPr lang="zh-CN" altLang="en-US" sz="1100" dirty="0">
              <a:solidFill>
                <a:schemeClr val="tx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A903F9-FA08-9940-AFD2-2AD7B06939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9992" y="-10589"/>
            <a:ext cx="4456864" cy="5715000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B537EF6-06AA-E847-9CA7-03867F746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2000" dirty="0"/>
              <a:t>Integral</a:t>
            </a:r>
            <a:r>
              <a:rPr kumimoji="1" lang="zh-CN" altLang="en-US" sz="2000" dirty="0"/>
              <a:t>子系统（用户态）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负责处理</a:t>
            </a:r>
            <a:r>
              <a:rPr kumimoji="1" lang="en-US" altLang="zh-CN" sz="1800" dirty="0"/>
              <a:t>I/O</a:t>
            </a:r>
            <a:r>
              <a:rPr kumimoji="1" lang="zh-CN" altLang="en-US" sz="1800" dirty="0"/>
              <a:t>、对象</a:t>
            </a:r>
            <a:br>
              <a:rPr kumimoji="1" lang="en-US" altLang="zh-CN" sz="1800" dirty="0"/>
            </a:br>
            <a:r>
              <a:rPr kumimoji="1" lang="zh-CN" altLang="en-US" sz="1800" dirty="0"/>
              <a:t>管理、安全、进程等</a:t>
            </a:r>
            <a:endParaRPr kumimoji="1" lang="en-US" altLang="zh-CN" sz="1800" dirty="0"/>
          </a:p>
          <a:p>
            <a:r>
              <a:rPr kumimoji="1" lang="zh-CN" altLang="en-US" sz="2000" dirty="0"/>
              <a:t>环境子系统（用户态）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POSIX</a:t>
            </a:r>
          </a:p>
          <a:p>
            <a:r>
              <a:rPr kumimoji="1" lang="en-US" altLang="zh-CN" sz="2000" dirty="0"/>
              <a:t>Executive</a:t>
            </a:r>
            <a:r>
              <a:rPr kumimoji="1" lang="zh-CN" altLang="en-US" sz="2000" dirty="0"/>
              <a:t>（内核态）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为用户态子系统提供服务</a:t>
            </a:r>
            <a:endParaRPr kumimoji="1" lang="en-US" altLang="zh-CN" sz="1800" dirty="0"/>
          </a:p>
          <a:p>
            <a:r>
              <a:rPr kumimoji="1" lang="en-US" altLang="zh-CN" sz="2000" dirty="0"/>
              <a:t>Microkernel</a:t>
            </a:r>
          </a:p>
          <a:p>
            <a:pPr lvl="1"/>
            <a:r>
              <a:rPr kumimoji="1" lang="zh-CN" altLang="en-US" sz="1800" dirty="0"/>
              <a:t>提供进程间同步等功能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31883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8329B-127C-934F-8732-865E88FB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macOS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4D3AF-AADF-B14C-B6CC-1E2D2AA25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XNU</a:t>
            </a:r>
            <a:r>
              <a:rPr kumimoji="1" lang="zh-CN" altLang="en-US" sz="2000" dirty="0"/>
              <a:t>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基于</a:t>
            </a:r>
            <a:r>
              <a:rPr kumimoji="1" lang="en-US" altLang="zh-CN" sz="1800" dirty="0"/>
              <a:t>Mach-2.5</a:t>
            </a:r>
            <a:r>
              <a:rPr kumimoji="1" lang="zh-CN" altLang="en-US" sz="1800" dirty="0"/>
              <a:t>打造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BSD</a:t>
            </a:r>
            <a:r>
              <a:rPr kumimoji="1" lang="zh-CN" altLang="en-US" sz="1800" dirty="0"/>
              <a:t>代码提供文件系统、</a:t>
            </a:r>
            <a:br>
              <a:rPr kumimoji="1" lang="en-US" altLang="zh-CN" sz="1800" dirty="0"/>
            </a:br>
            <a:r>
              <a:rPr kumimoji="1" lang="zh-CN" altLang="en-US" sz="1800" dirty="0"/>
              <a:t>网络、</a:t>
            </a:r>
            <a:r>
              <a:rPr kumimoji="1" lang="en-US" altLang="zh-CN" sz="1800" dirty="0"/>
              <a:t>POSIX</a:t>
            </a:r>
            <a:r>
              <a:rPr kumimoji="1" lang="zh-CN" altLang="en-US" sz="1800" dirty="0"/>
              <a:t>接口等</a:t>
            </a:r>
            <a:endParaRPr kumimoji="1" lang="en-US" altLang="zh-CN" sz="1800" dirty="0"/>
          </a:p>
          <a:p>
            <a:r>
              <a:rPr kumimoji="1" lang="en-US" altLang="zh-CN" sz="2000" dirty="0"/>
              <a:t>macOS</a:t>
            </a:r>
            <a:r>
              <a:rPr kumimoji="1" lang="zh-CN" altLang="en-US" sz="2000" dirty="0"/>
              <a:t>与</a:t>
            </a:r>
            <a:r>
              <a:rPr kumimoji="1" lang="en-US" altLang="zh-CN" sz="2000" dirty="0"/>
              <a:t>iOS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18DE7-FDC9-3B4A-A9F8-E5F02F1F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21A19E-0129-994D-AE45-CF625DFC4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657143"/>
            <a:ext cx="5080000" cy="4787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7D97257-6235-7C4F-9A3A-B54D1E19D2C4}"/>
              </a:ext>
            </a:extLst>
          </p:cNvPr>
          <p:cNvSpPr/>
          <p:nvPr/>
        </p:nvSpPr>
        <p:spPr>
          <a:xfrm>
            <a:off x="179512" y="5318292"/>
            <a:ext cx="79026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/>
                </a:solidFill>
              </a:rPr>
              <a:t>https://</a:t>
            </a:r>
            <a:r>
              <a:rPr lang="en-US" altLang="zh-CN" sz="1100" dirty="0" err="1">
                <a:solidFill>
                  <a:schemeClr val="tx2"/>
                </a:solidFill>
              </a:rPr>
              <a:t>en.wikipedia.org</a:t>
            </a:r>
            <a:r>
              <a:rPr lang="en-US" altLang="zh-CN" sz="1100" dirty="0">
                <a:solidFill>
                  <a:schemeClr val="tx2"/>
                </a:solidFill>
              </a:rPr>
              <a:t>/wiki/</a:t>
            </a:r>
            <a:r>
              <a:rPr lang="en-US" altLang="zh-CN" sz="1100" dirty="0" err="1">
                <a:solidFill>
                  <a:schemeClr val="tx2"/>
                </a:solidFill>
              </a:rPr>
              <a:t>Architecture_of_macOS</a:t>
            </a:r>
            <a:endParaRPr lang="zh-CN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17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外核</a:t>
            </a:r>
            <a:r>
              <a:rPr kumimoji="1" lang="en-US" altLang="zh-CN" sz="3200" dirty="0"/>
              <a:t>+</a:t>
            </a:r>
            <a:r>
              <a:rPr kumimoji="1" lang="zh-CN" altLang="en-US" sz="3200" dirty="0"/>
              <a:t>库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（</a:t>
            </a:r>
            <a:r>
              <a:rPr kumimoji="1" lang="en-US" altLang="zh-CN" sz="3200" dirty="0"/>
              <a:t>Exokernel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+</a:t>
            </a:r>
            <a:r>
              <a:rPr kumimoji="1" lang="zh-CN" altLang="en-US" sz="3200" dirty="0"/>
              <a:t> </a:t>
            </a:r>
            <a:r>
              <a:rPr kumimoji="1" lang="en-US" altLang="zh-CN" sz="3200" dirty="0" err="1"/>
              <a:t>LibOS</a:t>
            </a:r>
            <a:r>
              <a:rPr kumimoji="1" lang="zh-CN" altLang="en-US" sz="32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52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40134-FF72-CB48-91EB-8FFE41D0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外核架构（</a:t>
            </a:r>
            <a:r>
              <a:rPr kumimoji="1" lang="en-US" altLang="zh-CN" dirty="0"/>
              <a:t>Exokernel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16709-C4D6-5346-91BB-DB8C7C4F3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Exokernel</a:t>
            </a:r>
            <a:r>
              <a:rPr kumimoji="1" lang="zh-CN" altLang="en-US" sz="2000" dirty="0"/>
              <a:t> 不提供硬件抽象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"</a:t>
            </a:r>
            <a:r>
              <a:rPr kumimoji="1" lang="zh-CN" altLang="en-US" sz="1800" dirty="0"/>
              <a:t>只要内核提供抽象，就不能实现性能最大化</a:t>
            </a:r>
            <a:r>
              <a:rPr kumimoji="1" lang="en-US" altLang="zh-CN" sz="1800" dirty="0"/>
              <a:t>"</a:t>
            </a:r>
          </a:p>
          <a:p>
            <a:pPr lvl="1"/>
            <a:r>
              <a:rPr kumimoji="1" lang="zh-CN" altLang="en-US" sz="1800" dirty="0"/>
              <a:t>只有应用才知道最适合的抽象（</a:t>
            </a:r>
            <a:r>
              <a:rPr kumimoji="1" lang="en-US" altLang="zh-CN" sz="1800" dirty="0"/>
              <a:t>end-to-end</a:t>
            </a:r>
            <a:r>
              <a:rPr kumimoji="1" lang="zh-CN" altLang="en-US" sz="1800" dirty="0"/>
              <a:t>原则）</a:t>
            </a:r>
            <a:endParaRPr kumimoji="1" lang="en-US" altLang="zh-CN" sz="1800" dirty="0"/>
          </a:p>
          <a:p>
            <a:r>
              <a:rPr kumimoji="1" lang="en-US" altLang="zh-CN" sz="2000" dirty="0"/>
              <a:t>Exokernel</a:t>
            </a:r>
            <a:r>
              <a:rPr kumimoji="1" lang="zh-CN" altLang="en-US" sz="2000" dirty="0"/>
              <a:t> 不管理资源，只管理应用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负责将计算资源与应用的绑定，以及资源的回收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保证多个应用之间的隔离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r>
              <a:rPr kumimoji="1" lang="zh-CN" altLang="en-US" sz="2000" dirty="0"/>
              <a:t>回顾：</a:t>
            </a:r>
            <a:r>
              <a:rPr kumimoji="1" lang="zh-CN" altLang="en-US" sz="2000" dirty="0">
                <a:solidFill>
                  <a:schemeClr val="accent1"/>
                </a:solidFill>
              </a:rPr>
              <a:t>操作系统 </a:t>
            </a:r>
            <a:r>
              <a:rPr kumimoji="1" lang="en-US" altLang="zh-CN" sz="2000" dirty="0">
                <a:solidFill>
                  <a:schemeClr val="accent1"/>
                </a:solidFill>
              </a:rPr>
              <a:t>=</a:t>
            </a:r>
            <a:r>
              <a:rPr kumimoji="1" lang="zh-CN" altLang="en-US" sz="2000" dirty="0">
                <a:solidFill>
                  <a:schemeClr val="accent1"/>
                </a:solidFill>
              </a:rPr>
              <a:t> 服务应用 </a:t>
            </a:r>
            <a:r>
              <a:rPr kumimoji="1" lang="en-US" altLang="zh-CN" sz="2000" dirty="0">
                <a:solidFill>
                  <a:schemeClr val="accent1"/>
                </a:solidFill>
              </a:rPr>
              <a:t>+</a:t>
            </a:r>
            <a:r>
              <a:rPr kumimoji="1" lang="zh-CN" altLang="en-US" sz="2000" dirty="0">
                <a:solidFill>
                  <a:schemeClr val="accent1"/>
                </a:solidFill>
              </a:rPr>
              <a:t> 管理应用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D89FD-8A0B-AE4A-9F30-03CFCF48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C844446-D38C-7948-9D7B-7EDE3F473305}"/>
              </a:ext>
            </a:extLst>
          </p:cNvPr>
          <p:cNvCxnSpPr/>
          <p:nvPr/>
        </p:nvCxnSpPr>
        <p:spPr>
          <a:xfrm flipV="1">
            <a:off x="4534694" y="4029741"/>
            <a:ext cx="360040" cy="3600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726B672B-F45B-0B43-80CC-2BD8211F75FB}"/>
              </a:ext>
            </a:extLst>
          </p:cNvPr>
          <p:cNvCxnSpPr>
            <a:cxnSpLocks/>
          </p:cNvCxnSpPr>
          <p:nvPr/>
        </p:nvCxnSpPr>
        <p:spPr>
          <a:xfrm>
            <a:off x="3635896" y="4873725"/>
            <a:ext cx="288032" cy="2314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9BE56FC-DDD5-1245-A515-48B2DE64EBA4}"/>
              </a:ext>
            </a:extLst>
          </p:cNvPr>
          <p:cNvCxnSpPr>
            <a:cxnSpLocks/>
          </p:cNvCxnSpPr>
          <p:nvPr/>
        </p:nvCxnSpPr>
        <p:spPr>
          <a:xfrm>
            <a:off x="3923928" y="5105137"/>
            <a:ext cx="122413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8FA833B-7562-0C4A-9E91-DB271C36131F}"/>
              </a:ext>
            </a:extLst>
          </p:cNvPr>
          <p:cNvCxnSpPr>
            <a:cxnSpLocks/>
          </p:cNvCxnSpPr>
          <p:nvPr/>
        </p:nvCxnSpPr>
        <p:spPr>
          <a:xfrm>
            <a:off x="4894734" y="4029741"/>
            <a:ext cx="288034" cy="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165B157-F0FF-7142-94B7-4597926E90B3}"/>
              </a:ext>
            </a:extLst>
          </p:cNvPr>
          <p:cNvSpPr/>
          <p:nvPr/>
        </p:nvSpPr>
        <p:spPr>
          <a:xfrm>
            <a:off x="5174386" y="3840429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内核态：</a:t>
            </a:r>
            <a:r>
              <a:rPr kumimoji="1" lang="en-US" altLang="zh-CN" dirty="0">
                <a:solidFill>
                  <a:schemeClr val="accent1"/>
                </a:solidFill>
              </a:rPr>
              <a:t>Exokernel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DE8A43-A716-F040-9E5A-2459FC67FC9D}"/>
              </a:ext>
            </a:extLst>
          </p:cNvPr>
          <p:cNvSpPr/>
          <p:nvPr/>
        </p:nvSpPr>
        <p:spPr>
          <a:xfrm>
            <a:off x="5148066" y="4920472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用户态：</a:t>
            </a:r>
            <a:r>
              <a:rPr kumimoji="1" lang="en-US" altLang="zh-CN" dirty="0" err="1">
                <a:solidFill>
                  <a:schemeClr val="accent1"/>
                </a:solidFill>
              </a:rPr>
              <a:t>libOS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5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62099-1C25-B049-A89B-DFD356FC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Exokernel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LibOS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472E8-AFF2-4F4E-BA99-B585F55D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库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（</a:t>
            </a:r>
            <a:r>
              <a:rPr kumimoji="1" lang="en-US" altLang="zh-CN" sz="2400" dirty="0" err="1"/>
              <a:t>LibOS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策略与机制分离：将对硬件的抽象以库的形式提供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高度定制化：不同应用可使用不同的</a:t>
            </a:r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，或完全自定义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更高性能：</a:t>
            </a:r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与应用其他代码之间通过函数调用直接交互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DD5CE0-B6C1-4647-B349-4DA115BF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57BA1E-B0E7-8548-B2EB-AEBD366AC2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4165" y="3368315"/>
            <a:ext cx="5055669" cy="212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87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6DF8E-5140-7041-A4EC-68B84EB4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Exokernel</a:t>
            </a:r>
            <a:r>
              <a:rPr kumimoji="1" lang="zh-CN" altLang="en-US" dirty="0"/>
              <a:t>架构的设计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7B31F0-B181-F741-AAF0-3862C4CA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3615789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外核的功能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追踪计算资源的拥有权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保证资源的保护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回收对资源的访问权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2407C-BBE7-554A-8F44-ADDB9368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18A63B-3AA5-4B48-8E18-F6B7D33C3168}"/>
              </a:ext>
            </a:extLst>
          </p:cNvPr>
          <p:cNvSpPr/>
          <p:nvPr/>
        </p:nvSpPr>
        <p:spPr>
          <a:xfrm>
            <a:off x="1997968" y="4181444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kumimoji="1" lang="zh-CN" altLang="en-US" sz="2000" b="1" dirty="0">
                <a:highlight>
                  <a:srgbClr val="FFFF00"/>
                </a:highlight>
              </a:rPr>
              <a:t>设计原则：</a:t>
            </a:r>
            <a:r>
              <a:rPr kumimoji="1" lang="en-US" altLang="zh-CN" sz="2000" b="1" dirty="0">
                <a:highlight>
                  <a:srgbClr val="FFFF00"/>
                </a:highlight>
              </a:rPr>
              <a:t>"</a:t>
            </a:r>
            <a:r>
              <a:rPr kumimoji="1" lang="zh-CN" altLang="en-US" sz="2000" b="1" dirty="0">
                <a:highlight>
                  <a:srgbClr val="FFFF00"/>
                </a:highlight>
              </a:rPr>
              <a:t>将管理与保护分离</a:t>
            </a:r>
            <a:r>
              <a:rPr kumimoji="1" lang="en-US" altLang="zh-CN" sz="2000" b="1" dirty="0">
                <a:highlight>
                  <a:srgbClr val="FFFF00"/>
                </a:highlight>
              </a:rPr>
              <a:t>"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5EC928B-8A77-334C-AD84-FD0F1BFE14AD}"/>
              </a:ext>
            </a:extLst>
          </p:cNvPr>
          <p:cNvSpPr txBox="1">
            <a:spLocks/>
          </p:cNvSpPr>
          <p:nvPr/>
        </p:nvSpPr>
        <p:spPr>
          <a:xfrm>
            <a:off x="4283968" y="1417340"/>
            <a:ext cx="4186808" cy="3615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dirty="0"/>
              <a:t>对应的三个技术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安全绑定（</a:t>
            </a:r>
            <a:r>
              <a:rPr kumimoji="1" lang="en-US" altLang="zh-CN" sz="2000" dirty="0"/>
              <a:t>Secure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binding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显式回收（</a:t>
            </a:r>
            <a:r>
              <a:rPr kumimoji="1" lang="en-US" altLang="zh-CN" sz="2000" dirty="0"/>
              <a:t>Visible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revocation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中止协议（</a:t>
            </a:r>
            <a:r>
              <a:rPr kumimoji="1" lang="en-US" altLang="zh-CN" sz="2000" dirty="0"/>
              <a:t>Abort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protocol</a:t>
            </a:r>
            <a:r>
              <a:rPr kumimoji="1"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8588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3ECCF-BB3D-E34E-8529-D871D5B2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安全绑定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74BE05-7071-A04B-8E97-BF431AE05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将</a:t>
            </a:r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与计算资源绑定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可用性：允许某个</a:t>
            </a:r>
            <a:r>
              <a:rPr kumimoji="1" lang="en-US" altLang="zh-CN" sz="1800" dirty="0" err="1"/>
              <a:t>LibOS</a:t>
            </a:r>
            <a:r>
              <a:rPr kumimoji="1" lang="zh-CN" altLang="en-US" sz="1800" dirty="0"/>
              <a:t>访问某些计算资源（如物理内存）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隔离性：防止这些计算资源被其他</a:t>
            </a:r>
            <a:r>
              <a:rPr kumimoji="1" lang="en-US" altLang="zh-CN" sz="1800" dirty="0" err="1"/>
              <a:t>LibOS</a:t>
            </a:r>
            <a:r>
              <a:rPr kumimoji="1" lang="zh-CN" altLang="en-US" sz="1800" dirty="0"/>
              <a:t>访问</a:t>
            </a:r>
            <a:endParaRPr kumimoji="1" lang="en-US" altLang="zh-CN" sz="1800" dirty="0"/>
          </a:p>
          <a:p>
            <a:r>
              <a:rPr kumimoji="1" lang="zh-CN" altLang="en-US" sz="2000" dirty="0"/>
              <a:t>例：利用</a:t>
            </a:r>
            <a:r>
              <a:rPr kumimoji="1" lang="en-US" altLang="zh-CN" sz="2000" dirty="0"/>
              <a:t>software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保证</a:t>
            </a:r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只使用了自己的物理内存</a:t>
            </a:r>
            <a:endParaRPr kumimoji="1" lang="en-US" altLang="zh-CN" sz="2000" dirty="0"/>
          </a:p>
          <a:p>
            <a:pPr lvl="1"/>
            <a:r>
              <a:rPr kumimoji="1" lang="en-US" altLang="zh-CN" sz="1800" dirty="0" err="1"/>
              <a:t>LibOS</a:t>
            </a:r>
            <a:r>
              <a:rPr kumimoji="1" lang="zh-CN" altLang="en-US" sz="1800" dirty="0"/>
              <a:t>可直接修改页表，因此可能会将自己的页表指向其他</a:t>
            </a:r>
            <a:r>
              <a:rPr kumimoji="1" lang="en-US" altLang="zh-CN" sz="1800" dirty="0" err="1"/>
              <a:t>LibOS</a:t>
            </a:r>
            <a:r>
              <a:rPr kumimoji="1" lang="zh-CN" altLang="en-US" sz="1800" dirty="0"/>
              <a:t>物理页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Software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是软件可控的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，</a:t>
            </a:r>
            <a:r>
              <a:rPr kumimoji="1" lang="en-US" altLang="zh-CN" sz="1800" dirty="0"/>
              <a:t>MIPS</a:t>
            </a:r>
            <a:r>
              <a:rPr kumimoji="1" lang="zh-CN" altLang="en-US" sz="1800" dirty="0"/>
              <a:t>等处理器支持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每次发生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miss</a:t>
            </a:r>
            <a:r>
              <a:rPr kumimoji="1" lang="zh-CN" altLang="en-US" sz="1800" dirty="0"/>
              <a:t>时，由</a:t>
            </a:r>
            <a:r>
              <a:rPr kumimoji="1" lang="en-US" altLang="zh-CN" sz="1800" dirty="0"/>
              <a:t>Exokernel</a:t>
            </a:r>
            <a:r>
              <a:rPr kumimoji="1" lang="zh-CN" altLang="en-US" sz="1800" dirty="0"/>
              <a:t>负责遍历页表并填写对应的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项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Exokernel</a:t>
            </a:r>
            <a:r>
              <a:rPr kumimoji="1" lang="zh-CN" altLang="en-US" sz="1800" dirty="0"/>
              <a:t>可在填写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项时检查</a:t>
            </a:r>
            <a:r>
              <a:rPr kumimoji="1" lang="en-US" altLang="zh-CN" sz="1800" dirty="0" err="1"/>
              <a:t>LibOS</a:t>
            </a:r>
            <a:r>
              <a:rPr kumimoji="1" lang="zh-CN" altLang="en-US" sz="1800" dirty="0"/>
              <a:t>对内存的使用是否合法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B0A638-86D7-2E4D-995A-827D4913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815BA9-0CB2-C244-831E-9FC7273EF773}"/>
              </a:ext>
            </a:extLst>
          </p:cNvPr>
          <p:cNvSpPr txBox="1"/>
          <p:nvPr/>
        </p:nvSpPr>
        <p:spPr>
          <a:xfrm>
            <a:off x="4283968" y="263588"/>
            <a:ext cx="4664278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600" b="0" i="1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 secure binding is a protection mechanism that decouples authorization from the actual use of a resource</a:t>
            </a:r>
            <a:r>
              <a:rPr lang="en-US" altLang="zh-CN" sz="1600" b="0" i="1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.</a:t>
            </a:r>
            <a:endParaRPr lang="zh-CN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103262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0C2E3-8173-0D4D-8037-07073598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显式资源回收与中止协议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3DF92-E9EC-AC4B-8E97-00EE12D84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Exokernel</a:t>
            </a:r>
            <a:r>
              <a:rPr kumimoji="1" lang="zh-CN" altLang="en-US" sz="2400" dirty="0"/>
              <a:t>与应用之间的协议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Exokernel</a:t>
            </a:r>
            <a:r>
              <a:rPr kumimoji="1" lang="zh-CN" altLang="en-US" sz="2000" dirty="0"/>
              <a:t>显式告知应用资源的分配情况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应用在租期结束之前主动归还资源</a:t>
            </a:r>
            <a:endParaRPr kumimoji="1" lang="en-US" altLang="zh-CN" sz="2000" dirty="0"/>
          </a:p>
          <a:p>
            <a:r>
              <a:rPr kumimoji="1" lang="zh-CN" altLang="en-US" sz="2400" dirty="0"/>
              <a:t>若应用不归还资源，则强制中止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Exokernel</a:t>
            </a:r>
            <a:r>
              <a:rPr kumimoji="1" lang="zh-CN" altLang="en-US" sz="2000" dirty="0"/>
              <a:t>拥有对资源的控制权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主动解除资源与应用间的绑定关系</a:t>
            </a:r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FF495-A4E1-AC43-A239-4ECE9ED2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32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1A187-4035-6C4D-9EE3-8AB2CF5D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Exokernel</a:t>
            </a:r>
            <a:r>
              <a:rPr kumimoji="1" lang="zh-CN" altLang="en-US" dirty="0"/>
              <a:t>对磁盘的管理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F3B857-5402-0447-9638-88237019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应用程序（和</a:t>
            </a:r>
            <a:r>
              <a:rPr kumimoji="1" lang="en-US" altLang="zh-CN" dirty="0" err="1"/>
              <a:t>LibOS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管理磁盘块设备的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</a:p>
          <a:p>
            <a:r>
              <a:rPr kumimoji="1" lang="en-US" altLang="zh-CN" dirty="0"/>
              <a:t>Exokernel</a:t>
            </a:r>
          </a:p>
          <a:p>
            <a:pPr lvl="1"/>
            <a:r>
              <a:rPr kumimoji="1" lang="zh-CN" altLang="en-US" dirty="0"/>
              <a:t>允许应用之间安全的共享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AEB47-8B75-1646-8400-2AB40003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26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DBC78-D337-7544-AF0F-B5C410D6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Exokernel</a:t>
            </a:r>
            <a:r>
              <a:rPr kumimoji="1" lang="zh-CN" altLang="en-US" dirty="0"/>
              <a:t>的性能提升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4D351-12D2-AE41-949D-F310BC5B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0AFF22E-738A-CD4E-93F2-70820E4CC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0796" y="2137420"/>
            <a:ext cx="4041649" cy="2737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1C94DB7-4543-A746-9609-1FF4564F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9268" y="2137421"/>
            <a:ext cx="4069196" cy="2737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7DB4AB5A-A5CF-424D-8B58-73BA5A740AB7}"/>
              </a:ext>
            </a:extLst>
          </p:cNvPr>
          <p:cNvSpPr txBox="1"/>
          <p:nvPr/>
        </p:nvSpPr>
        <p:spPr>
          <a:xfrm>
            <a:off x="457200" y="5305772"/>
            <a:ext cx="8229600" cy="307777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数据来源：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Application Performance and Flexibility on Exokernel Systems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SOSP’97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92E0F05-AD5E-5140-B8F8-8E7A7FCDF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722"/>
            <a:ext cx="8229600" cy="661682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未修改应用性能最多提升</a:t>
            </a:r>
            <a:r>
              <a:rPr kumimoji="1" lang="en-US" altLang="zh-CN" sz="2400" dirty="0">
                <a:solidFill>
                  <a:schemeClr val="accent1"/>
                </a:solidFill>
              </a:rPr>
              <a:t>4x</a:t>
            </a:r>
            <a:r>
              <a:rPr kumimoji="1" lang="zh-CN" altLang="en-US" sz="2400" dirty="0"/>
              <a:t>，定制化应用性能最多提升</a:t>
            </a:r>
            <a:r>
              <a:rPr kumimoji="1" lang="en-US" altLang="zh-CN" sz="2400" dirty="0">
                <a:solidFill>
                  <a:schemeClr val="accent1"/>
                </a:solidFill>
              </a:rPr>
              <a:t>8x</a:t>
            </a:r>
          </a:p>
        </p:txBody>
      </p:sp>
    </p:spTree>
    <p:extLst>
      <p:ext uri="{BB962C8B-B14F-4D97-AF65-F5344CB8AC3E}">
        <p14:creationId xmlns:p14="http://schemas.microsoft.com/office/powerpoint/2010/main" val="1293631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0A0AB-74F9-AA4D-8A16-2D13FDC7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Unikernel</a:t>
            </a:r>
            <a:r>
              <a:rPr kumimoji="1" lang="zh-CN" altLang="en-US" dirty="0"/>
              <a:t>（单内核）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0B37E-F5F7-3041-A986-80702615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可以看做虚拟化环境下的</a:t>
            </a:r>
            <a:r>
              <a:rPr kumimoji="1" lang="en-US" altLang="zh-CN" sz="2400" dirty="0" err="1"/>
              <a:t>LibOS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每个虚拟机只使用内核态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内核态中只运行一个应用</a:t>
            </a:r>
            <a:r>
              <a:rPr kumimoji="1" lang="en-US" altLang="zh-CN" sz="2000" dirty="0"/>
              <a:t>+</a:t>
            </a:r>
            <a:r>
              <a:rPr kumimoji="1" lang="en-US" altLang="zh-CN" sz="2000" dirty="0" err="1"/>
              <a:t>LibOS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通过虚拟化层实现不同实例间的隔离</a:t>
            </a:r>
            <a:endParaRPr kumimoji="1" lang="en-US" altLang="zh-CN" sz="2000" dirty="0"/>
          </a:p>
          <a:p>
            <a:r>
              <a:rPr kumimoji="1" lang="zh-CN" altLang="en-US" sz="2400" dirty="0"/>
              <a:t>适合容器应用场景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每个容器就是一个虚拟机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每个容器运行定制的</a:t>
            </a:r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以提高性能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DAEB02-741B-4F4D-8EB9-EABABF3C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1905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035BA-0D74-A343-A491-8CCC4D4B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Unikernel</a:t>
            </a:r>
            <a:r>
              <a:rPr kumimoji="1" lang="zh-CN" altLang="en-US" dirty="0"/>
              <a:t>的部分开源项目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4FA47-DAAF-E54B-9FAD-2D3075EE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 err="1"/>
              <a:t>Rumprun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POSIX</a:t>
            </a:r>
            <a:r>
              <a:rPr kumimoji="1" lang="zh-CN" altLang="en-US" sz="2000" dirty="0"/>
              <a:t>接口，</a:t>
            </a:r>
            <a:r>
              <a:rPr kumimoji="1" lang="en-US" altLang="zh-CN" sz="2000" dirty="0"/>
              <a:t>BSD</a:t>
            </a:r>
            <a:r>
              <a:rPr kumimoji="1" lang="zh-CN" altLang="en-US" sz="2000" dirty="0"/>
              <a:t>兼容的运行时环境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运行在</a:t>
            </a:r>
            <a:r>
              <a:rPr kumimoji="1" lang="en-US" altLang="zh-CN" sz="2000" dirty="0"/>
              <a:t>Xen</a:t>
            </a:r>
            <a:r>
              <a:rPr kumimoji="1" lang="zh-CN" altLang="en-US" sz="2000" dirty="0"/>
              <a:t>虚拟化平台之上</a:t>
            </a:r>
            <a:endParaRPr kumimoji="1" lang="en-US" altLang="zh-CN" sz="2000" dirty="0"/>
          </a:p>
          <a:p>
            <a:r>
              <a:rPr kumimoji="1" lang="en-US" altLang="zh-CN" sz="2400" dirty="0"/>
              <a:t>Drawbridge</a:t>
            </a:r>
          </a:p>
          <a:p>
            <a:pPr lvl="1"/>
            <a:r>
              <a:rPr kumimoji="1" lang="zh-CN" altLang="en-US" sz="2000" dirty="0"/>
              <a:t>来自微软，兼容</a:t>
            </a:r>
            <a:r>
              <a:rPr kumimoji="1" lang="en-US" altLang="zh-CN" sz="2000" dirty="0"/>
              <a:t>Win32</a:t>
            </a:r>
            <a:r>
              <a:rPr kumimoji="1" lang="zh-CN" altLang="en-US" sz="2000" dirty="0"/>
              <a:t>接口的运行时环境</a:t>
            </a:r>
            <a:endParaRPr kumimoji="1" lang="en-US" altLang="zh-CN" sz="2000" dirty="0"/>
          </a:p>
          <a:p>
            <a:r>
              <a:rPr kumimoji="1" lang="en-US" altLang="zh-CN" sz="2400" dirty="0" err="1"/>
              <a:t>OSv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与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兼容的应用环境，单地址空间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05BA8F-7120-0340-BC85-A1EBC43B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19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6CEDF-3633-3C4D-8A66-87C6E848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LibOS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1D54DB-7A74-6A4B-B602-2F3092799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将</a:t>
            </a:r>
            <a:r>
              <a:rPr kumimoji="1" lang="en-US" altLang="zh-CN" sz="2400" dirty="0"/>
              <a:t>Linux</a:t>
            </a:r>
            <a:r>
              <a:rPr kumimoji="1" lang="zh-CN" altLang="en-US" sz="2400" dirty="0"/>
              <a:t>作为</a:t>
            </a:r>
            <a:r>
              <a:rPr kumimoji="1" lang="en-US" altLang="zh-CN" sz="2400" dirty="0" err="1"/>
              <a:t>LibOS</a:t>
            </a:r>
            <a:r>
              <a:rPr kumimoji="1" lang="zh-CN" altLang="en-US" sz="2400" dirty="0"/>
              <a:t>或</a:t>
            </a:r>
            <a:r>
              <a:rPr kumimoji="1" lang="en-US" altLang="zh-CN" sz="2400" dirty="0" err="1"/>
              <a:t>Unikernel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例：</a:t>
            </a:r>
            <a:r>
              <a:rPr kumimoji="1" lang="en-US" altLang="zh-CN" sz="2000" dirty="0"/>
              <a:t>LKL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kernel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library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</a:t>
            </a:r>
            <a:r>
              <a:rPr lang="en" altLang="zh-CN" sz="1600" dirty="0">
                <a:hlinkClick r:id="rId2"/>
              </a:rPr>
              <a:t>https://github.com/lkl</a:t>
            </a:r>
            <a:r>
              <a:rPr lang="en-US" altLang="zh-CN" sz="2000" dirty="0"/>
              <a:t>)</a:t>
            </a:r>
          </a:p>
          <a:p>
            <a:pPr lvl="1"/>
            <a:r>
              <a:rPr lang="zh-CN" altLang="en-US" sz="2000" dirty="0"/>
              <a:t>将系统调用变为普通函数调用</a:t>
            </a:r>
            <a:endParaRPr lang="en-US" altLang="zh-CN" sz="2000" dirty="0"/>
          </a:p>
          <a:p>
            <a:pPr lvl="1"/>
            <a:r>
              <a:rPr kumimoji="1" lang="zh-CN" altLang="en-US" sz="2000" dirty="0"/>
              <a:t>可提供一定的兼容性，有效避免重复开发</a:t>
            </a:r>
            <a:endParaRPr kumimoji="1" lang="en-US" altLang="zh-CN" sz="2000" dirty="0"/>
          </a:p>
          <a:p>
            <a:r>
              <a:rPr kumimoji="1" lang="zh-CN" altLang="en-US" sz="2400" dirty="0"/>
              <a:t>许多新问题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Linux</a:t>
            </a:r>
            <a:r>
              <a:rPr kumimoji="1" lang="zh-CN" altLang="en-US" sz="2000" dirty="0"/>
              <a:t>是否适合作为</a:t>
            </a:r>
            <a:r>
              <a:rPr kumimoji="1" lang="en-US" altLang="zh-CN" sz="2000" dirty="0" err="1"/>
              <a:t>LibOS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unikernel</a:t>
            </a:r>
            <a:r>
              <a:rPr kumimoji="1" lang="zh-CN" altLang="en-US" sz="2000" dirty="0"/>
              <a:t>？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fork()</a:t>
            </a:r>
            <a:r>
              <a:rPr kumimoji="1" lang="zh-CN" altLang="en-US" sz="2000" dirty="0"/>
              <a:t>如何处理？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尚在探索阶段</a:t>
            </a:r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A3F18-A781-3645-A075-E61A9067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358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849D1-E5F1-D044-B321-FD66593F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Exokernel</a:t>
            </a:r>
            <a:r>
              <a:rPr kumimoji="1" lang="zh-CN" altLang="en-US" dirty="0"/>
              <a:t>架构的优缺点分析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3E354-1DF6-F647-B399-2FEA6DB9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优点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无抽象，能在理论上提供最优性能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应用对计算有更精确的实时等控制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LibOS</a:t>
            </a:r>
            <a:r>
              <a:rPr kumimoji="1" lang="zh-CN" altLang="en-US" sz="2000" dirty="0"/>
              <a:t>在用户态更易调试，调试周期更短</a:t>
            </a:r>
            <a:endParaRPr kumimoji="1" lang="en-US" altLang="zh-CN" sz="2000" dirty="0"/>
          </a:p>
          <a:p>
            <a:r>
              <a:rPr kumimoji="1" lang="zh-CN" altLang="en-US" sz="2400" dirty="0"/>
              <a:t>缺点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对计算资源的利用效率主要由应用决定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定制化过多，导致维护难度增加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F937DC-AB88-1B48-9919-CCE7578D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568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3F89E-E03A-9547-BA93-CBB08A50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Exokernel</a:t>
            </a:r>
            <a:r>
              <a:rPr kumimoji="1" lang="zh-CN" altLang="en-US" dirty="0"/>
              <a:t>架构的优缺点分析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BB51DD-480B-884D-B2A1-BAFCCB6F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Customer-Support:</a:t>
            </a:r>
          </a:p>
          <a:p>
            <a:pPr lvl="1"/>
            <a:r>
              <a:rPr kumimoji="1" lang="en-US" altLang="zh-CN" dirty="0"/>
              <a:t>“</a:t>
            </a:r>
            <a:r>
              <a:rPr kumimoji="1" lang="en-US" altLang="zh-CN" i="1" dirty="0"/>
              <a:t>Extensibility has its problems. For example, it makes the customer-support issues a lot more complicated, because you no longer know which OS each of your customers is running</a:t>
            </a:r>
            <a:r>
              <a:rPr kumimoji="1" lang="en-US" altLang="zh-CN" dirty="0"/>
              <a:t>” (</a:t>
            </a:r>
            <a:r>
              <a:rPr kumimoji="1" lang="en-US" altLang="zh-CN" dirty="0" err="1"/>
              <a:t>Milojicic</a:t>
            </a:r>
            <a:r>
              <a:rPr kumimoji="1" lang="en-US" altLang="zh-CN" dirty="0"/>
              <a:t>, 1999).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A112F-E1EA-7349-8036-E7E9FB67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096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多内核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复内核（</a:t>
            </a:r>
            <a:r>
              <a:rPr kumimoji="1" lang="en-US" altLang="zh-CN" dirty="0"/>
              <a:t>Multi-Kernel</a:t>
            </a:r>
            <a:r>
              <a:rPr kumimoji="1" lang="zh-CN" altLang="en-US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0178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DA6C6-4C26-4246-A3AC-18AA02C5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多内核</a:t>
            </a:r>
            <a:r>
              <a:rPr kumimoji="1" lang="en-US" altLang="zh-CN" sz="3200" dirty="0"/>
              <a:t>/</a:t>
            </a:r>
            <a:r>
              <a:rPr kumimoji="1" lang="zh-CN" altLang="en-US" sz="3200" dirty="0"/>
              <a:t>复内核（</a:t>
            </a:r>
            <a:r>
              <a:rPr kumimoji="1" lang="en-US" altLang="zh-CN" sz="3200" dirty="0" err="1"/>
              <a:t>Multikernel</a:t>
            </a:r>
            <a:r>
              <a:rPr kumimoji="1" lang="zh-CN" altLang="en-US" sz="32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4DE7A-7DB4-E24F-B72E-71715225F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背景：多核与异构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内部维护很多共享状态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Cache</a:t>
            </a:r>
            <a:r>
              <a:rPr kumimoji="1" lang="zh-CN" altLang="en-US" sz="1800" dirty="0"/>
              <a:t>一致性的保证越来越难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可扩展性非常差，核数增多，性能不升反降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GPU</a:t>
            </a:r>
            <a:r>
              <a:rPr kumimoji="1" lang="zh-CN" altLang="en-US" sz="2000" dirty="0"/>
              <a:t>等设备越来越多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设备本身越来越智能</a:t>
            </a:r>
            <a:r>
              <a:rPr kumimoji="1" lang="en-US" altLang="zh-CN" sz="1800" dirty="0"/>
              <a:t>——</a:t>
            </a:r>
            <a:r>
              <a:rPr kumimoji="1" lang="zh-CN" altLang="en-US" sz="1800" dirty="0"/>
              <a:t>设备有自己的</a:t>
            </a:r>
            <a:r>
              <a:rPr kumimoji="1" lang="en-US" altLang="zh-CN" sz="1800" dirty="0"/>
              <a:t>CPU</a:t>
            </a:r>
          </a:p>
          <a:p>
            <a:pPr lvl="2"/>
            <a:r>
              <a:rPr kumimoji="1" lang="zh-CN" altLang="en-US" sz="1800" dirty="0"/>
              <a:t>通过</a:t>
            </a:r>
            <a:r>
              <a:rPr kumimoji="1" lang="en-US" altLang="zh-CN" sz="1800" dirty="0"/>
              <a:t>PCIe</a:t>
            </a:r>
            <a:r>
              <a:rPr kumimoji="1" lang="zh-CN" altLang="en-US" sz="1800" dirty="0"/>
              <a:t>连接，主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与设备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之间通信非常慢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通过系统总线连接，异构</a:t>
            </a:r>
            <a:r>
              <a:rPr kumimoji="1" lang="en-US" altLang="zh-CN" sz="1800" dirty="0"/>
              <a:t>SoC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System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Chip</a:t>
            </a:r>
            <a:r>
              <a:rPr kumimoji="1" lang="zh-CN" altLang="en-US" sz="18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A7DBE-F42D-5149-98E1-F8027591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0CEA1E-E6F1-EB48-93B4-5CD4065F6684}"/>
              </a:ext>
            </a:extLst>
          </p:cNvPr>
          <p:cNvSpPr/>
          <p:nvPr/>
        </p:nvSpPr>
        <p:spPr>
          <a:xfrm>
            <a:off x="6553200" y="841276"/>
            <a:ext cx="1800200" cy="18002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D6B82E-38B5-8246-9433-3B17C904766D}"/>
              </a:ext>
            </a:extLst>
          </p:cNvPr>
          <p:cNvSpPr/>
          <p:nvPr/>
        </p:nvSpPr>
        <p:spPr>
          <a:xfrm>
            <a:off x="6803682" y="1076494"/>
            <a:ext cx="584448" cy="58444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8FB311-1BD5-3B48-A2E1-34C2BFC1F09C}"/>
              </a:ext>
            </a:extLst>
          </p:cNvPr>
          <p:cNvSpPr/>
          <p:nvPr/>
        </p:nvSpPr>
        <p:spPr>
          <a:xfrm>
            <a:off x="7524045" y="1076494"/>
            <a:ext cx="584448" cy="58444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EABF3D-506B-E047-A5CC-47866CC6A8DA}"/>
              </a:ext>
            </a:extLst>
          </p:cNvPr>
          <p:cNvSpPr/>
          <p:nvPr/>
        </p:nvSpPr>
        <p:spPr>
          <a:xfrm>
            <a:off x="6803682" y="1852767"/>
            <a:ext cx="584448" cy="58444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GPU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244A5-7E17-D449-89CE-D0F9E13DD104}"/>
              </a:ext>
            </a:extLst>
          </p:cNvPr>
          <p:cNvSpPr/>
          <p:nvPr/>
        </p:nvSpPr>
        <p:spPr>
          <a:xfrm>
            <a:off x="7524045" y="1860717"/>
            <a:ext cx="584448" cy="58444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NPU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21DB1F-663C-554C-9A51-B41EE413B3C3}"/>
              </a:ext>
            </a:extLst>
          </p:cNvPr>
          <p:cNvSpPr/>
          <p:nvPr/>
        </p:nvSpPr>
        <p:spPr>
          <a:xfrm>
            <a:off x="6575107" y="452349"/>
            <a:ext cx="17782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b="1" dirty="0"/>
              <a:t>System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on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Chip</a:t>
            </a:r>
            <a:endParaRPr lang="zh-CN" altLang="en-US" sz="16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A6A2D5-7DBA-0B42-8BEC-C24944087ACC}"/>
              </a:ext>
            </a:extLst>
          </p:cNvPr>
          <p:cNvSpPr/>
          <p:nvPr/>
        </p:nvSpPr>
        <p:spPr>
          <a:xfrm>
            <a:off x="7524045" y="3937620"/>
            <a:ext cx="584448" cy="58444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GPU</a:t>
            </a:r>
            <a:endParaRPr kumimoji="1" lang="zh-CN" altLang="en-US" sz="1400" dirty="0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867CF6D-4B14-7E44-95C6-4A9D5E1923C8}"/>
              </a:ext>
            </a:extLst>
          </p:cNvPr>
          <p:cNvCxnSpPr>
            <a:endCxn id="12" idx="0"/>
          </p:cNvCxnSpPr>
          <p:nvPr/>
        </p:nvCxnSpPr>
        <p:spPr>
          <a:xfrm>
            <a:off x="7816269" y="2636990"/>
            <a:ext cx="0" cy="130063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95A55A68-2E33-C842-9671-4FEE554CD438}"/>
              </a:ext>
            </a:extLst>
          </p:cNvPr>
          <p:cNvSpPr/>
          <p:nvPr/>
        </p:nvSpPr>
        <p:spPr>
          <a:xfrm>
            <a:off x="7797653" y="3123754"/>
            <a:ext cx="17782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b="1" dirty="0"/>
              <a:t>PCIe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388035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DA6C6-4C26-4246-A3AC-18AA02C5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Multikernel</a:t>
            </a:r>
            <a:r>
              <a:rPr kumimoji="1" lang="zh-CN" altLang="en-US" dirty="0"/>
              <a:t>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4DE7A-7DB4-E24F-B72E-71715225F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 err="1"/>
              <a:t>Multikernel</a:t>
            </a:r>
            <a:r>
              <a:rPr kumimoji="1" lang="zh-CN" altLang="en-US" sz="2000" dirty="0"/>
              <a:t>的思路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默认的状态是划分而不是共享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维持多份状态的</a:t>
            </a:r>
            <a:r>
              <a:rPr kumimoji="1" lang="en-US" altLang="zh-CN" sz="1800" dirty="0"/>
              <a:t>copy</a:t>
            </a:r>
            <a:r>
              <a:rPr kumimoji="1" lang="zh-CN" altLang="en-US" sz="1800" dirty="0"/>
              <a:t>而不是共享一份状态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显式的核间通信机制</a:t>
            </a:r>
            <a:endParaRPr kumimoji="1" lang="en-US" altLang="zh-CN" sz="1800" dirty="0"/>
          </a:p>
          <a:p>
            <a:r>
              <a:rPr kumimoji="1" lang="en-US" altLang="zh-CN" sz="2000" dirty="0" err="1"/>
              <a:t>Multikernel</a:t>
            </a:r>
            <a:r>
              <a:rPr kumimoji="1" lang="zh-CN" altLang="en-US" sz="2000" dirty="0"/>
              <a:t>的设计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在每个</a:t>
            </a:r>
            <a:r>
              <a:rPr kumimoji="1" lang="en-US" altLang="zh-CN" sz="1800" dirty="0"/>
              <a:t>core</a:t>
            </a:r>
            <a:r>
              <a:rPr kumimoji="1" lang="zh-CN" altLang="en-US" sz="1800" dirty="0"/>
              <a:t>上运行一个小内核</a:t>
            </a:r>
            <a:endParaRPr kumimoji="1" lang="en-US" altLang="zh-CN" sz="1800" dirty="0"/>
          </a:p>
          <a:p>
            <a:pPr lvl="2"/>
            <a:r>
              <a:rPr kumimoji="1" lang="zh-CN" altLang="en-US" sz="1400" dirty="0"/>
              <a:t>包括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GPU</a:t>
            </a:r>
            <a:r>
              <a:rPr kumimoji="1" lang="zh-CN" altLang="en-US" sz="1400" dirty="0"/>
              <a:t>等</a:t>
            </a:r>
            <a:endParaRPr kumimoji="1" lang="en-US" altLang="zh-CN" sz="14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整体是一个分布式系统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应用程序依然运行在</a:t>
            </a:r>
            <a:r>
              <a:rPr kumimoji="1" lang="en-US" altLang="zh-CN" sz="1800" dirty="0"/>
              <a:t>OS</a:t>
            </a:r>
            <a:r>
              <a:rPr kumimoji="1" lang="zh-CN" altLang="en-US" sz="1800" dirty="0"/>
              <a:t>之上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A7DBE-F42D-5149-98E1-F8027591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855E50-8BD5-4D40-BD78-7CC2BF722D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6890" y="2929508"/>
            <a:ext cx="4510906" cy="20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194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472D9-F17B-9A43-8B22-25DF56D5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Barrelfish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Multikernel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A11C8-4280-C14D-A51F-FCAAB83D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Barrelfish</a:t>
            </a:r>
            <a:r>
              <a:rPr kumimoji="1" lang="zh-CN" altLang="en-US" dirty="0"/>
              <a:t>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来自</a:t>
            </a:r>
            <a:r>
              <a:rPr kumimoji="1" lang="en-US" altLang="zh-CN" dirty="0"/>
              <a:t>ETH</a:t>
            </a:r>
            <a:r>
              <a:rPr kumimoji="1" lang="zh-CN" altLang="en-US" dirty="0"/>
              <a:t> </a:t>
            </a:r>
            <a:r>
              <a:rPr kumimoji="1" lang="en-US" altLang="zh-CN" dirty="0"/>
              <a:t>Zurich</a:t>
            </a:r>
            <a:r>
              <a:rPr kumimoji="1" lang="zh-CN" altLang="en-US" dirty="0"/>
              <a:t>和微软研究院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支持异构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核与节点之间提供通用异构消息抽象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大约</a:t>
            </a:r>
            <a:r>
              <a:rPr kumimoji="1" lang="en-US" altLang="zh-CN" dirty="0"/>
              <a:t>10,000</a:t>
            </a:r>
            <a:r>
              <a:rPr kumimoji="1" lang="zh-CN" altLang="en-US" dirty="0"/>
              <a:t>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500</a:t>
            </a:r>
            <a:r>
              <a:rPr kumimoji="1" lang="zh-CN" altLang="en-US" dirty="0"/>
              <a:t>行汇编代码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D3FDF-1758-224D-BFF4-B9C63694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2F0300-CEAF-6042-A516-DA7C46BA8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5884" y="189176"/>
            <a:ext cx="208823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063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091DB48-24C5-0648-B283-E642DC9015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8911" y="165492"/>
            <a:ext cx="4443831" cy="548613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7363722-E605-2141-89E8-04996D7F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 err="1"/>
              <a:t>Barrelfish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Structure</a:t>
            </a:r>
            <a:endParaRPr kumimoji="1"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9D7A0-44A7-7040-A032-43405AC2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1800" dirty="0"/>
              <a:t>内核：每个</a:t>
            </a:r>
            <a:r>
              <a:rPr kumimoji="1" lang="en-US" altLang="zh-CN" sz="1800" dirty="0"/>
              <a:t>core</a:t>
            </a:r>
            <a:r>
              <a:rPr kumimoji="1" lang="zh-CN" altLang="en-US" sz="1800" dirty="0"/>
              <a:t>对应一个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类似</a:t>
            </a:r>
            <a:r>
              <a:rPr kumimoji="1" lang="en-US" altLang="zh-CN" sz="1600" dirty="0"/>
              <a:t>"CPU</a:t>
            </a:r>
            <a:r>
              <a:rPr kumimoji="1" lang="zh-CN" altLang="en-US" sz="1600" dirty="0"/>
              <a:t>驱动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，适应不同</a:t>
            </a:r>
            <a:r>
              <a:rPr kumimoji="1" lang="en-US" altLang="zh-CN" sz="1600" dirty="0"/>
              <a:t>CPU</a:t>
            </a:r>
          </a:p>
          <a:p>
            <a:pPr lvl="1"/>
            <a:r>
              <a:rPr kumimoji="1" lang="zh-CN" altLang="en-US" sz="1600" dirty="0"/>
              <a:t>负责执行系统调用，处理中断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异常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事件触发，单线程，不可中断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内核调度并运行</a:t>
            </a:r>
            <a:r>
              <a:rPr kumimoji="1" lang="en-US" altLang="zh-CN" sz="1600" dirty="0"/>
              <a:t>"</a:t>
            </a:r>
            <a:r>
              <a:rPr kumimoji="1" lang="en-US" altLang="zh-CN" sz="1600" dirty="0">
                <a:solidFill>
                  <a:schemeClr val="accent1"/>
                </a:solidFill>
              </a:rPr>
              <a:t>Dispatcher</a:t>
            </a:r>
            <a:r>
              <a:rPr kumimoji="1" lang="en-US" altLang="zh-CN" sz="1600" dirty="0"/>
              <a:t>"</a:t>
            </a:r>
          </a:p>
          <a:p>
            <a:r>
              <a:rPr kumimoji="1" lang="en-US" altLang="zh-CN" sz="1800" dirty="0"/>
              <a:t>Dispatcher</a:t>
            </a:r>
          </a:p>
          <a:p>
            <a:pPr lvl="1"/>
            <a:r>
              <a:rPr kumimoji="1" lang="zh-CN" altLang="en-US" sz="1600" dirty="0"/>
              <a:t>类似线程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多个</a:t>
            </a:r>
            <a:r>
              <a:rPr kumimoji="1" lang="en-US" altLang="zh-CN" sz="1600" dirty="0">
                <a:solidFill>
                  <a:schemeClr val="accent1"/>
                </a:solidFill>
              </a:rPr>
              <a:t>Dispatcher</a:t>
            </a:r>
            <a:r>
              <a:rPr kumimoji="1" lang="zh-CN" altLang="en-US" sz="1600" dirty="0"/>
              <a:t>组成一个</a:t>
            </a:r>
            <a:r>
              <a:rPr kumimoji="1" lang="en-US" altLang="zh-CN" sz="1600" dirty="0">
                <a:solidFill>
                  <a:schemeClr val="accent1"/>
                </a:solidFill>
              </a:rPr>
              <a:t>Domain</a:t>
            </a:r>
          </a:p>
          <a:p>
            <a:r>
              <a:rPr kumimoji="1" lang="en-US" altLang="zh-CN" sz="1800" dirty="0"/>
              <a:t>Domain</a:t>
            </a:r>
          </a:p>
          <a:p>
            <a:pPr lvl="1"/>
            <a:r>
              <a:rPr kumimoji="1" lang="zh-CN" altLang="en-US" sz="1600" dirty="0"/>
              <a:t>类似进程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CFEA02-1EE0-8F4C-B3C1-CCB806D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49BAFA-6961-0341-BBA2-2DBE8754F6B6}"/>
              </a:ext>
            </a:extLst>
          </p:cNvPr>
          <p:cNvSpPr/>
          <p:nvPr/>
        </p:nvSpPr>
        <p:spPr>
          <a:xfrm>
            <a:off x="457800" y="530870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http://www.barrelfish.org/documentation.html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48F572-1ABC-B846-B955-64487736FC4F}"/>
              </a:ext>
            </a:extLst>
          </p:cNvPr>
          <p:cNvSpPr txBox="1"/>
          <p:nvPr/>
        </p:nvSpPr>
        <p:spPr>
          <a:xfrm>
            <a:off x="6852222" y="1849388"/>
            <a:ext cx="18036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User-level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Message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Passing</a:t>
            </a:r>
            <a:endParaRPr kumimoji="1" lang="zh-CN" altLang="en-US" sz="1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ED8C59-4865-7E4E-B03E-A3888E844B63}"/>
              </a:ext>
            </a:extLst>
          </p:cNvPr>
          <p:cNvSpPr txBox="1"/>
          <p:nvPr/>
        </p:nvSpPr>
        <p:spPr>
          <a:xfrm>
            <a:off x="6852222" y="1222113"/>
            <a:ext cx="1824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Local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Message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Passing</a:t>
            </a:r>
            <a:endParaRPr kumimoji="1" lang="zh-CN" altLang="en-US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E3523D-3B1F-A44A-A4EE-2508F843E302}"/>
              </a:ext>
            </a:extLst>
          </p:cNvPr>
          <p:cNvSpPr txBox="1"/>
          <p:nvPr/>
        </p:nvSpPr>
        <p:spPr>
          <a:xfrm>
            <a:off x="5795766" y="337220"/>
            <a:ext cx="1824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BOMP:</a:t>
            </a:r>
            <a:r>
              <a:rPr kumimoji="1" lang="zh-CN" altLang="en-US" sz="1000" dirty="0"/>
              <a:t> </a:t>
            </a:r>
            <a:r>
              <a:rPr kumimoji="1" lang="en-US" altLang="zh-CN" sz="1000" dirty="0" err="1"/>
              <a:t>Barrelfish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OpenMP</a:t>
            </a:r>
            <a:endParaRPr kumimoji="1" lang="zh-CN" altLang="en-US" sz="1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3E6580-5136-2D4A-93FC-5C5CF52CF206}"/>
              </a:ext>
            </a:extLst>
          </p:cNvPr>
          <p:cNvSpPr txBox="1"/>
          <p:nvPr/>
        </p:nvSpPr>
        <p:spPr>
          <a:xfrm>
            <a:off x="4572000" y="3103903"/>
            <a:ext cx="1824234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/>
              <a:t>SKB:</a:t>
            </a:r>
            <a:r>
              <a:rPr kumimoji="1" lang="zh-CN" altLang="en-US" sz="900" dirty="0"/>
              <a:t> </a:t>
            </a:r>
            <a:r>
              <a:rPr kumimoji="1" lang="en-US" altLang="zh-CN" sz="900" dirty="0"/>
              <a:t>System</a:t>
            </a:r>
            <a:r>
              <a:rPr kumimoji="1" lang="zh-CN" altLang="en-US" sz="900" dirty="0"/>
              <a:t> </a:t>
            </a:r>
            <a:br>
              <a:rPr kumimoji="1" lang="en-US" altLang="zh-CN" sz="900" dirty="0"/>
            </a:br>
            <a:r>
              <a:rPr kumimoji="1" lang="en-US" altLang="zh-CN" sz="900" dirty="0"/>
              <a:t>Knowledge</a:t>
            </a:r>
            <a:r>
              <a:rPr kumimoji="1" lang="zh-CN" altLang="en-US" sz="900" dirty="0"/>
              <a:t> </a:t>
            </a:r>
            <a:r>
              <a:rPr kumimoji="1" lang="en-US" altLang="zh-CN" sz="900" dirty="0"/>
              <a:t>Base</a:t>
            </a:r>
          </a:p>
          <a:p>
            <a:pPr>
              <a:lnSpc>
                <a:spcPct val="130000"/>
              </a:lnSpc>
            </a:pPr>
            <a:r>
              <a:rPr kumimoji="1" lang="zh-CN" altLang="en-US" sz="900" dirty="0"/>
              <a:t>类似 </a:t>
            </a:r>
            <a:r>
              <a:rPr kumimoji="1" lang="en-US" altLang="zh-CN" sz="900" dirty="0"/>
              <a:t>/proc</a:t>
            </a:r>
            <a:endParaRPr kumimoji="1"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359467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607DA-5B3B-0849-857C-EBFEED26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Popcorn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70972-2669-8F44-8B80-8166FFF0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支持异构体系结构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ARM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x86</a:t>
            </a:r>
            <a:r>
              <a:rPr kumimoji="1" lang="zh-CN" altLang="en-US" sz="2000" dirty="0"/>
              <a:t>等</a:t>
            </a:r>
            <a:endParaRPr kumimoji="1" lang="en-US" altLang="zh-CN" sz="2000" dirty="0"/>
          </a:p>
          <a:p>
            <a:r>
              <a:rPr kumimoji="1" lang="zh-CN" altLang="en-US" sz="2000" dirty="0"/>
              <a:t>多个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内核副本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一套代码编译不同副本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</a:t>
            </a:r>
            <a:r>
              <a:rPr kumimoji="1" lang="en-US" altLang="zh-CN" sz="2000" dirty="0"/>
              <a:t>ISA</a:t>
            </a:r>
            <a:r>
              <a:rPr kumimoji="1" lang="zh-CN" altLang="en-US" sz="2000" dirty="0"/>
              <a:t>不同副本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多个副本同时向上提供</a:t>
            </a:r>
            <a:br>
              <a:rPr kumimoji="1" lang="en-US" altLang="zh-CN" sz="2000" dirty="0"/>
            </a:br>
            <a:r>
              <a:rPr kumimoji="1" lang="en-US" altLang="zh-CN" sz="2000" dirty="0"/>
              <a:t>OS</a:t>
            </a:r>
            <a:r>
              <a:rPr kumimoji="1" lang="zh-CN" altLang="en-US" sz="2000" dirty="0"/>
              <a:t>服务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CAD68-48DA-8947-AC3B-C6E43674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1A829E-5849-FC44-9099-D49967180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79" y="1196859"/>
            <a:ext cx="4788024" cy="34440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49FDB54-DC49-3048-A106-85A9A86AF1E4}"/>
              </a:ext>
            </a:extLst>
          </p:cNvPr>
          <p:cNvSpPr/>
          <p:nvPr/>
        </p:nvSpPr>
        <p:spPr>
          <a:xfrm>
            <a:off x="4267200" y="530648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</a:rPr>
              <a:t>http://</a:t>
            </a:r>
            <a:r>
              <a:rPr lang="en-US" altLang="zh-CN" sz="1400" dirty="0" err="1">
                <a:solidFill>
                  <a:schemeClr val="tx2"/>
                </a:solidFill>
              </a:rPr>
              <a:t>www.popcornlinux.org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979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7725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8213-A597-2547-A063-0AF62C40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不同操作系统架构的对比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9BFF9-2B74-4747-BF41-BBD5B615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B17DDE-012A-FA43-9BC5-FB3ECB6F3B23}"/>
              </a:ext>
            </a:extLst>
          </p:cNvPr>
          <p:cNvSpPr/>
          <p:nvPr/>
        </p:nvSpPr>
        <p:spPr>
          <a:xfrm>
            <a:off x="1157755" y="3617411"/>
            <a:ext cx="926476" cy="638114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2C801E7-3409-F24B-977F-D493CD5760CC}"/>
              </a:ext>
            </a:extLst>
          </p:cNvPr>
          <p:cNvSpPr/>
          <p:nvPr/>
        </p:nvSpPr>
        <p:spPr>
          <a:xfrm>
            <a:off x="1157755" y="4250832"/>
            <a:ext cx="926476" cy="5972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7" name="直接连接符 5">
            <a:extLst>
              <a:ext uri="{FF2B5EF4-FFF2-40B4-BE49-F238E27FC236}">
                <a16:creationId xmlns:a16="http://schemas.microsoft.com/office/drawing/2014/main" id="{3034909B-D972-5841-A943-961E0B018446}"/>
              </a:ext>
            </a:extLst>
          </p:cNvPr>
          <p:cNvCxnSpPr>
            <a:cxnSpLocks/>
          </p:cNvCxnSpPr>
          <p:nvPr/>
        </p:nvCxnSpPr>
        <p:spPr>
          <a:xfrm>
            <a:off x="271158" y="3473996"/>
            <a:ext cx="8261282" cy="0"/>
          </a:xfrm>
          <a:prstGeom prst="line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BB80C71D-C56B-E044-8B2C-9F43A43E71DF}"/>
              </a:ext>
            </a:extLst>
          </p:cNvPr>
          <p:cNvSpPr/>
          <p:nvPr/>
        </p:nvSpPr>
        <p:spPr>
          <a:xfrm>
            <a:off x="271158" y="3080957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用户态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DF29DC3-D3AD-1842-A94B-859EDE60D3DF}"/>
              </a:ext>
            </a:extLst>
          </p:cNvPr>
          <p:cNvSpPr/>
          <p:nvPr/>
        </p:nvSpPr>
        <p:spPr>
          <a:xfrm>
            <a:off x="271158" y="354770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内核态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4EE58B-F340-EF4A-8005-EE0D8BDA456B}"/>
              </a:ext>
            </a:extLst>
          </p:cNvPr>
          <p:cNvSpPr/>
          <p:nvPr/>
        </p:nvSpPr>
        <p:spPr>
          <a:xfrm>
            <a:off x="1282672" y="370401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0CC6979-4281-6F4A-AB49-33190239A254}"/>
              </a:ext>
            </a:extLst>
          </p:cNvPr>
          <p:cNvSpPr/>
          <p:nvPr/>
        </p:nvSpPr>
        <p:spPr>
          <a:xfrm>
            <a:off x="1699065" y="39152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B355341-F758-E64B-B881-05FD099FBFFD}"/>
              </a:ext>
            </a:extLst>
          </p:cNvPr>
          <p:cNvSpPr/>
          <p:nvPr/>
        </p:nvSpPr>
        <p:spPr>
          <a:xfrm>
            <a:off x="2491508" y="3617411"/>
            <a:ext cx="1043588" cy="6789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191AC43-0054-D54C-8878-F694A2C69840}"/>
              </a:ext>
            </a:extLst>
          </p:cNvPr>
          <p:cNvSpPr/>
          <p:nvPr/>
        </p:nvSpPr>
        <p:spPr>
          <a:xfrm>
            <a:off x="2729638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0FC5A7A-82B7-234B-A9A8-E341AC3B01C7}"/>
              </a:ext>
            </a:extLst>
          </p:cNvPr>
          <p:cNvSpPr/>
          <p:nvPr/>
        </p:nvSpPr>
        <p:spPr>
          <a:xfrm>
            <a:off x="3146031" y="39568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CF50A66-006A-254A-AA44-BDFF8D19327D}"/>
              </a:ext>
            </a:extLst>
          </p:cNvPr>
          <p:cNvSpPr/>
          <p:nvPr/>
        </p:nvSpPr>
        <p:spPr>
          <a:xfrm>
            <a:off x="1563738" y="431971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8FA45AD-9DDE-5545-B266-EE91075949AD}"/>
              </a:ext>
            </a:extLst>
          </p:cNvPr>
          <p:cNvSpPr/>
          <p:nvPr/>
        </p:nvSpPr>
        <p:spPr>
          <a:xfrm>
            <a:off x="1241033" y="45060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502159E-556C-0444-8BA0-18263C57914D}"/>
              </a:ext>
            </a:extLst>
          </p:cNvPr>
          <p:cNvSpPr/>
          <p:nvPr/>
        </p:nvSpPr>
        <p:spPr>
          <a:xfrm>
            <a:off x="3937178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5BB7750-EA8A-8045-AC7D-746904AE7221}"/>
              </a:ext>
            </a:extLst>
          </p:cNvPr>
          <p:cNvSpPr/>
          <p:nvPr/>
        </p:nvSpPr>
        <p:spPr>
          <a:xfrm>
            <a:off x="3937178" y="3617411"/>
            <a:ext cx="1043588" cy="42912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C95FDAF-2809-114C-8338-ADF1C0199007}"/>
              </a:ext>
            </a:extLst>
          </p:cNvPr>
          <p:cNvSpPr/>
          <p:nvPr/>
        </p:nvSpPr>
        <p:spPr>
          <a:xfrm>
            <a:off x="4124554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4063F83-5622-A742-8DFD-23A2B8D203ED}"/>
              </a:ext>
            </a:extLst>
          </p:cNvPr>
          <p:cNvSpPr/>
          <p:nvPr/>
        </p:nvSpPr>
        <p:spPr>
          <a:xfrm>
            <a:off x="4311934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D7E7BC6-E8DD-354B-A0B1-6C5F3201F273}"/>
              </a:ext>
            </a:extLst>
          </p:cNvPr>
          <p:cNvSpPr/>
          <p:nvPr/>
        </p:nvSpPr>
        <p:spPr>
          <a:xfrm>
            <a:off x="4686689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3EA979E-BBB5-6A40-907E-2660E0C1D6AD}"/>
              </a:ext>
            </a:extLst>
          </p:cNvPr>
          <p:cNvSpPr/>
          <p:nvPr/>
        </p:nvSpPr>
        <p:spPr>
          <a:xfrm>
            <a:off x="3964503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34EDABF-9F97-4B4B-98DF-04E86BD744DC}"/>
              </a:ext>
            </a:extLst>
          </p:cNvPr>
          <p:cNvSpPr/>
          <p:nvPr/>
        </p:nvSpPr>
        <p:spPr>
          <a:xfrm>
            <a:off x="4339258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3EE4882-E0C2-774B-8EF8-AA9AED300F06}"/>
              </a:ext>
            </a:extLst>
          </p:cNvPr>
          <p:cNvSpPr/>
          <p:nvPr/>
        </p:nvSpPr>
        <p:spPr>
          <a:xfrm>
            <a:off x="4714014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C55C352-EF9D-384B-9069-B64596032B1A}"/>
              </a:ext>
            </a:extLst>
          </p:cNvPr>
          <p:cNvSpPr/>
          <p:nvPr/>
        </p:nvSpPr>
        <p:spPr>
          <a:xfrm>
            <a:off x="5386701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2F1E6DE-60B8-7E44-9818-4EFAB8438A49}"/>
              </a:ext>
            </a:extLst>
          </p:cNvPr>
          <p:cNvSpPr/>
          <p:nvPr/>
        </p:nvSpPr>
        <p:spPr>
          <a:xfrm>
            <a:off x="5386701" y="3617411"/>
            <a:ext cx="1066913" cy="128241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8968D4F-38D6-7049-BB29-F34D536E3277}"/>
              </a:ext>
            </a:extLst>
          </p:cNvPr>
          <p:cNvSpPr/>
          <p:nvPr/>
        </p:nvSpPr>
        <p:spPr>
          <a:xfrm>
            <a:off x="5414026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68833BC-B6B5-B141-95B7-FF3B4134213A}"/>
              </a:ext>
            </a:extLst>
          </p:cNvPr>
          <p:cNvSpPr/>
          <p:nvPr/>
        </p:nvSpPr>
        <p:spPr>
          <a:xfrm>
            <a:off x="5386701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00F59CE-5CCE-914B-82DD-65406894F62E}"/>
              </a:ext>
            </a:extLst>
          </p:cNvPr>
          <p:cNvSpPr/>
          <p:nvPr/>
        </p:nvSpPr>
        <p:spPr>
          <a:xfrm>
            <a:off x="5414026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F4910C-6F3D-B343-BAD9-B3ADA5695D15}"/>
              </a:ext>
            </a:extLst>
          </p:cNvPr>
          <p:cNvSpPr/>
          <p:nvPr/>
        </p:nvSpPr>
        <p:spPr>
          <a:xfrm>
            <a:off x="3964503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45D40F9-8829-3D43-9DB8-1EE786574380}"/>
              </a:ext>
            </a:extLst>
          </p:cNvPr>
          <p:cNvSpPr/>
          <p:nvPr/>
        </p:nvSpPr>
        <p:spPr>
          <a:xfrm>
            <a:off x="4339258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5B67E-C195-914D-92DF-5005C1FFA078}"/>
              </a:ext>
            </a:extLst>
          </p:cNvPr>
          <p:cNvSpPr/>
          <p:nvPr/>
        </p:nvSpPr>
        <p:spPr>
          <a:xfrm>
            <a:off x="4714014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BD9BB7E-50B4-BC47-8B3B-C142D68A20FF}"/>
              </a:ext>
            </a:extLst>
          </p:cNvPr>
          <p:cNvSpPr/>
          <p:nvPr/>
        </p:nvSpPr>
        <p:spPr>
          <a:xfrm>
            <a:off x="5773119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5DACA89-490D-574F-9BA0-20407416CBA5}"/>
              </a:ext>
            </a:extLst>
          </p:cNvPr>
          <p:cNvSpPr/>
          <p:nvPr/>
        </p:nvSpPr>
        <p:spPr>
          <a:xfrm>
            <a:off x="5800444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412F5F7-D960-5F44-90EC-23C115F6172D}"/>
              </a:ext>
            </a:extLst>
          </p:cNvPr>
          <p:cNvSpPr/>
          <p:nvPr/>
        </p:nvSpPr>
        <p:spPr>
          <a:xfrm>
            <a:off x="5773119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8807052-D9AF-7A4B-A107-53536B535D1F}"/>
              </a:ext>
            </a:extLst>
          </p:cNvPr>
          <p:cNvSpPr/>
          <p:nvPr/>
        </p:nvSpPr>
        <p:spPr>
          <a:xfrm>
            <a:off x="5800444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6E18DEA-EBB7-8548-B522-134309E06968}"/>
              </a:ext>
            </a:extLst>
          </p:cNvPr>
          <p:cNvSpPr/>
          <p:nvPr/>
        </p:nvSpPr>
        <p:spPr>
          <a:xfrm>
            <a:off x="6159537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C6E4E9D-556C-AA4A-AF8E-28591C727A05}"/>
              </a:ext>
            </a:extLst>
          </p:cNvPr>
          <p:cNvSpPr/>
          <p:nvPr/>
        </p:nvSpPr>
        <p:spPr>
          <a:xfrm>
            <a:off x="6186862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C9BFF19-1E65-2345-8DCE-84061200BEAA}"/>
              </a:ext>
            </a:extLst>
          </p:cNvPr>
          <p:cNvSpPr/>
          <p:nvPr/>
        </p:nvSpPr>
        <p:spPr>
          <a:xfrm>
            <a:off x="6159537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41ADE7E-498D-294C-B7AE-8CE60AE1DCFB}"/>
              </a:ext>
            </a:extLst>
          </p:cNvPr>
          <p:cNvSpPr/>
          <p:nvPr/>
        </p:nvSpPr>
        <p:spPr>
          <a:xfrm>
            <a:off x="6186862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ECFBE60-3392-DD48-8FC1-7E07F9FB3349}"/>
              </a:ext>
            </a:extLst>
          </p:cNvPr>
          <p:cNvSpPr txBox="1"/>
          <p:nvPr/>
        </p:nvSpPr>
        <p:spPr>
          <a:xfrm>
            <a:off x="1077687" y="4956894"/>
            <a:ext cx="1086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简单内核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CA1D444-E2AA-224E-924B-392EB6FC1AD9}"/>
              </a:ext>
            </a:extLst>
          </p:cNvPr>
          <p:cNvSpPr txBox="1"/>
          <p:nvPr/>
        </p:nvSpPr>
        <p:spPr>
          <a:xfrm>
            <a:off x="2518832" y="4956894"/>
            <a:ext cx="988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宏内核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D24C625-10D3-864A-B55D-62852E8AC922}"/>
              </a:ext>
            </a:extLst>
          </p:cNvPr>
          <p:cNvSpPr txBox="1"/>
          <p:nvPr/>
        </p:nvSpPr>
        <p:spPr>
          <a:xfrm>
            <a:off x="3823972" y="4956894"/>
            <a:ext cx="1269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微内核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883FC87-27A8-794F-B869-98B069D71D66}"/>
              </a:ext>
            </a:extLst>
          </p:cNvPr>
          <p:cNvSpPr txBox="1"/>
          <p:nvPr/>
        </p:nvSpPr>
        <p:spPr>
          <a:xfrm>
            <a:off x="5285157" y="4956894"/>
            <a:ext cx="1269998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外核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B6C67E3-3F4E-8446-9301-CCE21A61C26F}"/>
              </a:ext>
            </a:extLst>
          </p:cNvPr>
          <p:cNvSpPr/>
          <p:nvPr/>
        </p:nvSpPr>
        <p:spPr>
          <a:xfrm>
            <a:off x="4545455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411C89-3226-D14A-B7B3-567D78105AAB}"/>
              </a:ext>
            </a:extLst>
          </p:cNvPr>
          <p:cNvSpPr/>
          <p:nvPr/>
        </p:nvSpPr>
        <p:spPr>
          <a:xfrm>
            <a:off x="2809037" y="4016168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56618F9-217E-4646-A3F9-D0162E5528C7}"/>
              </a:ext>
            </a:extLst>
          </p:cNvPr>
          <p:cNvSpPr/>
          <p:nvPr/>
        </p:nvSpPr>
        <p:spPr>
          <a:xfrm>
            <a:off x="1332189" y="39979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4664C74-EF5C-4D4C-BFA8-17DA9C220975}"/>
              </a:ext>
            </a:extLst>
          </p:cNvPr>
          <p:cNvSpPr/>
          <p:nvPr/>
        </p:nvSpPr>
        <p:spPr>
          <a:xfrm>
            <a:off x="1730364" y="457468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9" name="直接箭头连接符 68">
            <a:extLst>
              <a:ext uri="{FF2B5EF4-FFF2-40B4-BE49-F238E27FC236}">
                <a16:creationId xmlns:a16="http://schemas.microsoft.com/office/drawing/2014/main" id="{582233FB-9B45-B547-82BA-53C64A92C5DC}"/>
              </a:ext>
            </a:extLst>
          </p:cNvPr>
          <p:cNvCxnSpPr>
            <a:stCxn id="100" idx="2"/>
            <a:endCxn id="89" idx="0"/>
          </p:cNvCxnSpPr>
          <p:nvPr/>
        </p:nvCxnSpPr>
        <p:spPr>
          <a:xfrm>
            <a:off x="4084217" y="3212332"/>
            <a:ext cx="160051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0" name="直接箭头连接符 71">
            <a:extLst>
              <a:ext uri="{FF2B5EF4-FFF2-40B4-BE49-F238E27FC236}">
                <a16:creationId xmlns:a16="http://schemas.microsoft.com/office/drawing/2014/main" id="{6377BBC9-A85B-2B4E-A347-C71D8BE2FCDE}"/>
              </a:ext>
            </a:extLst>
          </p:cNvPr>
          <p:cNvCxnSpPr>
            <a:stCxn id="89" idx="0"/>
            <a:endCxn id="101" idx="2"/>
          </p:cNvCxnSpPr>
          <p:nvPr/>
        </p:nvCxnSpPr>
        <p:spPr>
          <a:xfrm flipV="1">
            <a:off x="4244268" y="3212332"/>
            <a:ext cx="214704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1" name="直接箭头连接符 75">
            <a:extLst>
              <a:ext uri="{FF2B5EF4-FFF2-40B4-BE49-F238E27FC236}">
                <a16:creationId xmlns:a16="http://schemas.microsoft.com/office/drawing/2014/main" id="{B847357E-0C2A-624E-8B1B-5179A623F37C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flipH="1">
            <a:off x="1683452" y="4101632"/>
            <a:ext cx="135328" cy="218082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2" name="直接箭头连接符 78">
            <a:extLst>
              <a:ext uri="{FF2B5EF4-FFF2-40B4-BE49-F238E27FC236}">
                <a16:creationId xmlns:a16="http://schemas.microsoft.com/office/drawing/2014/main" id="{C1CE340C-0BA8-6A4E-A669-E8E5CE7DA99C}"/>
              </a:ext>
            </a:extLst>
          </p:cNvPr>
          <p:cNvCxnSpPr>
            <a:stCxn id="97" idx="2"/>
            <a:endCxn id="99" idx="0"/>
          </p:cNvCxnSpPr>
          <p:nvPr/>
        </p:nvCxnSpPr>
        <p:spPr>
          <a:xfrm>
            <a:off x="5533740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C2F7463F-16E2-784D-97AA-2D8543E19445}"/>
              </a:ext>
            </a:extLst>
          </p:cNvPr>
          <p:cNvSpPr/>
          <p:nvPr/>
        </p:nvSpPr>
        <p:spPr>
          <a:xfrm>
            <a:off x="5414026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6A49185-3DF2-234D-8BB2-5CF6CB00D7A1}"/>
              </a:ext>
            </a:extLst>
          </p:cNvPr>
          <p:cNvSpPr/>
          <p:nvPr/>
        </p:nvSpPr>
        <p:spPr>
          <a:xfrm>
            <a:off x="5800444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7314A19-D36E-5C4A-9879-6A29B19022EA}"/>
              </a:ext>
            </a:extLst>
          </p:cNvPr>
          <p:cNvSpPr/>
          <p:nvPr/>
        </p:nvSpPr>
        <p:spPr>
          <a:xfrm>
            <a:off x="6186862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283125C-CF50-A34C-88D6-A2985BBA0870}"/>
              </a:ext>
            </a:extLst>
          </p:cNvPr>
          <p:cNvSpPr/>
          <p:nvPr/>
        </p:nvSpPr>
        <p:spPr>
          <a:xfrm>
            <a:off x="7238077" y="951186"/>
            <a:ext cx="239309" cy="26151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7F16883E-8F20-B141-8356-29283CB0E426}"/>
              </a:ext>
            </a:extLst>
          </p:cNvPr>
          <p:cNvSpPr txBox="1"/>
          <p:nvPr/>
        </p:nvSpPr>
        <p:spPr>
          <a:xfrm>
            <a:off x="7541658" y="925932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OS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2FDFB3A-5788-7440-8900-27568D297B13}"/>
              </a:ext>
            </a:extLst>
          </p:cNvPr>
          <p:cNvSpPr/>
          <p:nvPr/>
        </p:nvSpPr>
        <p:spPr>
          <a:xfrm>
            <a:off x="7238077" y="1284765"/>
            <a:ext cx="239309" cy="261513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F9EB3FF2-050F-3F4A-B56C-DEF93163ED25}"/>
              </a:ext>
            </a:extLst>
          </p:cNvPr>
          <p:cNvSpPr txBox="1"/>
          <p:nvPr/>
        </p:nvSpPr>
        <p:spPr>
          <a:xfrm>
            <a:off x="7541658" y="1259511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App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0ED75FF-DA80-AF4A-8AC6-212A3F220C21}"/>
              </a:ext>
            </a:extLst>
          </p:cNvPr>
          <p:cNvSpPr/>
          <p:nvPr/>
        </p:nvSpPr>
        <p:spPr>
          <a:xfrm>
            <a:off x="7238077" y="1617907"/>
            <a:ext cx="239309" cy="261513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AA2AEBA-362A-2E40-9E92-D2FE289721DA}"/>
              </a:ext>
            </a:extLst>
          </p:cNvPr>
          <p:cNvSpPr txBox="1"/>
          <p:nvPr/>
        </p:nvSpPr>
        <p:spPr>
          <a:xfrm>
            <a:off x="7541658" y="1592654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逻辑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6B7DDA1-9861-CF42-A38B-A68DFA1733EF}"/>
              </a:ext>
            </a:extLst>
          </p:cNvPr>
          <p:cNvSpPr/>
          <p:nvPr/>
        </p:nvSpPr>
        <p:spPr>
          <a:xfrm>
            <a:off x="2491507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058E3BD-6E8F-564C-AD02-34F460831972}"/>
              </a:ext>
            </a:extLst>
          </p:cNvPr>
          <p:cNvSpPr/>
          <p:nvPr/>
        </p:nvSpPr>
        <p:spPr>
          <a:xfrm>
            <a:off x="2866263" y="2214407"/>
            <a:ext cx="680642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97D2C9A-D02F-B84D-87A9-4645800AAB3D}"/>
              </a:ext>
            </a:extLst>
          </p:cNvPr>
          <p:cNvSpPr/>
          <p:nvPr/>
        </p:nvSpPr>
        <p:spPr>
          <a:xfrm>
            <a:off x="2518832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133D643-668B-CA4F-9179-766C3A57C1AD}"/>
              </a:ext>
            </a:extLst>
          </p:cNvPr>
          <p:cNvSpPr/>
          <p:nvPr/>
        </p:nvSpPr>
        <p:spPr>
          <a:xfrm>
            <a:off x="2893587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38E7CB9-34C8-CD42-80BA-83721DC8F4D4}"/>
              </a:ext>
            </a:extLst>
          </p:cNvPr>
          <p:cNvSpPr/>
          <p:nvPr/>
        </p:nvSpPr>
        <p:spPr>
          <a:xfrm>
            <a:off x="3268343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C605443-F6E7-874C-AD9C-EE079F5A7B96}"/>
              </a:ext>
            </a:extLst>
          </p:cNvPr>
          <p:cNvSpPr/>
          <p:nvPr/>
        </p:nvSpPr>
        <p:spPr>
          <a:xfrm>
            <a:off x="2518832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514DBCD-DBE6-E94A-91F1-5111633374C3}"/>
              </a:ext>
            </a:extLst>
          </p:cNvPr>
          <p:cNvSpPr/>
          <p:nvPr/>
        </p:nvSpPr>
        <p:spPr>
          <a:xfrm>
            <a:off x="2893587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32F75F6-9C25-CA47-8EFF-296BEE82BC3C}"/>
              </a:ext>
            </a:extLst>
          </p:cNvPr>
          <p:cNvSpPr/>
          <p:nvPr/>
        </p:nvSpPr>
        <p:spPr>
          <a:xfrm>
            <a:off x="3268343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1" name="直接箭头连接符 21">
            <a:extLst>
              <a:ext uri="{FF2B5EF4-FFF2-40B4-BE49-F238E27FC236}">
                <a16:creationId xmlns:a16="http://schemas.microsoft.com/office/drawing/2014/main" id="{1DC7A50A-1635-5F40-9AFF-85285298F594}"/>
              </a:ext>
            </a:extLst>
          </p:cNvPr>
          <p:cNvCxnSpPr>
            <a:endCxn id="84" idx="0"/>
          </p:cNvCxnSpPr>
          <p:nvPr/>
        </p:nvCxnSpPr>
        <p:spPr>
          <a:xfrm flipH="1">
            <a:off x="3265746" y="3223768"/>
            <a:ext cx="130123" cy="733123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CBA7DBF2-9786-3246-8288-F33EC22E4E09}"/>
              </a:ext>
            </a:extLst>
          </p:cNvPr>
          <p:cNvSpPr/>
          <p:nvPr/>
        </p:nvSpPr>
        <p:spPr>
          <a:xfrm>
            <a:off x="3280055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75A29A18-7669-4344-A667-6038D87D90DC}"/>
              </a:ext>
            </a:extLst>
          </p:cNvPr>
          <p:cNvSpPr/>
          <p:nvPr/>
        </p:nvSpPr>
        <p:spPr>
          <a:xfrm>
            <a:off x="4101129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50D36643-7D71-1A46-84D5-9A82827993A2}"/>
              </a:ext>
            </a:extLst>
          </p:cNvPr>
          <p:cNvSpPr/>
          <p:nvPr/>
        </p:nvSpPr>
        <p:spPr>
          <a:xfrm>
            <a:off x="4278443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2467145-B34E-7245-8F87-9B0132DCB8D8}"/>
              </a:ext>
            </a:extLst>
          </p:cNvPr>
          <p:cNvSpPr/>
          <p:nvPr/>
        </p:nvSpPr>
        <p:spPr>
          <a:xfrm>
            <a:off x="6823104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201BB87-E831-4245-89C3-886393B0E4F1}"/>
              </a:ext>
            </a:extLst>
          </p:cNvPr>
          <p:cNvSpPr/>
          <p:nvPr/>
        </p:nvSpPr>
        <p:spPr>
          <a:xfrm>
            <a:off x="6823104" y="3617411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999252D-6CA9-C349-8FB6-2AE34A4821BE}"/>
              </a:ext>
            </a:extLst>
          </p:cNvPr>
          <p:cNvSpPr/>
          <p:nvPr/>
        </p:nvSpPr>
        <p:spPr>
          <a:xfrm>
            <a:off x="6850429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6703D69-9773-F340-8328-B90C24DC2D0A}"/>
              </a:ext>
            </a:extLst>
          </p:cNvPr>
          <p:cNvSpPr/>
          <p:nvPr/>
        </p:nvSpPr>
        <p:spPr>
          <a:xfrm>
            <a:off x="6823104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70F6982-FCEA-2C4F-BC46-F17AB29B757E}"/>
              </a:ext>
            </a:extLst>
          </p:cNvPr>
          <p:cNvSpPr/>
          <p:nvPr/>
        </p:nvSpPr>
        <p:spPr>
          <a:xfrm>
            <a:off x="6850429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8C44D258-628C-A743-A95C-80FFDB8F7922}"/>
              </a:ext>
            </a:extLst>
          </p:cNvPr>
          <p:cNvSpPr/>
          <p:nvPr/>
        </p:nvSpPr>
        <p:spPr>
          <a:xfrm>
            <a:off x="7209522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C69A972-B96E-ED47-AAB7-314B7CB26309}"/>
              </a:ext>
            </a:extLst>
          </p:cNvPr>
          <p:cNvSpPr/>
          <p:nvPr/>
        </p:nvSpPr>
        <p:spPr>
          <a:xfrm>
            <a:off x="7236847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9EF7E4C-6465-9946-9B4C-2EC73DDA6553}"/>
              </a:ext>
            </a:extLst>
          </p:cNvPr>
          <p:cNvSpPr/>
          <p:nvPr/>
        </p:nvSpPr>
        <p:spPr>
          <a:xfrm>
            <a:off x="7209522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4D356FB-DE39-7246-BCC0-005195CE89EC}"/>
              </a:ext>
            </a:extLst>
          </p:cNvPr>
          <p:cNvSpPr/>
          <p:nvPr/>
        </p:nvSpPr>
        <p:spPr>
          <a:xfrm>
            <a:off x="7236847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8FD3CCA-FA48-1143-B208-E2CAA350B05A}"/>
              </a:ext>
            </a:extLst>
          </p:cNvPr>
          <p:cNvSpPr/>
          <p:nvPr/>
        </p:nvSpPr>
        <p:spPr>
          <a:xfrm>
            <a:off x="7595940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09F8F6E-F1B0-C549-ADCD-2D112AF2851B}"/>
              </a:ext>
            </a:extLst>
          </p:cNvPr>
          <p:cNvSpPr/>
          <p:nvPr/>
        </p:nvSpPr>
        <p:spPr>
          <a:xfrm>
            <a:off x="7623265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7E2690E1-D03C-A949-9FFC-D623627DA77E}"/>
              </a:ext>
            </a:extLst>
          </p:cNvPr>
          <p:cNvSpPr/>
          <p:nvPr/>
        </p:nvSpPr>
        <p:spPr>
          <a:xfrm>
            <a:off x="7595940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C5EA946-62A8-5749-82C0-088215D54A25}"/>
              </a:ext>
            </a:extLst>
          </p:cNvPr>
          <p:cNvSpPr/>
          <p:nvPr/>
        </p:nvSpPr>
        <p:spPr>
          <a:xfrm>
            <a:off x="7623265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847C99F-775C-B443-8794-104AC1CDB646}"/>
              </a:ext>
            </a:extLst>
          </p:cNvPr>
          <p:cNvSpPr txBox="1"/>
          <p:nvPr/>
        </p:nvSpPr>
        <p:spPr>
          <a:xfrm>
            <a:off x="6721560" y="4956894"/>
            <a:ext cx="1269998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多内核</a:t>
            </a:r>
          </a:p>
        </p:txBody>
      </p:sp>
      <p:cxnSp>
        <p:nvCxnSpPr>
          <p:cNvPr id="160" name="直接箭头连接符 78">
            <a:extLst>
              <a:ext uri="{FF2B5EF4-FFF2-40B4-BE49-F238E27FC236}">
                <a16:creationId xmlns:a16="http://schemas.microsoft.com/office/drawing/2014/main" id="{B0C009C9-35EF-C945-B454-7942CA93AF2B}"/>
              </a:ext>
            </a:extLst>
          </p:cNvPr>
          <p:cNvCxnSpPr>
            <a:stCxn id="148" idx="2"/>
            <a:endCxn id="150" idx="0"/>
          </p:cNvCxnSpPr>
          <p:nvPr/>
        </p:nvCxnSpPr>
        <p:spPr>
          <a:xfrm>
            <a:off x="6970143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479F0441-4E1E-6740-BA9B-9A10AC2D0F33}"/>
              </a:ext>
            </a:extLst>
          </p:cNvPr>
          <p:cNvSpPr/>
          <p:nvPr/>
        </p:nvSpPr>
        <p:spPr>
          <a:xfrm>
            <a:off x="6850429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DA60E2A-68C1-2743-8FB5-997CE33A804C}"/>
              </a:ext>
            </a:extLst>
          </p:cNvPr>
          <p:cNvSpPr/>
          <p:nvPr/>
        </p:nvSpPr>
        <p:spPr>
          <a:xfrm>
            <a:off x="7236847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12E5F0E-FD83-6B4A-B8C5-A7CB5186AE94}"/>
              </a:ext>
            </a:extLst>
          </p:cNvPr>
          <p:cNvSpPr/>
          <p:nvPr/>
        </p:nvSpPr>
        <p:spPr>
          <a:xfrm>
            <a:off x="7623265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F4064531-8AAE-404C-832B-2C8B8EEC597D}"/>
              </a:ext>
            </a:extLst>
          </p:cNvPr>
          <p:cNvSpPr/>
          <p:nvPr/>
        </p:nvSpPr>
        <p:spPr>
          <a:xfrm>
            <a:off x="7209522" y="3613718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D7F22FB-2854-8C46-9707-B2C7EF6B5DE9}"/>
              </a:ext>
            </a:extLst>
          </p:cNvPr>
          <p:cNvSpPr/>
          <p:nvPr/>
        </p:nvSpPr>
        <p:spPr>
          <a:xfrm>
            <a:off x="7595939" y="3617410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973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4F8ED-7B5B-334A-9C11-9A0402F0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操作系统结构的演进与生态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F0350-9687-A94B-88A7-DDFBD73B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系统软件需要一条演进之路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尽可能集成现有的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API/Linux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ABI</a:t>
            </a:r>
          </a:p>
          <a:p>
            <a:pPr lvl="1"/>
            <a:r>
              <a:rPr kumimoji="1" lang="zh-CN" altLang="en-US" sz="2000" dirty="0"/>
              <a:t>避免棘手的系统调用（如</a:t>
            </a:r>
            <a:r>
              <a:rPr kumimoji="1" lang="en-US" altLang="zh-CN" sz="2000" dirty="0"/>
              <a:t>fork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避免不可扩展的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API</a:t>
            </a:r>
          </a:p>
          <a:p>
            <a:r>
              <a:rPr kumimoji="1" lang="zh-CN" altLang="en-US" sz="2000" dirty="0"/>
              <a:t>系统软件一直在不断演化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例：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Userspace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(UIO)</a:t>
            </a:r>
            <a:r>
              <a:rPr kumimoji="1" lang="zh-CN" altLang="en-US" sz="2000" dirty="0"/>
              <a:t>，向微内核近了一步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单节点下也存在更多的分布式、低时延的可编程设备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非易失性内存的出现可能推动存储层次在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中的完全改革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6ABA1-CD7D-D949-BA10-7FA34245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648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35093</TotalTime>
  <Words>3535</Words>
  <Application>Microsoft Macintosh PowerPoint</Application>
  <PresentationFormat>全屏显示(16:10)</PresentationFormat>
  <Paragraphs>521</Paragraphs>
  <Slides>59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DengXian</vt:lpstr>
      <vt:lpstr>DengXian</vt:lpstr>
      <vt:lpstr>Microsoft YaHei</vt:lpstr>
      <vt:lpstr>Microsoft YaHei</vt:lpstr>
      <vt:lpstr>PingFang SC</vt:lpstr>
      <vt:lpstr>Arial</vt:lpstr>
      <vt:lpstr>Calibri</vt:lpstr>
      <vt:lpstr>Times New Roman</vt:lpstr>
      <vt:lpstr>Office 主题​​</vt:lpstr>
      <vt:lpstr>1_Office 主题​​</vt:lpstr>
      <vt:lpstr>操作系统的结构</vt:lpstr>
      <vt:lpstr>版权声明</vt:lpstr>
      <vt:lpstr>Review: 操作系统的演化</vt:lpstr>
      <vt:lpstr>Review: 课程的特点：抽象与具体</vt:lpstr>
      <vt:lpstr>Review: 为什么操作系统比较难/有意思？</vt:lpstr>
      <vt:lpstr>Review: 操作系统的机遇和挑战</vt:lpstr>
      <vt:lpstr>Review: 硬件在新应用需求下迅猛发展</vt:lpstr>
      <vt:lpstr>大纲</vt:lpstr>
      <vt:lpstr>结构的重要性</vt:lpstr>
      <vt:lpstr>PowerPoint 演示文稿</vt:lpstr>
      <vt:lpstr>操作系统复杂性与结构</vt:lpstr>
      <vt:lpstr>操作系统的目标并不一致</vt:lpstr>
      <vt:lpstr>降低操作系统复杂性</vt:lpstr>
      <vt:lpstr>操作系统的架构及演进</vt:lpstr>
      <vt:lpstr>宏内核（Monolithic-KerneL）</vt:lpstr>
      <vt:lpstr>宏内核（Monolithic Kernel）</vt:lpstr>
      <vt:lpstr>宏内核的优缺点分析</vt:lpstr>
      <vt:lpstr>宏内核难以满足的场景</vt:lpstr>
      <vt:lpstr>微内核（Micro-Kernel）</vt:lpstr>
      <vt:lpstr>微内核架构</vt:lpstr>
      <vt:lpstr>例：文件的创建</vt:lpstr>
      <vt:lpstr>微内核的历史</vt:lpstr>
      <vt:lpstr>Mach微内核</vt:lpstr>
      <vt:lpstr>Mach实现了哪些功能？</vt:lpstr>
      <vt:lpstr>Mach还实现了哪些功能？</vt:lpstr>
      <vt:lpstr>Mach：用户态与内核态的分工</vt:lpstr>
      <vt:lpstr>L3/L4：极大提升IPC的性能</vt:lpstr>
      <vt:lpstr>seL4：被形式化证明的微内核</vt:lpstr>
      <vt:lpstr>seL4：被形式化证明的微内核</vt:lpstr>
      <vt:lpstr>QNX Neutrino</vt:lpstr>
      <vt:lpstr>Google Fuchsia</vt:lpstr>
      <vt:lpstr>MINIX</vt:lpstr>
      <vt:lpstr>微内核的优缺点分析</vt:lpstr>
      <vt:lpstr>微内核的优缺点分析</vt:lpstr>
      <vt:lpstr>混合内核架构</vt:lpstr>
      <vt:lpstr>Windows NT</vt:lpstr>
      <vt:lpstr>macOS</vt:lpstr>
      <vt:lpstr>外核+库OS（Exokernel + LibOS）</vt:lpstr>
      <vt:lpstr>外核架构（Exokernel）</vt:lpstr>
      <vt:lpstr>Exokernel + LibOS</vt:lpstr>
      <vt:lpstr>Exokernel架构的设计</vt:lpstr>
      <vt:lpstr>安全绑定</vt:lpstr>
      <vt:lpstr>显式资源回收与中止协议</vt:lpstr>
      <vt:lpstr>例：Exokernel对磁盘的管理</vt:lpstr>
      <vt:lpstr>Exokernel的性能提升</vt:lpstr>
      <vt:lpstr>Unikernel（单内核）</vt:lpstr>
      <vt:lpstr>Unikernel的部分开源项目</vt:lpstr>
      <vt:lpstr>Linux as a LibOS?</vt:lpstr>
      <vt:lpstr>Exokernel架构的优缺点分析</vt:lpstr>
      <vt:lpstr>Exokernel架构的优缺点分析</vt:lpstr>
      <vt:lpstr>多内核/复内核（Multi-Kernel）</vt:lpstr>
      <vt:lpstr>多内核/复内核（Multikernel）</vt:lpstr>
      <vt:lpstr>Multikernel的设计</vt:lpstr>
      <vt:lpstr>Barrelfish Multikernel</vt:lpstr>
      <vt:lpstr>Barrelfish Structure</vt:lpstr>
      <vt:lpstr>Popcorn Linux</vt:lpstr>
      <vt:lpstr>小结</vt:lpstr>
      <vt:lpstr>不同操作系统架构的对比</vt:lpstr>
      <vt:lpstr>操作系统结构的演进与生态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1124</cp:revision>
  <cp:lastPrinted>2020-03-02T13:38:09Z</cp:lastPrinted>
  <dcterms:created xsi:type="dcterms:W3CDTF">2017-11-24T09:35:45Z</dcterms:created>
  <dcterms:modified xsi:type="dcterms:W3CDTF">2022-02-17T05:28:47Z</dcterms:modified>
</cp:coreProperties>
</file>