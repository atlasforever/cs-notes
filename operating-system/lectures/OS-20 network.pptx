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64"/>
  </p:notesMasterIdLst>
  <p:handoutMasterIdLst>
    <p:handoutMasterId r:id="rId65"/>
  </p:handoutMasterIdLst>
  <p:sldIdLst>
    <p:sldId id="1306" r:id="rId2"/>
    <p:sldId id="1359" r:id="rId3"/>
    <p:sldId id="2736" r:id="rId4"/>
    <p:sldId id="2737" r:id="rId5"/>
    <p:sldId id="2738" r:id="rId6"/>
    <p:sldId id="2740" r:id="rId7"/>
    <p:sldId id="2741" r:id="rId8"/>
    <p:sldId id="2743" r:id="rId9"/>
    <p:sldId id="2744" r:id="rId10"/>
    <p:sldId id="2742" r:id="rId11"/>
    <p:sldId id="2353" r:id="rId12"/>
    <p:sldId id="2624" r:id="rId13"/>
    <p:sldId id="2739" r:id="rId14"/>
    <p:sldId id="2733" r:id="rId15"/>
    <p:sldId id="2669" r:id="rId16"/>
    <p:sldId id="2307" r:id="rId17"/>
    <p:sldId id="2309" r:id="rId18"/>
    <p:sldId id="2735" r:id="rId19"/>
    <p:sldId id="2650" r:id="rId20"/>
    <p:sldId id="2732" r:id="rId21"/>
    <p:sldId id="2692" r:id="rId22"/>
    <p:sldId id="2679" r:id="rId23"/>
    <p:sldId id="2728" r:id="rId24"/>
    <p:sldId id="2731" r:id="rId25"/>
    <p:sldId id="2711" r:id="rId26"/>
    <p:sldId id="2729" r:id="rId27"/>
    <p:sldId id="2705" r:id="rId28"/>
    <p:sldId id="2709" r:id="rId29"/>
    <p:sldId id="2706" r:id="rId30"/>
    <p:sldId id="2707" r:id="rId31"/>
    <p:sldId id="2708" r:id="rId32"/>
    <p:sldId id="2681" r:id="rId33"/>
    <p:sldId id="2690" r:id="rId34"/>
    <p:sldId id="2696" r:id="rId35"/>
    <p:sldId id="2697" r:id="rId36"/>
    <p:sldId id="2698" r:id="rId37"/>
    <p:sldId id="2699" r:id="rId38"/>
    <p:sldId id="2701" r:id="rId39"/>
    <p:sldId id="2702" r:id="rId40"/>
    <p:sldId id="2689" r:id="rId41"/>
    <p:sldId id="2727" r:id="rId42"/>
    <p:sldId id="2686" r:id="rId43"/>
    <p:sldId id="2694" r:id="rId44"/>
    <p:sldId id="2691" r:id="rId45"/>
    <p:sldId id="2657" r:id="rId46"/>
    <p:sldId id="2676" r:id="rId47"/>
    <p:sldId id="2659" r:id="rId48"/>
    <p:sldId id="2660" r:id="rId49"/>
    <p:sldId id="2662" r:id="rId50"/>
    <p:sldId id="2663" r:id="rId51"/>
    <p:sldId id="2661" r:id="rId52"/>
    <p:sldId id="2671" r:id="rId53"/>
    <p:sldId id="2718" r:id="rId54"/>
    <p:sldId id="2730" r:id="rId55"/>
    <p:sldId id="2719" r:id="rId56"/>
    <p:sldId id="2720" r:id="rId57"/>
    <p:sldId id="2717" r:id="rId58"/>
    <p:sldId id="2745" r:id="rId59"/>
    <p:sldId id="2670" r:id="rId60"/>
    <p:sldId id="2712" r:id="rId61"/>
    <p:sldId id="2714" r:id="rId62"/>
    <p:sldId id="2713" r:id="rId63"/>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80">
          <p15:clr>
            <a:srgbClr val="A4A3A4"/>
          </p15:clr>
        </p15:guide>
        <p15:guide id="2" pos="340">
          <p15:clr>
            <a:srgbClr val="A4A3A4"/>
          </p15:clr>
        </p15:guide>
        <p15:guide id="3"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2F92"/>
    <a:srgbClr val="0432FF"/>
    <a:srgbClr val="FF9300"/>
    <a:srgbClr val="00FB92"/>
    <a:srgbClr val="941100"/>
    <a:srgbClr val="212121"/>
    <a:srgbClr val="005493"/>
    <a:srgbClr val="9437FF"/>
    <a:srgbClr val="73FEFF"/>
    <a:srgbClr val="ED3C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47" autoAdjust="0"/>
    <p:restoredTop sz="87741" autoAdjust="0"/>
  </p:normalViewPr>
  <p:slideViewPr>
    <p:cSldViewPr>
      <p:cViewPr varScale="1">
        <p:scale>
          <a:sx n="112" d="100"/>
          <a:sy n="112" d="100"/>
        </p:scale>
        <p:origin x="208" y="448"/>
      </p:cViewPr>
      <p:guideLst>
        <p:guide orient="horz" pos="2480"/>
        <p:guide pos="34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121" d="100"/>
          <a:sy n="121" d="100"/>
        </p:scale>
        <p:origin x="3864"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2022/4/24</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2022/4/24</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Transmission_Control_Protocol#Selective_acknowledgments" TargetMode="External"/><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16</a:t>
            </a:fld>
            <a:endParaRPr lang="zh-CN" altLang="en-US"/>
          </a:p>
        </p:txBody>
      </p:sp>
    </p:spTree>
    <p:extLst>
      <p:ext uri="{BB962C8B-B14F-4D97-AF65-F5344CB8AC3E}">
        <p14:creationId xmlns:p14="http://schemas.microsoft.com/office/powerpoint/2010/main" val="923697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i="0" dirty="0"/>
              <a:t>上半部的</a:t>
            </a:r>
            <a:r>
              <a:rPr kumimoji="1" lang="en" altLang="zh-CN" i="0" dirty="0" err="1"/>
              <a:t>input_pkt_queue</a:t>
            </a:r>
            <a:r>
              <a:rPr kumimoji="1" lang="zh-CN" altLang="en" i="0" dirty="0"/>
              <a:t>保证</a:t>
            </a:r>
            <a:r>
              <a:rPr kumimoji="1" lang="zh-CN" altLang="en-US" i="0" dirty="0"/>
              <a:t>了中断处理的及时性</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27</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i="0" dirty="0"/>
              <a:t>下半部</a:t>
            </a:r>
            <a:r>
              <a:rPr kumimoji="1" lang="en" altLang="zh-CN" i="0" dirty="0" err="1"/>
              <a:t>process_queue</a:t>
            </a:r>
            <a:r>
              <a:rPr kumimoji="1" lang="zh-CN" altLang="en-US" i="0" dirty="0"/>
              <a:t>处理队列则可以被中断</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28</a:t>
            </a:fld>
            <a:endParaRPr lang="zh-CN" altLang="en-US"/>
          </a:p>
        </p:txBody>
      </p:sp>
    </p:spTree>
    <p:extLst>
      <p:ext uri="{BB962C8B-B14F-4D97-AF65-F5344CB8AC3E}">
        <p14:creationId xmlns:p14="http://schemas.microsoft.com/office/powerpoint/2010/main" val="19176883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3A84A077-83E9-49A7-9F59-234D78BD6949}" type="slidenum">
              <a:rPr lang="zh-CN" altLang="en-US" smtClean="0"/>
              <a:t>29</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调整</a:t>
            </a:r>
            <a:r>
              <a:rPr kumimoji="1" lang="en-US" altLang="zh-CN" dirty="0"/>
              <a:t>tail</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调整</a:t>
            </a:r>
            <a:r>
              <a:rPr kumimoji="1" lang="en-US" altLang="zh-CN" dirty="0"/>
              <a:t>data</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37</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调整</a:t>
            </a:r>
            <a:r>
              <a:rPr kumimoji="1" lang="en-US" altLang="zh-CN" dirty="0"/>
              <a:t>data</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dirty="0"/>
              <a:t>调整</a:t>
            </a:r>
            <a:r>
              <a:rPr kumimoji="1" lang="en-US" altLang="zh-CN" dirty="0"/>
              <a:t>data</a:t>
            </a:r>
          </a:p>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zh-CN" dirty="0"/>
              <a:t>headroom</a:t>
            </a:r>
            <a:r>
              <a:rPr kumimoji="1" lang="zh-CN" altLang="en-US" dirty="0"/>
              <a:t>的空间是因为对齐：</a:t>
            </a:r>
            <a:r>
              <a:rPr kumimoji="1" lang="en-US" altLang="zh-CN" dirty="0"/>
              <a:t>Ether</a:t>
            </a:r>
            <a:r>
              <a:rPr kumimoji="1" lang="zh-CN" altLang="en-US" dirty="0"/>
              <a:t>头部</a:t>
            </a:r>
            <a:r>
              <a:rPr kumimoji="1" lang="en-US" altLang="zh-CN" dirty="0"/>
              <a:t>14</a:t>
            </a:r>
            <a:r>
              <a:rPr kumimoji="1" lang="zh-CN" altLang="en-US" dirty="0"/>
              <a:t>字节，填充</a:t>
            </a:r>
            <a:r>
              <a:rPr kumimoji="1" lang="en-US" altLang="zh-CN" dirty="0"/>
              <a:t>2</a:t>
            </a:r>
            <a:r>
              <a:rPr kumimoji="1" lang="zh-CN" altLang="en-US" dirty="0"/>
              <a:t>字节，</a:t>
            </a:r>
            <a:r>
              <a:rPr kumimoji="1" lang="en-US" altLang="zh-CN" dirty="0"/>
              <a:t>16</a:t>
            </a:r>
            <a:r>
              <a:rPr kumimoji="1" lang="zh-CN" altLang="en-US" dirty="0"/>
              <a:t>字节对齐</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hlinkClick r:id="rId3"/>
              </a:rPr>
              <a:t>Selective acknowledgment</a:t>
            </a:r>
            <a:r>
              <a:rPr lang="en-US" altLang="zh-CN" dirty="0"/>
              <a:t> (SACK) is a technique used by TCP to help alleviate congestion that can arise due to the retransmission of dropped packets. It allows the endpoints to describe which pieces of the data they have received, so that only the missing pieces need to be retransmitted. However, a bug was recently found in the Linux implementation of SACK that allows remote attackers to panic the system by sending crafted SACK information.</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41</a:t>
            </a:fld>
            <a:endParaRPr lang="zh-CN" altLang="en-US"/>
          </a:p>
        </p:txBody>
      </p:sp>
    </p:spTree>
    <p:extLst>
      <p:ext uri="{BB962C8B-B14F-4D97-AF65-F5344CB8AC3E}">
        <p14:creationId xmlns:p14="http://schemas.microsoft.com/office/powerpoint/2010/main" val="17170975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zh-CN" dirty="0"/>
              <a:t>NAPI</a:t>
            </a:r>
            <a:r>
              <a:rPr kumimoji="1" lang="zh-CN" altLang="en-US" dirty="0"/>
              <a:t>使用中断＋轮询的方式，中断产生之后暂时关闭中断然后轮询接收完所有的数据包，接着再开中断</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而非</a:t>
            </a:r>
            <a:r>
              <a:rPr kumimoji="1" lang="en" altLang="zh-CN" dirty="0"/>
              <a:t>NAPI</a:t>
            </a:r>
            <a:r>
              <a:rPr kumimoji="1" lang="zh-CN" altLang="en-US" dirty="0"/>
              <a:t>采用纯粹中断的方式，一个中断接收一个数据包</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42</a:t>
            </a:fld>
            <a:endParaRPr lang="zh-CN" altLang="en-US"/>
          </a:p>
        </p:txBody>
      </p:sp>
    </p:spTree>
    <p:extLst>
      <p:ext uri="{BB962C8B-B14F-4D97-AF65-F5344CB8AC3E}">
        <p14:creationId xmlns:p14="http://schemas.microsoft.com/office/powerpoint/2010/main" val="1563370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一个数据包可能中断在</a:t>
            </a:r>
            <a:r>
              <a:rPr kumimoji="1" lang="en-GB" altLang="zh-CN" dirty="0"/>
              <a:t>Core 0</a:t>
            </a:r>
            <a:r>
              <a:rPr kumimoji="1" lang="zh-CN" altLang="en-GB" dirty="0"/>
              <a:t>，</a:t>
            </a:r>
            <a:r>
              <a:rPr kumimoji="1" lang="zh-CN" altLang="en-US" dirty="0"/>
              <a:t>内核态处理在</a:t>
            </a:r>
            <a:r>
              <a:rPr kumimoji="1" lang="en-GB" altLang="zh-CN" dirty="0"/>
              <a:t>Core 1</a:t>
            </a:r>
            <a:r>
              <a:rPr kumimoji="1" lang="zh-CN" altLang="en-GB" dirty="0"/>
              <a:t>，</a:t>
            </a:r>
            <a:r>
              <a:rPr kumimoji="1" lang="zh-CN" altLang="en-US" dirty="0"/>
              <a:t>用户态处理在</a:t>
            </a:r>
            <a:r>
              <a:rPr kumimoji="1" lang="en-GB" altLang="zh-CN" dirty="0"/>
              <a:t>Core 2</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47</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局部性：一个数据包可能中断在</a:t>
            </a:r>
            <a:r>
              <a:rPr kumimoji="1" lang="en-GB" altLang="zh-CN" dirty="0"/>
              <a:t>Core 0</a:t>
            </a:r>
            <a:r>
              <a:rPr kumimoji="1" lang="zh-CN" altLang="en-GB" dirty="0"/>
              <a:t>，</a:t>
            </a:r>
            <a:r>
              <a:rPr kumimoji="1" lang="zh-CN" altLang="en-US" dirty="0"/>
              <a:t>内核态处理在</a:t>
            </a:r>
            <a:r>
              <a:rPr kumimoji="1" lang="en-GB" altLang="zh-CN" dirty="0"/>
              <a:t>Core 1</a:t>
            </a:r>
            <a:r>
              <a:rPr kumimoji="1" lang="zh-CN" altLang="en-GB" dirty="0"/>
              <a:t>，</a:t>
            </a:r>
            <a:r>
              <a:rPr kumimoji="1" lang="zh-CN" altLang="en-US" dirty="0"/>
              <a:t>用户态处理在</a:t>
            </a:r>
            <a:r>
              <a:rPr kumimoji="1" lang="en-GB" altLang="zh-CN" dirty="0"/>
              <a:t>Core 2</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48</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每个线程绑定</a:t>
            </a:r>
            <a:r>
              <a:rPr kumimoji="1" lang="en-US" altLang="zh-CN" dirty="0"/>
              <a:t>CPU</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54</a:t>
            </a:fld>
            <a:endParaRPr lang="zh-CN" altLang="en-US"/>
          </a:p>
        </p:txBody>
      </p:sp>
    </p:spTree>
    <p:extLst>
      <p:ext uri="{BB962C8B-B14F-4D97-AF65-F5344CB8AC3E}">
        <p14:creationId xmlns:p14="http://schemas.microsoft.com/office/powerpoint/2010/main" val="1310749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61</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多个实例同时轮询，导致</a:t>
            </a:r>
            <a:r>
              <a:rPr kumimoji="1" lang="en-US" altLang="zh-CN" dirty="0"/>
              <a:t>spin</a:t>
            </a:r>
            <a:r>
              <a:rPr kumimoji="1" lang="zh-CN" altLang="en-US" dirty="0"/>
              <a:t> </a:t>
            </a:r>
            <a:r>
              <a:rPr kumimoji="1" lang="en-US" altLang="zh-CN" dirty="0"/>
              <a:t>polling</a:t>
            </a:r>
            <a:r>
              <a:rPr kumimoji="1" lang="zh-CN" altLang="en-US" dirty="0"/>
              <a:t>的成本大大提升，每个实例都必须花光自己的时间片才能</a:t>
            </a:r>
            <a:r>
              <a:rPr kumimoji="1" lang="en-US" altLang="zh-CN" dirty="0"/>
              <a:t>yield</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t>‹#›</a:t>
            </a:fld>
            <a:endParaRPr lang="zh-CN" altLang="en-US"/>
          </a:p>
        </p:txBody>
      </p:sp>
      <p:sp>
        <p:nvSpPr>
          <p:cNvPr id="7" name="页脚占位符 4"/>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anose="020B0604020202090204"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anose="020B0604020202090204"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anose="020B0604020202090204"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anose="020B0604020202090204"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anose="020B0604020202090204"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lwn.net/Articles/302043/"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lwn.net/Articles/763056/"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设备管理与网络</a:t>
            </a:r>
          </a:p>
        </p:txBody>
      </p:sp>
      <p:sp>
        <p:nvSpPr>
          <p:cNvPr id="6" name="副标题 5"/>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上海交通大学并行与分布式系统研究所</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GB" altLang="zh-CN" sz="1800" dirty="0">
              <a:solidFill>
                <a:schemeClr val="tx1">
                  <a:lumMod val="50000"/>
                  <a:lumOff val="50000"/>
                </a:schemeClr>
              </a:solidFill>
            </a:endParaRPr>
          </a:p>
        </p:txBody>
      </p:sp>
      <p:pic>
        <p:nvPicPr>
          <p:cNvPr id="9" name="图片 8"/>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p:cNvSpPr txBox="1"/>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anose="020B0604020202090204"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anose="020B0604020202090204"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anose="020B0604020202090204"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anose="020B0604020202090204"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anose="020B0604020202090204"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anose="020B060402020209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9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9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90204"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lang="zh-CN" altLang="en-US" sz="1400" dirty="0">
                <a:solidFill>
                  <a:srgbClr val="000000">
                    <a:lumMod val="75000"/>
                    <a:lumOff val="25000"/>
                  </a:srgbClr>
                </a:solidFill>
                <a:latin typeface="Arial" panose="020B0604020202020204"/>
              </a:rPr>
              <a:t> </a:t>
            </a:r>
            <a:r>
              <a:rPr lang="en-US" altLang="zh-CN" sz="1400" dirty="0">
                <a:solidFill>
                  <a:srgbClr val="000000">
                    <a:lumMod val="75000"/>
                    <a:lumOff val="25000"/>
                  </a:srgbClr>
                </a:solidFill>
                <a:latin typeface="Arial" panose="020B0604020202020204"/>
              </a:rPr>
              <a:t>·</a:t>
            </a:r>
            <a:r>
              <a:rPr lang="zh-CN" altLang="en-US" sz="1400" dirty="0">
                <a:solidFill>
                  <a:srgbClr val="000000">
                    <a:lumMod val="75000"/>
                    <a:lumOff val="25000"/>
                  </a:srgbClr>
                </a:solidFill>
                <a:latin typeface="Arial" panose="020B0604020202020204"/>
              </a:rPr>
              <a:t> 操作系统（</a:t>
            </a:r>
            <a:r>
              <a:rPr lang="en-US" altLang="zh-CN" sz="1400" dirty="0">
                <a:solidFill>
                  <a:srgbClr val="000000">
                    <a:lumMod val="75000"/>
                    <a:lumOff val="25000"/>
                  </a:srgbClr>
                </a:solidFill>
                <a:latin typeface="Arial" panose="020B0604020202020204"/>
              </a:rPr>
              <a:t>2022</a:t>
            </a:r>
            <a:r>
              <a:rPr lang="zh-CN" altLang="en-US" sz="1400" dirty="0">
                <a:solidFill>
                  <a:srgbClr val="000000">
                    <a:lumMod val="75000"/>
                    <a:lumOff val="25000"/>
                  </a:srgbClr>
                </a:solidFill>
                <a:latin typeface="Arial" panose="020B0604020202020204"/>
              </a:rPr>
              <a:t>春）</a:t>
            </a:r>
          </a:p>
        </p:txBody>
      </p:sp>
      <p:pic>
        <p:nvPicPr>
          <p:cNvPr id="8" name="Picture 6" descr="http://korean.onlinesjtu.com/%E6%A0%A1%E5%BE%BD%E7%B3%BB%E5%88%97/%E7%BC%A9%E5%B0%8F%E7%89%88/%E8%93%9D%E8%89%B2%E7%B3%BB%20%E5%B0%8F%E5%B0%BA%E5%AF%B8%E6%A0%A1%E5%BE%BD%E5%B1%95%E5%BC%80%E5%BC%8F%20(10mm%E4%BB%A5%E4%B8%8B%E4%BD%BF%E7%94%A8)%20%5b%E8%BD%AC%E6%8D%A2%5d.png"/>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p:spPr>
      </p:pic>
    </p:spTree>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4" name="Slide Number Placeholder 3"/>
          <p:cNvSpPr>
            <a:spLocks noGrp="1"/>
          </p:cNvSpPr>
          <p:nvPr>
            <p:ph type="sldNum" sz="quarter" idx="12"/>
          </p:nvPr>
        </p:nvSpPr>
        <p:spPr/>
        <p:txBody>
          <a:bodyPr/>
          <a:lstStyle/>
          <a:p>
            <a:fld id="{ADE361C3-C043-4A6E-BDCE-8DA1E7D90A3B}" type="slidenum">
              <a:rPr lang="zh-CN" altLang="en-US" smtClean="0"/>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D8720-3ADA-064E-924E-B26C9598969B}"/>
              </a:ext>
            </a:extLst>
          </p:cNvPr>
          <p:cNvSpPr>
            <a:spLocks noGrp="1"/>
          </p:cNvSpPr>
          <p:nvPr>
            <p:ph type="title"/>
          </p:nvPr>
        </p:nvSpPr>
        <p:spPr/>
        <p:txBody>
          <a:bodyPr/>
          <a:lstStyle/>
          <a:p>
            <a:r>
              <a:rPr kumimoji="1" lang="zh-CN" altLang="en-US" dirty="0"/>
              <a:t>设备管理主要的三类方式</a:t>
            </a:r>
          </a:p>
        </p:txBody>
      </p:sp>
      <p:sp>
        <p:nvSpPr>
          <p:cNvPr id="3" name="内容占位符 2">
            <a:extLst>
              <a:ext uri="{FF2B5EF4-FFF2-40B4-BE49-F238E27FC236}">
                <a16:creationId xmlns:a16="http://schemas.microsoft.com/office/drawing/2014/main" id="{3464182D-40D9-DB4B-98AC-1156AA52866C}"/>
              </a:ext>
            </a:extLst>
          </p:cNvPr>
          <p:cNvSpPr>
            <a:spLocks noGrp="1"/>
          </p:cNvSpPr>
          <p:nvPr>
            <p:ph idx="1"/>
          </p:nvPr>
        </p:nvSpPr>
        <p:spPr>
          <a:xfrm>
            <a:off x="457200" y="1333501"/>
            <a:ext cx="8507288" cy="3771636"/>
          </a:xfrm>
        </p:spPr>
        <p:txBody>
          <a:bodyPr>
            <a:noAutofit/>
          </a:bodyPr>
          <a:lstStyle/>
          <a:p>
            <a:r>
              <a:rPr kumimoji="1" lang="zh-CN" altLang="en-US" sz="2000" dirty="0"/>
              <a:t>第一类（内核直管）：静态</a:t>
            </a:r>
            <a:r>
              <a:rPr kumimoji="1" lang="en-US" altLang="zh-CN" sz="2000" dirty="0"/>
              <a:t>I/O</a:t>
            </a:r>
            <a:r>
              <a:rPr kumimoji="1" lang="zh-CN" altLang="en-US" sz="2000" dirty="0"/>
              <a:t>资源分配</a:t>
            </a:r>
            <a:r>
              <a:rPr kumimoji="1" lang="en-US" altLang="zh-CN" sz="2000" dirty="0"/>
              <a:t>+</a:t>
            </a:r>
            <a:r>
              <a:rPr kumimoji="1" lang="zh-CN" altLang="en-US" sz="2000" dirty="0"/>
              <a:t>向上提供文件接口</a:t>
            </a:r>
            <a:endParaRPr kumimoji="1" lang="en-US" altLang="zh-CN" sz="2000" dirty="0"/>
          </a:p>
          <a:p>
            <a:pPr lvl="1"/>
            <a:r>
              <a:rPr kumimoji="1" lang="zh-CN" altLang="en-US" sz="1800" dirty="0"/>
              <a:t>代表设备：</a:t>
            </a:r>
            <a:r>
              <a:rPr kumimoji="1" lang="en-US" altLang="zh-CN" sz="1800" dirty="0"/>
              <a:t>Console</a:t>
            </a:r>
            <a:r>
              <a:rPr kumimoji="1" lang="zh-CN" altLang="en-US" sz="1800" dirty="0"/>
              <a:t>（</a:t>
            </a:r>
            <a:r>
              <a:rPr kumimoji="1" lang="en-US" altLang="zh-CN" sz="1800" dirty="0"/>
              <a:t>CGA+</a:t>
            </a:r>
            <a:r>
              <a:rPr kumimoji="1" lang="zh-CN" altLang="en-US" sz="1800" dirty="0"/>
              <a:t>键盘）</a:t>
            </a:r>
            <a:endParaRPr kumimoji="1" lang="en-US" altLang="zh-CN" sz="1800" dirty="0"/>
          </a:p>
          <a:p>
            <a:pPr lvl="1"/>
            <a:r>
              <a:rPr kumimoji="1" lang="zh-CN" altLang="en-US" sz="1800" dirty="0"/>
              <a:t>特征：中断号等固定，内核直接提供文件接口（无需外部驱动）</a:t>
            </a:r>
            <a:endParaRPr kumimoji="1" lang="en-US" altLang="zh-CN" sz="1800" dirty="0"/>
          </a:p>
          <a:p>
            <a:r>
              <a:rPr kumimoji="1" lang="zh-CN" altLang="en-US" sz="2000" dirty="0"/>
              <a:t>第二类（设备驱动）：动态</a:t>
            </a:r>
            <a:r>
              <a:rPr kumimoji="1" lang="en-US" altLang="zh-CN" sz="2000" dirty="0"/>
              <a:t>I/O</a:t>
            </a:r>
            <a:r>
              <a:rPr kumimoji="1" lang="zh-CN" altLang="en-US" sz="2000" dirty="0"/>
              <a:t>资源分配</a:t>
            </a:r>
            <a:r>
              <a:rPr kumimoji="1" lang="en-US" altLang="zh-CN" sz="2000" dirty="0"/>
              <a:t>+</a:t>
            </a:r>
            <a:r>
              <a:rPr kumimoji="1" lang="zh-CN" altLang="en-US" sz="2000" dirty="0"/>
              <a:t>向上提供文件接口</a:t>
            </a:r>
            <a:endParaRPr kumimoji="1" lang="en-US" altLang="zh-CN" sz="2000" dirty="0"/>
          </a:p>
          <a:p>
            <a:pPr lvl="1"/>
            <a:r>
              <a:rPr kumimoji="1" lang="zh-CN" altLang="en-US" sz="1800" dirty="0"/>
              <a:t>代表设备：</a:t>
            </a:r>
            <a:r>
              <a:rPr kumimoji="1" lang="en-US" altLang="zh-CN" sz="1800" dirty="0"/>
              <a:t>PCI</a:t>
            </a:r>
            <a:r>
              <a:rPr kumimoji="1" lang="zh-CN" altLang="en-US" sz="1800" dirty="0"/>
              <a:t>、</a:t>
            </a:r>
            <a:r>
              <a:rPr kumimoji="1" lang="en-US" altLang="zh-CN" sz="1800" dirty="0"/>
              <a:t>USB</a:t>
            </a:r>
            <a:r>
              <a:rPr kumimoji="1" lang="zh-CN" altLang="en-US" sz="1800" dirty="0"/>
              <a:t>，如硬盘、网卡等</a:t>
            </a:r>
            <a:endParaRPr kumimoji="1" lang="en-US" altLang="zh-CN" sz="1800" dirty="0"/>
          </a:p>
          <a:p>
            <a:pPr lvl="1"/>
            <a:r>
              <a:rPr kumimoji="1" lang="zh-CN" altLang="en-US" sz="1800" dirty="0"/>
              <a:t>特征：中断号等动态分配，内核提供驱动框架，设备制造商提供驱动模块</a:t>
            </a:r>
            <a:endParaRPr kumimoji="1" lang="en-US" altLang="zh-CN" sz="1800" dirty="0"/>
          </a:p>
          <a:p>
            <a:r>
              <a:rPr kumimoji="1" lang="zh-CN" altLang="en-US" sz="2000" dirty="0"/>
              <a:t>第三类（用户态库）：动态</a:t>
            </a:r>
            <a:r>
              <a:rPr kumimoji="1" lang="en-US" altLang="zh-CN" sz="2000" dirty="0"/>
              <a:t>I/O</a:t>
            </a:r>
            <a:r>
              <a:rPr kumimoji="1" lang="zh-CN" altLang="en-US" sz="2000" dirty="0"/>
              <a:t>资源分配</a:t>
            </a:r>
            <a:r>
              <a:rPr kumimoji="1" lang="en-US" altLang="zh-CN" sz="2000" dirty="0"/>
              <a:t>+</a:t>
            </a:r>
            <a:r>
              <a:rPr kumimoji="1" lang="zh-CN" altLang="en-US" sz="2000" dirty="0"/>
              <a:t>向上提供内存接口</a:t>
            </a:r>
            <a:endParaRPr kumimoji="1" lang="en-US" altLang="zh-CN" sz="2000" dirty="0"/>
          </a:p>
          <a:p>
            <a:pPr lvl="1"/>
            <a:r>
              <a:rPr kumimoji="1" lang="zh-CN" altLang="en-US" sz="1800" dirty="0"/>
              <a:t>代表设备：智能网卡、智能</a:t>
            </a:r>
            <a:r>
              <a:rPr kumimoji="1" lang="en-US" altLang="zh-CN" sz="1800" dirty="0"/>
              <a:t>SSD</a:t>
            </a:r>
          </a:p>
          <a:p>
            <a:pPr lvl="1"/>
            <a:r>
              <a:rPr kumimoji="1" lang="zh-CN" altLang="en-US" sz="1800" dirty="0"/>
              <a:t>特征：内核直接将设备暴露给用户态，设备制造商提供用户态库</a:t>
            </a:r>
          </a:p>
        </p:txBody>
      </p:sp>
      <p:sp>
        <p:nvSpPr>
          <p:cNvPr id="4" name="灯片编号占位符 3">
            <a:extLst>
              <a:ext uri="{FF2B5EF4-FFF2-40B4-BE49-F238E27FC236}">
                <a16:creationId xmlns:a16="http://schemas.microsoft.com/office/drawing/2014/main" id="{A0643089-E056-A446-81A7-A05FDBD98E8D}"/>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201C2CE5-79BD-D24D-9AB2-A3375BF8C92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68869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D8033F-F0A0-8C46-8EB6-EBE20D9E917D}"/>
              </a:ext>
            </a:extLst>
          </p:cNvPr>
          <p:cNvSpPr>
            <a:spLocks noGrp="1"/>
          </p:cNvSpPr>
          <p:nvPr>
            <p:ph type="title"/>
          </p:nvPr>
        </p:nvSpPr>
        <p:spPr/>
        <p:txBody>
          <a:bodyPr/>
          <a:lstStyle/>
          <a:p>
            <a:r>
              <a:rPr kumimoji="1" lang="en-US" altLang="zh-CN" dirty="0"/>
              <a:t>OS</a:t>
            </a:r>
            <a:r>
              <a:rPr kumimoji="1" lang="zh-CN" altLang="en-US" dirty="0"/>
              <a:t>的设备管理：对上与对下</a:t>
            </a:r>
          </a:p>
        </p:txBody>
      </p:sp>
      <p:sp>
        <p:nvSpPr>
          <p:cNvPr id="3" name="内容占位符 2">
            <a:extLst>
              <a:ext uri="{FF2B5EF4-FFF2-40B4-BE49-F238E27FC236}">
                <a16:creationId xmlns:a16="http://schemas.microsoft.com/office/drawing/2014/main" id="{21A85A16-824D-3340-B36C-011B58968A5A}"/>
              </a:ext>
            </a:extLst>
          </p:cNvPr>
          <p:cNvSpPr>
            <a:spLocks noGrp="1"/>
          </p:cNvSpPr>
          <p:nvPr>
            <p:ph idx="1"/>
          </p:nvPr>
        </p:nvSpPr>
        <p:spPr/>
        <p:txBody>
          <a:bodyPr>
            <a:normAutofit/>
          </a:bodyPr>
          <a:lstStyle/>
          <a:p>
            <a:r>
              <a:rPr kumimoji="1" lang="zh-CN" altLang="en-US" sz="2000" dirty="0"/>
              <a:t>向下对接设备：分配必要的</a:t>
            </a:r>
            <a:r>
              <a:rPr kumimoji="1" lang="en-US" altLang="zh-CN" sz="2000" dirty="0"/>
              <a:t>I/O</a:t>
            </a:r>
            <a:r>
              <a:rPr kumimoji="1" lang="zh-CN" altLang="en-US" sz="2000" dirty="0"/>
              <a:t>资源</a:t>
            </a:r>
            <a:endParaRPr kumimoji="1" lang="en-US" altLang="zh-CN" sz="2000" dirty="0"/>
          </a:p>
          <a:p>
            <a:pPr lvl="1"/>
            <a:r>
              <a:rPr kumimoji="1" lang="zh-CN" altLang="en-US" sz="1800" dirty="0">
                <a:solidFill>
                  <a:schemeClr val="accent1"/>
                </a:solidFill>
              </a:rPr>
              <a:t>中断号 </a:t>
            </a:r>
            <a:r>
              <a:rPr kumimoji="1" lang="en-US" altLang="zh-CN" sz="1800" dirty="0">
                <a:solidFill>
                  <a:schemeClr val="accent1"/>
                </a:solidFill>
              </a:rPr>
              <a:t>+</a:t>
            </a:r>
            <a:r>
              <a:rPr kumimoji="1" lang="zh-CN" altLang="en-US" sz="1800" dirty="0">
                <a:solidFill>
                  <a:schemeClr val="accent1"/>
                </a:solidFill>
              </a:rPr>
              <a:t> 虚拟地址映射空间</a:t>
            </a:r>
            <a:endParaRPr kumimoji="1" lang="en-US" altLang="zh-CN" sz="1800" dirty="0">
              <a:solidFill>
                <a:schemeClr val="accent1"/>
              </a:solidFill>
            </a:endParaRPr>
          </a:p>
          <a:p>
            <a:pPr lvl="2"/>
            <a:r>
              <a:rPr kumimoji="1" lang="zh-CN" altLang="en-US" sz="1800" dirty="0"/>
              <a:t>静态绑定：由硬件规范确定</a:t>
            </a:r>
            <a:endParaRPr kumimoji="1" lang="en-US" altLang="zh-CN" sz="1800" dirty="0"/>
          </a:p>
          <a:p>
            <a:pPr lvl="2"/>
            <a:r>
              <a:rPr kumimoji="1" lang="zh-CN" altLang="en-US" sz="1800" dirty="0"/>
              <a:t>动态分配：动态扫描后再分配</a:t>
            </a:r>
            <a:endParaRPr kumimoji="1" lang="en-US" altLang="zh-CN" sz="1800" dirty="0"/>
          </a:p>
          <a:p>
            <a:r>
              <a:rPr kumimoji="1" lang="zh-CN" altLang="en-US" sz="2000" dirty="0"/>
              <a:t>对上提供接口：应用使用设备的方式</a:t>
            </a:r>
            <a:endParaRPr kumimoji="1" lang="en-US" altLang="zh-CN" sz="2000" dirty="0"/>
          </a:p>
          <a:p>
            <a:pPr lvl="1"/>
            <a:r>
              <a:rPr kumimoji="1" lang="zh-CN" altLang="en-US" sz="1800" dirty="0">
                <a:solidFill>
                  <a:schemeClr val="accent1"/>
                </a:solidFill>
              </a:rPr>
              <a:t>文件接口</a:t>
            </a:r>
            <a:r>
              <a:rPr kumimoji="1" lang="zh-CN" altLang="en-US" sz="1800" dirty="0"/>
              <a:t>：通过系统调用</a:t>
            </a:r>
            <a:endParaRPr kumimoji="1" lang="en-US" altLang="zh-CN" sz="1800" dirty="0"/>
          </a:p>
          <a:p>
            <a:pPr lvl="2"/>
            <a:r>
              <a:rPr kumimoji="1" lang="en-US" altLang="zh-CN" sz="1800" dirty="0"/>
              <a:t>open</a:t>
            </a:r>
            <a:r>
              <a:rPr kumimoji="1" lang="zh-CN" altLang="en-US" sz="1800" dirty="0"/>
              <a:t>、</a:t>
            </a:r>
            <a:r>
              <a:rPr kumimoji="1" lang="en-US" altLang="zh-CN" sz="1800" dirty="0"/>
              <a:t>read</a:t>
            </a:r>
            <a:r>
              <a:rPr kumimoji="1" lang="zh-CN" altLang="en-US" sz="1800" dirty="0"/>
              <a:t>、</a:t>
            </a:r>
            <a:r>
              <a:rPr kumimoji="1" lang="en-US" altLang="zh-CN" sz="1800" dirty="0"/>
              <a:t>write</a:t>
            </a:r>
            <a:r>
              <a:rPr kumimoji="1" lang="zh-CN" altLang="en-US" sz="1800" dirty="0"/>
              <a:t>、</a:t>
            </a:r>
            <a:r>
              <a:rPr kumimoji="1" lang="en-US" altLang="zh-CN" sz="1800" dirty="0"/>
              <a:t>close</a:t>
            </a:r>
            <a:r>
              <a:rPr kumimoji="1" lang="zh-CN" altLang="en-US" sz="1800" dirty="0"/>
              <a:t>、</a:t>
            </a:r>
            <a:r>
              <a:rPr kumimoji="1" lang="en-US" altLang="zh-CN" sz="1800" dirty="0"/>
              <a:t>ioctl</a:t>
            </a:r>
            <a:r>
              <a:rPr kumimoji="1" lang="zh-CN" altLang="en-US" sz="1800" dirty="0"/>
              <a:t>等</a:t>
            </a:r>
            <a:endParaRPr kumimoji="1" lang="en-US" altLang="zh-CN" sz="1800" dirty="0"/>
          </a:p>
          <a:p>
            <a:pPr lvl="1"/>
            <a:r>
              <a:rPr kumimoji="1" lang="zh-CN" altLang="en-US" sz="1800" dirty="0">
                <a:solidFill>
                  <a:schemeClr val="accent1"/>
                </a:solidFill>
              </a:rPr>
              <a:t>内存接口</a:t>
            </a:r>
            <a:r>
              <a:rPr kumimoji="1" lang="zh-CN" altLang="en-US" sz="1800" dirty="0"/>
              <a:t>：寄存器直接映射到用户态虚拟内存空间</a:t>
            </a:r>
            <a:endParaRPr kumimoji="1" lang="en-US" altLang="zh-CN" sz="1800" dirty="0"/>
          </a:p>
          <a:p>
            <a:pPr lvl="2"/>
            <a:r>
              <a:rPr kumimoji="1" lang="zh-CN" altLang="en-US" sz="1800" dirty="0"/>
              <a:t>无需系统调用，应用可直接访问设备</a:t>
            </a:r>
          </a:p>
        </p:txBody>
      </p:sp>
      <p:sp>
        <p:nvSpPr>
          <p:cNvPr id="4" name="灯片编号占位符 3">
            <a:extLst>
              <a:ext uri="{FF2B5EF4-FFF2-40B4-BE49-F238E27FC236}">
                <a16:creationId xmlns:a16="http://schemas.microsoft.com/office/drawing/2014/main" id="{6F508518-8A30-974B-BE08-ABE91C889DD1}"/>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96E25E29-E26A-FF4E-ABF7-EABB50C3B43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954227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9C3A4C-269E-2C4E-B265-EE5121F12BAC}"/>
              </a:ext>
            </a:extLst>
          </p:cNvPr>
          <p:cNvSpPr>
            <a:spLocks noGrp="1"/>
          </p:cNvSpPr>
          <p:nvPr>
            <p:ph type="title"/>
          </p:nvPr>
        </p:nvSpPr>
        <p:spPr/>
        <p:txBody>
          <a:bodyPr/>
          <a:lstStyle/>
          <a:p>
            <a:r>
              <a:rPr kumimoji="1" lang="zh-CN" altLang="en-US" dirty="0"/>
              <a:t>第一类：内核直管</a:t>
            </a:r>
          </a:p>
        </p:txBody>
      </p:sp>
      <p:sp>
        <p:nvSpPr>
          <p:cNvPr id="3" name="内容占位符 2">
            <a:extLst>
              <a:ext uri="{FF2B5EF4-FFF2-40B4-BE49-F238E27FC236}">
                <a16:creationId xmlns:a16="http://schemas.microsoft.com/office/drawing/2014/main" id="{DDCD3D66-95A1-B642-AA4B-580B3D49A7D5}"/>
              </a:ext>
            </a:extLst>
          </p:cNvPr>
          <p:cNvSpPr>
            <a:spLocks noGrp="1"/>
          </p:cNvSpPr>
          <p:nvPr>
            <p:ph idx="1"/>
          </p:nvPr>
        </p:nvSpPr>
        <p:spPr/>
        <p:txBody>
          <a:bodyPr>
            <a:noAutofit/>
          </a:bodyPr>
          <a:lstStyle/>
          <a:p>
            <a:r>
              <a:rPr kumimoji="1" lang="zh-CN" altLang="en-US" sz="2000" dirty="0"/>
              <a:t>以</a:t>
            </a:r>
            <a:r>
              <a:rPr kumimoji="1" lang="en-US" altLang="zh-CN" sz="2000" dirty="0"/>
              <a:t>Console</a:t>
            </a:r>
            <a:r>
              <a:rPr kumimoji="1" lang="zh-CN" altLang="en-US" sz="2000" dirty="0"/>
              <a:t>为例</a:t>
            </a:r>
            <a:endParaRPr kumimoji="1" lang="en-US" altLang="zh-CN" sz="2000" dirty="0"/>
          </a:p>
          <a:p>
            <a:pPr lvl="1"/>
            <a:r>
              <a:rPr kumimoji="1" lang="zh-CN" altLang="en-US" sz="1800" dirty="0"/>
              <a:t>包含设备：显示器（</a:t>
            </a:r>
            <a:r>
              <a:rPr kumimoji="1" lang="en-US" altLang="zh-CN" sz="1800" dirty="0"/>
              <a:t>CGA</a:t>
            </a:r>
            <a:r>
              <a:rPr kumimoji="1" lang="zh-CN" altLang="en-US" sz="1800" dirty="0"/>
              <a:t>）</a:t>
            </a:r>
            <a:r>
              <a:rPr kumimoji="1" lang="en-US" altLang="zh-CN" sz="1800" dirty="0"/>
              <a:t>+</a:t>
            </a:r>
            <a:r>
              <a:rPr kumimoji="1" lang="zh-CN" altLang="en-US" sz="1800" dirty="0"/>
              <a:t>键盘</a:t>
            </a:r>
            <a:endParaRPr kumimoji="1" lang="en-US" altLang="zh-CN" sz="1800" dirty="0"/>
          </a:p>
          <a:p>
            <a:r>
              <a:rPr kumimoji="1" lang="en-US" altLang="zh-CN" sz="2000" dirty="0"/>
              <a:t>I/O</a:t>
            </a:r>
            <a:r>
              <a:rPr kumimoji="1" lang="zh-CN" altLang="en-US" sz="2000" dirty="0"/>
              <a:t>资源静态绑定</a:t>
            </a:r>
            <a:endParaRPr kumimoji="1" lang="en-US" altLang="zh-CN" sz="2000" dirty="0"/>
          </a:p>
          <a:p>
            <a:pPr lvl="1"/>
            <a:r>
              <a:rPr kumimoji="1" lang="zh-CN" altLang="en-US" sz="1800" dirty="0"/>
              <a:t>中断号（即异常向量表）</a:t>
            </a:r>
            <a:endParaRPr kumimoji="1" lang="en-US" altLang="zh-CN" sz="1800" dirty="0"/>
          </a:p>
          <a:p>
            <a:pPr lvl="1"/>
            <a:r>
              <a:rPr kumimoji="1" lang="zh-CN" altLang="en-US" sz="1800" dirty="0"/>
              <a:t>寄存器所映射的虚拟内存地址</a:t>
            </a:r>
            <a:endParaRPr kumimoji="1" lang="en-US" altLang="zh-CN" sz="1800" dirty="0"/>
          </a:p>
          <a:p>
            <a:r>
              <a:rPr kumimoji="1" lang="zh-CN" altLang="en-US" sz="2000" dirty="0"/>
              <a:t>文件接口</a:t>
            </a:r>
            <a:endParaRPr kumimoji="1" lang="en-US" altLang="zh-CN" sz="2000" dirty="0"/>
          </a:p>
          <a:p>
            <a:pPr lvl="1"/>
            <a:r>
              <a:rPr kumimoji="1" lang="en-US" altLang="zh-CN" sz="1800" dirty="0"/>
              <a:t>read</a:t>
            </a:r>
            <a:r>
              <a:rPr kumimoji="1" lang="zh-CN" altLang="en-US" sz="1800" dirty="0"/>
              <a:t>：读取键盘输入，通常以行为单位</a:t>
            </a:r>
            <a:endParaRPr kumimoji="1" lang="en-US" altLang="zh-CN" sz="1800" dirty="0"/>
          </a:p>
          <a:p>
            <a:pPr lvl="1"/>
            <a:r>
              <a:rPr kumimoji="1" lang="en-US" altLang="zh-CN" sz="1800" dirty="0"/>
              <a:t>write</a:t>
            </a:r>
            <a:r>
              <a:rPr kumimoji="1" lang="zh-CN" altLang="en-US" sz="1800" dirty="0"/>
              <a:t>：向显示器输出字符并显示</a:t>
            </a:r>
          </a:p>
        </p:txBody>
      </p:sp>
      <p:sp>
        <p:nvSpPr>
          <p:cNvPr id="4" name="灯片编号占位符 3">
            <a:extLst>
              <a:ext uri="{FF2B5EF4-FFF2-40B4-BE49-F238E27FC236}">
                <a16:creationId xmlns:a16="http://schemas.microsoft.com/office/drawing/2014/main" id="{32E66815-3CD5-8141-B309-E1F799FE8A24}"/>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D22F4390-C03A-F144-9673-6B4FFF9AE2A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09137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67E973C2-ABFB-D14E-9B1C-33AC9B1472C7}"/>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3676F780-64CF-2445-A2B1-E1C96ABF44E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B736AB72-EF67-FF41-836C-954F04C0B596}"/>
              </a:ext>
            </a:extLst>
          </p:cNvPr>
          <p:cNvPicPr>
            <a:picLocks noChangeAspect="1"/>
          </p:cNvPicPr>
          <p:nvPr/>
        </p:nvPicPr>
        <p:blipFill>
          <a:blip r:embed="rId2"/>
          <a:stretch>
            <a:fillRect/>
          </a:stretch>
        </p:blipFill>
        <p:spPr>
          <a:xfrm>
            <a:off x="4724401" y="228291"/>
            <a:ext cx="3962399" cy="5034197"/>
          </a:xfrm>
          <a:prstGeom prst="rect">
            <a:avLst/>
          </a:prstGeom>
        </p:spPr>
      </p:pic>
      <p:pic>
        <p:nvPicPr>
          <p:cNvPr id="7" name="图片 6">
            <a:extLst>
              <a:ext uri="{FF2B5EF4-FFF2-40B4-BE49-F238E27FC236}">
                <a16:creationId xmlns:a16="http://schemas.microsoft.com/office/drawing/2014/main" id="{9E74A595-3746-AF49-8CD6-54048BE06E1F}"/>
              </a:ext>
            </a:extLst>
          </p:cNvPr>
          <p:cNvPicPr>
            <a:picLocks noChangeAspect="1"/>
          </p:cNvPicPr>
          <p:nvPr/>
        </p:nvPicPr>
        <p:blipFill>
          <a:blip r:embed="rId3"/>
          <a:stretch>
            <a:fillRect/>
          </a:stretch>
        </p:blipFill>
        <p:spPr>
          <a:xfrm>
            <a:off x="434042" y="228866"/>
            <a:ext cx="3856182" cy="2262909"/>
          </a:xfrm>
          <a:prstGeom prst="rect">
            <a:avLst/>
          </a:prstGeom>
        </p:spPr>
      </p:pic>
      <p:pic>
        <p:nvPicPr>
          <p:cNvPr id="8" name="图片 7">
            <a:extLst>
              <a:ext uri="{FF2B5EF4-FFF2-40B4-BE49-F238E27FC236}">
                <a16:creationId xmlns:a16="http://schemas.microsoft.com/office/drawing/2014/main" id="{FDDF6569-4E54-6A4F-AE79-D7C7CF9738E4}"/>
              </a:ext>
            </a:extLst>
          </p:cNvPr>
          <p:cNvPicPr>
            <a:picLocks noChangeAspect="1"/>
          </p:cNvPicPr>
          <p:nvPr/>
        </p:nvPicPr>
        <p:blipFill>
          <a:blip r:embed="rId4"/>
          <a:stretch>
            <a:fillRect/>
          </a:stretch>
        </p:blipFill>
        <p:spPr>
          <a:xfrm>
            <a:off x="434042" y="2803306"/>
            <a:ext cx="3856182" cy="2459182"/>
          </a:xfrm>
          <a:prstGeom prst="rect">
            <a:avLst/>
          </a:prstGeom>
        </p:spPr>
      </p:pic>
      <p:cxnSp>
        <p:nvCxnSpPr>
          <p:cNvPr id="9" name="直线箭头连接符 8">
            <a:extLst>
              <a:ext uri="{FF2B5EF4-FFF2-40B4-BE49-F238E27FC236}">
                <a16:creationId xmlns:a16="http://schemas.microsoft.com/office/drawing/2014/main" id="{223DA5D8-1C54-084B-B08D-3E4FFA582CC8}"/>
              </a:ext>
            </a:extLst>
          </p:cNvPr>
          <p:cNvCxnSpPr>
            <a:cxnSpLocks/>
          </p:cNvCxnSpPr>
          <p:nvPr/>
        </p:nvCxnSpPr>
        <p:spPr>
          <a:xfrm flipH="1">
            <a:off x="1187624" y="1705372"/>
            <a:ext cx="288032" cy="129614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线箭头连接符 11">
            <a:extLst>
              <a:ext uri="{FF2B5EF4-FFF2-40B4-BE49-F238E27FC236}">
                <a16:creationId xmlns:a16="http://schemas.microsoft.com/office/drawing/2014/main" id="{42BC9F6B-4D3D-C24B-B87D-A57FB6FB59B7}"/>
              </a:ext>
            </a:extLst>
          </p:cNvPr>
          <p:cNvCxnSpPr>
            <a:cxnSpLocks/>
          </p:cNvCxnSpPr>
          <p:nvPr/>
        </p:nvCxnSpPr>
        <p:spPr>
          <a:xfrm flipV="1">
            <a:off x="1619672" y="609863"/>
            <a:ext cx="3528392" cy="4335869"/>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 name="圆角矩形 15">
            <a:extLst>
              <a:ext uri="{FF2B5EF4-FFF2-40B4-BE49-F238E27FC236}">
                <a16:creationId xmlns:a16="http://schemas.microsoft.com/office/drawing/2014/main" id="{DFC20725-795B-6640-93CC-FF623BBC2538}"/>
              </a:ext>
            </a:extLst>
          </p:cNvPr>
          <p:cNvSpPr/>
          <p:nvPr/>
        </p:nvSpPr>
        <p:spPr>
          <a:xfrm>
            <a:off x="5076056" y="4297660"/>
            <a:ext cx="1800200" cy="807477"/>
          </a:xfrm>
          <a:prstGeom prst="roundRect">
            <a:avLst>
              <a:gd name="adj" fmla="val 5343"/>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136082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1B55C8-88B2-D34B-8885-91C0FB855D5B}"/>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BB9DBB11-2BD2-CC4D-A020-136F2B296D6A}"/>
              </a:ext>
            </a:extLst>
          </p:cNvPr>
          <p:cNvSpPr>
            <a:spLocks noGrp="1"/>
          </p:cNvSpPr>
          <p:nvPr>
            <p:ph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8B83C16D-0DEC-A042-96F4-86AC311DD579}"/>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CDFC85D8-0307-634D-960D-2335144AC58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3017D3CC-109D-A54F-9B0C-529074BC5C7C}"/>
              </a:ext>
            </a:extLst>
          </p:cNvPr>
          <p:cNvPicPr>
            <a:picLocks noChangeAspect="1"/>
          </p:cNvPicPr>
          <p:nvPr/>
        </p:nvPicPr>
        <p:blipFill>
          <a:blip r:embed="rId2"/>
          <a:stretch>
            <a:fillRect/>
          </a:stretch>
        </p:blipFill>
        <p:spPr>
          <a:xfrm>
            <a:off x="2991425" y="121664"/>
            <a:ext cx="3161150" cy="5195455"/>
          </a:xfrm>
          <a:prstGeom prst="rect">
            <a:avLst/>
          </a:prstGeom>
        </p:spPr>
      </p:pic>
      <p:sp>
        <p:nvSpPr>
          <p:cNvPr id="7" name="右箭头 6">
            <a:extLst>
              <a:ext uri="{FF2B5EF4-FFF2-40B4-BE49-F238E27FC236}">
                <a16:creationId xmlns:a16="http://schemas.microsoft.com/office/drawing/2014/main" id="{C3567C5E-F249-9F4B-A9F5-BAC605C4C9EB}"/>
              </a:ext>
            </a:extLst>
          </p:cNvPr>
          <p:cNvSpPr/>
          <p:nvPr/>
        </p:nvSpPr>
        <p:spPr>
          <a:xfrm>
            <a:off x="2641466" y="2611379"/>
            <a:ext cx="288032" cy="216024"/>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92333138-20A7-3A4E-9A20-6D83EF23FDFB}"/>
              </a:ext>
            </a:extLst>
          </p:cNvPr>
          <p:cNvSpPr txBox="1"/>
          <p:nvPr/>
        </p:nvSpPr>
        <p:spPr>
          <a:xfrm>
            <a:off x="6176530" y="2520206"/>
            <a:ext cx="2510269" cy="369332"/>
          </a:xfrm>
          <a:prstGeom prst="rect">
            <a:avLst/>
          </a:prstGeom>
          <a:noFill/>
        </p:spPr>
        <p:txBody>
          <a:bodyPr wrap="square" rtlCol="0">
            <a:spAutoFit/>
          </a:bodyPr>
          <a:lstStyle/>
          <a:p>
            <a:r>
              <a:rPr kumimoji="1" lang="en-US" altLang="zh-CN" b="1" dirty="0" err="1">
                <a:solidFill>
                  <a:schemeClr val="accent1"/>
                </a:solidFill>
              </a:rPr>
              <a:t>input.buf</a:t>
            </a:r>
            <a:r>
              <a:rPr kumimoji="1" lang="zh-CN" altLang="en-US" b="1" dirty="0">
                <a:solidFill>
                  <a:schemeClr val="accent1"/>
                </a:solidFill>
              </a:rPr>
              <a:t> 何时更新？</a:t>
            </a:r>
          </a:p>
        </p:txBody>
      </p:sp>
      <p:sp>
        <p:nvSpPr>
          <p:cNvPr id="9" name="圆角矩形 8">
            <a:extLst>
              <a:ext uri="{FF2B5EF4-FFF2-40B4-BE49-F238E27FC236}">
                <a16:creationId xmlns:a16="http://schemas.microsoft.com/office/drawing/2014/main" id="{84F6757E-0921-AB45-8FCC-B9AA2D73AB8F}"/>
              </a:ext>
            </a:extLst>
          </p:cNvPr>
          <p:cNvSpPr/>
          <p:nvPr/>
        </p:nvSpPr>
        <p:spPr>
          <a:xfrm>
            <a:off x="3262210" y="2611380"/>
            <a:ext cx="2677942" cy="216024"/>
          </a:xfrm>
          <a:prstGeom prst="roundRect">
            <a:avLst>
              <a:gd name="adj" fmla="val 5343"/>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2322974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C2757BE8-E193-1D47-AF25-29D0D4A2AC41}"/>
              </a:ext>
            </a:extLst>
          </p:cNvPr>
          <p:cNvSpPr>
            <a:spLocks noGrp="1"/>
          </p:cNvSpPr>
          <p:nvPr>
            <p:ph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97322935-48D8-CF4C-B043-0F1F8D54E6E3}"/>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页脚占位符 4">
            <a:extLst>
              <a:ext uri="{FF2B5EF4-FFF2-40B4-BE49-F238E27FC236}">
                <a16:creationId xmlns:a16="http://schemas.microsoft.com/office/drawing/2014/main" id="{7E80F55A-79D2-2446-8944-BF96A90E43E5}"/>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8" name="图片 7">
            <a:extLst>
              <a:ext uri="{FF2B5EF4-FFF2-40B4-BE49-F238E27FC236}">
                <a16:creationId xmlns:a16="http://schemas.microsoft.com/office/drawing/2014/main" id="{29390583-925B-ED47-8D94-676F3C4FDABE}"/>
              </a:ext>
            </a:extLst>
          </p:cNvPr>
          <p:cNvPicPr>
            <a:picLocks noChangeAspect="1"/>
          </p:cNvPicPr>
          <p:nvPr/>
        </p:nvPicPr>
        <p:blipFill>
          <a:blip r:embed="rId2"/>
          <a:stretch>
            <a:fillRect/>
          </a:stretch>
        </p:blipFill>
        <p:spPr>
          <a:xfrm>
            <a:off x="6070656" y="205381"/>
            <a:ext cx="3037848" cy="4899755"/>
          </a:xfrm>
          <a:prstGeom prst="rect">
            <a:avLst/>
          </a:prstGeom>
        </p:spPr>
      </p:pic>
      <p:pic>
        <p:nvPicPr>
          <p:cNvPr id="9" name="图片 8">
            <a:extLst>
              <a:ext uri="{FF2B5EF4-FFF2-40B4-BE49-F238E27FC236}">
                <a16:creationId xmlns:a16="http://schemas.microsoft.com/office/drawing/2014/main" id="{7D8B664F-414D-AB4E-80CE-32A200B598C7}"/>
              </a:ext>
            </a:extLst>
          </p:cNvPr>
          <p:cNvPicPr>
            <a:picLocks noChangeAspect="1"/>
          </p:cNvPicPr>
          <p:nvPr/>
        </p:nvPicPr>
        <p:blipFill>
          <a:blip r:embed="rId3"/>
          <a:stretch>
            <a:fillRect/>
          </a:stretch>
        </p:blipFill>
        <p:spPr>
          <a:xfrm>
            <a:off x="107504" y="4406927"/>
            <a:ext cx="1603005" cy="706086"/>
          </a:xfrm>
          <a:prstGeom prst="rect">
            <a:avLst/>
          </a:prstGeom>
          <a:ln>
            <a:solidFill>
              <a:schemeClr val="bg1"/>
            </a:solidFill>
          </a:ln>
        </p:spPr>
      </p:pic>
      <p:pic>
        <p:nvPicPr>
          <p:cNvPr id="11" name="图片 10">
            <a:extLst>
              <a:ext uri="{FF2B5EF4-FFF2-40B4-BE49-F238E27FC236}">
                <a16:creationId xmlns:a16="http://schemas.microsoft.com/office/drawing/2014/main" id="{E1113033-1A52-2341-837B-595A570E5D5F}"/>
              </a:ext>
            </a:extLst>
          </p:cNvPr>
          <p:cNvPicPr>
            <a:picLocks noChangeAspect="1"/>
          </p:cNvPicPr>
          <p:nvPr/>
        </p:nvPicPr>
        <p:blipFill>
          <a:blip r:embed="rId4"/>
          <a:stretch>
            <a:fillRect/>
          </a:stretch>
        </p:blipFill>
        <p:spPr>
          <a:xfrm>
            <a:off x="-3334" y="717500"/>
            <a:ext cx="2397880" cy="3548566"/>
          </a:xfrm>
          <a:prstGeom prst="rect">
            <a:avLst/>
          </a:prstGeom>
        </p:spPr>
      </p:pic>
      <p:pic>
        <p:nvPicPr>
          <p:cNvPr id="12" name="图片 11">
            <a:extLst>
              <a:ext uri="{FF2B5EF4-FFF2-40B4-BE49-F238E27FC236}">
                <a16:creationId xmlns:a16="http://schemas.microsoft.com/office/drawing/2014/main" id="{2B917D77-7F06-F740-BEDE-BA0577795AAC}"/>
              </a:ext>
            </a:extLst>
          </p:cNvPr>
          <p:cNvPicPr>
            <a:picLocks noChangeAspect="1"/>
          </p:cNvPicPr>
          <p:nvPr/>
        </p:nvPicPr>
        <p:blipFill>
          <a:blip r:embed="rId5"/>
          <a:stretch>
            <a:fillRect/>
          </a:stretch>
        </p:blipFill>
        <p:spPr>
          <a:xfrm>
            <a:off x="2329408" y="205381"/>
            <a:ext cx="3682752" cy="4907632"/>
          </a:xfrm>
          <a:prstGeom prst="rect">
            <a:avLst/>
          </a:prstGeom>
          <a:ln>
            <a:solidFill>
              <a:schemeClr val="bg1"/>
            </a:solidFill>
          </a:ln>
        </p:spPr>
      </p:pic>
      <p:sp>
        <p:nvSpPr>
          <p:cNvPr id="13" name="右箭头 12">
            <a:extLst>
              <a:ext uri="{FF2B5EF4-FFF2-40B4-BE49-F238E27FC236}">
                <a16:creationId xmlns:a16="http://schemas.microsoft.com/office/drawing/2014/main" id="{A56FEDCB-E389-674D-8A41-5FB7C7462435}"/>
              </a:ext>
            </a:extLst>
          </p:cNvPr>
          <p:cNvSpPr/>
          <p:nvPr/>
        </p:nvSpPr>
        <p:spPr>
          <a:xfrm>
            <a:off x="2627784" y="3361556"/>
            <a:ext cx="288032" cy="216024"/>
          </a:xfrm>
          <a:prstGeom prst="rightArrow">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5" name="直线箭头连接符 14">
            <a:extLst>
              <a:ext uri="{FF2B5EF4-FFF2-40B4-BE49-F238E27FC236}">
                <a16:creationId xmlns:a16="http://schemas.microsoft.com/office/drawing/2014/main" id="{0D560115-A22B-B049-B43A-CFB037519D4D}"/>
              </a:ext>
            </a:extLst>
          </p:cNvPr>
          <p:cNvCxnSpPr/>
          <p:nvPr/>
        </p:nvCxnSpPr>
        <p:spPr>
          <a:xfrm flipH="1">
            <a:off x="3347864" y="409228"/>
            <a:ext cx="144016" cy="50405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线箭头连接符 15">
            <a:extLst>
              <a:ext uri="{FF2B5EF4-FFF2-40B4-BE49-F238E27FC236}">
                <a16:creationId xmlns:a16="http://schemas.microsoft.com/office/drawing/2014/main" id="{AA736315-78F5-F44C-B3ED-4C86144BCDC4}"/>
              </a:ext>
            </a:extLst>
          </p:cNvPr>
          <p:cNvCxnSpPr>
            <a:cxnSpLocks/>
          </p:cNvCxnSpPr>
          <p:nvPr/>
        </p:nvCxnSpPr>
        <p:spPr>
          <a:xfrm flipV="1">
            <a:off x="3491880" y="409228"/>
            <a:ext cx="2664296" cy="504056"/>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线箭头连接符 19">
            <a:extLst>
              <a:ext uri="{FF2B5EF4-FFF2-40B4-BE49-F238E27FC236}">
                <a16:creationId xmlns:a16="http://schemas.microsoft.com/office/drawing/2014/main" id="{F4D859FA-8B35-FA42-B028-6C9F44FC549D}"/>
              </a:ext>
            </a:extLst>
          </p:cNvPr>
          <p:cNvCxnSpPr>
            <a:cxnSpLocks/>
          </p:cNvCxnSpPr>
          <p:nvPr/>
        </p:nvCxnSpPr>
        <p:spPr>
          <a:xfrm>
            <a:off x="683568" y="4037943"/>
            <a:ext cx="0" cy="475741"/>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B07CBCD8-EAC2-3A44-B3C8-16CB87A54F83}"/>
              </a:ext>
            </a:extLst>
          </p:cNvPr>
          <p:cNvSpPr txBox="1"/>
          <p:nvPr/>
        </p:nvSpPr>
        <p:spPr>
          <a:xfrm>
            <a:off x="107504" y="187725"/>
            <a:ext cx="1368152" cy="369332"/>
          </a:xfrm>
          <a:prstGeom prst="rect">
            <a:avLst/>
          </a:prstGeom>
          <a:noFill/>
        </p:spPr>
        <p:txBody>
          <a:bodyPr wrap="square" rtlCol="0">
            <a:spAutoFit/>
          </a:bodyPr>
          <a:lstStyle/>
          <a:p>
            <a:r>
              <a:rPr kumimoji="1" lang="zh-CN" altLang="en-US" dirty="0">
                <a:solidFill>
                  <a:schemeClr val="accent1"/>
                </a:solidFill>
              </a:rPr>
              <a:t>键盘中断</a:t>
            </a:r>
          </a:p>
        </p:txBody>
      </p:sp>
      <p:cxnSp>
        <p:nvCxnSpPr>
          <p:cNvPr id="25" name="直线箭头连接符 24">
            <a:extLst>
              <a:ext uri="{FF2B5EF4-FFF2-40B4-BE49-F238E27FC236}">
                <a16:creationId xmlns:a16="http://schemas.microsoft.com/office/drawing/2014/main" id="{E0A2B213-A27E-7040-B724-1CF7D3031DA4}"/>
              </a:ext>
            </a:extLst>
          </p:cNvPr>
          <p:cNvCxnSpPr>
            <a:cxnSpLocks/>
          </p:cNvCxnSpPr>
          <p:nvPr/>
        </p:nvCxnSpPr>
        <p:spPr>
          <a:xfrm>
            <a:off x="323528" y="543037"/>
            <a:ext cx="0" cy="327912"/>
          </a:xfrm>
          <a:prstGeom prst="straightConnector1">
            <a:avLst/>
          </a:prstGeom>
          <a:ln>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7" name="圆角矩形 26">
            <a:extLst>
              <a:ext uri="{FF2B5EF4-FFF2-40B4-BE49-F238E27FC236}">
                <a16:creationId xmlns:a16="http://schemas.microsoft.com/office/drawing/2014/main" id="{C134A8B4-7EDE-6341-A093-9AA816D88732}"/>
              </a:ext>
            </a:extLst>
          </p:cNvPr>
          <p:cNvSpPr/>
          <p:nvPr/>
        </p:nvSpPr>
        <p:spPr>
          <a:xfrm>
            <a:off x="6319028" y="1333500"/>
            <a:ext cx="1133292" cy="155848"/>
          </a:xfrm>
          <a:prstGeom prst="roundRect">
            <a:avLst>
              <a:gd name="adj" fmla="val 5343"/>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420660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8AB547-B352-0E47-9350-A9DFA396F576}"/>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9FD6F23D-5F17-AC40-AD5D-F880A050E7B8}"/>
              </a:ext>
            </a:extLst>
          </p:cNvPr>
          <p:cNvSpPr>
            <a:spLocks noGrp="1"/>
          </p:cNvSpPr>
          <p:nvPr>
            <p:ph idx="1"/>
          </p:nvPr>
        </p:nvSpPr>
        <p:spPr/>
        <p:txBody>
          <a:bodyPr/>
          <a:lstStyle/>
          <a:p>
            <a:endParaRPr kumimoji="1" lang="zh-CN" altLang="en-US"/>
          </a:p>
        </p:txBody>
      </p:sp>
      <p:sp>
        <p:nvSpPr>
          <p:cNvPr id="4" name="灯片编号占位符 3">
            <a:extLst>
              <a:ext uri="{FF2B5EF4-FFF2-40B4-BE49-F238E27FC236}">
                <a16:creationId xmlns:a16="http://schemas.microsoft.com/office/drawing/2014/main" id="{749D44CF-0CF8-FD4F-A215-A9281BABEB22}"/>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D3046275-76F7-AD4F-A0C6-13472403B43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8" name="图片 7">
            <a:extLst>
              <a:ext uri="{FF2B5EF4-FFF2-40B4-BE49-F238E27FC236}">
                <a16:creationId xmlns:a16="http://schemas.microsoft.com/office/drawing/2014/main" id="{9081AE98-0B0A-2640-A292-060B0583C603}"/>
              </a:ext>
            </a:extLst>
          </p:cNvPr>
          <p:cNvPicPr>
            <a:picLocks noChangeAspect="1"/>
          </p:cNvPicPr>
          <p:nvPr/>
        </p:nvPicPr>
        <p:blipFill>
          <a:blip r:embed="rId2"/>
          <a:stretch>
            <a:fillRect/>
          </a:stretch>
        </p:blipFill>
        <p:spPr>
          <a:xfrm>
            <a:off x="9827" y="1651052"/>
            <a:ext cx="3253719" cy="2665950"/>
          </a:xfrm>
          <a:prstGeom prst="rect">
            <a:avLst/>
          </a:prstGeom>
        </p:spPr>
      </p:pic>
      <p:pic>
        <p:nvPicPr>
          <p:cNvPr id="9" name="图片 8">
            <a:extLst>
              <a:ext uri="{FF2B5EF4-FFF2-40B4-BE49-F238E27FC236}">
                <a16:creationId xmlns:a16="http://schemas.microsoft.com/office/drawing/2014/main" id="{EED14300-D49E-2E4D-81DF-A1A48951C7E8}"/>
              </a:ext>
            </a:extLst>
          </p:cNvPr>
          <p:cNvPicPr>
            <a:picLocks noChangeAspect="1"/>
          </p:cNvPicPr>
          <p:nvPr/>
        </p:nvPicPr>
        <p:blipFill>
          <a:blip r:embed="rId3"/>
          <a:stretch>
            <a:fillRect/>
          </a:stretch>
        </p:blipFill>
        <p:spPr>
          <a:xfrm>
            <a:off x="0" y="-25313"/>
            <a:ext cx="4723141" cy="1626859"/>
          </a:xfrm>
          <a:prstGeom prst="rect">
            <a:avLst/>
          </a:prstGeom>
        </p:spPr>
      </p:pic>
      <p:cxnSp>
        <p:nvCxnSpPr>
          <p:cNvPr id="10" name="直线箭头连接符 9">
            <a:extLst>
              <a:ext uri="{FF2B5EF4-FFF2-40B4-BE49-F238E27FC236}">
                <a16:creationId xmlns:a16="http://schemas.microsoft.com/office/drawing/2014/main" id="{04B4D479-139A-9D4E-BCAB-D571BCCF3DAF}"/>
              </a:ext>
            </a:extLst>
          </p:cNvPr>
          <p:cNvCxnSpPr>
            <a:cxnSpLocks/>
          </p:cNvCxnSpPr>
          <p:nvPr/>
        </p:nvCxnSpPr>
        <p:spPr>
          <a:xfrm flipH="1">
            <a:off x="611560" y="1450417"/>
            <a:ext cx="432048" cy="35176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pic>
        <p:nvPicPr>
          <p:cNvPr id="19" name="图片 18">
            <a:extLst>
              <a:ext uri="{FF2B5EF4-FFF2-40B4-BE49-F238E27FC236}">
                <a16:creationId xmlns:a16="http://schemas.microsoft.com/office/drawing/2014/main" id="{E39C2AA6-0011-B64D-AFCC-A978FE88AE46}"/>
              </a:ext>
            </a:extLst>
          </p:cNvPr>
          <p:cNvPicPr>
            <a:picLocks noChangeAspect="1"/>
          </p:cNvPicPr>
          <p:nvPr/>
        </p:nvPicPr>
        <p:blipFill>
          <a:blip r:embed="rId4"/>
          <a:stretch>
            <a:fillRect/>
          </a:stretch>
        </p:blipFill>
        <p:spPr>
          <a:xfrm>
            <a:off x="4049417" y="1256053"/>
            <a:ext cx="5056909" cy="4040909"/>
          </a:xfrm>
          <a:prstGeom prst="rect">
            <a:avLst/>
          </a:prstGeom>
          <a:ln>
            <a:solidFill>
              <a:schemeClr val="bg1"/>
            </a:solidFill>
          </a:ln>
        </p:spPr>
      </p:pic>
      <p:pic>
        <p:nvPicPr>
          <p:cNvPr id="20" name="图片 19">
            <a:extLst>
              <a:ext uri="{FF2B5EF4-FFF2-40B4-BE49-F238E27FC236}">
                <a16:creationId xmlns:a16="http://schemas.microsoft.com/office/drawing/2014/main" id="{66563DC8-5D00-1245-8393-FF38BF977CDC}"/>
              </a:ext>
            </a:extLst>
          </p:cNvPr>
          <p:cNvPicPr>
            <a:picLocks noChangeAspect="1"/>
          </p:cNvPicPr>
          <p:nvPr/>
        </p:nvPicPr>
        <p:blipFill>
          <a:blip r:embed="rId5"/>
          <a:stretch>
            <a:fillRect/>
          </a:stretch>
        </p:blipFill>
        <p:spPr>
          <a:xfrm>
            <a:off x="1571522" y="3875134"/>
            <a:ext cx="2712446" cy="1733535"/>
          </a:xfrm>
          <a:prstGeom prst="rect">
            <a:avLst/>
          </a:prstGeom>
          <a:ln>
            <a:solidFill>
              <a:schemeClr val="bg1"/>
            </a:solidFill>
          </a:ln>
        </p:spPr>
      </p:pic>
      <p:cxnSp>
        <p:nvCxnSpPr>
          <p:cNvPr id="24" name="直线箭头连接符 23">
            <a:extLst>
              <a:ext uri="{FF2B5EF4-FFF2-40B4-BE49-F238E27FC236}">
                <a16:creationId xmlns:a16="http://schemas.microsoft.com/office/drawing/2014/main" id="{B0A05CAB-9179-184F-BD9A-9560DFE2B8CF}"/>
              </a:ext>
            </a:extLst>
          </p:cNvPr>
          <p:cNvCxnSpPr>
            <a:cxnSpLocks/>
          </p:cNvCxnSpPr>
          <p:nvPr/>
        </p:nvCxnSpPr>
        <p:spPr>
          <a:xfrm flipV="1">
            <a:off x="1353074" y="1601546"/>
            <a:ext cx="3181942" cy="1751844"/>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7" name="圆角矩形 26">
            <a:extLst>
              <a:ext uri="{FF2B5EF4-FFF2-40B4-BE49-F238E27FC236}">
                <a16:creationId xmlns:a16="http://schemas.microsoft.com/office/drawing/2014/main" id="{727D66B6-3759-D94D-A2DE-EDBE98905DAF}"/>
              </a:ext>
            </a:extLst>
          </p:cNvPr>
          <p:cNvSpPr/>
          <p:nvPr/>
        </p:nvSpPr>
        <p:spPr>
          <a:xfrm>
            <a:off x="1862784" y="4563356"/>
            <a:ext cx="2349176" cy="382375"/>
          </a:xfrm>
          <a:prstGeom prst="roundRect">
            <a:avLst>
              <a:gd name="adj" fmla="val 5343"/>
            </a:avLst>
          </a:prstGeom>
          <a:no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716464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5EAF98-2E3A-B249-8BA9-B8D000417364}"/>
              </a:ext>
            </a:extLst>
          </p:cNvPr>
          <p:cNvSpPr>
            <a:spLocks noGrp="1"/>
          </p:cNvSpPr>
          <p:nvPr>
            <p:ph type="title"/>
          </p:nvPr>
        </p:nvSpPr>
        <p:spPr/>
        <p:txBody>
          <a:bodyPr/>
          <a:lstStyle/>
          <a:p>
            <a:r>
              <a:rPr kumimoji="1" lang="zh-CN" altLang="en-US" dirty="0"/>
              <a:t>第二类：设备驱动</a:t>
            </a:r>
          </a:p>
        </p:txBody>
      </p:sp>
      <p:sp>
        <p:nvSpPr>
          <p:cNvPr id="3" name="内容占位符 2">
            <a:extLst>
              <a:ext uri="{FF2B5EF4-FFF2-40B4-BE49-F238E27FC236}">
                <a16:creationId xmlns:a16="http://schemas.microsoft.com/office/drawing/2014/main" id="{38E54061-AA95-CD45-B580-913C73F1A00D}"/>
              </a:ext>
            </a:extLst>
          </p:cNvPr>
          <p:cNvSpPr>
            <a:spLocks noGrp="1"/>
          </p:cNvSpPr>
          <p:nvPr>
            <p:ph idx="1"/>
          </p:nvPr>
        </p:nvSpPr>
        <p:spPr/>
        <p:txBody>
          <a:bodyPr>
            <a:normAutofit/>
          </a:bodyPr>
          <a:lstStyle/>
          <a:p>
            <a:r>
              <a:rPr kumimoji="1" lang="zh-CN" altLang="en-US" sz="2000" dirty="0"/>
              <a:t>操作系统的设备驱动框架</a:t>
            </a:r>
            <a:endParaRPr kumimoji="1" lang="en-US" altLang="zh-CN" sz="2000" dirty="0"/>
          </a:p>
          <a:p>
            <a:pPr lvl="1"/>
            <a:r>
              <a:rPr kumimoji="1" lang="zh-CN" altLang="en-US" sz="1800" dirty="0"/>
              <a:t>提供标准化的数据结构和接口</a:t>
            </a:r>
            <a:endParaRPr kumimoji="1" lang="en-US" altLang="zh-CN" sz="1800" dirty="0"/>
          </a:p>
          <a:p>
            <a:pPr lvl="1"/>
            <a:r>
              <a:rPr kumimoji="1" lang="zh-CN" altLang="en-US" sz="1800" dirty="0"/>
              <a:t>将驱动开发简化为对数据结构的填充和实现</a:t>
            </a:r>
            <a:endParaRPr kumimoji="1" lang="en-US" altLang="zh-CN" sz="1800" dirty="0"/>
          </a:p>
          <a:p>
            <a:pPr lvl="1"/>
            <a:r>
              <a:rPr kumimoji="1" lang="zh-CN" altLang="en-US" sz="1800" dirty="0"/>
              <a:t>方便操作系统统一组织和管理设备</a:t>
            </a:r>
            <a:endParaRPr kumimoji="1" lang="en-US" altLang="zh-CN" sz="1800" dirty="0"/>
          </a:p>
          <a:p>
            <a:r>
              <a:rPr kumimoji="1" lang="zh-CN" altLang="en-US" sz="2000" dirty="0"/>
              <a:t>操作系统为驱动提供的辅助功能</a:t>
            </a:r>
            <a:endParaRPr kumimoji="1" lang="en-US" altLang="zh-CN" sz="2000" dirty="0"/>
          </a:p>
          <a:p>
            <a:pPr lvl="1"/>
            <a:r>
              <a:rPr kumimoji="1" lang="en-US" altLang="zh-CN" sz="1800" dirty="0"/>
              <a:t>VFS</a:t>
            </a:r>
            <a:r>
              <a:rPr kumimoji="1" lang="zh-CN" altLang="en-US" sz="1800" dirty="0"/>
              <a:t>（对上提供文件接口，可复用权限检查等逻辑）</a:t>
            </a:r>
            <a:endParaRPr kumimoji="1" lang="en-US" altLang="zh-CN" sz="1800" dirty="0"/>
          </a:p>
          <a:p>
            <a:pPr lvl="1"/>
            <a:r>
              <a:rPr kumimoji="1" lang="zh-CN" altLang="en-US" sz="1800" dirty="0"/>
              <a:t>与设备类型相关的框架（如：块设备层、网络协议栈等）</a:t>
            </a:r>
            <a:endParaRPr kumimoji="1" lang="en-US" altLang="zh-CN" sz="1800" dirty="0"/>
          </a:p>
          <a:p>
            <a:pPr lvl="1"/>
            <a:r>
              <a:rPr kumimoji="1" lang="zh-CN" altLang="en-US" sz="1800" dirty="0"/>
              <a:t>模块动态插入框架（如：</a:t>
            </a:r>
            <a:r>
              <a:rPr kumimoji="1" lang="en-US" altLang="zh-CN" sz="1800" dirty="0"/>
              <a:t>Linux</a:t>
            </a:r>
            <a:r>
              <a:rPr kumimoji="1" lang="zh-CN" altLang="en-US" sz="1800" dirty="0"/>
              <a:t>的</a:t>
            </a:r>
            <a:r>
              <a:rPr kumimoji="1" lang="en-US" altLang="zh-CN" sz="1800" dirty="0"/>
              <a:t>module</a:t>
            </a:r>
            <a:r>
              <a:rPr kumimoji="1" lang="zh-CN" altLang="en-US" sz="1800" dirty="0"/>
              <a:t>插入）</a:t>
            </a:r>
            <a:endParaRPr kumimoji="1" lang="en-US" altLang="zh-CN" sz="1800" dirty="0"/>
          </a:p>
          <a:p>
            <a:pPr lvl="1"/>
            <a:r>
              <a:rPr kumimoji="1" lang="zh-CN" altLang="en-US" sz="1800" dirty="0"/>
              <a:t>中断处理框架（如：</a:t>
            </a:r>
            <a:r>
              <a:rPr kumimoji="1" lang="en-US" altLang="zh-CN" sz="1800" dirty="0"/>
              <a:t>Linux</a:t>
            </a:r>
            <a:r>
              <a:rPr kumimoji="1" lang="zh-CN" altLang="en-US" sz="1800" dirty="0"/>
              <a:t>的 </a:t>
            </a:r>
            <a:r>
              <a:rPr kumimoji="1" lang="en-US" altLang="zh-CN" sz="1800" dirty="0"/>
              <a:t>top</a:t>
            </a:r>
            <a:r>
              <a:rPr kumimoji="1" lang="zh-CN" altLang="en-US" sz="1800" dirty="0"/>
              <a:t> </a:t>
            </a:r>
            <a:r>
              <a:rPr kumimoji="1" lang="en-US" altLang="zh-CN" sz="1800" dirty="0"/>
              <a:t>half</a:t>
            </a:r>
            <a:r>
              <a:rPr kumimoji="1" lang="zh-CN" altLang="en-US" sz="1800" dirty="0"/>
              <a:t> </a:t>
            </a:r>
            <a:r>
              <a:rPr kumimoji="1" lang="en-US" altLang="zh-CN" sz="1800" dirty="0"/>
              <a:t>+</a:t>
            </a:r>
            <a:r>
              <a:rPr kumimoji="1" lang="zh-CN" altLang="en-US" sz="1800" dirty="0"/>
              <a:t> </a:t>
            </a:r>
            <a:r>
              <a:rPr kumimoji="1" lang="en-US" altLang="zh-CN" sz="1800" dirty="0"/>
              <a:t>bottom</a:t>
            </a:r>
            <a:r>
              <a:rPr kumimoji="1" lang="zh-CN" altLang="en-US" sz="1800" dirty="0"/>
              <a:t> </a:t>
            </a:r>
            <a:r>
              <a:rPr kumimoji="1" lang="en-US" altLang="zh-CN" sz="1800" dirty="0"/>
              <a:t>half</a:t>
            </a:r>
            <a:r>
              <a:rPr kumimoji="1" lang="zh-CN" altLang="en-US" sz="1800" dirty="0"/>
              <a:t>）</a:t>
            </a:r>
            <a:endParaRPr kumimoji="1" lang="en-US" altLang="zh-CN" sz="1800" dirty="0"/>
          </a:p>
          <a:p>
            <a:endParaRPr kumimoji="1" lang="zh-CN" altLang="en-US" sz="2000" dirty="0"/>
          </a:p>
        </p:txBody>
      </p:sp>
      <p:sp>
        <p:nvSpPr>
          <p:cNvPr id="4" name="灯片编号占位符 3">
            <a:extLst>
              <a:ext uri="{FF2B5EF4-FFF2-40B4-BE49-F238E27FC236}">
                <a16:creationId xmlns:a16="http://schemas.microsoft.com/office/drawing/2014/main" id="{3E4DF0F0-2160-9A4B-A37C-BACB86E5BBD2}"/>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8D5C80BA-283C-AF4E-9340-A8E9EC7E76B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714285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63DAEC-AC5B-F14B-91E3-BDAB0E1DDB67}"/>
              </a:ext>
            </a:extLst>
          </p:cNvPr>
          <p:cNvSpPr>
            <a:spLocks noGrp="1"/>
          </p:cNvSpPr>
          <p:nvPr>
            <p:ph type="title"/>
          </p:nvPr>
        </p:nvSpPr>
        <p:spPr/>
        <p:txBody>
          <a:bodyPr/>
          <a:lstStyle/>
          <a:p>
            <a:r>
              <a:rPr kumimoji="1" lang="zh-CN" altLang="en-US" dirty="0"/>
              <a:t>回顾：</a:t>
            </a:r>
            <a:r>
              <a:rPr kumimoji="1" lang="en-US" altLang="zh-CN" dirty="0"/>
              <a:t>Linux</a:t>
            </a:r>
            <a:r>
              <a:rPr kumimoji="1" lang="zh-CN" altLang="en-US" dirty="0"/>
              <a:t>的设备分类</a:t>
            </a:r>
          </a:p>
        </p:txBody>
      </p:sp>
      <p:sp>
        <p:nvSpPr>
          <p:cNvPr id="3" name="内容占位符 2">
            <a:extLst>
              <a:ext uri="{FF2B5EF4-FFF2-40B4-BE49-F238E27FC236}">
                <a16:creationId xmlns:a16="http://schemas.microsoft.com/office/drawing/2014/main" id="{FCA4CE2E-F15E-B740-9ECE-D9E2D472E3AB}"/>
              </a:ext>
            </a:extLst>
          </p:cNvPr>
          <p:cNvSpPr>
            <a:spLocks noGrp="1"/>
          </p:cNvSpPr>
          <p:nvPr>
            <p:ph idx="1"/>
          </p:nvPr>
        </p:nvSpPr>
        <p:spPr/>
        <p:txBody>
          <a:bodyPr>
            <a:normAutofit/>
          </a:bodyPr>
          <a:lstStyle/>
          <a:p>
            <a:r>
              <a:rPr kumimoji="1" lang="en-US" altLang="zh-CN" sz="2800" dirty="0"/>
              <a:t>Linux</a:t>
            </a:r>
            <a:r>
              <a:rPr kumimoji="1" lang="zh-CN" altLang="en-US" sz="2800" dirty="0"/>
              <a:t>设备分类</a:t>
            </a:r>
            <a:endParaRPr kumimoji="1" lang="en-US" altLang="zh-CN" sz="2800" dirty="0"/>
          </a:p>
          <a:p>
            <a:pPr lvl="1"/>
            <a:r>
              <a:rPr kumimoji="1" lang="zh-CN" altLang="en-US" sz="2400" dirty="0"/>
              <a:t>字符设备</a:t>
            </a:r>
            <a:endParaRPr kumimoji="1" lang="en-US" altLang="zh-CN" sz="2400" dirty="0"/>
          </a:p>
          <a:p>
            <a:pPr lvl="1"/>
            <a:r>
              <a:rPr kumimoji="1" lang="zh-CN" altLang="en-US" sz="2400" dirty="0"/>
              <a:t>块设备</a:t>
            </a:r>
            <a:endParaRPr kumimoji="1" lang="en-US" altLang="zh-CN" sz="2400" dirty="0"/>
          </a:p>
          <a:p>
            <a:pPr lvl="1"/>
            <a:r>
              <a:rPr kumimoji="1" lang="zh-CN" altLang="en-US" sz="2400" dirty="0"/>
              <a:t>网络设备</a:t>
            </a:r>
          </a:p>
        </p:txBody>
      </p:sp>
      <p:sp>
        <p:nvSpPr>
          <p:cNvPr id="4" name="灯片编号占位符 3">
            <a:extLst>
              <a:ext uri="{FF2B5EF4-FFF2-40B4-BE49-F238E27FC236}">
                <a16:creationId xmlns:a16="http://schemas.microsoft.com/office/drawing/2014/main" id="{56842102-B9D3-F346-B2E7-0C012D9559A3}"/>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5" name="页脚占位符 4">
            <a:extLst>
              <a:ext uri="{FF2B5EF4-FFF2-40B4-BE49-F238E27FC236}">
                <a16:creationId xmlns:a16="http://schemas.microsoft.com/office/drawing/2014/main" id="{AC5B24DD-3B15-7A43-88E4-0DF80FCB7F1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矩形 6">
            <a:extLst>
              <a:ext uri="{FF2B5EF4-FFF2-40B4-BE49-F238E27FC236}">
                <a16:creationId xmlns:a16="http://schemas.microsoft.com/office/drawing/2014/main" id="{7805C140-5DB7-3D4F-A1FA-5776155C76F4}"/>
              </a:ext>
            </a:extLst>
          </p:cNvPr>
          <p:cNvSpPr/>
          <p:nvPr/>
        </p:nvSpPr>
        <p:spPr>
          <a:xfrm>
            <a:off x="4006693" y="1273324"/>
            <a:ext cx="3775207" cy="28803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应用程序</a:t>
            </a:r>
          </a:p>
        </p:txBody>
      </p:sp>
      <p:sp>
        <p:nvSpPr>
          <p:cNvPr id="8" name="矩形 7">
            <a:extLst>
              <a:ext uri="{FF2B5EF4-FFF2-40B4-BE49-F238E27FC236}">
                <a16:creationId xmlns:a16="http://schemas.microsoft.com/office/drawing/2014/main" id="{3A047EED-71E2-DD45-B5AC-C5560D001CA8}"/>
              </a:ext>
            </a:extLst>
          </p:cNvPr>
          <p:cNvSpPr/>
          <p:nvPr/>
        </p:nvSpPr>
        <p:spPr>
          <a:xfrm>
            <a:off x="4006693" y="1849388"/>
            <a:ext cx="3775207" cy="28803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系统接口（</a:t>
            </a:r>
            <a:r>
              <a:rPr kumimoji="1" lang="en-US" altLang="zh-CN" sz="1600" dirty="0" err="1"/>
              <a:t>syscall</a:t>
            </a:r>
            <a:r>
              <a:rPr kumimoji="1" lang="zh-CN" altLang="en-US" sz="1600" dirty="0"/>
              <a:t>）</a:t>
            </a:r>
          </a:p>
        </p:txBody>
      </p:sp>
      <p:sp>
        <p:nvSpPr>
          <p:cNvPr id="9" name="矩形 8">
            <a:extLst>
              <a:ext uri="{FF2B5EF4-FFF2-40B4-BE49-F238E27FC236}">
                <a16:creationId xmlns:a16="http://schemas.microsoft.com/office/drawing/2014/main" id="{2B14B062-C007-9349-9604-F3A64EB721A8}"/>
              </a:ext>
            </a:extLst>
          </p:cNvPr>
          <p:cNvSpPr/>
          <p:nvPr/>
        </p:nvSpPr>
        <p:spPr>
          <a:xfrm>
            <a:off x="4021891" y="3424974"/>
            <a:ext cx="1198181" cy="288032"/>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字符设备</a:t>
            </a:r>
          </a:p>
        </p:txBody>
      </p:sp>
      <p:sp>
        <p:nvSpPr>
          <p:cNvPr id="10" name="矩形 9">
            <a:extLst>
              <a:ext uri="{FF2B5EF4-FFF2-40B4-BE49-F238E27FC236}">
                <a16:creationId xmlns:a16="http://schemas.microsoft.com/office/drawing/2014/main" id="{165B9BFD-0092-7548-85DC-26900EC73BBA}"/>
              </a:ext>
            </a:extLst>
          </p:cNvPr>
          <p:cNvSpPr/>
          <p:nvPr/>
        </p:nvSpPr>
        <p:spPr>
          <a:xfrm>
            <a:off x="4006693" y="2362365"/>
            <a:ext cx="3775207" cy="28803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en-US" altLang="zh-CN" sz="1600" dirty="0"/>
              <a:t>VFS</a:t>
            </a:r>
            <a:endParaRPr kumimoji="1" lang="zh-CN" altLang="en-US" sz="1600" dirty="0"/>
          </a:p>
        </p:txBody>
      </p:sp>
      <p:sp>
        <p:nvSpPr>
          <p:cNvPr id="11" name="矩形 10">
            <a:extLst>
              <a:ext uri="{FF2B5EF4-FFF2-40B4-BE49-F238E27FC236}">
                <a16:creationId xmlns:a16="http://schemas.microsoft.com/office/drawing/2014/main" id="{0D77B179-FAEA-D34D-9660-CEB079E2E6F3}"/>
              </a:ext>
            </a:extLst>
          </p:cNvPr>
          <p:cNvSpPr/>
          <p:nvPr/>
        </p:nvSpPr>
        <p:spPr>
          <a:xfrm>
            <a:off x="5295967" y="3434870"/>
            <a:ext cx="1198181" cy="288032"/>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块设备</a:t>
            </a:r>
          </a:p>
        </p:txBody>
      </p:sp>
      <p:sp>
        <p:nvSpPr>
          <p:cNvPr id="12" name="矩形 11">
            <a:extLst>
              <a:ext uri="{FF2B5EF4-FFF2-40B4-BE49-F238E27FC236}">
                <a16:creationId xmlns:a16="http://schemas.microsoft.com/office/drawing/2014/main" id="{1A1BA30C-89DF-524C-9830-34D63C4E46F6}"/>
              </a:ext>
            </a:extLst>
          </p:cNvPr>
          <p:cNvSpPr/>
          <p:nvPr/>
        </p:nvSpPr>
        <p:spPr>
          <a:xfrm>
            <a:off x="6614179" y="3424974"/>
            <a:ext cx="1198181" cy="288032"/>
          </a:xfrm>
          <a:prstGeom prst="rect">
            <a:avLst/>
          </a:prstGeom>
          <a:solidFill>
            <a:srgbClr val="FFFF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网络设备</a:t>
            </a:r>
          </a:p>
        </p:txBody>
      </p:sp>
      <p:sp>
        <p:nvSpPr>
          <p:cNvPr id="13" name="矩形 12">
            <a:extLst>
              <a:ext uri="{FF2B5EF4-FFF2-40B4-BE49-F238E27FC236}">
                <a16:creationId xmlns:a16="http://schemas.microsoft.com/office/drawing/2014/main" id="{8CCDEE9B-16CA-3F40-9BCD-E974C8F14B5C}"/>
              </a:ext>
            </a:extLst>
          </p:cNvPr>
          <p:cNvSpPr/>
          <p:nvPr/>
        </p:nvSpPr>
        <p:spPr>
          <a:xfrm>
            <a:off x="5290034" y="2895898"/>
            <a:ext cx="1198181" cy="28803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块缓冲</a:t>
            </a:r>
          </a:p>
        </p:txBody>
      </p:sp>
      <p:sp>
        <p:nvSpPr>
          <p:cNvPr id="14" name="矩形 13">
            <a:extLst>
              <a:ext uri="{FF2B5EF4-FFF2-40B4-BE49-F238E27FC236}">
                <a16:creationId xmlns:a16="http://schemas.microsoft.com/office/drawing/2014/main" id="{33807D56-961B-2844-9F3F-94BDCA97E18A}"/>
              </a:ext>
            </a:extLst>
          </p:cNvPr>
          <p:cNvSpPr/>
          <p:nvPr/>
        </p:nvSpPr>
        <p:spPr>
          <a:xfrm>
            <a:off x="6600590" y="2893601"/>
            <a:ext cx="1198181" cy="28803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协议栈</a:t>
            </a:r>
          </a:p>
        </p:txBody>
      </p:sp>
      <p:sp>
        <p:nvSpPr>
          <p:cNvPr id="15" name="矩形 14">
            <a:extLst>
              <a:ext uri="{FF2B5EF4-FFF2-40B4-BE49-F238E27FC236}">
                <a16:creationId xmlns:a16="http://schemas.microsoft.com/office/drawing/2014/main" id="{69BF6570-E843-0E49-996C-BC749AB87A1C}"/>
              </a:ext>
            </a:extLst>
          </p:cNvPr>
          <p:cNvSpPr/>
          <p:nvPr/>
        </p:nvSpPr>
        <p:spPr>
          <a:xfrm>
            <a:off x="4006693" y="3916600"/>
            <a:ext cx="3790404" cy="288032"/>
          </a:xfrm>
          <a:prstGeom prst="rect">
            <a:avLst/>
          </a:prstGeom>
          <a:solidFill>
            <a:schemeClr val="bg1">
              <a:lumMod val="8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设备接口</a:t>
            </a:r>
          </a:p>
        </p:txBody>
      </p:sp>
      <p:sp>
        <p:nvSpPr>
          <p:cNvPr id="16" name="矩形 15">
            <a:extLst>
              <a:ext uri="{FF2B5EF4-FFF2-40B4-BE49-F238E27FC236}">
                <a16:creationId xmlns:a16="http://schemas.microsoft.com/office/drawing/2014/main" id="{B7C3FEF0-0AC2-714A-A9C7-777924380FC3}"/>
              </a:ext>
            </a:extLst>
          </p:cNvPr>
          <p:cNvSpPr/>
          <p:nvPr/>
        </p:nvSpPr>
        <p:spPr>
          <a:xfrm>
            <a:off x="4006693" y="4447836"/>
            <a:ext cx="3790404" cy="288032"/>
          </a:xfrm>
          <a:prstGeom prst="rect">
            <a:avLst/>
          </a:prstGeom>
          <a:solidFill>
            <a:schemeClr val="bg1">
              <a:lumMod val="85000"/>
            </a:schemeClr>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物理设备</a:t>
            </a:r>
          </a:p>
        </p:txBody>
      </p:sp>
      <p:cxnSp>
        <p:nvCxnSpPr>
          <p:cNvPr id="20" name="直线箭头连接符 19">
            <a:extLst>
              <a:ext uri="{FF2B5EF4-FFF2-40B4-BE49-F238E27FC236}">
                <a16:creationId xmlns:a16="http://schemas.microsoft.com/office/drawing/2014/main" id="{C0F28509-ACF0-DE4E-B445-3560CA6F8EA8}"/>
              </a:ext>
            </a:extLst>
          </p:cNvPr>
          <p:cNvCxnSpPr/>
          <p:nvPr/>
        </p:nvCxnSpPr>
        <p:spPr>
          <a:xfrm>
            <a:off x="5892639" y="2137420"/>
            <a:ext cx="0" cy="22494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a:extLst>
              <a:ext uri="{FF2B5EF4-FFF2-40B4-BE49-F238E27FC236}">
                <a16:creationId xmlns:a16="http://schemas.microsoft.com/office/drawing/2014/main" id="{69D80DC7-3B78-6C4B-8F3F-5C5B9D0F5F00}"/>
              </a:ext>
            </a:extLst>
          </p:cNvPr>
          <p:cNvCxnSpPr>
            <a:stCxn id="7" idx="2"/>
            <a:endCxn id="8" idx="0"/>
          </p:cNvCxnSpPr>
          <p:nvPr/>
        </p:nvCxnSpPr>
        <p:spPr>
          <a:xfrm>
            <a:off x="5894297" y="1561356"/>
            <a:ext cx="0" cy="288032"/>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F5606D27-42DE-D642-A980-CDBEEA3C2D00}"/>
              </a:ext>
            </a:extLst>
          </p:cNvPr>
          <p:cNvCxnSpPr>
            <a:stCxn id="10" idx="2"/>
            <a:endCxn id="13" idx="0"/>
          </p:cNvCxnSpPr>
          <p:nvPr/>
        </p:nvCxnSpPr>
        <p:spPr>
          <a:xfrm flipH="1">
            <a:off x="5889125" y="2650397"/>
            <a:ext cx="5172" cy="24550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线箭头连接符 27">
            <a:extLst>
              <a:ext uri="{FF2B5EF4-FFF2-40B4-BE49-F238E27FC236}">
                <a16:creationId xmlns:a16="http://schemas.microsoft.com/office/drawing/2014/main" id="{B5D51053-E200-BB4F-98BE-5E59EC184C73}"/>
              </a:ext>
            </a:extLst>
          </p:cNvPr>
          <p:cNvCxnSpPr>
            <a:stCxn id="13" idx="2"/>
            <a:endCxn id="11" idx="0"/>
          </p:cNvCxnSpPr>
          <p:nvPr/>
        </p:nvCxnSpPr>
        <p:spPr>
          <a:xfrm>
            <a:off x="5889125" y="3183930"/>
            <a:ext cx="5933" cy="25094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线箭头连接符 29">
            <a:extLst>
              <a:ext uri="{FF2B5EF4-FFF2-40B4-BE49-F238E27FC236}">
                <a16:creationId xmlns:a16="http://schemas.microsoft.com/office/drawing/2014/main" id="{3F42493A-B284-8C4F-B8D2-53C2C3BEC008}"/>
              </a:ext>
            </a:extLst>
          </p:cNvPr>
          <p:cNvCxnSpPr>
            <a:cxnSpLocks/>
            <a:endCxn id="14" idx="0"/>
          </p:cNvCxnSpPr>
          <p:nvPr/>
        </p:nvCxnSpPr>
        <p:spPr>
          <a:xfrm>
            <a:off x="7199681" y="2617972"/>
            <a:ext cx="0" cy="27562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直线箭头连接符 31">
            <a:extLst>
              <a:ext uri="{FF2B5EF4-FFF2-40B4-BE49-F238E27FC236}">
                <a16:creationId xmlns:a16="http://schemas.microsoft.com/office/drawing/2014/main" id="{4DE0A815-649E-7640-BF99-9A5E6A5A96E9}"/>
              </a:ext>
            </a:extLst>
          </p:cNvPr>
          <p:cNvCxnSpPr>
            <a:stCxn id="14" idx="2"/>
            <a:endCxn id="12" idx="0"/>
          </p:cNvCxnSpPr>
          <p:nvPr/>
        </p:nvCxnSpPr>
        <p:spPr>
          <a:xfrm>
            <a:off x="7199681" y="3181633"/>
            <a:ext cx="13589" cy="24334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直线箭头连接符 33">
            <a:extLst>
              <a:ext uri="{FF2B5EF4-FFF2-40B4-BE49-F238E27FC236}">
                <a16:creationId xmlns:a16="http://schemas.microsoft.com/office/drawing/2014/main" id="{03D1109F-C878-B74F-82D2-73CF02800AAF}"/>
              </a:ext>
            </a:extLst>
          </p:cNvPr>
          <p:cNvCxnSpPr>
            <a:cxnSpLocks/>
          </p:cNvCxnSpPr>
          <p:nvPr/>
        </p:nvCxnSpPr>
        <p:spPr>
          <a:xfrm flipV="1">
            <a:off x="4637024" y="2668469"/>
            <a:ext cx="0" cy="765095"/>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6" name="直线箭头连接符 35">
            <a:extLst>
              <a:ext uri="{FF2B5EF4-FFF2-40B4-BE49-F238E27FC236}">
                <a16:creationId xmlns:a16="http://schemas.microsoft.com/office/drawing/2014/main" id="{90CCB3E9-2AE8-1E49-81B6-EB94A43EFFF6}"/>
              </a:ext>
            </a:extLst>
          </p:cNvPr>
          <p:cNvCxnSpPr>
            <a:stCxn id="11" idx="2"/>
            <a:endCxn id="15" idx="0"/>
          </p:cNvCxnSpPr>
          <p:nvPr/>
        </p:nvCxnSpPr>
        <p:spPr>
          <a:xfrm>
            <a:off x="5895058" y="3722902"/>
            <a:ext cx="6837" cy="19369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8" name="直线箭头连接符 37">
            <a:extLst>
              <a:ext uri="{FF2B5EF4-FFF2-40B4-BE49-F238E27FC236}">
                <a16:creationId xmlns:a16="http://schemas.microsoft.com/office/drawing/2014/main" id="{FBCD1BFC-2A8D-1B4D-A988-B902CEA61136}"/>
              </a:ext>
            </a:extLst>
          </p:cNvPr>
          <p:cNvCxnSpPr>
            <a:stCxn id="15" idx="2"/>
            <a:endCxn id="16" idx="0"/>
          </p:cNvCxnSpPr>
          <p:nvPr/>
        </p:nvCxnSpPr>
        <p:spPr>
          <a:xfrm>
            <a:off x="5901895" y="4204632"/>
            <a:ext cx="0" cy="24320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0" name="直线箭头连接符 39">
            <a:extLst>
              <a:ext uri="{FF2B5EF4-FFF2-40B4-BE49-F238E27FC236}">
                <a16:creationId xmlns:a16="http://schemas.microsoft.com/office/drawing/2014/main" id="{F951D664-9085-DD42-BF3C-C4E1344A08B5}"/>
              </a:ext>
            </a:extLst>
          </p:cNvPr>
          <p:cNvCxnSpPr>
            <a:stCxn id="9" idx="2"/>
          </p:cNvCxnSpPr>
          <p:nvPr/>
        </p:nvCxnSpPr>
        <p:spPr>
          <a:xfrm>
            <a:off x="4620982" y="3713006"/>
            <a:ext cx="0" cy="22227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直线箭头连接符 41">
            <a:extLst>
              <a:ext uri="{FF2B5EF4-FFF2-40B4-BE49-F238E27FC236}">
                <a16:creationId xmlns:a16="http://schemas.microsoft.com/office/drawing/2014/main" id="{9E64A5C4-37E0-974F-8D93-27D28A865D6E}"/>
              </a:ext>
            </a:extLst>
          </p:cNvPr>
          <p:cNvCxnSpPr>
            <a:stCxn id="12" idx="2"/>
          </p:cNvCxnSpPr>
          <p:nvPr/>
        </p:nvCxnSpPr>
        <p:spPr>
          <a:xfrm>
            <a:off x="7213270" y="3713006"/>
            <a:ext cx="0" cy="20359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3498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50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fade">
                                      <p:cBhvr>
                                        <p:cTn id="19" dur="500"/>
                                        <p:tgtEl>
                                          <p:spTgt spid="40"/>
                                        </p:tgtEl>
                                      </p:cBhvr>
                                    </p:animEffect>
                                  </p:childTnLst>
                                </p:cTn>
                              </p:par>
                              <p:par>
                                <p:cTn id="20" presetID="10" presetClass="entr" presetSubtype="0" fill="hold"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500"/>
                                        <p:tgtEl>
                                          <p:spTgt spid="4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5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childTnLst>
                                </p:cTn>
                              </p:par>
                              <p:par>
                                <p:cTn id="40" presetID="10"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fade">
                                      <p:cBhvr>
                                        <p:cTn id="42" dur="500"/>
                                        <p:tgtEl>
                                          <p:spTgt spid="24"/>
                                        </p:tgtEl>
                                      </p:cBhvr>
                                    </p:animEffect>
                                  </p:childTnLst>
                                </p:cTn>
                              </p:par>
                              <p:par>
                                <p:cTn id="43" presetID="10" presetClass="entr" presetSubtype="0" fill="hold"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nodeType="withEffect">
                                  <p:stCondLst>
                                    <p:cond delay="0"/>
                                  </p:stCondLst>
                                  <p:childTnLst>
                                    <p:set>
                                      <p:cBhvr>
                                        <p:cTn id="47" dur="1" fill="hold">
                                          <p:stCondLst>
                                            <p:cond delay="0"/>
                                          </p:stCondLst>
                                        </p:cTn>
                                        <p:tgtEl>
                                          <p:spTgt spid="30"/>
                                        </p:tgtEl>
                                        <p:attrNameLst>
                                          <p:attrName>style.visibility</p:attrName>
                                        </p:attrNameLst>
                                      </p:cBhvr>
                                      <p:to>
                                        <p:strVal val="visible"/>
                                      </p:to>
                                    </p:set>
                                    <p:animEffect transition="in" filter="fade">
                                      <p:cBhvr>
                                        <p:cTn id="48" dur="500"/>
                                        <p:tgtEl>
                                          <p:spTgt spid="30"/>
                                        </p:tgtEl>
                                      </p:cBhvr>
                                    </p:animEffect>
                                  </p:childTnLst>
                                </p:cTn>
                              </p:par>
                              <p:par>
                                <p:cTn id="49" presetID="10"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00"/>
                                        <p:tgtEl>
                                          <p:spTgt spid="32"/>
                                        </p:tgtEl>
                                      </p:cBhvr>
                                    </p:animEffect>
                                  </p:childTnLst>
                                </p:cTn>
                              </p:par>
                              <p:par>
                                <p:cTn id="52" presetID="10" presetClass="entr" presetSubtype="0" fill="hold"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59" dur="500"/>
                                        <p:tgtEl>
                                          <p:spTgt spid="7"/>
                                        </p:tgtEl>
                                      </p:cBhvr>
                                    </p:animEffect>
                                  </p:childTnLst>
                                </p:cTn>
                              </p:par>
                              <p:par>
                                <p:cTn id="60" presetID="10" presetClass="entr" presetSubtype="0" fill="hold"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宏内核</a:t>
            </a:r>
            <a:r>
              <a:rPr kumimoji="1" lang="en-US" altLang="zh-CN" dirty="0"/>
              <a:t>vs</a:t>
            </a:r>
            <a:r>
              <a:rPr kumimoji="1" lang="zh-CN" altLang="en-US" dirty="0"/>
              <a:t>微内核的驱动</a:t>
            </a:r>
          </a:p>
        </p:txBody>
      </p:sp>
      <p:sp>
        <p:nvSpPr>
          <p:cNvPr id="3" name="内容占位符 2"/>
          <p:cNvSpPr>
            <a:spLocks noGrp="1"/>
          </p:cNvSpPr>
          <p:nvPr>
            <p:ph idx="1"/>
          </p:nvPr>
        </p:nvSpPr>
        <p:spPr>
          <a:xfrm>
            <a:off x="4716016" y="1331722"/>
            <a:ext cx="3754760" cy="3771636"/>
          </a:xfrm>
        </p:spPr>
        <p:txBody>
          <a:bodyPr/>
          <a:lstStyle/>
          <a:p>
            <a:r>
              <a:rPr kumimoji="1" lang="zh-CN" altLang="en-US" dirty="0"/>
              <a:t>微内核</a:t>
            </a:r>
            <a:endParaRPr kumimoji="1" lang="en-US" altLang="zh-CN" dirty="0"/>
          </a:p>
          <a:p>
            <a:pPr lvl="1"/>
            <a:r>
              <a:rPr kumimoji="1" lang="zh-CN" altLang="en-US" dirty="0"/>
              <a:t>驱动在用户态</a:t>
            </a:r>
            <a:endParaRPr kumimoji="1" lang="en-US" altLang="zh-CN" dirty="0"/>
          </a:p>
          <a:p>
            <a:pPr lvl="1"/>
            <a:r>
              <a:rPr kumimoji="1" lang="zh-CN" altLang="en-US" dirty="0"/>
              <a:t>优势：可靠性好</a:t>
            </a:r>
            <a:endParaRPr kumimoji="1" lang="en-US" altLang="zh-CN" dirty="0"/>
          </a:p>
          <a:p>
            <a:pPr lvl="1"/>
            <a:r>
              <a:rPr kumimoji="1" lang="zh-CN" altLang="en-US" dirty="0"/>
              <a:t>劣势：性能开销（</a:t>
            </a:r>
            <a:r>
              <a:rPr kumimoji="1" lang="en-US" altLang="zh-CN" dirty="0"/>
              <a:t>IPC</a:t>
            </a:r>
            <a:r>
              <a:rPr kumimoji="1" lang="zh-CN" altLang="en-US" dirty="0"/>
              <a:t>）</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2"/>
          <p:cNvSpPr txBox="1"/>
          <p:nvPr/>
        </p:nvSpPr>
        <p:spPr>
          <a:xfrm>
            <a:off x="611560" y="1339600"/>
            <a:ext cx="3754760" cy="3771636"/>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1200"/>
              </a:spcBef>
              <a:buFont typeface="Arial" panose="020B0604020202090204"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kumimoji="1" lang="zh-CN" altLang="en-US" dirty="0"/>
              <a:t>宏内核</a:t>
            </a:r>
            <a:endParaRPr kumimoji="1" lang="en-US" altLang="zh-CN" dirty="0"/>
          </a:p>
          <a:p>
            <a:pPr lvl="1"/>
            <a:r>
              <a:rPr kumimoji="1" lang="zh-CN" altLang="en-US" dirty="0"/>
              <a:t>驱动在内核态</a:t>
            </a:r>
            <a:endParaRPr kumimoji="1" lang="en-US" altLang="zh-CN" dirty="0"/>
          </a:p>
          <a:p>
            <a:pPr lvl="1"/>
            <a:r>
              <a:rPr kumimoji="1" lang="zh-CN" altLang="en-US" dirty="0"/>
              <a:t>优势：性能更好</a:t>
            </a:r>
            <a:endParaRPr kumimoji="1" lang="en-US" altLang="zh-CN" dirty="0"/>
          </a:p>
          <a:p>
            <a:pPr lvl="1"/>
            <a:r>
              <a:rPr kumimoji="1" lang="zh-CN" altLang="en-US" dirty="0"/>
              <a:t>劣势：容错性差</a:t>
            </a:r>
          </a:p>
        </p:txBody>
      </p:sp>
      <p:sp>
        <p:nvSpPr>
          <p:cNvPr id="7" name="矩形 6"/>
          <p:cNvSpPr/>
          <p:nvPr/>
        </p:nvSpPr>
        <p:spPr>
          <a:xfrm>
            <a:off x="5076056" y="3396435"/>
            <a:ext cx="1224416" cy="28803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应用</a:t>
            </a:r>
          </a:p>
        </p:txBody>
      </p:sp>
      <p:sp>
        <p:nvSpPr>
          <p:cNvPr id="8" name="矩形 7"/>
          <p:cNvSpPr/>
          <p:nvPr/>
        </p:nvSpPr>
        <p:spPr>
          <a:xfrm>
            <a:off x="6828009" y="3395282"/>
            <a:ext cx="1368153" cy="28803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驱动程序</a:t>
            </a:r>
          </a:p>
        </p:txBody>
      </p:sp>
      <p:sp>
        <p:nvSpPr>
          <p:cNvPr id="9" name="矩形 8"/>
          <p:cNvSpPr/>
          <p:nvPr/>
        </p:nvSpPr>
        <p:spPr>
          <a:xfrm>
            <a:off x="5076058" y="4002251"/>
            <a:ext cx="3158288" cy="28803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内核</a:t>
            </a:r>
          </a:p>
        </p:txBody>
      </p:sp>
      <p:sp>
        <p:nvSpPr>
          <p:cNvPr id="10" name="矩形 9"/>
          <p:cNvSpPr/>
          <p:nvPr/>
        </p:nvSpPr>
        <p:spPr>
          <a:xfrm>
            <a:off x="5076056" y="4590966"/>
            <a:ext cx="3158288" cy="28803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设备</a:t>
            </a:r>
          </a:p>
        </p:txBody>
      </p:sp>
      <p:sp>
        <p:nvSpPr>
          <p:cNvPr id="11" name="矩形 10"/>
          <p:cNvSpPr/>
          <p:nvPr/>
        </p:nvSpPr>
        <p:spPr>
          <a:xfrm>
            <a:off x="899592" y="3413251"/>
            <a:ext cx="3054897" cy="28803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应用</a:t>
            </a:r>
          </a:p>
        </p:txBody>
      </p:sp>
      <p:sp>
        <p:nvSpPr>
          <p:cNvPr id="12" name="矩形 11"/>
          <p:cNvSpPr/>
          <p:nvPr/>
        </p:nvSpPr>
        <p:spPr>
          <a:xfrm>
            <a:off x="2586336" y="3997844"/>
            <a:ext cx="1368153" cy="28803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驱动程序</a:t>
            </a:r>
          </a:p>
        </p:txBody>
      </p:sp>
      <p:sp>
        <p:nvSpPr>
          <p:cNvPr id="13" name="矩形 12"/>
          <p:cNvSpPr/>
          <p:nvPr/>
        </p:nvSpPr>
        <p:spPr>
          <a:xfrm>
            <a:off x="899594" y="3997844"/>
            <a:ext cx="1368150" cy="28803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内核</a:t>
            </a:r>
          </a:p>
        </p:txBody>
      </p:sp>
      <p:sp>
        <p:nvSpPr>
          <p:cNvPr id="14" name="矩形 13"/>
          <p:cNvSpPr/>
          <p:nvPr/>
        </p:nvSpPr>
        <p:spPr>
          <a:xfrm>
            <a:off x="887568" y="4590966"/>
            <a:ext cx="3054896" cy="288032"/>
          </a:xfrm>
          <a:prstGeom prst="rect">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r>
              <a:rPr kumimoji="1" lang="zh-CN" altLang="en-US" sz="1600" dirty="0"/>
              <a:t>设备</a:t>
            </a:r>
          </a:p>
        </p:txBody>
      </p:sp>
      <p:cxnSp>
        <p:nvCxnSpPr>
          <p:cNvPr id="16" name="直线箭头连接符 15"/>
          <p:cNvCxnSpPr>
            <a:stCxn id="12" idx="2"/>
          </p:cNvCxnSpPr>
          <p:nvPr/>
        </p:nvCxnSpPr>
        <p:spPr>
          <a:xfrm>
            <a:off x="3270413" y="4285876"/>
            <a:ext cx="5443" cy="30509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 name="直线箭头连接符 17"/>
          <p:cNvCxnSpPr>
            <a:stCxn id="12" idx="1"/>
            <a:endCxn id="13" idx="3"/>
          </p:cNvCxnSpPr>
          <p:nvPr/>
        </p:nvCxnSpPr>
        <p:spPr>
          <a:xfrm flipH="1">
            <a:off x="2267744" y="4141860"/>
            <a:ext cx="318592"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线箭头连接符 21"/>
          <p:cNvCxnSpPr>
            <a:stCxn id="13" idx="0"/>
          </p:cNvCxnSpPr>
          <p:nvPr/>
        </p:nvCxnSpPr>
        <p:spPr>
          <a:xfrm flipV="1">
            <a:off x="1583669" y="3683314"/>
            <a:ext cx="0" cy="31453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线箭头连接符 28"/>
          <p:cNvCxnSpPr>
            <a:stCxn id="9" idx="2"/>
            <a:endCxn id="10" idx="0"/>
          </p:cNvCxnSpPr>
          <p:nvPr/>
        </p:nvCxnSpPr>
        <p:spPr>
          <a:xfrm flipH="1">
            <a:off x="6655200" y="4290283"/>
            <a:ext cx="2" cy="30068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1" name="直线箭头连接符 30"/>
          <p:cNvCxnSpPr>
            <a:stCxn id="8" idx="2"/>
          </p:cNvCxnSpPr>
          <p:nvPr/>
        </p:nvCxnSpPr>
        <p:spPr>
          <a:xfrm>
            <a:off x="7512086" y="3683314"/>
            <a:ext cx="12242" cy="31453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线箭头连接符 34"/>
          <p:cNvCxnSpPr>
            <a:stCxn id="7" idx="2"/>
          </p:cNvCxnSpPr>
          <p:nvPr/>
        </p:nvCxnSpPr>
        <p:spPr>
          <a:xfrm>
            <a:off x="5688264" y="3684467"/>
            <a:ext cx="0" cy="31337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9524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3702C7-8F88-BC49-8D10-D43F6B3DA732}"/>
              </a:ext>
            </a:extLst>
          </p:cNvPr>
          <p:cNvSpPr>
            <a:spLocks noGrp="1"/>
          </p:cNvSpPr>
          <p:nvPr>
            <p:ph type="title"/>
          </p:nvPr>
        </p:nvSpPr>
        <p:spPr/>
        <p:txBody>
          <a:bodyPr/>
          <a:lstStyle/>
          <a:p>
            <a:r>
              <a:rPr kumimoji="1" lang="zh-CN" altLang="en-US" dirty="0"/>
              <a:t>第三类：用户态库</a:t>
            </a:r>
          </a:p>
        </p:txBody>
      </p:sp>
      <p:sp>
        <p:nvSpPr>
          <p:cNvPr id="3" name="内容占位符 2">
            <a:extLst>
              <a:ext uri="{FF2B5EF4-FFF2-40B4-BE49-F238E27FC236}">
                <a16:creationId xmlns:a16="http://schemas.microsoft.com/office/drawing/2014/main" id="{BD93DF6F-24B2-AB44-929F-76B66A596226}"/>
              </a:ext>
            </a:extLst>
          </p:cNvPr>
          <p:cNvSpPr>
            <a:spLocks noGrp="1"/>
          </p:cNvSpPr>
          <p:nvPr>
            <p:ph idx="1"/>
          </p:nvPr>
        </p:nvSpPr>
        <p:spPr/>
        <p:txBody>
          <a:bodyPr>
            <a:normAutofit/>
          </a:bodyPr>
          <a:lstStyle/>
          <a:p>
            <a:r>
              <a:rPr kumimoji="1" lang="zh-CN" altLang="en-US" sz="2000" dirty="0"/>
              <a:t>操作系统内核负责：</a:t>
            </a:r>
            <a:endParaRPr kumimoji="1" lang="en-US" altLang="zh-CN" sz="2000" dirty="0"/>
          </a:p>
          <a:p>
            <a:pPr lvl="1"/>
            <a:r>
              <a:rPr kumimoji="1" lang="zh-CN" altLang="en-US" sz="1800" dirty="0"/>
              <a:t>将设备寄存器映射到用户可访问的虚拟地址空间</a:t>
            </a:r>
            <a:endParaRPr kumimoji="1" lang="en-US" altLang="zh-CN" sz="1800" dirty="0"/>
          </a:p>
          <a:p>
            <a:pPr lvl="1"/>
            <a:r>
              <a:rPr kumimoji="1" lang="zh-CN" altLang="en-US" sz="1800" dirty="0"/>
              <a:t>通常只允许某一个应用访问该设备，防止发生冲突</a:t>
            </a:r>
            <a:endParaRPr kumimoji="1" lang="en-US" altLang="zh-CN" sz="1800" dirty="0"/>
          </a:p>
          <a:p>
            <a:r>
              <a:rPr kumimoji="1" lang="zh-CN" altLang="en-US" sz="2000" dirty="0"/>
              <a:t>用户态库负责：</a:t>
            </a:r>
            <a:endParaRPr kumimoji="1" lang="en-US" altLang="zh-CN" sz="2000" dirty="0"/>
          </a:p>
          <a:p>
            <a:pPr lvl="1"/>
            <a:r>
              <a:rPr kumimoji="1" lang="en-US" altLang="zh-CN" sz="1800" dirty="0"/>
              <a:t>100%</a:t>
            </a:r>
            <a:r>
              <a:rPr kumimoji="1" lang="zh-CN" altLang="en-US" sz="1800" dirty="0"/>
              <a:t>控制硬件设备，并向上或对外提供服务</a:t>
            </a:r>
            <a:endParaRPr kumimoji="1" lang="en-US" altLang="zh-CN" sz="1800" dirty="0"/>
          </a:p>
          <a:p>
            <a:pPr lvl="1"/>
            <a:r>
              <a:rPr kumimoji="1" lang="zh-CN" altLang="en-US" sz="1800" dirty="0"/>
              <a:t>通过轮询访问设备（问：为何不用中断？）</a:t>
            </a:r>
            <a:endParaRPr kumimoji="1" lang="en-US" altLang="zh-CN" sz="1800" dirty="0"/>
          </a:p>
          <a:p>
            <a:pPr lvl="2"/>
            <a:r>
              <a:rPr kumimoji="1" lang="zh-CN" altLang="en-US" sz="1800" dirty="0"/>
              <a:t>通常需要独占一个</a:t>
            </a:r>
            <a:r>
              <a:rPr kumimoji="1" lang="en-US" altLang="zh-CN" sz="1800" dirty="0"/>
              <a:t>CPU</a:t>
            </a:r>
          </a:p>
          <a:p>
            <a:pPr lvl="1"/>
            <a:r>
              <a:rPr kumimoji="1" lang="zh-CN" altLang="en-US" sz="1800" dirty="0"/>
              <a:t>典型例子：</a:t>
            </a:r>
            <a:r>
              <a:rPr kumimoji="1" lang="en-US" altLang="zh-CN" sz="1800" dirty="0"/>
              <a:t>Intel</a:t>
            </a:r>
            <a:r>
              <a:rPr kumimoji="1" lang="zh-CN" altLang="en-US" sz="1800" dirty="0"/>
              <a:t> </a:t>
            </a:r>
            <a:r>
              <a:rPr kumimoji="1" lang="en-US" altLang="zh-CN" sz="1800" dirty="0"/>
              <a:t>DPDK</a:t>
            </a:r>
            <a:r>
              <a:rPr kumimoji="1" lang="zh-CN" altLang="en-US" sz="1800" dirty="0"/>
              <a:t>（网卡）、</a:t>
            </a:r>
            <a:r>
              <a:rPr kumimoji="1" lang="en-US" altLang="zh-CN" sz="1800" dirty="0"/>
              <a:t>SPDK</a:t>
            </a:r>
            <a:r>
              <a:rPr kumimoji="1" lang="zh-CN" altLang="en-US" sz="1800" dirty="0"/>
              <a:t>（存储）</a:t>
            </a:r>
            <a:endParaRPr kumimoji="1" lang="en-US" altLang="zh-CN" sz="1800" dirty="0"/>
          </a:p>
          <a:p>
            <a:pPr lvl="1"/>
            <a:r>
              <a:rPr kumimoji="1" lang="zh-CN" altLang="en-US" sz="1800" dirty="0"/>
              <a:t>通常用于高性能场景（问：为什么性能高？）</a:t>
            </a:r>
          </a:p>
        </p:txBody>
      </p:sp>
      <p:sp>
        <p:nvSpPr>
          <p:cNvPr id="4" name="灯片编号占位符 3">
            <a:extLst>
              <a:ext uri="{FF2B5EF4-FFF2-40B4-BE49-F238E27FC236}">
                <a16:creationId xmlns:a16="http://schemas.microsoft.com/office/drawing/2014/main" id="{CD4E32F1-1CD7-A04C-B2CB-F71E6B67B93B}"/>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页脚占位符 4">
            <a:extLst>
              <a:ext uri="{FF2B5EF4-FFF2-40B4-BE49-F238E27FC236}">
                <a16:creationId xmlns:a16="http://schemas.microsoft.com/office/drawing/2014/main" id="{DCE0BE29-0554-2347-980C-4B9AF8346B7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880654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案例：</a:t>
            </a:r>
            <a:r>
              <a:rPr kumimoji="1" lang="en-US" altLang="zh-CN" dirty="0"/>
              <a:t>Linux</a:t>
            </a:r>
            <a:r>
              <a:rPr kumimoji="1" lang="zh-CN" altLang="en-US" dirty="0"/>
              <a:t>的上下半部</a:t>
            </a:r>
          </a:p>
        </p:txBody>
      </p:sp>
      <p:sp>
        <p:nvSpPr>
          <p:cNvPr id="5" name="文本占位符 4"/>
          <p:cNvSpPr>
            <a:spLocks noGrp="1"/>
          </p:cNvSpPr>
          <p:nvPr>
            <p:ph type="body" idx="1"/>
          </p:nvPr>
        </p:nvSpPr>
        <p:spPr/>
        <p:txBody>
          <a:bodyPr/>
          <a:lstStyle/>
          <a:p>
            <a:r>
              <a:rPr kumimoji="1" lang="zh-CN" altLang="en-US" dirty="0"/>
              <a:t>中断子系统</a:t>
            </a:r>
          </a:p>
        </p:txBody>
      </p:sp>
    </p:spTree>
    <p:extLst>
      <p:ext uri="{BB962C8B-B14F-4D97-AF65-F5344CB8AC3E}">
        <p14:creationId xmlns:p14="http://schemas.microsoft.com/office/powerpoint/2010/main" val="76928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Linux</a:t>
            </a:r>
            <a:r>
              <a:rPr kumimoji="1" lang="zh-CN" altLang="en-US" dirty="0"/>
              <a:t>上下半部</a:t>
            </a:r>
            <a:endParaRPr kumimoji="1" lang="en-US" altLang="zh-CN" dirty="0"/>
          </a:p>
        </p:txBody>
      </p:sp>
      <p:sp>
        <p:nvSpPr>
          <p:cNvPr id="3" name="内容占位符 2"/>
          <p:cNvSpPr>
            <a:spLocks noGrp="1"/>
          </p:cNvSpPr>
          <p:nvPr>
            <p:ph idx="1"/>
          </p:nvPr>
        </p:nvSpPr>
        <p:spPr/>
        <p:txBody>
          <a:bodyPr>
            <a:normAutofit lnSpcReduction="10000"/>
          </a:bodyPr>
          <a:lstStyle/>
          <a:p>
            <a:r>
              <a:rPr kumimoji="1" lang="zh-CN" altLang="en-US" dirty="0"/>
              <a:t>面临问题</a:t>
            </a:r>
            <a:endParaRPr kumimoji="1" lang="en-US" altLang="zh-CN" dirty="0"/>
          </a:p>
          <a:p>
            <a:pPr lvl="1"/>
            <a:r>
              <a:rPr kumimoji="1" lang="zh-CN" altLang="en-US" dirty="0"/>
              <a:t>中断处理过程中若运行复杂逻辑，会导致系统失去响应更久</a:t>
            </a:r>
            <a:endParaRPr kumimoji="1" lang="en-US" altLang="zh-CN" dirty="0"/>
          </a:p>
          <a:p>
            <a:pPr lvl="1"/>
            <a:r>
              <a:rPr kumimoji="1" lang="zh-CN" altLang="en-US" dirty="0"/>
              <a:t>中断处理时不能调用会导致系统</a:t>
            </a:r>
            <a:r>
              <a:rPr kumimoji="1" lang="en-US" altLang="zh-CN" dirty="0"/>
              <a:t>block</a:t>
            </a:r>
            <a:r>
              <a:rPr kumimoji="1" lang="zh-CN" altLang="en-US" dirty="0"/>
              <a:t>的函数</a:t>
            </a:r>
            <a:endParaRPr kumimoji="1" lang="en-US" altLang="zh-CN" dirty="0"/>
          </a:p>
          <a:p>
            <a:pPr lvl="1"/>
            <a:endParaRPr kumimoji="1" lang="en-US" altLang="zh-CN" dirty="0"/>
          </a:p>
          <a:p>
            <a:r>
              <a:rPr kumimoji="1" lang="zh-CN" altLang="en-US" dirty="0"/>
              <a:t>将中断处理分为两部分</a:t>
            </a:r>
            <a:endParaRPr kumimoji="1" lang="en-US" altLang="zh-CN" dirty="0"/>
          </a:p>
          <a:p>
            <a:pPr lvl="1"/>
            <a:r>
              <a:rPr kumimoji="1" lang="zh-CN" altLang="en-US" dirty="0"/>
              <a:t>上半部：尽量快，提高对外设的响应能力</a:t>
            </a:r>
            <a:endParaRPr kumimoji="1" lang="en-US" altLang="zh-CN" dirty="0"/>
          </a:p>
          <a:p>
            <a:pPr lvl="1"/>
            <a:r>
              <a:rPr kumimoji="1" lang="zh-CN" altLang="en-US" dirty="0"/>
              <a:t>下半部：将中断的处理推迟完成</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3325568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F52D58-BA00-CA4E-869E-E5B2DD16AC32}"/>
              </a:ext>
            </a:extLst>
          </p:cNvPr>
          <p:cNvSpPr>
            <a:spLocks noGrp="1"/>
          </p:cNvSpPr>
          <p:nvPr>
            <p:ph type="title"/>
          </p:nvPr>
        </p:nvSpPr>
        <p:spPr/>
        <p:txBody>
          <a:bodyPr/>
          <a:lstStyle/>
          <a:p>
            <a:r>
              <a:rPr kumimoji="1" lang="en-US" altLang="zh-CN" dirty="0"/>
              <a:t>Top</a:t>
            </a:r>
            <a:r>
              <a:rPr kumimoji="1" lang="zh-CN" altLang="en-US" dirty="0"/>
              <a:t> </a:t>
            </a:r>
            <a:r>
              <a:rPr kumimoji="1" lang="en-US" altLang="zh-CN" dirty="0"/>
              <a:t>Half</a:t>
            </a:r>
            <a:r>
              <a:rPr kumimoji="1" lang="zh-CN" altLang="en-US" dirty="0"/>
              <a:t>：马上做</a:t>
            </a:r>
          </a:p>
        </p:txBody>
      </p:sp>
      <p:sp>
        <p:nvSpPr>
          <p:cNvPr id="3" name="内容占位符 2">
            <a:extLst>
              <a:ext uri="{FF2B5EF4-FFF2-40B4-BE49-F238E27FC236}">
                <a16:creationId xmlns:a16="http://schemas.microsoft.com/office/drawing/2014/main" id="{D3C3AA7B-3092-2947-8CAE-7DF9386409E3}"/>
              </a:ext>
            </a:extLst>
          </p:cNvPr>
          <p:cNvSpPr>
            <a:spLocks noGrp="1"/>
          </p:cNvSpPr>
          <p:nvPr>
            <p:ph idx="1"/>
          </p:nvPr>
        </p:nvSpPr>
        <p:spPr/>
        <p:txBody>
          <a:bodyPr>
            <a:normAutofit/>
          </a:bodyPr>
          <a:lstStyle/>
          <a:p>
            <a:r>
              <a:rPr kumimoji="1" lang="zh-CN" altLang="en-US" dirty="0"/>
              <a:t>最小化公共例程：</a:t>
            </a:r>
            <a:endParaRPr kumimoji="1" lang="en-US" altLang="zh-CN" dirty="0"/>
          </a:p>
          <a:p>
            <a:pPr lvl="1"/>
            <a:r>
              <a:rPr kumimoji="1" lang="zh-CN" altLang="en-US" dirty="0"/>
              <a:t>保存寄存器、屏蔽中断</a:t>
            </a:r>
            <a:endParaRPr kumimoji="1" lang="en-US" altLang="zh-CN" dirty="0"/>
          </a:p>
          <a:p>
            <a:pPr lvl="1"/>
            <a:r>
              <a:rPr kumimoji="1" lang="zh-CN" altLang="en-US" dirty="0"/>
              <a:t>恢复寄存器，返回现场</a:t>
            </a:r>
            <a:endParaRPr kumimoji="1" lang="en-US" altLang="zh-CN" dirty="0"/>
          </a:p>
          <a:p>
            <a:r>
              <a:rPr kumimoji="1" lang="en-US" altLang="zh-CN" dirty="0"/>
              <a:t>Top</a:t>
            </a:r>
            <a:r>
              <a:rPr kumimoji="1" lang="zh-CN" altLang="en-US" dirty="0"/>
              <a:t> </a:t>
            </a:r>
            <a:r>
              <a:rPr kumimoji="1" lang="en-US" altLang="zh-CN" dirty="0"/>
              <a:t>half</a:t>
            </a:r>
            <a:r>
              <a:rPr kumimoji="1" lang="zh-CN" altLang="en-US" dirty="0"/>
              <a:t>要做的事情：</a:t>
            </a:r>
            <a:endParaRPr kumimoji="1" lang="en-US" altLang="zh-CN" dirty="0"/>
          </a:p>
          <a:p>
            <a:pPr lvl="1"/>
            <a:r>
              <a:rPr kumimoji="1" lang="zh-CN" altLang="en-US" dirty="0"/>
              <a:t>将请求放入队列（或设置</a:t>
            </a:r>
            <a:r>
              <a:rPr kumimoji="1" lang="en-US" altLang="zh-CN" dirty="0"/>
              <a:t>flag</a:t>
            </a:r>
            <a:r>
              <a:rPr kumimoji="1" lang="zh-CN" altLang="en-US" dirty="0"/>
              <a:t>），将其他处理推迟到</a:t>
            </a:r>
            <a:r>
              <a:rPr kumimoji="1" lang="en-US" altLang="zh-CN" dirty="0"/>
              <a:t>bottom half</a:t>
            </a:r>
          </a:p>
          <a:p>
            <a:pPr lvl="2"/>
            <a:r>
              <a:rPr kumimoji="1" lang="zh-CN" altLang="en-US" dirty="0"/>
              <a:t>现代处理器中，多个</a:t>
            </a:r>
            <a:r>
              <a:rPr kumimoji="1" lang="en-US" altLang="zh-CN" dirty="0"/>
              <a:t>I/O</a:t>
            </a:r>
            <a:r>
              <a:rPr kumimoji="1" lang="zh-CN" altLang="en-US" dirty="0"/>
              <a:t>设备共享一个</a:t>
            </a:r>
            <a:r>
              <a:rPr kumimoji="1" lang="en-US" altLang="zh-CN" dirty="0"/>
              <a:t>IRQ</a:t>
            </a:r>
            <a:r>
              <a:rPr kumimoji="1" lang="zh-CN" altLang="en-US" dirty="0"/>
              <a:t>和中断向量</a:t>
            </a:r>
            <a:endParaRPr kumimoji="1" lang="en-US" altLang="zh-CN" dirty="0"/>
          </a:p>
          <a:p>
            <a:pPr lvl="2"/>
            <a:r>
              <a:rPr kumimoji="1" lang="zh-CN" altLang="en-US" dirty="0"/>
              <a:t>多个</a:t>
            </a:r>
            <a:r>
              <a:rPr kumimoji="1" lang="en-US" altLang="zh-CN" dirty="0"/>
              <a:t>ISR</a:t>
            </a:r>
            <a:r>
              <a:rPr kumimoji="1" lang="zh-CN" altLang="en-US" dirty="0"/>
              <a:t> </a:t>
            </a:r>
            <a:r>
              <a:rPr kumimoji="1" lang="en-US" altLang="zh-CN" dirty="0"/>
              <a:t>(</a:t>
            </a:r>
            <a:r>
              <a:rPr lang="en-US" altLang="zh-CN" sz="2400" dirty="0"/>
              <a:t>interrupt service routines</a:t>
            </a:r>
            <a:r>
              <a:rPr kumimoji="1" lang="en-US" altLang="zh-CN" dirty="0"/>
              <a:t>)</a:t>
            </a:r>
            <a:r>
              <a:rPr kumimoji="1" lang="zh-CN" altLang="en-US" dirty="0"/>
              <a:t>可以绑定同一向量上</a:t>
            </a:r>
            <a:endParaRPr kumimoji="1" lang="en-US" altLang="zh-CN" dirty="0"/>
          </a:p>
          <a:p>
            <a:pPr lvl="1"/>
            <a:r>
              <a:rPr kumimoji="1" lang="zh-CN" altLang="en-US" dirty="0"/>
              <a:t>调用每个设备对应的</a:t>
            </a:r>
            <a:r>
              <a:rPr kumimoji="1" lang="en-US" altLang="zh-CN" dirty="0"/>
              <a:t>IRQ</a:t>
            </a:r>
            <a:r>
              <a:rPr kumimoji="1" lang="zh-CN" altLang="en-US" dirty="0"/>
              <a:t>的</a:t>
            </a:r>
            <a:r>
              <a:rPr kumimoji="1" lang="en-US" altLang="zh-CN" dirty="0"/>
              <a:t>ISR</a:t>
            </a:r>
            <a:r>
              <a:rPr kumimoji="1" lang="zh-CN" altLang="en-US" dirty="0"/>
              <a:t> </a:t>
            </a:r>
            <a:endParaRPr kumimoji="1" lang="en-US" altLang="zh-CN" dirty="0"/>
          </a:p>
        </p:txBody>
      </p:sp>
      <p:sp>
        <p:nvSpPr>
          <p:cNvPr id="4" name="灯片编号占位符 3">
            <a:extLst>
              <a:ext uri="{FF2B5EF4-FFF2-40B4-BE49-F238E27FC236}">
                <a16:creationId xmlns:a16="http://schemas.microsoft.com/office/drawing/2014/main" id="{9AD7829E-DF62-5A4C-923F-70FBF2E11D92}"/>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圆角矩形 4">
            <a:extLst>
              <a:ext uri="{FF2B5EF4-FFF2-40B4-BE49-F238E27FC236}">
                <a16:creationId xmlns:a16="http://schemas.microsoft.com/office/drawing/2014/main" id="{9421530A-AA8E-8C4E-8AE9-3C57996FE68D}"/>
              </a:ext>
            </a:extLst>
          </p:cNvPr>
          <p:cNvSpPr/>
          <p:nvPr/>
        </p:nvSpPr>
        <p:spPr>
          <a:xfrm>
            <a:off x="6156176" y="565612"/>
            <a:ext cx="2304256" cy="576064"/>
          </a:xfrm>
          <a:prstGeom prst="roundRect">
            <a:avLst/>
          </a:prstGeom>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dirty="0"/>
              <a:t>思考：</a:t>
            </a:r>
            <a:endParaRPr kumimoji="1" lang="en-US" altLang="zh-CN" dirty="0"/>
          </a:p>
          <a:p>
            <a:pPr algn="ctr"/>
            <a:r>
              <a:rPr kumimoji="1" lang="zh-CN" altLang="en-US" sz="1400" dirty="0"/>
              <a:t>为什么要共享</a:t>
            </a:r>
            <a:r>
              <a:rPr kumimoji="1" lang="en-US" altLang="zh-CN" sz="1400" dirty="0"/>
              <a:t>IRQ</a:t>
            </a:r>
            <a:r>
              <a:rPr kumimoji="1" lang="zh-CN" altLang="en-US" sz="1400" dirty="0"/>
              <a:t>？</a:t>
            </a:r>
          </a:p>
        </p:txBody>
      </p:sp>
    </p:spTree>
    <p:extLst>
      <p:ext uri="{BB962C8B-B14F-4D97-AF65-F5344CB8AC3E}">
        <p14:creationId xmlns:p14="http://schemas.microsoft.com/office/powerpoint/2010/main" val="72352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43A089-6847-0649-95AB-69B692816224}"/>
              </a:ext>
            </a:extLst>
          </p:cNvPr>
          <p:cNvSpPr>
            <a:spLocks noGrp="1"/>
          </p:cNvSpPr>
          <p:nvPr>
            <p:ph type="title"/>
          </p:nvPr>
        </p:nvSpPr>
        <p:spPr/>
        <p:txBody>
          <a:bodyPr/>
          <a:lstStyle/>
          <a:p>
            <a:r>
              <a:rPr kumimoji="1" lang="en-US" altLang="zh-CN" dirty="0"/>
              <a:t>Bottom</a:t>
            </a:r>
            <a:r>
              <a:rPr kumimoji="1" lang="zh-CN" altLang="en-US" dirty="0"/>
              <a:t> </a:t>
            </a:r>
            <a:r>
              <a:rPr kumimoji="1" lang="en-US" altLang="zh-CN" dirty="0"/>
              <a:t>Half</a:t>
            </a:r>
            <a:r>
              <a:rPr kumimoji="1" lang="zh-CN" altLang="en-US" dirty="0"/>
              <a:t>：延迟去做</a:t>
            </a:r>
          </a:p>
        </p:txBody>
      </p:sp>
      <p:sp>
        <p:nvSpPr>
          <p:cNvPr id="3" name="内容占位符 2">
            <a:extLst>
              <a:ext uri="{FF2B5EF4-FFF2-40B4-BE49-F238E27FC236}">
                <a16:creationId xmlns:a16="http://schemas.microsoft.com/office/drawing/2014/main" id="{4D583879-B589-7F4B-80A3-0EED4A185B88}"/>
              </a:ext>
            </a:extLst>
          </p:cNvPr>
          <p:cNvSpPr>
            <a:spLocks noGrp="1"/>
          </p:cNvSpPr>
          <p:nvPr>
            <p:ph idx="1"/>
          </p:nvPr>
        </p:nvSpPr>
        <p:spPr/>
        <p:txBody>
          <a:bodyPr>
            <a:normAutofit/>
          </a:bodyPr>
          <a:lstStyle/>
          <a:p>
            <a:r>
              <a:rPr kumimoji="1" lang="zh-CN" altLang="en-US" dirty="0"/>
              <a:t>提供可以推迟完成任务的机制</a:t>
            </a:r>
            <a:endParaRPr kumimoji="1" lang="en-US" altLang="zh-CN" dirty="0"/>
          </a:p>
          <a:p>
            <a:pPr lvl="1"/>
            <a:r>
              <a:rPr kumimoji="1" lang="en" altLang="zh-CN" dirty="0" err="1"/>
              <a:t>softirqs</a:t>
            </a:r>
            <a:r>
              <a:rPr kumimoji="1" lang="en" altLang="zh-CN" dirty="0"/>
              <a:t> </a:t>
            </a:r>
          </a:p>
          <a:p>
            <a:pPr lvl="1"/>
            <a:r>
              <a:rPr kumimoji="1" lang="en" altLang="zh-CN" dirty="0" err="1"/>
              <a:t>tasklets</a:t>
            </a:r>
            <a:r>
              <a:rPr kumimoji="1" lang="en" altLang="zh-CN" dirty="0"/>
              <a:t>  (</a:t>
            </a:r>
            <a:r>
              <a:rPr kumimoji="1" lang="zh-CN" altLang="en" dirty="0"/>
              <a:t>建立在</a:t>
            </a:r>
            <a:r>
              <a:rPr kumimoji="1" lang="en" altLang="zh-CN" dirty="0" err="1"/>
              <a:t>softirqs</a:t>
            </a:r>
            <a:r>
              <a:rPr kumimoji="1" lang="zh-CN" altLang="en" dirty="0"/>
              <a:t>之上</a:t>
            </a:r>
            <a:r>
              <a:rPr kumimoji="1" lang="en" altLang="zh-CN" dirty="0"/>
              <a:t>)</a:t>
            </a:r>
          </a:p>
          <a:p>
            <a:pPr lvl="1"/>
            <a:r>
              <a:rPr kumimoji="1" lang="zh-CN" altLang="en" dirty="0"/>
              <a:t>工作</a:t>
            </a:r>
            <a:r>
              <a:rPr kumimoji="1" lang="zh-CN" altLang="en-US" dirty="0"/>
              <a:t>队列</a:t>
            </a:r>
            <a:endParaRPr kumimoji="1" lang="en-US" altLang="zh-CN" dirty="0"/>
          </a:p>
          <a:p>
            <a:pPr lvl="1"/>
            <a:r>
              <a:rPr kumimoji="1" lang="zh-CN" altLang="en" dirty="0"/>
              <a:t>内核</a:t>
            </a:r>
            <a:r>
              <a:rPr kumimoji="1" lang="zh-CN" altLang="en-US" dirty="0"/>
              <a:t>线程</a:t>
            </a:r>
            <a:endParaRPr kumimoji="1" lang="en-US" altLang="zh-CN" dirty="0"/>
          </a:p>
          <a:p>
            <a:r>
              <a:rPr kumimoji="1" lang="zh-CN" altLang="en-US" dirty="0"/>
              <a:t>这些机制都可以被</a:t>
            </a:r>
            <a:r>
              <a:rPr kumimoji="1" lang="zh-CN" altLang="en-US" dirty="0">
                <a:solidFill>
                  <a:schemeClr val="accent1"/>
                </a:solidFill>
              </a:rPr>
              <a:t>中断</a:t>
            </a:r>
            <a:endParaRPr kumimoji="1" lang="en" altLang="zh-CN" dirty="0">
              <a:solidFill>
                <a:schemeClr val="accent1"/>
              </a:solidFill>
            </a:endParaRPr>
          </a:p>
          <a:p>
            <a:pPr lvl="1"/>
            <a:endParaRPr kumimoji="1" lang="zh-CN" altLang="en-US" dirty="0"/>
          </a:p>
        </p:txBody>
      </p:sp>
      <p:sp>
        <p:nvSpPr>
          <p:cNvPr id="4" name="灯片编号占位符 3">
            <a:extLst>
              <a:ext uri="{FF2B5EF4-FFF2-40B4-BE49-F238E27FC236}">
                <a16:creationId xmlns:a16="http://schemas.microsoft.com/office/drawing/2014/main" id="{352A06ED-E8FA-BF45-A77D-BB506072AA3E}"/>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Tree>
    <p:extLst>
      <p:ext uri="{BB962C8B-B14F-4D97-AF65-F5344CB8AC3E}">
        <p14:creationId xmlns:p14="http://schemas.microsoft.com/office/powerpoint/2010/main" val="4438719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0ADC8A-0AE8-6744-ACC4-DAA66094374C}"/>
              </a:ext>
            </a:extLst>
          </p:cNvPr>
          <p:cNvSpPr>
            <a:spLocks noGrp="1"/>
          </p:cNvSpPr>
          <p:nvPr>
            <p:ph type="title"/>
          </p:nvPr>
        </p:nvSpPr>
        <p:spPr/>
        <p:txBody>
          <a:bodyPr/>
          <a:lstStyle/>
          <a:p>
            <a:r>
              <a:rPr kumimoji="1" lang="zh-CN" altLang="en-US" dirty="0"/>
              <a:t>内核线程（</a:t>
            </a:r>
            <a:r>
              <a:rPr lang="en-US" altLang="zh-CN" dirty="0"/>
              <a:t>Kernel Threads</a:t>
            </a:r>
            <a:r>
              <a:rPr kumimoji="1" lang="zh-CN" altLang="en-US" dirty="0"/>
              <a:t>）</a:t>
            </a:r>
          </a:p>
        </p:txBody>
      </p:sp>
      <p:sp>
        <p:nvSpPr>
          <p:cNvPr id="3" name="内容占位符 2">
            <a:extLst>
              <a:ext uri="{FF2B5EF4-FFF2-40B4-BE49-F238E27FC236}">
                <a16:creationId xmlns:a16="http://schemas.microsoft.com/office/drawing/2014/main" id="{71F52502-BE8A-6E45-A429-818B56D17A45}"/>
              </a:ext>
            </a:extLst>
          </p:cNvPr>
          <p:cNvSpPr>
            <a:spLocks noGrp="1"/>
          </p:cNvSpPr>
          <p:nvPr>
            <p:ph idx="1"/>
          </p:nvPr>
        </p:nvSpPr>
        <p:spPr/>
        <p:txBody>
          <a:bodyPr/>
          <a:lstStyle/>
          <a:p>
            <a:r>
              <a:rPr kumimoji="1" lang="zh-CN" altLang="en-US" dirty="0"/>
              <a:t>始终运行在内核态</a:t>
            </a:r>
            <a:endParaRPr kumimoji="1" lang="en-US" altLang="zh-CN" dirty="0"/>
          </a:p>
          <a:p>
            <a:pPr lvl="1"/>
            <a:r>
              <a:rPr kumimoji="1" lang="zh-CN" altLang="en-US" dirty="0"/>
              <a:t>没有用户空间上下文</a:t>
            </a:r>
            <a:endParaRPr kumimoji="1" lang="en-US" altLang="zh-CN" dirty="0"/>
          </a:p>
          <a:p>
            <a:pPr lvl="1"/>
            <a:r>
              <a:rPr kumimoji="1" lang="zh-CN" altLang="en-US" dirty="0"/>
              <a:t>和用户进程一样被调度器管理</a:t>
            </a:r>
            <a:endParaRPr kumimoji="1" lang="en-US" altLang="zh-CN" dirty="0"/>
          </a:p>
          <a:p>
            <a:r>
              <a:rPr kumimoji="1" lang="zh-CN" altLang="en-US" dirty="0"/>
              <a:t>中断线程化*（</a:t>
            </a:r>
            <a:r>
              <a:rPr lang="en-US" altLang="zh-CN" i="1" dirty="0"/>
              <a:t>threaded interrupt handlers</a:t>
            </a:r>
            <a:r>
              <a:rPr kumimoji="1" lang="zh-CN" altLang="en-US" dirty="0"/>
              <a:t>）</a:t>
            </a:r>
            <a:endParaRPr kumimoji="1" lang="en-US" altLang="zh-CN" dirty="0"/>
          </a:p>
          <a:p>
            <a:pPr lvl="1"/>
            <a:r>
              <a:rPr kumimoji="1" lang="en-US" altLang="zh-CN" dirty="0"/>
              <a:t>Linux</a:t>
            </a:r>
            <a:r>
              <a:rPr kumimoji="1" lang="zh-CN" altLang="en-US" dirty="0"/>
              <a:t> </a:t>
            </a:r>
            <a:r>
              <a:rPr kumimoji="1" lang="en-US" altLang="zh-CN" dirty="0"/>
              <a:t>2.6.30</a:t>
            </a:r>
            <a:r>
              <a:rPr kumimoji="1" lang="zh-CN" altLang="en-US" dirty="0"/>
              <a:t>引入</a:t>
            </a:r>
            <a:endParaRPr kumimoji="1" lang="en-US" altLang="zh-CN" dirty="0"/>
          </a:p>
          <a:p>
            <a:pPr lvl="1"/>
            <a:r>
              <a:rPr kumimoji="1" lang="zh-CN" altLang="en-US" dirty="0"/>
              <a:t>每个中断线程都有自己的上下文</a:t>
            </a:r>
            <a:endParaRPr kumimoji="1" lang="en-US" altLang="zh-CN" dirty="0"/>
          </a:p>
          <a:p>
            <a:endParaRPr kumimoji="1" lang="zh-CN" altLang="en-US" dirty="0"/>
          </a:p>
        </p:txBody>
      </p:sp>
      <p:sp>
        <p:nvSpPr>
          <p:cNvPr id="4" name="灯片编号占位符 3">
            <a:extLst>
              <a:ext uri="{FF2B5EF4-FFF2-40B4-BE49-F238E27FC236}">
                <a16:creationId xmlns:a16="http://schemas.microsoft.com/office/drawing/2014/main" id="{71613398-7807-BB49-AC6D-8B8F51FB7C68}"/>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82FAB25E-CC6D-904C-8A8A-7B37C7B8E669}"/>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a:extLst>
              <a:ext uri="{FF2B5EF4-FFF2-40B4-BE49-F238E27FC236}">
                <a16:creationId xmlns:a16="http://schemas.microsoft.com/office/drawing/2014/main" id="{D3A34062-6275-9548-B49D-7C4E5FD4538A}"/>
              </a:ext>
            </a:extLst>
          </p:cNvPr>
          <p:cNvSpPr/>
          <p:nvPr/>
        </p:nvSpPr>
        <p:spPr>
          <a:xfrm>
            <a:off x="827584" y="5105137"/>
            <a:ext cx="6886524" cy="246221"/>
          </a:xfrm>
          <a:prstGeom prst="rect">
            <a:avLst/>
          </a:prstGeom>
        </p:spPr>
        <p:txBody>
          <a:bodyPr wrap="square">
            <a:spAutoFit/>
          </a:bodyPr>
          <a:lstStyle/>
          <a:p>
            <a:r>
              <a:rPr lang="zh-CN" altLang="en-US" sz="917" dirty="0"/>
              <a:t>* </a:t>
            </a:r>
            <a:r>
              <a:rPr lang="en-US" altLang="zh-CN" sz="917" dirty="0"/>
              <a:t>[LWN]</a:t>
            </a:r>
            <a:r>
              <a:rPr lang="zh-CN" altLang="en-US" sz="917" dirty="0"/>
              <a:t> </a:t>
            </a:r>
            <a:r>
              <a:rPr lang="en-US" altLang="zh-CN" sz="917" dirty="0"/>
              <a:t>Moving interrupts to threads,</a:t>
            </a:r>
            <a:r>
              <a:rPr lang="zh-CN" altLang="en-US" sz="917" dirty="0"/>
              <a:t> </a:t>
            </a:r>
            <a:r>
              <a:rPr lang="en" altLang="zh-CN" sz="1000" dirty="0">
                <a:hlinkClick r:id="rId2"/>
              </a:rPr>
              <a:t>https://lwn.net/Articles/302043/</a:t>
            </a:r>
            <a:endParaRPr lang="en-US" altLang="zh-CN" sz="917" dirty="0"/>
          </a:p>
        </p:txBody>
      </p:sp>
    </p:spTree>
    <p:extLst>
      <p:ext uri="{BB962C8B-B14F-4D97-AF65-F5344CB8AC3E}">
        <p14:creationId xmlns:p14="http://schemas.microsoft.com/office/powerpoint/2010/main" val="4160227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202F78-2823-A249-A97D-5E90AB2BFA2C}"/>
              </a:ext>
            </a:extLst>
          </p:cNvPr>
          <p:cNvSpPr>
            <a:spLocks noGrp="1"/>
          </p:cNvSpPr>
          <p:nvPr>
            <p:ph type="title"/>
          </p:nvPr>
        </p:nvSpPr>
        <p:spPr/>
        <p:txBody>
          <a:bodyPr/>
          <a:lstStyle/>
          <a:p>
            <a:r>
              <a:rPr kumimoji="1" lang="zh-CN" altLang="en-US" dirty="0"/>
              <a:t>总结</a:t>
            </a:r>
          </a:p>
        </p:txBody>
      </p:sp>
      <p:sp>
        <p:nvSpPr>
          <p:cNvPr id="4" name="灯片编号占位符 3">
            <a:extLst>
              <a:ext uri="{FF2B5EF4-FFF2-40B4-BE49-F238E27FC236}">
                <a16:creationId xmlns:a16="http://schemas.microsoft.com/office/drawing/2014/main" id="{9A6E99CB-0F86-4047-BFD1-EA9A23489AE1}"/>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页脚占位符 4">
            <a:extLst>
              <a:ext uri="{FF2B5EF4-FFF2-40B4-BE49-F238E27FC236}">
                <a16:creationId xmlns:a16="http://schemas.microsoft.com/office/drawing/2014/main" id="{881B9D34-4983-0248-B2B1-E91BFB38462B}"/>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graphicFrame>
        <p:nvGraphicFramePr>
          <p:cNvPr id="6" name="Group 182">
            <a:extLst>
              <a:ext uri="{FF2B5EF4-FFF2-40B4-BE49-F238E27FC236}">
                <a16:creationId xmlns:a16="http://schemas.microsoft.com/office/drawing/2014/main" id="{6286082A-0D21-6442-8E27-B0DF49596662}"/>
              </a:ext>
            </a:extLst>
          </p:cNvPr>
          <p:cNvGraphicFramePr>
            <a:graphicFrameLocks/>
          </p:cNvGraphicFramePr>
          <p:nvPr/>
        </p:nvGraphicFramePr>
        <p:xfrm>
          <a:off x="971600" y="1129308"/>
          <a:ext cx="7245424" cy="3810000"/>
        </p:xfrm>
        <a:graphic>
          <a:graphicData uri="http://schemas.openxmlformats.org/drawingml/2006/table">
            <a:tbl>
              <a:tblPr/>
              <a:tblGrid>
                <a:gridCol w="3240360">
                  <a:extLst>
                    <a:ext uri="{9D8B030D-6E8A-4147-A177-3AD203B41FA5}">
                      <a16:colId xmlns:a16="http://schemas.microsoft.com/office/drawing/2014/main" val="20000"/>
                    </a:ext>
                  </a:extLst>
                </a:gridCol>
                <a:gridCol w="692696">
                  <a:extLst>
                    <a:ext uri="{9D8B030D-6E8A-4147-A177-3AD203B41FA5}">
                      <a16:colId xmlns:a16="http://schemas.microsoft.com/office/drawing/2014/main" val="20001"/>
                    </a:ext>
                  </a:extLst>
                </a:gridCol>
                <a:gridCol w="783305">
                  <a:extLst>
                    <a:ext uri="{9D8B030D-6E8A-4147-A177-3AD203B41FA5}">
                      <a16:colId xmlns:a16="http://schemas.microsoft.com/office/drawing/2014/main" val="20002"/>
                    </a:ext>
                  </a:extLst>
                </a:gridCol>
                <a:gridCol w="683530">
                  <a:extLst>
                    <a:ext uri="{9D8B030D-6E8A-4147-A177-3AD203B41FA5}">
                      <a16:colId xmlns:a16="http://schemas.microsoft.com/office/drawing/2014/main" val="20003"/>
                    </a:ext>
                  </a:extLst>
                </a:gridCol>
                <a:gridCol w="1080829">
                  <a:extLst>
                    <a:ext uri="{9D8B030D-6E8A-4147-A177-3AD203B41FA5}">
                      <a16:colId xmlns:a16="http://schemas.microsoft.com/office/drawing/2014/main" val="20004"/>
                    </a:ext>
                  </a:extLst>
                </a:gridCol>
                <a:gridCol w="764704">
                  <a:extLst>
                    <a:ext uri="{9D8B030D-6E8A-4147-A177-3AD203B41FA5}">
                      <a16:colId xmlns:a16="http://schemas.microsoft.com/office/drawing/2014/main" val="20005"/>
                    </a:ext>
                  </a:extLst>
                </a:gridCol>
              </a:tblGrid>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特点</a:t>
                      </a: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ISR</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SoftIRQ</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Tasklet</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WorkQueue</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KThread</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禁用所有中断？</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Briefly</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禁用相同优先级的中断？</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比常规任务优先级更高？</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在相同处理器上运行？</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N/A</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Maybe</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允许在同一</a:t>
                      </a: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CPU</a:t>
                      </a: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上有多个实例同时运行？</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允许在多个</a:t>
                      </a: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CPU</a:t>
                      </a: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上运行同时多个相同实例？</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完整的模式切换？</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能否睡眠（拥有自己的内核栈）？</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Yes</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81000">
                <a:tc>
                  <a:txBody>
                    <a:bodyPr/>
                    <a:lstStyle/>
                    <a:p>
                      <a:pPr marL="0" marR="0" lvl="0" indent="0" algn="r"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zh-CN" altLang="en-US" sz="1200" b="0" i="0" u="none" strike="noStrike" cap="none" normalizeH="0" baseline="0" dirty="0">
                          <a:ln>
                            <a:noFill/>
                          </a:ln>
                          <a:solidFill>
                            <a:schemeClr val="tx1"/>
                          </a:solidFill>
                          <a:effectLst/>
                          <a:latin typeface="+mn-ea"/>
                          <a:ea typeface="+mn-ea"/>
                          <a:cs typeface="Arial" panose="020B0604020202090204" pitchFamily="34" charset="0"/>
                        </a:rPr>
                        <a:t>能否访问用户空间？</a:t>
                      </a:r>
                      <a:endPar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endParaRPr>
                    </a:p>
                  </a:txBody>
                  <a:tcPr marL="76200" marR="76200" marT="38100" marB="3810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tx2"/>
                        </a:buClr>
                        <a:buSzPct val="70000"/>
                        <a:buFont typeface="Wingdings" panose="05000000000000000000" charset="0"/>
                        <a:buNone/>
                      </a:pPr>
                      <a:r>
                        <a:rPr kumimoji="0" lang="en-US" altLang="zh-CN" sz="1200" b="0" i="0" u="none" strike="noStrike" cap="none" normalizeH="0" baseline="0" dirty="0">
                          <a:ln>
                            <a:noFill/>
                          </a:ln>
                          <a:solidFill>
                            <a:schemeClr val="tx1"/>
                          </a:solidFill>
                          <a:effectLst/>
                          <a:latin typeface="+mn-ea"/>
                          <a:ea typeface="+mn-ea"/>
                          <a:cs typeface="Arial" panose="020B0604020202090204" pitchFamily="34" charset="0"/>
                        </a:rPr>
                        <a:t>No</a:t>
                      </a:r>
                    </a:p>
                  </a:txBody>
                  <a:tcPr marL="76200" marR="76200" marT="38100" marB="3810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7" name="Text Box 166">
            <a:extLst>
              <a:ext uri="{FF2B5EF4-FFF2-40B4-BE49-F238E27FC236}">
                <a16:creationId xmlns:a16="http://schemas.microsoft.com/office/drawing/2014/main" id="{76381EC6-2CF3-4042-8D52-5E3F490E1DAF}"/>
              </a:ext>
            </a:extLst>
          </p:cNvPr>
          <p:cNvSpPr txBox="1">
            <a:spLocks noChangeArrowheads="1"/>
          </p:cNvSpPr>
          <p:nvPr/>
        </p:nvSpPr>
        <p:spPr bwMode="auto">
          <a:xfrm>
            <a:off x="6444208" y="4968859"/>
            <a:ext cx="1772816" cy="271934"/>
          </a:xfrm>
          <a:prstGeom prst="rect">
            <a:avLst/>
          </a:prstGeom>
          <a:noFill/>
          <a:ln>
            <a:noFill/>
          </a:ln>
          <a:effectLst/>
        </p:spPr>
        <p:txBody>
          <a:bodyPr wrap="square">
            <a:spAutoFit/>
          </a:bodyPr>
          <a:lstStyle/>
          <a:p>
            <a:r>
              <a:rPr lang="en-US" altLang="zh-CN" sz="1167" dirty="0"/>
              <a:t>*</a:t>
            </a:r>
            <a:r>
              <a:rPr lang="zh-CN" altLang="en-US" sz="1167" dirty="0"/>
              <a:t> 可以由 </a:t>
            </a:r>
            <a:r>
              <a:rPr lang="en-US" altLang="zh-CN" sz="1167" dirty="0" err="1"/>
              <a:t>ksoftirqd</a:t>
            </a:r>
            <a:r>
              <a:rPr lang="zh-CN" altLang="en-US" sz="1167" dirty="0"/>
              <a:t> 调度</a:t>
            </a:r>
            <a:endParaRPr lang="en-US" altLang="zh-CN" sz="1167" dirty="0"/>
          </a:p>
        </p:txBody>
      </p:sp>
    </p:spTree>
    <p:extLst>
      <p:ext uri="{BB962C8B-B14F-4D97-AF65-F5344CB8AC3E}">
        <p14:creationId xmlns:p14="http://schemas.microsoft.com/office/powerpoint/2010/main" val="4191224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49774A9-902F-BC45-A774-224984DD235A}"/>
              </a:ext>
            </a:extLst>
          </p:cNvPr>
          <p:cNvSpPr>
            <a:spLocks noGrp="1"/>
          </p:cNvSpPr>
          <p:nvPr>
            <p:ph type="title"/>
          </p:nvPr>
        </p:nvSpPr>
        <p:spPr/>
        <p:txBody>
          <a:bodyPr/>
          <a:lstStyle/>
          <a:p>
            <a:r>
              <a:rPr lang="zh-CN" altLang="en-US" dirty="0"/>
              <a:t>操作系统的网络</a:t>
            </a:r>
          </a:p>
        </p:txBody>
      </p:sp>
      <p:sp>
        <p:nvSpPr>
          <p:cNvPr id="7" name="文本占位符 6">
            <a:extLst>
              <a:ext uri="{FF2B5EF4-FFF2-40B4-BE49-F238E27FC236}">
                <a16:creationId xmlns:a16="http://schemas.microsoft.com/office/drawing/2014/main" id="{EEB69391-FECB-0848-8BFF-111FD1FD166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BAC34A6-3680-2C4C-B7BD-420B98D7A65C}"/>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DD2F5A6E-F201-2A42-82C7-405B02C2D3F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5931318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网络协议栈的分层模型</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矩形 7"/>
          <p:cNvSpPr/>
          <p:nvPr/>
        </p:nvSpPr>
        <p:spPr>
          <a:xfrm>
            <a:off x="1907704" y="3575801"/>
            <a:ext cx="2774203"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数据链路层</a:t>
            </a:r>
          </a:p>
        </p:txBody>
      </p:sp>
      <p:sp>
        <p:nvSpPr>
          <p:cNvPr id="9" name="矩形 8"/>
          <p:cNvSpPr/>
          <p:nvPr/>
        </p:nvSpPr>
        <p:spPr>
          <a:xfrm>
            <a:off x="1907706" y="4323081"/>
            <a:ext cx="2774203"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物理层</a:t>
            </a:r>
          </a:p>
        </p:txBody>
      </p:sp>
      <p:sp>
        <p:nvSpPr>
          <p:cNvPr id="10" name="矩形 9"/>
          <p:cNvSpPr/>
          <p:nvPr/>
        </p:nvSpPr>
        <p:spPr>
          <a:xfrm>
            <a:off x="1907704" y="3012259"/>
            <a:ext cx="2774203"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网络层</a:t>
            </a:r>
          </a:p>
        </p:txBody>
      </p:sp>
      <p:sp>
        <p:nvSpPr>
          <p:cNvPr id="11" name="矩形 10"/>
          <p:cNvSpPr/>
          <p:nvPr/>
        </p:nvSpPr>
        <p:spPr>
          <a:xfrm>
            <a:off x="1907704" y="2425452"/>
            <a:ext cx="2774203"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传输层</a:t>
            </a:r>
          </a:p>
        </p:txBody>
      </p:sp>
      <p:sp>
        <p:nvSpPr>
          <p:cNvPr id="12" name="矩形 11"/>
          <p:cNvSpPr/>
          <p:nvPr/>
        </p:nvSpPr>
        <p:spPr>
          <a:xfrm>
            <a:off x="1907704" y="1777380"/>
            <a:ext cx="2774203"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应用层</a:t>
            </a:r>
          </a:p>
        </p:txBody>
      </p:sp>
      <p:sp>
        <p:nvSpPr>
          <p:cNvPr id="13" name="文本框 12"/>
          <p:cNvSpPr txBox="1"/>
          <p:nvPr/>
        </p:nvSpPr>
        <p:spPr>
          <a:xfrm>
            <a:off x="5118281" y="3575716"/>
            <a:ext cx="1415772"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网络设备驱动</a:t>
            </a:r>
            <a:endParaRPr kumimoji="1" lang="en-US" altLang="zh-CN" sz="1600" b="1" dirty="0">
              <a:latin typeface="DengXian" panose="02010600030101010101" pitchFamily="2" charset="-122"/>
              <a:ea typeface="DengXian" panose="02010600030101010101" pitchFamily="2" charset="-122"/>
            </a:endParaRPr>
          </a:p>
        </p:txBody>
      </p:sp>
      <p:sp>
        <p:nvSpPr>
          <p:cNvPr id="16" name="文本框 15"/>
          <p:cNvSpPr txBox="1"/>
          <p:nvPr/>
        </p:nvSpPr>
        <p:spPr>
          <a:xfrm>
            <a:off x="5118281" y="4353258"/>
            <a:ext cx="1005403"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网络设备</a:t>
            </a:r>
            <a:endParaRPr kumimoji="1" lang="en-US" altLang="zh-CN" sz="1600" b="1" dirty="0">
              <a:latin typeface="DengXian" panose="02010600030101010101" pitchFamily="2" charset="-122"/>
              <a:ea typeface="DengXian" panose="02010600030101010101" pitchFamily="2" charset="-122"/>
            </a:endParaRPr>
          </a:p>
        </p:txBody>
      </p:sp>
      <p:sp>
        <p:nvSpPr>
          <p:cNvPr id="17" name="文本框 16"/>
          <p:cNvSpPr txBox="1"/>
          <p:nvPr/>
        </p:nvSpPr>
        <p:spPr>
          <a:xfrm>
            <a:off x="5118281" y="3067674"/>
            <a:ext cx="1864613"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IP</a:t>
            </a:r>
            <a:r>
              <a:rPr kumimoji="1" lang="zh-CN" altLang="en-US" sz="1600" b="1" dirty="0">
                <a:latin typeface="DengXian" panose="02010600030101010101" pitchFamily="2" charset="-122"/>
                <a:ea typeface="DengXian" panose="02010600030101010101" pitchFamily="2" charset="-122"/>
              </a:rPr>
              <a:t>协议：主机地址</a:t>
            </a:r>
            <a:endParaRPr kumimoji="1" lang="en-US" altLang="zh-CN" sz="1600" b="1" dirty="0">
              <a:latin typeface="DengXian" panose="02010600030101010101" pitchFamily="2" charset="-122"/>
              <a:ea typeface="DengXian" panose="02010600030101010101" pitchFamily="2" charset="-122"/>
            </a:endParaRPr>
          </a:p>
        </p:txBody>
      </p:sp>
      <p:sp>
        <p:nvSpPr>
          <p:cNvPr id="18" name="文本框 17"/>
          <p:cNvSpPr txBox="1"/>
          <p:nvPr/>
        </p:nvSpPr>
        <p:spPr>
          <a:xfrm>
            <a:off x="5118281" y="2435453"/>
            <a:ext cx="2190023"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TCP</a:t>
            </a:r>
            <a:r>
              <a:rPr kumimoji="1" lang="zh-CN" altLang="en-US" sz="1600" b="1" dirty="0">
                <a:latin typeface="DengXian" panose="02010600030101010101" pitchFamily="2" charset="-122"/>
                <a:ea typeface="DengXian" panose="02010600030101010101" pitchFamily="2" charset="-122"/>
              </a:rPr>
              <a:t>或</a:t>
            </a:r>
            <a:r>
              <a:rPr kumimoji="1" lang="en-US" altLang="zh-CN" sz="1600" b="1" dirty="0">
                <a:latin typeface="DengXian" panose="02010600030101010101" pitchFamily="2" charset="-122"/>
                <a:ea typeface="DengXian" panose="02010600030101010101" pitchFamily="2" charset="-122"/>
              </a:rPr>
              <a:t>UDP</a:t>
            </a:r>
            <a:r>
              <a:rPr kumimoji="1" lang="zh-CN" altLang="en-US" sz="1600" b="1" dirty="0">
                <a:latin typeface="DengXian" panose="02010600030101010101" pitchFamily="2" charset="-122"/>
                <a:ea typeface="DengXian" panose="02010600030101010101" pitchFamily="2" charset="-122"/>
              </a:rPr>
              <a:t>协议：端口</a:t>
            </a:r>
            <a:endParaRPr kumimoji="1" lang="en-US" altLang="zh-CN" sz="1600" b="1" dirty="0">
              <a:latin typeface="DengXian" panose="02010600030101010101" pitchFamily="2" charset="-122"/>
              <a:ea typeface="DengXian" panose="02010600030101010101" pitchFamily="2" charset="-122"/>
            </a:endParaRPr>
          </a:p>
        </p:txBody>
      </p:sp>
      <p:pic>
        <p:nvPicPr>
          <p:cNvPr id="19" name="图片 1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326577" y="4221324"/>
            <a:ext cx="1083444" cy="719407"/>
          </a:xfrm>
          <a:prstGeom prst="rect">
            <a:avLst/>
          </a:prstGeom>
        </p:spPr>
      </p:pic>
      <p:sp>
        <p:nvSpPr>
          <p:cNvPr id="20" name="文本框 19"/>
          <p:cNvSpPr txBox="1"/>
          <p:nvPr/>
        </p:nvSpPr>
        <p:spPr>
          <a:xfrm>
            <a:off x="1436228" y="2435453"/>
            <a:ext cx="399468"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L4</a:t>
            </a:r>
          </a:p>
        </p:txBody>
      </p:sp>
      <p:sp>
        <p:nvSpPr>
          <p:cNvPr id="21" name="文本框 20"/>
          <p:cNvSpPr txBox="1"/>
          <p:nvPr/>
        </p:nvSpPr>
        <p:spPr>
          <a:xfrm>
            <a:off x="1436228" y="3043858"/>
            <a:ext cx="399468"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L3</a:t>
            </a:r>
          </a:p>
        </p:txBody>
      </p:sp>
      <p:sp>
        <p:nvSpPr>
          <p:cNvPr id="22" name="文本框 21"/>
          <p:cNvSpPr txBox="1"/>
          <p:nvPr/>
        </p:nvSpPr>
        <p:spPr>
          <a:xfrm>
            <a:off x="1436228" y="3575716"/>
            <a:ext cx="399468"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L2</a:t>
            </a:r>
          </a:p>
        </p:txBody>
      </p:sp>
      <p:sp>
        <p:nvSpPr>
          <p:cNvPr id="23" name="文本框 22"/>
          <p:cNvSpPr txBox="1"/>
          <p:nvPr/>
        </p:nvSpPr>
        <p:spPr>
          <a:xfrm>
            <a:off x="5118281" y="1780789"/>
            <a:ext cx="2031325"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游戏进程或聊天进程</a:t>
            </a:r>
            <a:endParaRPr kumimoji="1" lang="en-US" altLang="zh-CN" sz="1600" b="1" dirty="0">
              <a:latin typeface="DengXian" panose="02010600030101010101" pitchFamily="2" charset="-122"/>
              <a:ea typeface="DengXian"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p:nvPr/>
        </p:nvSpPr>
        <p:spPr>
          <a:xfrm>
            <a:off x="1113566" y="1241557"/>
            <a:ext cx="4392488" cy="660094"/>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7" name="矩形 16"/>
          <p:cNvSpPr/>
          <p:nvPr/>
        </p:nvSpPr>
        <p:spPr>
          <a:xfrm>
            <a:off x="1113566" y="4425661"/>
            <a:ext cx="4392488" cy="701664"/>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6" name="矩形 15"/>
          <p:cNvSpPr/>
          <p:nvPr/>
        </p:nvSpPr>
        <p:spPr>
          <a:xfrm>
            <a:off x="1113566" y="3443019"/>
            <a:ext cx="4392488" cy="98264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5" name="矩形 14"/>
          <p:cNvSpPr/>
          <p:nvPr/>
        </p:nvSpPr>
        <p:spPr>
          <a:xfrm>
            <a:off x="1114591" y="2769478"/>
            <a:ext cx="4392488" cy="660094"/>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4" name="矩形 13"/>
          <p:cNvSpPr/>
          <p:nvPr/>
        </p:nvSpPr>
        <p:spPr>
          <a:xfrm>
            <a:off x="1115616" y="1898176"/>
            <a:ext cx="4392488" cy="887315"/>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 name="标题 1"/>
          <p:cNvSpPr>
            <a:spLocks noGrp="1"/>
          </p:cNvSpPr>
          <p:nvPr>
            <p:ph type="title"/>
          </p:nvPr>
        </p:nvSpPr>
        <p:spPr/>
        <p:txBody>
          <a:bodyPr/>
          <a:lstStyle/>
          <a:p>
            <a:r>
              <a:rPr kumimoji="1" lang="en-US" altLang="zh-CN" dirty="0"/>
              <a:t>Linux</a:t>
            </a:r>
            <a:r>
              <a:rPr kumimoji="1" lang="zh-CN" altLang="en-US" dirty="0"/>
              <a:t>网络驱动模型</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p:cNvSpPr/>
          <p:nvPr/>
        </p:nvSpPr>
        <p:spPr>
          <a:xfrm>
            <a:off x="1257582" y="4604108"/>
            <a:ext cx="4106506" cy="3618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网络设备</a:t>
            </a:r>
          </a:p>
        </p:txBody>
      </p:sp>
      <p:sp>
        <p:nvSpPr>
          <p:cNvPr id="7" name="矩形 6"/>
          <p:cNvSpPr/>
          <p:nvPr/>
        </p:nvSpPr>
        <p:spPr>
          <a:xfrm>
            <a:off x="3491880" y="3656793"/>
            <a:ext cx="1872208" cy="5904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RX</a:t>
            </a:r>
          </a:p>
          <a:p>
            <a:pPr algn="ctr"/>
            <a:r>
              <a:rPr kumimoji="1" lang="zh-CN" altLang="en-US" sz="1600" dirty="0">
                <a:solidFill>
                  <a:schemeClr val="tx1"/>
                </a:solidFill>
                <a:latin typeface="DengXian" panose="02010600030101010101" pitchFamily="2" charset="-122"/>
                <a:ea typeface="DengXian" panose="02010600030101010101" pitchFamily="2" charset="-122"/>
              </a:rPr>
              <a:t>中断处理</a:t>
            </a:r>
          </a:p>
        </p:txBody>
      </p:sp>
      <p:sp>
        <p:nvSpPr>
          <p:cNvPr id="8" name="矩形 7"/>
          <p:cNvSpPr/>
          <p:nvPr/>
        </p:nvSpPr>
        <p:spPr>
          <a:xfrm>
            <a:off x="1259632" y="3656793"/>
            <a:ext cx="1872208" cy="590421"/>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1600" dirty="0">
                <a:solidFill>
                  <a:schemeClr val="tx1"/>
                </a:solidFill>
                <a:latin typeface="DengXian" panose="02010600030101010101" pitchFamily="2" charset="-122"/>
                <a:ea typeface="DengXian" panose="02010600030101010101" pitchFamily="2" charset="-122"/>
              </a:rPr>
              <a:t>数据包发送</a:t>
            </a:r>
            <a:endParaRPr kumimoji="1" lang="en-US" altLang="zh-CN" sz="1600" dirty="0">
              <a:solidFill>
                <a:schemeClr val="tx1"/>
              </a:solidFill>
              <a:latin typeface="DengXian" panose="02010600030101010101" pitchFamily="2" charset="-122"/>
              <a:ea typeface="DengXian" panose="02010600030101010101" pitchFamily="2" charset="-122"/>
            </a:endParaRPr>
          </a:p>
          <a:p>
            <a:pPr algn="ctr"/>
            <a:r>
              <a:rPr kumimoji="1" lang="en-US" altLang="zh-CN" sz="1600" dirty="0" err="1">
                <a:solidFill>
                  <a:schemeClr val="tx1"/>
                </a:solidFill>
                <a:latin typeface="DengXian" panose="02010600030101010101" pitchFamily="2" charset="-122"/>
                <a:ea typeface="DengXian" panose="02010600030101010101" pitchFamily="2" charset="-122"/>
              </a:rPr>
              <a:t>ndo_start_xmit</a:t>
            </a:r>
            <a:r>
              <a:rPr kumimoji="1" lang="en-US" altLang="zh-CN" sz="1600" dirty="0">
                <a:solidFill>
                  <a:schemeClr val="tx1"/>
                </a:solidFill>
                <a:latin typeface="DengXian" panose="02010600030101010101" pitchFamily="2" charset="-122"/>
                <a:ea typeface="DengXian" panose="02010600030101010101" pitchFamily="2" charset="-122"/>
              </a:rPr>
              <a:t>()</a:t>
            </a:r>
          </a:p>
        </p:txBody>
      </p:sp>
      <p:sp>
        <p:nvSpPr>
          <p:cNvPr id="9" name="矩形 8"/>
          <p:cNvSpPr/>
          <p:nvPr/>
        </p:nvSpPr>
        <p:spPr>
          <a:xfrm>
            <a:off x="1257582" y="2906691"/>
            <a:ext cx="4104456" cy="3618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struct</a:t>
            </a:r>
            <a:r>
              <a:rPr kumimoji="1" lang="zh-CN" altLang="en-US" sz="1600" dirty="0">
                <a:solidFill>
                  <a:schemeClr val="tx1"/>
                </a:solidFill>
                <a:latin typeface="DengXian" panose="02010600030101010101" pitchFamily="2" charset="-122"/>
                <a:ea typeface="DengXian" panose="02010600030101010101" pitchFamily="2" charset="-122"/>
              </a:rPr>
              <a:t> </a:t>
            </a:r>
            <a:r>
              <a:rPr kumimoji="1" lang="en-US" altLang="zh-CN" sz="1600" dirty="0" err="1">
                <a:solidFill>
                  <a:schemeClr val="tx1"/>
                </a:solidFill>
                <a:latin typeface="DengXian" panose="02010600030101010101" pitchFamily="2" charset="-122"/>
                <a:ea typeface="DengXian" panose="02010600030101010101" pitchFamily="2" charset="-122"/>
              </a:rPr>
              <a:t>net_device</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3491880" y="2069975"/>
            <a:ext cx="1872208" cy="5962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1600" dirty="0">
                <a:solidFill>
                  <a:schemeClr val="tx1"/>
                </a:solidFill>
                <a:latin typeface="DengXian" panose="02010600030101010101" pitchFamily="2" charset="-122"/>
                <a:ea typeface="DengXian" panose="02010600030101010101" pitchFamily="2" charset="-122"/>
              </a:rPr>
              <a:t>数据包接收</a:t>
            </a:r>
            <a:endParaRPr kumimoji="1" lang="en-US" altLang="zh-CN" sz="1600" dirty="0">
              <a:solidFill>
                <a:schemeClr val="tx1"/>
              </a:solidFill>
              <a:latin typeface="DengXian" panose="02010600030101010101" pitchFamily="2" charset="-122"/>
              <a:ea typeface="DengXian" panose="02010600030101010101" pitchFamily="2" charset="-122"/>
            </a:endParaRPr>
          </a:p>
          <a:p>
            <a:pPr algn="ctr"/>
            <a:r>
              <a:rPr kumimoji="1" lang="en-US" altLang="zh-CN" sz="1600" dirty="0" err="1">
                <a:solidFill>
                  <a:schemeClr val="tx1"/>
                </a:solidFill>
                <a:latin typeface="DengXian" panose="02010600030101010101" pitchFamily="2" charset="-122"/>
                <a:ea typeface="DengXian" panose="02010600030101010101" pitchFamily="2" charset="-122"/>
              </a:rPr>
              <a:t>netif_rx</a:t>
            </a:r>
            <a:r>
              <a:rPr kumimoji="1" lang="en-US" altLang="zh-CN" sz="1600" dirty="0">
                <a:solidFill>
                  <a:schemeClr val="tx1"/>
                </a:solidFill>
                <a:latin typeface="DengXian" panose="02010600030101010101" pitchFamily="2" charset="-122"/>
                <a:ea typeface="DengXian" panose="02010600030101010101" pitchFamily="2" charset="-122"/>
              </a:rPr>
              <a:t>()</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11" name="矩形 10"/>
          <p:cNvSpPr/>
          <p:nvPr/>
        </p:nvSpPr>
        <p:spPr>
          <a:xfrm>
            <a:off x="1259632" y="2061085"/>
            <a:ext cx="1872208" cy="59624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1600" dirty="0">
                <a:solidFill>
                  <a:schemeClr val="tx1"/>
                </a:solidFill>
                <a:latin typeface="DengXian" panose="02010600030101010101" pitchFamily="2" charset="-122"/>
                <a:ea typeface="DengXian" panose="02010600030101010101" pitchFamily="2" charset="-122"/>
              </a:rPr>
              <a:t>数据包接收</a:t>
            </a:r>
            <a:endParaRPr kumimoji="1" lang="en-US" altLang="zh-CN" sz="1600" dirty="0">
              <a:solidFill>
                <a:schemeClr val="tx1"/>
              </a:solidFill>
              <a:latin typeface="DengXian" panose="02010600030101010101" pitchFamily="2" charset="-122"/>
              <a:ea typeface="DengXian" panose="02010600030101010101" pitchFamily="2" charset="-122"/>
            </a:endParaRPr>
          </a:p>
          <a:p>
            <a:pPr algn="ctr"/>
            <a:r>
              <a:rPr kumimoji="1" lang="en-US" altLang="zh-CN" sz="1600" dirty="0" err="1">
                <a:solidFill>
                  <a:schemeClr val="tx1"/>
                </a:solidFill>
                <a:latin typeface="DengXian" panose="02010600030101010101" pitchFamily="2" charset="-122"/>
                <a:ea typeface="DengXian" panose="02010600030101010101" pitchFamily="2" charset="-122"/>
              </a:rPr>
              <a:t>dev_queue_xmit</a:t>
            </a:r>
            <a:r>
              <a:rPr kumimoji="1" lang="en-US" altLang="zh-CN" sz="1600" dirty="0">
                <a:solidFill>
                  <a:schemeClr val="tx1"/>
                </a:solidFill>
                <a:latin typeface="DengXian" panose="02010600030101010101" pitchFamily="2" charset="-122"/>
                <a:ea typeface="DengXian" panose="02010600030101010101" pitchFamily="2" charset="-122"/>
              </a:rPr>
              <a:t>()</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18" name="文本框 17"/>
          <p:cNvSpPr txBox="1"/>
          <p:nvPr/>
        </p:nvSpPr>
        <p:spPr>
          <a:xfrm>
            <a:off x="5687347" y="2198821"/>
            <a:ext cx="1620957"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网络协议接口层</a:t>
            </a:r>
            <a:endParaRPr kumimoji="1" lang="en-US" altLang="zh-CN" sz="1600" b="1" dirty="0">
              <a:latin typeface="DengXian" panose="02010600030101010101" pitchFamily="2" charset="-122"/>
              <a:ea typeface="DengXian" panose="02010600030101010101" pitchFamily="2" charset="-122"/>
            </a:endParaRPr>
          </a:p>
        </p:txBody>
      </p:sp>
      <p:sp>
        <p:nvSpPr>
          <p:cNvPr id="19" name="文本框 18"/>
          <p:cNvSpPr txBox="1"/>
          <p:nvPr/>
        </p:nvSpPr>
        <p:spPr>
          <a:xfrm>
            <a:off x="5687347" y="2910844"/>
            <a:ext cx="1620957"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网络设备接口层</a:t>
            </a:r>
            <a:endParaRPr kumimoji="1" lang="en-US" altLang="zh-CN" sz="1600" b="1" dirty="0">
              <a:latin typeface="DengXian" panose="02010600030101010101" pitchFamily="2" charset="-122"/>
              <a:ea typeface="DengXian" panose="02010600030101010101" pitchFamily="2" charset="-122"/>
            </a:endParaRPr>
          </a:p>
        </p:txBody>
      </p:sp>
      <p:sp>
        <p:nvSpPr>
          <p:cNvPr id="20" name="矩形 19"/>
          <p:cNvSpPr/>
          <p:nvPr/>
        </p:nvSpPr>
        <p:spPr>
          <a:xfrm>
            <a:off x="1257582" y="1397745"/>
            <a:ext cx="4104456" cy="3618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sz="1600" dirty="0">
                <a:solidFill>
                  <a:schemeClr val="tx1"/>
                </a:solidFill>
                <a:latin typeface="DengXian" panose="02010600030101010101" pitchFamily="2" charset="-122"/>
                <a:ea typeface="DengXian" panose="02010600030101010101" pitchFamily="2" charset="-122"/>
              </a:rPr>
              <a:t>网络协议栈</a:t>
            </a:r>
          </a:p>
        </p:txBody>
      </p:sp>
      <p:sp>
        <p:nvSpPr>
          <p:cNvPr id="22" name="文本框 21"/>
          <p:cNvSpPr txBox="1"/>
          <p:nvPr/>
        </p:nvSpPr>
        <p:spPr>
          <a:xfrm>
            <a:off x="5687347" y="3850279"/>
            <a:ext cx="1210588"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设备驱动层</a:t>
            </a:r>
            <a:endParaRPr kumimoji="1" lang="en-US" altLang="zh-CN" sz="1600" b="1" dirty="0">
              <a:latin typeface="DengXian" panose="02010600030101010101" pitchFamily="2" charset="-122"/>
              <a:ea typeface="DengXian" panose="02010600030101010101" pitchFamily="2" charset="-122"/>
            </a:endParaRPr>
          </a:p>
        </p:txBody>
      </p:sp>
      <p:sp>
        <p:nvSpPr>
          <p:cNvPr id="23" name="文本框 22"/>
          <p:cNvSpPr txBox="1"/>
          <p:nvPr/>
        </p:nvSpPr>
        <p:spPr>
          <a:xfrm>
            <a:off x="5687347" y="4584939"/>
            <a:ext cx="800219"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物理层</a:t>
            </a:r>
            <a:endParaRPr kumimoji="1" lang="en-US" altLang="zh-CN" sz="1600" b="1" dirty="0">
              <a:latin typeface="DengXian" panose="02010600030101010101" pitchFamily="2" charset="-122"/>
              <a:ea typeface="DengXian" panose="02010600030101010101" pitchFamily="2" charset="-122"/>
            </a:endParaRPr>
          </a:p>
        </p:txBody>
      </p:sp>
      <p:cxnSp>
        <p:nvCxnSpPr>
          <p:cNvPr id="25" name="直线箭头连接符 24"/>
          <p:cNvCxnSpPr>
            <a:endCxn id="7" idx="2"/>
          </p:cNvCxnSpPr>
          <p:nvPr/>
        </p:nvCxnSpPr>
        <p:spPr>
          <a:xfrm flipV="1">
            <a:off x="4427984" y="4247214"/>
            <a:ext cx="0" cy="35689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7" name="直线箭头连接符 26"/>
          <p:cNvCxnSpPr>
            <a:stCxn id="7" idx="0"/>
          </p:cNvCxnSpPr>
          <p:nvPr/>
        </p:nvCxnSpPr>
        <p:spPr>
          <a:xfrm flipV="1">
            <a:off x="4427984" y="3249398"/>
            <a:ext cx="0" cy="407395"/>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29" name="直线箭头连接符 28"/>
          <p:cNvCxnSpPr>
            <a:endCxn id="10" idx="2"/>
          </p:cNvCxnSpPr>
          <p:nvPr/>
        </p:nvCxnSpPr>
        <p:spPr>
          <a:xfrm flipV="1">
            <a:off x="4427984" y="2666222"/>
            <a:ext cx="0" cy="24046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1" name="直线箭头连接符 30"/>
          <p:cNvCxnSpPr>
            <a:stCxn id="10" idx="0"/>
          </p:cNvCxnSpPr>
          <p:nvPr/>
        </p:nvCxnSpPr>
        <p:spPr>
          <a:xfrm flipV="1">
            <a:off x="4427984" y="1759564"/>
            <a:ext cx="0" cy="31041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3" name="直线箭头连接符 32"/>
          <p:cNvCxnSpPr>
            <a:endCxn id="11" idx="0"/>
          </p:cNvCxnSpPr>
          <p:nvPr/>
        </p:nvCxnSpPr>
        <p:spPr>
          <a:xfrm>
            <a:off x="2195736" y="1759564"/>
            <a:ext cx="0" cy="301521"/>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5" name="直线箭头连接符 34"/>
          <p:cNvCxnSpPr>
            <a:stCxn id="11" idx="2"/>
          </p:cNvCxnSpPr>
          <p:nvPr/>
        </p:nvCxnSpPr>
        <p:spPr>
          <a:xfrm>
            <a:off x="2195736" y="2657332"/>
            <a:ext cx="0" cy="249359"/>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7" name="直线箭头连接符 36"/>
          <p:cNvCxnSpPr>
            <a:endCxn id="8" idx="0"/>
          </p:cNvCxnSpPr>
          <p:nvPr/>
        </p:nvCxnSpPr>
        <p:spPr>
          <a:xfrm>
            <a:off x="2195736" y="3268510"/>
            <a:ext cx="0" cy="388283"/>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cxnSp>
        <p:nvCxnSpPr>
          <p:cNvPr id="39" name="直线箭头连接符 38"/>
          <p:cNvCxnSpPr>
            <a:stCxn id="8" idx="2"/>
          </p:cNvCxnSpPr>
          <p:nvPr/>
        </p:nvCxnSpPr>
        <p:spPr>
          <a:xfrm>
            <a:off x="2195736" y="4247214"/>
            <a:ext cx="0" cy="356894"/>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46CC12-B2EC-AE41-92C3-92C70328BA22}"/>
              </a:ext>
            </a:extLst>
          </p:cNvPr>
          <p:cNvSpPr>
            <a:spLocks noGrp="1"/>
          </p:cNvSpPr>
          <p:nvPr>
            <p:ph type="title"/>
          </p:nvPr>
        </p:nvSpPr>
        <p:spPr/>
        <p:txBody>
          <a:bodyPr/>
          <a:lstStyle/>
          <a:p>
            <a:r>
              <a:rPr kumimoji="1" lang="zh-CN" altLang="en-US" dirty="0"/>
              <a:t>中断合并</a:t>
            </a:r>
          </a:p>
        </p:txBody>
      </p:sp>
      <p:sp>
        <p:nvSpPr>
          <p:cNvPr id="3" name="内容占位符 2">
            <a:extLst>
              <a:ext uri="{FF2B5EF4-FFF2-40B4-BE49-F238E27FC236}">
                <a16:creationId xmlns:a16="http://schemas.microsoft.com/office/drawing/2014/main" id="{5A1ED5D0-6F45-0048-95DB-883726E6B068}"/>
              </a:ext>
            </a:extLst>
          </p:cNvPr>
          <p:cNvSpPr>
            <a:spLocks noGrp="1"/>
          </p:cNvSpPr>
          <p:nvPr>
            <p:ph idx="1"/>
          </p:nvPr>
        </p:nvSpPr>
        <p:spPr/>
        <p:txBody>
          <a:bodyPr/>
          <a:lstStyle/>
          <a:p>
            <a:r>
              <a:rPr kumimoji="1" lang="en" altLang="zh-CN" dirty="0"/>
              <a:t>Interrupt coalescing</a:t>
            </a:r>
          </a:p>
          <a:p>
            <a:pPr lvl="1"/>
            <a:r>
              <a:rPr kumimoji="1" lang="zh-CN" altLang="en" dirty="0"/>
              <a:t>当</a:t>
            </a:r>
            <a:r>
              <a:rPr kumimoji="1" lang="zh-CN" altLang="en-US" dirty="0"/>
              <a:t>外设中断次数累计到一定阈值时，再向</a:t>
            </a:r>
            <a:r>
              <a:rPr kumimoji="1" lang="en-US" altLang="zh-CN" dirty="0"/>
              <a:t>CPU</a:t>
            </a:r>
            <a:r>
              <a:rPr kumimoji="1" lang="zh-CN" altLang="en-US" dirty="0"/>
              <a:t>发送中断</a:t>
            </a:r>
            <a:endParaRPr kumimoji="1" lang="en-US" altLang="zh-CN" dirty="0"/>
          </a:p>
          <a:p>
            <a:pPr lvl="1"/>
            <a:r>
              <a:rPr kumimoji="1" lang="zh-CN" altLang="en-US" dirty="0"/>
              <a:t>或者到某个</a:t>
            </a:r>
            <a:r>
              <a:rPr kumimoji="1" lang="en-US" altLang="zh-CN" dirty="0"/>
              <a:t>timeout</a:t>
            </a:r>
            <a:r>
              <a:rPr kumimoji="1" lang="zh-CN" altLang="en-US" dirty="0"/>
              <a:t>，向</a:t>
            </a:r>
            <a:r>
              <a:rPr kumimoji="1" lang="en-US" altLang="zh-CN" dirty="0"/>
              <a:t>CPU</a:t>
            </a:r>
            <a:r>
              <a:rPr kumimoji="1" lang="zh-CN" altLang="en-US" dirty="0"/>
              <a:t>发送中断</a:t>
            </a:r>
            <a:endParaRPr kumimoji="1" lang="en-US" altLang="zh-CN" dirty="0"/>
          </a:p>
          <a:p>
            <a:r>
              <a:rPr kumimoji="1" lang="zh-CN" altLang="en-US" dirty="0"/>
              <a:t>可避免“中断风暴”</a:t>
            </a:r>
            <a:endParaRPr kumimoji="1" lang="en-US" altLang="zh-CN" dirty="0"/>
          </a:p>
          <a:p>
            <a:r>
              <a:rPr kumimoji="1" lang="zh-CN" altLang="en-US" dirty="0"/>
              <a:t>更少的中断次数意味着：</a:t>
            </a:r>
            <a:endParaRPr kumimoji="1" lang="en-US" altLang="zh-CN" dirty="0"/>
          </a:p>
          <a:p>
            <a:pPr lvl="1"/>
            <a:r>
              <a:rPr kumimoji="1" lang="zh-CN" altLang="en-US" dirty="0"/>
              <a:t>更高的吞吐量</a:t>
            </a:r>
            <a:endParaRPr kumimoji="1" lang="en-US" altLang="zh-CN" dirty="0"/>
          </a:p>
          <a:p>
            <a:pPr lvl="1"/>
            <a:r>
              <a:rPr kumimoji="1" lang="zh-CN" altLang="en-US" dirty="0"/>
              <a:t>但也增加了中断响应的延迟</a:t>
            </a:r>
          </a:p>
        </p:txBody>
      </p:sp>
      <p:sp>
        <p:nvSpPr>
          <p:cNvPr id="4" name="灯片编号占位符 3">
            <a:extLst>
              <a:ext uri="{FF2B5EF4-FFF2-40B4-BE49-F238E27FC236}">
                <a16:creationId xmlns:a16="http://schemas.microsoft.com/office/drawing/2014/main" id="{7195FF06-EFD5-3743-82A0-686CFA1F4CF2}"/>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页脚占位符 4">
            <a:extLst>
              <a:ext uri="{FF2B5EF4-FFF2-40B4-BE49-F238E27FC236}">
                <a16:creationId xmlns:a16="http://schemas.microsoft.com/office/drawing/2014/main" id="{F110F734-9337-8D40-9E12-A20BE1D1500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597296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7714976" y="1558814"/>
            <a:ext cx="720080" cy="2172261"/>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5" name="矩形 14"/>
          <p:cNvSpPr/>
          <p:nvPr/>
        </p:nvSpPr>
        <p:spPr>
          <a:xfrm>
            <a:off x="6750256" y="1558814"/>
            <a:ext cx="720080" cy="2172261"/>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 name="标题 1"/>
          <p:cNvSpPr>
            <a:spLocks noGrp="1"/>
          </p:cNvSpPr>
          <p:nvPr>
            <p:ph type="title"/>
          </p:nvPr>
        </p:nvSpPr>
        <p:spPr/>
        <p:txBody>
          <a:bodyPr/>
          <a:lstStyle/>
          <a:p>
            <a:r>
              <a:rPr kumimoji="1" lang="zh-CN" altLang="en-US" dirty="0"/>
              <a:t>架构对比</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p:cNvSpPr/>
          <p:nvPr/>
        </p:nvSpPr>
        <p:spPr>
          <a:xfrm>
            <a:off x="971600" y="4007089"/>
            <a:ext cx="1684800" cy="361819"/>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网卡</a:t>
            </a:r>
          </a:p>
        </p:txBody>
      </p:sp>
      <p:sp>
        <p:nvSpPr>
          <p:cNvPr id="7" name="矩形 6"/>
          <p:cNvSpPr/>
          <p:nvPr/>
        </p:nvSpPr>
        <p:spPr>
          <a:xfrm>
            <a:off x="6750256" y="4003069"/>
            <a:ext cx="1684800" cy="361819"/>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网卡</a:t>
            </a:r>
          </a:p>
        </p:txBody>
      </p:sp>
      <p:sp>
        <p:nvSpPr>
          <p:cNvPr id="8" name="矩形 7"/>
          <p:cNvSpPr/>
          <p:nvPr/>
        </p:nvSpPr>
        <p:spPr>
          <a:xfrm>
            <a:off x="3707904" y="4007849"/>
            <a:ext cx="2116848" cy="361819"/>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网卡</a:t>
            </a:r>
          </a:p>
        </p:txBody>
      </p:sp>
      <p:sp>
        <p:nvSpPr>
          <p:cNvPr id="9" name="矩形 8"/>
          <p:cNvSpPr/>
          <p:nvPr/>
        </p:nvSpPr>
        <p:spPr>
          <a:xfrm>
            <a:off x="971600" y="2739875"/>
            <a:ext cx="1684800" cy="97918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宏内核</a:t>
            </a: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6894272" y="2739875"/>
            <a:ext cx="576064" cy="97918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系统库</a:t>
            </a:r>
          </a:p>
        </p:txBody>
      </p:sp>
      <p:sp>
        <p:nvSpPr>
          <p:cNvPr id="12" name="矩形 11"/>
          <p:cNvSpPr/>
          <p:nvPr/>
        </p:nvSpPr>
        <p:spPr>
          <a:xfrm>
            <a:off x="971600" y="1558816"/>
            <a:ext cx="720080" cy="858549"/>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14" name="矩形 13"/>
          <p:cNvSpPr/>
          <p:nvPr/>
        </p:nvSpPr>
        <p:spPr>
          <a:xfrm>
            <a:off x="1920921" y="1558815"/>
            <a:ext cx="720080" cy="858549"/>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16" name="矩形 15"/>
          <p:cNvSpPr/>
          <p:nvPr/>
        </p:nvSpPr>
        <p:spPr>
          <a:xfrm>
            <a:off x="7858992" y="2739875"/>
            <a:ext cx="576064" cy="97918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系统库</a:t>
            </a:r>
          </a:p>
        </p:txBody>
      </p:sp>
      <p:sp>
        <p:nvSpPr>
          <p:cNvPr id="18" name="矩形 17"/>
          <p:cNvSpPr/>
          <p:nvPr/>
        </p:nvSpPr>
        <p:spPr>
          <a:xfrm>
            <a:off x="3707904" y="3215001"/>
            <a:ext cx="2116848" cy="504056"/>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微内核</a:t>
            </a:r>
          </a:p>
        </p:txBody>
      </p:sp>
      <p:sp>
        <p:nvSpPr>
          <p:cNvPr id="19" name="矩形 18"/>
          <p:cNvSpPr/>
          <p:nvPr/>
        </p:nvSpPr>
        <p:spPr>
          <a:xfrm>
            <a:off x="4791618" y="2453909"/>
            <a:ext cx="1080120" cy="504056"/>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协议栈</a:t>
            </a:r>
          </a:p>
        </p:txBody>
      </p:sp>
      <p:sp>
        <p:nvSpPr>
          <p:cNvPr id="20" name="矩形 19"/>
          <p:cNvSpPr/>
          <p:nvPr/>
        </p:nvSpPr>
        <p:spPr>
          <a:xfrm>
            <a:off x="1273940" y="3106989"/>
            <a:ext cx="1080120" cy="504056"/>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协议栈</a:t>
            </a:r>
          </a:p>
        </p:txBody>
      </p:sp>
      <p:sp>
        <p:nvSpPr>
          <p:cNvPr id="21" name="矩形 20"/>
          <p:cNvSpPr/>
          <p:nvPr/>
        </p:nvSpPr>
        <p:spPr>
          <a:xfrm>
            <a:off x="3707904" y="1559372"/>
            <a:ext cx="720080" cy="655547"/>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22" name="矩形 21"/>
          <p:cNvSpPr/>
          <p:nvPr/>
        </p:nvSpPr>
        <p:spPr>
          <a:xfrm>
            <a:off x="3707904" y="2323089"/>
            <a:ext cx="720080" cy="655547"/>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23" name="矩形 22"/>
          <p:cNvSpPr/>
          <p:nvPr/>
        </p:nvSpPr>
        <p:spPr>
          <a:xfrm>
            <a:off x="4791618" y="1863504"/>
            <a:ext cx="1080120" cy="318648"/>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4" name="文本框 23"/>
          <p:cNvSpPr txBox="1"/>
          <p:nvPr/>
        </p:nvSpPr>
        <p:spPr>
          <a:xfrm>
            <a:off x="4808283" y="1509911"/>
            <a:ext cx="1005403"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共享内存</a:t>
            </a:r>
          </a:p>
        </p:txBody>
      </p:sp>
      <p:cxnSp>
        <p:nvCxnSpPr>
          <p:cNvPr id="25" name="直线连接符 24"/>
          <p:cNvCxnSpPr/>
          <p:nvPr/>
        </p:nvCxnSpPr>
        <p:spPr>
          <a:xfrm>
            <a:off x="683568" y="2569468"/>
            <a:ext cx="2228709"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38" name="直线箭头连接符 37"/>
          <p:cNvCxnSpPr/>
          <p:nvPr/>
        </p:nvCxnSpPr>
        <p:spPr>
          <a:xfrm>
            <a:off x="1331638" y="2265569"/>
            <a:ext cx="0" cy="692396"/>
          </a:xfrm>
          <a:prstGeom prst="straightConnector1">
            <a:avLst/>
          </a:prstGeom>
          <a:ln w="28575">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40" name="文本框 39"/>
          <p:cNvSpPr txBox="1"/>
          <p:nvPr/>
        </p:nvSpPr>
        <p:spPr>
          <a:xfrm>
            <a:off x="595844" y="2334768"/>
            <a:ext cx="668773" cy="276999"/>
          </a:xfrm>
          <a:prstGeom prst="rect">
            <a:avLst/>
          </a:prstGeom>
          <a:noFill/>
        </p:spPr>
        <p:txBody>
          <a:bodyPr wrap="none" rtlCol="0">
            <a:spAutoFit/>
          </a:bodyPr>
          <a:lstStyle/>
          <a:p>
            <a:r>
              <a:rPr kumimoji="1" lang="en-US" altLang="zh-CN" sz="1200" b="1" dirty="0">
                <a:solidFill>
                  <a:srgbClr val="FF0000"/>
                </a:solidFill>
                <a:latin typeface="DengXian" panose="02010600030101010101" pitchFamily="2" charset="-122"/>
                <a:ea typeface="DengXian" panose="02010600030101010101" pitchFamily="2" charset="-122"/>
              </a:rPr>
              <a:t>sys</a:t>
            </a:r>
            <a:r>
              <a:rPr kumimoji="1" lang="zh-CN" altLang="en-US" sz="1200" b="1" dirty="0">
                <a:solidFill>
                  <a:srgbClr val="FF0000"/>
                </a:solidFill>
                <a:latin typeface="DengXian" panose="02010600030101010101" pitchFamily="2" charset="-122"/>
                <a:ea typeface="DengXian" panose="02010600030101010101" pitchFamily="2" charset="-122"/>
              </a:rPr>
              <a:t> </a:t>
            </a:r>
            <a:r>
              <a:rPr kumimoji="1" lang="en-US" altLang="zh-CN" sz="1200" b="1" dirty="0">
                <a:solidFill>
                  <a:srgbClr val="FF0000"/>
                </a:solidFill>
                <a:latin typeface="DengXian" panose="02010600030101010101" pitchFamily="2" charset="-122"/>
                <a:ea typeface="DengXian" panose="02010600030101010101" pitchFamily="2" charset="-122"/>
              </a:rPr>
              <a:t>call</a:t>
            </a:r>
            <a:endParaRPr kumimoji="1" lang="zh-CN" altLang="en-US" sz="1200" b="1" dirty="0">
              <a:solidFill>
                <a:srgbClr val="FF0000"/>
              </a:solidFill>
              <a:latin typeface="DengXian" panose="02010600030101010101" pitchFamily="2" charset="-122"/>
              <a:ea typeface="DengXian" panose="02010600030101010101" pitchFamily="2" charset="-122"/>
            </a:endParaRPr>
          </a:p>
        </p:txBody>
      </p:sp>
      <p:cxnSp>
        <p:nvCxnSpPr>
          <p:cNvPr id="41" name="直线箭头连接符 40"/>
          <p:cNvCxnSpPr/>
          <p:nvPr/>
        </p:nvCxnSpPr>
        <p:spPr>
          <a:xfrm>
            <a:off x="7326320" y="2569468"/>
            <a:ext cx="0" cy="436907"/>
          </a:xfrm>
          <a:prstGeom prst="straightConnector1">
            <a:avLst/>
          </a:prstGeom>
          <a:ln w="28575">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6750254" y="2506444"/>
            <a:ext cx="601447" cy="276999"/>
          </a:xfrm>
          <a:prstGeom prst="rect">
            <a:avLst/>
          </a:prstGeom>
          <a:noFill/>
        </p:spPr>
        <p:txBody>
          <a:bodyPr wrap="none" rtlCol="0">
            <a:spAutoFit/>
          </a:bodyPr>
          <a:lstStyle/>
          <a:p>
            <a:r>
              <a:rPr kumimoji="1" lang="en-US" altLang="zh-CN" sz="1200" b="1" dirty="0" err="1">
                <a:solidFill>
                  <a:srgbClr val="FF0000"/>
                </a:solidFill>
                <a:latin typeface="DengXian" panose="02010600030101010101" pitchFamily="2" charset="-122"/>
                <a:ea typeface="DengXian" panose="02010600030101010101" pitchFamily="2" charset="-122"/>
              </a:rPr>
              <a:t>fn</a:t>
            </a:r>
            <a:r>
              <a:rPr kumimoji="1" lang="zh-CN" altLang="en-US" sz="1200" b="1" dirty="0">
                <a:solidFill>
                  <a:srgbClr val="FF0000"/>
                </a:solidFill>
                <a:latin typeface="DengXian" panose="02010600030101010101" pitchFamily="2" charset="-122"/>
                <a:ea typeface="DengXian" panose="02010600030101010101" pitchFamily="2" charset="-122"/>
              </a:rPr>
              <a:t> </a:t>
            </a:r>
            <a:r>
              <a:rPr kumimoji="1" lang="en-US" altLang="zh-CN" sz="1200" b="1" dirty="0">
                <a:solidFill>
                  <a:srgbClr val="FF0000"/>
                </a:solidFill>
                <a:latin typeface="DengXian" panose="02010600030101010101" pitchFamily="2" charset="-122"/>
                <a:ea typeface="DengXian" panose="02010600030101010101" pitchFamily="2" charset="-122"/>
              </a:rPr>
              <a:t>call</a:t>
            </a:r>
            <a:endParaRPr kumimoji="1" lang="zh-CN" altLang="en-US" sz="1200" b="1" dirty="0">
              <a:solidFill>
                <a:srgbClr val="FF0000"/>
              </a:solidFill>
              <a:latin typeface="DengXian" panose="02010600030101010101" pitchFamily="2" charset="-122"/>
              <a:ea typeface="DengXian" panose="02010600030101010101" pitchFamily="2" charset="-122"/>
            </a:endParaRPr>
          </a:p>
        </p:txBody>
      </p:sp>
      <p:cxnSp>
        <p:nvCxnSpPr>
          <p:cNvPr id="44" name="直线连接符 43"/>
          <p:cNvCxnSpPr/>
          <p:nvPr/>
        </p:nvCxnSpPr>
        <p:spPr>
          <a:xfrm>
            <a:off x="6721172" y="3865612"/>
            <a:ext cx="1901292"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7" name="直线连接符 46"/>
          <p:cNvCxnSpPr/>
          <p:nvPr/>
        </p:nvCxnSpPr>
        <p:spPr>
          <a:xfrm>
            <a:off x="3609604" y="3106989"/>
            <a:ext cx="2330548"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3" name="直线连接符 52"/>
          <p:cNvCxnSpPr/>
          <p:nvPr/>
        </p:nvCxnSpPr>
        <p:spPr>
          <a:xfrm>
            <a:off x="4644008" y="1473685"/>
            <a:ext cx="0" cy="1633304"/>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4" name="曲线连接符 53"/>
          <p:cNvCxnSpPr/>
          <p:nvPr/>
        </p:nvCxnSpPr>
        <p:spPr>
          <a:xfrm rot="16200000" flipH="1">
            <a:off x="4636808" y="2475796"/>
            <a:ext cx="14400" cy="720000"/>
          </a:xfrm>
          <a:prstGeom prst="curvedConnector3">
            <a:avLst>
              <a:gd name="adj1" fmla="val 3251569"/>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4161051" y="3165283"/>
            <a:ext cx="389850" cy="276999"/>
          </a:xfrm>
          <a:prstGeom prst="rect">
            <a:avLst/>
          </a:prstGeom>
          <a:noFill/>
        </p:spPr>
        <p:txBody>
          <a:bodyPr wrap="none" rtlCol="0">
            <a:spAutoFit/>
          </a:bodyPr>
          <a:lstStyle/>
          <a:p>
            <a:r>
              <a:rPr kumimoji="1" lang="en-US" altLang="zh-CN" sz="1200" b="1" dirty="0" err="1">
                <a:solidFill>
                  <a:srgbClr val="FF0000"/>
                </a:solidFill>
                <a:latin typeface="DengXian" panose="02010600030101010101" pitchFamily="2" charset="-122"/>
                <a:ea typeface="DengXian" panose="02010600030101010101" pitchFamily="2" charset="-122"/>
              </a:rPr>
              <a:t>ipc</a:t>
            </a:r>
            <a:endParaRPr kumimoji="1" lang="zh-CN" altLang="en-US" sz="1200" b="1" dirty="0">
              <a:solidFill>
                <a:srgbClr val="FF0000"/>
              </a:solidFill>
              <a:latin typeface="DengXian" panose="02010600030101010101" pitchFamily="2" charset="-122"/>
              <a:ea typeface="DengXian" panose="02010600030101010101" pitchFamily="2" charset="-122"/>
            </a:endParaRPr>
          </a:p>
        </p:txBody>
      </p:sp>
      <p:cxnSp>
        <p:nvCxnSpPr>
          <p:cNvPr id="58" name="直线箭头连接符 57"/>
          <p:cNvCxnSpPr>
            <a:stCxn id="19" idx="0"/>
            <a:endCxn id="23" idx="2"/>
          </p:cNvCxnSpPr>
          <p:nvPr/>
        </p:nvCxnSpPr>
        <p:spPr>
          <a:xfrm flipV="1">
            <a:off x="5331678" y="2182152"/>
            <a:ext cx="0" cy="271757"/>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直线箭头连接符 62"/>
          <p:cNvCxnSpPr>
            <a:stCxn id="23" idx="1"/>
          </p:cNvCxnSpPr>
          <p:nvPr/>
        </p:nvCxnSpPr>
        <p:spPr>
          <a:xfrm flipH="1">
            <a:off x="4427984" y="2022828"/>
            <a:ext cx="363634"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4161051" y="4513684"/>
            <a:ext cx="1338828" cy="369332"/>
          </a:xfrm>
          <a:prstGeom prst="rect">
            <a:avLst/>
          </a:prstGeom>
          <a:noFill/>
        </p:spPr>
        <p:txBody>
          <a:bodyPr wrap="none" rtlCol="0">
            <a:spAutoFit/>
          </a:bodyPr>
          <a:lstStyle/>
          <a:p>
            <a:r>
              <a:rPr kumimoji="1" lang="zh-CN" altLang="en-US" b="1" dirty="0">
                <a:latin typeface="DengXian" panose="02010600030101010101" pitchFamily="2" charset="-122"/>
                <a:ea typeface="DengXian" panose="02010600030101010101" pitchFamily="2" charset="-122"/>
              </a:rPr>
              <a:t>微内核系统</a:t>
            </a:r>
          </a:p>
        </p:txBody>
      </p:sp>
      <p:sp>
        <p:nvSpPr>
          <p:cNvPr id="66" name="文本框 65"/>
          <p:cNvSpPr txBox="1"/>
          <p:nvPr/>
        </p:nvSpPr>
        <p:spPr>
          <a:xfrm>
            <a:off x="1144586" y="4513684"/>
            <a:ext cx="1338828" cy="369332"/>
          </a:xfrm>
          <a:prstGeom prst="rect">
            <a:avLst/>
          </a:prstGeom>
          <a:noFill/>
        </p:spPr>
        <p:txBody>
          <a:bodyPr wrap="none" rtlCol="0">
            <a:spAutoFit/>
          </a:bodyPr>
          <a:lstStyle/>
          <a:p>
            <a:r>
              <a:rPr kumimoji="1" lang="zh-CN" altLang="en-US" b="1" dirty="0">
                <a:latin typeface="DengXian" panose="02010600030101010101" pitchFamily="2" charset="-122"/>
                <a:ea typeface="DengXian" panose="02010600030101010101" pitchFamily="2" charset="-122"/>
              </a:rPr>
              <a:t>宏内核系统</a:t>
            </a:r>
          </a:p>
        </p:txBody>
      </p:sp>
      <p:sp>
        <p:nvSpPr>
          <p:cNvPr id="67" name="文本框 66"/>
          <p:cNvSpPr txBox="1"/>
          <p:nvPr/>
        </p:nvSpPr>
        <p:spPr>
          <a:xfrm>
            <a:off x="6923242" y="4513684"/>
            <a:ext cx="1338828" cy="369332"/>
          </a:xfrm>
          <a:prstGeom prst="rect">
            <a:avLst/>
          </a:prstGeom>
          <a:noFill/>
        </p:spPr>
        <p:txBody>
          <a:bodyPr wrap="none" rtlCol="0">
            <a:spAutoFit/>
          </a:bodyPr>
          <a:lstStyle/>
          <a:p>
            <a:r>
              <a:rPr kumimoji="1" lang="zh-CN" altLang="en-US" b="1" dirty="0">
                <a:latin typeface="DengXian" panose="02010600030101010101" pitchFamily="2" charset="-122"/>
                <a:ea typeface="DengXian" panose="02010600030101010101" pitchFamily="2" charset="-122"/>
              </a:rPr>
              <a:t>库操作系统</a:t>
            </a:r>
          </a:p>
        </p:txBody>
      </p:sp>
      <p:cxnSp>
        <p:nvCxnSpPr>
          <p:cNvPr id="37" name="直线连接符 36"/>
          <p:cNvCxnSpPr/>
          <p:nvPr/>
        </p:nvCxnSpPr>
        <p:spPr>
          <a:xfrm>
            <a:off x="3643029" y="3871461"/>
            <a:ext cx="2228709"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39" name="直线连接符 38"/>
          <p:cNvCxnSpPr/>
          <p:nvPr/>
        </p:nvCxnSpPr>
        <p:spPr>
          <a:xfrm>
            <a:off x="683568" y="3886640"/>
            <a:ext cx="2228709" cy="0"/>
          </a:xfrm>
          <a:prstGeom prst="line">
            <a:avLst/>
          </a:prstGeom>
          <a:ln w="28575">
            <a:prstDash val="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63387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案例：</a:t>
            </a:r>
            <a:r>
              <a:rPr kumimoji="1" lang="en-US" altLang="zh-CN" dirty="0"/>
              <a:t>Linux</a:t>
            </a:r>
            <a:r>
              <a:rPr kumimoji="1" lang="zh-CN" altLang="en-US" dirty="0"/>
              <a:t>的收包过程</a:t>
            </a:r>
          </a:p>
        </p:txBody>
      </p:sp>
      <p:sp>
        <p:nvSpPr>
          <p:cNvPr id="5" name="文本占位符 4"/>
          <p:cNvSpPr>
            <a:spLocks noGrp="1"/>
          </p:cNvSpPr>
          <p:nvPr>
            <p:ph type="body" idx="1"/>
          </p:nvPr>
        </p:nvSpPr>
        <p:spPr/>
        <p:txBody>
          <a:bodyPr/>
          <a:lstStyle/>
          <a:p>
            <a:endParaRPr kumimoji="1" lang="zh-CN"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25F63B-52B0-8A40-BD50-E86C077CB09B}"/>
              </a:ext>
            </a:extLst>
          </p:cNvPr>
          <p:cNvSpPr>
            <a:spLocks noGrp="1"/>
          </p:cNvSpPr>
          <p:nvPr>
            <p:ph type="title"/>
          </p:nvPr>
        </p:nvSpPr>
        <p:spPr/>
        <p:txBody>
          <a:bodyPr/>
          <a:lstStyle/>
          <a:p>
            <a:r>
              <a:rPr kumimoji="1" lang="en-US" altLang="zh-CN" dirty="0"/>
              <a:t>Linux</a:t>
            </a:r>
            <a:r>
              <a:rPr kumimoji="1" lang="zh-CN" altLang="en-US" dirty="0"/>
              <a:t>收包过程</a:t>
            </a:r>
          </a:p>
        </p:txBody>
      </p:sp>
      <p:sp>
        <p:nvSpPr>
          <p:cNvPr id="4" name="灯片编号占位符 3">
            <a:extLst>
              <a:ext uri="{FF2B5EF4-FFF2-40B4-BE49-F238E27FC236}">
                <a16:creationId xmlns:a16="http://schemas.microsoft.com/office/drawing/2014/main" id="{0ED01661-B31F-7B4D-AF16-A8EB4D0BA9F4}"/>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86F4FFDA-6710-D146-A42A-EC52C10EDF4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7" name="矩形 6">
            <a:extLst>
              <a:ext uri="{FF2B5EF4-FFF2-40B4-BE49-F238E27FC236}">
                <a16:creationId xmlns:a16="http://schemas.microsoft.com/office/drawing/2014/main" id="{1D2ED178-F4CA-8541-9D90-6D98D2FE0328}"/>
              </a:ext>
            </a:extLst>
          </p:cNvPr>
          <p:cNvSpPr/>
          <p:nvPr/>
        </p:nvSpPr>
        <p:spPr>
          <a:xfrm>
            <a:off x="1635598" y="3455695"/>
            <a:ext cx="1296144"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ISR</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5" name="矩形 14">
            <a:extLst>
              <a:ext uri="{FF2B5EF4-FFF2-40B4-BE49-F238E27FC236}">
                <a16:creationId xmlns:a16="http://schemas.microsoft.com/office/drawing/2014/main" id="{36C8AC22-6BD3-1A46-AB78-31161ACEEAB6}"/>
              </a:ext>
            </a:extLst>
          </p:cNvPr>
          <p:cNvSpPr/>
          <p:nvPr/>
        </p:nvSpPr>
        <p:spPr>
          <a:xfrm>
            <a:off x="1635598" y="1722240"/>
            <a:ext cx="1296144"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softirq</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7" name="椭圆 16">
            <a:extLst>
              <a:ext uri="{FF2B5EF4-FFF2-40B4-BE49-F238E27FC236}">
                <a16:creationId xmlns:a16="http://schemas.microsoft.com/office/drawing/2014/main" id="{91F9988D-7E5E-2747-A649-322C03E0DD83}"/>
              </a:ext>
            </a:extLst>
          </p:cNvPr>
          <p:cNvSpPr/>
          <p:nvPr/>
        </p:nvSpPr>
        <p:spPr>
          <a:xfrm>
            <a:off x="395536" y="2743760"/>
            <a:ext cx="769196" cy="745262"/>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椭圆 17">
            <a:extLst>
              <a:ext uri="{FF2B5EF4-FFF2-40B4-BE49-F238E27FC236}">
                <a16:creationId xmlns:a16="http://schemas.microsoft.com/office/drawing/2014/main" id="{85FE2185-CACB-7A47-9F34-2B2EA5A3534A}"/>
              </a:ext>
            </a:extLst>
          </p:cNvPr>
          <p:cNvSpPr/>
          <p:nvPr/>
        </p:nvSpPr>
        <p:spPr>
          <a:xfrm>
            <a:off x="539552" y="2880977"/>
            <a:ext cx="477877" cy="4778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9" name="矩形 18">
            <a:extLst>
              <a:ext uri="{FF2B5EF4-FFF2-40B4-BE49-F238E27FC236}">
                <a16:creationId xmlns:a16="http://schemas.microsoft.com/office/drawing/2014/main" id="{BEB9C665-597B-A64A-AE99-85BAD7E5E2EF}"/>
              </a:ext>
            </a:extLst>
          </p:cNvPr>
          <p:cNvSpPr/>
          <p:nvPr/>
        </p:nvSpPr>
        <p:spPr>
          <a:xfrm>
            <a:off x="3606738" y="2731244"/>
            <a:ext cx="279462"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0" name="矩形 19">
            <a:extLst>
              <a:ext uri="{FF2B5EF4-FFF2-40B4-BE49-F238E27FC236}">
                <a16:creationId xmlns:a16="http://schemas.microsoft.com/office/drawing/2014/main" id="{260F5791-0A31-0A4E-B287-6F1B66E35159}"/>
              </a:ext>
            </a:extLst>
          </p:cNvPr>
          <p:cNvSpPr/>
          <p:nvPr/>
        </p:nvSpPr>
        <p:spPr>
          <a:xfrm>
            <a:off x="3886200" y="2731243"/>
            <a:ext cx="279462"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1" name="矩形 20">
            <a:extLst>
              <a:ext uri="{FF2B5EF4-FFF2-40B4-BE49-F238E27FC236}">
                <a16:creationId xmlns:a16="http://schemas.microsoft.com/office/drawing/2014/main" id="{7A6705C1-9393-4A49-A3BF-8957DA4AE7D7}"/>
              </a:ext>
            </a:extLst>
          </p:cNvPr>
          <p:cNvSpPr/>
          <p:nvPr/>
        </p:nvSpPr>
        <p:spPr>
          <a:xfrm>
            <a:off x="4165662" y="2731242"/>
            <a:ext cx="279462"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2" name="矩形 21">
            <a:extLst>
              <a:ext uri="{FF2B5EF4-FFF2-40B4-BE49-F238E27FC236}">
                <a16:creationId xmlns:a16="http://schemas.microsoft.com/office/drawing/2014/main" id="{D7FF14E5-63D0-1046-AD25-2961EADB5467}"/>
              </a:ext>
            </a:extLst>
          </p:cNvPr>
          <p:cNvSpPr/>
          <p:nvPr/>
        </p:nvSpPr>
        <p:spPr>
          <a:xfrm>
            <a:off x="4445124" y="2731242"/>
            <a:ext cx="279462"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3" name="矩形 22">
            <a:extLst>
              <a:ext uri="{FF2B5EF4-FFF2-40B4-BE49-F238E27FC236}">
                <a16:creationId xmlns:a16="http://schemas.microsoft.com/office/drawing/2014/main" id="{2DEC587B-E0FA-C34D-8F60-276C0BD30337}"/>
              </a:ext>
            </a:extLst>
          </p:cNvPr>
          <p:cNvSpPr/>
          <p:nvPr/>
        </p:nvSpPr>
        <p:spPr>
          <a:xfrm>
            <a:off x="4724586" y="2731242"/>
            <a:ext cx="279462"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4" name="文本框 23">
            <a:extLst>
              <a:ext uri="{FF2B5EF4-FFF2-40B4-BE49-F238E27FC236}">
                <a16:creationId xmlns:a16="http://schemas.microsoft.com/office/drawing/2014/main" id="{590E304C-E900-C447-86C0-3060A1E732D3}"/>
              </a:ext>
            </a:extLst>
          </p:cNvPr>
          <p:cNvSpPr txBox="1"/>
          <p:nvPr/>
        </p:nvSpPr>
        <p:spPr>
          <a:xfrm>
            <a:off x="2682924" y="2738717"/>
            <a:ext cx="965329"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skb</a:t>
            </a:r>
            <a:r>
              <a:rPr lang="zh-CN" altLang="en-US" sz="1600" b="1" dirty="0">
                <a:latin typeface="Courier New" panose="02070309020205020404" pitchFamily="49" charset="0"/>
                <a:cs typeface="Courier New" panose="02070309020205020404" pitchFamily="49" charset="0"/>
              </a:rPr>
              <a:t>队列</a:t>
            </a:r>
            <a:endParaRPr kumimoji="1" lang="en-US" altLang="zh-CN" sz="1600" b="1" dirty="0">
              <a:latin typeface="DengXian" panose="02010600030101010101" pitchFamily="2" charset="-122"/>
              <a:ea typeface="DengXian" panose="02010600030101010101" pitchFamily="2" charset="-122"/>
            </a:endParaRPr>
          </a:p>
        </p:txBody>
      </p:sp>
      <p:sp>
        <p:nvSpPr>
          <p:cNvPr id="25" name="矩形 24">
            <a:extLst>
              <a:ext uri="{FF2B5EF4-FFF2-40B4-BE49-F238E27FC236}">
                <a16:creationId xmlns:a16="http://schemas.microsoft.com/office/drawing/2014/main" id="{1CC9A412-2D5A-D644-B1EA-3059D798C13A}"/>
              </a:ext>
            </a:extLst>
          </p:cNvPr>
          <p:cNvSpPr/>
          <p:nvPr/>
        </p:nvSpPr>
        <p:spPr>
          <a:xfrm>
            <a:off x="5447555" y="3742392"/>
            <a:ext cx="1296144"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IP</a:t>
            </a:r>
            <a:r>
              <a:rPr kumimoji="1" lang="zh-CN" altLang="en-US" dirty="0">
                <a:solidFill>
                  <a:schemeClr val="tx1"/>
                </a:solidFill>
                <a:latin typeface="DengXian" panose="02010600030101010101" pitchFamily="2" charset="-122"/>
                <a:ea typeface="DengXian" panose="02010600030101010101" pitchFamily="2" charset="-122"/>
              </a:rPr>
              <a:t>层</a:t>
            </a:r>
          </a:p>
        </p:txBody>
      </p:sp>
      <p:sp>
        <p:nvSpPr>
          <p:cNvPr id="27" name="矩形 26">
            <a:extLst>
              <a:ext uri="{FF2B5EF4-FFF2-40B4-BE49-F238E27FC236}">
                <a16:creationId xmlns:a16="http://schemas.microsoft.com/office/drawing/2014/main" id="{98D5A637-39C7-3946-9F71-970C6A33E75D}"/>
              </a:ext>
            </a:extLst>
          </p:cNvPr>
          <p:cNvSpPr/>
          <p:nvPr/>
        </p:nvSpPr>
        <p:spPr>
          <a:xfrm>
            <a:off x="5447555" y="2925134"/>
            <a:ext cx="1296144"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层</a:t>
            </a:r>
          </a:p>
        </p:txBody>
      </p:sp>
      <p:sp>
        <p:nvSpPr>
          <p:cNvPr id="28" name="矩形 27">
            <a:extLst>
              <a:ext uri="{FF2B5EF4-FFF2-40B4-BE49-F238E27FC236}">
                <a16:creationId xmlns:a16="http://schemas.microsoft.com/office/drawing/2014/main" id="{0626103D-298A-FA42-8F5C-5A82326662A6}"/>
              </a:ext>
            </a:extLst>
          </p:cNvPr>
          <p:cNvSpPr/>
          <p:nvPr/>
        </p:nvSpPr>
        <p:spPr>
          <a:xfrm>
            <a:off x="5428888" y="1617978"/>
            <a:ext cx="1296144"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user</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buffer</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9" name="矩形 28">
            <a:extLst>
              <a:ext uri="{FF2B5EF4-FFF2-40B4-BE49-F238E27FC236}">
                <a16:creationId xmlns:a16="http://schemas.microsoft.com/office/drawing/2014/main" id="{A4CAFCAA-E129-004D-AAE7-31162F93A73B}"/>
              </a:ext>
            </a:extLst>
          </p:cNvPr>
          <p:cNvSpPr/>
          <p:nvPr/>
        </p:nvSpPr>
        <p:spPr>
          <a:xfrm>
            <a:off x="6529810" y="2295044"/>
            <a:ext cx="279462" cy="221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0" name="矩形 29">
            <a:extLst>
              <a:ext uri="{FF2B5EF4-FFF2-40B4-BE49-F238E27FC236}">
                <a16:creationId xmlns:a16="http://schemas.microsoft.com/office/drawing/2014/main" id="{DD62E680-7130-064B-BF17-6208AD4F0472}"/>
              </a:ext>
            </a:extLst>
          </p:cNvPr>
          <p:cNvSpPr/>
          <p:nvPr/>
        </p:nvSpPr>
        <p:spPr>
          <a:xfrm>
            <a:off x="6809272" y="2295043"/>
            <a:ext cx="279462" cy="221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1" name="矩形 30">
            <a:extLst>
              <a:ext uri="{FF2B5EF4-FFF2-40B4-BE49-F238E27FC236}">
                <a16:creationId xmlns:a16="http://schemas.microsoft.com/office/drawing/2014/main" id="{F2A143A5-EAA6-A440-AD18-324355114FDB}"/>
              </a:ext>
            </a:extLst>
          </p:cNvPr>
          <p:cNvSpPr/>
          <p:nvPr/>
        </p:nvSpPr>
        <p:spPr>
          <a:xfrm>
            <a:off x="7088734" y="2295042"/>
            <a:ext cx="279462" cy="221065"/>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2" name="矩形 31">
            <a:extLst>
              <a:ext uri="{FF2B5EF4-FFF2-40B4-BE49-F238E27FC236}">
                <a16:creationId xmlns:a16="http://schemas.microsoft.com/office/drawing/2014/main" id="{5FF5E69D-B0D5-9C47-9472-5EEA2F350316}"/>
              </a:ext>
            </a:extLst>
          </p:cNvPr>
          <p:cNvSpPr/>
          <p:nvPr/>
        </p:nvSpPr>
        <p:spPr>
          <a:xfrm>
            <a:off x="7368196" y="2295042"/>
            <a:ext cx="279462" cy="221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3" name="矩形 32">
            <a:extLst>
              <a:ext uri="{FF2B5EF4-FFF2-40B4-BE49-F238E27FC236}">
                <a16:creationId xmlns:a16="http://schemas.microsoft.com/office/drawing/2014/main" id="{9E383D43-FF7E-A944-BEB6-67124A5B133A}"/>
              </a:ext>
            </a:extLst>
          </p:cNvPr>
          <p:cNvSpPr/>
          <p:nvPr/>
        </p:nvSpPr>
        <p:spPr>
          <a:xfrm>
            <a:off x="7647658" y="2295042"/>
            <a:ext cx="279462" cy="22106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4" name="文本框 33">
            <a:extLst>
              <a:ext uri="{FF2B5EF4-FFF2-40B4-BE49-F238E27FC236}">
                <a16:creationId xmlns:a16="http://schemas.microsoft.com/office/drawing/2014/main" id="{E958EE59-ED84-1E40-B63E-F55869D080C3}"/>
              </a:ext>
            </a:extLst>
          </p:cNvPr>
          <p:cNvSpPr txBox="1"/>
          <p:nvPr/>
        </p:nvSpPr>
        <p:spPr>
          <a:xfrm>
            <a:off x="7989522" y="2153942"/>
            <a:ext cx="1005403" cy="584775"/>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socket</a:t>
            </a:r>
          </a:p>
          <a:p>
            <a:r>
              <a:rPr lang="zh-CN" altLang="en-US" sz="1600" b="1" dirty="0">
                <a:latin typeface="Courier New" panose="02070309020205020404" pitchFamily="49" charset="0"/>
                <a:cs typeface="Courier New" panose="02070309020205020404" pitchFamily="49" charset="0"/>
              </a:rPr>
              <a:t>接收队列</a:t>
            </a:r>
            <a:endParaRPr kumimoji="1" lang="en-US" altLang="zh-CN" sz="1600" b="1" dirty="0">
              <a:latin typeface="DengXian" panose="02010600030101010101" pitchFamily="2" charset="-122"/>
              <a:ea typeface="DengXian" panose="02010600030101010101" pitchFamily="2" charset="-122"/>
            </a:endParaRPr>
          </a:p>
        </p:txBody>
      </p:sp>
      <p:cxnSp>
        <p:nvCxnSpPr>
          <p:cNvPr id="36" name="直线连接符 35">
            <a:extLst>
              <a:ext uri="{FF2B5EF4-FFF2-40B4-BE49-F238E27FC236}">
                <a16:creationId xmlns:a16="http://schemas.microsoft.com/office/drawing/2014/main" id="{25BCE0DD-0892-3545-BC84-79CB1DD9D0A1}"/>
              </a:ext>
            </a:extLst>
          </p:cNvPr>
          <p:cNvCxnSpPr>
            <a:cxnSpLocks/>
          </p:cNvCxnSpPr>
          <p:nvPr/>
        </p:nvCxnSpPr>
        <p:spPr>
          <a:xfrm>
            <a:off x="5277173" y="2137420"/>
            <a:ext cx="2649947" cy="0"/>
          </a:xfrm>
          <a:prstGeom prst="line">
            <a:avLst/>
          </a:prstGeom>
          <a:ln w="28575">
            <a:prstDash val="dash"/>
          </a:ln>
        </p:spPr>
        <p:style>
          <a:lnRef idx="1">
            <a:schemeClr val="dk1"/>
          </a:lnRef>
          <a:fillRef idx="0">
            <a:schemeClr val="dk1"/>
          </a:fillRef>
          <a:effectRef idx="0">
            <a:schemeClr val="dk1"/>
          </a:effectRef>
          <a:fontRef idx="minor">
            <a:schemeClr val="tx1"/>
          </a:fontRef>
        </p:style>
      </p:cxnSp>
      <p:pic>
        <p:nvPicPr>
          <p:cNvPr id="37" name="图片 36">
            <a:extLst>
              <a:ext uri="{FF2B5EF4-FFF2-40B4-BE49-F238E27FC236}">
                <a16:creationId xmlns:a16="http://schemas.microsoft.com/office/drawing/2014/main" id="{4505898D-5286-0347-AC86-BC631209DB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287706" y="4551092"/>
            <a:ext cx="1083444" cy="719407"/>
          </a:xfrm>
          <a:prstGeom prst="rect">
            <a:avLst/>
          </a:prstGeom>
        </p:spPr>
      </p:pic>
      <p:sp>
        <p:nvSpPr>
          <p:cNvPr id="38" name="文本框 37">
            <a:extLst>
              <a:ext uri="{FF2B5EF4-FFF2-40B4-BE49-F238E27FC236}">
                <a16:creationId xmlns:a16="http://schemas.microsoft.com/office/drawing/2014/main" id="{2D177C0B-5E56-9B43-A436-8B3235B80CCD}"/>
              </a:ext>
            </a:extLst>
          </p:cNvPr>
          <p:cNvSpPr txBox="1"/>
          <p:nvPr/>
        </p:nvSpPr>
        <p:spPr>
          <a:xfrm>
            <a:off x="1984098" y="4967218"/>
            <a:ext cx="595035" cy="338554"/>
          </a:xfrm>
          <a:prstGeom prst="rect">
            <a:avLst/>
          </a:prstGeom>
          <a:noFill/>
        </p:spPr>
        <p:txBody>
          <a:bodyPr wrap="none" rtlCol="0">
            <a:spAutoFit/>
          </a:bodyPr>
          <a:lstStyle/>
          <a:p>
            <a:r>
              <a:rPr lang="zh-CN" altLang="en-US" sz="1600" b="1" dirty="0">
                <a:latin typeface="Courier New" panose="02070309020205020404" pitchFamily="49" charset="0"/>
                <a:cs typeface="Courier New" panose="02070309020205020404" pitchFamily="49" charset="0"/>
              </a:rPr>
              <a:t>网卡</a:t>
            </a:r>
            <a:endParaRPr kumimoji="1" lang="en-US" altLang="zh-CN" sz="1600" b="1" dirty="0">
              <a:latin typeface="DengXian" panose="02010600030101010101" pitchFamily="2" charset="-122"/>
              <a:ea typeface="DengXian" panose="02010600030101010101" pitchFamily="2" charset="-122"/>
            </a:endParaRPr>
          </a:p>
        </p:txBody>
      </p:sp>
      <p:sp>
        <p:nvSpPr>
          <p:cNvPr id="39" name="文本框 38">
            <a:extLst>
              <a:ext uri="{FF2B5EF4-FFF2-40B4-BE49-F238E27FC236}">
                <a16:creationId xmlns:a16="http://schemas.microsoft.com/office/drawing/2014/main" id="{6CB922F7-55F6-2641-AB6C-A320201E0982}"/>
              </a:ext>
            </a:extLst>
          </p:cNvPr>
          <p:cNvSpPr txBox="1"/>
          <p:nvPr/>
        </p:nvSpPr>
        <p:spPr>
          <a:xfrm>
            <a:off x="1127049" y="2819738"/>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rx</a:t>
            </a:r>
            <a:r>
              <a:rPr lang="zh-CN" altLang="en-US" sz="1600" b="1" dirty="0">
                <a:latin typeface="Courier New" panose="02070309020205020404" pitchFamily="49" charset="0"/>
                <a:cs typeface="Courier New" panose="02070309020205020404" pitchFamily="49" charset="0"/>
              </a:rPr>
              <a:t> </a:t>
            </a:r>
            <a:r>
              <a:rPr lang="en-US" altLang="zh-CN" sz="1600" b="1" dirty="0">
                <a:latin typeface="Courier New" panose="02070309020205020404" pitchFamily="49" charset="0"/>
                <a:cs typeface="Courier New" panose="02070309020205020404" pitchFamily="49" charset="0"/>
              </a:rPr>
              <a:t>ring</a:t>
            </a:r>
            <a:endParaRPr kumimoji="1" lang="en-US" altLang="zh-CN" sz="1600" b="1" dirty="0">
              <a:latin typeface="DengXian" panose="02010600030101010101" pitchFamily="2" charset="-122"/>
              <a:ea typeface="DengXian" panose="02010600030101010101" pitchFamily="2" charset="-122"/>
            </a:endParaRPr>
          </a:p>
        </p:txBody>
      </p:sp>
      <p:cxnSp>
        <p:nvCxnSpPr>
          <p:cNvPr id="49" name="直线箭头连接符 48">
            <a:extLst>
              <a:ext uri="{FF2B5EF4-FFF2-40B4-BE49-F238E27FC236}">
                <a16:creationId xmlns:a16="http://schemas.microsoft.com/office/drawing/2014/main" id="{B5E02772-2B36-9542-81A5-AF2C6E8C8ACA}"/>
              </a:ext>
            </a:extLst>
          </p:cNvPr>
          <p:cNvCxnSpPr>
            <a:stCxn id="7" idx="0"/>
            <a:endCxn id="15" idx="2"/>
          </p:cNvCxnSpPr>
          <p:nvPr/>
        </p:nvCxnSpPr>
        <p:spPr>
          <a:xfrm flipV="1">
            <a:off x="2283670" y="2084059"/>
            <a:ext cx="0" cy="1371636"/>
          </a:xfrm>
          <a:prstGeom prst="straightConnector1">
            <a:avLst/>
          </a:prstGeom>
          <a:ln w="19050">
            <a:tailEnd type="triangle"/>
          </a:ln>
        </p:spPr>
        <p:style>
          <a:lnRef idx="1">
            <a:schemeClr val="dk1"/>
          </a:lnRef>
          <a:fillRef idx="0">
            <a:schemeClr val="dk1"/>
          </a:fillRef>
          <a:effectRef idx="0">
            <a:schemeClr val="dk1"/>
          </a:effectRef>
          <a:fontRef idx="minor">
            <a:schemeClr val="tx1"/>
          </a:fontRef>
        </p:style>
      </p:cxnSp>
      <p:sp>
        <p:nvSpPr>
          <p:cNvPr id="50" name="文本框 49">
            <a:extLst>
              <a:ext uri="{FF2B5EF4-FFF2-40B4-BE49-F238E27FC236}">
                <a16:creationId xmlns:a16="http://schemas.microsoft.com/office/drawing/2014/main" id="{FE1C6EA1-75FC-5347-8B68-7C66919434AB}"/>
              </a:ext>
            </a:extLst>
          </p:cNvPr>
          <p:cNvSpPr txBox="1"/>
          <p:nvPr/>
        </p:nvSpPr>
        <p:spPr>
          <a:xfrm>
            <a:off x="2257745" y="3213192"/>
            <a:ext cx="1449436" cy="261610"/>
          </a:xfrm>
          <a:prstGeom prst="rect">
            <a:avLst/>
          </a:prstGeom>
          <a:noFill/>
        </p:spPr>
        <p:txBody>
          <a:bodyPr wrap="none" rtlCol="0">
            <a:spAutoFit/>
          </a:bodyPr>
          <a:lstStyle/>
          <a:p>
            <a:r>
              <a:rPr kumimoji="1" lang="en" altLang="zh-CN" sz="1100" b="1" i="1" dirty="0"/>
              <a:t>NET_RX_SOFTIRQ</a:t>
            </a:r>
            <a:endParaRPr kumimoji="1" lang="en-US" altLang="zh-CN" sz="1100" b="1" i="1" dirty="0">
              <a:latin typeface="DengXian" panose="02010600030101010101" pitchFamily="2" charset="-122"/>
              <a:ea typeface="DengXian" panose="02010600030101010101" pitchFamily="2" charset="-122"/>
            </a:endParaRPr>
          </a:p>
        </p:txBody>
      </p:sp>
      <p:cxnSp>
        <p:nvCxnSpPr>
          <p:cNvPr id="52" name="肘形连接符 51">
            <a:extLst>
              <a:ext uri="{FF2B5EF4-FFF2-40B4-BE49-F238E27FC236}">
                <a16:creationId xmlns:a16="http://schemas.microsoft.com/office/drawing/2014/main" id="{5BEB19B2-B583-B245-9DD2-566D08733B04}"/>
              </a:ext>
            </a:extLst>
          </p:cNvPr>
          <p:cNvCxnSpPr>
            <a:stCxn id="7" idx="3"/>
            <a:endCxn id="21" idx="2"/>
          </p:cNvCxnSpPr>
          <p:nvPr/>
        </p:nvCxnSpPr>
        <p:spPr>
          <a:xfrm flipV="1">
            <a:off x="2931742" y="3093061"/>
            <a:ext cx="1373651" cy="543544"/>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53" name="文本框 52">
            <a:extLst>
              <a:ext uri="{FF2B5EF4-FFF2-40B4-BE49-F238E27FC236}">
                <a16:creationId xmlns:a16="http://schemas.microsoft.com/office/drawing/2014/main" id="{AFB83B2A-A06A-9E4C-A54C-34C69E67B085}"/>
              </a:ext>
            </a:extLst>
          </p:cNvPr>
          <p:cNvSpPr txBox="1"/>
          <p:nvPr/>
        </p:nvSpPr>
        <p:spPr>
          <a:xfrm>
            <a:off x="3186347" y="3636456"/>
            <a:ext cx="1080745" cy="307777"/>
          </a:xfrm>
          <a:prstGeom prst="rect">
            <a:avLst/>
          </a:prstGeom>
          <a:noFill/>
        </p:spPr>
        <p:txBody>
          <a:bodyPr wrap="none" rtlCol="0">
            <a:spAutoFit/>
          </a:bodyPr>
          <a:lstStyle/>
          <a:p>
            <a:r>
              <a:rPr kumimoji="1" lang="en-US" altLang="zh-CN" sz="1400" b="1" dirty="0">
                <a:solidFill>
                  <a:srgbClr val="C00000"/>
                </a:solidFill>
                <a:latin typeface="Courier New" panose="02070309020205020404" pitchFamily="49" charset="0"/>
                <a:ea typeface="DengXian" panose="02010600030101010101" pitchFamily="2" charset="-122"/>
                <a:cs typeface="Courier New" panose="02070309020205020404" pitchFamily="49" charset="0"/>
              </a:rPr>
              <a:t>3.</a:t>
            </a:r>
            <a:r>
              <a:rPr kumimoji="1" lang="zh-CN" altLang="en-US" sz="1400" b="1" dirty="0">
                <a:solidFill>
                  <a:srgbClr val="C00000"/>
                </a:solidFill>
                <a:latin typeface="Courier New" panose="02070309020205020404" pitchFamily="49" charset="0"/>
                <a:ea typeface="DengXian" panose="02010600030101010101" pitchFamily="2" charset="-122"/>
                <a:cs typeface="Courier New" panose="02070309020205020404" pitchFamily="49" charset="0"/>
              </a:rPr>
              <a:t>申请</a:t>
            </a:r>
            <a:r>
              <a:rPr kumimoji="1" lang="en-US" altLang="zh-CN" sz="1400" b="1" dirty="0" err="1">
                <a:solidFill>
                  <a:srgbClr val="C00000"/>
                </a:solidFill>
                <a:latin typeface="Courier New" panose="02070309020205020404" pitchFamily="49" charset="0"/>
                <a:ea typeface="DengXian" panose="02010600030101010101" pitchFamily="2" charset="-122"/>
                <a:cs typeface="Courier New" panose="02070309020205020404" pitchFamily="49" charset="0"/>
              </a:rPr>
              <a:t>skb</a:t>
            </a:r>
            <a:endParaRPr kumimoji="1" lang="en-US" altLang="zh-CN" sz="1400" b="1" dirty="0">
              <a:solidFill>
                <a:srgbClr val="C00000"/>
              </a:solidFill>
              <a:latin typeface="DengXian" panose="02010600030101010101" pitchFamily="2" charset="-122"/>
              <a:ea typeface="DengXian" panose="02010600030101010101" pitchFamily="2" charset="-122"/>
            </a:endParaRPr>
          </a:p>
        </p:txBody>
      </p:sp>
      <p:cxnSp>
        <p:nvCxnSpPr>
          <p:cNvPr id="59" name="肘形连接符 58">
            <a:extLst>
              <a:ext uri="{FF2B5EF4-FFF2-40B4-BE49-F238E27FC236}">
                <a16:creationId xmlns:a16="http://schemas.microsoft.com/office/drawing/2014/main" id="{04A8565C-04B7-7245-901E-0706B224A995}"/>
              </a:ext>
            </a:extLst>
          </p:cNvPr>
          <p:cNvCxnSpPr>
            <a:cxnSpLocks/>
            <a:stCxn id="17" idx="0"/>
            <a:endCxn id="21" idx="0"/>
          </p:cNvCxnSpPr>
          <p:nvPr/>
        </p:nvCxnSpPr>
        <p:spPr>
          <a:xfrm rot="5400000" flipH="1" flipV="1">
            <a:off x="2536504" y="974872"/>
            <a:ext cx="12518" cy="3525259"/>
          </a:xfrm>
          <a:prstGeom prst="bentConnector3">
            <a:avLst>
              <a:gd name="adj1" fmla="val 192617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C8C2E8FA-4B81-8749-8B61-5476CFF39A24}"/>
              </a:ext>
            </a:extLst>
          </p:cNvPr>
          <p:cNvSpPr txBox="1"/>
          <p:nvPr/>
        </p:nvSpPr>
        <p:spPr>
          <a:xfrm>
            <a:off x="7222436" y="3828555"/>
            <a:ext cx="800219" cy="338554"/>
          </a:xfrm>
          <a:prstGeom prst="rect">
            <a:avLst/>
          </a:prstGeom>
          <a:noFill/>
        </p:spPr>
        <p:txBody>
          <a:bodyPr wrap="none" rtlCol="0">
            <a:spAutoFit/>
          </a:bodyPr>
          <a:lstStyle/>
          <a:p>
            <a:r>
              <a:rPr lang="zh-CN" altLang="en-US" sz="1600" b="1" dirty="0">
                <a:solidFill>
                  <a:srgbClr val="FF2F92"/>
                </a:solidFill>
                <a:latin typeface="Courier New" panose="02070309020205020404" pitchFamily="49" charset="0"/>
                <a:cs typeface="Courier New" panose="02070309020205020404" pitchFamily="49" charset="0"/>
              </a:rPr>
              <a:t>内核态</a:t>
            </a:r>
            <a:endParaRPr kumimoji="1" lang="en-US" altLang="zh-CN" sz="1600" b="1" dirty="0">
              <a:solidFill>
                <a:srgbClr val="FF2F92"/>
              </a:solidFill>
              <a:latin typeface="DengXian" panose="02010600030101010101" pitchFamily="2" charset="-122"/>
              <a:ea typeface="DengXian" panose="02010600030101010101" pitchFamily="2" charset="-122"/>
            </a:endParaRPr>
          </a:p>
        </p:txBody>
      </p:sp>
      <p:sp>
        <p:nvSpPr>
          <p:cNvPr id="61" name="文本框 60">
            <a:extLst>
              <a:ext uri="{FF2B5EF4-FFF2-40B4-BE49-F238E27FC236}">
                <a16:creationId xmlns:a16="http://schemas.microsoft.com/office/drawing/2014/main" id="{96F5931D-0456-D948-8F94-965C699EBCBB}"/>
              </a:ext>
            </a:extLst>
          </p:cNvPr>
          <p:cNvSpPr txBox="1"/>
          <p:nvPr/>
        </p:nvSpPr>
        <p:spPr>
          <a:xfrm>
            <a:off x="7219890" y="1244746"/>
            <a:ext cx="800219" cy="338554"/>
          </a:xfrm>
          <a:prstGeom prst="rect">
            <a:avLst/>
          </a:prstGeom>
          <a:noFill/>
        </p:spPr>
        <p:txBody>
          <a:bodyPr wrap="none" rtlCol="0">
            <a:spAutoFit/>
          </a:bodyPr>
          <a:lstStyle/>
          <a:p>
            <a:r>
              <a:rPr lang="zh-CN" altLang="en-US" sz="1600" b="1" dirty="0">
                <a:solidFill>
                  <a:srgbClr val="FF2F92"/>
                </a:solidFill>
                <a:latin typeface="Courier New" panose="02070309020205020404" pitchFamily="49" charset="0"/>
                <a:cs typeface="Courier New" panose="02070309020205020404" pitchFamily="49" charset="0"/>
              </a:rPr>
              <a:t>用户态</a:t>
            </a:r>
            <a:endParaRPr kumimoji="1" lang="en-US" altLang="zh-CN" sz="1600" b="1" dirty="0">
              <a:solidFill>
                <a:srgbClr val="FF2F92"/>
              </a:solidFill>
              <a:latin typeface="DengXian" panose="02010600030101010101" pitchFamily="2" charset="-122"/>
              <a:ea typeface="DengXian" panose="02010600030101010101" pitchFamily="2" charset="-122"/>
            </a:endParaRPr>
          </a:p>
        </p:txBody>
      </p:sp>
      <p:cxnSp>
        <p:nvCxnSpPr>
          <p:cNvPr id="67" name="直线箭头连接符 66">
            <a:extLst>
              <a:ext uri="{FF2B5EF4-FFF2-40B4-BE49-F238E27FC236}">
                <a16:creationId xmlns:a16="http://schemas.microsoft.com/office/drawing/2014/main" id="{68D6945F-F051-F340-ACDA-BCD7AFCC82E4}"/>
              </a:ext>
            </a:extLst>
          </p:cNvPr>
          <p:cNvCxnSpPr>
            <a:stCxn id="25" idx="0"/>
            <a:endCxn id="27" idx="2"/>
          </p:cNvCxnSpPr>
          <p:nvPr/>
        </p:nvCxnSpPr>
        <p:spPr>
          <a:xfrm flipV="1">
            <a:off x="6095627" y="3286953"/>
            <a:ext cx="0" cy="4554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肘形连接符 70">
            <a:extLst>
              <a:ext uri="{FF2B5EF4-FFF2-40B4-BE49-F238E27FC236}">
                <a16:creationId xmlns:a16="http://schemas.microsoft.com/office/drawing/2014/main" id="{CACC876B-0DF3-7246-B250-6F8452B14A60}"/>
              </a:ext>
            </a:extLst>
          </p:cNvPr>
          <p:cNvCxnSpPr>
            <a:stCxn id="27" idx="0"/>
            <a:endCxn id="31" idx="2"/>
          </p:cNvCxnSpPr>
          <p:nvPr/>
        </p:nvCxnSpPr>
        <p:spPr>
          <a:xfrm rot="5400000" flipH="1" flipV="1">
            <a:off x="6457533" y="2154202"/>
            <a:ext cx="409027" cy="1132838"/>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74" name="肘形连接符 73">
            <a:extLst>
              <a:ext uri="{FF2B5EF4-FFF2-40B4-BE49-F238E27FC236}">
                <a16:creationId xmlns:a16="http://schemas.microsoft.com/office/drawing/2014/main" id="{EF9BBF1D-0413-1A45-9D66-0CE9A4F47226}"/>
              </a:ext>
            </a:extLst>
          </p:cNvPr>
          <p:cNvCxnSpPr>
            <a:stCxn id="31" idx="0"/>
            <a:endCxn id="28" idx="3"/>
          </p:cNvCxnSpPr>
          <p:nvPr/>
        </p:nvCxnSpPr>
        <p:spPr>
          <a:xfrm rot="16200000" flipV="1">
            <a:off x="6728672" y="1795248"/>
            <a:ext cx="496154" cy="503433"/>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6" name="肘形连接符 75">
            <a:extLst>
              <a:ext uri="{FF2B5EF4-FFF2-40B4-BE49-F238E27FC236}">
                <a16:creationId xmlns:a16="http://schemas.microsoft.com/office/drawing/2014/main" id="{F1C20811-AE34-2948-A026-52B4A9D4ADFE}"/>
              </a:ext>
            </a:extLst>
          </p:cNvPr>
          <p:cNvCxnSpPr>
            <a:endCxn id="25" idx="1"/>
          </p:cNvCxnSpPr>
          <p:nvPr/>
        </p:nvCxnSpPr>
        <p:spPr>
          <a:xfrm>
            <a:off x="4217459" y="3106043"/>
            <a:ext cx="1230096" cy="817259"/>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77" name="文本框 76">
            <a:extLst>
              <a:ext uri="{FF2B5EF4-FFF2-40B4-BE49-F238E27FC236}">
                <a16:creationId xmlns:a16="http://schemas.microsoft.com/office/drawing/2014/main" id="{4EF2C1B5-22E4-944C-9D00-EDFAA6E5BC04}"/>
              </a:ext>
            </a:extLst>
          </p:cNvPr>
          <p:cNvSpPr txBox="1"/>
          <p:nvPr/>
        </p:nvSpPr>
        <p:spPr>
          <a:xfrm>
            <a:off x="2586935" y="2190436"/>
            <a:ext cx="1080745" cy="307777"/>
          </a:xfrm>
          <a:prstGeom prst="rect">
            <a:avLst/>
          </a:prstGeom>
          <a:noFill/>
        </p:spPr>
        <p:txBody>
          <a:bodyPr wrap="none" rtlCol="0">
            <a:spAutoFit/>
          </a:bodyPr>
          <a:lstStyle/>
          <a:p>
            <a:r>
              <a:rPr kumimoji="1" lang="en-US" altLang="zh-CN" sz="1400" b="1" dirty="0">
                <a:solidFill>
                  <a:srgbClr val="C00000"/>
                </a:solidFill>
                <a:latin typeface="Courier New" panose="02070309020205020404" pitchFamily="49" charset="0"/>
                <a:ea typeface="DengXian" panose="02010600030101010101" pitchFamily="2" charset="-122"/>
                <a:cs typeface="Courier New" panose="02070309020205020404" pitchFamily="49" charset="0"/>
              </a:rPr>
              <a:t>4.</a:t>
            </a:r>
            <a:r>
              <a:rPr kumimoji="1" lang="zh-CN" altLang="en-US" sz="1400" b="1" dirty="0">
                <a:solidFill>
                  <a:srgbClr val="C00000"/>
                </a:solidFill>
                <a:latin typeface="Courier New" panose="02070309020205020404" pitchFamily="49" charset="0"/>
                <a:ea typeface="DengXian" panose="02010600030101010101" pitchFamily="2" charset="-122"/>
                <a:cs typeface="Courier New" panose="02070309020205020404" pitchFamily="49" charset="0"/>
              </a:rPr>
              <a:t>读入</a:t>
            </a:r>
            <a:r>
              <a:rPr kumimoji="1" lang="en-US" altLang="zh-CN" sz="1400" b="1" dirty="0" err="1">
                <a:solidFill>
                  <a:srgbClr val="C00000"/>
                </a:solidFill>
                <a:latin typeface="Courier New" panose="02070309020205020404" pitchFamily="49" charset="0"/>
                <a:ea typeface="DengXian" panose="02010600030101010101" pitchFamily="2" charset="-122"/>
                <a:cs typeface="Courier New" panose="02070309020205020404" pitchFamily="49" charset="0"/>
              </a:rPr>
              <a:t>skb</a:t>
            </a:r>
            <a:endParaRPr kumimoji="1" lang="en-US" altLang="zh-CN" sz="1400" b="1" dirty="0">
              <a:solidFill>
                <a:srgbClr val="C00000"/>
              </a:solidFill>
              <a:latin typeface="DengXian" panose="02010600030101010101" pitchFamily="2" charset="-122"/>
              <a:ea typeface="DengXian" panose="02010600030101010101" pitchFamily="2" charset="-122"/>
            </a:endParaRPr>
          </a:p>
        </p:txBody>
      </p:sp>
      <p:sp>
        <p:nvSpPr>
          <p:cNvPr id="78" name="文本框 77">
            <a:extLst>
              <a:ext uri="{FF2B5EF4-FFF2-40B4-BE49-F238E27FC236}">
                <a16:creationId xmlns:a16="http://schemas.microsoft.com/office/drawing/2014/main" id="{2FAB5BE7-D2F6-FC47-8E04-DE7BA5474E17}"/>
              </a:ext>
            </a:extLst>
          </p:cNvPr>
          <p:cNvSpPr txBox="1"/>
          <p:nvPr/>
        </p:nvSpPr>
        <p:spPr>
          <a:xfrm>
            <a:off x="2234603" y="3990949"/>
            <a:ext cx="841897" cy="338554"/>
          </a:xfrm>
          <a:prstGeom prst="rect">
            <a:avLst/>
          </a:prstGeom>
          <a:noFill/>
        </p:spPr>
        <p:txBody>
          <a:bodyPr wrap="none" rtlCol="0">
            <a:spAutoFit/>
          </a:bodyPr>
          <a:lstStyle/>
          <a:p>
            <a:r>
              <a:rPr kumimoji="1" lang="en-US" altLang="zh-CN" sz="1600" b="1" dirty="0">
                <a:latin typeface="Courier New" panose="02070309020205020404" pitchFamily="49" charset="0"/>
                <a:ea typeface="DengXian" panose="02010600030101010101" pitchFamily="2" charset="-122"/>
                <a:cs typeface="Courier New" panose="02070309020205020404" pitchFamily="49" charset="0"/>
              </a:rPr>
              <a:t>2.</a:t>
            </a:r>
            <a:r>
              <a:rPr kumimoji="1" lang="zh-CN" altLang="en-US" sz="1600" b="1" dirty="0">
                <a:latin typeface="Courier New" panose="02070309020205020404" pitchFamily="49" charset="0"/>
                <a:ea typeface="DengXian" panose="02010600030101010101" pitchFamily="2" charset="-122"/>
                <a:cs typeface="Courier New" panose="02070309020205020404" pitchFamily="49" charset="0"/>
              </a:rPr>
              <a:t>中断</a:t>
            </a:r>
            <a:endParaRPr kumimoji="1" lang="en-US" altLang="zh-CN" sz="1600" b="1" dirty="0">
              <a:latin typeface="DengXian" panose="02010600030101010101" pitchFamily="2" charset="-122"/>
              <a:ea typeface="DengXian" panose="02010600030101010101" pitchFamily="2" charset="-122"/>
            </a:endParaRPr>
          </a:p>
        </p:txBody>
      </p:sp>
      <p:sp>
        <p:nvSpPr>
          <p:cNvPr id="79" name="文本框 78">
            <a:extLst>
              <a:ext uri="{FF2B5EF4-FFF2-40B4-BE49-F238E27FC236}">
                <a16:creationId xmlns:a16="http://schemas.microsoft.com/office/drawing/2014/main" id="{E82D29A3-C95D-7A40-8E3C-3AD336226DF7}"/>
              </a:ext>
            </a:extLst>
          </p:cNvPr>
          <p:cNvSpPr txBox="1"/>
          <p:nvPr/>
        </p:nvSpPr>
        <p:spPr>
          <a:xfrm>
            <a:off x="926870" y="4006337"/>
            <a:ext cx="721672" cy="307777"/>
          </a:xfrm>
          <a:prstGeom prst="rect">
            <a:avLst/>
          </a:prstGeom>
          <a:noFill/>
        </p:spPr>
        <p:txBody>
          <a:bodyPr wrap="none" rtlCol="0">
            <a:spAutoFit/>
          </a:bodyPr>
          <a:lstStyle/>
          <a:p>
            <a:r>
              <a:rPr kumimoji="1" lang="en-US" altLang="zh-CN" sz="1400" b="1" dirty="0">
                <a:latin typeface="Courier New" panose="02070309020205020404" pitchFamily="49" charset="0"/>
                <a:ea typeface="DengXian" panose="02010600030101010101" pitchFamily="2" charset="-122"/>
                <a:cs typeface="Courier New" panose="02070309020205020404" pitchFamily="49" charset="0"/>
              </a:rPr>
              <a:t>1.DMA</a:t>
            </a:r>
            <a:endParaRPr kumimoji="1" lang="en-US" altLang="zh-CN" sz="1400" b="1" dirty="0">
              <a:latin typeface="DengXian" panose="02010600030101010101" pitchFamily="2" charset="-122"/>
              <a:ea typeface="DengXian" panose="02010600030101010101" pitchFamily="2" charset="-122"/>
            </a:endParaRPr>
          </a:p>
        </p:txBody>
      </p:sp>
      <p:sp>
        <p:nvSpPr>
          <p:cNvPr id="81" name="文本框 80">
            <a:extLst>
              <a:ext uri="{FF2B5EF4-FFF2-40B4-BE49-F238E27FC236}">
                <a16:creationId xmlns:a16="http://schemas.microsoft.com/office/drawing/2014/main" id="{ACD44CE3-FF92-8541-9777-614B92C52530}"/>
              </a:ext>
            </a:extLst>
          </p:cNvPr>
          <p:cNvSpPr txBox="1"/>
          <p:nvPr/>
        </p:nvSpPr>
        <p:spPr>
          <a:xfrm>
            <a:off x="1455056" y="1399145"/>
            <a:ext cx="1476686" cy="307777"/>
          </a:xfrm>
          <a:prstGeom prst="rect">
            <a:avLst/>
          </a:prstGeom>
          <a:noFill/>
        </p:spPr>
        <p:txBody>
          <a:bodyPr wrap="none" rtlCol="0">
            <a:spAutoFit/>
          </a:bodyPr>
          <a:lstStyle/>
          <a:p>
            <a:r>
              <a:rPr kumimoji="1" lang="en-US" altLang="zh-CN" sz="1400" b="1" dirty="0">
                <a:latin typeface="Courier New" panose="02070309020205020404" pitchFamily="49" charset="0"/>
                <a:ea typeface="DengXian" panose="02010600030101010101" pitchFamily="2" charset="-122"/>
                <a:cs typeface="Courier New" panose="02070309020205020404" pitchFamily="49" charset="0"/>
              </a:rPr>
              <a:t>5.</a:t>
            </a:r>
            <a:r>
              <a:rPr kumimoji="1" lang="zh-CN" altLang="en-US" sz="1400" b="1" dirty="0">
                <a:latin typeface="Courier New" panose="02070309020205020404" pitchFamily="49" charset="0"/>
                <a:ea typeface="DengXian" panose="02010600030101010101" pitchFamily="2" charset="-122"/>
                <a:cs typeface="Courier New" panose="02070309020205020404" pitchFamily="49" charset="0"/>
              </a:rPr>
              <a:t>软中断被调度</a:t>
            </a:r>
            <a:endParaRPr kumimoji="1" lang="en-US" altLang="zh-CN" sz="1400" b="1" dirty="0">
              <a:latin typeface="DengXian" panose="02010600030101010101" pitchFamily="2" charset="-122"/>
              <a:ea typeface="DengXian" panose="02010600030101010101" pitchFamily="2" charset="-122"/>
            </a:endParaRPr>
          </a:p>
        </p:txBody>
      </p:sp>
      <p:sp>
        <p:nvSpPr>
          <p:cNvPr id="82" name="文本框 81">
            <a:extLst>
              <a:ext uri="{FF2B5EF4-FFF2-40B4-BE49-F238E27FC236}">
                <a16:creationId xmlns:a16="http://schemas.microsoft.com/office/drawing/2014/main" id="{82EEDAAB-FCA3-AD4E-9DB0-2DD2DA4A39C3}"/>
              </a:ext>
            </a:extLst>
          </p:cNvPr>
          <p:cNvSpPr txBox="1"/>
          <p:nvPr/>
        </p:nvSpPr>
        <p:spPr>
          <a:xfrm>
            <a:off x="5428888" y="4180737"/>
            <a:ext cx="1475084" cy="307777"/>
          </a:xfrm>
          <a:prstGeom prst="rect">
            <a:avLst/>
          </a:prstGeom>
          <a:noFill/>
        </p:spPr>
        <p:txBody>
          <a:bodyPr wrap="none" rtlCol="0">
            <a:spAutoFit/>
          </a:bodyPr>
          <a:lstStyle/>
          <a:p>
            <a:r>
              <a:rPr kumimoji="1" lang="en-US" altLang="zh-CN" sz="1400" b="1" dirty="0">
                <a:latin typeface="Courier New" panose="02070309020205020404" pitchFamily="49" charset="0"/>
                <a:ea typeface="DengXian" panose="02010600030101010101" pitchFamily="2" charset="-122"/>
                <a:cs typeface="Courier New" panose="02070309020205020404" pitchFamily="49" charset="0"/>
              </a:rPr>
              <a:t>6.IP</a:t>
            </a:r>
            <a:r>
              <a:rPr kumimoji="1" lang="zh-CN" altLang="en-US" sz="1400" b="1" dirty="0">
                <a:latin typeface="Courier New" panose="02070309020205020404" pitchFamily="49" charset="0"/>
                <a:ea typeface="DengXian" panose="02010600030101010101" pitchFamily="2" charset="-122"/>
                <a:cs typeface="Courier New" panose="02070309020205020404" pitchFamily="49" charset="0"/>
              </a:rPr>
              <a:t>层解析</a:t>
            </a:r>
            <a:r>
              <a:rPr kumimoji="1" lang="en-US" altLang="zh-CN" sz="1400" b="1" dirty="0" err="1">
                <a:latin typeface="Courier New" panose="02070309020205020404" pitchFamily="49" charset="0"/>
                <a:ea typeface="DengXian" panose="02010600030101010101" pitchFamily="2" charset="-122"/>
                <a:cs typeface="Courier New" panose="02070309020205020404" pitchFamily="49" charset="0"/>
              </a:rPr>
              <a:t>skb</a:t>
            </a:r>
            <a:endParaRPr kumimoji="1" lang="en-US" altLang="zh-CN" sz="1400" b="1" dirty="0">
              <a:latin typeface="DengXian" panose="02010600030101010101" pitchFamily="2" charset="-122"/>
              <a:ea typeface="DengXian" panose="02010600030101010101" pitchFamily="2" charset="-122"/>
            </a:endParaRPr>
          </a:p>
        </p:txBody>
      </p:sp>
      <p:sp>
        <p:nvSpPr>
          <p:cNvPr id="83" name="文本框 82">
            <a:extLst>
              <a:ext uri="{FF2B5EF4-FFF2-40B4-BE49-F238E27FC236}">
                <a16:creationId xmlns:a16="http://schemas.microsoft.com/office/drawing/2014/main" id="{6FF7873B-2833-0D4C-93BE-8F3F584C36DB}"/>
              </a:ext>
            </a:extLst>
          </p:cNvPr>
          <p:cNvSpPr txBox="1"/>
          <p:nvPr/>
        </p:nvSpPr>
        <p:spPr>
          <a:xfrm>
            <a:off x="6727894" y="2915008"/>
            <a:ext cx="1582486" cy="307777"/>
          </a:xfrm>
          <a:prstGeom prst="rect">
            <a:avLst/>
          </a:prstGeom>
          <a:noFill/>
        </p:spPr>
        <p:txBody>
          <a:bodyPr wrap="none" rtlCol="0">
            <a:spAutoFit/>
          </a:bodyPr>
          <a:lstStyle/>
          <a:p>
            <a:pPr algn="ctr"/>
            <a:r>
              <a:rPr kumimoji="1" lang="en-US" altLang="zh-CN" sz="1400" b="1" dirty="0">
                <a:latin typeface="Courier New" panose="02070309020205020404" pitchFamily="49" charset="0"/>
                <a:ea typeface="DengXian" panose="02010600030101010101" pitchFamily="2" charset="-122"/>
                <a:cs typeface="Courier New" panose="02070309020205020404" pitchFamily="49" charset="0"/>
              </a:rPr>
              <a:t>7.TCP</a:t>
            </a:r>
            <a:r>
              <a:rPr kumimoji="1" lang="zh-CN" altLang="en-US" sz="1400" b="1" dirty="0">
                <a:latin typeface="Courier New" panose="02070309020205020404" pitchFamily="49" charset="0"/>
                <a:ea typeface="DengXian" panose="02010600030101010101" pitchFamily="2" charset="-122"/>
                <a:cs typeface="Courier New" panose="02070309020205020404" pitchFamily="49" charset="0"/>
              </a:rPr>
              <a:t>层解析</a:t>
            </a:r>
            <a:r>
              <a:rPr kumimoji="1" lang="en-US" altLang="zh-CN" sz="1400" b="1" dirty="0" err="1">
                <a:latin typeface="Courier New" panose="02070309020205020404" pitchFamily="49" charset="0"/>
                <a:ea typeface="DengXian" panose="02010600030101010101" pitchFamily="2" charset="-122"/>
                <a:cs typeface="Courier New" panose="02070309020205020404" pitchFamily="49" charset="0"/>
              </a:rPr>
              <a:t>skb</a:t>
            </a:r>
            <a:endParaRPr kumimoji="1" lang="en-US" altLang="zh-CN" sz="1400" b="1" dirty="0">
              <a:latin typeface="Courier New" panose="02070309020205020404" pitchFamily="49" charset="0"/>
              <a:ea typeface="DengXian" panose="02010600030101010101" pitchFamily="2" charset="-122"/>
              <a:cs typeface="Courier New" panose="02070309020205020404" pitchFamily="49" charset="0"/>
            </a:endParaRPr>
          </a:p>
        </p:txBody>
      </p:sp>
      <p:sp>
        <p:nvSpPr>
          <p:cNvPr id="84" name="文本框 83">
            <a:extLst>
              <a:ext uri="{FF2B5EF4-FFF2-40B4-BE49-F238E27FC236}">
                <a16:creationId xmlns:a16="http://schemas.microsoft.com/office/drawing/2014/main" id="{624FE748-4A1D-4E44-9F9F-3A70FF43A84C}"/>
              </a:ext>
            </a:extLst>
          </p:cNvPr>
          <p:cNvSpPr txBox="1"/>
          <p:nvPr/>
        </p:nvSpPr>
        <p:spPr>
          <a:xfrm>
            <a:off x="7254366" y="1706134"/>
            <a:ext cx="1476686" cy="307777"/>
          </a:xfrm>
          <a:prstGeom prst="rect">
            <a:avLst/>
          </a:prstGeom>
          <a:noFill/>
        </p:spPr>
        <p:txBody>
          <a:bodyPr wrap="none" rtlCol="0">
            <a:spAutoFit/>
          </a:bodyPr>
          <a:lstStyle/>
          <a:p>
            <a:r>
              <a:rPr kumimoji="1" lang="en-US" altLang="zh-CN" sz="1400" b="1" dirty="0">
                <a:latin typeface="Courier New" panose="02070309020205020404" pitchFamily="49" charset="0"/>
                <a:ea typeface="DengXian" panose="02010600030101010101" pitchFamily="2" charset="-122"/>
                <a:cs typeface="Courier New" panose="02070309020205020404" pitchFamily="49" charset="0"/>
              </a:rPr>
              <a:t>8.</a:t>
            </a:r>
            <a:r>
              <a:rPr kumimoji="1" lang="zh-CN" altLang="en-US" sz="1400" b="1" dirty="0">
                <a:latin typeface="Courier New" panose="02070309020205020404" pitchFamily="49" charset="0"/>
                <a:ea typeface="DengXian" panose="02010600030101010101" pitchFamily="2" charset="-122"/>
                <a:cs typeface="Courier New" panose="02070309020205020404" pitchFamily="49" charset="0"/>
              </a:rPr>
              <a:t>拷贝用户空间</a:t>
            </a:r>
            <a:endParaRPr kumimoji="1" lang="en-US" altLang="zh-CN" sz="1400" b="1" dirty="0">
              <a:latin typeface="DengXian" panose="02010600030101010101" pitchFamily="2" charset="-122"/>
              <a:ea typeface="DengXian" panose="02010600030101010101" pitchFamily="2" charset="-122"/>
            </a:endParaRPr>
          </a:p>
        </p:txBody>
      </p:sp>
      <p:cxnSp>
        <p:nvCxnSpPr>
          <p:cNvPr id="86" name="肘形连接符 85">
            <a:extLst>
              <a:ext uri="{FF2B5EF4-FFF2-40B4-BE49-F238E27FC236}">
                <a16:creationId xmlns:a16="http://schemas.microsoft.com/office/drawing/2014/main" id="{FCB830E1-50C2-9947-93FC-3EBE53610969}"/>
              </a:ext>
            </a:extLst>
          </p:cNvPr>
          <p:cNvCxnSpPr>
            <a:stCxn id="37" idx="0"/>
            <a:endCxn id="7" idx="2"/>
          </p:cNvCxnSpPr>
          <p:nvPr/>
        </p:nvCxnSpPr>
        <p:spPr>
          <a:xfrm rot="5400000" flipH="1" flipV="1">
            <a:off x="1689760" y="3957182"/>
            <a:ext cx="733578" cy="454242"/>
          </a:xfrm>
          <a:prstGeom prst="bentConnector3">
            <a:avLst/>
          </a:prstGeom>
          <a:ln w="19050">
            <a:tailEnd type="triangle"/>
          </a:ln>
        </p:spPr>
        <p:style>
          <a:lnRef idx="1">
            <a:schemeClr val="dk1"/>
          </a:lnRef>
          <a:fillRef idx="0">
            <a:schemeClr val="dk1"/>
          </a:fillRef>
          <a:effectRef idx="0">
            <a:schemeClr val="dk1"/>
          </a:effectRef>
          <a:fontRef idx="minor">
            <a:schemeClr val="tx1"/>
          </a:fontRef>
        </p:style>
      </p:cxnSp>
      <p:cxnSp>
        <p:nvCxnSpPr>
          <p:cNvPr id="88" name="肘形连接符 87">
            <a:extLst>
              <a:ext uri="{FF2B5EF4-FFF2-40B4-BE49-F238E27FC236}">
                <a16:creationId xmlns:a16="http://schemas.microsoft.com/office/drawing/2014/main" id="{5B7AB700-FB20-3A4D-9908-5EADAE212E65}"/>
              </a:ext>
            </a:extLst>
          </p:cNvPr>
          <p:cNvCxnSpPr>
            <a:cxnSpLocks/>
            <a:stCxn id="37" idx="0"/>
            <a:endCxn id="17" idx="5"/>
          </p:cNvCxnSpPr>
          <p:nvPr/>
        </p:nvCxnSpPr>
        <p:spPr>
          <a:xfrm rot="16200000" flipV="1">
            <a:off x="855152" y="3576816"/>
            <a:ext cx="1171211" cy="777342"/>
          </a:xfrm>
          <a:prstGeom prst="bentConnector3">
            <a:avLst/>
          </a:prstGeom>
          <a:ln w="19050">
            <a:tailEnd type="triangle"/>
          </a:ln>
        </p:spPr>
        <p:style>
          <a:lnRef idx="1">
            <a:schemeClr val="dk1"/>
          </a:lnRef>
          <a:fillRef idx="0">
            <a:schemeClr val="dk1"/>
          </a:fillRef>
          <a:effectRef idx="0">
            <a:schemeClr val="dk1"/>
          </a:effectRef>
          <a:fontRef idx="minor">
            <a:schemeClr val="tx1"/>
          </a:fontRef>
        </p:style>
      </p:cxnSp>
      <p:sp>
        <p:nvSpPr>
          <p:cNvPr id="62" name="矩形 61">
            <a:extLst>
              <a:ext uri="{FF2B5EF4-FFF2-40B4-BE49-F238E27FC236}">
                <a16:creationId xmlns:a16="http://schemas.microsoft.com/office/drawing/2014/main" id="{9A5CB739-7825-0440-99DE-4F9DD25FB338}"/>
              </a:ext>
            </a:extLst>
          </p:cNvPr>
          <p:cNvSpPr/>
          <p:nvPr/>
        </p:nvSpPr>
        <p:spPr>
          <a:xfrm>
            <a:off x="5428888" y="1622513"/>
            <a:ext cx="1296144"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user</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buffer</a:t>
            </a:r>
            <a:endParaRPr kumimoji="1" lang="zh-CN" altLang="en-US" dirty="0">
              <a:solidFill>
                <a:schemeClr val="tx1"/>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984973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9"/>
                                        </p:tgtEl>
                                        <p:attrNameLst>
                                          <p:attrName>style.visibility</p:attrName>
                                        </p:attrNameLst>
                                      </p:cBhvr>
                                      <p:to>
                                        <p:strVal val="visible"/>
                                      </p:to>
                                    </p:set>
                                    <p:animEffect transition="in" filter="fade">
                                      <p:cBhvr>
                                        <p:cTn id="10" dur="500"/>
                                        <p:tgtEl>
                                          <p:spTgt spid="79"/>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9"/>
                                        </p:tgtEl>
                                        <p:attrNameLst>
                                          <p:attrName>style.visibility</p:attrName>
                                        </p:attrNameLst>
                                      </p:cBhvr>
                                      <p:to>
                                        <p:strVal val="visible"/>
                                      </p:to>
                                    </p:set>
                                    <p:animEffect transition="in" filter="fade">
                                      <p:cBhvr>
                                        <p:cTn id="16" dur="500"/>
                                        <p:tgtEl>
                                          <p:spTgt spid="3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500"/>
                                        <p:tgtEl>
                                          <p:spTgt spid="1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6"/>
                                        </p:tgtEl>
                                        <p:attrNameLst>
                                          <p:attrName>style.visibility</p:attrName>
                                        </p:attrNameLst>
                                      </p:cBhvr>
                                      <p:to>
                                        <p:strVal val="visible"/>
                                      </p:to>
                                    </p:set>
                                    <p:animEffect transition="in" filter="fade">
                                      <p:cBhvr>
                                        <p:cTn id="24" dur="500"/>
                                        <p:tgtEl>
                                          <p:spTgt spid="8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78"/>
                                        </p:tgtEl>
                                        <p:attrNameLst>
                                          <p:attrName>style.visibility</p:attrName>
                                        </p:attrNameLst>
                                      </p:cBhvr>
                                      <p:to>
                                        <p:strVal val="visible"/>
                                      </p:to>
                                    </p:set>
                                    <p:animEffect transition="in" filter="fade">
                                      <p:cBhvr>
                                        <p:cTn id="27" dur="500"/>
                                        <p:tgtEl>
                                          <p:spTgt spid="7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53"/>
                                        </p:tgtEl>
                                        <p:attrNameLst>
                                          <p:attrName>style.visibility</p:attrName>
                                        </p:attrNameLst>
                                      </p:cBhvr>
                                      <p:to>
                                        <p:strVal val="visible"/>
                                      </p:to>
                                    </p:set>
                                    <p:animEffect transition="in" filter="fade">
                                      <p:cBhvr>
                                        <p:cTn id="35" dur="500"/>
                                        <p:tgtEl>
                                          <p:spTgt spid="53"/>
                                        </p:tgtEl>
                                      </p:cBhvr>
                                    </p:animEffect>
                                  </p:childTnLst>
                                </p:cTn>
                              </p:par>
                              <p:par>
                                <p:cTn id="36" presetID="10" presetClass="entr" presetSubtype="0" fill="hold" nodeType="withEffect">
                                  <p:stCondLst>
                                    <p:cond delay="0"/>
                                  </p:stCondLst>
                                  <p:childTnLst>
                                    <p:set>
                                      <p:cBhvr>
                                        <p:cTn id="37" dur="1" fill="hold">
                                          <p:stCondLst>
                                            <p:cond delay="0"/>
                                          </p:stCondLst>
                                        </p:cTn>
                                        <p:tgtEl>
                                          <p:spTgt spid="52"/>
                                        </p:tgtEl>
                                        <p:attrNameLst>
                                          <p:attrName>style.visibility</p:attrName>
                                        </p:attrNameLst>
                                      </p:cBhvr>
                                      <p:to>
                                        <p:strVal val="visible"/>
                                      </p:to>
                                    </p:set>
                                    <p:animEffect transition="in" filter="fade">
                                      <p:cBhvr>
                                        <p:cTn id="38" dur="500"/>
                                        <p:tgtEl>
                                          <p:spTgt spid="5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77"/>
                                        </p:tgtEl>
                                        <p:attrNameLst>
                                          <p:attrName>style.visibility</p:attrName>
                                        </p:attrNameLst>
                                      </p:cBhvr>
                                      <p:to>
                                        <p:strVal val="visible"/>
                                      </p:to>
                                    </p:set>
                                    <p:animEffect transition="in" filter="fade">
                                      <p:cBhvr>
                                        <p:cTn id="46" dur="500"/>
                                        <p:tgtEl>
                                          <p:spTgt spid="77"/>
                                        </p:tgtEl>
                                      </p:cBhvr>
                                    </p:animEffect>
                                  </p:childTnLst>
                                </p:cTn>
                              </p:par>
                              <p:par>
                                <p:cTn id="47" presetID="10" presetClass="entr" presetSubtype="0" fill="hold" nodeType="withEffect">
                                  <p:stCondLst>
                                    <p:cond delay="0"/>
                                  </p:stCondLst>
                                  <p:childTnLst>
                                    <p:set>
                                      <p:cBhvr>
                                        <p:cTn id="48" dur="1" fill="hold">
                                          <p:stCondLst>
                                            <p:cond delay="0"/>
                                          </p:stCondLst>
                                        </p:cTn>
                                        <p:tgtEl>
                                          <p:spTgt spid="59"/>
                                        </p:tgtEl>
                                        <p:attrNameLst>
                                          <p:attrName>style.visibility</p:attrName>
                                        </p:attrNameLst>
                                      </p:cBhvr>
                                      <p:to>
                                        <p:strVal val="visible"/>
                                      </p:to>
                                    </p:set>
                                    <p:animEffect transition="in" filter="fade">
                                      <p:cBhvr>
                                        <p:cTn id="49" dur="500"/>
                                        <p:tgtEl>
                                          <p:spTgt spid="5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500"/>
                                        <p:tgtEl>
                                          <p:spTgt spid="22"/>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500"/>
                                        <p:tgtEl>
                                          <p:spTgt spid="24"/>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fade">
                                      <p:cBhvr>
                                        <p:cTn id="61" dur="500"/>
                                        <p:tgtEl>
                                          <p:spTgt spid="19"/>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fade">
                                      <p:cBhvr>
                                        <p:cTn id="64" dur="5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fade">
                                      <p:cBhvr>
                                        <p:cTn id="69" dur="500"/>
                                        <p:tgtEl>
                                          <p:spTgt spid="50"/>
                                        </p:tgtEl>
                                      </p:cBhvr>
                                    </p:animEffect>
                                  </p:childTnLst>
                                </p:cTn>
                              </p:par>
                              <p:par>
                                <p:cTn id="70" presetID="10" presetClass="entr" presetSubtype="0" fill="hold" nodeType="with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500"/>
                                        <p:tgtEl>
                                          <p:spTgt spid="49"/>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81"/>
                                        </p:tgtEl>
                                        <p:attrNameLst>
                                          <p:attrName>style.visibility</p:attrName>
                                        </p:attrNameLst>
                                      </p:cBhvr>
                                      <p:to>
                                        <p:strVal val="visible"/>
                                      </p:to>
                                    </p:set>
                                    <p:animEffect transition="in" filter="fade">
                                      <p:cBhvr>
                                        <p:cTn id="75" dur="500"/>
                                        <p:tgtEl>
                                          <p:spTgt spid="81"/>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500"/>
                                        <p:tgtEl>
                                          <p:spTgt spid="15"/>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82"/>
                                        </p:tgtEl>
                                        <p:attrNameLst>
                                          <p:attrName>style.visibility</p:attrName>
                                        </p:attrNameLst>
                                      </p:cBhvr>
                                      <p:to>
                                        <p:strVal val="visible"/>
                                      </p:to>
                                    </p:set>
                                    <p:animEffect transition="in" filter="fade">
                                      <p:cBhvr>
                                        <p:cTn id="83" dur="500"/>
                                        <p:tgtEl>
                                          <p:spTgt spid="8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500"/>
                                        <p:tgtEl>
                                          <p:spTgt spid="25"/>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67"/>
                                        </p:tgtEl>
                                        <p:attrNameLst>
                                          <p:attrName>style.visibility</p:attrName>
                                        </p:attrNameLst>
                                      </p:cBhvr>
                                      <p:to>
                                        <p:strVal val="visible"/>
                                      </p:to>
                                    </p:set>
                                    <p:animEffect transition="in" filter="fade">
                                      <p:cBhvr>
                                        <p:cTn id="91" dur="500"/>
                                        <p:tgtEl>
                                          <p:spTgt spid="67"/>
                                        </p:tgtEl>
                                      </p:cBhvr>
                                    </p:animEffect>
                                  </p:childTnLst>
                                </p:cTn>
                              </p:par>
                              <p:par>
                                <p:cTn id="92" presetID="10" presetClass="entr" presetSubtype="0" fill="hold" nodeType="withEffect">
                                  <p:stCondLst>
                                    <p:cond delay="0"/>
                                  </p:stCondLst>
                                  <p:childTnLst>
                                    <p:set>
                                      <p:cBhvr>
                                        <p:cTn id="93" dur="1" fill="hold">
                                          <p:stCondLst>
                                            <p:cond delay="0"/>
                                          </p:stCondLst>
                                        </p:cTn>
                                        <p:tgtEl>
                                          <p:spTgt spid="76"/>
                                        </p:tgtEl>
                                        <p:attrNameLst>
                                          <p:attrName>style.visibility</p:attrName>
                                        </p:attrNameLst>
                                      </p:cBhvr>
                                      <p:to>
                                        <p:strVal val="visible"/>
                                      </p:to>
                                    </p:set>
                                    <p:animEffect transition="in" filter="fade">
                                      <p:cBhvr>
                                        <p:cTn id="94" dur="500"/>
                                        <p:tgtEl>
                                          <p:spTgt spid="76"/>
                                        </p:tgtEl>
                                      </p:cBhvr>
                                    </p:animEffect>
                                  </p:childTnLst>
                                </p:cTn>
                              </p:par>
                            </p:childTnLst>
                          </p:cTn>
                        </p:par>
                      </p:childTnLst>
                    </p:cTn>
                  </p:par>
                  <p:par>
                    <p:cTn id="95" fill="hold">
                      <p:stCondLst>
                        <p:cond delay="indefinite"/>
                      </p:stCondLst>
                      <p:childTnLst>
                        <p:par>
                          <p:cTn id="96" fill="hold">
                            <p:stCondLst>
                              <p:cond delay="0"/>
                            </p:stCondLst>
                            <p:childTnLst>
                              <p:par>
                                <p:cTn id="97" presetID="10" presetClass="entr" presetSubtype="0" fill="hold" grpId="0" nodeType="clickEffect">
                                  <p:stCondLst>
                                    <p:cond delay="0"/>
                                  </p:stCondLst>
                                  <p:childTnLst>
                                    <p:set>
                                      <p:cBhvr>
                                        <p:cTn id="98" dur="1" fill="hold">
                                          <p:stCondLst>
                                            <p:cond delay="0"/>
                                          </p:stCondLst>
                                        </p:cTn>
                                        <p:tgtEl>
                                          <p:spTgt spid="27"/>
                                        </p:tgtEl>
                                        <p:attrNameLst>
                                          <p:attrName>style.visibility</p:attrName>
                                        </p:attrNameLst>
                                      </p:cBhvr>
                                      <p:to>
                                        <p:strVal val="visible"/>
                                      </p:to>
                                    </p:set>
                                    <p:animEffect transition="in" filter="fade">
                                      <p:cBhvr>
                                        <p:cTn id="99" dur="500"/>
                                        <p:tgtEl>
                                          <p:spTgt spid="27"/>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83"/>
                                        </p:tgtEl>
                                        <p:attrNameLst>
                                          <p:attrName>style.visibility</p:attrName>
                                        </p:attrNameLst>
                                      </p:cBhvr>
                                      <p:to>
                                        <p:strVal val="visible"/>
                                      </p:to>
                                    </p:set>
                                    <p:animEffect transition="in" filter="fade">
                                      <p:cBhvr>
                                        <p:cTn id="102" dur="500"/>
                                        <p:tgtEl>
                                          <p:spTgt spid="83"/>
                                        </p:tgtEl>
                                      </p:cBhvr>
                                    </p:animEffect>
                                  </p:childTnLst>
                                </p:cTn>
                              </p:par>
                              <p:par>
                                <p:cTn id="103" presetID="10" presetClass="entr" presetSubtype="0" fill="hold" nodeType="withEffect">
                                  <p:stCondLst>
                                    <p:cond delay="0"/>
                                  </p:stCondLst>
                                  <p:childTnLst>
                                    <p:set>
                                      <p:cBhvr>
                                        <p:cTn id="104" dur="1" fill="hold">
                                          <p:stCondLst>
                                            <p:cond delay="0"/>
                                          </p:stCondLst>
                                        </p:cTn>
                                        <p:tgtEl>
                                          <p:spTgt spid="71"/>
                                        </p:tgtEl>
                                        <p:attrNameLst>
                                          <p:attrName>style.visibility</p:attrName>
                                        </p:attrNameLst>
                                      </p:cBhvr>
                                      <p:to>
                                        <p:strVal val="visible"/>
                                      </p:to>
                                    </p:set>
                                    <p:animEffect transition="in" filter="fade">
                                      <p:cBhvr>
                                        <p:cTn id="105" dur="500"/>
                                        <p:tgtEl>
                                          <p:spTgt spid="71"/>
                                        </p:tgtEl>
                                      </p:cBhvr>
                                    </p:animEffect>
                                  </p:childTnLst>
                                </p:cTn>
                              </p:par>
                              <p:par>
                                <p:cTn id="106" presetID="10" presetClass="entr" presetSubtype="0" fill="hold" grpId="0" nodeType="withEffect">
                                  <p:stCondLst>
                                    <p:cond delay="0"/>
                                  </p:stCondLst>
                                  <p:childTnLst>
                                    <p:set>
                                      <p:cBhvr>
                                        <p:cTn id="107" dur="1" fill="hold">
                                          <p:stCondLst>
                                            <p:cond delay="0"/>
                                          </p:stCondLst>
                                        </p:cTn>
                                        <p:tgtEl>
                                          <p:spTgt spid="31"/>
                                        </p:tgtEl>
                                        <p:attrNameLst>
                                          <p:attrName>style.visibility</p:attrName>
                                        </p:attrNameLst>
                                      </p:cBhvr>
                                      <p:to>
                                        <p:strVal val="visible"/>
                                      </p:to>
                                    </p:set>
                                    <p:animEffect transition="in" filter="fade">
                                      <p:cBhvr>
                                        <p:cTn id="108" dur="500"/>
                                        <p:tgtEl>
                                          <p:spTgt spid="31"/>
                                        </p:tgtEl>
                                      </p:cBhvr>
                                    </p:animEffect>
                                  </p:childTnLst>
                                </p:cTn>
                              </p:par>
                              <p:par>
                                <p:cTn id="109" presetID="10" presetClass="entr" presetSubtype="0" fill="hold" grpId="0" nodeType="with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fade">
                                      <p:cBhvr>
                                        <p:cTn id="111" dur="500"/>
                                        <p:tgtEl>
                                          <p:spTgt spid="32"/>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33"/>
                                        </p:tgtEl>
                                        <p:attrNameLst>
                                          <p:attrName>style.visibility</p:attrName>
                                        </p:attrNameLst>
                                      </p:cBhvr>
                                      <p:to>
                                        <p:strVal val="visible"/>
                                      </p:to>
                                    </p:set>
                                    <p:animEffect transition="in" filter="fade">
                                      <p:cBhvr>
                                        <p:cTn id="114" dur="500"/>
                                        <p:tgtEl>
                                          <p:spTgt spid="33"/>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30"/>
                                        </p:tgtEl>
                                        <p:attrNameLst>
                                          <p:attrName>style.visibility</p:attrName>
                                        </p:attrNameLst>
                                      </p:cBhvr>
                                      <p:to>
                                        <p:strVal val="visible"/>
                                      </p:to>
                                    </p:set>
                                    <p:animEffect transition="in" filter="fade">
                                      <p:cBhvr>
                                        <p:cTn id="117" dur="500"/>
                                        <p:tgtEl>
                                          <p:spTgt spid="30"/>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fade">
                                      <p:cBhvr>
                                        <p:cTn id="120" dur="500"/>
                                        <p:tgtEl>
                                          <p:spTgt spid="29"/>
                                        </p:tgtEl>
                                      </p:cBhvr>
                                    </p:animEffect>
                                  </p:childTnLst>
                                </p:cTn>
                              </p:par>
                              <p:par>
                                <p:cTn id="121" presetID="10" presetClass="entr" presetSubtype="0" fill="hold" grpId="0" nodeType="withEffect">
                                  <p:stCondLst>
                                    <p:cond delay="0"/>
                                  </p:stCondLst>
                                  <p:childTnLst>
                                    <p:set>
                                      <p:cBhvr>
                                        <p:cTn id="122" dur="1" fill="hold">
                                          <p:stCondLst>
                                            <p:cond delay="0"/>
                                          </p:stCondLst>
                                        </p:cTn>
                                        <p:tgtEl>
                                          <p:spTgt spid="34"/>
                                        </p:tgtEl>
                                        <p:attrNameLst>
                                          <p:attrName>style.visibility</p:attrName>
                                        </p:attrNameLst>
                                      </p:cBhvr>
                                      <p:to>
                                        <p:strVal val="visible"/>
                                      </p:to>
                                    </p:set>
                                    <p:animEffect transition="in" filter="fade">
                                      <p:cBhvr>
                                        <p:cTn id="123" dur="500"/>
                                        <p:tgtEl>
                                          <p:spTgt spid="34"/>
                                        </p:tgtEl>
                                      </p:cBhvr>
                                    </p:animEffect>
                                  </p:childTnLst>
                                </p:cTn>
                              </p:par>
                            </p:childTnLst>
                          </p:cTn>
                        </p:par>
                      </p:childTnLst>
                    </p:cTn>
                  </p:par>
                  <p:par>
                    <p:cTn id="124" fill="hold">
                      <p:stCondLst>
                        <p:cond delay="indefinite"/>
                      </p:stCondLst>
                      <p:childTnLst>
                        <p:par>
                          <p:cTn id="125" fill="hold">
                            <p:stCondLst>
                              <p:cond delay="0"/>
                            </p:stCondLst>
                            <p:childTnLst>
                              <p:par>
                                <p:cTn id="126" presetID="10" presetClass="entr" presetSubtype="0" fill="hold" grpId="0" nodeType="clickEffect">
                                  <p:stCondLst>
                                    <p:cond delay="0"/>
                                  </p:stCondLst>
                                  <p:childTnLst>
                                    <p:set>
                                      <p:cBhvr>
                                        <p:cTn id="127" dur="1" fill="hold">
                                          <p:stCondLst>
                                            <p:cond delay="0"/>
                                          </p:stCondLst>
                                        </p:cTn>
                                        <p:tgtEl>
                                          <p:spTgt spid="84"/>
                                        </p:tgtEl>
                                        <p:attrNameLst>
                                          <p:attrName>style.visibility</p:attrName>
                                        </p:attrNameLst>
                                      </p:cBhvr>
                                      <p:to>
                                        <p:strVal val="visible"/>
                                      </p:to>
                                    </p:set>
                                    <p:animEffect transition="in" filter="fade">
                                      <p:cBhvr>
                                        <p:cTn id="128" dur="500"/>
                                        <p:tgtEl>
                                          <p:spTgt spid="84"/>
                                        </p:tgtEl>
                                      </p:cBhvr>
                                    </p:animEffect>
                                  </p:childTnLst>
                                </p:cTn>
                              </p:par>
                              <p:par>
                                <p:cTn id="129" presetID="10" presetClass="entr" presetSubtype="0" fill="hold" nodeType="withEffect">
                                  <p:stCondLst>
                                    <p:cond delay="0"/>
                                  </p:stCondLst>
                                  <p:childTnLst>
                                    <p:set>
                                      <p:cBhvr>
                                        <p:cTn id="130" dur="1" fill="hold">
                                          <p:stCondLst>
                                            <p:cond delay="0"/>
                                          </p:stCondLst>
                                        </p:cTn>
                                        <p:tgtEl>
                                          <p:spTgt spid="74"/>
                                        </p:tgtEl>
                                        <p:attrNameLst>
                                          <p:attrName>style.visibility</p:attrName>
                                        </p:attrNameLst>
                                      </p:cBhvr>
                                      <p:to>
                                        <p:strVal val="visible"/>
                                      </p:to>
                                    </p:set>
                                    <p:animEffect transition="in" filter="fade">
                                      <p:cBhvr>
                                        <p:cTn id="131" dur="500"/>
                                        <p:tgtEl>
                                          <p:spTgt spid="74"/>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5" grpId="0" animBg="1"/>
      <p:bldP spid="17" grpId="0" animBg="1"/>
      <p:bldP spid="18" grpId="0" animBg="1"/>
      <p:bldP spid="19" grpId="0" animBg="1"/>
      <p:bldP spid="20" grpId="0" animBg="1"/>
      <p:bldP spid="21" grpId="0" animBg="1"/>
      <p:bldP spid="22" grpId="0" animBg="1"/>
      <p:bldP spid="23" grpId="0" animBg="1"/>
      <p:bldP spid="24" grpId="0"/>
      <p:bldP spid="25" grpId="0" animBg="1"/>
      <p:bldP spid="27" grpId="0" animBg="1"/>
      <p:bldP spid="28" grpId="0" animBg="1"/>
      <p:bldP spid="29" grpId="0" animBg="1"/>
      <p:bldP spid="30" grpId="0" animBg="1"/>
      <p:bldP spid="31" grpId="0" animBg="1"/>
      <p:bldP spid="32" grpId="0" animBg="1"/>
      <p:bldP spid="33" grpId="0" animBg="1"/>
      <p:bldP spid="34" grpId="0"/>
      <p:bldP spid="39" grpId="0"/>
      <p:bldP spid="50" grpId="0"/>
      <p:bldP spid="53" grpId="0"/>
      <p:bldP spid="77" grpId="0"/>
      <p:bldP spid="78" grpId="0"/>
      <p:bldP spid="79" grpId="0"/>
      <p:bldP spid="81" grpId="0"/>
      <p:bldP spid="82" grpId="0"/>
      <p:bldP spid="83" grpId="0"/>
      <p:bldP spid="8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收包：数据链路层（</a:t>
            </a:r>
            <a:r>
              <a:rPr kumimoji="1" lang="en-US" altLang="zh-CN" dirty="0"/>
              <a:t>1</a:t>
            </a:r>
            <a:r>
              <a:rPr kumimoji="1" lang="zh-CN" altLang="en-US" dirty="0"/>
              <a:t>）</a:t>
            </a:r>
          </a:p>
        </p:txBody>
      </p:sp>
      <p:sp>
        <p:nvSpPr>
          <p:cNvPr id="3" name="内容占位符 2"/>
          <p:cNvSpPr>
            <a:spLocks noGrp="1"/>
          </p:cNvSpPr>
          <p:nvPr>
            <p:ph idx="1"/>
          </p:nvPr>
        </p:nvSpPr>
        <p:spPr/>
        <p:txBody>
          <a:bodyPr>
            <a:normAutofit lnSpcReduction="10000"/>
          </a:bodyPr>
          <a:lstStyle/>
          <a:p>
            <a:r>
              <a:rPr kumimoji="1" lang="zh-CN" altLang="en-US" dirty="0"/>
              <a:t>网卡收到到数据包（以太网帧）：</a:t>
            </a:r>
            <a:endParaRPr kumimoji="1" lang="en-US" altLang="zh-CN" dirty="0"/>
          </a:p>
          <a:p>
            <a:pPr lvl="1"/>
            <a:r>
              <a:rPr kumimoji="1" lang="en-GB" altLang="zh-CN" dirty="0"/>
              <a:t>DMA </a:t>
            </a:r>
            <a:r>
              <a:rPr kumimoji="1" lang="zh-CN" altLang="en-US" dirty="0"/>
              <a:t>将数据帧传送至内核内存中的</a:t>
            </a:r>
            <a:r>
              <a:rPr kumimoji="1" lang="en-US" altLang="zh-CN" dirty="0" err="1"/>
              <a:t>rx_ring</a:t>
            </a:r>
            <a:endParaRPr kumimoji="1" lang="en-US" altLang="zh-CN" dirty="0"/>
          </a:p>
          <a:p>
            <a:pPr lvl="1"/>
            <a:r>
              <a:rPr kumimoji="1" lang="zh-CN" altLang="en-US" dirty="0"/>
              <a:t>网卡中断被触发</a:t>
            </a:r>
            <a:endParaRPr kumimoji="1" lang="en-GB" altLang="zh-CN" dirty="0"/>
          </a:p>
          <a:p>
            <a:r>
              <a:rPr kumimoji="1" lang="en-US" altLang="zh-CN" dirty="0"/>
              <a:t>CPU</a:t>
            </a:r>
            <a:r>
              <a:rPr kumimoji="1" lang="zh-CN" altLang="en-US" dirty="0"/>
              <a:t>收到网卡中断，调用网卡</a:t>
            </a:r>
            <a:r>
              <a:rPr kumimoji="1" lang="en-US" altLang="zh-CN" dirty="0"/>
              <a:t>ISR</a:t>
            </a:r>
            <a:r>
              <a:rPr kumimoji="1" lang="zh-CN" altLang="en-US" dirty="0"/>
              <a:t>（上半部）：</a:t>
            </a:r>
            <a:endParaRPr kumimoji="1" lang="en-US" altLang="zh-CN" dirty="0"/>
          </a:p>
          <a:p>
            <a:pPr lvl="1"/>
            <a:r>
              <a:rPr kumimoji="1" lang="zh-CN" altLang="en-US" dirty="0"/>
              <a:t>分配 </a:t>
            </a:r>
            <a:r>
              <a:rPr kumimoji="1" lang="en-GB" altLang="zh-CN" i="1" dirty="0" err="1"/>
              <a:t>sk_buff</a:t>
            </a:r>
            <a:r>
              <a:rPr kumimoji="1" lang="en-GB" altLang="zh-CN" i="1" dirty="0"/>
              <a:t> </a:t>
            </a:r>
            <a:r>
              <a:rPr kumimoji="1" lang="en-US" altLang="zh-CN" i="1" dirty="0"/>
              <a:t>(</a:t>
            </a:r>
            <a:r>
              <a:rPr kumimoji="1" lang="en-US" altLang="zh-CN" i="1" dirty="0" err="1"/>
              <a:t>skb</a:t>
            </a:r>
            <a:r>
              <a:rPr kumimoji="1" lang="en-US" altLang="zh-CN" i="1" dirty="0"/>
              <a:t>)</a:t>
            </a:r>
            <a:r>
              <a:rPr kumimoji="1" lang="zh-CN" altLang="en-US" i="1" dirty="0"/>
              <a:t> </a:t>
            </a:r>
            <a:r>
              <a:rPr kumimoji="1" lang="zh-CN" altLang="en-US" dirty="0"/>
              <a:t>数据结构，负责管理</a:t>
            </a:r>
            <a:r>
              <a:rPr kumimoji="1" lang="en-US" altLang="zh-CN" dirty="0" err="1"/>
              <a:t>rx_ring</a:t>
            </a:r>
            <a:r>
              <a:rPr kumimoji="1" lang="zh-CN" altLang="en-US" dirty="0"/>
              <a:t>中的数据包</a:t>
            </a:r>
            <a:endParaRPr kumimoji="1" lang="en-US" altLang="zh-CN" dirty="0"/>
          </a:p>
          <a:p>
            <a:pPr lvl="1"/>
            <a:r>
              <a:rPr kumimoji="1" lang="zh-CN" altLang="en-US" dirty="0"/>
              <a:t>将</a:t>
            </a:r>
            <a:r>
              <a:rPr kumimoji="1" lang="en-US" altLang="zh-CN" dirty="0" err="1"/>
              <a:t>skb</a:t>
            </a:r>
            <a:r>
              <a:rPr kumimoji="1" lang="zh-CN" altLang="en-US" dirty="0"/>
              <a:t>包入队（</a:t>
            </a:r>
            <a:r>
              <a:rPr kumimoji="1" lang="en" altLang="zh-CN" i="1" dirty="0" err="1"/>
              <a:t>input_pkt_queue</a:t>
            </a:r>
            <a:r>
              <a:rPr kumimoji="1" lang="zh-CN" altLang="en-US" dirty="0"/>
              <a:t>）</a:t>
            </a:r>
            <a:endParaRPr kumimoji="1" lang="zh-CN" altLang="en-GB" dirty="0"/>
          </a:p>
          <a:p>
            <a:r>
              <a:rPr kumimoji="1" lang="zh-CN" altLang="en-US" dirty="0"/>
              <a:t>上半部发出一个软中断（</a:t>
            </a:r>
            <a:r>
              <a:rPr kumimoji="1" lang="en-GB" altLang="zh-CN" i="1" dirty="0"/>
              <a:t>NET_RX_SOFTIRQ</a:t>
            </a:r>
            <a:r>
              <a:rPr kumimoji="1" lang="zh-CN" altLang="en-GB" dirty="0"/>
              <a:t>）</a:t>
            </a:r>
            <a:r>
              <a:rPr kumimoji="1" lang="zh-CN" altLang="en-US" dirty="0"/>
              <a:t>：</a:t>
            </a:r>
          </a:p>
          <a:p>
            <a:pPr lvl="1"/>
            <a:r>
              <a:rPr kumimoji="1" lang="zh-CN" altLang="en-US" dirty="0"/>
              <a:t>通知内核处理</a:t>
            </a:r>
            <a:r>
              <a:rPr kumimoji="1" lang="en-US" altLang="zh-CN" dirty="0" err="1"/>
              <a:t>skb</a:t>
            </a:r>
            <a:r>
              <a:rPr kumimoji="1" lang="zh-CN" altLang="en-US" dirty="0"/>
              <a:t>包</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收包：数据链路层（</a:t>
            </a:r>
            <a:r>
              <a:rPr kumimoji="1" lang="en-US" altLang="zh-CN" dirty="0"/>
              <a:t>2</a:t>
            </a:r>
            <a:r>
              <a:rPr kumimoji="1" lang="zh-CN" altLang="en-US" dirty="0"/>
              <a:t>）</a:t>
            </a:r>
          </a:p>
        </p:txBody>
      </p:sp>
      <p:sp>
        <p:nvSpPr>
          <p:cNvPr id="3" name="内容占位符 2"/>
          <p:cNvSpPr>
            <a:spLocks noGrp="1"/>
          </p:cNvSpPr>
          <p:nvPr>
            <p:ph idx="1"/>
          </p:nvPr>
        </p:nvSpPr>
        <p:spPr/>
        <p:txBody>
          <a:bodyPr>
            <a:normAutofit/>
          </a:bodyPr>
          <a:lstStyle/>
          <a:p>
            <a:r>
              <a:rPr kumimoji="1" lang="zh-CN" altLang="en-US" dirty="0"/>
              <a:t>进入软中断处理流程（下半部）：</a:t>
            </a:r>
            <a:endParaRPr kumimoji="1" lang="en-US" altLang="zh-CN" dirty="0"/>
          </a:p>
          <a:p>
            <a:pPr lvl="1"/>
            <a:r>
              <a:rPr kumimoji="1" lang="zh-CN" altLang="en-US" dirty="0"/>
              <a:t>把 </a:t>
            </a:r>
            <a:r>
              <a:rPr kumimoji="1" lang="en" altLang="zh-CN" i="1" dirty="0" err="1"/>
              <a:t>input_pkt_queue</a:t>
            </a:r>
            <a:r>
              <a:rPr kumimoji="1" lang="zh-CN" altLang="en-US" i="1" dirty="0"/>
              <a:t> </a:t>
            </a:r>
            <a:r>
              <a:rPr kumimoji="1" lang="zh-CN" altLang="en" dirty="0"/>
              <a:t>的</a:t>
            </a:r>
            <a:r>
              <a:rPr kumimoji="1" lang="en-US" altLang="zh-CN" dirty="0" err="1"/>
              <a:t>skb</a:t>
            </a:r>
            <a:r>
              <a:rPr kumimoji="1" lang="zh-CN" altLang="en-US" dirty="0"/>
              <a:t>移动到 </a:t>
            </a:r>
            <a:r>
              <a:rPr kumimoji="1" lang="en" altLang="zh-CN" i="1" dirty="0" err="1"/>
              <a:t>process_queue</a:t>
            </a:r>
            <a:r>
              <a:rPr kumimoji="1" lang="zh-CN" altLang="en-US" i="1" dirty="0"/>
              <a:t> </a:t>
            </a:r>
            <a:r>
              <a:rPr kumimoji="1" lang="zh-CN" altLang="en-US" dirty="0"/>
              <a:t>处理队列中</a:t>
            </a:r>
            <a:endParaRPr kumimoji="1" lang="en-US" altLang="zh-CN" dirty="0"/>
          </a:p>
          <a:p>
            <a:pPr lvl="1"/>
            <a:r>
              <a:rPr kumimoji="1" lang="zh-CN" altLang="en-US" dirty="0"/>
              <a:t>根据报文类型</a:t>
            </a:r>
            <a:r>
              <a:rPr kumimoji="1" lang="en-US" altLang="zh-CN" dirty="0"/>
              <a:t>(ARP</a:t>
            </a:r>
            <a:r>
              <a:rPr kumimoji="1" lang="zh-CN" altLang="en-US" dirty="0"/>
              <a:t>或是</a:t>
            </a:r>
            <a:r>
              <a:rPr kumimoji="1" lang="en-US" altLang="zh-CN" dirty="0"/>
              <a:t>IP)</a:t>
            </a:r>
            <a:r>
              <a:rPr kumimoji="1" lang="zh-CN" altLang="en-US" dirty="0"/>
              <a:t>，把报文递交给对应协议进行处理</a:t>
            </a:r>
            <a:endParaRPr kumimoji="1" lang="en-US" altLang="zh-CN" dirty="0"/>
          </a:p>
          <a:p>
            <a:pPr lvl="1"/>
            <a:r>
              <a:rPr kumimoji="1" lang="zh-CN" altLang="en-US" dirty="0"/>
              <a:t>调用网络层协议的的</a:t>
            </a:r>
            <a:r>
              <a:rPr kumimoji="1" lang="en-US" altLang="zh-CN" dirty="0"/>
              <a:t>handler</a:t>
            </a:r>
            <a:r>
              <a:rPr kumimoji="1" lang="zh-CN" altLang="en-US" dirty="0"/>
              <a:t>处理</a:t>
            </a:r>
            <a:r>
              <a:rPr kumimoji="1" lang="en-GB" altLang="zh-CN" dirty="0" err="1"/>
              <a:t>skb</a:t>
            </a:r>
            <a:r>
              <a:rPr kumimoji="1" lang="zh-CN" altLang="en-US" dirty="0"/>
              <a:t>包</a:t>
            </a:r>
          </a:p>
          <a:p>
            <a:r>
              <a:rPr kumimoji="1" lang="zh-CN" altLang="en-US" dirty="0"/>
              <a:t>移动</a:t>
            </a:r>
            <a:r>
              <a:rPr kumimoji="1" lang="en-US" altLang="zh-CN" dirty="0" err="1"/>
              <a:t>skb</a:t>
            </a:r>
            <a:r>
              <a:rPr kumimoji="1" lang="zh-CN" altLang="en-US" dirty="0"/>
              <a:t>：操作指针</a:t>
            </a:r>
            <a:endParaRPr kumimoji="1" lang="en-US" altLang="zh-CN" dirty="0"/>
          </a:p>
          <a:p>
            <a:r>
              <a:rPr kumimoji="1" lang="zh-CN" altLang="en-US" dirty="0"/>
              <a:t>如果接收队列已满（</a:t>
            </a:r>
            <a:r>
              <a:rPr kumimoji="1" lang="en" altLang="zh-CN" dirty="0" err="1"/>
              <a:t>input_pkt_queue</a:t>
            </a:r>
            <a:r>
              <a:rPr kumimoji="1" lang="zh-CN" altLang="en-US" dirty="0"/>
              <a:t>）：</a:t>
            </a:r>
            <a:endParaRPr kumimoji="1" lang="en-US" altLang="zh-CN" dirty="0"/>
          </a:p>
          <a:p>
            <a:pPr lvl="1"/>
            <a:r>
              <a:rPr kumimoji="1" lang="zh-CN" altLang="en-US" dirty="0"/>
              <a:t>丢弃后续数据：可能发生</a:t>
            </a:r>
            <a:r>
              <a:rPr kumimoji="1" lang="zh-CN" altLang="en-US" b="1" dirty="0">
                <a:solidFill>
                  <a:schemeClr val="accent1"/>
                </a:solidFill>
              </a:rPr>
              <a:t>活锁！</a:t>
            </a:r>
            <a:endParaRPr kumimoji="1" lang="en-US" altLang="zh-CN" b="1" dirty="0">
              <a:solidFill>
                <a:schemeClr val="accent1"/>
              </a:solidFill>
            </a:endParaRPr>
          </a:p>
        </p:txBody>
      </p:sp>
      <p:sp>
        <p:nvSpPr>
          <p:cNvPr id="4" name="灯片编号占位符 3"/>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收包：网络层</a:t>
            </a:r>
          </a:p>
        </p:txBody>
      </p:sp>
      <p:sp>
        <p:nvSpPr>
          <p:cNvPr id="3" name="内容占位符 2"/>
          <p:cNvSpPr>
            <a:spLocks noGrp="1"/>
          </p:cNvSpPr>
          <p:nvPr>
            <p:ph idx="1"/>
          </p:nvPr>
        </p:nvSpPr>
        <p:spPr/>
        <p:txBody>
          <a:bodyPr>
            <a:normAutofit/>
          </a:bodyPr>
          <a:lstStyle/>
          <a:p>
            <a:r>
              <a:rPr kumimoji="1" lang="en-GB" altLang="zh-CN" dirty="0"/>
              <a:t>IP </a:t>
            </a:r>
            <a:r>
              <a:rPr kumimoji="1" lang="zh-CN" altLang="en-US" dirty="0"/>
              <a:t>层的入口函数 </a:t>
            </a:r>
            <a:r>
              <a:rPr kumimoji="1" lang="en-GB" altLang="zh-CN" dirty="0" err="1"/>
              <a:t>ip_rcv</a:t>
            </a:r>
            <a:r>
              <a:rPr kumimoji="1" lang="en-US" altLang="zh-CN" dirty="0"/>
              <a:t>()</a:t>
            </a:r>
            <a:r>
              <a:rPr kumimoji="1" lang="zh-CN" altLang="en-US" dirty="0"/>
              <a:t>：</a:t>
            </a:r>
            <a:endParaRPr kumimoji="1" lang="en-US" altLang="zh-CN" dirty="0"/>
          </a:p>
          <a:p>
            <a:pPr lvl="1"/>
            <a:r>
              <a:rPr kumimoji="1" lang="zh-CN" altLang="en-US" dirty="0"/>
              <a:t>检查是否为</a:t>
            </a:r>
            <a:r>
              <a:rPr kumimoji="1" lang="en-US" altLang="zh-CN" dirty="0"/>
              <a:t>IP</a:t>
            </a:r>
            <a:r>
              <a:rPr kumimoji="1" lang="zh-CN" altLang="en-US" dirty="0"/>
              <a:t>包</a:t>
            </a:r>
            <a:endParaRPr kumimoji="1" lang="en-US" altLang="zh-CN" dirty="0"/>
          </a:p>
          <a:p>
            <a:pPr lvl="1"/>
            <a:r>
              <a:rPr kumimoji="1" lang="zh-CN" altLang="en-US" dirty="0"/>
              <a:t>检查</a:t>
            </a:r>
            <a:r>
              <a:rPr kumimoji="1" lang="en-US" altLang="zh-CN" dirty="0"/>
              <a:t>IP</a:t>
            </a:r>
            <a:r>
              <a:rPr kumimoji="1" lang="zh-CN" altLang="en-US" dirty="0"/>
              <a:t>版本号</a:t>
            </a:r>
            <a:endParaRPr kumimoji="1" lang="en-US" altLang="zh-CN" dirty="0"/>
          </a:p>
          <a:p>
            <a:pPr lvl="1"/>
            <a:r>
              <a:rPr kumimoji="1" lang="zh-CN" altLang="en-US" dirty="0"/>
              <a:t>对完整性（</a:t>
            </a:r>
            <a:r>
              <a:rPr kumimoji="1" lang="en-US" altLang="zh-CN" dirty="0"/>
              <a:t>checksum</a:t>
            </a:r>
            <a:r>
              <a:rPr kumimoji="1" lang="zh-CN" altLang="en-US" dirty="0"/>
              <a:t>）和长度进行检查</a:t>
            </a:r>
          </a:p>
          <a:p>
            <a:r>
              <a:rPr kumimoji="1" lang="en-GB" altLang="zh-CN" dirty="0" err="1"/>
              <a:t>ip_rcv</a:t>
            </a:r>
            <a:r>
              <a:rPr kumimoji="1" lang="en-US" altLang="zh-CN" dirty="0"/>
              <a:t>()</a:t>
            </a:r>
            <a:r>
              <a:rPr kumimoji="1" lang="zh-CN" altLang="en-US" dirty="0"/>
              <a:t>结束调用</a:t>
            </a:r>
            <a:r>
              <a:rPr kumimoji="1" lang="en-GB" altLang="zh-CN" dirty="0" err="1"/>
              <a:t>ip_router_input</a:t>
            </a:r>
            <a:r>
              <a:rPr kumimoji="1" lang="en-US" altLang="zh-CN" dirty="0"/>
              <a:t>()</a:t>
            </a:r>
            <a:r>
              <a:rPr kumimoji="1" lang="en-GB" altLang="zh-CN" dirty="0"/>
              <a:t> </a:t>
            </a:r>
            <a:r>
              <a:rPr kumimoji="1" lang="zh-CN" altLang="en-GB" dirty="0"/>
              <a:t>，</a:t>
            </a:r>
            <a:r>
              <a:rPr kumimoji="1" lang="zh-CN" altLang="en-US" dirty="0"/>
              <a:t>进行路由处理</a:t>
            </a:r>
          </a:p>
          <a:p>
            <a:pPr lvl="1"/>
            <a:r>
              <a:rPr kumimoji="1" lang="zh-CN" altLang="en-US" dirty="0"/>
              <a:t>查找路由</a:t>
            </a:r>
            <a:endParaRPr kumimoji="1" lang="en-US" altLang="zh-CN" dirty="0"/>
          </a:p>
          <a:p>
            <a:pPr lvl="1"/>
            <a:r>
              <a:rPr kumimoji="1" lang="zh-CN" altLang="en-US" dirty="0"/>
              <a:t>决定该数据包（报文） 是发到本机，还是被转发，或是被丢弃</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收包：传输层</a:t>
            </a:r>
          </a:p>
        </p:txBody>
      </p:sp>
      <p:sp>
        <p:nvSpPr>
          <p:cNvPr id="3" name="内容占位符 2"/>
          <p:cNvSpPr>
            <a:spLocks noGrp="1"/>
          </p:cNvSpPr>
          <p:nvPr>
            <p:ph idx="1"/>
          </p:nvPr>
        </p:nvSpPr>
        <p:spPr/>
        <p:txBody>
          <a:bodyPr>
            <a:normAutofit fontScale="92500"/>
          </a:bodyPr>
          <a:lstStyle/>
          <a:p>
            <a:r>
              <a:rPr kumimoji="1" lang="zh-CN" altLang="en-US" dirty="0"/>
              <a:t>传输层的处理入口 </a:t>
            </a:r>
            <a:r>
              <a:rPr kumimoji="1" lang="en-GB" altLang="zh-CN" dirty="0"/>
              <a:t>tcp_v4_rcv</a:t>
            </a:r>
            <a:r>
              <a:rPr kumimoji="1" lang="en-US" altLang="zh-CN" dirty="0"/>
              <a:t>()</a:t>
            </a:r>
          </a:p>
          <a:p>
            <a:pPr lvl="1"/>
            <a:r>
              <a:rPr kumimoji="1" lang="zh-CN" altLang="en-US" dirty="0"/>
              <a:t>对 </a:t>
            </a:r>
            <a:r>
              <a:rPr kumimoji="1" lang="en-GB" altLang="zh-CN" dirty="0"/>
              <a:t>TCP header </a:t>
            </a:r>
            <a:r>
              <a:rPr kumimoji="1" lang="zh-CN" altLang="en-US" dirty="0"/>
              <a:t>进行检查</a:t>
            </a:r>
          </a:p>
          <a:p>
            <a:r>
              <a:rPr kumimoji="1" lang="zh-CN" altLang="en-US" dirty="0"/>
              <a:t>调用 </a:t>
            </a:r>
            <a:r>
              <a:rPr kumimoji="1" lang="en-US" altLang="zh-CN" dirty="0"/>
              <a:t>_</a:t>
            </a:r>
            <a:r>
              <a:rPr kumimoji="1" lang="en-GB" altLang="zh-CN" dirty="0"/>
              <a:t>tcp_v4_lookup</a:t>
            </a:r>
            <a:r>
              <a:rPr kumimoji="1" lang="zh-CN" altLang="en-GB" dirty="0"/>
              <a:t>，</a:t>
            </a:r>
            <a:r>
              <a:rPr kumimoji="1" lang="zh-CN" altLang="en-US" dirty="0"/>
              <a:t>查找该数据包对应的</a:t>
            </a:r>
            <a:r>
              <a:rPr kumimoji="1" lang="en-GB" altLang="zh-CN" dirty="0"/>
              <a:t>open socket</a:t>
            </a:r>
          </a:p>
          <a:p>
            <a:pPr lvl="1"/>
            <a:r>
              <a:rPr kumimoji="1" lang="zh-CN" altLang="en-US" dirty="0"/>
              <a:t>如果找不到，该数据包被丢弃</a:t>
            </a:r>
          </a:p>
          <a:p>
            <a:pPr lvl="1"/>
            <a:r>
              <a:rPr kumimoji="1" lang="zh-CN" altLang="en-US" dirty="0"/>
              <a:t>否则检查 </a:t>
            </a:r>
            <a:r>
              <a:rPr kumimoji="1" lang="en-GB" altLang="zh-CN" dirty="0"/>
              <a:t>socket </a:t>
            </a:r>
            <a:r>
              <a:rPr kumimoji="1" lang="zh-CN" altLang="en-US" dirty="0"/>
              <a:t>和 </a:t>
            </a:r>
            <a:r>
              <a:rPr kumimoji="1" lang="en-GB" altLang="zh-CN" dirty="0"/>
              <a:t>connection </a:t>
            </a:r>
            <a:r>
              <a:rPr kumimoji="1" lang="zh-CN" altLang="en-US" dirty="0"/>
              <a:t>的状态</a:t>
            </a:r>
          </a:p>
          <a:p>
            <a:r>
              <a:rPr kumimoji="1" lang="en-GB" altLang="zh-CN" dirty="0"/>
              <a:t>socket </a:t>
            </a:r>
            <a:r>
              <a:rPr kumimoji="1" lang="zh-CN" altLang="en-US" dirty="0"/>
              <a:t>和 </a:t>
            </a:r>
            <a:r>
              <a:rPr kumimoji="1" lang="en-GB" altLang="zh-CN" dirty="0"/>
              <a:t>connection </a:t>
            </a:r>
            <a:r>
              <a:rPr kumimoji="1" lang="zh-CN" altLang="en-US" dirty="0"/>
              <a:t>正常</a:t>
            </a:r>
            <a:endParaRPr kumimoji="1" lang="en-US" altLang="zh-CN" dirty="0"/>
          </a:p>
          <a:p>
            <a:pPr lvl="1"/>
            <a:r>
              <a:rPr kumimoji="1" lang="zh-CN" altLang="en-US" dirty="0"/>
              <a:t>调用 </a:t>
            </a:r>
            <a:r>
              <a:rPr kumimoji="1" lang="en-GB" altLang="zh-CN" dirty="0" err="1"/>
              <a:t>tcp_prequeue</a:t>
            </a:r>
            <a:r>
              <a:rPr kumimoji="1" lang="en-US" altLang="zh-CN" dirty="0"/>
              <a:t>()</a:t>
            </a:r>
            <a:r>
              <a:rPr kumimoji="1" lang="en-GB" altLang="zh-CN" dirty="0"/>
              <a:t> </a:t>
            </a:r>
            <a:r>
              <a:rPr kumimoji="1" lang="zh-CN" altLang="en-US" dirty="0"/>
              <a:t>使</a:t>
            </a:r>
            <a:r>
              <a:rPr kumimoji="1" lang="en-US" altLang="zh-CN" dirty="0" err="1"/>
              <a:t>tcp</a:t>
            </a:r>
            <a:r>
              <a:rPr kumimoji="1" lang="zh-CN" altLang="en-US" dirty="0"/>
              <a:t>载荷从内核进入用户空间，放进 </a:t>
            </a:r>
            <a:r>
              <a:rPr kumimoji="1" lang="en-GB" altLang="zh-CN" dirty="0"/>
              <a:t>socket </a:t>
            </a:r>
            <a:r>
              <a:rPr kumimoji="1" lang="zh-CN" altLang="en-US" dirty="0"/>
              <a:t>接收队列</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收包：应用层</a:t>
            </a:r>
          </a:p>
        </p:txBody>
      </p:sp>
      <p:sp>
        <p:nvSpPr>
          <p:cNvPr id="3" name="内容占位符 2"/>
          <p:cNvSpPr>
            <a:spLocks noGrp="1"/>
          </p:cNvSpPr>
          <p:nvPr>
            <p:ph idx="1"/>
          </p:nvPr>
        </p:nvSpPr>
        <p:spPr/>
        <p:txBody>
          <a:bodyPr>
            <a:normAutofit/>
          </a:bodyPr>
          <a:lstStyle/>
          <a:p>
            <a:r>
              <a:rPr kumimoji="1" lang="en-US" altLang="zh-CN" dirty="0"/>
              <a:t>socket </a:t>
            </a:r>
            <a:r>
              <a:rPr kumimoji="1" lang="zh-CN" altLang="en-US" dirty="0"/>
              <a:t>被唤醒，调用 </a:t>
            </a:r>
            <a:r>
              <a:rPr kumimoji="1" lang="en-US" altLang="zh-CN" dirty="0"/>
              <a:t>system call</a:t>
            </a:r>
          </a:p>
          <a:p>
            <a:pPr lvl="1"/>
            <a:r>
              <a:rPr kumimoji="1" lang="zh-CN" altLang="en-US" dirty="0"/>
              <a:t>最终调用 </a:t>
            </a:r>
            <a:r>
              <a:rPr kumimoji="1" lang="en-US" altLang="zh-CN" dirty="0" err="1"/>
              <a:t>tcp_recvmsg</a:t>
            </a:r>
            <a:r>
              <a:rPr kumimoji="1" lang="en-US" altLang="zh-CN" dirty="0"/>
              <a:t>()</a:t>
            </a:r>
            <a:r>
              <a:rPr kumimoji="1" lang="zh-CN" altLang="en-US" dirty="0"/>
              <a:t>，从 </a:t>
            </a:r>
            <a:r>
              <a:rPr kumimoji="1" lang="en-US" altLang="zh-CN" dirty="0"/>
              <a:t>socket </a:t>
            </a:r>
            <a:r>
              <a:rPr kumimoji="1" lang="zh-CN" altLang="en-US" dirty="0"/>
              <a:t>接收队列中获取数据</a:t>
            </a:r>
            <a:endParaRPr kumimoji="1" lang="en-US" altLang="zh-CN" dirty="0"/>
          </a:p>
          <a:p>
            <a:r>
              <a:rPr kumimoji="1" lang="zh-CN" altLang="en-US" dirty="0"/>
              <a:t>用户态调用 </a:t>
            </a:r>
            <a:r>
              <a:rPr kumimoji="1" lang="en-GB" altLang="zh-CN" dirty="0"/>
              <a:t>read </a:t>
            </a:r>
            <a:r>
              <a:rPr kumimoji="1" lang="zh-CN" altLang="en-US" dirty="0"/>
              <a:t>或者 </a:t>
            </a:r>
            <a:r>
              <a:rPr kumimoji="1" lang="en-GB" altLang="zh-CN" dirty="0" err="1"/>
              <a:t>recvfrom</a:t>
            </a:r>
            <a:r>
              <a:rPr kumimoji="1" lang="en-GB" altLang="zh-CN" dirty="0"/>
              <a:t> </a:t>
            </a:r>
            <a:endParaRPr kumimoji="1" lang="en-US" altLang="zh-CN" dirty="0"/>
          </a:p>
          <a:p>
            <a:pPr lvl="1"/>
            <a:r>
              <a:rPr kumimoji="1" lang="zh-CN" altLang="en-US" dirty="0"/>
              <a:t>转化为 </a:t>
            </a:r>
            <a:r>
              <a:rPr kumimoji="1" lang="en-GB" altLang="zh-CN" dirty="0" err="1"/>
              <a:t>sys_recvfrom</a:t>
            </a:r>
            <a:r>
              <a:rPr kumimoji="1" lang="en-GB" altLang="zh-CN" dirty="0"/>
              <a:t> </a:t>
            </a:r>
            <a:r>
              <a:rPr kumimoji="1" lang="zh-CN" altLang="en-US" dirty="0"/>
              <a:t>调用</a:t>
            </a:r>
            <a:endParaRPr kumimoji="1" lang="en-US" altLang="zh-CN" dirty="0"/>
          </a:p>
          <a:p>
            <a:pPr lvl="1"/>
            <a:r>
              <a:rPr kumimoji="1" lang="zh-CN" altLang="en-US" dirty="0"/>
              <a:t>对 </a:t>
            </a:r>
            <a:r>
              <a:rPr kumimoji="1" lang="en-GB" altLang="zh-CN" dirty="0"/>
              <a:t>TCP </a:t>
            </a:r>
            <a:r>
              <a:rPr kumimoji="1" lang="zh-CN" altLang="en-US" dirty="0"/>
              <a:t>来说，调用 </a:t>
            </a:r>
            <a:r>
              <a:rPr kumimoji="1" lang="en-GB" altLang="zh-CN" dirty="0" err="1"/>
              <a:t>tcp_recvmsg</a:t>
            </a:r>
            <a:r>
              <a:rPr kumimoji="1" lang="en-US" altLang="zh-CN" dirty="0"/>
              <a:t>()</a:t>
            </a:r>
            <a:r>
              <a:rPr kumimoji="1" lang="zh-CN" altLang="en-US" dirty="0"/>
              <a:t>：该函数从</a:t>
            </a:r>
            <a:r>
              <a:rPr kumimoji="1" lang="en-US" altLang="zh-CN" dirty="0"/>
              <a:t>s</a:t>
            </a:r>
            <a:r>
              <a:rPr kumimoji="1" lang="en-GB" altLang="zh-CN" dirty="0" err="1"/>
              <a:t>ocket</a:t>
            </a:r>
            <a:r>
              <a:rPr kumimoji="1" lang="en-GB" altLang="zh-CN" dirty="0"/>
              <a:t> buffer </a:t>
            </a:r>
            <a:r>
              <a:rPr kumimoji="1" lang="zh-CN" altLang="en-US" dirty="0"/>
              <a:t>中拷贝数据到</a:t>
            </a:r>
            <a:r>
              <a:rPr kumimoji="1" lang="en-GB" altLang="zh-CN" dirty="0"/>
              <a:t>user buffer</a:t>
            </a:r>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网络包的管理</a:t>
            </a:r>
          </a:p>
        </p:txBody>
      </p:sp>
      <p:sp>
        <p:nvSpPr>
          <p:cNvPr id="3" name="内容占位符 2"/>
          <p:cNvSpPr>
            <a:spLocks noGrp="1"/>
          </p:cNvSpPr>
          <p:nvPr>
            <p:ph idx="1"/>
          </p:nvPr>
        </p:nvSpPr>
        <p:spPr/>
        <p:txBody>
          <a:bodyPr>
            <a:normAutofit/>
          </a:bodyPr>
          <a:lstStyle/>
          <a:p>
            <a:r>
              <a:rPr kumimoji="1" lang="zh-CN" altLang="en-US" dirty="0"/>
              <a:t>要求高效地处理分层</a:t>
            </a:r>
            <a:endParaRPr kumimoji="1" lang="en-US" altLang="zh-CN" dirty="0"/>
          </a:p>
          <a:p>
            <a:pPr lvl="1"/>
            <a:r>
              <a:rPr kumimoji="1" lang="zh-CN" altLang="en-US" dirty="0"/>
              <a:t>发包时需要不断添加新的头部，收包则相反</a:t>
            </a:r>
            <a:endParaRPr kumimoji="1" lang="en-US" altLang="zh-CN" dirty="0"/>
          </a:p>
          <a:p>
            <a:r>
              <a:rPr kumimoji="1" lang="zh-CN" altLang="en-US" dirty="0"/>
              <a:t>避免连续存放网络包</a:t>
            </a:r>
            <a:endParaRPr kumimoji="1" lang="en-US" altLang="zh-CN" dirty="0"/>
          </a:p>
          <a:p>
            <a:pPr lvl="1"/>
            <a:r>
              <a:rPr kumimoji="1" lang="zh-CN" altLang="en-US" dirty="0"/>
              <a:t>移动过程中数据拷贝会有很大开销</a:t>
            </a:r>
            <a:endParaRPr kumimoji="1" lang="en-US" altLang="zh-CN" dirty="0"/>
          </a:p>
          <a:p>
            <a:r>
              <a:rPr kumimoji="1" lang="en-US" altLang="zh-CN" dirty="0"/>
              <a:t>Linux</a:t>
            </a:r>
            <a:r>
              <a:rPr kumimoji="1" lang="zh-CN" altLang="en-US" dirty="0"/>
              <a:t>数据结构：</a:t>
            </a:r>
            <a:r>
              <a:rPr kumimoji="1" lang="en-US" altLang="zh-CN" dirty="0" err="1"/>
              <a:t>sk_buff</a:t>
            </a:r>
            <a:r>
              <a:rPr kumimoji="1" lang="zh-CN" altLang="en-US" dirty="0"/>
              <a:t>（简称</a:t>
            </a:r>
            <a:r>
              <a:rPr kumimoji="1" lang="en-US" altLang="zh-CN" dirty="0" err="1"/>
              <a:t>skb</a:t>
            </a:r>
            <a:r>
              <a:rPr kumimoji="1" lang="zh-CN" altLang="en-US" dirty="0"/>
              <a:t>）</a:t>
            </a:r>
            <a:endParaRPr kumimoji="1" lang="en-US" altLang="zh-CN" dirty="0"/>
          </a:p>
          <a:p>
            <a:pPr lvl="1"/>
            <a:r>
              <a:rPr kumimoji="1" lang="zh-CN" altLang="en-US" dirty="0"/>
              <a:t>让分层的处理变得高效：零拷贝</a:t>
            </a:r>
            <a:endParaRPr kumimoji="1" lang="en-US" altLang="zh-CN" dirty="0"/>
          </a:p>
          <a:p>
            <a:pPr lvl="1"/>
            <a:r>
              <a:rPr kumimoji="1" lang="zh-CN" altLang="en-US" dirty="0"/>
              <a:t>快速申请和释放内存：防止内存碎片</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GB" altLang="zh-CN" dirty="0" err="1"/>
              <a:t>sk_buff</a:t>
            </a:r>
            <a:endParaRPr kumimoji="1" lang="zh-CN" altLang="en-US" dirty="0"/>
          </a:p>
        </p:txBody>
      </p:sp>
      <p:sp>
        <p:nvSpPr>
          <p:cNvPr id="3" name="内容占位符 2"/>
          <p:cNvSpPr>
            <a:spLocks noGrp="1"/>
          </p:cNvSpPr>
          <p:nvPr>
            <p:ph idx="1"/>
          </p:nvPr>
        </p:nvSpPr>
        <p:spPr>
          <a:xfrm>
            <a:off x="4211960" y="1333501"/>
            <a:ext cx="4474840" cy="1596007"/>
          </a:xfrm>
        </p:spPr>
        <p:txBody>
          <a:bodyPr>
            <a:normAutofit fontScale="85000" lnSpcReduction="10000"/>
          </a:bodyPr>
          <a:lstStyle/>
          <a:p>
            <a:r>
              <a:rPr kumimoji="1" lang="en-US" altLang="zh-CN" dirty="0" err="1"/>
              <a:t>sk_buff</a:t>
            </a:r>
            <a:r>
              <a:rPr kumimoji="1" lang="zh-CN" altLang="en-US" dirty="0"/>
              <a:t>本身不存储报文</a:t>
            </a:r>
            <a:endParaRPr kumimoji="1" lang="en-US" altLang="zh-CN" dirty="0"/>
          </a:p>
          <a:p>
            <a:pPr lvl="1"/>
            <a:r>
              <a:rPr kumimoji="1" lang="zh-CN" altLang="en-US" dirty="0"/>
              <a:t>通过指针指向真正的报文内存空间</a:t>
            </a:r>
            <a:endParaRPr kumimoji="1" lang="en-US" altLang="zh-CN" dirty="0"/>
          </a:p>
          <a:p>
            <a:r>
              <a:rPr kumimoji="1" lang="zh-CN" altLang="en-US" dirty="0"/>
              <a:t>在各层传递时</a:t>
            </a:r>
            <a:endParaRPr kumimoji="1" lang="en-US" altLang="zh-CN" dirty="0"/>
          </a:p>
          <a:p>
            <a:pPr lvl="1"/>
            <a:r>
              <a:rPr kumimoji="1" lang="zh-CN" altLang="en-US" dirty="0"/>
              <a:t>只需调整指针相应位置即可</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3"/>
          <p:cNvSpPr txBox="1"/>
          <p:nvPr/>
        </p:nvSpPr>
        <p:spPr>
          <a:xfrm>
            <a:off x="457200" y="1319674"/>
            <a:ext cx="3672408" cy="3000821"/>
          </a:xfrm>
          <a:prstGeom prst="rect">
            <a:avLst/>
          </a:prstGeom>
          <a:noFill/>
          <a:ln w="19050">
            <a:solidFill>
              <a:schemeClr val="tx1"/>
            </a:solidFill>
          </a:ln>
        </p:spPr>
        <p:txBody>
          <a:bodyPr wrap="square" rtlCol="0">
            <a:spAutoFit/>
          </a:bodyPr>
          <a:lstStyle/>
          <a:p>
            <a:r>
              <a:rPr lang="en-US" altLang="zh-CN" sz="1050" b="1" dirty="0">
                <a:latin typeface="Courier New" panose="02070309020205020404" pitchFamily="49" charset="0"/>
                <a:cs typeface="Courier New" panose="02070309020205020404" pitchFamily="49" charset="0"/>
              </a:rPr>
              <a:t>struct </a:t>
            </a:r>
            <a:r>
              <a:rPr lang="en-US" altLang="zh-CN" sz="1050" b="1" dirty="0" err="1">
                <a:latin typeface="Courier New" panose="02070309020205020404" pitchFamily="49" charset="0"/>
                <a:cs typeface="Courier New" panose="02070309020205020404" pitchFamily="49" charset="0"/>
              </a:rPr>
              <a:t>sk_buff</a:t>
            </a:r>
            <a:r>
              <a:rPr lang="en-US" altLang="zh-CN" sz="1050" b="1" dirty="0">
                <a:latin typeface="Courier New" panose="02070309020205020404" pitchFamily="49" charset="0"/>
                <a:cs typeface="Courier New" panose="02070309020205020404" pitchFamily="49" charset="0"/>
              </a:rPr>
              <a:t> {</a:t>
            </a:r>
          </a:p>
          <a:p>
            <a:r>
              <a:rPr lang="en-US" altLang="zh-CN" sz="1050" b="1" dirty="0">
                <a:latin typeface="Courier New" panose="02070309020205020404" pitchFamily="49" charset="0"/>
                <a:cs typeface="Courier New" panose="02070309020205020404" pitchFamily="49" charset="0"/>
              </a:rPr>
              <a:t>    /* These two members must be first. */</a:t>
            </a:r>
          </a:p>
          <a:p>
            <a:r>
              <a:rPr lang="en-US" altLang="zh-CN" sz="1050" b="1" dirty="0">
                <a:latin typeface="Courier New" panose="02070309020205020404" pitchFamily="49" charset="0"/>
                <a:cs typeface="Courier New" panose="02070309020205020404" pitchFamily="49" charset="0"/>
              </a:rPr>
              <a:t>    struct </a:t>
            </a:r>
            <a:r>
              <a:rPr lang="en-US" altLang="zh-CN" sz="1050" b="1" dirty="0" err="1">
                <a:latin typeface="Courier New" panose="02070309020205020404" pitchFamily="49" charset="0"/>
                <a:cs typeface="Courier New" panose="02070309020205020404" pitchFamily="49" charset="0"/>
              </a:rPr>
              <a:t>sk_buff</a:t>
            </a:r>
            <a:r>
              <a:rPr lang="en-US" altLang="zh-CN" sz="1050" b="1" dirty="0">
                <a:latin typeface="Courier New" panose="02070309020205020404" pitchFamily="49" charset="0"/>
                <a:cs typeface="Courier New" panose="02070309020205020404" pitchFamily="49" charset="0"/>
              </a:rPr>
              <a:t>    * next;</a:t>
            </a:r>
          </a:p>
          <a:p>
            <a:r>
              <a:rPr lang="en-US" altLang="zh-CN" sz="1050" b="1" dirty="0">
                <a:latin typeface="Courier New" panose="02070309020205020404" pitchFamily="49" charset="0"/>
                <a:cs typeface="Courier New" panose="02070309020205020404" pitchFamily="49" charset="0"/>
              </a:rPr>
              <a:t>    struct </a:t>
            </a:r>
            <a:r>
              <a:rPr lang="en-US" altLang="zh-CN" sz="1050" b="1" dirty="0" err="1">
                <a:latin typeface="Courier New" panose="02070309020205020404" pitchFamily="49" charset="0"/>
                <a:cs typeface="Courier New" panose="02070309020205020404" pitchFamily="49" charset="0"/>
              </a:rPr>
              <a:t>sk_buff</a:t>
            </a:r>
            <a:r>
              <a:rPr lang="en-US" altLang="zh-CN" sz="1050" b="1" dirty="0">
                <a:latin typeface="Courier New" panose="02070309020205020404" pitchFamily="49" charset="0"/>
                <a:cs typeface="Courier New" panose="02070309020205020404" pitchFamily="49" charset="0"/>
              </a:rPr>
              <a:t>    * </a:t>
            </a:r>
            <a:r>
              <a:rPr lang="en-US" altLang="zh-CN" sz="1050" b="1" dirty="0" err="1">
                <a:latin typeface="Courier New" panose="02070309020205020404" pitchFamily="49" charset="0"/>
                <a:cs typeface="Courier New" panose="02070309020205020404" pitchFamily="49" charset="0"/>
              </a:rPr>
              <a:t>prev</a:t>
            </a:r>
            <a:r>
              <a:rPr lang="en-US" altLang="zh-CN" sz="1050" b="1" dirty="0">
                <a:latin typeface="Courier New" panose="02070309020205020404" pitchFamily="49" charset="0"/>
                <a:cs typeface="Courier New" panose="02070309020205020404" pitchFamily="49" charset="0"/>
              </a:rPr>
              <a:t>;</a:t>
            </a:r>
          </a:p>
          <a:p>
            <a:endParaRPr lang="en-US" altLang="zh-CN" sz="1050" b="1" dirty="0">
              <a:latin typeface="Courier New" panose="02070309020205020404" pitchFamily="49" charset="0"/>
              <a:cs typeface="Courier New" panose="02070309020205020404" pitchFamily="49" charset="0"/>
            </a:endParaRPr>
          </a:p>
          <a:p>
            <a:r>
              <a:rPr lang="en-US" altLang="zh-CN" sz="1050" b="1" dirty="0">
                <a:latin typeface="Courier New" panose="02070309020205020404" pitchFamily="49" charset="0"/>
                <a:cs typeface="Courier New" panose="02070309020205020404" pitchFamily="49" charset="0"/>
              </a:rPr>
              <a:t>    // </a:t>
            </a:r>
            <a:r>
              <a:rPr lang="zh-CN" altLang="en-US" sz="1050" b="1" dirty="0">
                <a:latin typeface="Courier New" panose="02070309020205020404" pitchFamily="49" charset="0"/>
                <a:cs typeface="Courier New" panose="02070309020205020404" pitchFamily="49" charset="0"/>
              </a:rPr>
              <a:t>真正指向的数据</a:t>
            </a:r>
            <a:r>
              <a:rPr lang="en-US" altLang="zh-CN" sz="1050" b="1" dirty="0">
                <a:latin typeface="Courier New" panose="02070309020205020404" pitchFamily="49" charset="0"/>
                <a:cs typeface="Courier New" panose="02070309020205020404" pitchFamily="49" charset="0"/>
              </a:rPr>
              <a:t>buffer</a:t>
            </a:r>
          </a:p>
          <a:p>
            <a:r>
              <a:rPr lang="en-US" altLang="zh-CN" sz="1050" b="1" dirty="0">
                <a:latin typeface="Courier New" panose="02070309020205020404" pitchFamily="49" charset="0"/>
                <a:cs typeface="Courier New" panose="02070309020205020404" pitchFamily="49" charset="0"/>
              </a:rPr>
              <a:t>    struct sock  *</a:t>
            </a:r>
            <a:r>
              <a:rPr lang="en-US" altLang="zh-CN" sz="1050" b="1" dirty="0" err="1">
                <a:latin typeface="Courier New" panose="02070309020205020404" pitchFamily="49" charset="0"/>
                <a:cs typeface="Courier New" panose="02070309020205020404" pitchFamily="49" charset="0"/>
              </a:rPr>
              <a:t>sk</a:t>
            </a:r>
            <a:r>
              <a:rPr lang="en-US" altLang="zh-CN" sz="1050" b="1" dirty="0">
                <a:latin typeface="Courier New" panose="02070309020205020404" pitchFamily="49" charset="0"/>
                <a:cs typeface="Courier New" panose="02070309020205020404" pitchFamily="49" charset="0"/>
              </a:rPr>
              <a:t>;</a:t>
            </a:r>
          </a:p>
          <a:p>
            <a:endParaRPr lang="en-US" altLang="zh-CN" sz="1050" b="1" dirty="0">
              <a:latin typeface="Courier New" panose="02070309020205020404" pitchFamily="49" charset="0"/>
              <a:cs typeface="Courier New" panose="02070309020205020404" pitchFamily="49" charset="0"/>
            </a:endParaRPr>
          </a:p>
          <a:p>
            <a:r>
              <a:rPr lang="en-US" altLang="zh-CN" sz="1050" b="1" dirty="0">
                <a:latin typeface="Courier New" panose="02070309020205020404" pitchFamily="49" charset="0"/>
                <a:cs typeface="Courier New" panose="02070309020205020404" pitchFamily="49" charset="0"/>
              </a:rPr>
              <a:t>    // </a:t>
            </a:r>
            <a:r>
              <a:rPr lang="zh-CN" altLang="en-US" sz="1050" b="1" dirty="0">
                <a:latin typeface="Courier New" panose="02070309020205020404" pitchFamily="49" charset="0"/>
                <a:cs typeface="Courier New" panose="02070309020205020404" pitchFamily="49" charset="0"/>
              </a:rPr>
              <a:t>缓冲区的头部</a:t>
            </a:r>
          </a:p>
          <a:p>
            <a:r>
              <a:rPr lang="zh-CN" altLang="en-US" sz="1050" b="1" dirty="0">
                <a:latin typeface="Courier New" panose="02070309020205020404" pitchFamily="49" charset="0"/>
                <a:cs typeface="Courier New" panose="02070309020205020404" pitchFamily="49" charset="0"/>
              </a:rPr>
              <a:t>    </a:t>
            </a:r>
            <a:r>
              <a:rPr lang="en-US" altLang="zh-CN" sz="1050" b="1" dirty="0">
                <a:latin typeface="Courier New" panose="02070309020205020404" pitchFamily="49" charset="0"/>
                <a:cs typeface="Courier New" panose="02070309020205020404" pitchFamily="49" charset="0"/>
              </a:rPr>
              <a:t>unsigned char *</a:t>
            </a:r>
            <a:r>
              <a:rPr lang="en-US" altLang="zh-CN" sz="1050" b="1" dirty="0">
                <a:solidFill>
                  <a:srgbClr val="FF2F92"/>
                </a:solidFill>
                <a:latin typeface="Courier New" panose="02070309020205020404" pitchFamily="49" charset="0"/>
                <a:cs typeface="Courier New" panose="02070309020205020404" pitchFamily="49" charset="0"/>
              </a:rPr>
              <a:t>head</a:t>
            </a:r>
            <a:r>
              <a:rPr lang="en-US" altLang="zh-CN" sz="1050" b="1" dirty="0">
                <a:latin typeface="Courier New" panose="02070309020205020404" pitchFamily="49" charset="0"/>
                <a:cs typeface="Courier New" panose="02070309020205020404" pitchFamily="49" charset="0"/>
              </a:rPr>
              <a:t>; </a:t>
            </a:r>
          </a:p>
          <a:p>
            <a:r>
              <a:rPr lang="en-US" altLang="zh-CN" sz="1050" b="1" dirty="0">
                <a:latin typeface="Courier New" panose="02070309020205020404" pitchFamily="49" charset="0"/>
                <a:cs typeface="Courier New" panose="02070309020205020404" pitchFamily="49" charset="0"/>
              </a:rPr>
              <a:t>    // </a:t>
            </a:r>
            <a:r>
              <a:rPr lang="zh-CN" altLang="en-US" sz="1050" b="1" dirty="0">
                <a:latin typeface="Courier New" panose="02070309020205020404" pitchFamily="49" charset="0"/>
                <a:cs typeface="Courier New" panose="02070309020205020404" pitchFamily="49" charset="0"/>
              </a:rPr>
              <a:t>实际数据的头部</a:t>
            </a:r>
          </a:p>
          <a:p>
            <a:r>
              <a:rPr lang="zh-CN" altLang="en-US" sz="1050" b="1" dirty="0">
                <a:latin typeface="Courier New" panose="02070309020205020404" pitchFamily="49" charset="0"/>
                <a:cs typeface="Courier New" panose="02070309020205020404" pitchFamily="49" charset="0"/>
              </a:rPr>
              <a:t>    </a:t>
            </a:r>
            <a:r>
              <a:rPr lang="en-US" altLang="zh-CN" sz="1050" b="1" dirty="0">
                <a:latin typeface="Courier New" panose="02070309020205020404" pitchFamily="49" charset="0"/>
                <a:cs typeface="Courier New" panose="02070309020205020404" pitchFamily="49" charset="0"/>
              </a:rPr>
              <a:t>unsigned char *</a:t>
            </a:r>
            <a:r>
              <a:rPr lang="en-US" altLang="zh-CN" sz="1050" b="1" dirty="0">
                <a:solidFill>
                  <a:srgbClr val="FF2F92"/>
                </a:solidFill>
                <a:latin typeface="Courier New" panose="02070309020205020404" pitchFamily="49" charset="0"/>
                <a:cs typeface="Courier New" panose="02070309020205020404" pitchFamily="49" charset="0"/>
              </a:rPr>
              <a:t>data</a:t>
            </a:r>
            <a:r>
              <a:rPr lang="en-US" altLang="zh-CN" sz="1050" b="1" dirty="0">
                <a:latin typeface="Courier New" panose="02070309020205020404" pitchFamily="49" charset="0"/>
                <a:cs typeface="Courier New" panose="02070309020205020404" pitchFamily="49" charset="0"/>
              </a:rPr>
              <a:t>; </a:t>
            </a:r>
          </a:p>
          <a:p>
            <a:r>
              <a:rPr lang="en-US" altLang="zh-CN" sz="1050" b="1" dirty="0">
                <a:latin typeface="Courier New" panose="02070309020205020404" pitchFamily="49" charset="0"/>
                <a:cs typeface="Courier New" panose="02070309020205020404" pitchFamily="49" charset="0"/>
              </a:rPr>
              <a:t>    // </a:t>
            </a:r>
            <a:r>
              <a:rPr lang="zh-CN" altLang="en-US" sz="1050" b="1" dirty="0">
                <a:latin typeface="Courier New" panose="02070309020205020404" pitchFamily="49" charset="0"/>
                <a:cs typeface="Courier New" panose="02070309020205020404" pitchFamily="49" charset="0"/>
              </a:rPr>
              <a:t>实际数据的尾部</a:t>
            </a:r>
          </a:p>
          <a:p>
            <a:r>
              <a:rPr lang="zh-CN" altLang="en-US" sz="1050" b="1" dirty="0">
                <a:latin typeface="Courier New" panose="02070309020205020404" pitchFamily="49" charset="0"/>
                <a:cs typeface="Courier New" panose="02070309020205020404" pitchFamily="49" charset="0"/>
              </a:rPr>
              <a:t>    </a:t>
            </a:r>
            <a:r>
              <a:rPr lang="en-US" altLang="zh-CN" sz="1050" b="1" dirty="0">
                <a:latin typeface="Courier New" panose="02070309020205020404" pitchFamily="49" charset="0"/>
                <a:cs typeface="Courier New" panose="02070309020205020404" pitchFamily="49" charset="0"/>
              </a:rPr>
              <a:t>unsigned char *</a:t>
            </a:r>
            <a:r>
              <a:rPr lang="en-US" altLang="zh-CN" sz="1050" b="1" dirty="0">
                <a:solidFill>
                  <a:srgbClr val="FF2F92"/>
                </a:solidFill>
                <a:latin typeface="Courier New" panose="02070309020205020404" pitchFamily="49" charset="0"/>
                <a:cs typeface="Courier New" panose="02070309020205020404" pitchFamily="49" charset="0"/>
              </a:rPr>
              <a:t>tail</a:t>
            </a:r>
            <a:r>
              <a:rPr lang="en-US" altLang="zh-CN" sz="1050" b="1" dirty="0">
                <a:latin typeface="Courier New" panose="02070309020205020404" pitchFamily="49" charset="0"/>
                <a:cs typeface="Courier New" panose="02070309020205020404" pitchFamily="49" charset="0"/>
              </a:rPr>
              <a:t>; </a:t>
            </a:r>
          </a:p>
          <a:p>
            <a:r>
              <a:rPr lang="en-US" altLang="zh-CN" sz="1050" b="1" dirty="0">
                <a:latin typeface="Courier New" panose="02070309020205020404" pitchFamily="49" charset="0"/>
                <a:cs typeface="Courier New" panose="02070309020205020404" pitchFamily="49" charset="0"/>
              </a:rPr>
              <a:t>    // </a:t>
            </a:r>
            <a:r>
              <a:rPr lang="zh-CN" altLang="en-US" sz="1050" b="1" dirty="0">
                <a:latin typeface="Courier New" panose="02070309020205020404" pitchFamily="49" charset="0"/>
                <a:cs typeface="Courier New" panose="02070309020205020404" pitchFamily="49" charset="0"/>
              </a:rPr>
              <a:t>缓冲区的尾部</a:t>
            </a:r>
          </a:p>
          <a:p>
            <a:r>
              <a:rPr lang="zh-CN" altLang="en-US" sz="1050" b="1" dirty="0">
                <a:latin typeface="Courier New" panose="02070309020205020404" pitchFamily="49" charset="0"/>
                <a:cs typeface="Courier New" panose="02070309020205020404" pitchFamily="49" charset="0"/>
              </a:rPr>
              <a:t>    </a:t>
            </a:r>
            <a:r>
              <a:rPr lang="en-US" altLang="zh-CN" sz="1050" b="1" dirty="0">
                <a:latin typeface="Courier New" panose="02070309020205020404" pitchFamily="49" charset="0"/>
                <a:cs typeface="Courier New" panose="02070309020205020404" pitchFamily="49" charset="0"/>
              </a:rPr>
              <a:t>unsigned char *</a:t>
            </a:r>
            <a:r>
              <a:rPr lang="en-US" altLang="zh-CN" sz="1050" b="1" dirty="0">
                <a:solidFill>
                  <a:srgbClr val="FF2F92"/>
                </a:solidFill>
                <a:latin typeface="Courier New" panose="02070309020205020404" pitchFamily="49" charset="0"/>
                <a:cs typeface="Courier New" panose="02070309020205020404" pitchFamily="49" charset="0"/>
              </a:rPr>
              <a:t>end</a:t>
            </a:r>
            <a:r>
              <a:rPr lang="en-US" altLang="zh-CN" sz="1050" b="1" dirty="0">
                <a:latin typeface="Courier New" panose="02070309020205020404" pitchFamily="49" charset="0"/>
                <a:cs typeface="Courier New" panose="02070309020205020404" pitchFamily="49" charset="0"/>
              </a:rPr>
              <a:t>;  </a:t>
            </a:r>
          </a:p>
          <a:p>
            <a:r>
              <a:rPr lang="en-US" altLang="zh-CN" sz="1050" b="1" dirty="0">
                <a:latin typeface="Courier New" panose="02070309020205020404" pitchFamily="49" charset="0"/>
                <a:cs typeface="Courier New" panose="02070309020205020404" pitchFamily="49" charset="0"/>
              </a:rPr>
              <a:t>};</a:t>
            </a:r>
          </a:p>
          <a:p>
            <a:endParaRPr lang="en-US" altLang="zh-CN" sz="1050" b="1" dirty="0">
              <a:latin typeface="Courier New" panose="02070309020205020404" pitchFamily="49" charset="0"/>
              <a:cs typeface="Courier New" panose="02070309020205020404" pitchFamily="49" charset="0"/>
            </a:endParaRPr>
          </a:p>
        </p:txBody>
      </p:sp>
      <p:sp>
        <p:nvSpPr>
          <p:cNvPr id="7" name="矩形 6"/>
          <p:cNvSpPr/>
          <p:nvPr/>
        </p:nvSpPr>
        <p:spPr>
          <a:xfrm>
            <a:off x="5148064" y="2989180"/>
            <a:ext cx="1577740" cy="54798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8" name="矩形 7"/>
          <p:cNvSpPr/>
          <p:nvPr/>
        </p:nvSpPr>
        <p:spPr>
          <a:xfrm>
            <a:off x="5148064" y="3537162"/>
            <a:ext cx="1577740" cy="1034466"/>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9" name="矩形 8"/>
          <p:cNvSpPr/>
          <p:nvPr/>
        </p:nvSpPr>
        <p:spPr>
          <a:xfrm>
            <a:off x="5148064" y="4585188"/>
            <a:ext cx="1577740" cy="53442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cxnSp>
        <p:nvCxnSpPr>
          <p:cNvPr id="11" name="直线箭头连接符 10"/>
          <p:cNvCxnSpPr/>
          <p:nvPr/>
        </p:nvCxnSpPr>
        <p:spPr>
          <a:xfrm>
            <a:off x="2483768" y="2929508"/>
            <a:ext cx="2664296" cy="596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直线箭头连接符 12"/>
          <p:cNvCxnSpPr>
            <a:cxnSpLocks/>
          </p:cNvCxnSpPr>
          <p:nvPr/>
        </p:nvCxnSpPr>
        <p:spPr>
          <a:xfrm>
            <a:off x="2483768" y="3225980"/>
            <a:ext cx="2664296" cy="2976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直线箭头连接符 14"/>
          <p:cNvCxnSpPr>
            <a:cxnSpLocks/>
          </p:cNvCxnSpPr>
          <p:nvPr/>
        </p:nvCxnSpPr>
        <p:spPr>
          <a:xfrm>
            <a:off x="2483768" y="3537162"/>
            <a:ext cx="2664296" cy="10480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直线箭头连接符 16"/>
          <p:cNvCxnSpPr/>
          <p:nvPr/>
        </p:nvCxnSpPr>
        <p:spPr>
          <a:xfrm>
            <a:off x="2411760" y="3881456"/>
            <a:ext cx="2736304" cy="12381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95996D6F-3649-1147-8673-8B167A035FF7}"/>
              </a:ext>
            </a:extLst>
          </p:cNvPr>
          <p:cNvSpPr txBox="1"/>
          <p:nvPr/>
        </p:nvSpPr>
        <p:spPr>
          <a:xfrm>
            <a:off x="5473091" y="4667733"/>
            <a:ext cx="1005403" cy="369332"/>
          </a:xfrm>
          <a:prstGeom prst="rect">
            <a:avLst/>
          </a:prstGeom>
          <a:noFill/>
        </p:spPr>
        <p:txBody>
          <a:bodyPr wrap="none" rtlCol="0">
            <a:spAutoFit/>
          </a:bodyPr>
          <a:lstStyle/>
          <a:p>
            <a:r>
              <a:rPr kumimoji="1" lang="en-US" altLang="zh-CN" dirty="0" err="1"/>
              <a:t>tailroom</a:t>
            </a:r>
            <a:endParaRPr kumimoji="1" lang="zh-CN" altLang="en-US" dirty="0"/>
          </a:p>
        </p:txBody>
      </p:sp>
      <p:sp>
        <p:nvSpPr>
          <p:cNvPr id="16" name="文本框 15">
            <a:extLst>
              <a:ext uri="{FF2B5EF4-FFF2-40B4-BE49-F238E27FC236}">
                <a16:creationId xmlns:a16="http://schemas.microsoft.com/office/drawing/2014/main" id="{62F679DE-3919-BD41-8081-31071BD181C4}"/>
              </a:ext>
            </a:extLst>
          </p:cNvPr>
          <p:cNvSpPr txBox="1"/>
          <p:nvPr/>
        </p:nvSpPr>
        <p:spPr>
          <a:xfrm>
            <a:off x="5364088" y="3060297"/>
            <a:ext cx="1223412" cy="369332"/>
          </a:xfrm>
          <a:prstGeom prst="rect">
            <a:avLst/>
          </a:prstGeom>
          <a:noFill/>
        </p:spPr>
        <p:txBody>
          <a:bodyPr wrap="none" rtlCol="0">
            <a:spAutoFit/>
          </a:bodyPr>
          <a:lstStyle/>
          <a:p>
            <a:r>
              <a:rPr kumimoji="1" lang="en-US" altLang="zh-CN" dirty="0"/>
              <a:t>headroom</a:t>
            </a:r>
            <a:endParaRPr kumimoji="1" lang="zh-CN" altLang="en-US" dirty="0"/>
          </a:p>
        </p:txBody>
      </p:sp>
      <p:sp>
        <p:nvSpPr>
          <p:cNvPr id="18" name="文本框 17">
            <a:extLst>
              <a:ext uri="{FF2B5EF4-FFF2-40B4-BE49-F238E27FC236}">
                <a16:creationId xmlns:a16="http://schemas.microsoft.com/office/drawing/2014/main" id="{4CD7167D-6CA5-4F4F-AF4B-F2BECBBDE606}"/>
              </a:ext>
            </a:extLst>
          </p:cNvPr>
          <p:cNvSpPr txBox="1"/>
          <p:nvPr/>
        </p:nvSpPr>
        <p:spPr>
          <a:xfrm>
            <a:off x="5659040" y="3869729"/>
            <a:ext cx="633507" cy="369332"/>
          </a:xfrm>
          <a:prstGeom prst="rect">
            <a:avLst/>
          </a:prstGeom>
          <a:noFill/>
        </p:spPr>
        <p:txBody>
          <a:bodyPr wrap="none" rtlCol="0">
            <a:spAutoFit/>
          </a:bodyPr>
          <a:lstStyle/>
          <a:p>
            <a:r>
              <a:rPr kumimoji="1" lang="en-US" altLang="zh-CN" dirty="0"/>
              <a:t>data</a:t>
            </a:r>
            <a:endParaRPr kumimoji="1"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例子：发送数据包</a:t>
            </a:r>
          </a:p>
        </p:txBody>
      </p:sp>
      <p:sp>
        <p:nvSpPr>
          <p:cNvPr id="3" name="内容占位符 2"/>
          <p:cNvSpPr>
            <a:spLocks noGrp="1"/>
          </p:cNvSpPr>
          <p:nvPr>
            <p:ph idx="1"/>
          </p:nvPr>
        </p:nvSpPr>
        <p:spPr/>
        <p:txBody>
          <a:bodyPr/>
          <a:lstStyle/>
          <a:p>
            <a:r>
              <a:rPr kumimoji="1" lang="en-US" altLang="zh-CN" dirty="0"/>
              <a:t>Step1:</a:t>
            </a:r>
            <a:r>
              <a:rPr kumimoji="1" lang="zh-CN" altLang="en-US" dirty="0"/>
              <a:t> </a:t>
            </a:r>
            <a:r>
              <a:rPr kumimoji="1" lang="en-US" altLang="zh-CN" dirty="0"/>
              <a:t>TCP</a:t>
            </a:r>
            <a:r>
              <a:rPr kumimoji="1" lang="zh-CN" altLang="en-US" dirty="0"/>
              <a:t>层发数据时，首先用</a:t>
            </a:r>
            <a:r>
              <a:rPr kumimoji="1" lang="en-GB" altLang="zh-CN" dirty="0" err="1"/>
              <a:t>alloc_skb</a:t>
            </a:r>
            <a:r>
              <a:rPr kumimoji="1" lang="zh-CN" altLang="en-US" dirty="0"/>
              <a:t>申请缓冲区</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p:cNvSpPr/>
          <p:nvPr/>
        </p:nvSpPr>
        <p:spPr>
          <a:xfrm>
            <a:off x="4650434" y="2029408"/>
            <a:ext cx="1577740" cy="280831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1764947" y="2281436"/>
            <a:ext cx="1577740" cy="2304256"/>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len</a:t>
            </a:r>
            <a:r>
              <a:rPr kumimoji="1" lang="en-US" altLang="zh-CN" dirty="0">
                <a:solidFill>
                  <a:schemeClr val="tx1"/>
                </a:solidFill>
                <a:latin typeface="DengXian" panose="02010600030101010101" pitchFamily="2" charset="-122"/>
                <a:ea typeface="DengXian" panose="02010600030101010101" pitchFamily="2" charset="-122"/>
              </a:rPr>
              <a:t>=0</a:t>
            </a:r>
          </a:p>
          <a:p>
            <a:pPr algn="ctr"/>
            <a:r>
              <a:rPr kumimoji="1" lang="en-US" altLang="zh-CN" dirty="0">
                <a:solidFill>
                  <a:schemeClr val="tx1"/>
                </a:solidFill>
                <a:latin typeface="DengXian" panose="02010600030101010101" pitchFamily="2" charset="-122"/>
                <a:ea typeface="DengXian" panose="02010600030101010101" pitchFamily="2" charset="-122"/>
              </a:rPr>
              <a:t>…</a:t>
            </a:r>
          </a:p>
          <a:p>
            <a:pPr algn="ctr"/>
            <a:r>
              <a:rPr kumimoji="1" lang="en-US" altLang="zh-CN" dirty="0">
                <a:solidFill>
                  <a:schemeClr val="tx1"/>
                </a:solidFill>
                <a:latin typeface="DengXian" panose="02010600030101010101" pitchFamily="2" charset="-122"/>
                <a:ea typeface="DengXian" panose="02010600030101010101" pitchFamily="2" charset="-122"/>
              </a:rPr>
              <a:t>head</a:t>
            </a:r>
          </a:p>
          <a:p>
            <a:pPr algn="ctr"/>
            <a:r>
              <a:rPr kumimoji="1" lang="en-US" altLang="zh-CN" dirty="0">
                <a:solidFill>
                  <a:schemeClr val="tx1"/>
                </a:solidFill>
                <a:latin typeface="DengXian" panose="02010600030101010101" pitchFamily="2" charset="-122"/>
                <a:ea typeface="DengXian" panose="02010600030101010101" pitchFamily="2" charset="-122"/>
              </a:rPr>
              <a:t>data</a:t>
            </a:r>
          </a:p>
          <a:p>
            <a:pPr algn="ctr"/>
            <a:r>
              <a:rPr kumimoji="1" lang="en-US" altLang="zh-CN" dirty="0">
                <a:solidFill>
                  <a:schemeClr val="tx1"/>
                </a:solidFill>
                <a:latin typeface="DengXian" panose="02010600030101010101" pitchFamily="2" charset="-122"/>
                <a:ea typeface="DengXian" panose="02010600030101010101" pitchFamily="2" charset="-122"/>
              </a:rPr>
              <a:t>tail</a:t>
            </a:r>
          </a:p>
          <a:p>
            <a:pPr algn="ctr"/>
            <a:r>
              <a:rPr kumimoji="1" lang="en-US" altLang="zh-CN" dirty="0">
                <a:solidFill>
                  <a:schemeClr val="tx1"/>
                </a:solidFill>
                <a:latin typeface="DengXian" panose="02010600030101010101" pitchFamily="2" charset="-122"/>
                <a:ea typeface="DengXian" panose="02010600030101010101" pitchFamily="2" charset="-122"/>
              </a:rPr>
              <a:t>end</a:t>
            </a:r>
          </a:p>
          <a:p>
            <a:pPr algn="ctr"/>
            <a:r>
              <a:rPr kumimoji="1" lang="en-US" altLang="zh-CN" dirty="0">
                <a:solidFill>
                  <a:schemeClr val="tx1"/>
                </a:solidFill>
                <a:latin typeface="DengXian" panose="02010600030101010101" pitchFamily="2" charset="-122"/>
                <a:ea typeface="DengXian" panose="02010600030101010101" pitchFamily="2" charset="-122"/>
              </a:rPr>
              <a:t>…</a:t>
            </a:r>
          </a:p>
        </p:txBody>
      </p:sp>
      <p:sp>
        <p:nvSpPr>
          <p:cNvPr id="11" name="文本框 10"/>
          <p:cNvSpPr txBox="1"/>
          <p:nvPr/>
        </p:nvSpPr>
        <p:spPr>
          <a:xfrm>
            <a:off x="1979712" y="4617050"/>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cxnSp>
        <p:nvCxnSpPr>
          <p:cNvPr id="12" name="直线箭头连接符 11">
            <a:extLst>
              <a:ext uri="{FF2B5EF4-FFF2-40B4-BE49-F238E27FC236}">
                <a16:creationId xmlns:a16="http://schemas.microsoft.com/office/drawing/2014/main" id="{E4A8236E-4378-D54D-ADB5-A56783329C6C}"/>
              </a:ext>
            </a:extLst>
          </p:cNvPr>
          <p:cNvCxnSpPr/>
          <p:nvPr/>
        </p:nvCxnSpPr>
        <p:spPr>
          <a:xfrm flipV="1">
            <a:off x="2843808" y="2029408"/>
            <a:ext cx="1806626" cy="1116124"/>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3" name="直线箭头连接符 12">
            <a:extLst>
              <a:ext uri="{FF2B5EF4-FFF2-40B4-BE49-F238E27FC236}">
                <a16:creationId xmlns:a16="http://schemas.microsoft.com/office/drawing/2014/main" id="{440F6298-BF08-4C43-AEC3-2E0D0905CF06}"/>
              </a:ext>
            </a:extLst>
          </p:cNvPr>
          <p:cNvCxnSpPr/>
          <p:nvPr/>
        </p:nvCxnSpPr>
        <p:spPr>
          <a:xfrm>
            <a:off x="2843808" y="4009628"/>
            <a:ext cx="1806626" cy="828092"/>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4" name="直线箭头连接符 13">
            <a:extLst>
              <a:ext uri="{FF2B5EF4-FFF2-40B4-BE49-F238E27FC236}">
                <a16:creationId xmlns:a16="http://schemas.microsoft.com/office/drawing/2014/main" id="{C5018898-434E-8F4D-AA41-9F9802C72F21}"/>
              </a:ext>
            </a:extLst>
          </p:cNvPr>
          <p:cNvCxnSpPr>
            <a:cxnSpLocks/>
          </p:cNvCxnSpPr>
          <p:nvPr/>
        </p:nvCxnSpPr>
        <p:spPr>
          <a:xfrm flipV="1">
            <a:off x="2843808" y="2029408"/>
            <a:ext cx="1806626" cy="1404156"/>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5" name="直线箭头连接符 14">
            <a:extLst>
              <a:ext uri="{FF2B5EF4-FFF2-40B4-BE49-F238E27FC236}">
                <a16:creationId xmlns:a16="http://schemas.microsoft.com/office/drawing/2014/main" id="{4FEA2961-B968-3F46-8A03-3C82C91AD07C}"/>
              </a:ext>
            </a:extLst>
          </p:cNvPr>
          <p:cNvCxnSpPr>
            <a:cxnSpLocks/>
          </p:cNvCxnSpPr>
          <p:nvPr/>
        </p:nvCxnSpPr>
        <p:spPr>
          <a:xfrm flipV="1">
            <a:off x="2843808" y="2029408"/>
            <a:ext cx="1806626" cy="1764196"/>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88A4E383-2DE8-4B4F-831F-272291C9E16C}"/>
              </a:ext>
            </a:extLst>
          </p:cNvPr>
          <p:cNvSpPr txBox="1"/>
          <p:nvPr/>
        </p:nvSpPr>
        <p:spPr>
          <a:xfrm>
            <a:off x="4952778" y="3280256"/>
            <a:ext cx="1005403" cy="369332"/>
          </a:xfrm>
          <a:prstGeom prst="rect">
            <a:avLst/>
          </a:prstGeom>
          <a:noFill/>
        </p:spPr>
        <p:txBody>
          <a:bodyPr wrap="none" rtlCol="0">
            <a:spAutoFit/>
          </a:bodyPr>
          <a:lstStyle/>
          <a:p>
            <a:r>
              <a:rPr kumimoji="1" lang="en-US" altLang="zh-CN" dirty="0" err="1"/>
              <a:t>tailroom</a:t>
            </a:r>
            <a:endParaRPr kumimoji="1"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例子：发送数据包</a:t>
            </a:r>
          </a:p>
        </p:txBody>
      </p:sp>
      <p:sp>
        <p:nvSpPr>
          <p:cNvPr id="3" name="内容占位符 2"/>
          <p:cNvSpPr>
            <a:spLocks noGrp="1"/>
          </p:cNvSpPr>
          <p:nvPr>
            <p:ph idx="1"/>
          </p:nvPr>
        </p:nvSpPr>
        <p:spPr/>
        <p:txBody>
          <a:bodyPr/>
          <a:lstStyle/>
          <a:p>
            <a:r>
              <a:rPr kumimoji="1" lang="en-US" altLang="zh-CN" dirty="0"/>
              <a:t>Step2:</a:t>
            </a:r>
            <a:r>
              <a:rPr kumimoji="1" lang="zh-CN" altLang="en-US" dirty="0"/>
              <a:t> </a:t>
            </a:r>
            <a:r>
              <a:rPr kumimoji="1" lang="en-US" altLang="zh-CN" dirty="0"/>
              <a:t>TCP</a:t>
            </a:r>
            <a:r>
              <a:rPr kumimoji="1" lang="zh-CN" altLang="en-US" dirty="0"/>
              <a:t>用</a:t>
            </a:r>
            <a:r>
              <a:rPr kumimoji="1" lang="en-GB" altLang="zh-CN" dirty="0" err="1"/>
              <a:t>skb_reserve</a:t>
            </a:r>
            <a:r>
              <a:rPr kumimoji="1" lang="zh-CN" altLang="en-GB" dirty="0"/>
              <a:t>来</a:t>
            </a:r>
            <a:r>
              <a:rPr kumimoji="1" lang="zh-CN" altLang="en-US" dirty="0"/>
              <a:t>保留足量空间存储所有头部</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p:cNvSpPr/>
          <p:nvPr/>
        </p:nvSpPr>
        <p:spPr>
          <a:xfrm>
            <a:off x="4650434" y="2029408"/>
            <a:ext cx="1577740" cy="280831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1764947" y="2281436"/>
            <a:ext cx="1577740" cy="2304256"/>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len</a:t>
            </a:r>
            <a:r>
              <a:rPr kumimoji="1" lang="en-US" altLang="zh-CN" dirty="0">
                <a:solidFill>
                  <a:schemeClr val="tx1"/>
                </a:solidFill>
                <a:latin typeface="DengXian" panose="02010600030101010101" pitchFamily="2" charset="-122"/>
                <a:ea typeface="DengXian" panose="02010600030101010101" pitchFamily="2" charset="-122"/>
              </a:rPr>
              <a:t>=0</a:t>
            </a:r>
          </a:p>
          <a:p>
            <a:pPr algn="ctr"/>
            <a:r>
              <a:rPr kumimoji="1" lang="en-US" altLang="zh-CN" dirty="0">
                <a:solidFill>
                  <a:schemeClr val="tx1"/>
                </a:solidFill>
                <a:latin typeface="DengXian" panose="02010600030101010101" pitchFamily="2" charset="-122"/>
                <a:ea typeface="DengXian" panose="02010600030101010101" pitchFamily="2" charset="-122"/>
              </a:rPr>
              <a:t>…</a:t>
            </a:r>
          </a:p>
          <a:p>
            <a:pPr algn="ctr"/>
            <a:r>
              <a:rPr kumimoji="1" lang="en-US" altLang="zh-CN" dirty="0">
                <a:solidFill>
                  <a:schemeClr val="tx1"/>
                </a:solidFill>
                <a:latin typeface="DengXian" panose="02010600030101010101" pitchFamily="2" charset="-122"/>
                <a:ea typeface="DengXian" panose="02010600030101010101" pitchFamily="2" charset="-122"/>
              </a:rPr>
              <a:t>head</a:t>
            </a:r>
          </a:p>
          <a:p>
            <a:pPr algn="ctr"/>
            <a:r>
              <a:rPr kumimoji="1" lang="en-US" altLang="zh-CN" dirty="0">
                <a:solidFill>
                  <a:schemeClr val="tx1"/>
                </a:solidFill>
                <a:latin typeface="DengXian" panose="02010600030101010101" pitchFamily="2" charset="-122"/>
                <a:ea typeface="DengXian" panose="02010600030101010101" pitchFamily="2" charset="-122"/>
              </a:rPr>
              <a:t>data</a:t>
            </a:r>
          </a:p>
          <a:p>
            <a:pPr algn="ctr"/>
            <a:r>
              <a:rPr kumimoji="1" lang="en-US" altLang="zh-CN" dirty="0">
                <a:solidFill>
                  <a:schemeClr val="tx1"/>
                </a:solidFill>
                <a:latin typeface="DengXian" panose="02010600030101010101" pitchFamily="2" charset="-122"/>
                <a:ea typeface="DengXian" panose="02010600030101010101" pitchFamily="2" charset="-122"/>
              </a:rPr>
              <a:t>tail</a:t>
            </a:r>
          </a:p>
          <a:p>
            <a:pPr algn="ctr"/>
            <a:r>
              <a:rPr kumimoji="1" lang="en-US" altLang="zh-CN" dirty="0">
                <a:solidFill>
                  <a:schemeClr val="tx1"/>
                </a:solidFill>
                <a:latin typeface="DengXian" panose="02010600030101010101" pitchFamily="2" charset="-122"/>
                <a:ea typeface="DengXian" panose="02010600030101010101" pitchFamily="2" charset="-122"/>
              </a:rPr>
              <a:t>end</a:t>
            </a:r>
          </a:p>
          <a:p>
            <a:pPr algn="ctr"/>
            <a:r>
              <a:rPr kumimoji="1" lang="en-US" altLang="zh-CN" dirty="0">
                <a:solidFill>
                  <a:schemeClr val="tx1"/>
                </a:solidFill>
                <a:latin typeface="DengXian" panose="02010600030101010101" pitchFamily="2" charset="-122"/>
                <a:ea typeface="DengXian" panose="02010600030101010101" pitchFamily="2" charset="-122"/>
              </a:rPr>
              <a:t>…</a:t>
            </a:r>
          </a:p>
        </p:txBody>
      </p:sp>
      <p:sp>
        <p:nvSpPr>
          <p:cNvPr id="11" name="文本框 10"/>
          <p:cNvSpPr txBox="1"/>
          <p:nvPr/>
        </p:nvSpPr>
        <p:spPr>
          <a:xfrm>
            <a:off x="1979712" y="4617050"/>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cxnSp>
        <p:nvCxnSpPr>
          <p:cNvPr id="7" name="直线连接符 6"/>
          <p:cNvCxnSpPr/>
          <p:nvPr/>
        </p:nvCxnSpPr>
        <p:spPr>
          <a:xfrm>
            <a:off x="4650434" y="3793604"/>
            <a:ext cx="1577740" cy="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2" name="直线箭头连接符 11"/>
          <p:cNvCxnSpPr>
            <a:cxnSpLocks/>
          </p:cNvCxnSpPr>
          <p:nvPr/>
        </p:nvCxnSpPr>
        <p:spPr>
          <a:xfrm flipH="1">
            <a:off x="6080960" y="2029408"/>
            <a:ext cx="3208" cy="1764196"/>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3" name="文本框 12"/>
          <p:cNvSpPr txBox="1"/>
          <p:nvPr/>
        </p:nvSpPr>
        <p:spPr>
          <a:xfrm rot="16200000">
            <a:off x="5606611" y="2742228"/>
            <a:ext cx="1912703"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MAX_TCP_HEADER</a:t>
            </a:r>
            <a:endParaRPr kumimoji="1" lang="en-US" altLang="zh-CN" sz="1600" b="1" dirty="0">
              <a:latin typeface="DengXian" panose="02010600030101010101" pitchFamily="2" charset="-122"/>
              <a:ea typeface="DengXian" panose="02010600030101010101" pitchFamily="2" charset="-122"/>
            </a:endParaRPr>
          </a:p>
        </p:txBody>
      </p:sp>
      <p:cxnSp>
        <p:nvCxnSpPr>
          <p:cNvPr id="15" name="直线箭头连接符 14"/>
          <p:cNvCxnSpPr/>
          <p:nvPr/>
        </p:nvCxnSpPr>
        <p:spPr>
          <a:xfrm flipV="1">
            <a:off x="2843808" y="2029408"/>
            <a:ext cx="1806626" cy="1116124"/>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7" name="直线箭头连接符 16"/>
          <p:cNvCxnSpPr/>
          <p:nvPr/>
        </p:nvCxnSpPr>
        <p:spPr>
          <a:xfrm>
            <a:off x="2843808" y="3433564"/>
            <a:ext cx="1806626" cy="360040"/>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p:cNvCxnSpPr/>
          <p:nvPr/>
        </p:nvCxnSpPr>
        <p:spPr>
          <a:xfrm>
            <a:off x="2843808" y="3793604"/>
            <a:ext cx="1806626" cy="0"/>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1" name="直线箭头连接符 20"/>
          <p:cNvCxnSpPr/>
          <p:nvPr/>
        </p:nvCxnSpPr>
        <p:spPr>
          <a:xfrm>
            <a:off x="2843808" y="4009628"/>
            <a:ext cx="1806626" cy="828092"/>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6" name="文本框 5">
            <a:extLst>
              <a:ext uri="{FF2B5EF4-FFF2-40B4-BE49-F238E27FC236}">
                <a16:creationId xmlns:a16="http://schemas.microsoft.com/office/drawing/2014/main" id="{3B4BA0C5-42C9-4949-9F78-D5A0129D1557}"/>
              </a:ext>
            </a:extLst>
          </p:cNvPr>
          <p:cNvSpPr txBox="1"/>
          <p:nvPr/>
        </p:nvSpPr>
        <p:spPr>
          <a:xfrm>
            <a:off x="4824390" y="2802041"/>
            <a:ext cx="1223412" cy="369332"/>
          </a:xfrm>
          <a:prstGeom prst="rect">
            <a:avLst/>
          </a:prstGeom>
          <a:noFill/>
        </p:spPr>
        <p:txBody>
          <a:bodyPr wrap="none" rtlCol="0">
            <a:spAutoFit/>
          </a:bodyPr>
          <a:lstStyle/>
          <a:p>
            <a:r>
              <a:rPr kumimoji="1" lang="en-US" altLang="zh-CN" dirty="0"/>
              <a:t>headroom</a:t>
            </a:r>
            <a:endParaRPr kumimoji="1" lang="zh-CN" altLang="en-US" dirty="0"/>
          </a:p>
        </p:txBody>
      </p:sp>
      <p:sp>
        <p:nvSpPr>
          <p:cNvPr id="18" name="文本框 17">
            <a:extLst>
              <a:ext uri="{FF2B5EF4-FFF2-40B4-BE49-F238E27FC236}">
                <a16:creationId xmlns:a16="http://schemas.microsoft.com/office/drawing/2014/main" id="{B3466A73-B8D1-FC4B-A9CE-D631A2318CFE}"/>
              </a:ext>
            </a:extLst>
          </p:cNvPr>
          <p:cNvSpPr txBox="1"/>
          <p:nvPr/>
        </p:nvSpPr>
        <p:spPr>
          <a:xfrm>
            <a:off x="4952778" y="4130996"/>
            <a:ext cx="1005403" cy="369332"/>
          </a:xfrm>
          <a:prstGeom prst="rect">
            <a:avLst/>
          </a:prstGeom>
          <a:noFill/>
        </p:spPr>
        <p:txBody>
          <a:bodyPr wrap="none" rtlCol="0">
            <a:spAutoFit/>
          </a:bodyPr>
          <a:lstStyle/>
          <a:p>
            <a:r>
              <a:rPr kumimoji="1" lang="en-US" altLang="zh-CN" dirty="0" err="1"/>
              <a:t>tailroom</a:t>
            </a:r>
            <a:endParaRPr kumimoji="1"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例子：发送数据包</a:t>
            </a:r>
          </a:p>
        </p:txBody>
      </p:sp>
      <p:sp>
        <p:nvSpPr>
          <p:cNvPr id="3" name="内容占位符 2"/>
          <p:cNvSpPr>
            <a:spLocks noGrp="1"/>
          </p:cNvSpPr>
          <p:nvPr>
            <p:ph idx="1"/>
          </p:nvPr>
        </p:nvSpPr>
        <p:spPr/>
        <p:txBody>
          <a:bodyPr/>
          <a:lstStyle/>
          <a:p>
            <a:r>
              <a:rPr kumimoji="1" lang="en-US" altLang="zh-CN" dirty="0"/>
              <a:t>Step3:</a:t>
            </a:r>
            <a:r>
              <a:rPr kumimoji="1" lang="zh-CN" altLang="en-US" dirty="0"/>
              <a:t> </a:t>
            </a:r>
            <a:r>
              <a:rPr kumimoji="1" lang="en-US" altLang="zh-CN" dirty="0"/>
              <a:t>TCP</a:t>
            </a:r>
            <a:r>
              <a:rPr kumimoji="1" lang="zh-CN" altLang="en-US" dirty="0"/>
              <a:t>层填入</a:t>
            </a:r>
            <a:r>
              <a:rPr kumimoji="1" lang="en-US" altLang="zh-CN" dirty="0"/>
              <a:t>TCP</a:t>
            </a:r>
            <a:r>
              <a:rPr kumimoji="1" lang="zh-CN" altLang="en-US" dirty="0"/>
              <a:t>负载（应用层数据）</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36</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p:cNvSpPr/>
          <p:nvPr/>
        </p:nvSpPr>
        <p:spPr>
          <a:xfrm>
            <a:off x="4650434" y="2029408"/>
            <a:ext cx="1577740" cy="280831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1764947" y="2281436"/>
            <a:ext cx="1577740" cy="2304256"/>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len</a:t>
            </a:r>
            <a:r>
              <a:rPr kumimoji="1" lang="en-US" altLang="zh-CN" dirty="0">
                <a:solidFill>
                  <a:schemeClr val="tx1"/>
                </a:solidFill>
                <a:latin typeface="DengXian" panose="02010600030101010101" pitchFamily="2" charset="-122"/>
                <a:ea typeface="DengXian" panose="02010600030101010101" pitchFamily="2" charset="-122"/>
              </a:rPr>
              <a:t>=</a:t>
            </a:r>
            <a:r>
              <a:rPr kumimoji="1" lang="en-US" altLang="zh-CN" dirty="0">
                <a:solidFill>
                  <a:srgbClr val="FF2F92"/>
                </a:solidFill>
                <a:latin typeface="DengXian" panose="02010600030101010101" pitchFamily="2" charset="-122"/>
                <a:ea typeface="DengXian" panose="02010600030101010101" pitchFamily="2" charset="-122"/>
              </a:rPr>
              <a:t>LEN1</a:t>
            </a:r>
          </a:p>
          <a:p>
            <a:pPr algn="ctr"/>
            <a:r>
              <a:rPr kumimoji="1" lang="en-US" altLang="zh-CN" dirty="0">
                <a:solidFill>
                  <a:schemeClr val="tx1"/>
                </a:solidFill>
                <a:latin typeface="DengXian" panose="02010600030101010101" pitchFamily="2" charset="-122"/>
                <a:ea typeface="DengXian" panose="02010600030101010101" pitchFamily="2" charset="-122"/>
              </a:rPr>
              <a:t>…</a:t>
            </a:r>
          </a:p>
          <a:p>
            <a:pPr algn="ctr"/>
            <a:r>
              <a:rPr kumimoji="1" lang="en-US" altLang="zh-CN" dirty="0">
                <a:solidFill>
                  <a:schemeClr val="tx1"/>
                </a:solidFill>
                <a:latin typeface="DengXian" panose="02010600030101010101" pitchFamily="2" charset="-122"/>
                <a:ea typeface="DengXian" panose="02010600030101010101" pitchFamily="2" charset="-122"/>
              </a:rPr>
              <a:t>head</a:t>
            </a:r>
          </a:p>
          <a:p>
            <a:pPr algn="ctr"/>
            <a:r>
              <a:rPr kumimoji="1" lang="en-US" altLang="zh-CN" dirty="0">
                <a:solidFill>
                  <a:schemeClr val="tx1"/>
                </a:solidFill>
                <a:latin typeface="DengXian" panose="02010600030101010101" pitchFamily="2" charset="-122"/>
                <a:ea typeface="DengXian" panose="02010600030101010101" pitchFamily="2" charset="-122"/>
              </a:rPr>
              <a:t>data</a:t>
            </a:r>
          </a:p>
          <a:p>
            <a:pPr algn="ctr"/>
            <a:r>
              <a:rPr kumimoji="1" lang="en-US" altLang="zh-CN" dirty="0">
                <a:solidFill>
                  <a:schemeClr val="tx1"/>
                </a:solidFill>
                <a:latin typeface="DengXian" panose="02010600030101010101" pitchFamily="2" charset="-122"/>
                <a:ea typeface="DengXian" panose="02010600030101010101" pitchFamily="2" charset="-122"/>
              </a:rPr>
              <a:t>tail</a:t>
            </a:r>
          </a:p>
          <a:p>
            <a:pPr algn="ctr"/>
            <a:r>
              <a:rPr kumimoji="1" lang="en-US" altLang="zh-CN" dirty="0">
                <a:solidFill>
                  <a:schemeClr val="tx1"/>
                </a:solidFill>
                <a:latin typeface="DengXian" panose="02010600030101010101" pitchFamily="2" charset="-122"/>
                <a:ea typeface="DengXian" panose="02010600030101010101" pitchFamily="2" charset="-122"/>
              </a:rPr>
              <a:t>end</a:t>
            </a:r>
          </a:p>
          <a:p>
            <a:pPr algn="ctr"/>
            <a:r>
              <a:rPr kumimoji="1" lang="en-US" altLang="zh-CN" dirty="0">
                <a:solidFill>
                  <a:schemeClr val="tx1"/>
                </a:solidFill>
                <a:latin typeface="DengXian" panose="02010600030101010101" pitchFamily="2" charset="-122"/>
                <a:ea typeface="DengXian" panose="02010600030101010101" pitchFamily="2" charset="-122"/>
              </a:rPr>
              <a:t>…</a:t>
            </a:r>
          </a:p>
        </p:txBody>
      </p:sp>
      <p:sp>
        <p:nvSpPr>
          <p:cNvPr id="11" name="文本框 10"/>
          <p:cNvSpPr txBox="1"/>
          <p:nvPr/>
        </p:nvSpPr>
        <p:spPr>
          <a:xfrm>
            <a:off x="1979712" y="4617050"/>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cxnSp>
        <p:nvCxnSpPr>
          <p:cNvPr id="7" name="直线连接符 6"/>
          <p:cNvCxnSpPr/>
          <p:nvPr/>
        </p:nvCxnSpPr>
        <p:spPr>
          <a:xfrm>
            <a:off x="4650434" y="3793604"/>
            <a:ext cx="1577740" cy="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8" name="直线箭头连接符 17"/>
          <p:cNvCxnSpPr/>
          <p:nvPr/>
        </p:nvCxnSpPr>
        <p:spPr>
          <a:xfrm flipV="1">
            <a:off x="2843808" y="2029408"/>
            <a:ext cx="1806626" cy="1116124"/>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p:cNvCxnSpPr/>
          <p:nvPr/>
        </p:nvCxnSpPr>
        <p:spPr>
          <a:xfrm>
            <a:off x="2843808" y="3433564"/>
            <a:ext cx="1806626" cy="360040"/>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0" name="直线箭头连接符 19"/>
          <p:cNvCxnSpPr>
            <a:cxnSpLocks/>
          </p:cNvCxnSpPr>
          <p:nvPr/>
        </p:nvCxnSpPr>
        <p:spPr>
          <a:xfrm>
            <a:off x="2843808" y="3793604"/>
            <a:ext cx="1806626" cy="823446"/>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1" name="直线箭头连接符 20"/>
          <p:cNvCxnSpPr/>
          <p:nvPr/>
        </p:nvCxnSpPr>
        <p:spPr>
          <a:xfrm>
            <a:off x="2843808" y="4009628"/>
            <a:ext cx="1806626" cy="828092"/>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2" name="矩形 21"/>
          <p:cNvSpPr/>
          <p:nvPr/>
        </p:nvSpPr>
        <p:spPr>
          <a:xfrm>
            <a:off x="4650434" y="3813442"/>
            <a:ext cx="1577740" cy="772250"/>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负载</a:t>
            </a:r>
          </a:p>
        </p:txBody>
      </p:sp>
      <p:cxnSp>
        <p:nvCxnSpPr>
          <p:cNvPr id="23" name="直线箭头连接符 22"/>
          <p:cNvCxnSpPr>
            <a:cxnSpLocks/>
          </p:cNvCxnSpPr>
          <p:nvPr/>
        </p:nvCxnSpPr>
        <p:spPr>
          <a:xfrm>
            <a:off x="6453852" y="3793604"/>
            <a:ext cx="0" cy="792088"/>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24" name="文本框 23"/>
          <p:cNvSpPr txBox="1"/>
          <p:nvPr/>
        </p:nvSpPr>
        <p:spPr>
          <a:xfrm>
            <a:off x="6475767" y="4009628"/>
            <a:ext cx="678391"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LEN1</a:t>
            </a:r>
            <a:endParaRPr kumimoji="1" lang="en-US" altLang="zh-CN" sz="1600" b="1" dirty="0">
              <a:latin typeface="DengXian" panose="02010600030101010101" pitchFamily="2" charset="-122"/>
              <a:ea typeface="DengXian" panose="02010600030101010101" pitchFamily="2" charset="-122"/>
            </a:endParaRPr>
          </a:p>
        </p:txBody>
      </p:sp>
      <p:cxnSp>
        <p:nvCxnSpPr>
          <p:cNvPr id="26" name="直线连接符 25"/>
          <p:cNvCxnSpPr/>
          <p:nvPr/>
        </p:nvCxnSpPr>
        <p:spPr>
          <a:xfrm>
            <a:off x="6272471" y="3813442"/>
            <a:ext cx="4070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线连接符 26"/>
          <p:cNvCxnSpPr/>
          <p:nvPr/>
        </p:nvCxnSpPr>
        <p:spPr>
          <a:xfrm>
            <a:off x="6272237" y="4598937"/>
            <a:ext cx="407060" cy="0"/>
          </a:xfrm>
          <a:prstGeom prst="line">
            <a:avLst/>
          </a:prstGeom>
          <a:ln w="28575"/>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例子：发送数据包</a:t>
            </a:r>
          </a:p>
        </p:txBody>
      </p:sp>
      <p:sp>
        <p:nvSpPr>
          <p:cNvPr id="3" name="内容占位符 2"/>
          <p:cNvSpPr>
            <a:spLocks noGrp="1"/>
          </p:cNvSpPr>
          <p:nvPr>
            <p:ph idx="1"/>
          </p:nvPr>
        </p:nvSpPr>
        <p:spPr/>
        <p:txBody>
          <a:bodyPr/>
          <a:lstStyle/>
          <a:p>
            <a:r>
              <a:rPr kumimoji="1" lang="en-US" altLang="zh-CN" dirty="0"/>
              <a:t>Step4:</a:t>
            </a:r>
            <a:r>
              <a:rPr kumimoji="1" lang="zh-CN" altLang="en-US" dirty="0"/>
              <a:t> </a:t>
            </a:r>
            <a:r>
              <a:rPr kumimoji="1" lang="en-US" altLang="zh-CN" dirty="0"/>
              <a:t>TCP</a:t>
            </a:r>
            <a:r>
              <a:rPr kumimoji="1" lang="zh-CN" altLang="en-US" dirty="0"/>
              <a:t>层填入</a:t>
            </a:r>
            <a:r>
              <a:rPr kumimoji="1" lang="en-US" altLang="zh-CN" dirty="0"/>
              <a:t>TCP</a:t>
            </a:r>
            <a:r>
              <a:rPr kumimoji="1" lang="zh-CN" altLang="en-US" dirty="0"/>
              <a:t>头部</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p:cNvSpPr/>
          <p:nvPr/>
        </p:nvSpPr>
        <p:spPr>
          <a:xfrm>
            <a:off x="4650434" y="2029408"/>
            <a:ext cx="1577740" cy="280831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1764947" y="2281436"/>
            <a:ext cx="1577740" cy="2304256"/>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len</a:t>
            </a:r>
            <a:r>
              <a:rPr kumimoji="1" lang="en-US" altLang="zh-CN" dirty="0">
                <a:solidFill>
                  <a:schemeClr val="tx1"/>
                </a:solidFill>
                <a:latin typeface="DengXian" panose="02010600030101010101" pitchFamily="2" charset="-122"/>
                <a:ea typeface="DengXian" panose="02010600030101010101" pitchFamily="2" charset="-122"/>
              </a:rPr>
              <a:t>=</a:t>
            </a:r>
            <a:r>
              <a:rPr kumimoji="1" lang="en-US" altLang="zh-CN" dirty="0">
                <a:solidFill>
                  <a:srgbClr val="FF2F92"/>
                </a:solidFill>
                <a:latin typeface="DengXian" panose="02010600030101010101" pitchFamily="2" charset="-122"/>
                <a:ea typeface="DengXian" panose="02010600030101010101" pitchFamily="2" charset="-122"/>
              </a:rPr>
              <a:t>LEN2</a:t>
            </a:r>
          </a:p>
          <a:p>
            <a:pPr algn="ctr"/>
            <a:r>
              <a:rPr kumimoji="1" lang="en-US" altLang="zh-CN" dirty="0">
                <a:solidFill>
                  <a:schemeClr val="tx1"/>
                </a:solidFill>
                <a:latin typeface="DengXian" panose="02010600030101010101" pitchFamily="2" charset="-122"/>
                <a:ea typeface="DengXian" panose="02010600030101010101" pitchFamily="2" charset="-122"/>
              </a:rPr>
              <a:t>…</a:t>
            </a:r>
          </a:p>
          <a:p>
            <a:pPr algn="ctr"/>
            <a:r>
              <a:rPr kumimoji="1" lang="en-US" altLang="zh-CN" dirty="0">
                <a:solidFill>
                  <a:schemeClr val="tx1"/>
                </a:solidFill>
                <a:latin typeface="DengXian" panose="02010600030101010101" pitchFamily="2" charset="-122"/>
                <a:ea typeface="DengXian" panose="02010600030101010101" pitchFamily="2" charset="-122"/>
              </a:rPr>
              <a:t>head</a:t>
            </a:r>
          </a:p>
          <a:p>
            <a:pPr algn="ctr"/>
            <a:r>
              <a:rPr kumimoji="1" lang="en-US" altLang="zh-CN" dirty="0">
                <a:solidFill>
                  <a:schemeClr val="tx1"/>
                </a:solidFill>
                <a:latin typeface="DengXian" panose="02010600030101010101" pitchFamily="2" charset="-122"/>
                <a:ea typeface="DengXian" panose="02010600030101010101" pitchFamily="2" charset="-122"/>
              </a:rPr>
              <a:t>data</a:t>
            </a:r>
          </a:p>
          <a:p>
            <a:pPr algn="ctr"/>
            <a:r>
              <a:rPr kumimoji="1" lang="en-US" altLang="zh-CN" dirty="0">
                <a:solidFill>
                  <a:schemeClr val="tx1"/>
                </a:solidFill>
                <a:latin typeface="DengXian" panose="02010600030101010101" pitchFamily="2" charset="-122"/>
                <a:ea typeface="DengXian" panose="02010600030101010101" pitchFamily="2" charset="-122"/>
              </a:rPr>
              <a:t>tail</a:t>
            </a:r>
          </a:p>
          <a:p>
            <a:pPr algn="ctr"/>
            <a:r>
              <a:rPr kumimoji="1" lang="en-US" altLang="zh-CN" dirty="0">
                <a:solidFill>
                  <a:schemeClr val="tx1"/>
                </a:solidFill>
                <a:latin typeface="DengXian" panose="02010600030101010101" pitchFamily="2" charset="-122"/>
                <a:ea typeface="DengXian" panose="02010600030101010101" pitchFamily="2" charset="-122"/>
              </a:rPr>
              <a:t>end</a:t>
            </a:r>
          </a:p>
          <a:p>
            <a:pPr algn="ctr"/>
            <a:r>
              <a:rPr kumimoji="1" lang="en-US" altLang="zh-CN" dirty="0">
                <a:solidFill>
                  <a:schemeClr val="tx1"/>
                </a:solidFill>
                <a:latin typeface="DengXian" panose="02010600030101010101" pitchFamily="2" charset="-122"/>
                <a:ea typeface="DengXian" panose="02010600030101010101" pitchFamily="2" charset="-122"/>
              </a:rPr>
              <a:t>…</a:t>
            </a:r>
          </a:p>
        </p:txBody>
      </p:sp>
      <p:sp>
        <p:nvSpPr>
          <p:cNvPr id="11" name="文本框 10"/>
          <p:cNvSpPr txBox="1"/>
          <p:nvPr/>
        </p:nvSpPr>
        <p:spPr>
          <a:xfrm>
            <a:off x="1979712" y="4617050"/>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cxnSp>
        <p:nvCxnSpPr>
          <p:cNvPr id="7" name="直线连接符 6"/>
          <p:cNvCxnSpPr/>
          <p:nvPr/>
        </p:nvCxnSpPr>
        <p:spPr>
          <a:xfrm>
            <a:off x="4650434" y="3793604"/>
            <a:ext cx="1577740" cy="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8" name="直线箭头连接符 17"/>
          <p:cNvCxnSpPr/>
          <p:nvPr/>
        </p:nvCxnSpPr>
        <p:spPr>
          <a:xfrm flipV="1">
            <a:off x="2843808" y="2029408"/>
            <a:ext cx="1806626" cy="1116124"/>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p:cNvCxnSpPr/>
          <p:nvPr/>
        </p:nvCxnSpPr>
        <p:spPr>
          <a:xfrm flipV="1">
            <a:off x="2843808" y="3349725"/>
            <a:ext cx="1806626" cy="83839"/>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1" name="直线箭头连接符 20"/>
          <p:cNvCxnSpPr/>
          <p:nvPr/>
        </p:nvCxnSpPr>
        <p:spPr>
          <a:xfrm>
            <a:off x="2843808" y="4009628"/>
            <a:ext cx="1806626" cy="828092"/>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4" name="文本框 23"/>
          <p:cNvSpPr txBox="1"/>
          <p:nvPr/>
        </p:nvSpPr>
        <p:spPr>
          <a:xfrm>
            <a:off x="6475767" y="3865612"/>
            <a:ext cx="678391"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LEN2</a:t>
            </a:r>
            <a:endParaRPr kumimoji="1" lang="en-US" altLang="zh-CN" sz="1600" b="1" dirty="0">
              <a:latin typeface="DengXian" panose="02010600030101010101" pitchFamily="2" charset="-122"/>
              <a:ea typeface="DengXian" panose="02010600030101010101" pitchFamily="2" charset="-122"/>
            </a:endParaRPr>
          </a:p>
        </p:txBody>
      </p:sp>
      <p:cxnSp>
        <p:nvCxnSpPr>
          <p:cNvPr id="26" name="直线连接符 25"/>
          <p:cNvCxnSpPr/>
          <p:nvPr/>
        </p:nvCxnSpPr>
        <p:spPr>
          <a:xfrm>
            <a:off x="6272237" y="3385662"/>
            <a:ext cx="407060" cy="0"/>
          </a:xfrm>
          <a:prstGeom prst="line">
            <a:avLst/>
          </a:prstGeom>
          <a:ln w="28575"/>
        </p:spPr>
        <p:style>
          <a:lnRef idx="1">
            <a:schemeClr val="dk1"/>
          </a:lnRef>
          <a:fillRef idx="0">
            <a:schemeClr val="dk1"/>
          </a:fillRef>
          <a:effectRef idx="0">
            <a:schemeClr val="dk1"/>
          </a:effectRef>
          <a:fontRef idx="minor">
            <a:schemeClr val="tx1"/>
          </a:fontRef>
        </p:style>
      </p:cxnSp>
      <p:sp>
        <p:nvSpPr>
          <p:cNvPr id="25" name="矩形 24"/>
          <p:cNvSpPr/>
          <p:nvPr/>
        </p:nvSpPr>
        <p:spPr>
          <a:xfrm>
            <a:off x="4650434" y="3349725"/>
            <a:ext cx="1577740" cy="451886"/>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头部</a:t>
            </a:r>
          </a:p>
        </p:txBody>
      </p:sp>
      <p:cxnSp>
        <p:nvCxnSpPr>
          <p:cNvPr id="20" name="直线箭头连接符 19">
            <a:extLst>
              <a:ext uri="{FF2B5EF4-FFF2-40B4-BE49-F238E27FC236}">
                <a16:creationId xmlns:a16="http://schemas.microsoft.com/office/drawing/2014/main" id="{767C8067-96E3-DC40-86A0-0B2F985713D0}"/>
              </a:ext>
            </a:extLst>
          </p:cNvPr>
          <p:cNvCxnSpPr>
            <a:cxnSpLocks/>
          </p:cNvCxnSpPr>
          <p:nvPr/>
        </p:nvCxnSpPr>
        <p:spPr>
          <a:xfrm>
            <a:off x="2843808" y="3793604"/>
            <a:ext cx="1806626" cy="823446"/>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9" name="矩形 28">
            <a:extLst>
              <a:ext uri="{FF2B5EF4-FFF2-40B4-BE49-F238E27FC236}">
                <a16:creationId xmlns:a16="http://schemas.microsoft.com/office/drawing/2014/main" id="{9506EAF1-CF29-3F44-84AB-A1298D2B0005}"/>
              </a:ext>
            </a:extLst>
          </p:cNvPr>
          <p:cNvSpPr/>
          <p:nvPr/>
        </p:nvSpPr>
        <p:spPr>
          <a:xfrm>
            <a:off x="4650434" y="3813442"/>
            <a:ext cx="1577740" cy="772250"/>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负载</a:t>
            </a:r>
          </a:p>
        </p:txBody>
      </p:sp>
      <p:cxnSp>
        <p:nvCxnSpPr>
          <p:cNvPr id="30" name="直线连接符 29">
            <a:extLst>
              <a:ext uri="{FF2B5EF4-FFF2-40B4-BE49-F238E27FC236}">
                <a16:creationId xmlns:a16="http://schemas.microsoft.com/office/drawing/2014/main" id="{83FBB5AB-C373-9948-BACC-CEB4A41C72ED}"/>
              </a:ext>
            </a:extLst>
          </p:cNvPr>
          <p:cNvCxnSpPr/>
          <p:nvPr/>
        </p:nvCxnSpPr>
        <p:spPr>
          <a:xfrm>
            <a:off x="6272237" y="4598937"/>
            <a:ext cx="4070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直线箭头连接符 30">
            <a:extLst>
              <a:ext uri="{FF2B5EF4-FFF2-40B4-BE49-F238E27FC236}">
                <a16:creationId xmlns:a16="http://schemas.microsoft.com/office/drawing/2014/main" id="{CAE897BA-4BFC-8B48-9E51-918BFE3341FC}"/>
              </a:ext>
            </a:extLst>
          </p:cNvPr>
          <p:cNvCxnSpPr>
            <a:cxnSpLocks/>
          </p:cNvCxnSpPr>
          <p:nvPr/>
        </p:nvCxnSpPr>
        <p:spPr>
          <a:xfrm>
            <a:off x="6453852" y="3385662"/>
            <a:ext cx="0" cy="1200030"/>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例子：发送数据包</a:t>
            </a:r>
          </a:p>
        </p:txBody>
      </p:sp>
      <p:sp>
        <p:nvSpPr>
          <p:cNvPr id="3" name="内容占位符 2"/>
          <p:cNvSpPr>
            <a:spLocks noGrp="1"/>
          </p:cNvSpPr>
          <p:nvPr>
            <p:ph idx="1"/>
          </p:nvPr>
        </p:nvSpPr>
        <p:spPr/>
        <p:txBody>
          <a:bodyPr/>
          <a:lstStyle/>
          <a:p>
            <a:r>
              <a:rPr kumimoji="1" lang="en-US" altLang="zh-CN" dirty="0"/>
              <a:t>Step5:</a:t>
            </a:r>
            <a:r>
              <a:rPr kumimoji="1" lang="zh-CN" altLang="en-US" dirty="0"/>
              <a:t> 传给</a:t>
            </a:r>
            <a:r>
              <a:rPr kumimoji="1" lang="en-US" altLang="zh-CN" dirty="0"/>
              <a:t>IP</a:t>
            </a:r>
            <a:r>
              <a:rPr kumimoji="1" lang="zh-CN" altLang="en-US" dirty="0"/>
              <a:t>层，并添加</a:t>
            </a:r>
            <a:r>
              <a:rPr kumimoji="1" lang="en-US" altLang="zh-CN" dirty="0"/>
              <a:t>IP</a:t>
            </a:r>
            <a:r>
              <a:rPr kumimoji="1" lang="zh-CN" altLang="en-US" dirty="0"/>
              <a:t>头部</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p:cNvSpPr/>
          <p:nvPr/>
        </p:nvSpPr>
        <p:spPr>
          <a:xfrm>
            <a:off x="4650434" y="2029408"/>
            <a:ext cx="1577740" cy="280831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1764947" y="2281436"/>
            <a:ext cx="1577740" cy="2304256"/>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len</a:t>
            </a:r>
            <a:r>
              <a:rPr kumimoji="1" lang="en-US" altLang="zh-CN" dirty="0">
                <a:solidFill>
                  <a:schemeClr val="tx1"/>
                </a:solidFill>
                <a:latin typeface="DengXian" panose="02010600030101010101" pitchFamily="2" charset="-122"/>
                <a:ea typeface="DengXian" panose="02010600030101010101" pitchFamily="2" charset="-122"/>
              </a:rPr>
              <a:t>=</a:t>
            </a:r>
            <a:r>
              <a:rPr kumimoji="1" lang="en-US" altLang="zh-CN" dirty="0">
                <a:solidFill>
                  <a:srgbClr val="FF2F92"/>
                </a:solidFill>
                <a:latin typeface="DengXian" panose="02010600030101010101" pitchFamily="2" charset="-122"/>
                <a:ea typeface="DengXian" panose="02010600030101010101" pitchFamily="2" charset="-122"/>
              </a:rPr>
              <a:t>LEN3</a:t>
            </a:r>
          </a:p>
          <a:p>
            <a:pPr algn="ctr"/>
            <a:r>
              <a:rPr kumimoji="1" lang="en-US" altLang="zh-CN" dirty="0">
                <a:solidFill>
                  <a:schemeClr val="tx1"/>
                </a:solidFill>
                <a:latin typeface="DengXian" panose="02010600030101010101" pitchFamily="2" charset="-122"/>
                <a:ea typeface="DengXian" panose="02010600030101010101" pitchFamily="2" charset="-122"/>
              </a:rPr>
              <a:t>…</a:t>
            </a:r>
          </a:p>
          <a:p>
            <a:pPr algn="ctr"/>
            <a:r>
              <a:rPr kumimoji="1" lang="en-US" altLang="zh-CN" dirty="0">
                <a:solidFill>
                  <a:schemeClr val="tx1"/>
                </a:solidFill>
                <a:latin typeface="DengXian" panose="02010600030101010101" pitchFamily="2" charset="-122"/>
                <a:ea typeface="DengXian" panose="02010600030101010101" pitchFamily="2" charset="-122"/>
              </a:rPr>
              <a:t>head</a:t>
            </a:r>
          </a:p>
          <a:p>
            <a:pPr algn="ctr"/>
            <a:r>
              <a:rPr kumimoji="1" lang="en-US" altLang="zh-CN" dirty="0">
                <a:solidFill>
                  <a:schemeClr val="tx1"/>
                </a:solidFill>
                <a:latin typeface="DengXian" panose="02010600030101010101" pitchFamily="2" charset="-122"/>
                <a:ea typeface="DengXian" panose="02010600030101010101" pitchFamily="2" charset="-122"/>
              </a:rPr>
              <a:t>data</a:t>
            </a:r>
          </a:p>
          <a:p>
            <a:pPr algn="ctr"/>
            <a:r>
              <a:rPr kumimoji="1" lang="en-US" altLang="zh-CN" dirty="0">
                <a:solidFill>
                  <a:schemeClr val="tx1"/>
                </a:solidFill>
                <a:latin typeface="DengXian" panose="02010600030101010101" pitchFamily="2" charset="-122"/>
                <a:ea typeface="DengXian" panose="02010600030101010101" pitchFamily="2" charset="-122"/>
              </a:rPr>
              <a:t>tail</a:t>
            </a:r>
          </a:p>
          <a:p>
            <a:pPr algn="ctr"/>
            <a:r>
              <a:rPr kumimoji="1" lang="en-US" altLang="zh-CN" dirty="0">
                <a:solidFill>
                  <a:schemeClr val="tx1"/>
                </a:solidFill>
                <a:latin typeface="DengXian" panose="02010600030101010101" pitchFamily="2" charset="-122"/>
                <a:ea typeface="DengXian" panose="02010600030101010101" pitchFamily="2" charset="-122"/>
              </a:rPr>
              <a:t>end</a:t>
            </a:r>
          </a:p>
          <a:p>
            <a:pPr algn="ctr"/>
            <a:r>
              <a:rPr kumimoji="1" lang="en-US" altLang="zh-CN" dirty="0">
                <a:solidFill>
                  <a:schemeClr val="tx1"/>
                </a:solidFill>
                <a:latin typeface="DengXian" panose="02010600030101010101" pitchFamily="2" charset="-122"/>
                <a:ea typeface="DengXian" panose="02010600030101010101" pitchFamily="2" charset="-122"/>
              </a:rPr>
              <a:t>…</a:t>
            </a:r>
          </a:p>
        </p:txBody>
      </p:sp>
      <p:sp>
        <p:nvSpPr>
          <p:cNvPr id="11" name="文本框 10"/>
          <p:cNvSpPr txBox="1"/>
          <p:nvPr/>
        </p:nvSpPr>
        <p:spPr>
          <a:xfrm>
            <a:off x="1979712" y="4617050"/>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cxnSp>
        <p:nvCxnSpPr>
          <p:cNvPr id="7" name="直线连接符 6"/>
          <p:cNvCxnSpPr/>
          <p:nvPr/>
        </p:nvCxnSpPr>
        <p:spPr>
          <a:xfrm>
            <a:off x="4650434" y="3793604"/>
            <a:ext cx="1577740" cy="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8" name="直线箭头连接符 17"/>
          <p:cNvCxnSpPr/>
          <p:nvPr/>
        </p:nvCxnSpPr>
        <p:spPr>
          <a:xfrm flipV="1">
            <a:off x="2843808" y="2029408"/>
            <a:ext cx="1806626" cy="1116124"/>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p:cNvCxnSpPr/>
          <p:nvPr/>
        </p:nvCxnSpPr>
        <p:spPr>
          <a:xfrm flipV="1">
            <a:off x="2843808" y="2891924"/>
            <a:ext cx="1805022" cy="541640"/>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1" name="直线箭头连接符 20"/>
          <p:cNvCxnSpPr/>
          <p:nvPr/>
        </p:nvCxnSpPr>
        <p:spPr>
          <a:xfrm>
            <a:off x="2843808" y="4009628"/>
            <a:ext cx="1806626" cy="828092"/>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4" name="文本框 23"/>
          <p:cNvSpPr txBox="1"/>
          <p:nvPr/>
        </p:nvSpPr>
        <p:spPr>
          <a:xfrm>
            <a:off x="6475767" y="3577580"/>
            <a:ext cx="678391"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LEN3</a:t>
            </a:r>
            <a:endParaRPr kumimoji="1" lang="en-US" altLang="zh-CN" sz="1600" b="1" dirty="0">
              <a:latin typeface="DengXian" panose="02010600030101010101" pitchFamily="2" charset="-122"/>
              <a:ea typeface="DengXian" panose="02010600030101010101" pitchFamily="2" charset="-122"/>
            </a:endParaRPr>
          </a:p>
        </p:txBody>
      </p:sp>
      <p:cxnSp>
        <p:nvCxnSpPr>
          <p:cNvPr id="26" name="直线连接符 25"/>
          <p:cNvCxnSpPr/>
          <p:nvPr/>
        </p:nvCxnSpPr>
        <p:spPr>
          <a:xfrm>
            <a:off x="6272237" y="2898955"/>
            <a:ext cx="407060" cy="0"/>
          </a:xfrm>
          <a:prstGeom prst="line">
            <a:avLst/>
          </a:prstGeom>
          <a:ln w="28575"/>
        </p:spPr>
        <p:style>
          <a:lnRef idx="1">
            <a:schemeClr val="dk1"/>
          </a:lnRef>
          <a:fillRef idx="0">
            <a:schemeClr val="dk1"/>
          </a:fillRef>
          <a:effectRef idx="0">
            <a:schemeClr val="dk1"/>
          </a:effectRef>
          <a:fontRef idx="minor">
            <a:schemeClr val="tx1"/>
          </a:fontRef>
        </p:style>
      </p:cxnSp>
      <p:sp>
        <p:nvSpPr>
          <p:cNvPr id="25" name="矩形 24"/>
          <p:cNvSpPr/>
          <p:nvPr/>
        </p:nvSpPr>
        <p:spPr>
          <a:xfrm>
            <a:off x="4650434" y="3349725"/>
            <a:ext cx="1577740" cy="451886"/>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20" name="矩形 19"/>
          <p:cNvSpPr/>
          <p:nvPr/>
        </p:nvSpPr>
        <p:spPr>
          <a:xfrm>
            <a:off x="4650434" y="2891924"/>
            <a:ext cx="1577740" cy="451886"/>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IP</a:t>
            </a:r>
            <a:r>
              <a:rPr kumimoji="1" lang="zh-CN" altLang="en-US" dirty="0">
                <a:solidFill>
                  <a:schemeClr val="tx1"/>
                </a:solidFill>
                <a:latin typeface="DengXian" panose="02010600030101010101" pitchFamily="2" charset="-122"/>
                <a:ea typeface="DengXian" panose="02010600030101010101" pitchFamily="2" charset="-122"/>
              </a:rPr>
              <a:t>头部</a:t>
            </a:r>
          </a:p>
        </p:txBody>
      </p:sp>
      <p:cxnSp>
        <p:nvCxnSpPr>
          <p:cNvPr id="29" name="直线箭头连接符 28">
            <a:extLst>
              <a:ext uri="{FF2B5EF4-FFF2-40B4-BE49-F238E27FC236}">
                <a16:creationId xmlns:a16="http://schemas.microsoft.com/office/drawing/2014/main" id="{AD3D22FD-0F57-284C-826D-07735B0CB68E}"/>
              </a:ext>
            </a:extLst>
          </p:cNvPr>
          <p:cNvCxnSpPr>
            <a:cxnSpLocks/>
          </p:cNvCxnSpPr>
          <p:nvPr/>
        </p:nvCxnSpPr>
        <p:spPr>
          <a:xfrm>
            <a:off x="2843808" y="3793604"/>
            <a:ext cx="1806626" cy="823446"/>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30" name="矩形 29">
            <a:extLst>
              <a:ext uri="{FF2B5EF4-FFF2-40B4-BE49-F238E27FC236}">
                <a16:creationId xmlns:a16="http://schemas.microsoft.com/office/drawing/2014/main" id="{D9B2314E-269A-764B-8394-A2F533BC59C6}"/>
              </a:ext>
            </a:extLst>
          </p:cNvPr>
          <p:cNvSpPr/>
          <p:nvPr/>
        </p:nvSpPr>
        <p:spPr>
          <a:xfrm>
            <a:off x="4650434" y="3813442"/>
            <a:ext cx="1577740" cy="772250"/>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负载</a:t>
            </a:r>
          </a:p>
        </p:txBody>
      </p:sp>
      <p:cxnSp>
        <p:nvCxnSpPr>
          <p:cNvPr id="31" name="直线连接符 30">
            <a:extLst>
              <a:ext uri="{FF2B5EF4-FFF2-40B4-BE49-F238E27FC236}">
                <a16:creationId xmlns:a16="http://schemas.microsoft.com/office/drawing/2014/main" id="{ECF85EFA-86B0-8242-AF45-BE8F1B4C9FD5}"/>
              </a:ext>
            </a:extLst>
          </p:cNvPr>
          <p:cNvCxnSpPr/>
          <p:nvPr/>
        </p:nvCxnSpPr>
        <p:spPr>
          <a:xfrm>
            <a:off x="6272237" y="4598937"/>
            <a:ext cx="4070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直线箭头连接符 31">
            <a:extLst>
              <a:ext uri="{FF2B5EF4-FFF2-40B4-BE49-F238E27FC236}">
                <a16:creationId xmlns:a16="http://schemas.microsoft.com/office/drawing/2014/main" id="{635986D6-D3C2-504A-8ECD-630DA53E4C35}"/>
              </a:ext>
            </a:extLst>
          </p:cNvPr>
          <p:cNvCxnSpPr>
            <a:cxnSpLocks/>
          </p:cNvCxnSpPr>
          <p:nvPr/>
        </p:nvCxnSpPr>
        <p:spPr>
          <a:xfrm>
            <a:off x="6453852" y="2898955"/>
            <a:ext cx="0" cy="1686737"/>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例子：发送数据包</a:t>
            </a:r>
          </a:p>
        </p:txBody>
      </p:sp>
      <p:sp>
        <p:nvSpPr>
          <p:cNvPr id="3" name="内容占位符 2"/>
          <p:cNvSpPr>
            <a:spLocks noGrp="1"/>
          </p:cNvSpPr>
          <p:nvPr>
            <p:ph idx="1"/>
          </p:nvPr>
        </p:nvSpPr>
        <p:spPr/>
        <p:txBody>
          <a:bodyPr/>
          <a:lstStyle/>
          <a:p>
            <a:r>
              <a:rPr kumimoji="1" lang="en-US" altLang="zh-CN" dirty="0"/>
              <a:t>Step6:</a:t>
            </a:r>
            <a:r>
              <a:rPr kumimoji="1" lang="zh-CN" altLang="en-US" dirty="0"/>
              <a:t> 传给链路层，并添加以太网头部</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9" name="矩形 8"/>
          <p:cNvSpPr/>
          <p:nvPr/>
        </p:nvSpPr>
        <p:spPr>
          <a:xfrm>
            <a:off x="4650434" y="2029408"/>
            <a:ext cx="1577740" cy="2808312"/>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1764947" y="2281436"/>
            <a:ext cx="1577740" cy="2304256"/>
          </a:xfrm>
          <a:prstGeom prst="rect">
            <a:avLst/>
          </a:prstGeom>
          <a:noFill/>
          <a:ln>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len</a:t>
            </a:r>
            <a:r>
              <a:rPr kumimoji="1" lang="en-US" altLang="zh-CN" dirty="0">
                <a:solidFill>
                  <a:schemeClr val="tx1"/>
                </a:solidFill>
                <a:latin typeface="DengXian" panose="02010600030101010101" pitchFamily="2" charset="-122"/>
                <a:ea typeface="DengXian" panose="02010600030101010101" pitchFamily="2" charset="-122"/>
              </a:rPr>
              <a:t>=</a:t>
            </a:r>
            <a:r>
              <a:rPr kumimoji="1" lang="en-US" altLang="zh-CN" dirty="0">
                <a:solidFill>
                  <a:srgbClr val="FF2F92"/>
                </a:solidFill>
                <a:latin typeface="DengXian" panose="02010600030101010101" pitchFamily="2" charset="-122"/>
                <a:ea typeface="DengXian" panose="02010600030101010101" pitchFamily="2" charset="-122"/>
              </a:rPr>
              <a:t>LEN4</a:t>
            </a:r>
          </a:p>
          <a:p>
            <a:pPr algn="ctr"/>
            <a:r>
              <a:rPr kumimoji="1" lang="en-US" altLang="zh-CN" dirty="0">
                <a:solidFill>
                  <a:schemeClr val="tx1"/>
                </a:solidFill>
                <a:latin typeface="DengXian" panose="02010600030101010101" pitchFamily="2" charset="-122"/>
                <a:ea typeface="DengXian" panose="02010600030101010101" pitchFamily="2" charset="-122"/>
              </a:rPr>
              <a:t>…</a:t>
            </a:r>
          </a:p>
          <a:p>
            <a:pPr algn="ctr"/>
            <a:r>
              <a:rPr kumimoji="1" lang="en-US" altLang="zh-CN" dirty="0">
                <a:solidFill>
                  <a:schemeClr val="tx1"/>
                </a:solidFill>
                <a:latin typeface="DengXian" panose="02010600030101010101" pitchFamily="2" charset="-122"/>
                <a:ea typeface="DengXian" panose="02010600030101010101" pitchFamily="2" charset="-122"/>
              </a:rPr>
              <a:t>head</a:t>
            </a:r>
          </a:p>
          <a:p>
            <a:pPr algn="ctr"/>
            <a:r>
              <a:rPr kumimoji="1" lang="en-US" altLang="zh-CN" dirty="0">
                <a:solidFill>
                  <a:schemeClr val="tx1"/>
                </a:solidFill>
                <a:latin typeface="DengXian" panose="02010600030101010101" pitchFamily="2" charset="-122"/>
                <a:ea typeface="DengXian" panose="02010600030101010101" pitchFamily="2" charset="-122"/>
              </a:rPr>
              <a:t>data</a:t>
            </a:r>
          </a:p>
          <a:p>
            <a:pPr algn="ctr"/>
            <a:r>
              <a:rPr kumimoji="1" lang="en-US" altLang="zh-CN" dirty="0">
                <a:solidFill>
                  <a:schemeClr val="tx1"/>
                </a:solidFill>
                <a:latin typeface="DengXian" panose="02010600030101010101" pitchFamily="2" charset="-122"/>
                <a:ea typeface="DengXian" panose="02010600030101010101" pitchFamily="2" charset="-122"/>
              </a:rPr>
              <a:t>tail</a:t>
            </a:r>
          </a:p>
          <a:p>
            <a:pPr algn="ctr"/>
            <a:r>
              <a:rPr kumimoji="1" lang="en-US" altLang="zh-CN" dirty="0">
                <a:solidFill>
                  <a:schemeClr val="tx1"/>
                </a:solidFill>
                <a:latin typeface="DengXian" panose="02010600030101010101" pitchFamily="2" charset="-122"/>
                <a:ea typeface="DengXian" panose="02010600030101010101" pitchFamily="2" charset="-122"/>
              </a:rPr>
              <a:t>end</a:t>
            </a:r>
          </a:p>
          <a:p>
            <a:pPr algn="ctr"/>
            <a:r>
              <a:rPr kumimoji="1" lang="en-US" altLang="zh-CN" dirty="0">
                <a:solidFill>
                  <a:schemeClr val="tx1"/>
                </a:solidFill>
                <a:latin typeface="DengXian" panose="02010600030101010101" pitchFamily="2" charset="-122"/>
                <a:ea typeface="DengXian" panose="02010600030101010101" pitchFamily="2" charset="-122"/>
              </a:rPr>
              <a:t>…</a:t>
            </a:r>
          </a:p>
        </p:txBody>
      </p:sp>
      <p:sp>
        <p:nvSpPr>
          <p:cNvPr id="11" name="文本框 10"/>
          <p:cNvSpPr txBox="1"/>
          <p:nvPr/>
        </p:nvSpPr>
        <p:spPr>
          <a:xfrm>
            <a:off x="1979712" y="4617050"/>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cxnSp>
        <p:nvCxnSpPr>
          <p:cNvPr id="7" name="直线连接符 6"/>
          <p:cNvCxnSpPr/>
          <p:nvPr/>
        </p:nvCxnSpPr>
        <p:spPr>
          <a:xfrm>
            <a:off x="4650434" y="3793604"/>
            <a:ext cx="1577740" cy="0"/>
          </a:xfrm>
          <a:prstGeom prst="line">
            <a:avLst/>
          </a:prstGeom>
          <a:ln w="19050">
            <a:prstDash val="dash"/>
          </a:ln>
        </p:spPr>
        <p:style>
          <a:lnRef idx="1">
            <a:schemeClr val="dk1"/>
          </a:lnRef>
          <a:fillRef idx="0">
            <a:schemeClr val="dk1"/>
          </a:fillRef>
          <a:effectRef idx="0">
            <a:schemeClr val="dk1"/>
          </a:effectRef>
          <a:fontRef idx="minor">
            <a:schemeClr val="tx1"/>
          </a:fontRef>
        </p:style>
      </p:cxnSp>
      <p:cxnSp>
        <p:nvCxnSpPr>
          <p:cNvPr id="18" name="直线箭头连接符 17"/>
          <p:cNvCxnSpPr/>
          <p:nvPr/>
        </p:nvCxnSpPr>
        <p:spPr>
          <a:xfrm flipV="1">
            <a:off x="2843808" y="2029408"/>
            <a:ext cx="1806626" cy="1116124"/>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19" name="直线箭头连接符 18"/>
          <p:cNvCxnSpPr/>
          <p:nvPr/>
        </p:nvCxnSpPr>
        <p:spPr>
          <a:xfrm flipV="1">
            <a:off x="2843808" y="2461786"/>
            <a:ext cx="1805824" cy="971778"/>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cxnSp>
        <p:nvCxnSpPr>
          <p:cNvPr id="21" name="直线箭头连接符 20"/>
          <p:cNvCxnSpPr/>
          <p:nvPr/>
        </p:nvCxnSpPr>
        <p:spPr>
          <a:xfrm>
            <a:off x="2843808" y="4009628"/>
            <a:ext cx="1806626" cy="828092"/>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24" name="文本框 23"/>
          <p:cNvSpPr txBox="1"/>
          <p:nvPr/>
        </p:nvSpPr>
        <p:spPr>
          <a:xfrm>
            <a:off x="6475767" y="3385221"/>
            <a:ext cx="678391"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LEN4</a:t>
            </a:r>
            <a:endParaRPr kumimoji="1" lang="en-US" altLang="zh-CN" sz="1600" b="1" dirty="0">
              <a:latin typeface="DengXian" panose="02010600030101010101" pitchFamily="2" charset="-122"/>
              <a:ea typeface="DengXian" panose="02010600030101010101" pitchFamily="2" charset="-122"/>
            </a:endParaRPr>
          </a:p>
        </p:txBody>
      </p:sp>
      <p:cxnSp>
        <p:nvCxnSpPr>
          <p:cNvPr id="26" name="直线连接符 25"/>
          <p:cNvCxnSpPr/>
          <p:nvPr/>
        </p:nvCxnSpPr>
        <p:spPr>
          <a:xfrm>
            <a:off x="6250322" y="2430215"/>
            <a:ext cx="407060" cy="0"/>
          </a:xfrm>
          <a:prstGeom prst="line">
            <a:avLst/>
          </a:prstGeom>
          <a:ln w="28575"/>
        </p:spPr>
        <p:style>
          <a:lnRef idx="1">
            <a:schemeClr val="dk1"/>
          </a:lnRef>
          <a:fillRef idx="0">
            <a:schemeClr val="dk1"/>
          </a:fillRef>
          <a:effectRef idx="0">
            <a:schemeClr val="dk1"/>
          </a:effectRef>
          <a:fontRef idx="minor">
            <a:schemeClr val="tx1"/>
          </a:fontRef>
        </p:style>
      </p:cxnSp>
      <p:sp>
        <p:nvSpPr>
          <p:cNvPr id="25" name="矩形 24"/>
          <p:cNvSpPr/>
          <p:nvPr/>
        </p:nvSpPr>
        <p:spPr>
          <a:xfrm>
            <a:off x="4650434" y="3349725"/>
            <a:ext cx="1577740" cy="451886"/>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20" name="矩形 19"/>
          <p:cNvSpPr/>
          <p:nvPr/>
        </p:nvSpPr>
        <p:spPr>
          <a:xfrm>
            <a:off x="4650434" y="2891924"/>
            <a:ext cx="1577740" cy="451886"/>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IP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29" name="矩形 28"/>
          <p:cNvSpPr/>
          <p:nvPr/>
        </p:nvSpPr>
        <p:spPr>
          <a:xfrm>
            <a:off x="4650613" y="2430215"/>
            <a:ext cx="1577740" cy="451886"/>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Ether</a:t>
            </a:r>
            <a:r>
              <a:rPr kumimoji="1" lang="zh-CN" altLang="en-US" dirty="0">
                <a:solidFill>
                  <a:schemeClr val="tx1"/>
                </a:solidFill>
                <a:latin typeface="DengXian" panose="02010600030101010101" pitchFamily="2" charset="-122"/>
                <a:ea typeface="DengXian" panose="02010600030101010101" pitchFamily="2" charset="-122"/>
              </a:rPr>
              <a:t>头部</a:t>
            </a:r>
          </a:p>
        </p:txBody>
      </p:sp>
      <p:cxnSp>
        <p:nvCxnSpPr>
          <p:cNvPr id="30" name="直线箭头连接符 29">
            <a:extLst>
              <a:ext uri="{FF2B5EF4-FFF2-40B4-BE49-F238E27FC236}">
                <a16:creationId xmlns:a16="http://schemas.microsoft.com/office/drawing/2014/main" id="{E1CB04A4-2F8B-A84B-B88C-AA7312DA6B96}"/>
              </a:ext>
            </a:extLst>
          </p:cNvPr>
          <p:cNvCxnSpPr>
            <a:cxnSpLocks/>
          </p:cNvCxnSpPr>
          <p:nvPr/>
        </p:nvCxnSpPr>
        <p:spPr>
          <a:xfrm>
            <a:off x="2843808" y="3793604"/>
            <a:ext cx="1806626" cy="823446"/>
          </a:xfrm>
          <a:prstGeom prst="straightConnector1">
            <a:avLst/>
          </a:prstGeom>
          <a:ln w="19050">
            <a:solidFill>
              <a:schemeClr val="accent1"/>
            </a:solidFill>
            <a:tailEnd type="triangle"/>
          </a:ln>
        </p:spPr>
        <p:style>
          <a:lnRef idx="1">
            <a:schemeClr val="dk1"/>
          </a:lnRef>
          <a:fillRef idx="0">
            <a:schemeClr val="dk1"/>
          </a:fillRef>
          <a:effectRef idx="0">
            <a:schemeClr val="dk1"/>
          </a:effectRef>
          <a:fontRef idx="minor">
            <a:schemeClr val="tx1"/>
          </a:fontRef>
        </p:style>
      </p:cxnSp>
      <p:sp>
        <p:nvSpPr>
          <p:cNvPr id="31" name="矩形 30">
            <a:extLst>
              <a:ext uri="{FF2B5EF4-FFF2-40B4-BE49-F238E27FC236}">
                <a16:creationId xmlns:a16="http://schemas.microsoft.com/office/drawing/2014/main" id="{833C8868-9724-B348-905D-7D89E44C1185}"/>
              </a:ext>
            </a:extLst>
          </p:cNvPr>
          <p:cNvSpPr/>
          <p:nvPr/>
        </p:nvSpPr>
        <p:spPr>
          <a:xfrm>
            <a:off x="4650434" y="3813442"/>
            <a:ext cx="1577740" cy="772250"/>
          </a:xfrm>
          <a:prstGeom prst="rect">
            <a:avLst/>
          </a:prstGeom>
          <a:solidFill>
            <a:schemeClr val="bg1">
              <a:lumMod val="7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负载</a:t>
            </a:r>
          </a:p>
        </p:txBody>
      </p:sp>
      <p:cxnSp>
        <p:nvCxnSpPr>
          <p:cNvPr id="32" name="直线连接符 31">
            <a:extLst>
              <a:ext uri="{FF2B5EF4-FFF2-40B4-BE49-F238E27FC236}">
                <a16:creationId xmlns:a16="http://schemas.microsoft.com/office/drawing/2014/main" id="{9189E81B-B55E-5740-9474-87CA1E83CD1B}"/>
              </a:ext>
            </a:extLst>
          </p:cNvPr>
          <p:cNvCxnSpPr/>
          <p:nvPr/>
        </p:nvCxnSpPr>
        <p:spPr>
          <a:xfrm>
            <a:off x="6272237" y="4598937"/>
            <a:ext cx="407060"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3" name="直线箭头连接符 32">
            <a:extLst>
              <a:ext uri="{FF2B5EF4-FFF2-40B4-BE49-F238E27FC236}">
                <a16:creationId xmlns:a16="http://schemas.microsoft.com/office/drawing/2014/main" id="{F39AF3B8-7B8C-A34D-B128-0CC326CEABBC}"/>
              </a:ext>
            </a:extLst>
          </p:cNvPr>
          <p:cNvCxnSpPr>
            <a:cxnSpLocks/>
          </p:cNvCxnSpPr>
          <p:nvPr/>
        </p:nvCxnSpPr>
        <p:spPr>
          <a:xfrm>
            <a:off x="6453852" y="2430215"/>
            <a:ext cx="0" cy="2155477"/>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skb</a:t>
            </a:r>
            <a:r>
              <a:rPr kumimoji="1" lang="zh-CN" altLang="en-US" dirty="0"/>
              <a:t>的协议栈头部</a:t>
            </a:r>
          </a:p>
        </p:txBody>
      </p:sp>
      <p:sp>
        <p:nvSpPr>
          <p:cNvPr id="3" name="内容占位符 2"/>
          <p:cNvSpPr>
            <a:spLocks noGrp="1"/>
          </p:cNvSpPr>
          <p:nvPr>
            <p:ph idx="1"/>
          </p:nvPr>
        </p:nvSpPr>
        <p:spPr/>
        <p:txBody>
          <a:bodyPr/>
          <a:lstStyle/>
          <a:p>
            <a:r>
              <a:rPr kumimoji="1" lang="zh-CN" altLang="en-US" dirty="0"/>
              <a:t>当前层处理</a:t>
            </a:r>
            <a:r>
              <a:rPr kumimoji="1" lang="en-US" altLang="zh-CN" dirty="0" err="1"/>
              <a:t>skb</a:t>
            </a:r>
            <a:r>
              <a:rPr kumimoji="1" lang="zh-CN" altLang="en-US" dirty="0"/>
              <a:t>时：</a:t>
            </a:r>
            <a:endParaRPr kumimoji="1" lang="en-US" altLang="zh-CN" dirty="0"/>
          </a:p>
          <a:p>
            <a:pPr lvl="1"/>
            <a:r>
              <a:rPr kumimoji="1" lang="zh-CN" altLang="en-US" dirty="0"/>
              <a:t>同时负责将下一层头部指针初始化好，并移动</a:t>
            </a:r>
            <a:r>
              <a:rPr kumimoji="1" lang="en-US" altLang="zh-CN" dirty="0"/>
              <a:t>data</a:t>
            </a:r>
            <a:r>
              <a:rPr kumimoji="1" lang="zh-CN" altLang="en-US" dirty="0"/>
              <a:t>指针</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3"/>
          <p:cNvSpPr txBox="1"/>
          <p:nvPr/>
        </p:nvSpPr>
        <p:spPr>
          <a:xfrm>
            <a:off x="4933526" y="392416"/>
            <a:ext cx="3898776" cy="1277273"/>
          </a:xfrm>
          <a:prstGeom prst="rect">
            <a:avLst/>
          </a:prstGeom>
          <a:noFill/>
          <a:ln w="19050">
            <a:solidFill>
              <a:schemeClr val="tx1"/>
            </a:solidFill>
          </a:ln>
        </p:spPr>
        <p:txBody>
          <a:bodyPr wrap="square" rtlCol="0">
            <a:spAutoFit/>
          </a:bodyPr>
          <a:lstStyle/>
          <a:p>
            <a:r>
              <a:rPr lang="en-US" altLang="zh-CN" sz="1100" b="1" dirty="0">
                <a:latin typeface="Courier New" panose="02070309020205020404" pitchFamily="49" charset="0"/>
                <a:cs typeface="Courier New" panose="02070309020205020404" pitchFamily="49" charset="0"/>
              </a:rPr>
              <a:t>struct </a:t>
            </a:r>
            <a:r>
              <a:rPr lang="en-US" altLang="zh-CN" sz="1100" b="1" dirty="0" err="1">
                <a:latin typeface="Courier New" panose="02070309020205020404" pitchFamily="49" charset="0"/>
                <a:cs typeface="Courier New" panose="02070309020205020404" pitchFamily="49" charset="0"/>
              </a:rPr>
              <a:t>sk_buff</a:t>
            </a:r>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a:t>
            </a:r>
          </a:p>
          <a:p>
            <a:r>
              <a:rPr lang="en-US" altLang="zh-CN" sz="1100" b="1" dirty="0">
                <a:latin typeface="Courier New" panose="02070309020205020404" pitchFamily="49" charset="0"/>
                <a:cs typeface="Courier New" panose="02070309020205020404" pitchFamily="49" charset="0"/>
              </a:rPr>
              <a:t>    ... ... ...</a:t>
            </a:r>
          </a:p>
          <a:p>
            <a:r>
              <a:rPr lang="en-US" altLang="zh-CN" sz="1100" b="1" dirty="0">
                <a:latin typeface="Courier New" panose="02070309020205020404" pitchFamily="49" charset="0"/>
                <a:cs typeface="Courier New" panose="02070309020205020404" pitchFamily="49" charset="0"/>
              </a:rPr>
              <a:t>    union { ... } h; </a:t>
            </a:r>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 &lt;--- </a:t>
            </a:r>
            <a:r>
              <a:rPr lang="zh-CN" altLang="en-US" sz="1100" b="1" dirty="0">
                <a:latin typeface="Courier New" panose="02070309020205020404" pitchFamily="49" charset="0"/>
                <a:cs typeface="Courier New" panose="02070309020205020404" pitchFamily="49" charset="0"/>
              </a:rPr>
              <a:t>传输层头部</a:t>
            </a:r>
          </a:p>
          <a:p>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union { ... } </a:t>
            </a:r>
            <a:r>
              <a:rPr lang="en-US" altLang="zh-CN" sz="1100" b="1" dirty="0" err="1">
                <a:latin typeface="Courier New" panose="02070309020205020404" pitchFamily="49" charset="0"/>
                <a:cs typeface="Courier New" panose="02070309020205020404" pitchFamily="49" charset="0"/>
              </a:rPr>
              <a:t>nh</a:t>
            </a:r>
            <a:r>
              <a:rPr lang="en-US" altLang="zh-CN" sz="1100" b="1" dirty="0">
                <a:latin typeface="Courier New" panose="02070309020205020404" pitchFamily="49" charset="0"/>
                <a:cs typeface="Courier New" panose="02070309020205020404" pitchFamily="49" charset="0"/>
              </a:rPr>
              <a:t>; </a:t>
            </a:r>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 &lt;--- </a:t>
            </a:r>
            <a:r>
              <a:rPr lang="zh-CN" altLang="en-US" sz="1100" b="1" dirty="0">
                <a:latin typeface="Courier New" panose="02070309020205020404" pitchFamily="49" charset="0"/>
                <a:cs typeface="Courier New" panose="02070309020205020404" pitchFamily="49" charset="0"/>
              </a:rPr>
              <a:t>网络层头部</a:t>
            </a:r>
          </a:p>
          <a:p>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union { ... } mac; // &lt;--- </a:t>
            </a:r>
            <a:r>
              <a:rPr lang="zh-CN" altLang="en-US" sz="1100" b="1" dirty="0">
                <a:latin typeface="Courier New" panose="02070309020205020404" pitchFamily="49" charset="0"/>
                <a:cs typeface="Courier New" panose="02070309020205020404" pitchFamily="49" charset="0"/>
              </a:rPr>
              <a:t>数据链路层头部</a:t>
            </a:r>
          </a:p>
          <a:p>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 ... ...</a:t>
            </a:r>
          </a:p>
          <a:p>
            <a:r>
              <a:rPr lang="en-US" altLang="zh-CN" sz="1100" b="1" dirty="0">
                <a:latin typeface="Courier New" panose="02070309020205020404" pitchFamily="49" charset="0"/>
                <a:cs typeface="Courier New" panose="02070309020205020404" pitchFamily="49" charset="0"/>
              </a:rPr>
              <a:t>};</a:t>
            </a:r>
          </a:p>
        </p:txBody>
      </p:sp>
      <p:sp>
        <p:nvSpPr>
          <p:cNvPr id="7" name="矩形 6">
            <a:extLst>
              <a:ext uri="{FF2B5EF4-FFF2-40B4-BE49-F238E27FC236}">
                <a16:creationId xmlns:a16="http://schemas.microsoft.com/office/drawing/2014/main" id="{57A9B998-1A0E-AD40-A435-5B820878053A}"/>
              </a:ext>
            </a:extLst>
          </p:cNvPr>
          <p:cNvSpPr/>
          <p:nvPr/>
        </p:nvSpPr>
        <p:spPr>
          <a:xfrm>
            <a:off x="1979533" y="3488978"/>
            <a:ext cx="1577740" cy="451886"/>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8" name="矩形 7">
            <a:extLst>
              <a:ext uri="{FF2B5EF4-FFF2-40B4-BE49-F238E27FC236}">
                <a16:creationId xmlns:a16="http://schemas.microsoft.com/office/drawing/2014/main" id="{BECF5B5C-C928-AA47-A946-8BDEA912BBF2}"/>
              </a:ext>
            </a:extLst>
          </p:cNvPr>
          <p:cNvSpPr/>
          <p:nvPr/>
        </p:nvSpPr>
        <p:spPr>
          <a:xfrm>
            <a:off x="1979533" y="3031177"/>
            <a:ext cx="1577740" cy="451886"/>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IP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9" name="矩形 8">
            <a:extLst>
              <a:ext uri="{FF2B5EF4-FFF2-40B4-BE49-F238E27FC236}">
                <a16:creationId xmlns:a16="http://schemas.microsoft.com/office/drawing/2014/main" id="{17774CEC-4B3F-874D-A420-22B1DD62D1E4}"/>
              </a:ext>
            </a:extLst>
          </p:cNvPr>
          <p:cNvSpPr/>
          <p:nvPr/>
        </p:nvSpPr>
        <p:spPr>
          <a:xfrm>
            <a:off x="1979712" y="2569468"/>
            <a:ext cx="1577740" cy="451886"/>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Ether</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10" name="矩形 9">
            <a:extLst>
              <a:ext uri="{FF2B5EF4-FFF2-40B4-BE49-F238E27FC236}">
                <a16:creationId xmlns:a16="http://schemas.microsoft.com/office/drawing/2014/main" id="{2D4574B4-CF50-5E4C-8731-2C84A1760A84}"/>
              </a:ext>
            </a:extLst>
          </p:cNvPr>
          <p:cNvSpPr/>
          <p:nvPr/>
        </p:nvSpPr>
        <p:spPr>
          <a:xfrm>
            <a:off x="1979533" y="3952695"/>
            <a:ext cx="1577740" cy="560989"/>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负载</a:t>
            </a:r>
          </a:p>
        </p:txBody>
      </p:sp>
      <p:sp>
        <p:nvSpPr>
          <p:cNvPr id="11" name="右箭头 10">
            <a:extLst>
              <a:ext uri="{FF2B5EF4-FFF2-40B4-BE49-F238E27FC236}">
                <a16:creationId xmlns:a16="http://schemas.microsoft.com/office/drawing/2014/main" id="{4233F446-8EF6-0F4C-B6ED-E5F48C1F72D1}"/>
              </a:ext>
            </a:extLst>
          </p:cNvPr>
          <p:cNvSpPr/>
          <p:nvPr/>
        </p:nvSpPr>
        <p:spPr>
          <a:xfrm>
            <a:off x="3993514" y="3881737"/>
            <a:ext cx="1718988" cy="355031"/>
          </a:xfrm>
          <a:prstGeom prst="rightArrow">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kumimoji="1" lang="zh-CN" altLang="en-US"/>
          </a:p>
        </p:txBody>
      </p:sp>
      <p:sp>
        <p:nvSpPr>
          <p:cNvPr id="12" name="矩形 11">
            <a:extLst>
              <a:ext uri="{FF2B5EF4-FFF2-40B4-BE49-F238E27FC236}">
                <a16:creationId xmlns:a16="http://schemas.microsoft.com/office/drawing/2014/main" id="{5483AC05-F662-BD4B-BA1B-88553B3EC9C0}"/>
              </a:ext>
            </a:extLst>
          </p:cNvPr>
          <p:cNvSpPr/>
          <p:nvPr/>
        </p:nvSpPr>
        <p:spPr>
          <a:xfrm>
            <a:off x="6234441" y="3488978"/>
            <a:ext cx="1577740" cy="451886"/>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13" name="矩形 12">
            <a:extLst>
              <a:ext uri="{FF2B5EF4-FFF2-40B4-BE49-F238E27FC236}">
                <a16:creationId xmlns:a16="http://schemas.microsoft.com/office/drawing/2014/main" id="{A0684639-9CCC-D048-9060-F8425B8E31F8}"/>
              </a:ext>
            </a:extLst>
          </p:cNvPr>
          <p:cNvSpPr/>
          <p:nvPr/>
        </p:nvSpPr>
        <p:spPr>
          <a:xfrm>
            <a:off x="6234441" y="3031177"/>
            <a:ext cx="1577740" cy="451886"/>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IP</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14" name="矩形 13">
            <a:extLst>
              <a:ext uri="{FF2B5EF4-FFF2-40B4-BE49-F238E27FC236}">
                <a16:creationId xmlns:a16="http://schemas.microsoft.com/office/drawing/2014/main" id="{B7AE1081-2ADA-0A4A-AA87-F196FAB71A99}"/>
              </a:ext>
            </a:extLst>
          </p:cNvPr>
          <p:cNvSpPr/>
          <p:nvPr/>
        </p:nvSpPr>
        <p:spPr>
          <a:xfrm>
            <a:off x="6234620" y="2569468"/>
            <a:ext cx="1577740" cy="451886"/>
          </a:xfrm>
          <a:prstGeom prst="rect">
            <a:avLst/>
          </a:prstGeom>
          <a:solidFill>
            <a:schemeClr val="bg1">
              <a:lumMod val="9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Ether</a:t>
            </a:r>
            <a:r>
              <a:rPr kumimoji="1" lang="zh-CN" altLang="en-US" dirty="0">
                <a:solidFill>
                  <a:schemeClr val="tx1"/>
                </a:solidFill>
                <a:latin typeface="DengXian" panose="02010600030101010101" pitchFamily="2" charset="-122"/>
                <a:ea typeface="DengXian" panose="02010600030101010101" pitchFamily="2" charset="-122"/>
              </a:rPr>
              <a:t>头部</a:t>
            </a:r>
          </a:p>
        </p:txBody>
      </p:sp>
      <p:sp>
        <p:nvSpPr>
          <p:cNvPr id="15" name="矩形 14">
            <a:extLst>
              <a:ext uri="{FF2B5EF4-FFF2-40B4-BE49-F238E27FC236}">
                <a16:creationId xmlns:a16="http://schemas.microsoft.com/office/drawing/2014/main" id="{28E2C5CB-DBBA-2B47-8E1C-3E5CDEC38527}"/>
              </a:ext>
            </a:extLst>
          </p:cNvPr>
          <p:cNvSpPr/>
          <p:nvPr/>
        </p:nvSpPr>
        <p:spPr>
          <a:xfrm>
            <a:off x="6234441" y="3952695"/>
            <a:ext cx="1577740" cy="560989"/>
          </a:xfrm>
          <a:prstGeom prst="rect">
            <a:avLst/>
          </a:prstGeom>
          <a:solidFill>
            <a:schemeClr val="bg1">
              <a:lumMod val="8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TCP</a:t>
            </a:r>
            <a:r>
              <a:rPr kumimoji="1" lang="zh-CN" altLang="en-US" dirty="0">
                <a:solidFill>
                  <a:schemeClr val="tx1"/>
                </a:solidFill>
                <a:latin typeface="DengXian" panose="02010600030101010101" pitchFamily="2" charset="-122"/>
                <a:ea typeface="DengXian" panose="02010600030101010101" pitchFamily="2" charset="-122"/>
              </a:rPr>
              <a:t>负载</a:t>
            </a:r>
          </a:p>
        </p:txBody>
      </p:sp>
      <p:sp>
        <p:nvSpPr>
          <p:cNvPr id="16" name="文本框 15">
            <a:extLst>
              <a:ext uri="{FF2B5EF4-FFF2-40B4-BE49-F238E27FC236}">
                <a16:creationId xmlns:a16="http://schemas.microsoft.com/office/drawing/2014/main" id="{B0B4FAC7-4CFE-8F49-A3AB-51D362958BC4}"/>
              </a:ext>
            </a:extLst>
          </p:cNvPr>
          <p:cNvSpPr txBox="1"/>
          <p:nvPr/>
        </p:nvSpPr>
        <p:spPr>
          <a:xfrm>
            <a:off x="3632578" y="2446936"/>
            <a:ext cx="1043876" cy="307777"/>
          </a:xfrm>
          <a:prstGeom prst="rect">
            <a:avLst/>
          </a:prstGeom>
          <a:noFill/>
        </p:spPr>
        <p:txBody>
          <a:bodyPr wrap="none" rtlCol="0">
            <a:spAutoFit/>
          </a:bodyPr>
          <a:lstStyle/>
          <a:p>
            <a:r>
              <a:rPr lang="en-US" altLang="zh-CN" sz="1400" b="1" dirty="0" err="1">
                <a:latin typeface="Courier New" panose="02070309020205020404" pitchFamily="49" charset="0"/>
                <a:cs typeface="Courier New" panose="02070309020205020404" pitchFamily="49" charset="0"/>
              </a:rPr>
              <a:t>skb</a:t>
            </a:r>
            <a:r>
              <a:rPr lang="en-US" altLang="zh-CN" sz="1400" b="1" dirty="0">
                <a:latin typeface="Courier New" panose="02070309020205020404" pitchFamily="49" charset="0"/>
                <a:cs typeface="Courier New" panose="02070309020205020404" pitchFamily="49" charset="0"/>
              </a:rPr>
              <a:t>-&gt;mac</a:t>
            </a:r>
            <a:endParaRPr kumimoji="1" lang="en-US" altLang="zh-CN" sz="1400" b="1" dirty="0">
              <a:latin typeface="DengXian" panose="02010600030101010101" pitchFamily="2" charset="-122"/>
              <a:ea typeface="DengXian" panose="02010600030101010101" pitchFamily="2" charset="-122"/>
            </a:endParaRPr>
          </a:p>
        </p:txBody>
      </p:sp>
      <p:sp>
        <p:nvSpPr>
          <p:cNvPr id="17" name="文本框 16">
            <a:extLst>
              <a:ext uri="{FF2B5EF4-FFF2-40B4-BE49-F238E27FC236}">
                <a16:creationId xmlns:a16="http://schemas.microsoft.com/office/drawing/2014/main" id="{59454E4C-D137-EA44-8091-9D5519EA1F05}"/>
              </a:ext>
            </a:extLst>
          </p:cNvPr>
          <p:cNvSpPr txBox="1"/>
          <p:nvPr/>
        </p:nvSpPr>
        <p:spPr>
          <a:xfrm>
            <a:off x="471126" y="3409574"/>
            <a:ext cx="1151277" cy="307777"/>
          </a:xfrm>
          <a:prstGeom prst="rect">
            <a:avLst/>
          </a:prstGeom>
          <a:noFill/>
        </p:spPr>
        <p:txBody>
          <a:bodyPr wrap="none" rtlCol="0">
            <a:spAutoFit/>
          </a:bodyPr>
          <a:lstStyle/>
          <a:p>
            <a:r>
              <a:rPr lang="en-US" altLang="zh-CN" sz="1400" b="1" dirty="0" err="1">
                <a:latin typeface="Courier New" panose="02070309020205020404" pitchFamily="49" charset="0"/>
                <a:cs typeface="Courier New" panose="02070309020205020404" pitchFamily="49" charset="0"/>
              </a:rPr>
              <a:t>skb</a:t>
            </a:r>
            <a:r>
              <a:rPr lang="en-US" altLang="zh-CN" sz="1400" b="1" dirty="0">
                <a:latin typeface="Courier New" panose="02070309020205020404" pitchFamily="49" charset="0"/>
                <a:cs typeface="Courier New" panose="02070309020205020404" pitchFamily="49" charset="0"/>
              </a:rPr>
              <a:t>-&gt;</a:t>
            </a:r>
            <a:r>
              <a:rPr lang="en-US" altLang="zh-CN" sz="1400" b="1" dirty="0">
                <a:solidFill>
                  <a:srgbClr val="FF2F92"/>
                </a:solidFill>
                <a:latin typeface="Courier New" panose="02070309020205020404" pitchFamily="49" charset="0"/>
                <a:cs typeface="Courier New" panose="02070309020205020404" pitchFamily="49" charset="0"/>
              </a:rPr>
              <a:t>data</a:t>
            </a:r>
            <a:endParaRPr kumimoji="1" lang="en-US" altLang="zh-CN" sz="1400" b="1" dirty="0">
              <a:solidFill>
                <a:srgbClr val="FF2F92"/>
              </a:solidFill>
              <a:latin typeface="DengXian" panose="02010600030101010101" pitchFamily="2" charset="-122"/>
              <a:ea typeface="DengXian" panose="02010600030101010101" pitchFamily="2" charset="-122"/>
            </a:endParaRPr>
          </a:p>
        </p:txBody>
      </p:sp>
      <p:sp>
        <p:nvSpPr>
          <p:cNvPr id="18" name="文本框 17">
            <a:extLst>
              <a:ext uri="{FF2B5EF4-FFF2-40B4-BE49-F238E27FC236}">
                <a16:creationId xmlns:a16="http://schemas.microsoft.com/office/drawing/2014/main" id="{2CAEF611-27D7-1D40-BA3E-66BE643D2E3D}"/>
              </a:ext>
            </a:extLst>
          </p:cNvPr>
          <p:cNvSpPr txBox="1"/>
          <p:nvPr/>
        </p:nvSpPr>
        <p:spPr>
          <a:xfrm>
            <a:off x="7851832" y="2411167"/>
            <a:ext cx="1043876" cy="307777"/>
          </a:xfrm>
          <a:prstGeom prst="rect">
            <a:avLst/>
          </a:prstGeom>
          <a:noFill/>
        </p:spPr>
        <p:txBody>
          <a:bodyPr wrap="none" rtlCol="0">
            <a:spAutoFit/>
          </a:bodyPr>
          <a:lstStyle/>
          <a:p>
            <a:r>
              <a:rPr lang="en-US" altLang="zh-CN" sz="1400" b="1" dirty="0" err="1">
                <a:latin typeface="Courier New" panose="02070309020205020404" pitchFamily="49" charset="0"/>
                <a:cs typeface="Courier New" panose="02070309020205020404" pitchFamily="49" charset="0"/>
              </a:rPr>
              <a:t>skb</a:t>
            </a:r>
            <a:r>
              <a:rPr lang="en-US" altLang="zh-CN" sz="1400" b="1" dirty="0">
                <a:latin typeface="Courier New" panose="02070309020205020404" pitchFamily="49" charset="0"/>
                <a:cs typeface="Courier New" panose="02070309020205020404" pitchFamily="49" charset="0"/>
              </a:rPr>
              <a:t>-&gt;mac</a:t>
            </a:r>
            <a:endParaRPr kumimoji="1" lang="en-US" altLang="zh-CN" sz="1400" b="1" dirty="0">
              <a:latin typeface="DengXian" panose="02010600030101010101" pitchFamily="2" charset="-122"/>
              <a:ea typeface="DengXian" panose="02010600030101010101" pitchFamily="2" charset="-122"/>
            </a:endParaRPr>
          </a:p>
        </p:txBody>
      </p:sp>
      <p:sp>
        <p:nvSpPr>
          <p:cNvPr id="19" name="文本框 18">
            <a:extLst>
              <a:ext uri="{FF2B5EF4-FFF2-40B4-BE49-F238E27FC236}">
                <a16:creationId xmlns:a16="http://schemas.microsoft.com/office/drawing/2014/main" id="{6ACC6955-5321-AB41-916E-480A5A7B4FBD}"/>
              </a:ext>
            </a:extLst>
          </p:cNvPr>
          <p:cNvSpPr txBox="1"/>
          <p:nvPr/>
        </p:nvSpPr>
        <p:spPr>
          <a:xfrm>
            <a:off x="7865882" y="2855150"/>
            <a:ext cx="936475" cy="307777"/>
          </a:xfrm>
          <a:prstGeom prst="rect">
            <a:avLst/>
          </a:prstGeom>
          <a:noFill/>
        </p:spPr>
        <p:txBody>
          <a:bodyPr wrap="none" rtlCol="0">
            <a:spAutoFit/>
          </a:bodyPr>
          <a:lstStyle/>
          <a:p>
            <a:r>
              <a:rPr lang="en-US" altLang="zh-CN" sz="1400" b="1" dirty="0" err="1">
                <a:latin typeface="Courier New" panose="02070309020205020404" pitchFamily="49" charset="0"/>
                <a:cs typeface="Courier New" panose="02070309020205020404" pitchFamily="49" charset="0"/>
              </a:rPr>
              <a:t>skb</a:t>
            </a:r>
            <a:r>
              <a:rPr lang="en-US" altLang="zh-CN" sz="1400" b="1" dirty="0">
                <a:latin typeface="Courier New" panose="02070309020205020404" pitchFamily="49" charset="0"/>
                <a:cs typeface="Courier New" panose="02070309020205020404" pitchFamily="49" charset="0"/>
              </a:rPr>
              <a:t>-&gt;</a:t>
            </a:r>
            <a:r>
              <a:rPr lang="en-US" altLang="zh-CN" sz="1400" b="1" dirty="0" err="1">
                <a:latin typeface="Courier New" panose="02070309020205020404" pitchFamily="49" charset="0"/>
                <a:cs typeface="Courier New" panose="02070309020205020404" pitchFamily="49" charset="0"/>
              </a:rPr>
              <a:t>nh</a:t>
            </a:r>
            <a:endParaRPr kumimoji="1" lang="en-US" altLang="zh-CN" sz="1400" b="1" dirty="0">
              <a:latin typeface="DengXian" panose="02010600030101010101" pitchFamily="2" charset="-122"/>
              <a:ea typeface="DengXian" panose="02010600030101010101" pitchFamily="2" charset="-122"/>
            </a:endParaRPr>
          </a:p>
        </p:txBody>
      </p:sp>
      <p:cxnSp>
        <p:nvCxnSpPr>
          <p:cNvPr id="21" name="直线箭头连接符 20">
            <a:extLst>
              <a:ext uri="{FF2B5EF4-FFF2-40B4-BE49-F238E27FC236}">
                <a16:creationId xmlns:a16="http://schemas.microsoft.com/office/drawing/2014/main" id="{2F10106C-6B97-474A-BFE3-DDAD9A4A4426}"/>
              </a:ext>
            </a:extLst>
          </p:cNvPr>
          <p:cNvCxnSpPr>
            <a:cxnSpLocks/>
            <a:stCxn id="17" idx="3"/>
          </p:cNvCxnSpPr>
          <p:nvPr/>
        </p:nvCxnSpPr>
        <p:spPr>
          <a:xfrm flipV="1">
            <a:off x="1622403" y="2565056"/>
            <a:ext cx="354646" cy="99840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72CB7DFB-F478-564A-BDF4-C2202722CE5E}"/>
              </a:ext>
            </a:extLst>
          </p:cNvPr>
          <p:cNvSpPr txBox="1"/>
          <p:nvPr/>
        </p:nvSpPr>
        <p:spPr>
          <a:xfrm>
            <a:off x="4533574" y="3391555"/>
            <a:ext cx="1151277" cy="307777"/>
          </a:xfrm>
          <a:prstGeom prst="rect">
            <a:avLst/>
          </a:prstGeom>
          <a:noFill/>
        </p:spPr>
        <p:txBody>
          <a:bodyPr wrap="none" rtlCol="0">
            <a:spAutoFit/>
          </a:bodyPr>
          <a:lstStyle/>
          <a:p>
            <a:r>
              <a:rPr lang="en-US" altLang="zh-CN" sz="1400" b="1" dirty="0" err="1">
                <a:latin typeface="Courier New" panose="02070309020205020404" pitchFamily="49" charset="0"/>
                <a:cs typeface="Courier New" panose="02070309020205020404" pitchFamily="49" charset="0"/>
              </a:rPr>
              <a:t>skb</a:t>
            </a:r>
            <a:r>
              <a:rPr lang="en-US" altLang="zh-CN" sz="1400" b="1" dirty="0">
                <a:latin typeface="Courier New" panose="02070309020205020404" pitchFamily="49" charset="0"/>
                <a:cs typeface="Courier New" panose="02070309020205020404" pitchFamily="49" charset="0"/>
              </a:rPr>
              <a:t>-&gt;</a:t>
            </a:r>
            <a:r>
              <a:rPr lang="en-US" altLang="zh-CN" sz="1400" b="1" dirty="0">
                <a:solidFill>
                  <a:srgbClr val="FF2F92"/>
                </a:solidFill>
                <a:latin typeface="Courier New" panose="02070309020205020404" pitchFamily="49" charset="0"/>
                <a:cs typeface="Courier New" panose="02070309020205020404" pitchFamily="49" charset="0"/>
              </a:rPr>
              <a:t>data</a:t>
            </a:r>
            <a:endParaRPr kumimoji="1" lang="en-US" altLang="zh-CN" sz="1400" b="1" dirty="0">
              <a:solidFill>
                <a:srgbClr val="FF2F92"/>
              </a:solidFill>
              <a:latin typeface="DengXian" panose="02010600030101010101" pitchFamily="2" charset="-122"/>
              <a:ea typeface="DengXian" panose="02010600030101010101" pitchFamily="2" charset="-122"/>
            </a:endParaRPr>
          </a:p>
        </p:txBody>
      </p:sp>
      <p:cxnSp>
        <p:nvCxnSpPr>
          <p:cNvPr id="26" name="直线箭头连接符 25">
            <a:extLst>
              <a:ext uri="{FF2B5EF4-FFF2-40B4-BE49-F238E27FC236}">
                <a16:creationId xmlns:a16="http://schemas.microsoft.com/office/drawing/2014/main" id="{3BF920B8-FC2B-334E-B411-9BC9EF96429C}"/>
              </a:ext>
            </a:extLst>
          </p:cNvPr>
          <p:cNvCxnSpPr>
            <a:cxnSpLocks/>
          </p:cNvCxnSpPr>
          <p:nvPr/>
        </p:nvCxnSpPr>
        <p:spPr>
          <a:xfrm flipV="1">
            <a:off x="5712502" y="3045927"/>
            <a:ext cx="521939" cy="49951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595BA9ED-F5AC-9A45-AD3A-109C545D5A22}"/>
              </a:ext>
            </a:extLst>
          </p:cNvPr>
          <p:cNvSpPr txBox="1"/>
          <p:nvPr/>
        </p:nvSpPr>
        <p:spPr>
          <a:xfrm>
            <a:off x="6007648" y="4665409"/>
            <a:ext cx="2031325" cy="338554"/>
          </a:xfrm>
          <a:prstGeom prst="rect">
            <a:avLst/>
          </a:prstGeom>
          <a:noFill/>
        </p:spPr>
        <p:txBody>
          <a:bodyPr wrap="none" rtlCol="0">
            <a:spAutoFit/>
          </a:bodyPr>
          <a:lstStyle/>
          <a:p>
            <a:r>
              <a:rPr lang="zh-CN" altLang="en-US" sz="1600" b="1" dirty="0">
                <a:latin typeface="Courier New" panose="02070309020205020404" pitchFamily="49" charset="0"/>
                <a:cs typeface="Courier New" panose="02070309020205020404" pitchFamily="49" charset="0"/>
              </a:rPr>
              <a:t>即将交给</a:t>
            </a:r>
            <a:r>
              <a:rPr lang="zh-CN" altLang="en-US" sz="1600" b="1" dirty="0">
                <a:solidFill>
                  <a:srgbClr val="FF2F92"/>
                </a:solidFill>
                <a:latin typeface="Courier New" panose="02070309020205020404" pitchFamily="49" charset="0"/>
                <a:cs typeface="Courier New" panose="02070309020205020404" pitchFamily="49" charset="0"/>
              </a:rPr>
              <a:t>网络层</a:t>
            </a:r>
            <a:r>
              <a:rPr lang="zh-CN" altLang="en-US" sz="1600" b="1" dirty="0">
                <a:latin typeface="Courier New" panose="02070309020205020404" pitchFamily="49" charset="0"/>
                <a:cs typeface="Courier New" panose="02070309020205020404" pitchFamily="49" charset="0"/>
              </a:rPr>
              <a:t>之前</a:t>
            </a:r>
            <a:endParaRPr kumimoji="1" lang="en-US" altLang="zh-CN" sz="1600" b="1" dirty="0">
              <a:latin typeface="DengXian" panose="02010600030101010101" pitchFamily="2" charset="-122"/>
              <a:ea typeface="DengXian" panose="02010600030101010101" pitchFamily="2" charset="-122"/>
            </a:endParaRPr>
          </a:p>
        </p:txBody>
      </p:sp>
      <p:sp>
        <p:nvSpPr>
          <p:cNvPr id="28" name="文本框 27">
            <a:extLst>
              <a:ext uri="{FF2B5EF4-FFF2-40B4-BE49-F238E27FC236}">
                <a16:creationId xmlns:a16="http://schemas.microsoft.com/office/drawing/2014/main" id="{9C555B5E-9B6D-374B-A0E0-DF8F5F6A8EA1}"/>
              </a:ext>
            </a:extLst>
          </p:cNvPr>
          <p:cNvSpPr txBox="1"/>
          <p:nvPr/>
        </p:nvSpPr>
        <p:spPr>
          <a:xfrm>
            <a:off x="1731132" y="4674443"/>
            <a:ext cx="1826141" cy="338554"/>
          </a:xfrm>
          <a:prstGeom prst="rect">
            <a:avLst/>
          </a:prstGeom>
          <a:noFill/>
        </p:spPr>
        <p:txBody>
          <a:bodyPr wrap="none" rtlCol="0">
            <a:spAutoFit/>
          </a:bodyPr>
          <a:lstStyle/>
          <a:p>
            <a:r>
              <a:rPr lang="zh-CN" altLang="en-US" sz="1600" b="1" dirty="0">
                <a:latin typeface="Courier New" panose="02070309020205020404" pitchFamily="49" charset="0"/>
                <a:cs typeface="Courier New" panose="02070309020205020404" pitchFamily="49" charset="0"/>
              </a:rPr>
              <a:t>处理</a:t>
            </a:r>
            <a:r>
              <a:rPr lang="zh-CN" altLang="en-US" sz="1600" b="1" dirty="0">
                <a:solidFill>
                  <a:srgbClr val="FF2F92"/>
                </a:solidFill>
                <a:latin typeface="Courier New" panose="02070309020205020404" pitchFamily="49" charset="0"/>
                <a:cs typeface="Courier New" panose="02070309020205020404" pitchFamily="49" charset="0"/>
              </a:rPr>
              <a:t>链路层</a:t>
            </a:r>
            <a:r>
              <a:rPr lang="zh-CN" altLang="en-US" sz="1600" b="1" dirty="0">
                <a:latin typeface="Courier New" panose="02070309020205020404" pitchFamily="49" charset="0"/>
                <a:cs typeface="Courier New" panose="02070309020205020404" pitchFamily="49" charset="0"/>
              </a:rPr>
              <a:t>数据时</a:t>
            </a:r>
            <a:endParaRPr kumimoji="1" lang="en-US" altLang="zh-CN" sz="1600" b="1" dirty="0">
              <a:latin typeface="DengXian" panose="02010600030101010101" pitchFamily="2" charset="-122"/>
              <a:ea typeface="DengXian"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1C6CC0-1B15-6445-A868-DB6E15772AFC}"/>
              </a:ext>
            </a:extLst>
          </p:cNvPr>
          <p:cNvSpPr>
            <a:spLocks noGrp="1"/>
          </p:cNvSpPr>
          <p:nvPr>
            <p:ph type="title"/>
          </p:nvPr>
        </p:nvSpPr>
        <p:spPr/>
        <p:txBody>
          <a:bodyPr/>
          <a:lstStyle/>
          <a:p>
            <a:r>
              <a:rPr kumimoji="1" lang="en-US" altLang="zh-CN" dirty="0" err="1"/>
              <a:t>skb</a:t>
            </a:r>
            <a:r>
              <a:rPr kumimoji="1" lang="zh-CN" altLang="en-US" dirty="0"/>
              <a:t> </a:t>
            </a:r>
            <a:r>
              <a:rPr kumimoji="1" lang="en-US" altLang="zh-CN" dirty="0"/>
              <a:t>control</a:t>
            </a:r>
            <a:r>
              <a:rPr kumimoji="1" lang="zh-CN" altLang="en-US" dirty="0"/>
              <a:t> </a:t>
            </a:r>
            <a:r>
              <a:rPr kumimoji="1" lang="en-US" altLang="zh-CN" dirty="0"/>
              <a:t>buffer</a:t>
            </a:r>
            <a:endParaRPr kumimoji="1" lang="zh-CN" altLang="en-US" dirty="0"/>
          </a:p>
        </p:txBody>
      </p:sp>
      <p:sp>
        <p:nvSpPr>
          <p:cNvPr id="3" name="内容占位符 2">
            <a:extLst>
              <a:ext uri="{FF2B5EF4-FFF2-40B4-BE49-F238E27FC236}">
                <a16:creationId xmlns:a16="http://schemas.microsoft.com/office/drawing/2014/main" id="{C4985A7B-3C9B-524F-9B1F-8729D037B72B}"/>
              </a:ext>
            </a:extLst>
          </p:cNvPr>
          <p:cNvSpPr>
            <a:spLocks noGrp="1"/>
          </p:cNvSpPr>
          <p:nvPr>
            <p:ph idx="1"/>
          </p:nvPr>
        </p:nvSpPr>
        <p:spPr/>
        <p:txBody>
          <a:bodyPr/>
          <a:lstStyle/>
          <a:p>
            <a:r>
              <a:rPr kumimoji="1" lang="en-US" altLang="zh-CN" dirty="0"/>
              <a:t>char</a:t>
            </a:r>
            <a:r>
              <a:rPr kumimoji="1" lang="zh-CN" altLang="en-US" dirty="0"/>
              <a:t> </a:t>
            </a:r>
            <a:r>
              <a:rPr kumimoji="1" lang="en-US" altLang="zh-CN" dirty="0" err="1"/>
              <a:t>cb</a:t>
            </a:r>
            <a:r>
              <a:rPr kumimoji="1" lang="en-US" altLang="zh-CN" dirty="0"/>
              <a:t>[40];</a:t>
            </a:r>
          </a:p>
          <a:p>
            <a:r>
              <a:rPr kumimoji="1" lang="zh-CN" altLang="en-US" dirty="0"/>
              <a:t>用于每层维护私有的信息</a:t>
            </a:r>
          </a:p>
        </p:txBody>
      </p:sp>
      <p:sp>
        <p:nvSpPr>
          <p:cNvPr id="4" name="灯片编号占位符 3">
            <a:extLst>
              <a:ext uri="{FF2B5EF4-FFF2-40B4-BE49-F238E27FC236}">
                <a16:creationId xmlns:a16="http://schemas.microsoft.com/office/drawing/2014/main" id="{5B5740C8-AC93-9A4C-9FBB-BC68DF71C91C}"/>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页脚占位符 4">
            <a:extLst>
              <a:ext uri="{FF2B5EF4-FFF2-40B4-BE49-F238E27FC236}">
                <a16:creationId xmlns:a16="http://schemas.microsoft.com/office/drawing/2014/main" id="{B9E0406F-0B9B-3B44-AAF5-CF4A2E727207}"/>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3">
            <a:extLst>
              <a:ext uri="{FF2B5EF4-FFF2-40B4-BE49-F238E27FC236}">
                <a16:creationId xmlns:a16="http://schemas.microsoft.com/office/drawing/2014/main" id="{27DE8870-9F82-6146-83E6-60746B6E6EB3}"/>
              </a:ext>
            </a:extLst>
          </p:cNvPr>
          <p:cNvSpPr txBox="1"/>
          <p:nvPr/>
        </p:nvSpPr>
        <p:spPr>
          <a:xfrm>
            <a:off x="1139280" y="2713484"/>
            <a:ext cx="6480720" cy="2123658"/>
          </a:xfrm>
          <a:prstGeom prst="rect">
            <a:avLst/>
          </a:prstGeom>
          <a:noFill/>
          <a:ln w="19050">
            <a:solidFill>
              <a:schemeClr val="tx1"/>
            </a:solidFill>
          </a:ln>
        </p:spPr>
        <p:txBody>
          <a:bodyPr wrap="square" rtlCol="0">
            <a:spAutoFit/>
          </a:bodyPr>
          <a:lstStyle/>
          <a:p>
            <a:r>
              <a:rPr lang="en-US" altLang="zh-CN" sz="1200" b="1" dirty="0">
                <a:latin typeface="Courier New" panose="02070309020205020404" pitchFamily="49" charset="0"/>
                <a:cs typeface="Courier New" panose="02070309020205020404" pitchFamily="49" charset="0"/>
              </a:rPr>
              <a:t>struct </a:t>
            </a:r>
            <a:r>
              <a:rPr lang="en-US" altLang="zh-CN" sz="1200" b="1" dirty="0" err="1">
                <a:latin typeface="Courier New" panose="02070309020205020404" pitchFamily="49" charset="0"/>
                <a:cs typeface="Courier New" panose="02070309020205020404" pitchFamily="49" charset="0"/>
              </a:rPr>
              <a:t>tcp_skb_cb</a:t>
            </a:r>
            <a:r>
              <a:rPr lang="en-US" altLang="zh-CN" sz="1200" b="1" dirty="0">
                <a:latin typeface="Courier New" panose="02070309020205020404" pitchFamily="49" charset="0"/>
                <a:cs typeface="Courier New" panose="02070309020205020404" pitchFamily="49" charset="0"/>
              </a:rPr>
              <a:t> {</a:t>
            </a:r>
          </a:p>
          <a:p>
            <a:r>
              <a:rPr lang="en-US" altLang="zh-CN" sz="1200" b="1" dirty="0">
                <a:latin typeface="Courier New" panose="02070309020205020404" pitchFamily="49" charset="0"/>
                <a:cs typeface="Courier New" panose="02070309020205020404" pitchFamily="49" charset="0"/>
              </a:rPr>
              <a:t>    __u32       </a:t>
            </a:r>
            <a:r>
              <a:rPr lang="en-US" altLang="zh-CN" sz="1200" b="1" dirty="0" err="1">
                <a:latin typeface="Courier New" panose="02070309020205020404" pitchFamily="49" charset="0"/>
                <a:cs typeface="Courier New" panose="02070309020205020404" pitchFamily="49" charset="0"/>
              </a:rPr>
              <a:t>seq</a:t>
            </a:r>
            <a:r>
              <a:rPr lang="en-US" altLang="zh-CN" sz="1200" b="1" dirty="0">
                <a:latin typeface="Courier New" panose="02070309020205020404" pitchFamily="49" charset="0"/>
                <a:cs typeface="Courier New" panose="02070309020205020404" pitchFamily="49" charset="0"/>
              </a:rPr>
              <a:t>;        /* Starting sequence number */</a:t>
            </a:r>
          </a:p>
          <a:p>
            <a:r>
              <a:rPr lang="en-US" altLang="zh-CN" sz="1200" b="1" dirty="0">
                <a:latin typeface="Courier New" panose="02070309020205020404" pitchFamily="49" charset="0"/>
                <a:cs typeface="Courier New" panose="02070309020205020404" pitchFamily="49" charset="0"/>
              </a:rPr>
              <a:t>    __u32       </a:t>
            </a:r>
            <a:r>
              <a:rPr lang="en-US" altLang="zh-CN" sz="1200" b="1" dirty="0" err="1">
                <a:latin typeface="Courier New" panose="02070309020205020404" pitchFamily="49" charset="0"/>
                <a:cs typeface="Courier New" panose="02070309020205020404" pitchFamily="49" charset="0"/>
              </a:rPr>
              <a:t>end_seq</a:t>
            </a:r>
            <a:r>
              <a:rPr lang="en-US" altLang="zh-CN" sz="1200" b="1" dirty="0">
                <a:latin typeface="Courier New" panose="02070309020205020404" pitchFamily="49" charset="0"/>
                <a:cs typeface="Courier New" panose="02070309020205020404" pitchFamily="49" charset="0"/>
              </a:rPr>
              <a:t>;    /* SEQ + FIN + SYN + </a:t>
            </a:r>
            <a:r>
              <a:rPr lang="en-US" altLang="zh-CN" sz="1200" b="1" dirty="0" err="1">
                <a:latin typeface="Courier New" panose="02070309020205020404" pitchFamily="49" charset="0"/>
                <a:cs typeface="Courier New" panose="02070309020205020404" pitchFamily="49" charset="0"/>
              </a:rPr>
              <a:t>datalen</a:t>
            </a:r>
            <a:r>
              <a:rPr lang="en-US" altLang="zh-CN" sz="1200" b="1" dirty="0">
                <a:latin typeface="Courier New" panose="02070309020205020404" pitchFamily="49" charset="0"/>
                <a:cs typeface="Courier New" panose="02070309020205020404" pitchFamily="49" charset="0"/>
              </a:rPr>
              <a:t>    */</a:t>
            </a:r>
          </a:p>
          <a:p>
            <a:r>
              <a:rPr lang="en-US" altLang="zh-CN" sz="1200" b="1" dirty="0">
                <a:latin typeface="Courier New" panose="02070309020205020404" pitchFamily="49" charset="0"/>
                <a:cs typeface="Courier New" panose="02070309020205020404" pitchFamily="49" charset="0"/>
              </a:rPr>
              <a:t>    ... ... ...</a:t>
            </a:r>
          </a:p>
          <a:p>
            <a:r>
              <a:rPr lang="en-US" altLang="zh-CN" sz="1200" b="1" dirty="0">
                <a:latin typeface="Courier New" panose="02070309020205020404" pitchFamily="49" charset="0"/>
                <a:cs typeface="Courier New" panose="02070309020205020404" pitchFamily="49" charset="0"/>
              </a:rPr>
              <a:t>    __u8        </a:t>
            </a:r>
            <a:r>
              <a:rPr lang="en-US" altLang="zh-CN" sz="1200" b="1" dirty="0" err="1">
                <a:latin typeface="Courier New" panose="02070309020205020404" pitchFamily="49" charset="0"/>
                <a:cs typeface="Courier New" panose="02070309020205020404" pitchFamily="49" charset="0"/>
              </a:rPr>
              <a:t>tcp_flags</a:t>
            </a:r>
            <a:r>
              <a:rPr lang="en-US" altLang="zh-CN" sz="1200" b="1" dirty="0">
                <a:latin typeface="Courier New" panose="02070309020205020404" pitchFamily="49" charset="0"/>
                <a:cs typeface="Courier New" panose="02070309020205020404" pitchFamily="49" charset="0"/>
              </a:rPr>
              <a:t>;  /* TCP header flags. (</a:t>
            </a:r>
            <a:r>
              <a:rPr lang="en-US" altLang="zh-CN" sz="1200" b="1" dirty="0" err="1">
                <a:latin typeface="Courier New" panose="02070309020205020404" pitchFamily="49" charset="0"/>
                <a:cs typeface="Courier New" panose="02070309020205020404" pitchFamily="49" charset="0"/>
              </a:rPr>
              <a:t>tcp</a:t>
            </a:r>
            <a:r>
              <a:rPr lang="en-US" altLang="zh-CN" sz="1200" b="1" dirty="0">
                <a:latin typeface="Courier New" panose="02070309020205020404" pitchFamily="49" charset="0"/>
                <a:cs typeface="Courier New" panose="02070309020205020404" pitchFamily="49" charset="0"/>
              </a:rPr>
              <a:t>[13])  */</a:t>
            </a:r>
          </a:p>
          <a:p>
            <a:r>
              <a:rPr lang="en-US" altLang="zh-CN" sz="1200" b="1" dirty="0">
                <a:latin typeface="Courier New" panose="02070309020205020404" pitchFamily="49" charset="0"/>
                <a:cs typeface="Courier New" panose="02070309020205020404" pitchFamily="49" charset="0"/>
              </a:rPr>
              <a:t>    __u8        sacked;     /* State flags for SACK.    */</a:t>
            </a:r>
          </a:p>
          <a:p>
            <a:r>
              <a:rPr lang="en-US" altLang="zh-CN" sz="1200" b="1" dirty="0">
                <a:latin typeface="Courier New" panose="02070309020205020404" pitchFamily="49" charset="0"/>
                <a:cs typeface="Courier New" panose="02070309020205020404" pitchFamily="49" charset="0"/>
              </a:rPr>
              <a:t>    __u8        txstamp_ack:1,  /* Record TX timestamp for ack? */</a:t>
            </a:r>
          </a:p>
          <a:p>
            <a:r>
              <a:rPr lang="en-US" altLang="zh-CN" sz="1200" b="1" dirty="0">
                <a:latin typeface="Courier New" panose="02070309020205020404" pitchFamily="49" charset="0"/>
                <a:cs typeface="Courier New" panose="02070309020205020404" pitchFamily="49" charset="0"/>
              </a:rPr>
              <a:t>    __u32       </a:t>
            </a:r>
            <a:r>
              <a:rPr lang="en-US" altLang="zh-CN" sz="1200" b="1" dirty="0" err="1">
                <a:latin typeface="Courier New" panose="02070309020205020404" pitchFamily="49" charset="0"/>
                <a:cs typeface="Courier New" panose="02070309020205020404" pitchFamily="49" charset="0"/>
              </a:rPr>
              <a:t>ack_seq</a:t>
            </a:r>
            <a:r>
              <a:rPr lang="en-US" altLang="zh-CN" sz="1200" b="1" dirty="0">
                <a:latin typeface="Courier New" panose="02070309020205020404" pitchFamily="49" charset="0"/>
                <a:cs typeface="Courier New" panose="02070309020205020404" pitchFamily="49" charset="0"/>
              </a:rPr>
              <a:t>;    /* Sequence number </a:t>
            </a:r>
            <a:r>
              <a:rPr lang="en-US" altLang="zh-CN" sz="1200" b="1" dirty="0" err="1">
                <a:latin typeface="Courier New" panose="02070309020205020404" pitchFamily="49" charset="0"/>
                <a:cs typeface="Courier New" panose="02070309020205020404" pitchFamily="49" charset="0"/>
              </a:rPr>
              <a:t>ACK'd</a:t>
            </a:r>
            <a:r>
              <a:rPr lang="en-US" altLang="zh-CN" sz="1200" b="1" dirty="0">
                <a:latin typeface="Courier New" panose="02070309020205020404" pitchFamily="49" charset="0"/>
                <a:cs typeface="Courier New" panose="02070309020205020404" pitchFamily="49" charset="0"/>
              </a:rPr>
              <a:t>    */</a:t>
            </a:r>
          </a:p>
          <a:p>
            <a:r>
              <a:rPr lang="en-US" altLang="zh-CN" sz="1200" b="1" dirty="0">
                <a:latin typeface="Courier New" panose="02070309020205020404" pitchFamily="49" charset="0"/>
                <a:cs typeface="Courier New" panose="02070309020205020404" pitchFamily="49" charset="0"/>
              </a:rPr>
              <a:t>    ... ... ...</a:t>
            </a:r>
          </a:p>
          <a:p>
            <a:r>
              <a:rPr lang="en-US" altLang="zh-CN" sz="1200" b="1" dirty="0">
                <a:latin typeface="Courier New" panose="02070309020205020404" pitchFamily="49" charset="0"/>
                <a:cs typeface="Courier New" panose="02070309020205020404" pitchFamily="49" charset="0"/>
              </a:rPr>
              <a:t>    };</a:t>
            </a:r>
          </a:p>
          <a:p>
            <a:r>
              <a:rPr lang="en-US" altLang="zh-CN" sz="1200" b="1"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07525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skb</a:t>
            </a:r>
            <a:r>
              <a:rPr kumimoji="1" lang="zh-CN" altLang="en-US" dirty="0"/>
              <a:t>的组织</a:t>
            </a:r>
          </a:p>
        </p:txBody>
      </p:sp>
      <p:sp>
        <p:nvSpPr>
          <p:cNvPr id="3" name="内容占位符 2"/>
          <p:cNvSpPr>
            <a:spLocks noGrp="1"/>
          </p:cNvSpPr>
          <p:nvPr>
            <p:ph idx="1"/>
          </p:nvPr>
        </p:nvSpPr>
        <p:spPr>
          <a:xfrm>
            <a:off x="457200" y="1333501"/>
            <a:ext cx="8229600" cy="3612231"/>
          </a:xfrm>
        </p:spPr>
        <p:txBody>
          <a:bodyPr>
            <a:normAutofit/>
          </a:bodyPr>
          <a:lstStyle/>
          <a:p>
            <a:r>
              <a:rPr kumimoji="1" lang="zh-CN" altLang="en-US" dirty="0"/>
              <a:t>用双向链表对</a:t>
            </a:r>
            <a:r>
              <a:rPr kumimoji="1" lang="en-US" altLang="zh-CN" dirty="0" err="1"/>
              <a:t>sk_buff</a:t>
            </a:r>
            <a:r>
              <a:rPr kumimoji="1" lang="zh-CN" altLang="en-US" dirty="0"/>
              <a:t>进行管理：</a:t>
            </a:r>
            <a:endParaRPr kumimoji="1" lang="en-US" altLang="zh-CN" dirty="0"/>
          </a:p>
          <a:p>
            <a:endParaRPr kumimoji="1" lang="en-US" altLang="zh-CN" dirty="0"/>
          </a:p>
          <a:p>
            <a:pPr marL="0" indent="0">
              <a:buNone/>
            </a:pPr>
            <a:endParaRPr kumimoji="1" lang="en-US" altLang="zh-CN" dirty="0"/>
          </a:p>
          <a:p>
            <a:r>
              <a:rPr kumimoji="1" lang="en-US" altLang="zh-CN" dirty="0"/>
              <a:t>Linux</a:t>
            </a:r>
            <a:r>
              <a:rPr kumimoji="1" lang="zh-CN" altLang="en-US" dirty="0"/>
              <a:t> </a:t>
            </a:r>
            <a:r>
              <a:rPr kumimoji="1" lang="en-US" altLang="zh-CN" dirty="0"/>
              <a:t>NAPI</a:t>
            </a:r>
            <a:r>
              <a:rPr kumimoji="1" lang="zh-CN" altLang="en-US" dirty="0"/>
              <a:t>的批处理 *</a:t>
            </a:r>
            <a:endParaRPr kumimoji="1" lang="en-US" altLang="zh-CN" dirty="0"/>
          </a:p>
          <a:p>
            <a:pPr lvl="1"/>
            <a:r>
              <a:rPr kumimoji="1" lang="zh-CN" altLang="en-US" dirty="0"/>
              <a:t>让网卡中断处理的下半部</a:t>
            </a:r>
            <a:r>
              <a:rPr kumimoji="1" lang="en-US" altLang="zh-CN" dirty="0" err="1"/>
              <a:t>softirq</a:t>
            </a:r>
            <a:r>
              <a:rPr kumimoji="1" lang="zh-CN" altLang="en-US" dirty="0"/>
              <a:t>积累足量的</a:t>
            </a:r>
            <a:r>
              <a:rPr kumimoji="1" lang="en-US" altLang="zh-CN" dirty="0" err="1"/>
              <a:t>skb</a:t>
            </a:r>
            <a:endParaRPr kumimoji="1" lang="en-US" altLang="zh-CN" dirty="0"/>
          </a:p>
          <a:p>
            <a:pPr lvl="1"/>
            <a:r>
              <a:rPr kumimoji="1" lang="en-US" altLang="zh-CN" dirty="0"/>
              <a:t>NAPI</a:t>
            </a:r>
            <a:r>
              <a:rPr kumimoji="1" lang="zh-CN" altLang="en-US" dirty="0"/>
              <a:t>周期性轮询，并一次性处理完所有</a:t>
            </a:r>
            <a:r>
              <a:rPr kumimoji="1" lang="en-US" altLang="zh-CN" dirty="0" err="1"/>
              <a:t>skb</a:t>
            </a:r>
            <a:r>
              <a:rPr kumimoji="1" lang="zh-CN" altLang="en-US" dirty="0"/>
              <a:t>（</a:t>
            </a:r>
            <a:r>
              <a:rPr kumimoji="1" lang="en-US" altLang="zh-CN" dirty="0"/>
              <a:t>batching</a:t>
            </a:r>
            <a:r>
              <a:rPr kumimoji="1" lang="zh-CN" altLang="en-US" dirty="0"/>
              <a:t>）</a:t>
            </a:r>
            <a:endParaRPr kumimoji="1" lang="en-US" altLang="zh-CN" dirty="0"/>
          </a:p>
          <a:p>
            <a:pPr lvl="1"/>
            <a:r>
              <a:rPr lang="en" altLang="zh-CN" i="1" dirty="0" err="1"/>
              <a:t>netif_receive_skb_list</a:t>
            </a:r>
            <a:r>
              <a:rPr lang="en-US" altLang="zh-CN" i="1" dirty="0"/>
              <a:t>()</a:t>
            </a:r>
            <a:endParaRPr kumimoji="1" lang="en-US" altLang="zh-CN" i="1" dirty="0"/>
          </a:p>
          <a:p>
            <a:pPr lvl="1"/>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TextBox 3"/>
          <p:cNvSpPr txBox="1"/>
          <p:nvPr/>
        </p:nvSpPr>
        <p:spPr>
          <a:xfrm>
            <a:off x="1996244" y="1849388"/>
            <a:ext cx="5077544" cy="1277273"/>
          </a:xfrm>
          <a:prstGeom prst="rect">
            <a:avLst/>
          </a:prstGeom>
          <a:noFill/>
          <a:ln w="19050">
            <a:solidFill>
              <a:schemeClr val="tx1"/>
            </a:solidFill>
          </a:ln>
        </p:spPr>
        <p:txBody>
          <a:bodyPr wrap="square" rtlCol="0">
            <a:spAutoFit/>
          </a:bodyPr>
          <a:lstStyle/>
          <a:p>
            <a:r>
              <a:rPr lang="en-US" altLang="zh-CN" sz="1100" b="1" dirty="0">
                <a:latin typeface="Courier New" panose="02070309020205020404" pitchFamily="49" charset="0"/>
                <a:cs typeface="Courier New" panose="02070309020205020404" pitchFamily="49" charset="0"/>
              </a:rPr>
              <a:t>struct </a:t>
            </a:r>
            <a:r>
              <a:rPr lang="en-US" altLang="zh-CN" sz="1100" b="1" dirty="0" err="1">
                <a:latin typeface="Courier New" panose="02070309020205020404" pitchFamily="49" charset="0"/>
                <a:cs typeface="Courier New" panose="02070309020205020404" pitchFamily="49" charset="0"/>
              </a:rPr>
              <a:t>sk_buff_head</a:t>
            </a:r>
            <a:r>
              <a:rPr lang="en-US" altLang="zh-CN" sz="1100" b="1" dirty="0">
                <a:latin typeface="Courier New" panose="02070309020205020404" pitchFamily="49" charset="0"/>
                <a:cs typeface="Courier New" panose="02070309020205020404" pitchFamily="49" charset="0"/>
              </a:rPr>
              <a:t> {</a:t>
            </a:r>
          </a:p>
          <a:p>
            <a:r>
              <a:rPr lang="en-US" altLang="zh-CN" sz="1100" b="1" dirty="0">
                <a:latin typeface="Courier New" panose="02070309020205020404" pitchFamily="49" charset="0"/>
                <a:cs typeface="Courier New" panose="02070309020205020404" pitchFamily="49" charset="0"/>
              </a:rPr>
              <a:t>    /* These two members must be first. */</a:t>
            </a:r>
          </a:p>
          <a:p>
            <a:r>
              <a:rPr lang="en-US" altLang="zh-CN" sz="1100" b="1" dirty="0">
                <a:solidFill>
                  <a:srgbClr val="FF0000"/>
                </a:solidFill>
                <a:latin typeface="Courier New" panose="02070309020205020404" pitchFamily="49" charset="0"/>
                <a:cs typeface="Courier New" panose="02070309020205020404" pitchFamily="49" charset="0"/>
              </a:rPr>
              <a:t>    struct </a:t>
            </a:r>
            <a:r>
              <a:rPr lang="en-US" altLang="zh-CN" sz="1100" b="1" dirty="0" err="1">
                <a:solidFill>
                  <a:srgbClr val="FF0000"/>
                </a:solidFill>
                <a:latin typeface="Courier New" panose="02070309020205020404" pitchFamily="49" charset="0"/>
                <a:cs typeface="Courier New" panose="02070309020205020404" pitchFamily="49" charset="0"/>
              </a:rPr>
              <a:t>sk_buff</a:t>
            </a:r>
            <a:r>
              <a:rPr lang="en-US" altLang="zh-CN" sz="1100" b="1" dirty="0">
                <a:solidFill>
                  <a:srgbClr val="FF0000"/>
                </a:solidFill>
                <a:latin typeface="Courier New" panose="02070309020205020404" pitchFamily="49" charset="0"/>
                <a:cs typeface="Courier New" panose="02070309020205020404" pitchFamily="49" charset="0"/>
              </a:rPr>
              <a:t>    * next;</a:t>
            </a:r>
          </a:p>
          <a:p>
            <a:r>
              <a:rPr lang="en-US" altLang="zh-CN" sz="1100" b="1" dirty="0">
                <a:solidFill>
                  <a:srgbClr val="FF0000"/>
                </a:solidFill>
                <a:latin typeface="Courier New" panose="02070309020205020404" pitchFamily="49" charset="0"/>
                <a:cs typeface="Courier New" panose="02070309020205020404" pitchFamily="49" charset="0"/>
              </a:rPr>
              <a:t>    struct </a:t>
            </a:r>
            <a:r>
              <a:rPr lang="en-US" altLang="zh-CN" sz="1100" b="1" dirty="0" err="1">
                <a:solidFill>
                  <a:srgbClr val="FF0000"/>
                </a:solidFill>
                <a:latin typeface="Courier New" panose="02070309020205020404" pitchFamily="49" charset="0"/>
                <a:cs typeface="Courier New" panose="02070309020205020404" pitchFamily="49" charset="0"/>
              </a:rPr>
              <a:t>sk_buff</a:t>
            </a:r>
            <a:r>
              <a:rPr lang="en-US" altLang="zh-CN" sz="1100" b="1" dirty="0">
                <a:solidFill>
                  <a:srgbClr val="FF0000"/>
                </a:solidFill>
                <a:latin typeface="Courier New" panose="02070309020205020404" pitchFamily="49" charset="0"/>
                <a:cs typeface="Courier New" panose="02070309020205020404" pitchFamily="49" charset="0"/>
              </a:rPr>
              <a:t>    * </a:t>
            </a:r>
            <a:r>
              <a:rPr lang="en-US" altLang="zh-CN" sz="1100" b="1" dirty="0" err="1">
                <a:solidFill>
                  <a:srgbClr val="FF0000"/>
                </a:solidFill>
                <a:latin typeface="Courier New" panose="02070309020205020404" pitchFamily="49" charset="0"/>
                <a:cs typeface="Courier New" panose="02070309020205020404" pitchFamily="49" charset="0"/>
              </a:rPr>
              <a:t>prev</a:t>
            </a:r>
            <a:r>
              <a:rPr lang="en-US" altLang="zh-CN" sz="1100" b="1" dirty="0">
                <a:solidFill>
                  <a:srgbClr val="FF0000"/>
                </a:solidFill>
                <a:latin typeface="Courier New" panose="02070309020205020404" pitchFamily="49" charset="0"/>
                <a:cs typeface="Courier New" panose="02070309020205020404" pitchFamily="49" charset="0"/>
              </a:rPr>
              <a:t>;</a:t>
            </a:r>
            <a:endParaRPr lang="en-US" altLang="zh-CN" sz="1100" b="1" dirty="0">
              <a:latin typeface="Courier New" panose="02070309020205020404" pitchFamily="49" charset="0"/>
              <a:cs typeface="Courier New" panose="02070309020205020404" pitchFamily="49" charset="0"/>
            </a:endParaRPr>
          </a:p>
          <a:p>
            <a:r>
              <a:rPr lang="en-US" altLang="zh-CN" sz="1100" b="1" dirty="0">
                <a:latin typeface="Courier New" panose="02070309020205020404" pitchFamily="49" charset="0"/>
                <a:cs typeface="Courier New" panose="02070309020205020404" pitchFamily="49" charset="0"/>
              </a:rPr>
              <a:t>    _ _u32        </a:t>
            </a:r>
            <a:r>
              <a:rPr lang="en-US" altLang="zh-CN" sz="1100" b="1" dirty="0" err="1">
                <a:latin typeface="Courier New" panose="02070309020205020404" pitchFamily="49" charset="0"/>
                <a:cs typeface="Courier New" panose="02070309020205020404" pitchFamily="49" charset="0"/>
              </a:rPr>
              <a:t>qlen</a:t>
            </a:r>
            <a:r>
              <a:rPr lang="en-US" altLang="zh-CN" sz="1100" b="1" dirty="0">
                <a:latin typeface="Courier New" panose="02070309020205020404" pitchFamily="49" charset="0"/>
                <a:cs typeface="Courier New" panose="02070309020205020404" pitchFamily="49" charset="0"/>
              </a:rPr>
              <a:t>;</a:t>
            </a:r>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a:t>
            </a:r>
            <a:r>
              <a:rPr lang="zh-CN" altLang="en-US" sz="1100" b="1" dirty="0">
                <a:latin typeface="Courier New" panose="02070309020205020404" pitchFamily="49" charset="0"/>
                <a:cs typeface="Courier New" panose="02070309020205020404" pitchFamily="49" charset="0"/>
              </a:rPr>
              <a:t> 链表的元素长度</a:t>
            </a:r>
            <a:endParaRPr lang="en-US" altLang="zh-CN" sz="1100" b="1" dirty="0">
              <a:latin typeface="Courier New" panose="02070309020205020404" pitchFamily="49" charset="0"/>
              <a:cs typeface="Courier New" panose="02070309020205020404" pitchFamily="49" charset="0"/>
            </a:endParaRPr>
          </a:p>
          <a:p>
            <a:r>
              <a:rPr lang="en-US" altLang="zh-CN" sz="1100" b="1" dirty="0">
                <a:latin typeface="Courier New" panose="02070309020205020404" pitchFamily="49" charset="0"/>
                <a:cs typeface="Courier New" panose="02070309020205020404" pitchFamily="49" charset="0"/>
              </a:rPr>
              <a:t>    </a:t>
            </a:r>
            <a:r>
              <a:rPr lang="en-US" altLang="zh-CN" sz="1100" b="1" dirty="0" err="1">
                <a:latin typeface="Courier New" panose="02070309020205020404" pitchFamily="49" charset="0"/>
                <a:cs typeface="Courier New" panose="02070309020205020404" pitchFamily="49" charset="0"/>
              </a:rPr>
              <a:t>spinlock_t</a:t>
            </a:r>
            <a:r>
              <a:rPr lang="en-US" altLang="zh-CN" sz="1100" b="1" dirty="0">
                <a:latin typeface="Courier New" panose="02070309020205020404" pitchFamily="49" charset="0"/>
                <a:cs typeface="Courier New" panose="02070309020205020404" pitchFamily="49" charset="0"/>
              </a:rPr>
              <a:t>    lock;</a:t>
            </a:r>
            <a:r>
              <a:rPr lang="zh-CN" altLang="en-US" sz="1100" b="1" dirty="0">
                <a:latin typeface="Courier New" panose="02070309020205020404" pitchFamily="49" charset="0"/>
                <a:cs typeface="Courier New" panose="02070309020205020404" pitchFamily="49" charset="0"/>
              </a:rPr>
              <a:t> </a:t>
            </a:r>
            <a:r>
              <a:rPr lang="en-US" altLang="zh-CN" sz="1100" b="1" dirty="0">
                <a:latin typeface="Courier New" panose="02070309020205020404" pitchFamily="49" charset="0"/>
                <a:cs typeface="Courier New" panose="02070309020205020404" pitchFamily="49" charset="0"/>
              </a:rPr>
              <a:t>//</a:t>
            </a:r>
            <a:r>
              <a:rPr lang="zh-CN" altLang="en-US" sz="1100" b="1" dirty="0">
                <a:latin typeface="Courier New" panose="02070309020205020404" pitchFamily="49" charset="0"/>
                <a:cs typeface="Courier New" panose="02070309020205020404" pitchFamily="49" charset="0"/>
              </a:rPr>
              <a:t> 添加元素时必须持有该锁</a:t>
            </a:r>
            <a:endParaRPr lang="en-US" altLang="zh-CN" sz="1100" b="1" dirty="0">
              <a:latin typeface="Courier New" panose="02070309020205020404" pitchFamily="49" charset="0"/>
              <a:cs typeface="Courier New" panose="02070309020205020404" pitchFamily="49" charset="0"/>
            </a:endParaRPr>
          </a:p>
          <a:p>
            <a:r>
              <a:rPr lang="en-US" altLang="zh-CN" sz="1100" b="1" dirty="0">
                <a:latin typeface="Courier New" panose="02070309020205020404" pitchFamily="49" charset="0"/>
                <a:cs typeface="Courier New" panose="02070309020205020404" pitchFamily="49" charset="0"/>
              </a:rPr>
              <a:t>};</a:t>
            </a:r>
          </a:p>
        </p:txBody>
      </p:sp>
      <p:sp>
        <p:nvSpPr>
          <p:cNvPr id="7" name="内容占位符 2">
            <a:extLst>
              <a:ext uri="{FF2B5EF4-FFF2-40B4-BE49-F238E27FC236}">
                <a16:creationId xmlns:a16="http://schemas.microsoft.com/office/drawing/2014/main" id="{3D7D0DB4-9016-2E4B-A2DB-2AD1C43E4C85}"/>
              </a:ext>
            </a:extLst>
          </p:cNvPr>
          <p:cNvSpPr txBox="1"/>
          <p:nvPr/>
        </p:nvSpPr>
        <p:spPr>
          <a:xfrm>
            <a:off x="827584" y="4945732"/>
            <a:ext cx="4896544" cy="255317"/>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120000"/>
              </a:lnSpc>
              <a:spcBef>
                <a:spcPts val="1200"/>
              </a:spcBef>
              <a:buFont typeface="Arial" panose="020B0604020202090204"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zh-CN" altLang="en-US" sz="1000" dirty="0"/>
              <a:t>* </a:t>
            </a:r>
            <a:r>
              <a:rPr lang="en" altLang="zh-CN" sz="1000" dirty="0"/>
              <a:t>Batch processing of network packets</a:t>
            </a:r>
            <a:r>
              <a:rPr kumimoji="1" lang="en-US" altLang="zh-CN" sz="1000" dirty="0"/>
              <a:t>,</a:t>
            </a:r>
            <a:r>
              <a:rPr kumimoji="1" lang="zh-CN" altLang="en-US" sz="1000" dirty="0"/>
              <a:t> </a:t>
            </a:r>
            <a:r>
              <a:rPr kumimoji="1" lang="en-US" altLang="zh-CN" sz="1000" dirty="0"/>
              <a:t>LWN,</a:t>
            </a:r>
            <a:r>
              <a:rPr kumimoji="1" lang="zh-CN" altLang="en-US" sz="1000" dirty="0"/>
              <a:t> </a:t>
            </a:r>
            <a:r>
              <a:rPr lang="en" altLang="zh-CN" sz="1000" dirty="0">
                <a:hlinkClick r:id="rId3"/>
              </a:rPr>
              <a:t>https://lwn.net/Articles/763056/</a:t>
            </a:r>
            <a:endParaRPr lang="en" altLang="zh-CN"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skb</a:t>
            </a:r>
            <a:r>
              <a:rPr kumimoji="1" lang="zh-CN" altLang="en-US" dirty="0"/>
              <a:t>的组织</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p:cNvSpPr/>
          <p:nvPr/>
        </p:nvSpPr>
        <p:spPr>
          <a:xfrm>
            <a:off x="3995936" y="985292"/>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next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7" name="矩形 6"/>
          <p:cNvSpPr/>
          <p:nvPr/>
        </p:nvSpPr>
        <p:spPr>
          <a:xfrm>
            <a:off x="3995936" y="1347111"/>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prev</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8" name="矩形 7"/>
          <p:cNvSpPr/>
          <p:nvPr/>
        </p:nvSpPr>
        <p:spPr>
          <a:xfrm>
            <a:off x="3995936" y="1708930"/>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qlen</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9" name="矩形 8"/>
          <p:cNvSpPr/>
          <p:nvPr/>
        </p:nvSpPr>
        <p:spPr>
          <a:xfrm>
            <a:off x="3995936" y="2070749"/>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lock</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6" name="矩形 15"/>
          <p:cNvSpPr/>
          <p:nvPr/>
        </p:nvSpPr>
        <p:spPr>
          <a:xfrm>
            <a:off x="1259633" y="3073524"/>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next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7" name="矩形 16"/>
          <p:cNvSpPr/>
          <p:nvPr/>
        </p:nvSpPr>
        <p:spPr>
          <a:xfrm>
            <a:off x="1259633" y="3435343"/>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prev</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8" name="矩形 17"/>
          <p:cNvSpPr/>
          <p:nvPr/>
        </p:nvSpPr>
        <p:spPr>
          <a:xfrm>
            <a:off x="1259633" y="3797162"/>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list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9" name="矩形 18"/>
          <p:cNvSpPr/>
          <p:nvPr/>
        </p:nvSpPr>
        <p:spPr>
          <a:xfrm>
            <a:off x="1259633" y="4158981"/>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sk</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2" name="矩形 31"/>
          <p:cNvSpPr/>
          <p:nvPr/>
        </p:nvSpPr>
        <p:spPr>
          <a:xfrm>
            <a:off x="1259632" y="4520800"/>
            <a:ext cx="1152129" cy="49432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3" name="矩形 32"/>
          <p:cNvSpPr/>
          <p:nvPr/>
        </p:nvSpPr>
        <p:spPr>
          <a:xfrm>
            <a:off x="3131841" y="3073524"/>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next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4" name="矩形 33"/>
          <p:cNvSpPr/>
          <p:nvPr/>
        </p:nvSpPr>
        <p:spPr>
          <a:xfrm>
            <a:off x="3131841" y="3435343"/>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prev</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5" name="矩形 34"/>
          <p:cNvSpPr/>
          <p:nvPr/>
        </p:nvSpPr>
        <p:spPr>
          <a:xfrm>
            <a:off x="3131841" y="3797162"/>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list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6" name="矩形 35"/>
          <p:cNvSpPr/>
          <p:nvPr/>
        </p:nvSpPr>
        <p:spPr>
          <a:xfrm>
            <a:off x="3131841" y="4158981"/>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sk</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7" name="矩形 36"/>
          <p:cNvSpPr/>
          <p:nvPr/>
        </p:nvSpPr>
        <p:spPr>
          <a:xfrm>
            <a:off x="3131840" y="4520800"/>
            <a:ext cx="1152129" cy="49432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8" name="矩形 37"/>
          <p:cNvSpPr/>
          <p:nvPr/>
        </p:nvSpPr>
        <p:spPr>
          <a:xfrm>
            <a:off x="5010484" y="3073524"/>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next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39" name="矩形 38"/>
          <p:cNvSpPr/>
          <p:nvPr/>
        </p:nvSpPr>
        <p:spPr>
          <a:xfrm>
            <a:off x="5010484" y="3435343"/>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prev</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0" name="矩形 39"/>
          <p:cNvSpPr/>
          <p:nvPr/>
        </p:nvSpPr>
        <p:spPr>
          <a:xfrm>
            <a:off x="5010484" y="3797162"/>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list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1" name="矩形 40"/>
          <p:cNvSpPr/>
          <p:nvPr/>
        </p:nvSpPr>
        <p:spPr>
          <a:xfrm>
            <a:off x="5010484" y="4158981"/>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sk</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2" name="矩形 41"/>
          <p:cNvSpPr/>
          <p:nvPr/>
        </p:nvSpPr>
        <p:spPr>
          <a:xfrm>
            <a:off x="5010483" y="4520800"/>
            <a:ext cx="1152129" cy="49432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3" name="矩形 42"/>
          <p:cNvSpPr/>
          <p:nvPr/>
        </p:nvSpPr>
        <p:spPr>
          <a:xfrm>
            <a:off x="6889125" y="3060494"/>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next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4" name="矩形 43"/>
          <p:cNvSpPr/>
          <p:nvPr/>
        </p:nvSpPr>
        <p:spPr>
          <a:xfrm>
            <a:off x="6889125" y="3422313"/>
            <a:ext cx="1152129" cy="361819"/>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prev</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5" name="矩形 44"/>
          <p:cNvSpPr/>
          <p:nvPr/>
        </p:nvSpPr>
        <p:spPr>
          <a:xfrm>
            <a:off x="6889125" y="3784132"/>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list</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6" name="矩形 45"/>
          <p:cNvSpPr/>
          <p:nvPr/>
        </p:nvSpPr>
        <p:spPr>
          <a:xfrm>
            <a:off x="6889125" y="4145951"/>
            <a:ext cx="1152129" cy="361819"/>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sk</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47" name="矩形 46"/>
          <p:cNvSpPr/>
          <p:nvPr/>
        </p:nvSpPr>
        <p:spPr>
          <a:xfrm>
            <a:off x="6889124" y="4507770"/>
            <a:ext cx="1152129" cy="49432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t>
            </a:r>
            <a:endParaRPr kumimoji="1" lang="zh-CN" altLang="en-US" dirty="0">
              <a:solidFill>
                <a:schemeClr val="tx1"/>
              </a:solidFill>
              <a:latin typeface="DengXian" panose="02010600030101010101" pitchFamily="2" charset="-122"/>
              <a:ea typeface="DengXian" panose="02010600030101010101" pitchFamily="2" charset="-122"/>
            </a:endParaRPr>
          </a:p>
        </p:txBody>
      </p:sp>
      <p:cxnSp>
        <p:nvCxnSpPr>
          <p:cNvPr id="49" name="直线箭头连接符 48"/>
          <p:cNvCxnSpPr>
            <a:stCxn id="16" idx="3"/>
            <a:endCxn id="33" idx="1"/>
          </p:cNvCxnSpPr>
          <p:nvPr/>
        </p:nvCxnSpPr>
        <p:spPr>
          <a:xfrm>
            <a:off x="2411762" y="3254434"/>
            <a:ext cx="720079"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1" name="直线箭头连接符 50"/>
          <p:cNvCxnSpPr>
            <a:stCxn id="33" idx="3"/>
            <a:endCxn id="38" idx="1"/>
          </p:cNvCxnSpPr>
          <p:nvPr/>
        </p:nvCxnSpPr>
        <p:spPr>
          <a:xfrm>
            <a:off x="4283970" y="3254434"/>
            <a:ext cx="726514"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3" name="直线箭头连接符 52"/>
          <p:cNvCxnSpPr>
            <a:endCxn id="43" idx="1"/>
          </p:cNvCxnSpPr>
          <p:nvPr/>
        </p:nvCxnSpPr>
        <p:spPr>
          <a:xfrm flipV="1">
            <a:off x="6162612" y="3241404"/>
            <a:ext cx="726513" cy="1303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55" name="肘形连接符 54"/>
          <p:cNvCxnSpPr>
            <a:stCxn id="6" idx="1"/>
            <a:endCxn id="16" idx="0"/>
          </p:cNvCxnSpPr>
          <p:nvPr/>
        </p:nvCxnSpPr>
        <p:spPr>
          <a:xfrm rot="10800000" flipV="1">
            <a:off x="1835698" y="1166202"/>
            <a:ext cx="2160238" cy="1907322"/>
          </a:xfrm>
          <a:prstGeom prst="bentConnector2">
            <a:avLst/>
          </a:prstGeom>
          <a:ln w="28575">
            <a:tailEnd type="triangle"/>
          </a:ln>
        </p:spPr>
        <p:style>
          <a:lnRef idx="1">
            <a:schemeClr val="dk1"/>
          </a:lnRef>
          <a:fillRef idx="0">
            <a:schemeClr val="dk1"/>
          </a:fillRef>
          <a:effectRef idx="0">
            <a:schemeClr val="dk1"/>
          </a:effectRef>
          <a:fontRef idx="minor">
            <a:schemeClr val="tx1"/>
          </a:fontRef>
        </p:style>
      </p:cxnSp>
      <p:cxnSp>
        <p:nvCxnSpPr>
          <p:cNvPr id="57" name="肘形连接符 56"/>
          <p:cNvCxnSpPr>
            <a:stCxn id="7" idx="3"/>
            <a:endCxn id="43" idx="0"/>
          </p:cNvCxnSpPr>
          <p:nvPr/>
        </p:nvCxnSpPr>
        <p:spPr>
          <a:xfrm>
            <a:off x="5148065" y="1528021"/>
            <a:ext cx="2317125" cy="1532473"/>
          </a:xfrm>
          <a:prstGeom prst="bentConnector2">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59" name="直线箭头连接符 58"/>
          <p:cNvCxnSpPr>
            <a:endCxn id="39" idx="3"/>
          </p:cNvCxnSpPr>
          <p:nvPr/>
        </p:nvCxnSpPr>
        <p:spPr>
          <a:xfrm flipH="1">
            <a:off x="6162613" y="3603222"/>
            <a:ext cx="726511" cy="13031"/>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61" name="直线箭头连接符 60"/>
          <p:cNvCxnSpPr>
            <a:stCxn id="39" idx="1"/>
            <a:endCxn id="34" idx="3"/>
          </p:cNvCxnSpPr>
          <p:nvPr/>
        </p:nvCxnSpPr>
        <p:spPr>
          <a:xfrm flipH="1">
            <a:off x="4283970" y="3616253"/>
            <a:ext cx="726514"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63" name="直线箭头连接符 62"/>
          <p:cNvCxnSpPr>
            <a:stCxn id="34" idx="1"/>
            <a:endCxn id="17" idx="3"/>
          </p:cNvCxnSpPr>
          <p:nvPr/>
        </p:nvCxnSpPr>
        <p:spPr>
          <a:xfrm flipH="1">
            <a:off x="2411762" y="3616253"/>
            <a:ext cx="720079" cy="0"/>
          </a:xfrm>
          <a:prstGeom prst="straightConnector1">
            <a:avLst/>
          </a:prstGeom>
          <a:ln w="28575">
            <a:tailEnd type="triangle"/>
          </a:ln>
        </p:spPr>
        <p:style>
          <a:lnRef idx="1">
            <a:schemeClr val="accent2"/>
          </a:lnRef>
          <a:fillRef idx="0">
            <a:schemeClr val="accent2"/>
          </a:fillRef>
          <a:effectRef idx="0">
            <a:schemeClr val="accent2"/>
          </a:effectRef>
          <a:fontRef idx="minor">
            <a:schemeClr val="tx1"/>
          </a:fontRef>
        </p:style>
      </p:cxnSp>
      <p:cxnSp>
        <p:nvCxnSpPr>
          <p:cNvPr id="67" name="肘形连接符 66"/>
          <p:cNvCxnSpPr/>
          <p:nvPr/>
        </p:nvCxnSpPr>
        <p:spPr>
          <a:xfrm rot="10800000" flipH="1">
            <a:off x="1232023" y="1056466"/>
            <a:ext cx="2736303" cy="2811870"/>
          </a:xfrm>
          <a:prstGeom prst="bentConnector3">
            <a:avLst>
              <a:gd name="adj1" fmla="val -8354"/>
            </a:avLst>
          </a:prstGeom>
          <a:ln>
            <a:tailEnd type="triangle"/>
          </a:ln>
        </p:spPr>
        <p:style>
          <a:lnRef idx="1">
            <a:schemeClr val="dk1"/>
          </a:lnRef>
          <a:fillRef idx="0">
            <a:schemeClr val="dk1"/>
          </a:fillRef>
          <a:effectRef idx="0">
            <a:schemeClr val="dk1"/>
          </a:effectRef>
          <a:fontRef idx="minor">
            <a:schemeClr val="tx1"/>
          </a:fontRef>
        </p:style>
      </p:cxnSp>
      <p:cxnSp>
        <p:nvCxnSpPr>
          <p:cNvPr id="75" name="肘形连接符 74"/>
          <p:cNvCxnSpPr>
            <a:stCxn id="40" idx="1"/>
          </p:cNvCxnSpPr>
          <p:nvPr/>
        </p:nvCxnSpPr>
        <p:spPr>
          <a:xfrm rot="10800000">
            <a:off x="4860032" y="2432568"/>
            <a:ext cx="150452" cy="15455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78" name="肘形连接符 77"/>
          <p:cNvCxnSpPr>
            <a:stCxn id="35" idx="3"/>
          </p:cNvCxnSpPr>
          <p:nvPr/>
        </p:nvCxnSpPr>
        <p:spPr>
          <a:xfrm flipV="1">
            <a:off x="4283970" y="2432568"/>
            <a:ext cx="144014" cy="1545504"/>
          </a:xfrm>
          <a:prstGeom prst="bentConnector2">
            <a:avLst/>
          </a:prstGeom>
          <a:ln>
            <a:tailEnd type="triangle"/>
          </a:ln>
        </p:spPr>
        <p:style>
          <a:lnRef idx="1">
            <a:schemeClr val="dk1"/>
          </a:lnRef>
          <a:fillRef idx="0">
            <a:schemeClr val="dk1"/>
          </a:fillRef>
          <a:effectRef idx="0">
            <a:schemeClr val="dk1"/>
          </a:effectRef>
          <a:fontRef idx="minor">
            <a:schemeClr val="tx1"/>
          </a:fontRef>
        </p:style>
      </p:cxnSp>
      <p:cxnSp>
        <p:nvCxnSpPr>
          <p:cNvPr id="80" name="肘形连接符 79"/>
          <p:cNvCxnSpPr/>
          <p:nvPr/>
        </p:nvCxnSpPr>
        <p:spPr>
          <a:xfrm flipH="1" flipV="1">
            <a:off x="5141624" y="1075748"/>
            <a:ext cx="2893189" cy="2798840"/>
          </a:xfrm>
          <a:prstGeom prst="bentConnector3">
            <a:avLst>
              <a:gd name="adj1" fmla="val -7901"/>
            </a:avLst>
          </a:prstGeom>
          <a:ln>
            <a:tailEnd type="triangle"/>
          </a:ln>
        </p:spPr>
        <p:style>
          <a:lnRef idx="1">
            <a:schemeClr val="dk1"/>
          </a:lnRef>
          <a:fillRef idx="0">
            <a:schemeClr val="dk1"/>
          </a:fillRef>
          <a:effectRef idx="0">
            <a:schemeClr val="dk1"/>
          </a:effectRef>
          <a:fontRef idx="minor">
            <a:schemeClr val="tx1"/>
          </a:fontRef>
        </p:style>
      </p:cxnSp>
      <p:sp>
        <p:nvSpPr>
          <p:cNvPr id="81" name="文本框 80"/>
          <p:cNvSpPr txBox="1"/>
          <p:nvPr/>
        </p:nvSpPr>
        <p:spPr>
          <a:xfrm>
            <a:off x="3707904" y="601285"/>
            <a:ext cx="1665841"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sk_buff_head</a:t>
            </a:r>
            <a:endParaRPr kumimoji="1" lang="en-US" altLang="zh-CN" sz="1600" b="1" dirty="0">
              <a:latin typeface="DengXian" panose="02010600030101010101" pitchFamily="2" charset="-122"/>
              <a:ea typeface="DengXian" panose="02010600030101010101" pitchFamily="2" charset="-122"/>
            </a:endParaRPr>
          </a:p>
        </p:txBody>
      </p:sp>
      <p:sp>
        <p:nvSpPr>
          <p:cNvPr id="82" name="文本框 81"/>
          <p:cNvSpPr txBox="1"/>
          <p:nvPr/>
        </p:nvSpPr>
        <p:spPr>
          <a:xfrm>
            <a:off x="1311353" y="5029199"/>
            <a:ext cx="1048685" cy="338554"/>
          </a:xfrm>
          <a:prstGeom prst="rect">
            <a:avLst/>
          </a:prstGeom>
          <a:noFill/>
        </p:spPr>
        <p:txBody>
          <a:bodyPr wrap="none" rtlCol="0">
            <a:spAutoFit/>
          </a:bodyPr>
          <a:lstStyle/>
          <a:p>
            <a:r>
              <a:rPr lang="en-US" altLang="zh-CN" sz="1600" b="1" dirty="0" err="1">
                <a:latin typeface="Courier New" panose="02070309020205020404" pitchFamily="49" charset="0"/>
                <a:cs typeface="Courier New" panose="02070309020205020404" pitchFamily="49" charset="0"/>
              </a:rPr>
              <a:t>sk_buff</a:t>
            </a:r>
            <a:endParaRPr kumimoji="1" lang="en-US" altLang="zh-CN" sz="1600" b="1" dirty="0">
              <a:latin typeface="DengXian" panose="02010600030101010101" pitchFamily="2" charset="-122"/>
              <a:ea typeface="DengXian" panose="02010600030101010101" pitchFamily="2" charset="-122"/>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a:t>skb</a:t>
            </a:r>
            <a:r>
              <a:rPr kumimoji="1" lang="zh-CN" altLang="en-US" dirty="0"/>
              <a:t>小结</a:t>
            </a:r>
          </a:p>
        </p:txBody>
      </p:sp>
      <p:sp>
        <p:nvSpPr>
          <p:cNvPr id="3" name="内容占位符 2"/>
          <p:cNvSpPr>
            <a:spLocks noGrp="1"/>
          </p:cNvSpPr>
          <p:nvPr>
            <p:ph idx="1"/>
          </p:nvPr>
        </p:nvSpPr>
        <p:spPr/>
        <p:txBody>
          <a:bodyPr>
            <a:normAutofit fontScale="92500" lnSpcReduction="10000"/>
          </a:bodyPr>
          <a:lstStyle/>
          <a:p>
            <a:r>
              <a:rPr kumimoji="1" lang="en-GB" altLang="zh-CN" dirty="0" err="1"/>
              <a:t>sk_buff</a:t>
            </a:r>
            <a:r>
              <a:rPr kumimoji="1" lang="en-GB" altLang="zh-CN" dirty="0"/>
              <a:t> </a:t>
            </a:r>
          </a:p>
          <a:p>
            <a:pPr lvl="1"/>
            <a:r>
              <a:rPr kumimoji="1" lang="zh-CN" altLang="en-US" dirty="0"/>
              <a:t>用于 </a:t>
            </a:r>
            <a:r>
              <a:rPr kumimoji="1" lang="en-GB" altLang="zh-CN" dirty="0"/>
              <a:t>Linux </a:t>
            </a:r>
            <a:r>
              <a:rPr kumimoji="1" lang="zh-CN" altLang="en-US" dirty="0"/>
              <a:t>网络子系统中各层之间的数据传递</a:t>
            </a:r>
            <a:endParaRPr kumimoji="1" lang="en-US" altLang="zh-CN" dirty="0"/>
          </a:p>
          <a:p>
            <a:pPr lvl="1"/>
            <a:r>
              <a:rPr kumimoji="1" lang="zh-CN" altLang="en-US" dirty="0"/>
              <a:t>不同协议层的处理函数通过控制</a:t>
            </a:r>
            <a:r>
              <a:rPr kumimoji="1" lang="en-GB" altLang="zh-CN" dirty="0" err="1"/>
              <a:t>sk_buff</a:t>
            </a:r>
            <a:r>
              <a:rPr kumimoji="1" lang="zh-CN" altLang="en-US" dirty="0"/>
              <a:t>结构来共享网络报文</a:t>
            </a:r>
          </a:p>
          <a:p>
            <a:r>
              <a:rPr kumimoji="1" lang="zh-CN" altLang="en-US" dirty="0"/>
              <a:t>收包：</a:t>
            </a:r>
            <a:endParaRPr kumimoji="1" lang="en-US" altLang="zh-CN" dirty="0"/>
          </a:p>
          <a:p>
            <a:pPr lvl="1"/>
            <a:r>
              <a:rPr kumimoji="1" lang="zh-CN" altLang="en-US" dirty="0"/>
              <a:t>网卡收到数据包后，将以太网帧数据转换为</a:t>
            </a:r>
            <a:r>
              <a:rPr kumimoji="1" lang="en-GB" altLang="zh-CN" dirty="0" err="1"/>
              <a:t>sk_buff</a:t>
            </a:r>
            <a:r>
              <a:rPr kumimoji="1" lang="zh-CN" altLang="en-US" dirty="0"/>
              <a:t>数据结构</a:t>
            </a:r>
            <a:endParaRPr kumimoji="1" lang="en-US" altLang="zh-CN" dirty="0"/>
          </a:p>
          <a:p>
            <a:pPr lvl="1"/>
            <a:r>
              <a:rPr kumimoji="1" lang="zh-CN" altLang="en-US" dirty="0"/>
              <a:t>各层剥去相应的协议头部，直至交给用户</a:t>
            </a:r>
          </a:p>
          <a:p>
            <a:r>
              <a:rPr kumimoji="1" lang="zh-CN" altLang="en-US" dirty="0"/>
              <a:t>发包：</a:t>
            </a:r>
            <a:endParaRPr kumimoji="1" lang="en-US" altLang="zh-CN" dirty="0"/>
          </a:p>
          <a:p>
            <a:pPr lvl="1"/>
            <a:r>
              <a:rPr kumimoji="1" lang="zh-CN" altLang="en-US" dirty="0"/>
              <a:t>网络模块必须建立一个包含待传输的数据包的</a:t>
            </a:r>
            <a:r>
              <a:rPr kumimoji="1" lang="en-GB" altLang="zh-CN" dirty="0" err="1"/>
              <a:t>sk_buff</a:t>
            </a:r>
            <a:endParaRPr kumimoji="1" lang="en-US" altLang="zh-CN" dirty="0"/>
          </a:p>
          <a:p>
            <a:pPr lvl="1"/>
            <a:r>
              <a:rPr kumimoji="1" lang="zh-CN" altLang="en-US" dirty="0"/>
              <a:t>各层在</a:t>
            </a:r>
            <a:r>
              <a:rPr kumimoji="1" lang="en-GB" altLang="zh-CN" dirty="0" err="1"/>
              <a:t>sk_buff</a:t>
            </a:r>
            <a:r>
              <a:rPr kumimoji="1" lang="en-GB" altLang="zh-CN" dirty="0"/>
              <a:t> </a:t>
            </a:r>
            <a:r>
              <a:rPr kumimoji="1" lang="zh-CN" altLang="en-US" dirty="0"/>
              <a:t>中添加对应的协议头部直至交给网卡发送</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kumimoji="1" lang="zh-CN" altLang="en-US" dirty="0"/>
              <a:t>用户态协议栈：</a:t>
            </a:r>
            <a:r>
              <a:rPr kumimoji="1" lang="en-US" altLang="zh-CN" dirty="0"/>
              <a:t>DPDK</a:t>
            </a:r>
            <a:endParaRPr kumimoji="1" lang="zh-CN" altLang="en-US" dirty="0"/>
          </a:p>
        </p:txBody>
      </p:sp>
      <p:sp>
        <p:nvSpPr>
          <p:cNvPr id="5" name="文本占位符 4"/>
          <p:cNvSpPr>
            <a:spLocks noGrp="1"/>
          </p:cNvSpPr>
          <p:nvPr>
            <p:ph type="body" idx="1"/>
          </p:nvPr>
        </p:nvSpPr>
        <p:spPr/>
        <p:txBody>
          <a:bodyPr/>
          <a:lstStyle/>
          <a:p>
            <a:endParaRPr kumimoji="1"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Linux</a:t>
            </a:r>
            <a:r>
              <a:rPr kumimoji="1" lang="zh-CN" altLang="en-US" dirty="0"/>
              <a:t>网络协议栈的问题</a:t>
            </a:r>
          </a:p>
        </p:txBody>
      </p:sp>
      <p:sp>
        <p:nvSpPr>
          <p:cNvPr id="3" name="内容占位符 2"/>
          <p:cNvSpPr>
            <a:spLocks noGrp="1"/>
          </p:cNvSpPr>
          <p:nvPr>
            <p:ph idx="1"/>
          </p:nvPr>
        </p:nvSpPr>
        <p:spPr/>
        <p:txBody>
          <a:bodyPr/>
          <a:lstStyle/>
          <a:p>
            <a:r>
              <a:rPr kumimoji="1" lang="zh-CN" altLang="en-US" dirty="0"/>
              <a:t>网络设备的速度越来越高</a:t>
            </a:r>
            <a:endParaRPr kumimoji="1" lang="en-US" altLang="zh-CN" dirty="0"/>
          </a:p>
          <a:p>
            <a:r>
              <a:rPr kumimoji="1" lang="en-US" altLang="zh-CN" dirty="0"/>
              <a:t>CPU</a:t>
            </a:r>
            <a:r>
              <a:rPr kumimoji="1" lang="zh-CN" altLang="en-US" dirty="0"/>
              <a:t>朝着多核方向发展</a:t>
            </a:r>
            <a:endParaRPr kumimoji="1" lang="en-US" altLang="zh-CN" dirty="0"/>
          </a:p>
          <a:p>
            <a:endParaRPr kumimoji="1" lang="en-US" altLang="zh-CN" dirty="0"/>
          </a:p>
          <a:p>
            <a:r>
              <a:rPr kumimoji="1" lang="zh-CN" altLang="en-US" dirty="0"/>
              <a:t>内核协议栈逐渐成为高性能网络的</a:t>
            </a:r>
            <a:r>
              <a:rPr kumimoji="1" lang="zh-CN" altLang="en-US" dirty="0">
                <a:solidFill>
                  <a:srgbClr val="FF0000"/>
                </a:solidFill>
              </a:rPr>
              <a:t>性能瓶颈</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Linux</a:t>
            </a:r>
            <a:r>
              <a:rPr kumimoji="1" lang="zh-CN" altLang="en-US" dirty="0"/>
              <a:t>网络协议栈的问题</a:t>
            </a:r>
          </a:p>
        </p:txBody>
      </p:sp>
      <p:sp>
        <p:nvSpPr>
          <p:cNvPr id="3" name="内容占位符 2"/>
          <p:cNvSpPr>
            <a:spLocks noGrp="1"/>
          </p:cNvSpPr>
          <p:nvPr>
            <p:ph idx="1"/>
          </p:nvPr>
        </p:nvSpPr>
        <p:spPr/>
        <p:txBody>
          <a:bodyPr>
            <a:normAutofit fontScale="92500"/>
          </a:bodyPr>
          <a:lstStyle/>
          <a:p>
            <a:r>
              <a:rPr kumimoji="1" lang="zh-CN" altLang="en-US" sz="2000" dirty="0"/>
              <a:t>中断处理</a:t>
            </a:r>
            <a:endParaRPr kumimoji="1" lang="en-US" altLang="zh-CN" sz="2000" dirty="0"/>
          </a:p>
          <a:p>
            <a:pPr lvl="1"/>
            <a:r>
              <a:rPr kumimoji="1" lang="zh-CN" altLang="en-US" sz="1800" dirty="0"/>
              <a:t>大量网络包到来</a:t>
            </a:r>
            <a:r>
              <a:rPr kumimoji="1" lang="en-US" altLang="zh-CN" sz="1800" dirty="0">
                <a:sym typeface="Wingdings" panose="05000000000000000000" pitchFamily="2" charset="2"/>
              </a:rPr>
              <a:t></a:t>
            </a:r>
            <a:r>
              <a:rPr kumimoji="1" lang="zh-CN" altLang="en-US" sz="1800" dirty="0"/>
              <a:t>频繁的硬件中断请求</a:t>
            </a:r>
            <a:endParaRPr kumimoji="1" lang="en-US" altLang="zh-CN" sz="1800" dirty="0"/>
          </a:p>
          <a:p>
            <a:pPr lvl="1"/>
            <a:r>
              <a:rPr kumimoji="1" lang="zh-CN" altLang="en-US" sz="1800" dirty="0">
                <a:sym typeface="Wingdings" panose="05000000000000000000" pitchFamily="2" charset="2"/>
              </a:rPr>
              <a:t>中断频繁</a:t>
            </a:r>
            <a:r>
              <a:rPr kumimoji="1" lang="zh-CN" altLang="en-US" sz="1800" dirty="0"/>
              <a:t>打断较低优先级的软中断或者系统调用的执行过程</a:t>
            </a:r>
            <a:r>
              <a:rPr kumimoji="1" lang="en-US" altLang="zh-CN" sz="1800" dirty="0">
                <a:sym typeface="Wingdings" panose="05000000000000000000" pitchFamily="2" charset="2"/>
              </a:rPr>
              <a:t></a:t>
            </a:r>
            <a:r>
              <a:rPr kumimoji="1" lang="zh-CN" altLang="en-US" sz="1800" dirty="0">
                <a:sym typeface="Wingdings" panose="05000000000000000000" pitchFamily="2" charset="2"/>
              </a:rPr>
              <a:t>网络处理缓慢</a:t>
            </a:r>
            <a:endParaRPr kumimoji="1" lang="en-US" altLang="zh-CN" sz="1800" dirty="0"/>
          </a:p>
          <a:p>
            <a:r>
              <a:rPr kumimoji="1" lang="zh-CN" altLang="en-US" sz="2000" dirty="0"/>
              <a:t>上下文切换</a:t>
            </a:r>
            <a:endParaRPr kumimoji="1" lang="en-US" altLang="zh-CN" sz="2000" dirty="0"/>
          </a:p>
          <a:p>
            <a:pPr lvl="1"/>
            <a:r>
              <a:rPr kumimoji="1" lang="zh-CN" altLang="en-US" sz="1800" dirty="0"/>
              <a:t>线程间的调度产生频繁上下文切换开销</a:t>
            </a:r>
          </a:p>
          <a:p>
            <a:pPr lvl="1"/>
            <a:r>
              <a:rPr kumimoji="1" lang="zh-CN" altLang="en-US" sz="1800" dirty="0"/>
              <a:t>锁竞争的开销严重：</a:t>
            </a:r>
            <a:r>
              <a:rPr kumimoji="1" lang="en-US" altLang="zh-CN" sz="1800" dirty="0" err="1"/>
              <a:t>cacheline</a:t>
            </a:r>
            <a:r>
              <a:rPr kumimoji="1" lang="zh-CN" altLang="en-US" sz="1800" dirty="0"/>
              <a:t> </a:t>
            </a:r>
            <a:r>
              <a:rPr kumimoji="1" lang="en-US" altLang="zh-CN" sz="1800" dirty="0"/>
              <a:t>sharing</a:t>
            </a:r>
          </a:p>
          <a:p>
            <a:r>
              <a:rPr kumimoji="1" lang="zh-CN" altLang="en-US" sz="2000" dirty="0"/>
              <a:t>内存拷贝</a:t>
            </a:r>
            <a:endParaRPr kumimoji="1" lang="en-US" altLang="zh-CN" sz="2000" dirty="0"/>
          </a:p>
          <a:p>
            <a:pPr lvl="1"/>
            <a:r>
              <a:rPr kumimoji="1" lang="zh-CN" altLang="en-US" sz="1800" dirty="0"/>
              <a:t>数据从网卡</a:t>
            </a:r>
            <a:r>
              <a:rPr kumimoji="1" lang="en-GB" altLang="zh-CN" sz="1800" dirty="0"/>
              <a:t>DMA</a:t>
            </a:r>
            <a:r>
              <a:rPr kumimoji="1" lang="zh-CN" altLang="en-US" sz="1800" dirty="0"/>
              <a:t>传到内核缓冲区，再从内核空间拷贝到用户空间</a:t>
            </a:r>
          </a:p>
          <a:p>
            <a:pPr lvl="1"/>
            <a:r>
              <a:rPr kumimoji="1" lang="zh-CN" altLang="en-US" sz="1800" dirty="0"/>
              <a:t>占据</a:t>
            </a:r>
            <a:r>
              <a:rPr kumimoji="1" lang="en-GB" altLang="zh-CN" sz="1800" dirty="0"/>
              <a:t>Linux </a:t>
            </a:r>
            <a:r>
              <a:rPr kumimoji="1" lang="zh-CN" altLang="en-US" sz="1800" dirty="0"/>
              <a:t>内核协议栈数据包整个处理流程的 </a:t>
            </a:r>
            <a:r>
              <a:rPr kumimoji="1" lang="en-US" altLang="zh-CN" sz="1800" dirty="0"/>
              <a:t>57.1% </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47</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Linux</a:t>
            </a:r>
            <a:r>
              <a:rPr kumimoji="1" lang="zh-CN" altLang="en-US" dirty="0"/>
              <a:t>网络协议栈的问题</a:t>
            </a:r>
          </a:p>
        </p:txBody>
      </p:sp>
      <p:sp>
        <p:nvSpPr>
          <p:cNvPr id="3" name="内容占位符 2"/>
          <p:cNvSpPr>
            <a:spLocks noGrp="1"/>
          </p:cNvSpPr>
          <p:nvPr>
            <p:ph idx="1"/>
          </p:nvPr>
        </p:nvSpPr>
        <p:spPr/>
        <p:txBody>
          <a:bodyPr>
            <a:normAutofit/>
          </a:bodyPr>
          <a:lstStyle/>
          <a:p>
            <a:r>
              <a:rPr kumimoji="1" lang="zh-CN" altLang="en-US" sz="2000" dirty="0"/>
              <a:t>内存管理</a:t>
            </a:r>
            <a:endParaRPr kumimoji="1" lang="en-US" altLang="zh-CN" sz="2000" dirty="0"/>
          </a:p>
          <a:p>
            <a:pPr lvl="1"/>
            <a:r>
              <a:rPr kumimoji="1" lang="zh-CN" altLang="en-US" sz="1800" dirty="0"/>
              <a:t>内存页大小为</a:t>
            </a:r>
            <a:r>
              <a:rPr kumimoji="1" lang="en-US" altLang="zh-CN" sz="1800" dirty="0"/>
              <a:t>4K</a:t>
            </a:r>
            <a:r>
              <a:rPr kumimoji="1" lang="zh-CN" altLang="en-US" sz="1800" dirty="0"/>
              <a:t>，对</a:t>
            </a:r>
            <a:r>
              <a:rPr kumimoji="1" lang="en-US" altLang="zh-CN" sz="1800" dirty="0"/>
              <a:t>TLB</a:t>
            </a:r>
            <a:r>
              <a:rPr kumimoji="1" lang="zh-CN" altLang="en-US" sz="1800" dirty="0"/>
              <a:t>要求更高</a:t>
            </a:r>
            <a:endParaRPr kumimoji="1" lang="en-US" altLang="zh-CN" sz="1800"/>
          </a:p>
          <a:p>
            <a:pPr lvl="1"/>
            <a:endParaRPr kumimoji="1" lang="en-US" altLang="zh-CN" sz="1800" dirty="0"/>
          </a:p>
          <a:p>
            <a:r>
              <a:rPr kumimoji="1" lang="zh-CN" altLang="en-US" sz="2000" dirty="0"/>
              <a:t>局部性失效</a:t>
            </a:r>
            <a:endParaRPr kumimoji="1" lang="en-US" altLang="zh-CN" sz="2000" dirty="0"/>
          </a:p>
          <a:p>
            <a:pPr lvl="1"/>
            <a:r>
              <a:rPr kumimoji="1" lang="zh-CN" altLang="en-US" sz="1800" dirty="0"/>
              <a:t>数据包处理可能跨多核：导致</a:t>
            </a:r>
            <a:r>
              <a:rPr kumimoji="1" lang="en-US" altLang="zh-CN" sz="1800" dirty="0"/>
              <a:t>CPU </a:t>
            </a:r>
            <a:r>
              <a:rPr kumimoji="1" lang="zh-CN" altLang="en-US" sz="1800" dirty="0"/>
              <a:t>缓存失效，空间局部性差</a:t>
            </a:r>
          </a:p>
          <a:p>
            <a:pPr lvl="1"/>
            <a:r>
              <a:rPr kumimoji="1" lang="en-US" altLang="zh-CN" sz="1800" dirty="0"/>
              <a:t>NUMA </a:t>
            </a:r>
            <a:r>
              <a:rPr kumimoji="1" lang="zh-CN" altLang="en-US" sz="1800" dirty="0"/>
              <a:t>架构：存在跨 </a:t>
            </a:r>
            <a:r>
              <a:rPr kumimoji="1" lang="en-US" altLang="zh-CN" sz="1800" dirty="0"/>
              <a:t>NUMA</a:t>
            </a:r>
            <a:r>
              <a:rPr kumimoji="1" lang="zh-CN" altLang="en-US" sz="1800" dirty="0"/>
              <a:t>内存访问，性能影响很大</a:t>
            </a:r>
            <a:endParaRPr kumimoji="1" lang="en-US" altLang="zh-CN" sz="1800"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48</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Intel</a:t>
            </a:r>
            <a:r>
              <a:rPr kumimoji="1" lang="zh-CN" altLang="en-US" dirty="0"/>
              <a:t> </a:t>
            </a:r>
            <a:r>
              <a:rPr kumimoji="1" lang="en-US" altLang="zh-CN" dirty="0"/>
              <a:t>DPDK</a:t>
            </a:r>
            <a:endParaRPr kumimoji="1" lang="zh-CN" altLang="en-US" dirty="0"/>
          </a:p>
        </p:txBody>
      </p:sp>
      <p:sp>
        <p:nvSpPr>
          <p:cNvPr id="3" name="内容占位符 2"/>
          <p:cNvSpPr>
            <a:spLocks noGrp="1"/>
          </p:cNvSpPr>
          <p:nvPr>
            <p:ph idx="1"/>
          </p:nvPr>
        </p:nvSpPr>
        <p:spPr/>
        <p:txBody>
          <a:bodyPr>
            <a:normAutofit/>
          </a:bodyPr>
          <a:lstStyle/>
          <a:p>
            <a:r>
              <a:rPr kumimoji="1" lang="en-US" altLang="zh-CN" dirty="0"/>
              <a:t>Data</a:t>
            </a:r>
            <a:r>
              <a:rPr kumimoji="1" lang="zh-CN" altLang="en-US" dirty="0"/>
              <a:t> </a:t>
            </a:r>
            <a:r>
              <a:rPr kumimoji="1" lang="en-US" altLang="zh-CN" dirty="0"/>
              <a:t>Plane</a:t>
            </a:r>
            <a:r>
              <a:rPr kumimoji="1" lang="zh-CN" altLang="en-US" dirty="0"/>
              <a:t> </a:t>
            </a:r>
            <a:r>
              <a:rPr kumimoji="1" lang="en-US" altLang="zh-CN" dirty="0"/>
              <a:t>Development</a:t>
            </a:r>
            <a:r>
              <a:rPr kumimoji="1" lang="zh-CN" altLang="en-US" dirty="0"/>
              <a:t> </a:t>
            </a:r>
            <a:r>
              <a:rPr kumimoji="1" lang="en-US" altLang="zh-CN" dirty="0"/>
              <a:t>Kit</a:t>
            </a:r>
          </a:p>
          <a:p>
            <a:r>
              <a:rPr kumimoji="1" lang="zh-CN" altLang="en-US" dirty="0"/>
              <a:t>绕过</a:t>
            </a:r>
            <a:r>
              <a:rPr kumimoji="1" lang="en-US" altLang="zh-CN" dirty="0"/>
              <a:t>Linux</a:t>
            </a:r>
            <a:r>
              <a:rPr kumimoji="1" lang="zh-CN" altLang="en-US" dirty="0"/>
              <a:t>内核协议栈（</a:t>
            </a:r>
            <a:r>
              <a:rPr kumimoji="1" lang="en-US" altLang="zh-CN" dirty="0"/>
              <a:t>bypass</a:t>
            </a:r>
            <a:r>
              <a:rPr kumimoji="1" lang="zh-CN" altLang="en-US" dirty="0"/>
              <a:t> </a:t>
            </a:r>
            <a:r>
              <a:rPr kumimoji="1" lang="en-US" altLang="zh-CN" dirty="0"/>
              <a:t>kernel</a:t>
            </a:r>
            <a:r>
              <a:rPr kumimoji="1" lang="zh-CN" altLang="en-US" dirty="0"/>
              <a:t>）</a:t>
            </a:r>
            <a:endParaRPr kumimoji="1" lang="en-US" altLang="zh-CN" dirty="0"/>
          </a:p>
          <a:p>
            <a:pPr lvl="1"/>
            <a:r>
              <a:rPr kumimoji="1" lang="zh-CN" altLang="en-US" dirty="0"/>
              <a:t>直接在用户空间实现数据包的收发和处理</a:t>
            </a:r>
            <a:endParaRPr kumimoji="1" lang="en-US" altLang="zh-CN" dirty="0"/>
          </a:p>
          <a:p>
            <a:pPr lvl="1"/>
            <a:endParaRPr kumimoji="1" lang="en-US" altLang="zh-CN" dirty="0"/>
          </a:p>
          <a:p>
            <a:r>
              <a:rPr kumimoji="1" lang="en-US" altLang="zh-CN" dirty="0"/>
              <a:t>Linux</a:t>
            </a:r>
            <a:r>
              <a:rPr kumimoji="1" lang="zh-CN" altLang="en-US" dirty="0"/>
              <a:t> </a:t>
            </a:r>
            <a:r>
              <a:rPr kumimoji="1" lang="en-US" altLang="zh-CN" dirty="0"/>
              <a:t>User</a:t>
            </a:r>
            <a:r>
              <a:rPr kumimoji="1" lang="zh-CN" altLang="en-US" dirty="0"/>
              <a:t> </a:t>
            </a:r>
            <a:r>
              <a:rPr kumimoji="1" lang="en-US" altLang="zh-CN" dirty="0"/>
              <a:t>I/O</a:t>
            </a:r>
          </a:p>
          <a:p>
            <a:pPr lvl="1"/>
            <a:r>
              <a:rPr kumimoji="1" lang="zh-CN" altLang="en-GB" dirty="0"/>
              <a:t>在</a:t>
            </a:r>
            <a:r>
              <a:rPr kumimoji="1" lang="zh-CN" altLang="en-US" dirty="0"/>
              <a:t>用户态访问 </a:t>
            </a:r>
            <a:r>
              <a:rPr kumimoji="1" lang="en-US" altLang="zh-CN" dirty="0"/>
              <a:t>MMIO</a:t>
            </a:r>
            <a:r>
              <a:rPr kumimoji="1" lang="zh-CN" altLang="en-US" dirty="0"/>
              <a:t>（和设备交互）与</a:t>
            </a:r>
            <a:r>
              <a:rPr kumimoji="1" lang="en-US" altLang="zh-CN" dirty="0"/>
              <a:t>DMA</a:t>
            </a:r>
            <a:r>
              <a:rPr kumimoji="1" lang="zh-CN" altLang="en-US" dirty="0"/>
              <a:t> </a:t>
            </a:r>
            <a:r>
              <a:rPr kumimoji="1" lang="en-US" altLang="zh-CN" dirty="0"/>
              <a:t>ring</a:t>
            </a:r>
            <a:r>
              <a:rPr kumimoji="1" lang="zh-CN" altLang="en-US" dirty="0"/>
              <a:t> </a:t>
            </a:r>
            <a:r>
              <a:rPr kumimoji="1" lang="en-US" altLang="zh-CN" dirty="0"/>
              <a:t>buffers</a:t>
            </a:r>
          </a:p>
          <a:p>
            <a:r>
              <a:rPr kumimoji="1" lang="zh-CN" altLang="en-US" dirty="0"/>
              <a:t>轮询模式驱动：</a:t>
            </a:r>
            <a:r>
              <a:rPr kumimoji="1" lang="en-US" altLang="zh-CN" b="0" dirty="0"/>
              <a:t>Poll</a:t>
            </a:r>
            <a:r>
              <a:rPr kumimoji="1" lang="zh-CN" altLang="en-US" b="0" dirty="0"/>
              <a:t> </a:t>
            </a:r>
            <a:r>
              <a:rPr kumimoji="1" lang="en-US" altLang="zh-CN" b="0" dirty="0"/>
              <a:t>Mode</a:t>
            </a:r>
            <a:r>
              <a:rPr kumimoji="1" lang="zh-CN" altLang="en-US" b="0" dirty="0"/>
              <a:t> </a:t>
            </a:r>
            <a:r>
              <a:rPr kumimoji="1" lang="en-US" altLang="zh-CN" b="0" dirty="0"/>
              <a:t>Driver</a:t>
            </a:r>
            <a:r>
              <a:rPr kumimoji="1" lang="zh-CN" altLang="en-US" b="0" dirty="0"/>
              <a:t> </a:t>
            </a:r>
            <a:r>
              <a:rPr kumimoji="1" lang="en-US" altLang="zh-CN" b="0" dirty="0"/>
              <a:t>(PMD)</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49</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直线连接符 16"/>
          <p:cNvCxnSpPr/>
          <p:nvPr/>
        </p:nvCxnSpPr>
        <p:spPr>
          <a:xfrm>
            <a:off x="899592" y="2857500"/>
            <a:ext cx="6984776"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7" name="直线连接符 6"/>
          <p:cNvCxnSpPr/>
          <p:nvPr/>
        </p:nvCxnSpPr>
        <p:spPr>
          <a:xfrm>
            <a:off x="899592" y="3433564"/>
            <a:ext cx="6984776" cy="0"/>
          </a:xfrm>
          <a:prstGeom prst="line">
            <a:avLst/>
          </a:prstGeom>
          <a:ln w="28575">
            <a:prstDash val="dash"/>
          </a:ln>
        </p:spPr>
        <p:style>
          <a:lnRef idx="1">
            <a:schemeClr val="dk1"/>
          </a:lnRef>
          <a:fillRef idx="0">
            <a:schemeClr val="dk1"/>
          </a:fillRef>
          <a:effectRef idx="0">
            <a:schemeClr val="dk1"/>
          </a:effectRef>
          <a:fontRef idx="minor">
            <a:schemeClr val="tx1"/>
          </a:fontRef>
        </p:style>
      </p:cxnSp>
      <p:sp>
        <p:nvSpPr>
          <p:cNvPr id="2" name="标题 1"/>
          <p:cNvSpPr>
            <a:spLocks noGrp="1"/>
          </p:cNvSpPr>
          <p:nvPr>
            <p:ph type="title"/>
          </p:nvPr>
        </p:nvSpPr>
        <p:spPr/>
        <p:txBody>
          <a:bodyPr/>
          <a:lstStyle/>
          <a:p>
            <a:r>
              <a:rPr kumimoji="1" lang="en-US" altLang="zh-CN" dirty="0"/>
              <a:t>DPDK</a:t>
            </a:r>
            <a:r>
              <a:rPr kumimoji="1" lang="zh-CN" altLang="en-US" dirty="0"/>
              <a:t>架构图</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50</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矩形 7"/>
          <p:cNvSpPr/>
          <p:nvPr/>
        </p:nvSpPr>
        <p:spPr>
          <a:xfrm>
            <a:off x="4788023" y="4295881"/>
            <a:ext cx="2836735"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UIO</a:t>
            </a:r>
            <a:r>
              <a:rPr kumimoji="1" lang="zh-CN" altLang="en-US" dirty="0">
                <a:solidFill>
                  <a:schemeClr val="tx1"/>
                </a:solidFill>
                <a:latin typeface="DengXian" panose="02010600030101010101" pitchFamily="2" charset="-122"/>
                <a:ea typeface="DengXian" panose="02010600030101010101" pitchFamily="2" charset="-122"/>
              </a:rPr>
              <a:t> 框架</a:t>
            </a:r>
          </a:p>
        </p:txBody>
      </p:sp>
      <p:sp>
        <p:nvSpPr>
          <p:cNvPr id="9" name="矩形 8"/>
          <p:cNvSpPr/>
          <p:nvPr/>
        </p:nvSpPr>
        <p:spPr>
          <a:xfrm>
            <a:off x="4804761" y="3667736"/>
            <a:ext cx="1567439"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UIO</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Driver</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4799940" y="1775601"/>
            <a:ext cx="1932300"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PMD</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1" name="矩形 10"/>
          <p:cNvSpPr/>
          <p:nvPr/>
        </p:nvSpPr>
        <p:spPr>
          <a:xfrm>
            <a:off x="4788024" y="1129308"/>
            <a:ext cx="2836734"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DPDK</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Libs</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2" name="矩形 11"/>
          <p:cNvSpPr/>
          <p:nvPr/>
        </p:nvSpPr>
        <p:spPr>
          <a:xfrm>
            <a:off x="1043608" y="1129308"/>
            <a:ext cx="1927161"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DPDK</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Apps</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3" name="矩形 12"/>
          <p:cNvSpPr/>
          <p:nvPr/>
        </p:nvSpPr>
        <p:spPr>
          <a:xfrm>
            <a:off x="1014992" y="4295881"/>
            <a:ext cx="1927161"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NIC</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Device</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4" name="椭圆 13"/>
          <p:cNvSpPr/>
          <p:nvPr/>
        </p:nvSpPr>
        <p:spPr>
          <a:xfrm>
            <a:off x="3023828" y="2421798"/>
            <a:ext cx="1440160" cy="1440160"/>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p:cNvSpPr/>
          <p:nvPr/>
        </p:nvSpPr>
        <p:spPr>
          <a:xfrm>
            <a:off x="6487793" y="2964887"/>
            <a:ext cx="1180551"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err="1">
                <a:solidFill>
                  <a:schemeClr val="tx1"/>
                </a:solidFill>
                <a:latin typeface="DengXian" panose="02010600030101010101" pitchFamily="2" charset="-122"/>
                <a:ea typeface="DengXian" panose="02010600030101010101" pitchFamily="2" charset="-122"/>
              </a:rPr>
              <a:t>sysfs</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9" name="矩形 18"/>
          <p:cNvSpPr/>
          <p:nvPr/>
        </p:nvSpPr>
        <p:spPr>
          <a:xfrm>
            <a:off x="4804761" y="2964887"/>
            <a:ext cx="1567439"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/dev/</a:t>
            </a:r>
            <a:r>
              <a:rPr kumimoji="1" lang="en-US" altLang="zh-CN" dirty="0" err="1">
                <a:solidFill>
                  <a:schemeClr val="tx1"/>
                </a:solidFill>
                <a:latin typeface="DengXian" panose="02010600030101010101" pitchFamily="2" charset="-122"/>
                <a:ea typeface="DengXian" panose="02010600030101010101" pitchFamily="2" charset="-122"/>
              </a:rPr>
              <a:t>uioX</a:t>
            </a:r>
            <a:endParaRPr kumimoji="1" lang="zh-CN" altLang="en-US" dirty="0">
              <a:solidFill>
                <a:schemeClr val="tx1"/>
              </a:solidFill>
              <a:latin typeface="DengXian" panose="02010600030101010101" pitchFamily="2" charset="-122"/>
              <a:ea typeface="DengXian" panose="02010600030101010101" pitchFamily="2" charset="-122"/>
            </a:endParaRPr>
          </a:p>
        </p:txBody>
      </p:sp>
      <p:cxnSp>
        <p:nvCxnSpPr>
          <p:cNvPr id="24" name="直线箭头连接符 23"/>
          <p:cNvCxnSpPr/>
          <p:nvPr/>
        </p:nvCxnSpPr>
        <p:spPr>
          <a:xfrm>
            <a:off x="7078068" y="3326178"/>
            <a:ext cx="6819" cy="97780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6" name="直线箭头连接符 25"/>
          <p:cNvCxnSpPr/>
          <p:nvPr/>
        </p:nvCxnSpPr>
        <p:spPr>
          <a:xfrm>
            <a:off x="5764154" y="3326178"/>
            <a:ext cx="0" cy="32341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32" name="文本框 31"/>
          <p:cNvSpPr txBox="1"/>
          <p:nvPr/>
        </p:nvSpPr>
        <p:spPr>
          <a:xfrm>
            <a:off x="3138140" y="3959106"/>
            <a:ext cx="1269899"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ring</a:t>
            </a:r>
            <a:r>
              <a:rPr kumimoji="1" lang="zh-CN" altLang="en-US" sz="1600" b="1" dirty="0">
                <a:latin typeface="DengXian" panose="02010600030101010101" pitchFamily="2" charset="-122"/>
                <a:ea typeface="DengXian" panose="02010600030101010101" pitchFamily="2" charset="-122"/>
              </a:rPr>
              <a:t> </a:t>
            </a:r>
            <a:r>
              <a:rPr kumimoji="1" lang="en-US" altLang="zh-CN" sz="1600" b="1" dirty="0">
                <a:latin typeface="DengXian" panose="02010600030101010101" pitchFamily="2" charset="-122"/>
                <a:ea typeface="DengXian" panose="02010600030101010101" pitchFamily="2" charset="-122"/>
              </a:rPr>
              <a:t>buffers</a:t>
            </a:r>
            <a:endParaRPr kumimoji="1" lang="zh-CN" altLang="en-US" sz="1600" b="1" dirty="0">
              <a:latin typeface="DengXian" panose="02010600030101010101" pitchFamily="2" charset="-122"/>
              <a:ea typeface="DengXian" panose="02010600030101010101" pitchFamily="2" charset="-122"/>
            </a:endParaRPr>
          </a:p>
        </p:txBody>
      </p:sp>
      <p:cxnSp>
        <p:nvCxnSpPr>
          <p:cNvPr id="34" name="直线连接符 33"/>
          <p:cNvCxnSpPr>
            <a:stCxn id="14" idx="0"/>
          </p:cNvCxnSpPr>
          <p:nvPr/>
        </p:nvCxnSpPr>
        <p:spPr>
          <a:xfrm>
            <a:off x="3743908" y="2421798"/>
            <a:ext cx="0" cy="252028"/>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直线连接符 38"/>
          <p:cNvCxnSpPr>
            <a:cxnSpLocks/>
            <a:stCxn id="14" idx="6"/>
          </p:cNvCxnSpPr>
          <p:nvPr/>
        </p:nvCxnSpPr>
        <p:spPr>
          <a:xfrm flipH="1">
            <a:off x="4211960" y="3141878"/>
            <a:ext cx="252028"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41" name="直线连接符 40"/>
          <p:cNvCxnSpPr>
            <a:cxnSpLocks/>
            <a:stCxn id="14" idx="5"/>
          </p:cNvCxnSpPr>
          <p:nvPr/>
        </p:nvCxnSpPr>
        <p:spPr>
          <a:xfrm flipH="1" flipV="1">
            <a:off x="4074871" y="3472841"/>
            <a:ext cx="178210" cy="178210"/>
          </a:xfrm>
          <a:prstGeom prst="line">
            <a:avLst/>
          </a:prstGeom>
          <a:ln w="28575"/>
        </p:spPr>
        <p:style>
          <a:lnRef idx="1">
            <a:schemeClr val="dk1"/>
          </a:lnRef>
          <a:fillRef idx="0">
            <a:schemeClr val="dk1"/>
          </a:fillRef>
          <a:effectRef idx="0">
            <a:schemeClr val="dk1"/>
          </a:effectRef>
          <a:fontRef idx="minor">
            <a:schemeClr val="tx1"/>
          </a:fontRef>
        </p:style>
      </p:cxnSp>
      <p:cxnSp>
        <p:nvCxnSpPr>
          <p:cNvPr id="43" name="直线连接符 42"/>
          <p:cNvCxnSpPr/>
          <p:nvPr/>
        </p:nvCxnSpPr>
        <p:spPr>
          <a:xfrm flipV="1">
            <a:off x="3715293" y="3609930"/>
            <a:ext cx="0" cy="252028"/>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直线连接符 44"/>
          <p:cNvCxnSpPr>
            <a:cxnSpLocks/>
            <a:stCxn id="14" idx="3"/>
          </p:cNvCxnSpPr>
          <p:nvPr/>
        </p:nvCxnSpPr>
        <p:spPr>
          <a:xfrm flipV="1">
            <a:off x="3234735" y="3472841"/>
            <a:ext cx="178210" cy="178210"/>
          </a:xfrm>
          <a:prstGeom prst="line">
            <a:avLst/>
          </a:prstGeom>
          <a:ln w="28575"/>
        </p:spPr>
        <p:style>
          <a:lnRef idx="1">
            <a:schemeClr val="dk1"/>
          </a:lnRef>
          <a:fillRef idx="0">
            <a:schemeClr val="dk1"/>
          </a:fillRef>
          <a:effectRef idx="0">
            <a:schemeClr val="dk1"/>
          </a:effectRef>
          <a:fontRef idx="minor">
            <a:schemeClr val="tx1"/>
          </a:fontRef>
        </p:style>
      </p:cxnSp>
      <p:cxnSp>
        <p:nvCxnSpPr>
          <p:cNvPr id="47" name="直线连接符 46"/>
          <p:cNvCxnSpPr>
            <a:stCxn id="14" idx="7"/>
          </p:cNvCxnSpPr>
          <p:nvPr/>
        </p:nvCxnSpPr>
        <p:spPr>
          <a:xfrm flipH="1">
            <a:off x="4074871" y="2632705"/>
            <a:ext cx="178210" cy="21933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1" name="直线箭头连接符 50"/>
          <p:cNvCxnSpPr/>
          <p:nvPr/>
        </p:nvCxnSpPr>
        <p:spPr>
          <a:xfrm>
            <a:off x="7075006" y="1505607"/>
            <a:ext cx="2933" cy="145005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53" name="直线箭头连接符 52"/>
          <p:cNvCxnSpPr/>
          <p:nvPr/>
        </p:nvCxnSpPr>
        <p:spPr>
          <a:xfrm>
            <a:off x="5763219" y="1489348"/>
            <a:ext cx="0" cy="31247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56" name="直线箭头连接符 55"/>
          <p:cNvCxnSpPr>
            <a:stCxn id="13" idx="3"/>
            <a:endCxn id="8" idx="1"/>
          </p:cNvCxnSpPr>
          <p:nvPr/>
        </p:nvCxnSpPr>
        <p:spPr>
          <a:xfrm>
            <a:off x="2942153" y="4476791"/>
            <a:ext cx="1845870"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0" name="直线箭头连接符 59"/>
          <p:cNvCxnSpPr>
            <a:stCxn id="12" idx="3"/>
            <a:endCxn id="11" idx="1"/>
          </p:cNvCxnSpPr>
          <p:nvPr/>
        </p:nvCxnSpPr>
        <p:spPr>
          <a:xfrm>
            <a:off x="2970769" y="1310218"/>
            <a:ext cx="1817255" cy="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3" name="文本框 62"/>
          <p:cNvSpPr txBox="1"/>
          <p:nvPr/>
        </p:nvSpPr>
        <p:spPr>
          <a:xfrm>
            <a:off x="3656365" y="1867426"/>
            <a:ext cx="915635" cy="338554"/>
          </a:xfrm>
          <a:prstGeom prst="rect">
            <a:avLst/>
          </a:prstGeom>
          <a:noFill/>
        </p:spPr>
        <p:txBody>
          <a:bodyPr wrap="none" rtlCol="0">
            <a:spAutoFit/>
          </a:bodyPr>
          <a:lstStyle/>
          <a:p>
            <a:r>
              <a:rPr kumimoji="1" lang="en-US" altLang="zh-CN" sz="1600" b="1" dirty="0" err="1">
                <a:latin typeface="DengXian" panose="02010600030101010101" pitchFamily="2" charset="-122"/>
                <a:ea typeface="DengXian" panose="02010600030101010101" pitchFamily="2" charset="-122"/>
              </a:rPr>
              <a:t>mmap</a:t>
            </a:r>
            <a:r>
              <a:rPr kumimoji="1" lang="en-US" altLang="zh-CN" sz="1600" b="1" dirty="0">
                <a:latin typeface="DengXian" panose="02010600030101010101" pitchFamily="2" charset="-122"/>
                <a:ea typeface="DengXian" panose="02010600030101010101" pitchFamily="2" charset="-122"/>
              </a:rPr>
              <a:t>()</a:t>
            </a:r>
            <a:endParaRPr kumimoji="1" lang="zh-CN" altLang="en-US" sz="1600" b="1" dirty="0">
              <a:latin typeface="DengXian" panose="02010600030101010101" pitchFamily="2" charset="-122"/>
              <a:ea typeface="DengXian" panose="02010600030101010101" pitchFamily="2" charset="-122"/>
            </a:endParaRPr>
          </a:p>
        </p:txBody>
      </p:sp>
      <p:cxnSp>
        <p:nvCxnSpPr>
          <p:cNvPr id="65" name="直线箭头连接符 64"/>
          <p:cNvCxnSpPr>
            <a:stCxn id="13" idx="0"/>
            <a:endCxn id="14" idx="3"/>
          </p:cNvCxnSpPr>
          <p:nvPr/>
        </p:nvCxnSpPr>
        <p:spPr>
          <a:xfrm flipV="1">
            <a:off x="1978573" y="3651051"/>
            <a:ext cx="1256162" cy="64483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6" name="直线箭头连接符 65"/>
          <p:cNvCxnSpPr/>
          <p:nvPr/>
        </p:nvCxnSpPr>
        <p:spPr>
          <a:xfrm flipH="1">
            <a:off x="5763219" y="4035972"/>
            <a:ext cx="1022" cy="2699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8" name="文本框 67"/>
          <p:cNvSpPr txBox="1"/>
          <p:nvPr/>
        </p:nvSpPr>
        <p:spPr>
          <a:xfrm>
            <a:off x="3323840" y="4476790"/>
            <a:ext cx="902811" cy="307777"/>
          </a:xfrm>
          <a:prstGeom prst="rect">
            <a:avLst/>
          </a:prstGeom>
          <a:noFill/>
        </p:spPr>
        <p:txBody>
          <a:bodyPr wrap="none" rtlCol="0">
            <a:spAutoFit/>
          </a:bodyPr>
          <a:lstStyle/>
          <a:p>
            <a:r>
              <a:rPr kumimoji="1" lang="en-US" altLang="zh-CN" sz="1400" b="1" dirty="0">
                <a:latin typeface="DengXian" panose="02010600030101010101" pitchFamily="2" charset="-122"/>
                <a:ea typeface="DengXian" panose="02010600030101010101" pitchFamily="2" charset="-122"/>
              </a:rPr>
              <a:t>interrupt</a:t>
            </a:r>
            <a:endParaRPr kumimoji="1" lang="zh-CN" altLang="en-US" sz="1400" b="1" dirty="0">
              <a:latin typeface="DengXian" panose="02010600030101010101" pitchFamily="2" charset="-122"/>
              <a:ea typeface="DengXian" panose="02010600030101010101" pitchFamily="2" charset="-122"/>
            </a:endParaRPr>
          </a:p>
        </p:txBody>
      </p:sp>
      <p:sp>
        <p:nvSpPr>
          <p:cNvPr id="70" name="文本框 69"/>
          <p:cNvSpPr txBox="1"/>
          <p:nvPr/>
        </p:nvSpPr>
        <p:spPr>
          <a:xfrm>
            <a:off x="2114539" y="3635311"/>
            <a:ext cx="599844" cy="307777"/>
          </a:xfrm>
          <a:prstGeom prst="rect">
            <a:avLst/>
          </a:prstGeom>
          <a:noFill/>
        </p:spPr>
        <p:txBody>
          <a:bodyPr wrap="none" rtlCol="0">
            <a:spAutoFit/>
          </a:bodyPr>
          <a:lstStyle/>
          <a:p>
            <a:r>
              <a:rPr kumimoji="1" lang="en-US" altLang="zh-CN" sz="1400" b="1" dirty="0">
                <a:latin typeface="DengXian" panose="02010600030101010101" pitchFamily="2" charset="-122"/>
                <a:ea typeface="DengXian" panose="02010600030101010101" pitchFamily="2" charset="-122"/>
              </a:rPr>
              <a:t>DMA</a:t>
            </a:r>
          </a:p>
        </p:txBody>
      </p:sp>
      <p:cxnSp>
        <p:nvCxnSpPr>
          <p:cNvPr id="76" name="直线箭头连接符 75"/>
          <p:cNvCxnSpPr/>
          <p:nvPr/>
        </p:nvCxnSpPr>
        <p:spPr>
          <a:xfrm>
            <a:off x="5754414" y="2159876"/>
            <a:ext cx="8805" cy="78179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5" name="直线箭头连接符 84"/>
          <p:cNvCxnSpPr>
            <a:stCxn id="10" idx="1"/>
          </p:cNvCxnSpPr>
          <p:nvPr/>
        </p:nvCxnSpPr>
        <p:spPr>
          <a:xfrm flipH="1">
            <a:off x="4074872" y="1956511"/>
            <a:ext cx="725068" cy="5664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0" name="文本框 39"/>
          <p:cNvSpPr txBox="1"/>
          <p:nvPr/>
        </p:nvSpPr>
        <p:spPr>
          <a:xfrm>
            <a:off x="7445786" y="1845084"/>
            <a:ext cx="877163" cy="369332"/>
          </a:xfrm>
          <a:prstGeom prst="rect">
            <a:avLst/>
          </a:prstGeom>
          <a:noFill/>
        </p:spPr>
        <p:txBody>
          <a:bodyPr wrap="none" rtlCol="0">
            <a:spAutoFit/>
          </a:bodyPr>
          <a:lstStyle/>
          <a:p>
            <a:pPr algn="ctr"/>
            <a:r>
              <a:rPr kumimoji="1" lang="zh-CN" altLang="en-US" b="1" dirty="0">
                <a:latin typeface="DengXian" panose="02010600030101010101" pitchFamily="2" charset="-122"/>
                <a:ea typeface="DengXian" panose="02010600030101010101" pitchFamily="2" charset="-122"/>
              </a:rPr>
              <a:t>用户态</a:t>
            </a:r>
            <a:endParaRPr kumimoji="1" lang="en-US" altLang="zh-CN" b="1" dirty="0">
              <a:latin typeface="DengXian" panose="02010600030101010101" pitchFamily="2" charset="-122"/>
              <a:ea typeface="DengXian" panose="02010600030101010101" pitchFamily="2" charset="-122"/>
            </a:endParaRPr>
          </a:p>
        </p:txBody>
      </p:sp>
      <p:sp>
        <p:nvSpPr>
          <p:cNvPr id="44" name="文本框 43">
            <a:extLst>
              <a:ext uri="{FF2B5EF4-FFF2-40B4-BE49-F238E27FC236}">
                <a16:creationId xmlns:a16="http://schemas.microsoft.com/office/drawing/2014/main" id="{5642254A-201F-AB46-8C55-88D8F84FA608}"/>
              </a:ext>
            </a:extLst>
          </p:cNvPr>
          <p:cNvSpPr txBox="1"/>
          <p:nvPr/>
        </p:nvSpPr>
        <p:spPr>
          <a:xfrm>
            <a:off x="5054058" y="2313201"/>
            <a:ext cx="737702" cy="338554"/>
          </a:xfrm>
          <a:prstGeom prst="rect">
            <a:avLst/>
          </a:prstGeom>
          <a:noFill/>
        </p:spPr>
        <p:txBody>
          <a:bodyPr wrap="none" rtlCol="0">
            <a:spAutoFit/>
          </a:bodyPr>
          <a:lstStyle/>
          <a:p>
            <a:r>
              <a:rPr kumimoji="1" lang="en-US" altLang="zh-CN" sz="1600" b="1" dirty="0">
                <a:latin typeface="DengXian" panose="02010600030101010101" pitchFamily="2" charset="-122"/>
                <a:ea typeface="DengXian" panose="02010600030101010101" pitchFamily="2" charset="-122"/>
              </a:rPr>
              <a:t>read()</a:t>
            </a:r>
            <a:endParaRPr kumimoji="1" lang="zh-CN" altLang="en-US" sz="1600" b="1" dirty="0">
              <a:latin typeface="DengXian" panose="02010600030101010101" pitchFamily="2" charset="-122"/>
              <a:ea typeface="DengXian" panose="02010600030101010101" pitchFamily="2" charset="-122"/>
            </a:endParaRPr>
          </a:p>
        </p:txBody>
      </p:sp>
      <p:sp>
        <p:nvSpPr>
          <p:cNvPr id="46" name="文本框 45">
            <a:extLst>
              <a:ext uri="{FF2B5EF4-FFF2-40B4-BE49-F238E27FC236}">
                <a16:creationId xmlns:a16="http://schemas.microsoft.com/office/drawing/2014/main" id="{77AA5AEA-3959-E046-9FD8-0C4DD3CEBEB5}"/>
              </a:ext>
            </a:extLst>
          </p:cNvPr>
          <p:cNvSpPr txBox="1"/>
          <p:nvPr/>
        </p:nvSpPr>
        <p:spPr>
          <a:xfrm>
            <a:off x="7427168" y="3735944"/>
            <a:ext cx="877163" cy="369332"/>
          </a:xfrm>
          <a:prstGeom prst="rect">
            <a:avLst/>
          </a:prstGeom>
          <a:noFill/>
        </p:spPr>
        <p:txBody>
          <a:bodyPr wrap="none" rtlCol="0">
            <a:spAutoFit/>
          </a:bodyPr>
          <a:lstStyle/>
          <a:p>
            <a:pPr algn="ctr"/>
            <a:r>
              <a:rPr kumimoji="1" lang="zh-CN" altLang="en-US" b="1" dirty="0">
                <a:latin typeface="DengXian" panose="02010600030101010101" pitchFamily="2" charset="-122"/>
                <a:ea typeface="DengXian" panose="02010600030101010101" pitchFamily="2" charset="-122"/>
              </a:rPr>
              <a:t>内核态</a:t>
            </a:r>
            <a:endParaRPr kumimoji="1" lang="en-US" altLang="zh-CN" b="1" dirty="0">
              <a:latin typeface="DengXian" panose="02010600030101010101" pitchFamily="2" charset="-122"/>
              <a:ea typeface="DengXian" panose="02010600030101010101" pitchFamily="2" charset="-122"/>
            </a:endParaRPr>
          </a:p>
        </p:txBody>
      </p:sp>
      <p:sp>
        <p:nvSpPr>
          <p:cNvPr id="42" name="椭圆 41">
            <a:extLst>
              <a:ext uri="{FF2B5EF4-FFF2-40B4-BE49-F238E27FC236}">
                <a16:creationId xmlns:a16="http://schemas.microsoft.com/office/drawing/2014/main" id="{998CFAE1-AC3C-8744-84DD-78BA7A709026}"/>
              </a:ext>
            </a:extLst>
          </p:cNvPr>
          <p:cNvSpPr/>
          <p:nvPr/>
        </p:nvSpPr>
        <p:spPr>
          <a:xfrm>
            <a:off x="3275856" y="2673826"/>
            <a:ext cx="936104" cy="93610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DPDK</a:t>
            </a:r>
            <a:r>
              <a:rPr kumimoji="1" lang="zh-CN" altLang="en-US" dirty="0"/>
              <a:t>特性</a:t>
            </a:r>
          </a:p>
        </p:txBody>
      </p:sp>
      <p:sp>
        <p:nvSpPr>
          <p:cNvPr id="3" name="内容占位符 2"/>
          <p:cNvSpPr>
            <a:spLocks noGrp="1"/>
          </p:cNvSpPr>
          <p:nvPr>
            <p:ph idx="1"/>
          </p:nvPr>
        </p:nvSpPr>
        <p:spPr/>
        <p:txBody>
          <a:bodyPr>
            <a:normAutofit/>
          </a:bodyPr>
          <a:lstStyle/>
          <a:p>
            <a:r>
              <a:rPr kumimoji="1" lang="zh-CN" altLang="en-US" dirty="0"/>
              <a:t>抛弃中断，使用轮询模式</a:t>
            </a:r>
            <a:endParaRPr kumimoji="1" lang="en-US" altLang="zh-CN" dirty="0"/>
          </a:p>
          <a:p>
            <a:r>
              <a:rPr kumimoji="1" lang="zh-CN" altLang="en-US" dirty="0"/>
              <a:t>使用大页（</a:t>
            </a:r>
            <a:r>
              <a:rPr kumimoji="1" lang="en-US" altLang="zh-CN" dirty="0"/>
              <a:t>2MB</a:t>
            </a:r>
            <a:r>
              <a:rPr kumimoji="1" lang="zh-CN" altLang="en-US" dirty="0"/>
              <a:t>），减少</a:t>
            </a:r>
            <a:r>
              <a:rPr kumimoji="1" lang="en-US" altLang="zh-CN" dirty="0"/>
              <a:t>TLB</a:t>
            </a:r>
            <a:r>
              <a:rPr kumimoji="1" lang="zh-CN" altLang="en-US" dirty="0"/>
              <a:t> </a:t>
            </a:r>
            <a:r>
              <a:rPr kumimoji="1" lang="en-US" altLang="zh-CN" dirty="0"/>
              <a:t>miss</a:t>
            </a:r>
          </a:p>
          <a:p>
            <a:endParaRPr kumimoji="1" lang="en-US" altLang="zh-CN" dirty="0"/>
          </a:p>
          <a:p>
            <a:r>
              <a:rPr kumimoji="1" lang="zh-CN" altLang="en-US" dirty="0"/>
              <a:t>控制平面与数据平面相分离：</a:t>
            </a:r>
            <a:endParaRPr kumimoji="1" lang="en-US" altLang="zh-CN" dirty="0"/>
          </a:p>
          <a:p>
            <a:pPr lvl="1"/>
            <a:r>
              <a:rPr kumimoji="1" lang="zh-CN" altLang="en-US" dirty="0"/>
              <a:t>内核态负责“控制平面”：内核仅负责控制指令的处理</a:t>
            </a:r>
            <a:endParaRPr kumimoji="1" lang="en-US" altLang="zh-CN" dirty="0"/>
          </a:p>
          <a:p>
            <a:pPr lvl="1"/>
            <a:r>
              <a:rPr kumimoji="1" lang="zh-CN" altLang="en-US" dirty="0"/>
              <a:t>用户态负责“数据平面”：将数据包处理、内存管理、处理器调度等任务转移到用户空间去完成，有效避免了繁重的模式切换</a:t>
            </a:r>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51</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DPDK</a:t>
            </a:r>
            <a:r>
              <a:rPr kumimoji="1" lang="zh-CN" altLang="en-US" dirty="0"/>
              <a:t>特性（</a:t>
            </a:r>
            <a:r>
              <a:rPr kumimoji="1" lang="en-US" altLang="zh-CN" dirty="0"/>
              <a:t>2</a:t>
            </a:r>
            <a:r>
              <a:rPr kumimoji="1" lang="zh-CN" altLang="en-US" dirty="0"/>
              <a:t>）</a:t>
            </a:r>
          </a:p>
        </p:txBody>
      </p:sp>
      <p:sp>
        <p:nvSpPr>
          <p:cNvPr id="3" name="内容占位符 2"/>
          <p:cNvSpPr>
            <a:spLocks noGrp="1"/>
          </p:cNvSpPr>
          <p:nvPr>
            <p:ph idx="1"/>
          </p:nvPr>
        </p:nvSpPr>
        <p:spPr/>
        <p:txBody>
          <a:bodyPr/>
          <a:lstStyle/>
          <a:p>
            <a:r>
              <a:rPr kumimoji="1" lang="zh-CN" altLang="en-US" dirty="0"/>
              <a:t>用多核编程代替多线程技术</a:t>
            </a:r>
            <a:endParaRPr kumimoji="1" lang="en-US" altLang="zh-CN" dirty="0"/>
          </a:p>
          <a:p>
            <a:pPr lvl="1"/>
            <a:r>
              <a:rPr kumimoji="1" lang="zh-CN" altLang="en-US" dirty="0"/>
              <a:t>绑核：设置 </a:t>
            </a:r>
            <a:r>
              <a:rPr kumimoji="1" lang="en-GB" altLang="zh-CN" dirty="0"/>
              <a:t>CPU </a:t>
            </a:r>
            <a:r>
              <a:rPr kumimoji="1" lang="zh-CN" altLang="en-US" dirty="0"/>
              <a:t>亲和性，减少彼此间调度切换</a:t>
            </a:r>
            <a:endParaRPr kumimoji="1" lang="en-US" altLang="zh-CN" dirty="0"/>
          </a:p>
          <a:p>
            <a:pPr lvl="1"/>
            <a:r>
              <a:rPr kumimoji="1" lang="zh-CN" altLang="en-US" dirty="0"/>
              <a:t>无锁环形队列：解决资源竞争问题</a:t>
            </a:r>
            <a:endParaRPr kumimoji="1" lang="en-US" altLang="zh-CN" dirty="0"/>
          </a:p>
          <a:p>
            <a:pPr lvl="1"/>
            <a:endParaRPr kumimoji="1" lang="en-US" altLang="zh-CN" dirty="0"/>
          </a:p>
          <a:p>
            <a:r>
              <a:rPr kumimoji="1" lang="en-GB" altLang="zh-CN" dirty="0"/>
              <a:t>CPU </a:t>
            </a:r>
            <a:r>
              <a:rPr kumimoji="1" lang="zh-CN" altLang="en-US" dirty="0"/>
              <a:t>核尽量使用所在 </a:t>
            </a:r>
            <a:r>
              <a:rPr kumimoji="1" lang="en-GB" altLang="zh-CN" dirty="0"/>
              <a:t>NUMA </a:t>
            </a:r>
            <a:r>
              <a:rPr kumimoji="1" lang="zh-CN" altLang="en-US" dirty="0"/>
              <a:t>节点的内存</a:t>
            </a:r>
            <a:endParaRPr kumimoji="1" lang="en-US" altLang="zh-CN" dirty="0"/>
          </a:p>
          <a:p>
            <a:pPr lvl="1"/>
            <a:r>
              <a:rPr kumimoji="1" lang="zh-CN" altLang="en-US" dirty="0"/>
              <a:t>避免跨</a:t>
            </a:r>
            <a:r>
              <a:rPr kumimoji="1" lang="en-US" altLang="zh-CN" dirty="0"/>
              <a:t>NUMA</a:t>
            </a:r>
            <a:r>
              <a:rPr kumimoji="1" lang="zh-CN" altLang="en-US" dirty="0"/>
              <a:t>内存访问</a:t>
            </a:r>
            <a:endParaRPr kumimoji="1" lang="en-US" altLang="zh-CN" dirty="0"/>
          </a:p>
          <a:p>
            <a:endParaRPr kumimoji="1" lang="zh-CN" altLang="en-US"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52</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B74162-91A5-2545-802E-50F231AF1048}"/>
              </a:ext>
            </a:extLst>
          </p:cNvPr>
          <p:cNvSpPr>
            <a:spLocks noGrp="1"/>
          </p:cNvSpPr>
          <p:nvPr>
            <p:ph type="title"/>
          </p:nvPr>
        </p:nvSpPr>
        <p:spPr/>
        <p:txBody>
          <a:bodyPr/>
          <a:lstStyle/>
          <a:p>
            <a:r>
              <a:rPr kumimoji="1" lang="en-US" altLang="zh-CN" dirty="0"/>
              <a:t>DPDK</a:t>
            </a:r>
            <a:r>
              <a:rPr kumimoji="1" lang="zh-CN" altLang="en-US" dirty="0"/>
              <a:t>的使用</a:t>
            </a:r>
          </a:p>
        </p:txBody>
      </p:sp>
      <p:sp>
        <p:nvSpPr>
          <p:cNvPr id="3" name="内容占位符 2">
            <a:extLst>
              <a:ext uri="{FF2B5EF4-FFF2-40B4-BE49-F238E27FC236}">
                <a16:creationId xmlns:a16="http://schemas.microsoft.com/office/drawing/2014/main" id="{B427D2E0-320E-5040-ABA0-2BB49E08383E}"/>
              </a:ext>
            </a:extLst>
          </p:cNvPr>
          <p:cNvSpPr>
            <a:spLocks noGrp="1"/>
          </p:cNvSpPr>
          <p:nvPr>
            <p:ph idx="1"/>
          </p:nvPr>
        </p:nvSpPr>
        <p:spPr/>
        <p:txBody>
          <a:bodyPr/>
          <a:lstStyle/>
          <a:p>
            <a:r>
              <a:rPr kumimoji="1" lang="en-US" altLang="zh-CN" dirty="0"/>
              <a:t>DPDK</a:t>
            </a:r>
            <a:r>
              <a:rPr kumimoji="1" lang="zh-CN" altLang="en-US" dirty="0"/>
              <a:t>本身只是</a:t>
            </a:r>
            <a:r>
              <a:rPr kumimoji="1" lang="en-US" altLang="zh-CN" dirty="0"/>
              <a:t>2</a:t>
            </a:r>
            <a:r>
              <a:rPr kumimoji="1" lang="zh-CN" altLang="en-US" dirty="0"/>
              <a:t>层协议，不提供</a:t>
            </a:r>
            <a:r>
              <a:rPr kumimoji="1" lang="en-US" altLang="zh-CN" dirty="0"/>
              <a:t>socket</a:t>
            </a:r>
            <a:r>
              <a:rPr kumimoji="1" lang="zh-CN" altLang="en-US" dirty="0"/>
              <a:t>接口</a:t>
            </a:r>
            <a:endParaRPr kumimoji="1" lang="en-US" altLang="zh-CN" dirty="0"/>
          </a:p>
          <a:p>
            <a:pPr lvl="1"/>
            <a:r>
              <a:rPr kumimoji="1" lang="zh-CN" altLang="en-US" dirty="0"/>
              <a:t>适合于软路由场景</a:t>
            </a:r>
            <a:endParaRPr kumimoji="1" lang="en-US" altLang="zh-CN" dirty="0"/>
          </a:p>
          <a:p>
            <a:pPr lvl="1"/>
            <a:endParaRPr kumimoji="1" lang="en-US" altLang="zh-CN" dirty="0"/>
          </a:p>
          <a:p>
            <a:r>
              <a:rPr kumimoji="1" lang="zh-CN" altLang="en-US" dirty="0"/>
              <a:t>如果要用于应用程序，提供</a:t>
            </a:r>
            <a:r>
              <a:rPr kumimoji="1" lang="en-US" altLang="zh-CN" dirty="0"/>
              <a:t>socket</a:t>
            </a:r>
            <a:r>
              <a:rPr kumimoji="1" lang="zh-CN" altLang="en-US" dirty="0"/>
              <a:t>抽象</a:t>
            </a:r>
            <a:endParaRPr kumimoji="1" lang="en-US" altLang="zh-CN" dirty="0"/>
          </a:p>
          <a:p>
            <a:pPr lvl="1"/>
            <a:r>
              <a:rPr kumimoji="1" lang="zh-CN" altLang="en-US" b="1" dirty="0"/>
              <a:t>类微内核方案</a:t>
            </a:r>
            <a:r>
              <a:rPr kumimoji="1" lang="zh-CN" altLang="en-US" dirty="0"/>
              <a:t>：将 </a:t>
            </a:r>
            <a:r>
              <a:rPr kumimoji="1" lang="en-US" altLang="zh-CN" b="1" dirty="0"/>
              <a:t>DPDK+TCP/IP</a:t>
            </a:r>
            <a:r>
              <a:rPr kumimoji="1" lang="zh-CN" altLang="en-US" b="1" dirty="0"/>
              <a:t>协议栈</a:t>
            </a:r>
            <a:r>
              <a:rPr kumimoji="1" lang="zh-CN" altLang="en-US" dirty="0"/>
              <a:t> 作为一个</a:t>
            </a:r>
            <a:r>
              <a:rPr kumimoji="1" lang="en-US" altLang="zh-CN" dirty="0"/>
              <a:t>Server</a:t>
            </a:r>
            <a:r>
              <a:rPr kumimoji="1" lang="zh-CN" altLang="en-US" dirty="0"/>
              <a:t>，为每个应用单独维护 </a:t>
            </a:r>
            <a:r>
              <a:rPr kumimoji="1" lang="en-US" altLang="zh-CN" dirty="0"/>
              <a:t>socket</a:t>
            </a:r>
            <a:r>
              <a:rPr kumimoji="1" lang="zh-CN" altLang="en-US" dirty="0"/>
              <a:t> </a:t>
            </a:r>
            <a:r>
              <a:rPr kumimoji="1" lang="en-US" altLang="zh-CN" dirty="0" err="1"/>
              <a:t>fd</a:t>
            </a:r>
            <a:r>
              <a:rPr kumimoji="1" lang="zh-CN" altLang="en-US" dirty="0"/>
              <a:t> 和进程间的对应关系</a:t>
            </a:r>
            <a:endParaRPr kumimoji="1" lang="en-US" altLang="zh-CN" b="1" dirty="0"/>
          </a:p>
          <a:p>
            <a:pPr lvl="1"/>
            <a:r>
              <a:rPr kumimoji="1" lang="en-US" altLang="zh-CN" b="1" dirty="0" err="1"/>
              <a:t>LibOS</a:t>
            </a:r>
            <a:r>
              <a:rPr kumimoji="1" lang="zh-CN" altLang="en-US" b="1" dirty="0"/>
              <a:t>方案</a:t>
            </a:r>
            <a:r>
              <a:rPr kumimoji="1" lang="zh-CN" altLang="en-US" dirty="0"/>
              <a:t>：需要逐个应用添加协议栈支持</a:t>
            </a:r>
            <a:endParaRPr kumimoji="1" lang="en-US" altLang="zh-CN" dirty="0"/>
          </a:p>
        </p:txBody>
      </p:sp>
      <p:sp>
        <p:nvSpPr>
          <p:cNvPr id="4" name="灯片编号占位符 3">
            <a:extLst>
              <a:ext uri="{FF2B5EF4-FFF2-40B4-BE49-F238E27FC236}">
                <a16:creationId xmlns:a16="http://schemas.microsoft.com/office/drawing/2014/main" id="{DD4FB80B-F831-3843-B6F8-C9977981FF6D}"/>
              </a:ext>
            </a:extLst>
          </p:cNvPr>
          <p:cNvSpPr>
            <a:spLocks noGrp="1"/>
          </p:cNvSpPr>
          <p:nvPr>
            <p:ph type="sldNum" sz="quarter" idx="12"/>
          </p:nvPr>
        </p:nvSpPr>
        <p:spPr/>
        <p:txBody>
          <a:bodyPr/>
          <a:lstStyle/>
          <a:p>
            <a:fld id="{ADE361C3-C043-4A6E-BDCE-8DA1E7D90A3B}" type="slidenum">
              <a:rPr lang="zh-CN" altLang="en-US" smtClean="0"/>
              <a:t>53</a:t>
            </a:fld>
            <a:endParaRPr lang="zh-CN" altLang="en-US"/>
          </a:p>
        </p:txBody>
      </p:sp>
      <p:sp>
        <p:nvSpPr>
          <p:cNvPr id="5" name="页脚占位符 4">
            <a:extLst>
              <a:ext uri="{FF2B5EF4-FFF2-40B4-BE49-F238E27FC236}">
                <a16:creationId xmlns:a16="http://schemas.microsoft.com/office/drawing/2014/main" id="{2085A08D-6BAD-E749-B861-7DF4656D6540}"/>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2641287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矩形 57">
            <a:extLst>
              <a:ext uri="{FF2B5EF4-FFF2-40B4-BE49-F238E27FC236}">
                <a16:creationId xmlns:a16="http://schemas.microsoft.com/office/drawing/2014/main" id="{395F37B3-E454-8247-937B-2211F46CC437}"/>
              </a:ext>
            </a:extLst>
          </p:cNvPr>
          <p:cNvSpPr/>
          <p:nvPr/>
        </p:nvSpPr>
        <p:spPr>
          <a:xfrm>
            <a:off x="2339308" y="1345332"/>
            <a:ext cx="2592732" cy="21602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 name="标题 1">
            <a:extLst>
              <a:ext uri="{FF2B5EF4-FFF2-40B4-BE49-F238E27FC236}">
                <a16:creationId xmlns:a16="http://schemas.microsoft.com/office/drawing/2014/main" id="{B0BCC118-77B5-DE4C-AD1C-A4473A837D2E}"/>
              </a:ext>
            </a:extLst>
          </p:cNvPr>
          <p:cNvSpPr>
            <a:spLocks noGrp="1"/>
          </p:cNvSpPr>
          <p:nvPr>
            <p:ph type="title"/>
          </p:nvPr>
        </p:nvSpPr>
        <p:spPr/>
        <p:txBody>
          <a:bodyPr/>
          <a:lstStyle/>
          <a:p>
            <a:r>
              <a:rPr kumimoji="1" lang="zh-CN" altLang="en-US" dirty="0"/>
              <a:t>类微内核方案</a:t>
            </a:r>
          </a:p>
        </p:txBody>
      </p:sp>
      <p:sp>
        <p:nvSpPr>
          <p:cNvPr id="4" name="灯片编号占位符 3">
            <a:extLst>
              <a:ext uri="{FF2B5EF4-FFF2-40B4-BE49-F238E27FC236}">
                <a16:creationId xmlns:a16="http://schemas.microsoft.com/office/drawing/2014/main" id="{6AF13656-24CC-7142-A30F-9D5580BE4A9F}"/>
              </a:ext>
            </a:extLst>
          </p:cNvPr>
          <p:cNvSpPr>
            <a:spLocks noGrp="1"/>
          </p:cNvSpPr>
          <p:nvPr>
            <p:ph type="sldNum" sz="quarter" idx="12"/>
          </p:nvPr>
        </p:nvSpPr>
        <p:spPr/>
        <p:txBody>
          <a:bodyPr/>
          <a:lstStyle/>
          <a:p>
            <a:fld id="{ADE361C3-C043-4A6E-BDCE-8DA1E7D90A3B}" type="slidenum">
              <a:rPr lang="zh-CN" altLang="en-US" smtClean="0"/>
              <a:t>54</a:t>
            </a:fld>
            <a:endParaRPr lang="zh-CN" altLang="en-US"/>
          </a:p>
        </p:txBody>
      </p:sp>
      <p:sp>
        <p:nvSpPr>
          <p:cNvPr id="5" name="页脚占位符 4">
            <a:extLst>
              <a:ext uri="{FF2B5EF4-FFF2-40B4-BE49-F238E27FC236}">
                <a16:creationId xmlns:a16="http://schemas.microsoft.com/office/drawing/2014/main" id="{0CA8502E-AEB8-3147-B67B-E093B9906AEA}"/>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20" name="矩形 19">
            <a:extLst>
              <a:ext uri="{FF2B5EF4-FFF2-40B4-BE49-F238E27FC236}">
                <a16:creationId xmlns:a16="http://schemas.microsoft.com/office/drawing/2014/main" id="{DEDBAFF7-69C4-1243-8012-8C030B1D7B3C}"/>
              </a:ext>
            </a:extLst>
          </p:cNvPr>
          <p:cNvSpPr/>
          <p:nvPr/>
        </p:nvSpPr>
        <p:spPr>
          <a:xfrm>
            <a:off x="684922" y="1488477"/>
            <a:ext cx="1005403"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b="1" dirty="0">
                <a:solidFill>
                  <a:schemeClr val="tx1"/>
                </a:solidFill>
                <a:latin typeface="DengXian" panose="02010600030101010101" pitchFamily="2" charset="-122"/>
                <a:ea typeface="DengXian" panose="02010600030101010101" pitchFamily="2" charset="-122"/>
              </a:rPr>
              <a:t>Core</a:t>
            </a:r>
            <a:r>
              <a:rPr kumimoji="1" lang="zh-CN" altLang="en-US" b="1" dirty="0">
                <a:solidFill>
                  <a:schemeClr val="tx1"/>
                </a:solidFill>
                <a:latin typeface="DengXian" panose="02010600030101010101" pitchFamily="2" charset="-122"/>
                <a:ea typeface="DengXian" panose="02010600030101010101" pitchFamily="2" charset="-122"/>
              </a:rPr>
              <a:t> </a:t>
            </a:r>
            <a:r>
              <a:rPr kumimoji="1" lang="en-US" altLang="zh-CN" b="1" dirty="0">
                <a:solidFill>
                  <a:schemeClr val="tx1"/>
                </a:solidFill>
                <a:latin typeface="DengXian" panose="02010600030101010101" pitchFamily="2" charset="-122"/>
                <a:ea typeface="DengXian" panose="02010600030101010101" pitchFamily="2" charset="-122"/>
              </a:rPr>
              <a:t>0</a:t>
            </a: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zh-CN" altLang="en-US" b="1" dirty="0">
              <a:solidFill>
                <a:schemeClr val="tx1"/>
              </a:solidFill>
              <a:latin typeface="DengXian" panose="02010600030101010101" pitchFamily="2" charset="-122"/>
              <a:ea typeface="DengXian" panose="02010600030101010101" pitchFamily="2" charset="-122"/>
            </a:endParaRPr>
          </a:p>
        </p:txBody>
      </p:sp>
      <p:sp>
        <p:nvSpPr>
          <p:cNvPr id="21" name="矩形 20">
            <a:extLst>
              <a:ext uri="{FF2B5EF4-FFF2-40B4-BE49-F238E27FC236}">
                <a16:creationId xmlns:a16="http://schemas.microsoft.com/office/drawing/2014/main" id="{DC3ED170-594D-5E4C-8DED-C25F204528ED}"/>
              </a:ext>
            </a:extLst>
          </p:cNvPr>
          <p:cNvSpPr/>
          <p:nvPr/>
        </p:nvSpPr>
        <p:spPr>
          <a:xfrm>
            <a:off x="827584" y="2280565"/>
            <a:ext cx="720080" cy="792088"/>
          </a:xfrm>
          <a:prstGeom prst="rect">
            <a:avLst/>
          </a:prstGeom>
          <a:ln>
            <a:solidFill>
              <a:srgbClr val="0432FF"/>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Linux</a:t>
            </a:r>
          </a:p>
          <a:p>
            <a:pPr algn="ctr"/>
            <a:r>
              <a:rPr kumimoji="1" lang="zh-CN" altLang="en-US" dirty="0">
                <a:solidFill>
                  <a:schemeClr val="tx1"/>
                </a:solidFill>
                <a:latin typeface="DengXian" panose="02010600030101010101" pitchFamily="2" charset="-122"/>
                <a:ea typeface="DengXian" panose="02010600030101010101" pitchFamily="2" charset="-122"/>
              </a:rPr>
              <a:t>内核</a:t>
            </a:r>
          </a:p>
        </p:txBody>
      </p:sp>
      <p:sp>
        <p:nvSpPr>
          <p:cNvPr id="22" name="矩形 21">
            <a:extLst>
              <a:ext uri="{FF2B5EF4-FFF2-40B4-BE49-F238E27FC236}">
                <a16:creationId xmlns:a16="http://schemas.microsoft.com/office/drawing/2014/main" id="{315B0E07-E5D4-0446-AA58-56276B47BA42}"/>
              </a:ext>
            </a:extLst>
          </p:cNvPr>
          <p:cNvSpPr/>
          <p:nvPr/>
        </p:nvSpPr>
        <p:spPr>
          <a:xfrm>
            <a:off x="2507102" y="1489348"/>
            <a:ext cx="864097"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b="1" dirty="0">
                <a:solidFill>
                  <a:schemeClr val="tx1"/>
                </a:solidFill>
                <a:latin typeface="DengXian" panose="02010600030101010101" pitchFamily="2" charset="-122"/>
                <a:ea typeface="DengXian" panose="02010600030101010101" pitchFamily="2" charset="-122"/>
              </a:rPr>
              <a:t>Core</a:t>
            </a:r>
            <a:r>
              <a:rPr kumimoji="1" lang="zh-CN" altLang="en-US" b="1" dirty="0">
                <a:solidFill>
                  <a:schemeClr val="tx1"/>
                </a:solidFill>
                <a:latin typeface="DengXian" panose="02010600030101010101" pitchFamily="2" charset="-122"/>
                <a:ea typeface="DengXian" panose="02010600030101010101" pitchFamily="2" charset="-122"/>
              </a:rPr>
              <a:t> </a:t>
            </a:r>
            <a:r>
              <a:rPr kumimoji="1" lang="en-US" altLang="zh-CN" b="1" dirty="0">
                <a:solidFill>
                  <a:schemeClr val="tx1"/>
                </a:solidFill>
                <a:latin typeface="DengXian" panose="02010600030101010101" pitchFamily="2" charset="-122"/>
                <a:ea typeface="DengXian" panose="02010600030101010101" pitchFamily="2" charset="-122"/>
              </a:rPr>
              <a:t>1</a:t>
            </a: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zh-CN" altLang="en-US" b="1" dirty="0">
              <a:solidFill>
                <a:schemeClr val="tx1"/>
              </a:solidFill>
              <a:latin typeface="DengXian" panose="02010600030101010101" pitchFamily="2" charset="-122"/>
              <a:ea typeface="DengXian" panose="02010600030101010101" pitchFamily="2" charset="-122"/>
            </a:endParaRPr>
          </a:p>
        </p:txBody>
      </p:sp>
      <p:sp>
        <p:nvSpPr>
          <p:cNvPr id="23" name="矩形 22">
            <a:extLst>
              <a:ext uri="{FF2B5EF4-FFF2-40B4-BE49-F238E27FC236}">
                <a16:creationId xmlns:a16="http://schemas.microsoft.com/office/drawing/2014/main" id="{791FACDD-2E3C-AB43-9992-D51DD50A7C1F}"/>
              </a:ext>
            </a:extLst>
          </p:cNvPr>
          <p:cNvSpPr/>
          <p:nvPr/>
        </p:nvSpPr>
        <p:spPr>
          <a:xfrm>
            <a:off x="2579110" y="2281436"/>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DPDK</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24" name="矩形 23">
            <a:extLst>
              <a:ext uri="{FF2B5EF4-FFF2-40B4-BE49-F238E27FC236}">
                <a16:creationId xmlns:a16="http://schemas.microsoft.com/office/drawing/2014/main" id="{D95C4587-8F03-A34B-9A12-F6C1E0236BBD}"/>
              </a:ext>
            </a:extLst>
          </p:cNvPr>
          <p:cNvSpPr/>
          <p:nvPr/>
        </p:nvSpPr>
        <p:spPr>
          <a:xfrm>
            <a:off x="2579110" y="2713484"/>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PMD</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25" name="矩形 24">
            <a:extLst>
              <a:ext uri="{FF2B5EF4-FFF2-40B4-BE49-F238E27FC236}">
                <a16:creationId xmlns:a16="http://schemas.microsoft.com/office/drawing/2014/main" id="{1F3DFDA9-8957-3B4D-8E54-A94CB2A780C2}"/>
              </a:ext>
            </a:extLst>
          </p:cNvPr>
          <p:cNvSpPr/>
          <p:nvPr/>
        </p:nvSpPr>
        <p:spPr>
          <a:xfrm>
            <a:off x="3870964" y="1489348"/>
            <a:ext cx="864097"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b="1" dirty="0">
                <a:solidFill>
                  <a:schemeClr val="tx1"/>
                </a:solidFill>
                <a:latin typeface="DengXian" panose="02010600030101010101" pitchFamily="2" charset="-122"/>
                <a:ea typeface="DengXian" panose="02010600030101010101" pitchFamily="2" charset="-122"/>
              </a:rPr>
              <a:t>Core</a:t>
            </a:r>
            <a:r>
              <a:rPr kumimoji="1" lang="zh-CN" altLang="en-US" b="1" dirty="0">
                <a:solidFill>
                  <a:schemeClr val="tx1"/>
                </a:solidFill>
                <a:latin typeface="DengXian" panose="02010600030101010101" pitchFamily="2" charset="-122"/>
                <a:ea typeface="DengXian" panose="02010600030101010101" pitchFamily="2" charset="-122"/>
              </a:rPr>
              <a:t> </a:t>
            </a:r>
            <a:r>
              <a:rPr kumimoji="1" lang="en-US" altLang="zh-CN" b="1" dirty="0">
                <a:solidFill>
                  <a:schemeClr val="tx1"/>
                </a:solidFill>
                <a:latin typeface="DengXian" panose="02010600030101010101" pitchFamily="2" charset="-122"/>
                <a:ea typeface="DengXian" panose="02010600030101010101" pitchFamily="2" charset="-122"/>
              </a:rPr>
              <a:t>2</a:t>
            </a: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zh-CN" altLang="en-US" b="1" dirty="0">
              <a:solidFill>
                <a:schemeClr val="tx1"/>
              </a:solidFill>
              <a:latin typeface="DengXian" panose="02010600030101010101" pitchFamily="2" charset="-122"/>
              <a:ea typeface="DengXian" panose="02010600030101010101" pitchFamily="2" charset="-122"/>
            </a:endParaRPr>
          </a:p>
        </p:txBody>
      </p:sp>
      <p:sp>
        <p:nvSpPr>
          <p:cNvPr id="26" name="矩形 25">
            <a:extLst>
              <a:ext uri="{FF2B5EF4-FFF2-40B4-BE49-F238E27FC236}">
                <a16:creationId xmlns:a16="http://schemas.microsoft.com/office/drawing/2014/main" id="{F1680B98-E063-5D46-B3AE-9A0A9827E100}"/>
              </a:ext>
            </a:extLst>
          </p:cNvPr>
          <p:cNvSpPr/>
          <p:nvPr/>
        </p:nvSpPr>
        <p:spPr>
          <a:xfrm>
            <a:off x="3942972" y="2281436"/>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TCP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27" name="矩形 26">
            <a:extLst>
              <a:ext uri="{FF2B5EF4-FFF2-40B4-BE49-F238E27FC236}">
                <a16:creationId xmlns:a16="http://schemas.microsoft.com/office/drawing/2014/main" id="{2E1E41F6-4AF9-884C-9CEE-06236D2F0432}"/>
              </a:ext>
            </a:extLst>
          </p:cNvPr>
          <p:cNvSpPr/>
          <p:nvPr/>
        </p:nvSpPr>
        <p:spPr>
          <a:xfrm>
            <a:off x="3942972" y="2713484"/>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IP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54" name="矩形 53">
            <a:extLst>
              <a:ext uri="{FF2B5EF4-FFF2-40B4-BE49-F238E27FC236}">
                <a16:creationId xmlns:a16="http://schemas.microsoft.com/office/drawing/2014/main" id="{498CB0F3-B3D4-524A-8939-D15D6F0E07EC}"/>
              </a:ext>
            </a:extLst>
          </p:cNvPr>
          <p:cNvSpPr/>
          <p:nvPr/>
        </p:nvSpPr>
        <p:spPr>
          <a:xfrm>
            <a:off x="5940152" y="1488477"/>
            <a:ext cx="1080120"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b="1" dirty="0">
                <a:solidFill>
                  <a:schemeClr val="tx1"/>
                </a:solidFill>
                <a:latin typeface="DengXian" panose="02010600030101010101" pitchFamily="2" charset="-122"/>
                <a:ea typeface="DengXian" panose="02010600030101010101" pitchFamily="2" charset="-122"/>
              </a:rPr>
              <a:t>Core</a:t>
            </a:r>
            <a:r>
              <a:rPr kumimoji="1" lang="zh-CN" altLang="en-US" b="1" dirty="0">
                <a:solidFill>
                  <a:schemeClr val="tx1"/>
                </a:solidFill>
                <a:latin typeface="DengXian" panose="02010600030101010101" pitchFamily="2" charset="-122"/>
                <a:ea typeface="DengXian" panose="02010600030101010101" pitchFamily="2" charset="-122"/>
              </a:rPr>
              <a:t> </a:t>
            </a:r>
            <a:r>
              <a:rPr kumimoji="1" lang="en-US" altLang="zh-CN" b="1" dirty="0">
                <a:solidFill>
                  <a:schemeClr val="tx1"/>
                </a:solidFill>
                <a:latin typeface="DengXian" panose="02010600030101010101" pitchFamily="2" charset="-122"/>
                <a:ea typeface="DengXian" panose="02010600030101010101" pitchFamily="2" charset="-122"/>
              </a:rPr>
              <a:t>3</a:t>
            </a: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zh-CN" altLang="en-US" b="1" dirty="0">
              <a:solidFill>
                <a:schemeClr val="tx1"/>
              </a:solidFill>
              <a:latin typeface="DengXian" panose="02010600030101010101" pitchFamily="2" charset="-122"/>
              <a:ea typeface="DengXian" panose="02010600030101010101" pitchFamily="2" charset="-122"/>
            </a:endParaRPr>
          </a:p>
        </p:txBody>
      </p:sp>
      <p:sp>
        <p:nvSpPr>
          <p:cNvPr id="55" name="矩形 54">
            <a:extLst>
              <a:ext uri="{FF2B5EF4-FFF2-40B4-BE49-F238E27FC236}">
                <a16:creationId xmlns:a16="http://schemas.microsoft.com/office/drawing/2014/main" id="{7CB6D871-A9EA-0F4D-861D-9352F2EBE88A}"/>
              </a:ext>
            </a:extLst>
          </p:cNvPr>
          <p:cNvSpPr/>
          <p:nvPr/>
        </p:nvSpPr>
        <p:spPr>
          <a:xfrm>
            <a:off x="6066060" y="2387706"/>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App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56" name="矩形 55">
            <a:extLst>
              <a:ext uri="{FF2B5EF4-FFF2-40B4-BE49-F238E27FC236}">
                <a16:creationId xmlns:a16="http://schemas.microsoft.com/office/drawing/2014/main" id="{5389522F-6BD2-6842-BB1A-9409CC67EF44}"/>
              </a:ext>
            </a:extLst>
          </p:cNvPr>
          <p:cNvSpPr/>
          <p:nvPr/>
        </p:nvSpPr>
        <p:spPr>
          <a:xfrm>
            <a:off x="6129486" y="2485065"/>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App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57" name="矩形 56">
            <a:extLst>
              <a:ext uri="{FF2B5EF4-FFF2-40B4-BE49-F238E27FC236}">
                <a16:creationId xmlns:a16="http://schemas.microsoft.com/office/drawing/2014/main" id="{710D11A6-A61F-4E49-A481-2CEB905DF675}"/>
              </a:ext>
            </a:extLst>
          </p:cNvPr>
          <p:cNvSpPr/>
          <p:nvPr/>
        </p:nvSpPr>
        <p:spPr>
          <a:xfrm>
            <a:off x="6212194" y="2567726"/>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App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59" name="矩形 58">
            <a:extLst>
              <a:ext uri="{FF2B5EF4-FFF2-40B4-BE49-F238E27FC236}">
                <a16:creationId xmlns:a16="http://schemas.microsoft.com/office/drawing/2014/main" id="{60597936-536C-3E41-B661-60633A4EE1A4}"/>
              </a:ext>
            </a:extLst>
          </p:cNvPr>
          <p:cNvSpPr/>
          <p:nvPr/>
        </p:nvSpPr>
        <p:spPr>
          <a:xfrm>
            <a:off x="7271681" y="1488477"/>
            <a:ext cx="1062843" cy="18002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b="1" dirty="0">
                <a:solidFill>
                  <a:schemeClr val="tx1"/>
                </a:solidFill>
                <a:latin typeface="DengXian" panose="02010600030101010101" pitchFamily="2" charset="-122"/>
                <a:ea typeface="DengXian" panose="02010600030101010101" pitchFamily="2" charset="-122"/>
              </a:rPr>
              <a:t>Core</a:t>
            </a:r>
            <a:r>
              <a:rPr kumimoji="1" lang="zh-CN" altLang="en-US" b="1" dirty="0">
                <a:solidFill>
                  <a:schemeClr val="tx1"/>
                </a:solidFill>
                <a:latin typeface="DengXian" panose="02010600030101010101" pitchFamily="2" charset="-122"/>
                <a:ea typeface="DengXian" panose="02010600030101010101" pitchFamily="2" charset="-122"/>
              </a:rPr>
              <a:t> </a:t>
            </a:r>
            <a:r>
              <a:rPr kumimoji="1" lang="en-US" altLang="zh-CN" b="1" dirty="0">
                <a:solidFill>
                  <a:schemeClr val="tx1"/>
                </a:solidFill>
                <a:latin typeface="DengXian" panose="02010600030101010101" pitchFamily="2" charset="-122"/>
                <a:ea typeface="DengXian" panose="02010600030101010101" pitchFamily="2" charset="-122"/>
              </a:rPr>
              <a:t>4</a:t>
            </a: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en-US" altLang="zh-CN" b="1" dirty="0">
              <a:solidFill>
                <a:schemeClr val="tx1"/>
              </a:solidFill>
              <a:latin typeface="DengXian" panose="02010600030101010101" pitchFamily="2" charset="-122"/>
              <a:ea typeface="DengXian" panose="02010600030101010101" pitchFamily="2" charset="-122"/>
            </a:endParaRPr>
          </a:p>
          <a:p>
            <a:pPr algn="ctr"/>
            <a:endParaRPr kumimoji="1" lang="zh-CN" altLang="en-US" b="1" dirty="0">
              <a:solidFill>
                <a:schemeClr val="tx1"/>
              </a:solidFill>
              <a:latin typeface="DengXian" panose="02010600030101010101" pitchFamily="2" charset="-122"/>
              <a:ea typeface="DengXian" panose="02010600030101010101" pitchFamily="2" charset="-122"/>
            </a:endParaRPr>
          </a:p>
        </p:txBody>
      </p:sp>
      <p:sp>
        <p:nvSpPr>
          <p:cNvPr id="60" name="矩形 59">
            <a:extLst>
              <a:ext uri="{FF2B5EF4-FFF2-40B4-BE49-F238E27FC236}">
                <a16:creationId xmlns:a16="http://schemas.microsoft.com/office/drawing/2014/main" id="{BD635A72-4A64-CE4F-99C3-A92A6139F3A9}"/>
              </a:ext>
            </a:extLst>
          </p:cNvPr>
          <p:cNvSpPr/>
          <p:nvPr/>
        </p:nvSpPr>
        <p:spPr>
          <a:xfrm>
            <a:off x="7380312" y="2387706"/>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App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61" name="矩形 60">
            <a:extLst>
              <a:ext uri="{FF2B5EF4-FFF2-40B4-BE49-F238E27FC236}">
                <a16:creationId xmlns:a16="http://schemas.microsoft.com/office/drawing/2014/main" id="{78B77083-FA1F-3A41-8E94-FA25E7D24677}"/>
              </a:ext>
            </a:extLst>
          </p:cNvPr>
          <p:cNvSpPr/>
          <p:nvPr/>
        </p:nvSpPr>
        <p:spPr>
          <a:xfrm>
            <a:off x="7443738" y="2485065"/>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App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62" name="矩形 61">
            <a:extLst>
              <a:ext uri="{FF2B5EF4-FFF2-40B4-BE49-F238E27FC236}">
                <a16:creationId xmlns:a16="http://schemas.microsoft.com/office/drawing/2014/main" id="{681F6258-7DD1-0946-8EAA-380F0A343F8C}"/>
              </a:ext>
            </a:extLst>
          </p:cNvPr>
          <p:cNvSpPr/>
          <p:nvPr/>
        </p:nvSpPr>
        <p:spPr>
          <a:xfrm>
            <a:off x="7526446" y="2567726"/>
            <a:ext cx="720080" cy="432048"/>
          </a:xfrm>
          <a:prstGeom prst="rect">
            <a:avLst/>
          </a:prstGeom>
          <a:ln>
            <a:solidFill>
              <a:srgbClr val="FF2F92"/>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600" dirty="0">
                <a:solidFill>
                  <a:schemeClr val="tx1"/>
                </a:solidFill>
                <a:latin typeface="DengXian" panose="02010600030101010101" pitchFamily="2" charset="-122"/>
                <a:ea typeface="DengXian" panose="02010600030101010101" pitchFamily="2" charset="-122"/>
              </a:rPr>
              <a:t>App</a:t>
            </a:r>
            <a:endParaRPr kumimoji="1" lang="zh-CN" altLang="en-US" sz="1600" dirty="0">
              <a:solidFill>
                <a:schemeClr val="tx1"/>
              </a:solidFill>
              <a:latin typeface="DengXian" panose="02010600030101010101" pitchFamily="2" charset="-122"/>
              <a:ea typeface="DengXian" panose="02010600030101010101" pitchFamily="2" charset="-122"/>
            </a:endParaRPr>
          </a:p>
        </p:txBody>
      </p:sp>
      <p:sp>
        <p:nvSpPr>
          <p:cNvPr id="67" name="文本框 66">
            <a:extLst>
              <a:ext uri="{FF2B5EF4-FFF2-40B4-BE49-F238E27FC236}">
                <a16:creationId xmlns:a16="http://schemas.microsoft.com/office/drawing/2014/main" id="{C9218062-DEF1-734C-AEAA-CC7B72BE7B20}"/>
              </a:ext>
            </a:extLst>
          </p:cNvPr>
          <p:cNvSpPr txBox="1"/>
          <p:nvPr/>
        </p:nvSpPr>
        <p:spPr>
          <a:xfrm>
            <a:off x="684922" y="3981754"/>
            <a:ext cx="1005403" cy="338554"/>
          </a:xfrm>
          <a:prstGeom prst="rect">
            <a:avLst/>
          </a:prstGeom>
          <a:noFill/>
        </p:spPr>
        <p:txBody>
          <a:bodyPr wrap="none" rtlCol="0">
            <a:spAutoFit/>
          </a:bodyPr>
          <a:lstStyle/>
          <a:p>
            <a:r>
              <a:rPr lang="zh-CN" altLang="en-US" sz="1600" b="1" dirty="0">
                <a:solidFill>
                  <a:srgbClr val="0432FF"/>
                </a:solidFill>
                <a:latin typeface="Courier New" panose="02070309020205020404" pitchFamily="49" charset="0"/>
                <a:cs typeface="Courier New" panose="02070309020205020404" pitchFamily="49" charset="0"/>
              </a:rPr>
              <a:t>控制平面</a:t>
            </a:r>
            <a:endParaRPr kumimoji="1" lang="en-US" altLang="zh-CN" sz="1600" b="1" dirty="0">
              <a:solidFill>
                <a:srgbClr val="0432FF"/>
              </a:solidFill>
              <a:latin typeface="DengXian" panose="02010600030101010101" pitchFamily="2" charset="-122"/>
              <a:ea typeface="DengXian" panose="02010600030101010101" pitchFamily="2" charset="-122"/>
            </a:endParaRPr>
          </a:p>
        </p:txBody>
      </p:sp>
      <p:cxnSp>
        <p:nvCxnSpPr>
          <p:cNvPr id="70" name="直线连接符 69">
            <a:extLst>
              <a:ext uri="{FF2B5EF4-FFF2-40B4-BE49-F238E27FC236}">
                <a16:creationId xmlns:a16="http://schemas.microsoft.com/office/drawing/2014/main" id="{0446801E-3899-1149-A46A-D67D584E4B3B}"/>
              </a:ext>
            </a:extLst>
          </p:cNvPr>
          <p:cNvCxnSpPr/>
          <p:nvPr/>
        </p:nvCxnSpPr>
        <p:spPr>
          <a:xfrm>
            <a:off x="2411760" y="4186467"/>
            <a:ext cx="5922764" cy="0"/>
          </a:xfrm>
          <a:prstGeom prst="line">
            <a:avLst/>
          </a:prstGeom>
          <a:ln w="28575"/>
        </p:spPr>
        <p:style>
          <a:lnRef idx="1">
            <a:schemeClr val="dk1"/>
          </a:lnRef>
          <a:fillRef idx="0">
            <a:schemeClr val="dk1"/>
          </a:fillRef>
          <a:effectRef idx="0">
            <a:schemeClr val="dk1"/>
          </a:effectRef>
          <a:fontRef idx="minor">
            <a:schemeClr val="tx1"/>
          </a:fontRef>
        </p:style>
      </p:cxnSp>
      <p:sp>
        <p:nvSpPr>
          <p:cNvPr id="68" name="文本框 67">
            <a:extLst>
              <a:ext uri="{FF2B5EF4-FFF2-40B4-BE49-F238E27FC236}">
                <a16:creationId xmlns:a16="http://schemas.microsoft.com/office/drawing/2014/main" id="{7AC8A53F-664B-A345-A741-5084BA2D3E35}"/>
              </a:ext>
            </a:extLst>
          </p:cNvPr>
          <p:cNvSpPr txBox="1"/>
          <p:nvPr/>
        </p:nvSpPr>
        <p:spPr>
          <a:xfrm>
            <a:off x="4870440" y="4030243"/>
            <a:ext cx="1005403" cy="338554"/>
          </a:xfrm>
          <a:prstGeom prst="rect">
            <a:avLst/>
          </a:prstGeom>
          <a:solidFill>
            <a:schemeClr val="bg1"/>
          </a:solidFill>
        </p:spPr>
        <p:txBody>
          <a:bodyPr wrap="none" rtlCol="0">
            <a:spAutoFit/>
          </a:bodyPr>
          <a:lstStyle/>
          <a:p>
            <a:r>
              <a:rPr lang="zh-CN" altLang="en-US" sz="1600" b="1" dirty="0">
                <a:solidFill>
                  <a:srgbClr val="FF2F92"/>
                </a:solidFill>
                <a:latin typeface="Courier New" panose="02070309020205020404" pitchFamily="49" charset="0"/>
                <a:cs typeface="Courier New" panose="02070309020205020404" pitchFamily="49" charset="0"/>
              </a:rPr>
              <a:t>数据平面</a:t>
            </a:r>
            <a:endParaRPr kumimoji="1" lang="en-US" altLang="zh-CN" sz="1600" b="1" dirty="0">
              <a:solidFill>
                <a:srgbClr val="FF2F92"/>
              </a:solidFill>
              <a:latin typeface="DengXian" panose="02010600030101010101" pitchFamily="2" charset="-122"/>
              <a:ea typeface="DengXian" panose="02010600030101010101" pitchFamily="2" charset="-122"/>
            </a:endParaRPr>
          </a:p>
        </p:txBody>
      </p:sp>
      <p:sp>
        <p:nvSpPr>
          <p:cNvPr id="71" name="文本框 70">
            <a:extLst>
              <a:ext uri="{FF2B5EF4-FFF2-40B4-BE49-F238E27FC236}">
                <a16:creationId xmlns:a16="http://schemas.microsoft.com/office/drawing/2014/main" id="{087966EA-B7BE-114F-98F8-D172ED43E506}"/>
              </a:ext>
            </a:extLst>
          </p:cNvPr>
          <p:cNvSpPr txBox="1"/>
          <p:nvPr/>
        </p:nvSpPr>
        <p:spPr>
          <a:xfrm>
            <a:off x="3132972" y="3611274"/>
            <a:ext cx="925253"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Server</a:t>
            </a:r>
            <a:endParaRPr kumimoji="1" lang="en-US" altLang="zh-CN" sz="1600" b="1" dirty="0">
              <a:latin typeface="DengXian" panose="02010600030101010101" pitchFamily="2" charset="-122"/>
              <a:ea typeface="DengXian" panose="02010600030101010101" pitchFamily="2" charset="-122"/>
            </a:endParaRPr>
          </a:p>
        </p:txBody>
      </p:sp>
      <p:sp>
        <p:nvSpPr>
          <p:cNvPr id="72" name="文本框 71">
            <a:extLst>
              <a:ext uri="{FF2B5EF4-FFF2-40B4-BE49-F238E27FC236}">
                <a16:creationId xmlns:a16="http://schemas.microsoft.com/office/drawing/2014/main" id="{40BC35A8-5FA1-3342-8FEA-478939CAF5AE}"/>
              </a:ext>
            </a:extLst>
          </p:cNvPr>
          <p:cNvSpPr txBox="1"/>
          <p:nvPr/>
        </p:nvSpPr>
        <p:spPr>
          <a:xfrm>
            <a:off x="6645357" y="3594079"/>
            <a:ext cx="1048685" cy="338554"/>
          </a:xfrm>
          <a:prstGeom prst="rect">
            <a:avLst/>
          </a:prstGeom>
          <a:noFill/>
        </p:spPr>
        <p:txBody>
          <a:bodyPr wrap="none" rtlCol="0">
            <a:spAutoFit/>
          </a:bodyPr>
          <a:lstStyle/>
          <a:p>
            <a:r>
              <a:rPr lang="en-US" altLang="zh-CN" sz="1600" b="1" dirty="0">
                <a:latin typeface="Courier New" panose="02070309020205020404" pitchFamily="49" charset="0"/>
                <a:cs typeface="Courier New" panose="02070309020205020404" pitchFamily="49" charset="0"/>
              </a:rPr>
              <a:t>Clients</a:t>
            </a:r>
            <a:endParaRPr kumimoji="1" lang="en-US" altLang="zh-CN" sz="1600" b="1" dirty="0">
              <a:latin typeface="DengXian" panose="02010600030101010101" pitchFamily="2" charset="-122"/>
              <a:ea typeface="DengXian" panose="02010600030101010101" pitchFamily="2" charset="-122"/>
            </a:endParaRPr>
          </a:p>
        </p:txBody>
      </p:sp>
      <p:sp>
        <p:nvSpPr>
          <p:cNvPr id="73" name="矩形 72">
            <a:extLst>
              <a:ext uri="{FF2B5EF4-FFF2-40B4-BE49-F238E27FC236}">
                <a16:creationId xmlns:a16="http://schemas.microsoft.com/office/drawing/2014/main" id="{2B8A1188-ADFB-D841-AE97-150F001B19EF}"/>
              </a:ext>
            </a:extLst>
          </p:cNvPr>
          <p:cNvSpPr/>
          <p:nvPr/>
        </p:nvSpPr>
        <p:spPr>
          <a:xfrm>
            <a:off x="2507101" y="4513683"/>
            <a:ext cx="864097" cy="43204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b="1" dirty="0">
                <a:solidFill>
                  <a:schemeClr val="tx1"/>
                </a:solidFill>
                <a:latin typeface="DengXian" panose="02010600030101010101" pitchFamily="2" charset="-122"/>
                <a:ea typeface="DengXian" panose="02010600030101010101" pitchFamily="2" charset="-122"/>
              </a:rPr>
              <a:t>网卡</a:t>
            </a:r>
          </a:p>
        </p:txBody>
      </p:sp>
      <p:cxnSp>
        <p:nvCxnSpPr>
          <p:cNvPr id="75" name="直线箭头连接符 74">
            <a:extLst>
              <a:ext uri="{FF2B5EF4-FFF2-40B4-BE49-F238E27FC236}">
                <a16:creationId xmlns:a16="http://schemas.microsoft.com/office/drawing/2014/main" id="{2CA5C662-6602-E244-A9F7-A89CAFDE2175}"/>
              </a:ext>
            </a:extLst>
          </p:cNvPr>
          <p:cNvCxnSpPr>
            <a:cxnSpLocks/>
            <a:stCxn id="73" idx="0"/>
            <a:endCxn id="24" idx="2"/>
          </p:cNvCxnSpPr>
          <p:nvPr/>
        </p:nvCxnSpPr>
        <p:spPr>
          <a:xfrm flipV="1">
            <a:off x="2939150" y="3145532"/>
            <a:ext cx="0" cy="1368151"/>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77" name="曲线连接符 76">
            <a:extLst>
              <a:ext uri="{FF2B5EF4-FFF2-40B4-BE49-F238E27FC236}">
                <a16:creationId xmlns:a16="http://schemas.microsoft.com/office/drawing/2014/main" id="{B48DA66B-169B-0341-8587-8AACB37CBB55}"/>
              </a:ext>
            </a:extLst>
          </p:cNvPr>
          <p:cNvCxnSpPr>
            <a:stCxn id="23" idx="3"/>
            <a:endCxn id="27" idx="1"/>
          </p:cNvCxnSpPr>
          <p:nvPr/>
        </p:nvCxnSpPr>
        <p:spPr>
          <a:xfrm>
            <a:off x="3299190" y="2497460"/>
            <a:ext cx="643782" cy="432048"/>
          </a:xfrm>
          <a:prstGeom prst="curvedConnector3">
            <a:avLst/>
          </a:prstGeom>
          <a:ln w="19050">
            <a:solidFill>
              <a:srgbClr val="FF2F92"/>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79" name="曲线连接符 78">
            <a:extLst>
              <a:ext uri="{FF2B5EF4-FFF2-40B4-BE49-F238E27FC236}">
                <a16:creationId xmlns:a16="http://schemas.microsoft.com/office/drawing/2014/main" id="{C9F7866F-2EBC-9E48-870E-5E77F8DCA797}"/>
              </a:ext>
            </a:extLst>
          </p:cNvPr>
          <p:cNvCxnSpPr>
            <a:cxnSpLocks/>
            <a:stCxn id="26" idx="3"/>
            <a:endCxn id="55" idx="0"/>
          </p:cNvCxnSpPr>
          <p:nvPr/>
        </p:nvCxnSpPr>
        <p:spPr>
          <a:xfrm flipV="1">
            <a:off x="4663052" y="2387706"/>
            <a:ext cx="1763048" cy="109754"/>
          </a:xfrm>
          <a:prstGeom prst="curvedConnector4">
            <a:avLst>
              <a:gd name="adj1" fmla="val 17507"/>
              <a:gd name="adj2" fmla="val 405110"/>
            </a:avLst>
          </a:prstGeom>
          <a:ln w="19050">
            <a:solidFill>
              <a:srgbClr val="FF2F9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曲线连接符 80">
            <a:extLst>
              <a:ext uri="{FF2B5EF4-FFF2-40B4-BE49-F238E27FC236}">
                <a16:creationId xmlns:a16="http://schemas.microsoft.com/office/drawing/2014/main" id="{1E4E6200-4A18-3C46-AA2A-609F909B6EE9}"/>
              </a:ext>
            </a:extLst>
          </p:cNvPr>
          <p:cNvCxnSpPr>
            <a:cxnSpLocks/>
            <a:stCxn id="26" idx="3"/>
            <a:endCxn id="62" idx="2"/>
          </p:cNvCxnSpPr>
          <p:nvPr/>
        </p:nvCxnSpPr>
        <p:spPr>
          <a:xfrm>
            <a:off x="4663052" y="2497460"/>
            <a:ext cx="3223434" cy="502314"/>
          </a:xfrm>
          <a:prstGeom prst="curvedConnector4">
            <a:avLst>
              <a:gd name="adj1" fmla="val 8115"/>
              <a:gd name="adj2" fmla="val 145509"/>
            </a:avLst>
          </a:prstGeom>
          <a:ln w="19050">
            <a:solidFill>
              <a:srgbClr val="FF2F9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9" name="文本框 88">
            <a:extLst>
              <a:ext uri="{FF2B5EF4-FFF2-40B4-BE49-F238E27FC236}">
                <a16:creationId xmlns:a16="http://schemas.microsoft.com/office/drawing/2014/main" id="{D4F14FBD-0619-9842-9469-F7C73D387181}"/>
              </a:ext>
            </a:extLst>
          </p:cNvPr>
          <p:cNvSpPr txBox="1"/>
          <p:nvPr/>
        </p:nvSpPr>
        <p:spPr>
          <a:xfrm>
            <a:off x="4859670" y="2308740"/>
            <a:ext cx="925253" cy="338554"/>
          </a:xfrm>
          <a:prstGeom prst="rect">
            <a:avLst/>
          </a:prstGeom>
          <a:noFill/>
          <a:ln>
            <a:noFill/>
          </a:ln>
        </p:spPr>
        <p:txBody>
          <a:bodyPr wrap="none" rtlCol="0">
            <a:spAutoFit/>
          </a:bodyPr>
          <a:lstStyle/>
          <a:p>
            <a:r>
              <a:rPr lang="en-US" altLang="zh-CN" sz="1600" b="1" dirty="0">
                <a:solidFill>
                  <a:srgbClr val="FF0000"/>
                </a:solidFill>
                <a:latin typeface="Courier New" panose="02070309020205020404" pitchFamily="49" charset="0"/>
                <a:cs typeface="Courier New" panose="02070309020205020404" pitchFamily="49" charset="0"/>
              </a:rPr>
              <a:t>socket</a:t>
            </a:r>
            <a:endParaRPr kumimoji="1" lang="en-US" altLang="zh-CN" sz="1600" b="1" dirty="0">
              <a:solidFill>
                <a:srgbClr val="FF0000"/>
              </a:solidFill>
              <a:latin typeface="DengXian" panose="02010600030101010101" pitchFamily="2" charset="-122"/>
              <a:ea typeface="DengXian" panose="02010600030101010101" pitchFamily="2" charset="-122"/>
            </a:endParaRPr>
          </a:p>
        </p:txBody>
      </p:sp>
      <p:cxnSp>
        <p:nvCxnSpPr>
          <p:cNvPr id="91" name="直线连接符 90">
            <a:extLst>
              <a:ext uri="{FF2B5EF4-FFF2-40B4-BE49-F238E27FC236}">
                <a16:creationId xmlns:a16="http://schemas.microsoft.com/office/drawing/2014/main" id="{FF9240AF-0F3F-1E47-8567-F1A7779ABA7A}"/>
              </a:ext>
            </a:extLst>
          </p:cNvPr>
          <p:cNvCxnSpPr>
            <a:cxnSpLocks/>
          </p:cNvCxnSpPr>
          <p:nvPr/>
        </p:nvCxnSpPr>
        <p:spPr>
          <a:xfrm flipV="1">
            <a:off x="1979712" y="1343591"/>
            <a:ext cx="0" cy="2267683"/>
          </a:xfrm>
          <a:prstGeom prst="line">
            <a:avLst/>
          </a:prstGeom>
          <a:ln w="28575">
            <a:solidFill>
              <a:schemeClr val="tx1"/>
            </a:solidFill>
            <a:prstDash val="lgDash"/>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621529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42610E-3D3F-0B45-AF1E-8BE588858111}"/>
              </a:ext>
            </a:extLst>
          </p:cNvPr>
          <p:cNvSpPr>
            <a:spLocks noGrp="1"/>
          </p:cNvSpPr>
          <p:nvPr>
            <p:ph type="title"/>
          </p:nvPr>
        </p:nvSpPr>
        <p:spPr/>
        <p:txBody>
          <a:bodyPr/>
          <a:lstStyle/>
          <a:p>
            <a:r>
              <a:rPr kumimoji="1" lang="en-US" altLang="zh-CN" dirty="0" err="1"/>
              <a:t>LibOS</a:t>
            </a:r>
            <a:r>
              <a:rPr kumimoji="1" lang="zh-CN" altLang="en-US" dirty="0"/>
              <a:t>方案</a:t>
            </a:r>
          </a:p>
        </p:txBody>
      </p:sp>
      <p:pic>
        <p:nvPicPr>
          <p:cNvPr id="7" name="内容占位符 6">
            <a:extLst>
              <a:ext uri="{FF2B5EF4-FFF2-40B4-BE49-F238E27FC236}">
                <a16:creationId xmlns:a16="http://schemas.microsoft.com/office/drawing/2014/main" id="{33B7849A-27D6-EE40-BA56-9DFD58E8C3BC}"/>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1256213" y="1173832"/>
            <a:ext cx="6631574" cy="3771900"/>
          </a:xfrm>
        </p:spPr>
      </p:pic>
      <p:sp>
        <p:nvSpPr>
          <p:cNvPr id="4" name="灯片编号占位符 3">
            <a:extLst>
              <a:ext uri="{FF2B5EF4-FFF2-40B4-BE49-F238E27FC236}">
                <a16:creationId xmlns:a16="http://schemas.microsoft.com/office/drawing/2014/main" id="{3F104284-B2A3-1046-B1A9-E42E5C0BA280}"/>
              </a:ext>
            </a:extLst>
          </p:cNvPr>
          <p:cNvSpPr>
            <a:spLocks noGrp="1"/>
          </p:cNvSpPr>
          <p:nvPr>
            <p:ph type="sldNum" sz="quarter" idx="12"/>
          </p:nvPr>
        </p:nvSpPr>
        <p:spPr/>
        <p:txBody>
          <a:bodyPr/>
          <a:lstStyle/>
          <a:p>
            <a:fld id="{ADE361C3-C043-4A6E-BDCE-8DA1E7D90A3B}" type="slidenum">
              <a:rPr lang="zh-CN" altLang="en-US" smtClean="0"/>
              <a:t>55</a:t>
            </a:fld>
            <a:endParaRPr lang="zh-CN" altLang="en-US"/>
          </a:p>
        </p:txBody>
      </p:sp>
      <p:sp>
        <p:nvSpPr>
          <p:cNvPr id="5" name="页脚占位符 4">
            <a:extLst>
              <a:ext uri="{FF2B5EF4-FFF2-40B4-BE49-F238E27FC236}">
                <a16:creationId xmlns:a16="http://schemas.microsoft.com/office/drawing/2014/main" id="{6993EAD5-837B-FB46-B5C7-7D50B3B57212}"/>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8" name="内容占位符 2">
            <a:extLst>
              <a:ext uri="{FF2B5EF4-FFF2-40B4-BE49-F238E27FC236}">
                <a16:creationId xmlns:a16="http://schemas.microsoft.com/office/drawing/2014/main" id="{04D025F9-FD01-4A45-BA2C-82D43E890EC0}"/>
              </a:ext>
            </a:extLst>
          </p:cNvPr>
          <p:cNvSpPr txBox="1"/>
          <p:nvPr/>
        </p:nvSpPr>
        <p:spPr>
          <a:xfrm>
            <a:off x="827584" y="4945732"/>
            <a:ext cx="4392488" cy="255317"/>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lnSpc>
                <a:spcPct val="120000"/>
              </a:lnSpc>
              <a:spcBef>
                <a:spcPts val="1200"/>
              </a:spcBef>
              <a:buFont typeface="Arial" panose="020B0604020202090204"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en" altLang="zh-CN" sz="1400" dirty="0"/>
              <a:t>Arrakis: The Operating System is the Control Plane</a:t>
            </a:r>
            <a:r>
              <a:rPr lang="en-US" altLang="zh-CN" sz="1400" dirty="0"/>
              <a:t>,</a:t>
            </a:r>
            <a:r>
              <a:rPr lang="zh-CN" altLang="en-US" sz="1400" dirty="0"/>
              <a:t> </a:t>
            </a:r>
            <a:r>
              <a:rPr lang="en-US" altLang="zh-CN" sz="1400" dirty="0"/>
              <a:t>OSDI</a:t>
            </a:r>
            <a:r>
              <a:rPr lang="zh-CN" altLang="en-US" sz="1400" dirty="0"/>
              <a:t> </a:t>
            </a:r>
            <a:r>
              <a:rPr lang="en-US" altLang="zh-CN" sz="1400" dirty="0"/>
              <a:t>2014</a:t>
            </a:r>
            <a:endParaRPr kumimoji="1" lang="zh-CN" altLang="en-US" sz="1400" dirty="0"/>
          </a:p>
        </p:txBody>
      </p:sp>
      <p:sp>
        <p:nvSpPr>
          <p:cNvPr id="9" name="矩形 8">
            <a:extLst>
              <a:ext uri="{FF2B5EF4-FFF2-40B4-BE49-F238E27FC236}">
                <a16:creationId xmlns:a16="http://schemas.microsoft.com/office/drawing/2014/main" id="{8A3D9915-EC47-0948-ABE6-F4CF9BFCE5C5}"/>
              </a:ext>
            </a:extLst>
          </p:cNvPr>
          <p:cNvSpPr/>
          <p:nvPr/>
        </p:nvSpPr>
        <p:spPr>
          <a:xfrm>
            <a:off x="755576" y="2065412"/>
            <a:ext cx="720080" cy="288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PMD</a:t>
            </a:r>
            <a:endParaRPr kumimoji="1" lang="zh-CN" altLang="en-US" sz="1400" dirty="0">
              <a:solidFill>
                <a:schemeClr val="tx1"/>
              </a:solidFill>
              <a:latin typeface="DengXian" panose="02010600030101010101" pitchFamily="2" charset="-122"/>
              <a:ea typeface="DengXian" panose="02010600030101010101" pitchFamily="2" charset="-122"/>
            </a:endParaRPr>
          </a:p>
        </p:txBody>
      </p:sp>
      <p:sp>
        <p:nvSpPr>
          <p:cNvPr id="10" name="矩形 9">
            <a:extLst>
              <a:ext uri="{FF2B5EF4-FFF2-40B4-BE49-F238E27FC236}">
                <a16:creationId xmlns:a16="http://schemas.microsoft.com/office/drawing/2014/main" id="{51536C76-C4E2-B341-9E49-FE7974A5506C}"/>
              </a:ext>
            </a:extLst>
          </p:cNvPr>
          <p:cNvSpPr/>
          <p:nvPr/>
        </p:nvSpPr>
        <p:spPr>
          <a:xfrm>
            <a:off x="755576" y="1777380"/>
            <a:ext cx="720080" cy="288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DPDK</a:t>
            </a:r>
            <a:endParaRPr kumimoji="1" lang="zh-CN" altLang="en-US" sz="1400" dirty="0">
              <a:solidFill>
                <a:schemeClr val="tx1"/>
              </a:solidFill>
              <a:latin typeface="DengXian" panose="02010600030101010101" pitchFamily="2" charset="-122"/>
              <a:ea typeface="DengXian" panose="02010600030101010101" pitchFamily="2" charset="-122"/>
            </a:endParaRPr>
          </a:p>
        </p:txBody>
      </p:sp>
      <p:sp>
        <p:nvSpPr>
          <p:cNvPr id="11" name="矩形 10">
            <a:extLst>
              <a:ext uri="{FF2B5EF4-FFF2-40B4-BE49-F238E27FC236}">
                <a16:creationId xmlns:a16="http://schemas.microsoft.com/office/drawing/2014/main" id="{00F99BAB-87D4-044B-A6CE-BFCCE8804311}"/>
              </a:ext>
            </a:extLst>
          </p:cNvPr>
          <p:cNvSpPr/>
          <p:nvPr/>
        </p:nvSpPr>
        <p:spPr>
          <a:xfrm>
            <a:off x="755576" y="1489348"/>
            <a:ext cx="720080" cy="288032"/>
          </a:xfrm>
          <a:prstGeom prst="rect">
            <a:avLst/>
          </a:prstGeom>
          <a:ln>
            <a:solidFill>
              <a:schemeClr val="tx1"/>
            </a:solidFill>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sz="1400" dirty="0">
                <a:solidFill>
                  <a:schemeClr val="tx1"/>
                </a:solidFill>
                <a:latin typeface="DengXian" panose="02010600030101010101" pitchFamily="2" charset="-122"/>
                <a:ea typeface="DengXian" panose="02010600030101010101" pitchFamily="2" charset="-122"/>
              </a:rPr>
              <a:t>TCP/IP</a:t>
            </a:r>
            <a:endParaRPr kumimoji="1" lang="zh-CN" altLang="en-US" sz="1400" dirty="0">
              <a:solidFill>
                <a:schemeClr val="tx1"/>
              </a:solidFill>
              <a:latin typeface="DengXian" panose="02010600030101010101" pitchFamily="2" charset="-122"/>
              <a:ea typeface="DengXian" panose="02010600030101010101" pitchFamily="2" charset="-122"/>
            </a:endParaRPr>
          </a:p>
        </p:txBody>
      </p:sp>
      <p:cxnSp>
        <p:nvCxnSpPr>
          <p:cNvPr id="6" name="直线连接符 5">
            <a:extLst>
              <a:ext uri="{FF2B5EF4-FFF2-40B4-BE49-F238E27FC236}">
                <a16:creationId xmlns:a16="http://schemas.microsoft.com/office/drawing/2014/main" id="{D7AA588B-CC74-2845-8D9D-8B6228D78A46}"/>
              </a:ext>
            </a:extLst>
          </p:cNvPr>
          <p:cNvCxnSpPr>
            <a:cxnSpLocks/>
          </p:cNvCxnSpPr>
          <p:nvPr/>
        </p:nvCxnSpPr>
        <p:spPr>
          <a:xfrm>
            <a:off x="1475656" y="1489348"/>
            <a:ext cx="720080" cy="631715"/>
          </a:xfrm>
          <a:prstGeom prst="line">
            <a:avLst/>
          </a:prstGeom>
          <a:ln w="19050">
            <a:solidFill>
              <a:srgbClr val="FF2F92"/>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FF5318E-53C7-CC4A-A8EE-E895B60750C6}"/>
              </a:ext>
            </a:extLst>
          </p:cNvPr>
          <p:cNvCxnSpPr>
            <a:cxnSpLocks/>
          </p:cNvCxnSpPr>
          <p:nvPr/>
        </p:nvCxnSpPr>
        <p:spPr>
          <a:xfrm>
            <a:off x="1475656" y="2353444"/>
            <a:ext cx="720080" cy="44524"/>
          </a:xfrm>
          <a:prstGeom prst="line">
            <a:avLst/>
          </a:prstGeom>
          <a:ln w="19050">
            <a:solidFill>
              <a:srgbClr val="FF2F92"/>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6192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E66D0A-7093-2C41-9B37-18243FBFEEB1}"/>
              </a:ext>
            </a:extLst>
          </p:cNvPr>
          <p:cNvSpPr>
            <a:spLocks noGrp="1"/>
          </p:cNvSpPr>
          <p:nvPr>
            <p:ph type="title"/>
          </p:nvPr>
        </p:nvSpPr>
        <p:spPr/>
        <p:txBody>
          <a:bodyPr/>
          <a:lstStyle/>
          <a:p>
            <a:r>
              <a:rPr kumimoji="1" lang="zh-CN" altLang="en-US" dirty="0"/>
              <a:t>控制平面与数据平面分离</a:t>
            </a:r>
          </a:p>
        </p:txBody>
      </p:sp>
      <p:pic>
        <p:nvPicPr>
          <p:cNvPr id="7" name="内容占位符 6">
            <a:extLst>
              <a:ext uri="{FF2B5EF4-FFF2-40B4-BE49-F238E27FC236}">
                <a16:creationId xmlns:a16="http://schemas.microsoft.com/office/drawing/2014/main" id="{8D1F4FF0-3FE5-0444-A3E3-7B01C35A68FB}"/>
              </a:ext>
            </a:extLst>
          </p:cNvPr>
          <p:cNvPicPr>
            <a:picLocks noGrp="1" noChangeAspect="1"/>
          </p:cNvPicPr>
          <p:nvPr>
            <p:ph idx="1"/>
          </p:nvPr>
        </p:nvPicPr>
        <p:blipFill>
          <a:blip r:embed="rId2">
            <a:extLst>
              <a:ext uri="{28A0092B-C50C-407E-A947-70E740481C1C}">
                <a14:useLocalDpi xmlns:a14="http://schemas.microsoft.com/office/drawing/2010/main"/>
              </a:ext>
            </a:extLst>
          </a:blip>
          <a:stretch>
            <a:fillRect/>
          </a:stretch>
        </p:blipFill>
        <p:spPr>
          <a:xfrm>
            <a:off x="1763688" y="1285925"/>
            <a:ext cx="4982666" cy="3781716"/>
          </a:xfrm>
        </p:spPr>
      </p:pic>
      <p:sp>
        <p:nvSpPr>
          <p:cNvPr id="4" name="灯片编号占位符 3">
            <a:extLst>
              <a:ext uri="{FF2B5EF4-FFF2-40B4-BE49-F238E27FC236}">
                <a16:creationId xmlns:a16="http://schemas.microsoft.com/office/drawing/2014/main" id="{BF51EE87-49EC-C344-95D5-247F3BBB81B3}"/>
              </a:ext>
            </a:extLst>
          </p:cNvPr>
          <p:cNvSpPr>
            <a:spLocks noGrp="1"/>
          </p:cNvSpPr>
          <p:nvPr>
            <p:ph type="sldNum" sz="quarter" idx="12"/>
          </p:nvPr>
        </p:nvSpPr>
        <p:spPr/>
        <p:txBody>
          <a:bodyPr/>
          <a:lstStyle/>
          <a:p>
            <a:fld id="{ADE361C3-C043-4A6E-BDCE-8DA1E7D90A3B}" type="slidenum">
              <a:rPr lang="zh-CN" altLang="en-US" smtClean="0"/>
              <a:t>56</a:t>
            </a:fld>
            <a:endParaRPr lang="zh-CN" altLang="en-US"/>
          </a:p>
        </p:txBody>
      </p:sp>
      <p:sp>
        <p:nvSpPr>
          <p:cNvPr id="5" name="页脚占位符 4">
            <a:extLst>
              <a:ext uri="{FF2B5EF4-FFF2-40B4-BE49-F238E27FC236}">
                <a16:creationId xmlns:a16="http://schemas.microsoft.com/office/drawing/2014/main" id="{66CB82F1-F9EE-6E47-844B-617E265F86C1}"/>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4506584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zh-CN" altLang="en-US" dirty="0"/>
              <a:t>不同架构对比</a:t>
            </a:r>
          </a:p>
        </p:txBody>
      </p:sp>
      <p:sp>
        <p:nvSpPr>
          <p:cNvPr id="7" name="文本占位符 6"/>
          <p:cNvSpPr>
            <a:spLocks noGrp="1"/>
          </p:cNvSpPr>
          <p:nvPr>
            <p:ph type="body" idx="1"/>
          </p:nvPr>
        </p:nvSpPr>
        <p:spPr/>
        <p:txBody>
          <a:bodyPr/>
          <a:lstStyle/>
          <a:p>
            <a:endParaRPr lang="zh-CN" altLang="en-US"/>
          </a:p>
        </p:txBody>
      </p:sp>
      <p:sp>
        <p:nvSpPr>
          <p:cNvPr id="4" name="灯片编号占位符 3"/>
          <p:cNvSpPr>
            <a:spLocks noGrp="1"/>
          </p:cNvSpPr>
          <p:nvPr>
            <p:ph type="sldNum" sz="quarter" idx="12"/>
          </p:nvPr>
        </p:nvSpPr>
        <p:spPr/>
        <p:txBody>
          <a:bodyPr/>
          <a:lstStyle/>
          <a:p>
            <a:fld id="{ADE361C3-C043-4A6E-BDCE-8DA1E7D90A3B}" type="slidenum">
              <a:rPr lang="zh-CN" altLang="en-US" smtClean="0"/>
              <a:t>57</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微内核网络架构图</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58</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p:cNvSpPr/>
          <p:nvPr/>
        </p:nvSpPr>
        <p:spPr>
          <a:xfrm>
            <a:off x="1043608" y="4799936"/>
            <a:ext cx="2836735" cy="36181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网络设备</a:t>
            </a:r>
          </a:p>
        </p:txBody>
      </p:sp>
      <p:sp>
        <p:nvSpPr>
          <p:cNvPr id="7" name="矩形 6"/>
          <p:cNvSpPr/>
          <p:nvPr/>
        </p:nvSpPr>
        <p:spPr>
          <a:xfrm>
            <a:off x="4860032" y="4799937"/>
            <a:ext cx="3240360" cy="361819"/>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GIC</a:t>
            </a:r>
            <a:r>
              <a:rPr kumimoji="1" lang="zh-CN" altLang="en-US" dirty="0">
                <a:solidFill>
                  <a:schemeClr val="tx1"/>
                </a:solidFill>
                <a:latin typeface="DengXian" panose="02010600030101010101" pitchFamily="2" charset="-122"/>
                <a:ea typeface="DengXian" panose="02010600030101010101" pitchFamily="2" charset="-122"/>
              </a:rPr>
              <a:t>中断控制器</a:t>
            </a:r>
          </a:p>
        </p:txBody>
      </p:sp>
      <p:sp>
        <p:nvSpPr>
          <p:cNvPr id="9" name="矩形 8"/>
          <p:cNvSpPr/>
          <p:nvPr/>
        </p:nvSpPr>
        <p:spPr>
          <a:xfrm>
            <a:off x="794878" y="3791651"/>
            <a:ext cx="7305514" cy="6500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err="1">
                <a:solidFill>
                  <a:schemeClr val="tx1"/>
                </a:solidFill>
                <a:latin typeface="DengXian" panose="02010600030101010101" pitchFamily="2" charset="-122"/>
                <a:ea typeface="DengXian" panose="02010600030101010101" pitchFamily="2" charset="-122"/>
              </a:rPr>
              <a:t>ChCore</a:t>
            </a:r>
            <a:r>
              <a:rPr kumimoji="1" lang="zh-CN" altLang="en-US" dirty="0">
                <a:solidFill>
                  <a:schemeClr val="tx1"/>
                </a:solidFill>
                <a:latin typeface="DengXian" panose="02010600030101010101" pitchFamily="2" charset="-122"/>
                <a:ea typeface="DengXian" panose="02010600030101010101" pitchFamily="2" charset="-122"/>
              </a:rPr>
              <a:t> 微内核</a:t>
            </a:r>
          </a:p>
        </p:txBody>
      </p:sp>
      <p:sp>
        <p:nvSpPr>
          <p:cNvPr id="10" name="矩形 9"/>
          <p:cNvSpPr/>
          <p:nvPr/>
        </p:nvSpPr>
        <p:spPr>
          <a:xfrm>
            <a:off x="6767834" y="3939922"/>
            <a:ext cx="1185652" cy="36181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硬中断</a:t>
            </a:r>
            <a:r>
              <a:rPr kumimoji="1" lang="en-US" altLang="zh-CN" dirty="0">
                <a:solidFill>
                  <a:schemeClr val="tx1"/>
                </a:solidFill>
                <a:latin typeface="DengXian" panose="02010600030101010101" pitchFamily="2" charset="-122"/>
                <a:ea typeface="DengXian" panose="02010600030101010101" pitchFamily="2" charset="-122"/>
              </a:rPr>
              <a:t>ISR</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1" name="矩形 10"/>
          <p:cNvSpPr/>
          <p:nvPr/>
        </p:nvSpPr>
        <p:spPr>
          <a:xfrm>
            <a:off x="6660231" y="1821214"/>
            <a:ext cx="1400859" cy="892269"/>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软中断</a:t>
            </a:r>
            <a:endParaRPr kumimoji="1" lang="en-US" altLang="zh-CN" dirty="0">
              <a:solidFill>
                <a:schemeClr val="tx1"/>
              </a:solidFill>
              <a:latin typeface="DengXian" panose="02010600030101010101" pitchFamily="2" charset="-122"/>
              <a:ea typeface="DengXian" panose="02010600030101010101" pitchFamily="2" charset="-122"/>
            </a:endParaRPr>
          </a:p>
          <a:p>
            <a:pPr algn="ctr"/>
            <a:r>
              <a:rPr kumimoji="1" lang="en-US" altLang="zh-CN" dirty="0">
                <a:solidFill>
                  <a:schemeClr val="tx1"/>
                </a:solidFill>
                <a:latin typeface="DengXian" panose="02010600030101010101" pitchFamily="2" charset="-122"/>
                <a:ea typeface="DengXian" panose="02010600030101010101" pitchFamily="2" charset="-122"/>
              </a:rPr>
              <a:t>handler</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2" name="矩形 11"/>
          <p:cNvSpPr/>
          <p:nvPr/>
        </p:nvSpPr>
        <p:spPr>
          <a:xfrm>
            <a:off x="5782325" y="1798416"/>
            <a:ext cx="517867" cy="935988"/>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RX</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3" name="矩形 12"/>
          <p:cNvSpPr/>
          <p:nvPr/>
        </p:nvSpPr>
        <p:spPr>
          <a:xfrm>
            <a:off x="5084059" y="1790452"/>
            <a:ext cx="504058" cy="948726"/>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TX</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4" name="矩形 13"/>
          <p:cNvSpPr/>
          <p:nvPr/>
        </p:nvSpPr>
        <p:spPr>
          <a:xfrm>
            <a:off x="3001636" y="1576681"/>
            <a:ext cx="1347435" cy="1074845"/>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LWIP</a:t>
            </a:r>
          </a:p>
          <a:p>
            <a:pPr algn="ctr"/>
            <a:r>
              <a:rPr kumimoji="1" lang="zh-CN" altLang="en-US" dirty="0">
                <a:solidFill>
                  <a:schemeClr val="tx1"/>
                </a:solidFill>
                <a:latin typeface="DengXian" panose="02010600030101010101" pitchFamily="2" charset="-122"/>
                <a:ea typeface="DengXian" panose="02010600030101010101" pitchFamily="2" charset="-122"/>
              </a:rPr>
              <a:t>网络协议栈</a:t>
            </a:r>
          </a:p>
        </p:txBody>
      </p:sp>
      <p:sp>
        <p:nvSpPr>
          <p:cNvPr id="15" name="矩形 14"/>
          <p:cNvSpPr/>
          <p:nvPr/>
        </p:nvSpPr>
        <p:spPr>
          <a:xfrm>
            <a:off x="1001568" y="1677222"/>
            <a:ext cx="1400859" cy="43884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App</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6" name="矩形 15"/>
          <p:cNvSpPr/>
          <p:nvPr/>
        </p:nvSpPr>
        <p:spPr>
          <a:xfrm>
            <a:off x="1001569" y="2294403"/>
            <a:ext cx="1400859" cy="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App</a:t>
            </a: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7" name="矩形 16"/>
          <p:cNvSpPr/>
          <p:nvPr/>
        </p:nvSpPr>
        <p:spPr>
          <a:xfrm>
            <a:off x="1001569" y="2915472"/>
            <a:ext cx="1400859" cy="410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App</a:t>
            </a:r>
            <a:endParaRPr kumimoji="1" lang="zh-CN" altLang="en-US" dirty="0">
              <a:solidFill>
                <a:schemeClr val="tx1"/>
              </a:solidFill>
              <a:latin typeface="DengXian" panose="02010600030101010101" pitchFamily="2" charset="-122"/>
              <a:ea typeface="DengXian" panose="02010600030101010101" pitchFamily="2" charset="-122"/>
            </a:endParaRPr>
          </a:p>
        </p:txBody>
      </p:sp>
      <p:cxnSp>
        <p:nvCxnSpPr>
          <p:cNvPr id="19" name="直线连接符 18"/>
          <p:cNvCxnSpPr/>
          <p:nvPr/>
        </p:nvCxnSpPr>
        <p:spPr>
          <a:xfrm>
            <a:off x="693284" y="4585692"/>
            <a:ext cx="7479116"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1" name="直线连接符 20"/>
          <p:cNvCxnSpPr/>
          <p:nvPr/>
        </p:nvCxnSpPr>
        <p:spPr>
          <a:xfrm>
            <a:off x="693284" y="3649588"/>
            <a:ext cx="7479116"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3" name="直线连接符 22"/>
          <p:cNvCxnSpPr/>
          <p:nvPr/>
        </p:nvCxnSpPr>
        <p:spPr>
          <a:xfrm>
            <a:off x="2627784" y="1512286"/>
            <a:ext cx="0" cy="2137302"/>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4" name="直线连接符 23"/>
          <p:cNvCxnSpPr/>
          <p:nvPr/>
        </p:nvCxnSpPr>
        <p:spPr>
          <a:xfrm>
            <a:off x="4644008" y="1493111"/>
            <a:ext cx="0" cy="2156477"/>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26" name="直线箭头连接符 25"/>
          <p:cNvCxnSpPr>
            <a:stCxn id="6" idx="3"/>
            <a:endCxn id="7" idx="1"/>
          </p:cNvCxnSpPr>
          <p:nvPr/>
        </p:nvCxnSpPr>
        <p:spPr>
          <a:xfrm>
            <a:off x="3880343" y="4980846"/>
            <a:ext cx="979689" cy="1"/>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30" name="直线箭头连接符 29"/>
          <p:cNvCxnSpPr>
            <a:stCxn id="11" idx="2"/>
            <a:endCxn id="10" idx="0"/>
          </p:cNvCxnSpPr>
          <p:nvPr/>
        </p:nvCxnSpPr>
        <p:spPr>
          <a:xfrm flipH="1">
            <a:off x="7360660" y="2713483"/>
            <a:ext cx="1" cy="1226439"/>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33" name="直线箭头连接符 32"/>
          <p:cNvCxnSpPr>
            <a:stCxn id="11" idx="1"/>
            <a:endCxn id="12" idx="3"/>
          </p:cNvCxnSpPr>
          <p:nvPr/>
        </p:nvCxnSpPr>
        <p:spPr>
          <a:xfrm flipH="1" flipV="1">
            <a:off x="6300192" y="2266410"/>
            <a:ext cx="360039" cy="939"/>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41" name="直线箭头连接符 40"/>
          <p:cNvCxnSpPr>
            <a:stCxn id="14" idx="1"/>
            <a:endCxn id="15" idx="3"/>
          </p:cNvCxnSpPr>
          <p:nvPr/>
        </p:nvCxnSpPr>
        <p:spPr>
          <a:xfrm flipH="1" flipV="1">
            <a:off x="2402427" y="1896642"/>
            <a:ext cx="599209" cy="217462"/>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3" name="直线箭头连接符 42"/>
          <p:cNvCxnSpPr>
            <a:stCxn id="14" idx="1"/>
            <a:endCxn id="16" idx="3"/>
          </p:cNvCxnSpPr>
          <p:nvPr/>
        </p:nvCxnSpPr>
        <p:spPr>
          <a:xfrm flipH="1">
            <a:off x="2402428" y="2114104"/>
            <a:ext cx="599208" cy="40029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45" name="直线箭头连接符 44"/>
          <p:cNvCxnSpPr>
            <a:stCxn id="14" idx="1"/>
            <a:endCxn id="17" idx="3"/>
          </p:cNvCxnSpPr>
          <p:nvPr/>
        </p:nvCxnSpPr>
        <p:spPr>
          <a:xfrm flipH="1">
            <a:off x="2402428" y="2114104"/>
            <a:ext cx="599208" cy="1006668"/>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52" name="矩形 51"/>
          <p:cNvSpPr/>
          <p:nvPr/>
        </p:nvSpPr>
        <p:spPr>
          <a:xfrm>
            <a:off x="4860032" y="3124577"/>
            <a:ext cx="1907802"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en-US" altLang="zh-CN" dirty="0">
                <a:solidFill>
                  <a:schemeClr val="tx1"/>
                </a:solidFill>
                <a:latin typeface="DengXian" panose="02010600030101010101" pitchFamily="2" charset="-122"/>
                <a:ea typeface="DengXian" panose="02010600030101010101" pitchFamily="2" charset="-122"/>
              </a:rPr>
              <a:t>TX/RX</a:t>
            </a:r>
            <a:r>
              <a:rPr kumimoji="1" lang="zh-CN" altLang="en-US" dirty="0">
                <a:solidFill>
                  <a:schemeClr val="tx1"/>
                </a:solidFill>
                <a:latin typeface="DengXian" panose="02010600030101010101" pitchFamily="2" charset="-122"/>
                <a:ea typeface="DengXian" panose="02010600030101010101" pitchFamily="2" charset="-122"/>
              </a:rPr>
              <a:t> </a:t>
            </a:r>
            <a:r>
              <a:rPr kumimoji="1" lang="en-US" altLang="zh-CN" dirty="0">
                <a:solidFill>
                  <a:schemeClr val="tx1"/>
                </a:solidFill>
                <a:latin typeface="DengXian" panose="02010600030101010101" pitchFamily="2" charset="-122"/>
                <a:ea typeface="DengXian" panose="02010600030101010101" pitchFamily="2" charset="-122"/>
              </a:rPr>
              <a:t>DMA</a:t>
            </a:r>
            <a:r>
              <a:rPr kumimoji="1" lang="zh-CN" altLang="en-US" dirty="0">
                <a:solidFill>
                  <a:schemeClr val="tx1"/>
                </a:solidFill>
                <a:latin typeface="DengXian" panose="02010600030101010101" pitchFamily="2" charset="-122"/>
                <a:ea typeface="DengXian" panose="02010600030101010101" pitchFamily="2" charset="-122"/>
              </a:rPr>
              <a:t>内存</a:t>
            </a:r>
          </a:p>
        </p:txBody>
      </p:sp>
      <p:sp>
        <p:nvSpPr>
          <p:cNvPr id="53" name="文本框 52"/>
          <p:cNvSpPr txBox="1"/>
          <p:nvPr/>
        </p:nvSpPr>
        <p:spPr>
          <a:xfrm>
            <a:off x="2811143" y="3734239"/>
            <a:ext cx="492443" cy="338554"/>
          </a:xfrm>
          <a:prstGeom prst="rect">
            <a:avLst/>
          </a:prstGeom>
          <a:noFill/>
        </p:spPr>
        <p:txBody>
          <a:bodyPr wrap="none" rtlCol="0">
            <a:spAutoFit/>
          </a:bodyPr>
          <a:lstStyle/>
          <a:p>
            <a:r>
              <a:rPr kumimoji="1" lang="en-US" altLang="zh-CN" sz="1600" b="1" dirty="0">
                <a:solidFill>
                  <a:srgbClr val="FF0000"/>
                </a:solidFill>
                <a:latin typeface="DengXian" panose="02010600030101010101" pitchFamily="2" charset="-122"/>
                <a:ea typeface="DengXian" panose="02010600030101010101" pitchFamily="2" charset="-122"/>
              </a:rPr>
              <a:t>IPC</a:t>
            </a:r>
            <a:endParaRPr kumimoji="1" lang="zh-CN" altLang="en-US" sz="1600" b="1" dirty="0">
              <a:solidFill>
                <a:srgbClr val="FF0000"/>
              </a:solidFill>
              <a:latin typeface="DengXian" panose="02010600030101010101" pitchFamily="2" charset="-122"/>
              <a:ea typeface="DengXian" panose="02010600030101010101" pitchFamily="2" charset="-122"/>
            </a:endParaRPr>
          </a:p>
        </p:txBody>
      </p:sp>
      <p:sp>
        <p:nvSpPr>
          <p:cNvPr id="59" name="矩形 58"/>
          <p:cNvSpPr/>
          <p:nvPr/>
        </p:nvSpPr>
        <p:spPr>
          <a:xfrm>
            <a:off x="4886101" y="1607808"/>
            <a:ext cx="1558107" cy="13025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cxnSp>
        <p:nvCxnSpPr>
          <p:cNvPr id="65" name="直线箭头连接符 64"/>
          <p:cNvCxnSpPr>
            <a:stCxn id="10" idx="2"/>
          </p:cNvCxnSpPr>
          <p:nvPr/>
        </p:nvCxnSpPr>
        <p:spPr>
          <a:xfrm>
            <a:off x="7360660" y="4301741"/>
            <a:ext cx="2" cy="526019"/>
          </a:xfrm>
          <a:prstGeom prst="straightConnector1">
            <a:avLst/>
          </a:prstGeom>
          <a:ln w="28575">
            <a:headEnd type="triangle"/>
            <a:tailEnd type="triangle"/>
          </a:ln>
        </p:spPr>
        <p:style>
          <a:lnRef idx="1">
            <a:schemeClr val="dk1"/>
          </a:lnRef>
          <a:fillRef idx="0">
            <a:schemeClr val="dk1"/>
          </a:fillRef>
          <a:effectRef idx="0">
            <a:schemeClr val="dk1"/>
          </a:effectRef>
          <a:fontRef idx="minor">
            <a:schemeClr val="tx1"/>
          </a:fontRef>
        </p:style>
      </p:cxnSp>
      <p:cxnSp>
        <p:nvCxnSpPr>
          <p:cNvPr id="34" name="曲线连接符 33"/>
          <p:cNvCxnSpPr/>
          <p:nvPr/>
        </p:nvCxnSpPr>
        <p:spPr>
          <a:xfrm rot="16200000" flipH="1">
            <a:off x="2690165" y="2194465"/>
            <a:ext cx="14400" cy="720000"/>
          </a:xfrm>
          <a:prstGeom prst="curvedConnector3">
            <a:avLst>
              <a:gd name="adj1" fmla="val 9924451"/>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4730029" y="3733543"/>
            <a:ext cx="492443" cy="338554"/>
          </a:xfrm>
          <a:prstGeom prst="rect">
            <a:avLst/>
          </a:prstGeom>
          <a:noFill/>
        </p:spPr>
        <p:txBody>
          <a:bodyPr wrap="none" rtlCol="0">
            <a:spAutoFit/>
          </a:bodyPr>
          <a:lstStyle/>
          <a:p>
            <a:r>
              <a:rPr kumimoji="1" lang="en-US" altLang="zh-CN" sz="1600" b="1" dirty="0">
                <a:solidFill>
                  <a:srgbClr val="FF0000"/>
                </a:solidFill>
                <a:latin typeface="DengXian" panose="02010600030101010101" pitchFamily="2" charset="-122"/>
                <a:ea typeface="DengXian" panose="02010600030101010101" pitchFamily="2" charset="-122"/>
              </a:rPr>
              <a:t>IPC</a:t>
            </a:r>
            <a:endParaRPr kumimoji="1" lang="zh-CN" altLang="en-US" sz="1600" b="1" dirty="0">
              <a:solidFill>
                <a:srgbClr val="FF0000"/>
              </a:solidFill>
              <a:latin typeface="DengXian" panose="02010600030101010101" pitchFamily="2" charset="-122"/>
              <a:ea typeface="DengXian" panose="02010600030101010101" pitchFamily="2" charset="-122"/>
            </a:endParaRPr>
          </a:p>
        </p:txBody>
      </p:sp>
      <p:cxnSp>
        <p:nvCxnSpPr>
          <p:cNvPr id="39" name="曲线连接符 38"/>
          <p:cNvCxnSpPr/>
          <p:nvPr/>
        </p:nvCxnSpPr>
        <p:spPr>
          <a:xfrm rot="16200000" flipH="1">
            <a:off x="4636808" y="2211349"/>
            <a:ext cx="14400" cy="720000"/>
          </a:xfrm>
          <a:prstGeom prst="curvedConnector3">
            <a:avLst>
              <a:gd name="adj1" fmla="val 9547757"/>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cxnSp>
        <p:nvCxnSpPr>
          <p:cNvPr id="25" name="曲线连接符 24"/>
          <p:cNvCxnSpPr>
            <a:stCxn id="6" idx="0"/>
            <a:endCxn id="52" idx="2"/>
          </p:cNvCxnSpPr>
          <p:nvPr/>
        </p:nvCxnSpPr>
        <p:spPr>
          <a:xfrm rot="5400000" flipH="1" flipV="1">
            <a:off x="3481184" y="2467188"/>
            <a:ext cx="1313540" cy="3351957"/>
          </a:xfrm>
          <a:prstGeom prst="curvedConnector3">
            <a:avLst>
              <a:gd name="adj1" fmla="val 50000"/>
            </a:avLst>
          </a:prstGeom>
          <a:ln w="28575">
            <a:headEnd type="triangle"/>
            <a:tailEnd type="triangle"/>
          </a:ln>
        </p:spPr>
        <p:style>
          <a:lnRef idx="1">
            <a:schemeClr val="dk1"/>
          </a:lnRef>
          <a:fillRef idx="0">
            <a:schemeClr val="dk1"/>
          </a:fillRef>
          <a:effectRef idx="0">
            <a:schemeClr val="dk1"/>
          </a:effectRef>
          <a:fontRef idx="minor">
            <a:schemeClr val="tx1"/>
          </a:fontRef>
        </p:style>
      </p:cxnSp>
      <p:sp>
        <p:nvSpPr>
          <p:cNvPr id="44" name="文本框 43"/>
          <p:cNvSpPr txBox="1"/>
          <p:nvPr/>
        </p:nvSpPr>
        <p:spPr>
          <a:xfrm>
            <a:off x="1304971" y="1257072"/>
            <a:ext cx="809837" cy="338554"/>
          </a:xfrm>
          <a:prstGeom prst="rect">
            <a:avLst/>
          </a:prstGeom>
          <a:noFill/>
        </p:spPr>
        <p:txBody>
          <a:bodyPr wrap="none" rtlCol="0">
            <a:spAutoFit/>
          </a:bodyPr>
          <a:lstStyle/>
          <a:p>
            <a:pPr algn="ctr"/>
            <a:r>
              <a:rPr kumimoji="1" lang="en-US" altLang="zh-CN" sz="1600" b="1" dirty="0">
                <a:latin typeface="DengXian" panose="02010600030101010101" pitchFamily="2" charset="-122"/>
                <a:ea typeface="DengXian" panose="02010600030101010101" pitchFamily="2" charset="-122"/>
              </a:rPr>
              <a:t>Clients</a:t>
            </a:r>
            <a:endParaRPr kumimoji="1" lang="zh-CN" altLang="en-US" sz="1600" b="1" dirty="0">
              <a:latin typeface="DengXian" panose="02010600030101010101" pitchFamily="2" charset="-122"/>
              <a:ea typeface="DengXian" panose="02010600030101010101" pitchFamily="2" charset="-122"/>
            </a:endParaRPr>
          </a:p>
        </p:txBody>
      </p:sp>
      <p:sp>
        <p:nvSpPr>
          <p:cNvPr id="46" name="文本框 45"/>
          <p:cNvSpPr txBox="1"/>
          <p:nvPr/>
        </p:nvSpPr>
        <p:spPr>
          <a:xfrm>
            <a:off x="5944888" y="944042"/>
            <a:ext cx="1415772" cy="584775"/>
          </a:xfrm>
          <a:prstGeom prst="rect">
            <a:avLst/>
          </a:prstGeom>
          <a:noFill/>
        </p:spPr>
        <p:txBody>
          <a:bodyPr wrap="none" rtlCol="0">
            <a:spAutoFit/>
          </a:bodyPr>
          <a:lstStyle/>
          <a:p>
            <a:pPr algn="ctr"/>
            <a:r>
              <a:rPr kumimoji="1" lang="zh-CN" altLang="en-US" sz="1600" b="1" dirty="0">
                <a:latin typeface="DengXian" panose="02010600030101010101" pitchFamily="2" charset="-122"/>
                <a:ea typeface="DengXian" panose="02010600030101010101" pitchFamily="2" charset="-122"/>
              </a:rPr>
              <a:t>用户态</a:t>
            </a:r>
            <a:endParaRPr kumimoji="1" lang="en-US" altLang="zh-CN" sz="1600" b="1" dirty="0">
              <a:latin typeface="DengXian" panose="02010600030101010101" pitchFamily="2" charset="-122"/>
              <a:ea typeface="DengXian" panose="02010600030101010101" pitchFamily="2" charset="-122"/>
            </a:endParaRPr>
          </a:p>
          <a:p>
            <a:pPr algn="ctr"/>
            <a:r>
              <a:rPr kumimoji="1" lang="zh-CN" altLang="en-US" sz="1600" b="1" dirty="0">
                <a:latin typeface="DengXian" panose="02010600030101010101" pitchFamily="2" charset="-122"/>
                <a:ea typeface="DengXian" panose="02010600030101010101" pitchFamily="2" charset="-122"/>
              </a:rPr>
              <a:t>网卡驱动程序</a:t>
            </a:r>
          </a:p>
        </p:txBody>
      </p:sp>
      <p:sp>
        <p:nvSpPr>
          <p:cNvPr id="47" name="文本框 46"/>
          <p:cNvSpPr txBox="1"/>
          <p:nvPr/>
        </p:nvSpPr>
        <p:spPr>
          <a:xfrm>
            <a:off x="2962579" y="989837"/>
            <a:ext cx="1415772" cy="584775"/>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用户态协议栈</a:t>
            </a:r>
            <a:endParaRPr kumimoji="1" lang="en-US" altLang="zh-CN" sz="1600" b="1" dirty="0">
              <a:latin typeface="DengXian" panose="02010600030101010101" pitchFamily="2" charset="-122"/>
              <a:ea typeface="DengXian" panose="02010600030101010101" pitchFamily="2" charset="-122"/>
            </a:endParaRPr>
          </a:p>
          <a:p>
            <a:pPr algn="ctr"/>
            <a:r>
              <a:rPr kumimoji="1" lang="en-US" altLang="zh-CN" sz="1600" b="1" dirty="0">
                <a:latin typeface="DengXian" panose="02010600030101010101" pitchFamily="2" charset="-122"/>
                <a:ea typeface="DengXian" panose="02010600030101010101" pitchFamily="2" charset="-122"/>
              </a:rPr>
              <a:t>Server</a:t>
            </a:r>
            <a:endParaRPr kumimoji="1" lang="zh-CN" altLang="en-US" sz="1600" b="1" dirty="0">
              <a:latin typeface="DengXian" panose="02010600030101010101" pitchFamily="2" charset="-122"/>
              <a:ea typeface="DengXian" panose="02010600030101010101" pitchFamily="2" charset="-122"/>
            </a:endParaRPr>
          </a:p>
        </p:txBody>
      </p:sp>
      <p:cxnSp>
        <p:nvCxnSpPr>
          <p:cNvPr id="42" name="直线箭头连接符 41"/>
          <p:cNvCxnSpPr>
            <a:stCxn id="52" idx="0"/>
          </p:cNvCxnSpPr>
          <p:nvPr/>
        </p:nvCxnSpPr>
        <p:spPr>
          <a:xfrm flipV="1">
            <a:off x="5813933" y="2910334"/>
            <a:ext cx="0" cy="21424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60" name="矩形 59"/>
          <p:cNvSpPr/>
          <p:nvPr/>
        </p:nvSpPr>
        <p:spPr>
          <a:xfrm>
            <a:off x="3001636" y="2976339"/>
            <a:ext cx="1347435" cy="36181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共享内存</a:t>
            </a:r>
          </a:p>
        </p:txBody>
      </p:sp>
      <p:cxnSp>
        <p:nvCxnSpPr>
          <p:cNvPr id="56" name="直线箭头连接符 55"/>
          <p:cNvCxnSpPr>
            <a:stCxn id="60" idx="0"/>
            <a:endCxn id="14" idx="2"/>
          </p:cNvCxnSpPr>
          <p:nvPr/>
        </p:nvCxnSpPr>
        <p:spPr>
          <a:xfrm flipV="1">
            <a:off x="3675354" y="2651526"/>
            <a:ext cx="0" cy="324813"/>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67" name="曲线连接符 66"/>
          <p:cNvCxnSpPr>
            <a:stCxn id="59" idx="1"/>
            <a:endCxn id="60" idx="3"/>
          </p:cNvCxnSpPr>
          <p:nvPr/>
        </p:nvCxnSpPr>
        <p:spPr>
          <a:xfrm rot="10800000" flipV="1">
            <a:off x="4349071" y="2259071"/>
            <a:ext cx="537030" cy="898178"/>
          </a:xfrm>
          <a:prstGeom prst="curvedConnector3">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9" name="椭圆 68"/>
          <p:cNvSpPr/>
          <p:nvPr/>
        </p:nvSpPr>
        <p:spPr>
          <a:xfrm>
            <a:off x="6084168" y="3486396"/>
            <a:ext cx="576063" cy="576063"/>
          </a:xfrm>
          <a:prstGeom prst="ellipse">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3" name="椭圆 72"/>
          <p:cNvSpPr/>
          <p:nvPr/>
        </p:nvSpPr>
        <p:spPr>
          <a:xfrm>
            <a:off x="6175009" y="3578807"/>
            <a:ext cx="393627" cy="39362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4" name="文本框 73"/>
          <p:cNvSpPr txBox="1"/>
          <p:nvPr/>
        </p:nvSpPr>
        <p:spPr>
          <a:xfrm>
            <a:off x="5638755" y="4072097"/>
            <a:ext cx="1210588"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环形缓冲区</a:t>
            </a:r>
          </a:p>
        </p:txBody>
      </p:sp>
    </p:spTree>
    <p:extLst>
      <p:ext uri="{BB962C8B-B14F-4D97-AF65-F5344CB8AC3E}">
        <p14:creationId xmlns:p14="http://schemas.microsoft.com/office/powerpoint/2010/main" val="2886352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5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9"/>
                                        </p:tgtEl>
                                        <p:attrNameLst>
                                          <p:attrName>style.visibility</p:attrName>
                                        </p:attrNameLst>
                                      </p:cBhvr>
                                      <p:to>
                                        <p:strVal val="visible"/>
                                      </p:to>
                                    </p:set>
                                    <p:animEffect transition="in" filter="fade">
                                      <p:cBhvr>
                                        <p:cTn id="28" dur="500"/>
                                        <p:tgtEl>
                                          <p:spTgt spid="5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500"/>
                                        <p:tgtEl>
                                          <p:spTgt spid="33"/>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52"/>
                                        </p:tgtEl>
                                        <p:attrNameLst>
                                          <p:attrName>style.visibility</p:attrName>
                                        </p:attrNameLst>
                                      </p:cBhvr>
                                      <p:to>
                                        <p:strVal val="visible"/>
                                      </p:to>
                                    </p:set>
                                    <p:animEffect transition="in" filter="fade">
                                      <p:cBhvr>
                                        <p:cTn id="42" dur="500"/>
                                        <p:tgtEl>
                                          <p:spTgt spid="5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9"/>
                                        </p:tgtEl>
                                        <p:attrNameLst>
                                          <p:attrName>style.visibility</p:attrName>
                                        </p:attrNameLst>
                                      </p:cBhvr>
                                      <p:to>
                                        <p:strVal val="visible"/>
                                      </p:to>
                                    </p:set>
                                    <p:animEffect transition="in" filter="fade">
                                      <p:cBhvr>
                                        <p:cTn id="47" dur="500"/>
                                        <p:tgtEl>
                                          <p:spTgt spid="6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3"/>
                                        </p:tgtEl>
                                        <p:attrNameLst>
                                          <p:attrName>style.visibility</p:attrName>
                                        </p:attrNameLst>
                                      </p:cBhvr>
                                      <p:to>
                                        <p:strVal val="visible"/>
                                      </p:to>
                                    </p:set>
                                    <p:animEffect transition="in" filter="fade">
                                      <p:cBhvr>
                                        <p:cTn id="50" dur="500"/>
                                        <p:tgtEl>
                                          <p:spTgt spid="7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4"/>
                                        </p:tgtEl>
                                        <p:attrNameLst>
                                          <p:attrName>style.visibility</p:attrName>
                                        </p:attrNameLst>
                                      </p:cBhvr>
                                      <p:to>
                                        <p:strVal val="visible"/>
                                      </p:to>
                                    </p:set>
                                    <p:animEffect transition="in" filter="fade">
                                      <p:cBhvr>
                                        <p:cTn id="53" dur="500"/>
                                        <p:tgtEl>
                                          <p:spTgt spid="7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nodeType="withEffect">
                                  <p:stCondLst>
                                    <p:cond delay="0"/>
                                  </p:stCondLst>
                                  <p:childTnLst>
                                    <p:set>
                                      <p:cBhvr>
                                        <p:cTn id="60" dur="1" fill="hold">
                                          <p:stCondLst>
                                            <p:cond delay="0"/>
                                          </p:stCondLst>
                                        </p:cTn>
                                        <p:tgtEl>
                                          <p:spTgt spid="42"/>
                                        </p:tgtEl>
                                        <p:attrNameLst>
                                          <p:attrName>style.visibility</p:attrName>
                                        </p:attrNameLst>
                                      </p:cBhvr>
                                      <p:to>
                                        <p:strVal val="visible"/>
                                      </p:to>
                                    </p:set>
                                    <p:animEffect transition="in" filter="fade">
                                      <p:cBhvr>
                                        <p:cTn id="61" dur="500"/>
                                        <p:tgtEl>
                                          <p:spTgt spid="4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14"/>
                                        </p:tgtEl>
                                        <p:attrNameLst>
                                          <p:attrName>style.visibility</p:attrName>
                                        </p:attrNameLst>
                                      </p:cBhvr>
                                      <p:to>
                                        <p:strVal val="visible"/>
                                      </p:to>
                                    </p:set>
                                    <p:animEffect transition="in" filter="fade">
                                      <p:cBhvr>
                                        <p:cTn id="69" dur="500"/>
                                        <p:tgtEl>
                                          <p:spTgt spid="1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47"/>
                                        </p:tgtEl>
                                        <p:attrNameLst>
                                          <p:attrName>style.visibility</p:attrName>
                                        </p:attrNameLst>
                                      </p:cBhvr>
                                      <p:to>
                                        <p:strVal val="visible"/>
                                      </p:to>
                                    </p:set>
                                    <p:animEffect transition="in" filter="fade">
                                      <p:cBhvr>
                                        <p:cTn id="72" dur="500"/>
                                        <p:tgtEl>
                                          <p:spTgt spid="47"/>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60"/>
                                        </p:tgtEl>
                                        <p:attrNameLst>
                                          <p:attrName>style.visibility</p:attrName>
                                        </p:attrNameLst>
                                      </p:cBhvr>
                                      <p:to>
                                        <p:strVal val="visible"/>
                                      </p:to>
                                    </p:set>
                                    <p:animEffect transition="in" filter="fade">
                                      <p:cBhvr>
                                        <p:cTn id="77" dur="500"/>
                                        <p:tgtEl>
                                          <p:spTgt spid="60"/>
                                        </p:tgtEl>
                                      </p:cBhvr>
                                    </p:animEffect>
                                  </p:childTnLst>
                                </p:cTn>
                              </p:par>
                              <p:par>
                                <p:cTn id="78" presetID="10" presetClass="entr" presetSubtype="0" fill="hold" nodeType="withEffect">
                                  <p:stCondLst>
                                    <p:cond delay="0"/>
                                  </p:stCondLst>
                                  <p:childTnLst>
                                    <p:set>
                                      <p:cBhvr>
                                        <p:cTn id="79" dur="1" fill="hold">
                                          <p:stCondLst>
                                            <p:cond delay="0"/>
                                          </p:stCondLst>
                                        </p:cTn>
                                        <p:tgtEl>
                                          <p:spTgt spid="67"/>
                                        </p:tgtEl>
                                        <p:attrNameLst>
                                          <p:attrName>style.visibility</p:attrName>
                                        </p:attrNameLst>
                                      </p:cBhvr>
                                      <p:to>
                                        <p:strVal val="visible"/>
                                      </p:to>
                                    </p:set>
                                    <p:animEffect transition="in" filter="fade">
                                      <p:cBhvr>
                                        <p:cTn id="80" dur="500"/>
                                        <p:tgtEl>
                                          <p:spTgt spid="67"/>
                                        </p:tgtEl>
                                      </p:cBhvr>
                                    </p:animEffect>
                                  </p:childTnLst>
                                </p:cTn>
                              </p:par>
                              <p:par>
                                <p:cTn id="81" presetID="10" presetClass="entr" presetSubtype="0" fill="hold" nodeType="withEffect">
                                  <p:stCondLst>
                                    <p:cond delay="0"/>
                                  </p:stCondLst>
                                  <p:childTnLst>
                                    <p:set>
                                      <p:cBhvr>
                                        <p:cTn id="82" dur="1" fill="hold">
                                          <p:stCondLst>
                                            <p:cond delay="0"/>
                                          </p:stCondLst>
                                        </p:cTn>
                                        <p:tgtEl>
                                          <p:spTgt spid="56"/>
                                        </p:tgtEl>
                                        <p:attrNameLst>
                                          <p:attrName>style.visibility</p:attrName>
                                        </p:attrNameLst>
                                      </p:cBhvr>
                                      <p:to>
                                        <p:strVal val="visible"/>
                                      </p:to>
                                    </p:set>
                                    <p:animEffect transition="in" filter="fade">
                                      <p:cBhvr>
                                        <p:cTn id="83" dur="500"/>
                                        <p:tgtEl>
                                          <p:spTgt spid="56"/>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41"/>
                                        </p:tgtEl>
                                        <p:attrNameLst>
                                          <p:attrName>style.visibility</p:attrName>
                                        </p:attrNameLst>
                                      </p:cBhvr>
                                      <p:to>
                                        <p:strVal val="visible"/>
                                      </p:to>
                                    </p:set>
                                    <p:animEffect transition="in" filter="fade">
                                      <p:cBhvr>
                                        <p:cTn id="88" dur="500"/>
                                        <p:tgtEl>
                                          <p:spTgt spid="41"/>
                                        </p:tgtEl>
                                      </p:cBhvr>
                                    </p:animEffect>
                                  </p:childTnLst>
                                </p:cTn>
                              </p:par>
                              <p:par>
                                <p:cTn id="89" presetID="10" presetClass="entr" presetSubtype="0" fill="hold" nodeType="withEffect">
                                  <p:stCondLst>
                                    <p:cond delay="0"/>
                                  </p:stCondLst>
                                  <p:childTnLst>
                                    <p:set>
                                      <p:cBhvr>
                                        <p:cTn id="90" dur="1" fill="hold">
                                          <p:stCondLst>
                                            <p:cond delay="0"/>
                                          </p:stCondLst>
                                        </p:cTn>
                                        <p:tgtEl>
                                          <p:spTgt spid="43"/>
                                        </p:tgtEl>
                                        <p:attrNameLst>
                                          <p:attrName>style.visibility</p:attrName>
                                        </p:attrNameLst>
                                      </p:cBhvr>
                                      <p:to>
                                        <p:strVal val="visible"/>
                                      </p:to>
                                    </p:set>
                                    <p:animEffect transition="in" filter="fade">
                                      <p:cBhvr>
                                        <p:cTn id="91" dur="500"/>
                                        <p:tgtEl>
                                          <p:spTgt spid="43"/>
                                        </p:tgtEl>
                                      </p:cBhvr>
                                    </p:animEffect>
                                  </p:childTnLst>
                                </p:cTn>
                              </p:par>
                              <p:par>
                                <p:cTn id="92" presetID="10" presetClass="entr" presetSubtype="0" fill="hold" nodeType="withEffect">
                                  <p:stCondLst>
                                    <p:cond delay="0"/>
                                  </p:stCondLst>
                                  <p:childTnLst>
                                    <p:set>
                                      <p:cBhvr>
                                        <p:cTn id="93" dur="1" fill="hold">
                                          <p:stCondLst>
                                            <p:cond delay="0"/>
                                          </p:stCondLst>
                                        </p:cTn>
                                        <p:tgtEl>
                                          <p:spTgt spid="45"/>
                                        </p:tgtEl>
                                        <p:attrNameLst>
                                          <p:attrName>style.visibility</p:attrName>
                                        </p:attrNameLst>
                                      </p:cBhvr>
                                      <p:to>
                                        <p:strVal val="visible"/>
                                      </p:to>
                                    </p:set>
                                    <p:animEffect transition="in" filter="fade">
                                      <p:cBhvr>
                                        <p:cTn id="94" dur="500"/>
                                        <p:tgtEl>
                                          <p:spTgt spid="45"/>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16"/>
                                        </p:tgtEl>
                                        <p:attrNameLst>
                                          <p:attrName>style.visibility</p:attrName>
                                        </p:attrNameLst>
                                      </p:cBhvr>
                                      <p:to>
                                        <p:strVal val="visible"/>
                                      </p:to>
                                    </p:set>
                                    <p:animEffect transition="in" filter="fade">
                                      <p:cBhvr>
                                        <p:cTn id="97" dur="500"/>
                                        <p:tgtEl>
                                          <p:spTgt spid="16"/>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15"/>
                                        </p:tgtEl>
                                        <p:attrNameLst>
                                          <p:attrName>style.visibility</p:attrName>
                                        </p:attrNameLst>
                                      </p:cBhvr>
                                      <p:to>
                                        <p:strVal val="visible"/>
                                      </p:to>
                                    </p:set>
                                    <p:animEffect transition="in" filter="fade">
                                      <p:cBhvr>
                                        <p:cTn id="100" dur="500"/>
                                        <p:tgtEl>
                                          <p:spTgt spid="15"/>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17"/>
                                        </p:tgtEl>
                                        <p:attrNameLst>
                                          <p:attrName>style.visibility</p:attrName>
                                        </p:attrNameLst>
                                      </p:cBhvr>
                                      <p:to>
                                        <p:strVal val="visible"/>
                                      </p:to>
                                    </p:set>
                                    <p:animEffect transition="in" filter="fade">
                                      <p:cBhvr>
                                        <p:cTn id="103" dur="500"/>
                                        <p:tgtEl>
                                          <p:spTgt spid="17"/>
                                        </p:tgtEl>
                                      </p:cBhvr>
                                    </p:animEffect>
                                  </p:childTnLst>
                                </p:cTn>
                              </p:par>
                              <p:par>
                                <p:cTn id="104" presetID="10" presetClass="entr" presetSubtype="0" fill="hold" nodeType="withEffect">
                                  <p:stCondLst>
                                    <p:cond delay="0"/>
                                  </p:stCondLst>
                                  <p:childTnLst>
                                    <p:set>
                                      <p:cBhvr>
                                        <p:cTn id="105" dur="1" fill="hold">
                                          <p:stCondLst>
                                            <p:cond delay="0"/>
                                          </p:stCondLst>
                                        </p:cTn>
                                        <p:tgtEl>
                                          <p:spTgt spid="23"/>
                                        </p:tgtEl>
                                        <p:attrNameLst>
                                          <p:attrName>style.visibility</p:attrName>
                                        </p:attrNameLst>
                                      </p:cBhvr>
                                      <p:to>
                                        <p:strVal val="visible"/>
                                      </p:to>
                                    </p:set>
                                    <p:animEffect transition="in" filter="fade">
                                      <p:cBhvr>
                                        <p:cTn id="106" dur="500"/>
                                        <p:tgtEl>
                                          <p:spTgt spid="23"/>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4"/>
                                        </p:tgtEl>
                                        <p:attrNameLst>
                                          <p:attrName>style.visibility</p:attrName>
                                        </p:attrNameLst>
                                      </p:cBhvr>
                                      <p:to>
                                        <p:strVal val="visible"/>
                                      </p:to>
                                    </p:set>
                                    <p:animEffect transition="in" filter="fade">
                                      <p:cBhvr>
                                        <p:cTn id="109" dur="500"/>
                                        <p:tgtEl>
                                          <p:spTgt spid="44"/>
                                        </p:tgtEl>
                                      </p:cBhvr>
                                    </p:animEffect>
                                  </p:childTnLst>
                                </p:cTn>
                              </p:par>
                            </p:childTnLst>
                          </p:cTn>
                        </p:par>
                      </p:childTnLst>
                    </p:cTn>
                  </p:par>
                  <p:par>
                    <p:cTn id="110" fill="hold">
                      <p:stCondLst>
                        <p:cond delay="indefinite"/>
                      </p:stCondLst>
                      <p:childTnLst>
                        <p:par>
                          <p:cTn id="111" fill="hold">
                            <p:stCondLst>
                              <p:cond delay="0"/>
                            </p:stCondLst>
                            <p:childTnLst>
                              <p:par>
                                <p:cTn id="112" presetID="10" presetClass="entr" presetSubtype="0" fill="hold" nodeType="clickEffect">
                                  <p:stCondLst>
                                    <p:cond delay="0"/>
                                  </p:stCondLst>
                                  <p:childTnLst>
                                    <p:set>
                                      <p:cBhvr>
                                        <p:cTn id="113" dur="1" fill="hold">
                                          <p:stCondLst>
                                            <p:cond delay="0"/>
                                          </p:stCondLst>
                                        </p:cTn>
                                        <p:tgtEl>
                                          <p:spTgt spid="34"/>
                                        </p:tgtEl>
                                        <p:attrNameLst>
                                          <p:attrName>style.visibility</p:attrName>
                                        </p:attrNameLst>
                                      </p:cBhvr>
                                      <p:to>
                                        <p:strVal val="visible"/>
                                      </p:to>
                                    </p:set>
                                    <p:animEffect transition="in" filter="fade">
                                      <p:cBhvr>
                                        <p:cTn id="114" dur="500"/>
                                        <p:tgtEl>
                                          <p:spTgt spid="34"/>
                                        </p:tgtEl>
                                      </p:cBhvr>
                                    </p:animEffect>
                                  </p:childTnLst>
                                </p:cTn>
                              </p:par>
                              <p:par>
                                <p:cTn id="115" presetID="10" presetClass="entr" presetSubtype="0" fill="hold" grpId="0" nodeType="withEffect">
                                  <p:stCondLst>
                                    <p:cond delay="0"/>
                                  </p:stCondLst>
                                  <p:childTnLst>
                                    <p:set>
                                      <p:cBhvr>
                                        <p:cTn id="116" dur="1" fill="hold">
                                          <p:stCondLst>
                                            <p:cond delay="0"/>
                                          </p:stCondLst>
                                        </p:cTn>
                                        <p:tgtEl>
                                          <p:spTgt spid="53"/>
                                        </p:tgtEl>
                                        <p:attrNameLst>
                                          <p:attrName>style.visibility</p:attrName>
                                        </p:attrNameLst>
                                      </p:cBhvr>
                                      <p:to>
                                        <p:strVal val="visible"/>
                                      </p:to>
                                    </p:set>
                                    <p:animEffect transition="in" filter="fade">
                                      <p:cBhvr>
                                        <p:cTn id="117" dur="500"/>
                                        <p:tgtEl>
                                          <p:spTgt spid="53"/>
                                        </p:tgtEl>
                                      </p:cBhvr>
                                    </p:animEffect>
                                  </p:childTnLst>
                                </p:cTn>
                              </p:par>
                              <p:par>
                                <p:cTn id="118" presetID="10" presetClass="entr" presetSubtype="0" fill="hold" grpId="0" nodeType="withEffect">
                                  <p:stCondLst>
                                    <p:cond delay="0"/>
                                  </p:stCondLst>
                                  <p:childTnLst>
                                    <p:set>
                                      <p:cBhvr>
                                        <p:cTn id="119" dur="1" fill="hold">
                                          <p:stCondLst>
                                            <p:cond delay="0"/>
                                          </p:stCondLst>
                                        </p:cTn>
                                        <p:tgtEl>
                                          <p:spTgt spid="38"/>
                                        </p:tgtEl>
                                        <p:attrNameLst>
                                          <p:attrName>style.visibility</p:attrName>
                                        </p:attrNameLst>
                                      </p:cBhvr>
                                      <p:to>
                                        <p:strVal val="visible"/>
                                      </p:to>
                                    </p:set>
                                    <p:animEffect transition="in" filter="fade">
                                      <p:cBhvr>
                                        <p:cTn id="120" dur="500"/>
                                        <p:tgtEl>
                                          <p:spTgt spid="38"/>
                                        </p:tgtEl>
                                      </p:cBhvr>
                                    </p:animEffect>
                                  </p:childTnLst>
                                </p:cTn>
                              </p:par>
                              <p:par>
                                <p:cTn id="121" presetID="10" presetClass="entr" presetSubtype="0" fill="hold" nodeType="withEffect">
                                  <p:stCondLst>
                                    <p:cond delay="0"/>
                                  </p:stCondLst>
                                  <p:childTnLst>
                                    <p:set>
                                      <p:cBhvr>
                                        <p:cTn id="122" dur="1" fill="hold">
                                          <p:stCondLst>
                                            <p:cond delay="0"/>
                                          </p:stCondLst>
                                        </p:cTn>
                                        <p:tgtEl>
                                          <p:spTgt spid="39"/>
                                        </p:tgtEl>
                                        <p:attrNameLst>
                                          <p:attrName>style.visibility</p:attrName>
                                        </p:attrNameLst>
                                      </p:cBhvr>
                                      <p:to>
                                        <p:strVal val="visible"/>
                                      </p:to>
                                    </p:set>
                                    <p:animEffect transition="in" filter="fade">
                                      <p:cBhvr>
                                        <p:cTn id="123"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52" grpId="0" animBg="1"/>
      <p:bldP spid="53" grpId="0"/>
      <p:bldP spid="59" grpId="0" animBg="1"/>
      <p:bldP spid="38" grpId="0"/>
      <p:bldP spid="44" grpId="0"/>
      <p:bldP spid="46" grpId="0"/>
      <p:bldP spid="47" grpId="0"/>
      <p:bldP spid="60" grpId="0" animBg="1"/>
      <p:bldP spid="69" grpId="0" animBg="1"/>
      <p:bldP spid="73" grpId="0" animBg="1"/>
      <p:bldP spid="74"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p:nvPr/>
        </p:nvSpPr>
        <p:spPr>
          <a:xfrm>
            <a:off x="7714976" y="1558814"/>
            <a:ext cx="720080" cy="2172261"/>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5" name="矩形 14"/>
          <p:cNvSpPr/>
          <p:nvPr/>
        </p:nvSpPr>
        <p:spPr>
          <a:xfrm>
            <a:off x="6750256" y="1558814"/>
            <a:ext cx="720080" cy="2172261"/>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 name="标题 1"/>
          <p:cNvSpPr>
            <a:spLocks noGrp="1"/>
          </p:cNvSpPr>
          <p:nvPr>
            <p:ph type="title"/>
          </p:nvPr>
        </p:nvSpPr>
        <p:spPr/>
        <p:txBody>
          <a:bodyPr/>
          <a:lstStyle/>
          <a:p>
            <a:r>
              <a:rPr kumimoji="1" lang="zh-CN" altLang="en-US" dirty="0"/>
              <a:t>架构对比</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59</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矩形 5"/>
          <p:cNvSpPr/>
          <p:nvPr/>
        </p:nvSpPr>
        <p:spPr>
          <a:xfrm>
            <a:off x="971600" y="4007089"/>
            <a:ext cx="1684800" cy="361819"/>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网卡</a:t>
            </a:r>
          </a:p>
        </p:txBody>
      </p:sp>
      <p:sp>
        <p:nvSpPr>
          <p:cNvPr id="7" name="矩形 6"/>
          <p:cNvSpPr/>
          <p:nvPr/>
        </p:nvSpPr>
        <p:spPr>
          <a:xfrm>
            <a:off x="6750256" y="4003069"/>
            <a:ext cx="1684800" cy="361819"/>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网卡</a:t>
            </a:r>
          </a:p>
        </p:txBody>
      </p:sp>
      <p:sp>
        <p:nvSpPr>
          <p:cNvPr id="8" name="矩形 7"/>
          <p:cNvSpPr/>
          <p:nvPr/>
        </p:nvSpPr>
        <p:spPr>
          <a:xfrm>
            <a:off x="3707904" y="4007849"/>
            <a:ext cx="2116848" cy="361819"/>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网卡</a:t>
            </a:r>
          </a:p>
        </p:txBody>
      </p:sp>
      <p:sp>
        <p:nvSpPr>
          <p:cNvPr id="9" name="矩形 8"/>
          <p:cNvSpPr/>
          <p:nvPr/>
        </p:nvSpPr>
        <p:spPr>
          <a:xfrm>
            <a:off x="971600" y="2739875"/>
            <a:ext cx="1684800" cy="979182"/>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宏内核</a:t>
            </a: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en-US" altLang="zh-CN" dirty="0">
              <a:solidFill>
                <a:schemeClr val="tx1"/>
              </a:solidFill>
              <a:latin typeface="DengXian" panose="02010600030101010101" pitchFamily="2" charset="-122"/>
              <a:ea typeface="DengXian" panose="02010600030101010101" pitchFamily="2" charset="-122"/>
            </a:endParaRPr>
          </a:p>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10" name="矩形 9"/>
          <p:cNvSpPr/>
          <p:nvPr/>
        </p:nvSpPr>
        <p:spPr>
          <a:xfrm>
            <a:off x="6894272" y="2739875"/>
            <a:ext cx="576064" cy="97918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系统库</a:t>
            </a:r>
          </a:p>
        </p:txBody>
      </p:sp>
      <p:sp>
        <p:nvSpPr>
          <p:cNvPr id="12" name="矩形 11"/>
          <p:cNvSpPr/>
          <p:nvPr/>
        </p:nvSpPr>
        <p:spPr>
          <a:xfrm>
            <a:off x="971600" y="1558816"/>
            <a:ext cx="720080" cy="858549"/>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14" name="矩形 13"/>
          <p:cNvSpPr/>
          <p:nvPr/>
        </p:nvSpPr>
        <p:spPr>
          <a:xfrm>
            <a:off x="1920921" y="1558815"/>
            <a:ext cx="720080" cy="858549"/>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16" name="矩形 15"/>
          <p:cNvSpPr/>
          <p:nvPr/>
        </p:nvSpPr>
        <p:spPr>
          <a:xfrm>
            <a:off x="7858992" y="2739875"/>
            <a:ext cx="576064" cy="979182"/>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系统库</a:t>
            </a:r>
          </a:p>
        </p:txBody>
      </p:sp>
      <p:sp>
        <p:nvSpPr>
          <p:cNvPr id="18" name="矩形 17"/>
          <p:cNvSpPr/>
          <p:nvPr/>
        </p:nvSpPr>
        <p:spPr>
          <a:xfrm>
            <a:off x="3707904" y="3215001"/>
            <a:ext cx="2116848" cy="504056"/>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微内核</a:t>
            </a:r>
          </a:p>
        </p:txBody>
      </p:sp>
      <p:sp>
        <p:nvSpPr>
          <p:cNvPr id="19" name="矩形 18"/>
          <p:cNvSpPr/>
          <p:nvPr/>
        </p:nvSpPr>
        <p:spPr>
          <a:xfrm>
            <a:off x="4791618" y="2453909"/>
            <a:ext cx="1080120" cy="504056"/>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协议栈</a:t>
            </a:r>
          </a:p>
        </p:txBody>
      </p:sp>
      <p:sp>
        <p:nvSpPr>
          <p:cNvPr id="20" name="矩形 19"/>
          <p:cNvSpPr/>
          <p:nvPr/>
        </p:nvSpPr>
        <p:spPr>
          <a:xfrm>
            <a:off x="1273940" y="3106989"/>
            <a:ext cx="1080120" cy="504056"/>
          </a:xfrm>
          <a:prstGeom prst="rect">
            <a:avLst/>
          </a:prstGeom>
          <a:solidFill>
            <a:srgbClr val="FFC000"/>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协议栈</a:t>
            </a:r>
          </a:p>
        </p:txBody>
      </p:sp>
      <p:sp>
        <p:nvSpPr>
          <p:cNvPr id="21" name="矩形 20"/>
          <p:cNvSpPr/>
          <p:nvPr/>
        </p:nvSpPr>
        <p:spPr>
          <a:xfrm>
            <a:off x="3707904" y="1559372"/>
            <a:ext cx="720080" cy="655547"/>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22" name="矩形 21"/>
          <p:cNvSpPr/>
          <p:nvPr/>
        </p:nvSpPr>
        <p:spPr>
          <a:xfrm>
            <a:off x="3707904" y="2323089"/>
            <a:ext cx="720080" cy="655547"/>
          </a:xfrm>
          <a:prstGeom prst="rect">
            <a:avLst/>
          </a:prstGeom>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kumimoji="1" lang="zh-CN" altLang="en-US" dirty="0">
                <a:solidFill>
                  <a:schemeClr val="tx1"/>
                </a:solidFill>
                <a:latin typeface="DengXian" panose="02010600030101010101" pitchFamily="2" charset="-122"/>
                <a:ea typeface="DengXian" panose="02010600030101010101" pitchFamily="2" charset="-122"/>
              </a:rPr>
              <a:t>应用</a:t>
            </a:r>
          </a:p>
        </p:txBody>
      </p:sp>
      <p:sp>
        <p:nvSpPr>
          <p:cNvPr id="23" name="矩形 22"/>
          <p:cNvSpPr/>
          <p:nvPr/>
        </p:nvSpPr>
        <p:spPr>
          <a:xfrm>
            <a:off x="4791618" y="1863504"/>
            <a:ext cx="1080120" cy="318648"/>
          </a:xfrm>
          <a:prstGeom prst="rect">
            <a:avLst/>
          </a:prstGeom>
          <a:solidFill>
            <a:schemeClr val="bg1">
              <a:lumMod val="95000"/>
            </a:schemeClr>
          </a:solidFill>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dirty="0">
              <a:solidFill>
                <a:schemeClr val="tx1"/>
              </a:solidFill>
              <a:latin typeface="DengXian" panose="02010600030101010101" pitchFamily="2" charset="-122"/>
              <a:ea typeface="DengXian" panose="02010600030101010101" pitchFamily="2" charset="-122"/>
            </a:endParaRPr>
          </a:p>
        </p:txBody>
      </p:sp>
      <p:sp>
        <p:nvSpPr>
          <p:cNvPr id="24" name="文本框 23"/>
          <p:cNvSpPr txBox="1"/>
          <p:nvPr/>
        </p:nvSpPr>
        <p:spPr>
          <a:xfrm>
            <a:off x="4808283" y="1509911"/>
            <a:ext cx="1005403" cy="338554"/>
          </a:xfrm>
          <a:prstGeom prst="rect">
            <a:avLst/>
          </a:prstGeom>
          <a:noFill/>
        </p:spPr>
        <p:txBody>
          <a:bodyPr wrap="none" rtlCol="0">
            <a:spAutoFit/>
          </a:bodyPr>
          <a:lstStyle/>
          <a:p>
            <a:r>
              <a:rPr kumimoji="1" lang="zh-CN" altLang="en-US" sz="1600" b="1" dirty="0">
                <a:latin typeface="DengXian" panose="02010600030101010101" pitchFamily="2" charset="-122"/>
                <a:ea typeface="DengXian" panose="02010600030101010101" pitchFamily="2" charset="-122"/>
              </a:rPr>
              <a:t>共享内存</a:t>
            </a:r>
          </a:p>
        </p:txBody>
      </p:sp>
      <p:cxnSp>
        <p:nvCxnSpPr>
          <p:cNvPr id="25" name="直线连接符 24"/>
          <p:cNvCxnSpPr/>
          <p:nvPr/>
        </p:nvCxnSpPr>
        <p:spPr>
          <a:xfrm>
            <a:off x="683568" y="2569468"/>
            <a:ext cx="2228709"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38" name="直线箭头连接符 37"/>
          <p:cNvCxnSpPr/>
          <p:nvPr/>
        </p:nvCxnSpPr>
        <p:spPr>
          <a:xfrm>
            <a:off x="1331638" y="2265569"/>
            <a:ext cx="0" cy="692396"/>
          </a:xfrm>
          <a:prstGeom prst="straightConnector1">
            <a:avLst/>
          </a:prstGeom>
          <a:ln w="28575">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40" name="文本框 39"/>
          <p:cNvSpPr txBox="1"/>
          <p:nvPr/>
        </p:nvSpPr>
        <p:spPr>
          <a:xfrm>
            <a:off x="595844" y="2334768"/>
            <a:ext cx="668773" cy="276999"/>
          </a:xfrm>
          <a:prstGeom prst="rect">
            <a:avLst/>
          </a:prstGeom>
          <a:noFill/>
        </p:spPr>
        <p:txBody>
          <a:bodyPr wrap="none" rtlCol="0">
            <a:spAutoFit/>
          </a:bodyPr>
          <a:lstStyle/>
          <a:p>
            <a:r>
              <a:rPr kumimoji="1" lang="en-US" altLang="zh-CN" sz="1200" b="1" dirty="0">
                <a:solidFill>
                  <a:srgbClr val="FF0000"/>
                </a:solidFill>
                <a:latin typeface="DengXian" panose="02010600030101010101" pitchFamily="2" charset="-122"/>
                <a:ea typeface="DengXian" panose="02010600030101010101" pitchFamily="2" charset="-122"/>
              </a:rPr>
              <a:t>sys</a:t>
            </a:r>
            <a:r>
              <a:rPr kumimoji="1" lang="zh-CN" altLang="en-US" sz="1200" b="1" dirty="0">
                <a:solidFill>
                  <a:srgbClr val="FF0000"/>
                </a:solidFill>
                <a:latin typeface="DengXian" panose="02010600030101010101" pitchFamily="2" charset="-122"/>
                <a:ea typeface="DengXian" panose="02010600030101010101" pitchFamily="2" charset="-122"/>
              </a:rPr>
              <a:t> </a:t>
            </a:r>
            <a:r>
              <a:rPr kumimoji="1" lang="en-US" altLang="zh-CN" sz="1200" b="1" dirty="0">
                <a:solidFill>
                  <a:srgbClr val="FF0000"/>
                </a:solidFill>
                <a:latin typeface="DengXian" panose="02010600030101010101" pitchFamily="2" charset="-122"/>
                <a:ea typeface="DengXian" panose="02010600030101010101" pitchFamily="2" charset="-122"/>
              </a:rPr>
              <a:t>call</a:t>
            </a:r>
            <a:endParaRPr kumimoji="1" lang="zh-CN" altLang="en-US" sz="1200" b="1" dirty="0">
              <a:solidFill>
                <a:srgbClr val="FF0000"/>
              </a:solidFill>
              <a:latin typeface="DengXian" panose="02010600030101010101" pitchFamily="2" charset="-122"/>
              <a:ea typeface="DengXian" panose="02010600030101010101" pitchFamily="2" charset="-122"/>
            </a:endParaRPr>
          </a:p>
        </p:txBody>
      </p:sp>
      <p:cxnSp>
        <p:nvCxnSpPr>
          <p:cNvPr id="41" name="直线箭头连接符 40"/>
          <p:cNvCxnSpPr/>
          <p:nvPr/>
        </p:nvCxnSpPr>
        <p:spPr>
          <a:xfrm>
            <a:off x="7326320" y="2569468"/>
            <a:ext cx="0" cy="436907"/>
          </a:xfrm>
          <a:prstGeom prst="straightConnector1">
            <a:avLst/>
          </a:prstGeom>
          <a:ln w="28575">
            <a:solidFill>
              <a:srgbClr val="FF0000"/>
            </a:solidFill>
            <a:headEnd type="triangle"/>
            <a:tailEnd type="triangle"/>
          </a:ln>
        </p:spPr>
        <p:style>
          <a:lnRef idx="1">
            <a:schemeClr val="dk1"/>
          </a:lnRef>
          <a:fillRef idx="0">
            <a:schemeClr val="dk1"/>
          </a:fillRef>
          <a:effectRef idx="0">
            <a:schemeClr val="dk1"/>
          </a:effectRef>
          <a:fontRef idx="minor">
            <a:schemeClr val="tx1"/>
          </a:fontRef>
        </p:style>
      </p:cxnSp>
      <p:sp>
        <p:nvSpPr>
          <p:cNvPr id="43" name="文本框 42"/>
          <p:cNvSpPr txBox="1"/>
          <p:nvPr/>
        </p:nvSpPr>
        <p:spPr>
          <a:xfrm>
            <a:off x="6750254" y="2506444"/>
            <a:ext cx="601447" cy="276999"/>
          </a:xfrm>
          <a:prstGeom prst="rect">
            <a:avLst/>
          </a:prstGeom>
          <a:noFill/>
        </p:spPr>
        <p:txBody>
          <a:bodyPr wrap="none" rtlCol="0">
            <a:spAutoFit/>
          </a:bodyPr>
          <a:lstStyle/>
          <a:p>
            <a:r>
              <a:rPr kumimoji="1" lang="en-US" altLang="zh-CN" sz="1200" b="1" dirty="0" err="1">
                <a:solidFill>
                  <a:srgbClr val="FF0000"/>
                </a:solidFill>
                <a:latin typeface="DengXian" panose="02010600030101010101" pitchFamily="2" charset="-122"/>
                <a:ea typeface="DengXian" panose="02010600030101010101" pitchFamily="2" charset="-122"/>
              </a:rPr>
              <a:t>fn</a:t>
            </a:r>
            <a:r>
              <a:rPr kumimoji="1" lang="zh-CN" altLang="en-US" sz="1200" b="1" dirty="0">
                <a:solidFill>
                  <a:srgbClr val="FF0000"/>
                </a:solidFill>
                <a:latin typeface="DengXian" panose="02010600030101010101" pitchFamily="2" charset="-122"/>
                <a:ea typeface="DengXian" panose="02010600030101010101" pitchFamily="2" charset="-122"/>
              </a:rPr>
              <a:t> </a:t>
            </a:r>
            <a:r>
              <a:rPr kumimoji="1" lang="en-US" altLang="zh-CN" sz="1200" b="1" dirty="0">
                <a:solidFill>
                  <a:srgbClr val="FF0000"/>
                </a:solidFill>
                <a:latin typeface="DengXian" panose="02010600030101010101" pitchFamily="2" charset="-122"/>
                <a:ea typeface="DengXian" panose="02010600030101010101" pitchFamily="2" charset="-122"/>
              </a:rPr>
              <a:t>call</a:t>
            </a:r>
            <a:endParaRPr kumimoji="1" lang="zh-CN" altLang="en-US" sz="1200" b="1" dirty="0">
              <a:solidFill>
                <a:srgbClr val="FF0000"/>
              </a:solidFill>
              <a:latin typeface="DengXian" panose="02010600030101010101" pitchFamily="2" charset="-122"/>
              <a:ea typeface="DengXian" panose="02010600030101010101" pitchFamily="2" charset="-122"/>
            </a:endParaRPr>
          </a:p>
        </p:txBody>
      </p:sp>
      <p:cxnSp>
        <p:nvCxnSpPr>
          <p:cNvPr id="44" name="直线连接符 43"/>
          <p:cNvCxnSpPr/>
          <p:nvPr/>
        </p:nvCxnSpPr>
        <p:spPr>
          <a:xfrm>
            <a:off x="6721172" y="3865612"/>
            <a:ext cx="1901292"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47" name="直线连接符 46"/>
          <p:cNvCxnSpPr/>
          <p:nvPr/>
        </p:nvCxnSpPr>
        <p:spPr>
          <a:xfrm>
            <a:off x="3609604" y="3106989"/>
            <a:ext cx="2330548"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3" name="直线连接符 52"/>
          <p:cNvCxnSpPr/>
          <p:nvPr/>
        </p:nvCxnSpPr>
        <p:spPr>
          <a:xfrm>
            <a:off x="4644008" y="1473685"/>
            <a:ext cx="0" cy="1633304"/>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54" name="曲线连接符 53"/>
          <p:cNvCxnSpPr/>
          <p:nvPr/>
        </p:nvCxnSpPr>
        <p:spPr>
          <a:xfrm rot="16200000" flipH="1">
            <a:off x="4636808" y="2475796"/>
            <a:ext cx="14400" cy="720000"/>
          </a:xfrm>
          <a:prstGeom prst="curvedConnector3">
            <a:avLst>
              <a:gd name="adj1" fmla="val 3251569"/>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4161051" y="3165283"/>
            <a:ext cx="389850" cy="276999"/>
          </a:xfrm>
          <a:prstGeom prst="rect">
            <a:avLst/>
          </a:prstGeom>
          <a:noFill/>
        </p:spPr>
        <p:txBody>
          <a:bodyPr wrap="none" rtlCol="0">
            <a:spAutoFit/>
          </a:bodyPr>
          <a:lstStyle/>
          <a:p>
            <a:r>
              <a:rPr kumimoji="1" lang="en-US" altLang="zh-CN" sz="1200" b="1" dirty="0" err="1">
                <a:solidFill>
                  <a:srgbClr val="FF0000"/>
                </a:solidFill>
                <a:latin typeface="DengXian" panose="02010600030101010101" pitchFamily="2" charset="-122"/>
                <a:ea typeface="DengXian" panose="02010600030101010101" pitchFamily="2" charset="-122"/>
              </a:rPr>
              <a:t>ipc</a:t>
            </a:r>
            <a:endParaRPr kumimoji="1" lang="zh-CN" altLang="en-US" sz="1200" b="1" dirty="0">
              <a:solidFill>
                <a:srgbClr val="FF0000"/>
              </a:solidFill>
              <a:latin typeface="DengXian" panose="02010600030101010101" pitchFamily="2" charset="-122"/>
              <a:ea typeface="DengXian" panose="02010600030101010101" pitchFamily="2" charset="-122"/>
            </a:endParaRPr>
          </a:p>
        </p:txBody>
      </p:sp>
      <p:cxnSp>
        <p:nvCxnSpPr>
          <p:cNvPr id="58" name="直线箭头连接符 57"/>
          <p:cNvCxnSpPr>
            <a:stCxn id="19" idx="0"/>
            <a:endCxn id="23" idx="2"/>
          </p:cNvCxnSpPr>
          <p:nvPr/>
        </p:nvCxnSpPr>
        <p:spPr>
          <a:xfrm flipV="1">
            <a:off x="5331678" y="2182152"/>
            <a:ext cx="0" cy="271757"/>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直线箭头连接符 62"/>
          <p:cNvCxnSpPr>
            <a:stCxn id="23" idx="1"/>
          </p:cNvCxnSpPr>
          <p:nvPr/>
        </p:nvCxnSpPr>
        <p:spPr>
          <a:xfrm flipH="1">
            <a:off x="4427984" y="2022828"/>
            <a:ext cx="363634" cy="0"/>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5" name="文本框 64"/>
          <p:cNvSpPr txBox="1"/>
          <p:nvPr/>
        </p:nvSpPr>
        <p:spPr>
          <a:xfrm>
            <a:off x="4161051" y="4513684"/>
            <a:ext cx="1338828" cy="369332"/>
          </a:xfrm>
          <a:prstGeom prst="rect">
            <a:avLst/>
          </a:prstGeom>
          <a:noFill/>
        </p:spPr>
        <p:txBody>
          <a:bodyPr wrap="none" rtlCol="0">
            <a:spAutoFit/>
          </a:bodyPr>
          <a:lstStyle/>
          <a:p>
            <a:r>
              <a:rPr kumimoji="1" lang="zh-CN" altLang="en-US" b="1" dirty="0">
                <a:latin typeface="DengXian" panose="02010600030101010101" pitchFamily="2" charset="-122"/>
                <a:ea typeface="DengXian" panose="02010600030101010101" pitchFamily="2" charset="-122"/>
              </a:rPr>
              <a:t>微内核系统</a:t>
            </a:r>
          </a:p>
        </p:txBody>
      </p:sp>
      <p:sp>
        <p:nvSpPr>
          <p:cNvPr id="66" name="文本框 65"/>
          <p:cNvSpPr txBox="1"/>
          <p:nvPr/>
        </p:nvSpPr>
        <p:spPr>
          <a:xfrm>
            <a:off x="1144586" y="4513684"/>
            <a:ext cx="1338828" cy="369332"/>
          </a:xfrm>
          <a:prstGeom prst="rect">
            <a:avLst/>
          </a:prstGeom>
          <a:noFill/>
        </p:spPr>
        <p:txBody>
          <a:bodyPr wrap="none" rtlCol="0">
            <a:spAutoFit/>
          </a:bodyPr>
          <a:lstStyle/>
          <a:p>
            <a:r>
              <a:rPr kumimoji="1" lang="zh-CN" altLang="en-US" b="1" dirty="0">
                <a:latin typeface="DengXian" panose="02010600030101010101" pitchFamily="2" charset="-122"/>
                <a:ea typeface="DengXian" panose="02010600030101010101" pitchFamily="2" charset="-122"/>
              </a:rPr>
              <a:t>宏内核系统</a:t>
            </a:r>
          </a:p>
        </p:txBody>
      </p:sp>
      <p:sp>
        <p:nvSpPr>
          <p:cNvPr id="67" name="文本框 66"/>
          <p:cNvSpPr txBox="1"/>
          <p:nvPr/>
        </p:nvSpPr>
        <p:spPr>
          <a:xfrm>
            <a:off x="6923242" y="4513684"/>
            <a:ext cx="1338828" cy="369332"/>
          </a:xfrm>
          <a:prstGeom prst="rect">
            <a:avLst/>
          </a:prstGeom>
          <a:noFill/>
        </p:spPr>
        <p:txBody>
          <a:bodyPr wrap="none" rtlCol="0">
            <a:spAutoFit/>
          </a:bodyPr>
          <a:lstStyle/>
          <a:p>
            <a:r>
              <a:rPr kumimoji="1" lang="zh-CN" altLang="en-US" b="1" dirty="0">
                <a:latin typeface="DengXian" panose="02010600030101010101" pitchFamily="2" charset="-122"/>
                <a:ea typeface="DengXian" panose="02010600030101010101" pitchFamily="2" charset="-122"/>
              </a:rPr>
              <a:t>库操作系统</a:t>
            </a:r>
          </a:p>
        </p:txBody>
      </p:sp>
      <p:cxnSp>
        <p:nvCxnSpPr>
          <p:cNvPr id="37" name="直线连接符 36"/>
          <p:cNvCxnSpPr/>
          <p:nvPr/>
        </p:nvCxnSpPr>
        <p:spPr>
          <a:xfrm>
            <a:off x="3643029" y="3871461"/>
            <a:ext cx="2228709" cy="0"/>
          </a:xfrm>
          <a:prstGeom prst="line">
            <a:avLst/>
          </a:prstGeom>
          <a:ln w="28575">
            <a:prstDash val="dash"/>
          </a:ln>
        </p:spPr>
        <p:style>
          <a:lnRef idx="1">
            <a:schemeClr val="dk1"/>
          </a:lnRef>
          <a:fillRef idx="0">
            <a:schemeClr val="dk1"/>
          </a:fillRef>
          <a:effectRef idx="0">
            <a:schemeClr val="dk1"/>
          </a:effectRef>
          <a:fontRef idx="minor">
            <a:schemeClr val="tx1"/>
          </a:fontRef>
        </p:style>
      </p:cxnSp>
      <p:cxnSp>
        <p:nvCxnSpPr>
          <p:cNvPr id="39" name="直线连接符 38"/>
          <p:cNvCxnSpPr/>
          <p:nvPr/>
        </p:nvCxnSpPr>
        <p:spPr>
          <a:xfrm>
            <a:off x="683568" y="3886640"/>
            <a:ext cx="2228709" cy="0"/>
          </a:xfrm>
          <a:prstGeom prst="line">
            <a:avLst/>
          </a:prstGeom>
          <a:ln w="28575">
            <a:prstDash val="dash"/>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不同系统架构下网络设计对比</a:t>
            </a:r>
          </a:p>
        </p:txBody>
      </p:sp>
      <p:sp>
        <p:nvSpPr>
          <p:cNvPr id="3" name="内容占位符 2"/>
          <p:cNvSpPr>
            <a:spLocks noGrp="1"/>
          </p:cNvSpPr>
          <p:nvPr>
            <p:ph idx="1"/>
          </p:nvPr>
        </p:nvSpPr>
        <p:spPr/>
        <p:txBody>
          <a:bodyPr/>
          <a:lstStyle/>
          <a:p>
            <a:r>
              <a:rPr kumimoji="1" lang="zh-CN" altLang="en-US" dirty="0"/>
              <a:t>宏内核系统网络模块：</a:t>
            </a:r>
            <a:endParaRPr kumimoji="1" lang="en-US" altLang="zh-CN" dirty="0"/>
          </a:p>
          <a:p>
            <a:pPr lvl="1"/>
            <a:r>
              <a:rPr kumimoji="1" lang="zh-CN" altLang="en-US" dirty="0"/>
              <a:t>控制平面和数据平面都经过内核</a:t>
            </a:r>
            <a:endParaRPr kumimoji="1" lang="en-US" altLang="zh-CN" dirty="0"/>
          </a:p>
          <a:p>
            <a:pPr lvl="1"/>
            <a:r>
              <a:rPr kumimoji="1" lang="zh-CN" altLang="en-US" dirty="0"/>
              <a:t>驱动和协议栈处在同一地址空间，没有模式切换</a:t>
            </a:r>
            <a:endParaRPr kumimoji="1" lang="en-US" altLang="zh-CN" dirty="0"/>
          </a:p>
          <a:p>
            <a:pPr lvl="1"/>
            <a:r>
              <a:rPr kumimoji="1" lang="zh-CN" altLang="en-US" dirty="0"/>
              <a:t>驱动程序的安全问题会波及协议栈</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60</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不同系统架构下网络设计对比</a:t>
            </a:r>
          </a:p>
        </p:txBody>
      </p:sp>
      <p:sp>
        <p:nvSpPr>
          <p:cNvPr id="3" name="内容占位符 2"/>
          <p:cNvSpPr>
            <a:spLocks noGrp="1"/>
          </p:cNvSpPr>
          <p:nvPr>
            <p:ph idx="1"/>
          </p:nvPr>
        </p:nvSpPr>
        <p:spPr/>
        <p:txBody>
          <a:bodyPr/>
          <a:lstStyle/>
          <a:p>
            <a:r>
              <a:rPr kumimoji="1" lang="zh-CN" altLang="en-US" dirty="0"/>
              <a:t>微内核系统网络模块：</a:t>
            </a:r>
            <a:endParaRPr kumimoji="1" lang="en-US" altLang="zh-CN" dirty="0"/>
          </a:p>
          <a:p>
            <a:pPr lvl="1"/>
            <a:r>
              <a:rPr kumimoji="1" lang="zh-CN" altLang="en-US" dirty="0"/>
              <a:t>用户态驱动</a:t>
            </a:r>
            <a:r>
              <a:rPr kumimoji="1" lang="en-US" altLang="zh-CN" dirty="0"/>
              <a:t>+</a:t>
            </a:r>
            <a:r>
              <a:rPr kumimoji="1" lang="zh-CN" altLang="en-US" dirty="0"/>
              <a:t>协议栈，安全性好</a:t>
            </a:r>
            <a:endParaRPr kumimoji="1" lang="en-US" altLang="zh-CN" dirty="0"/>
          </a:p>
          <a:p>
            <a:pPr lvl="1"/>
            <a:r>
              <a:rPr kumimoji="1" lang="zh-CN" altLang="en-US" dirty="0"/>
              <a:t>只有一个协议栈，运维成本低</a:t>
            </a:r>
            <a:endParaRPr kumimoji="1" lang="en-US" altLang="zh-CN" dirty="0"/>
          </a:p>
          <a:p>
            <a:pPr lvl="1"/>
            <a:r>
              <a:rPr kumimoji="1" lang="zh-CN" altLang="en-US" dirty="0"/>
              <a:t>控制平面通信需要借助</a:t>
            </a:r>
            <a:r>
              <a:rPr kumimoji="1" lang="en-US" altLang="zh-CN" dirty="0"/>
              <a:t>IPC</a:t>
            </a:r>
            <a:r>
              <a:rPr kumimoji="1" lang="zh-CN" altLang="en-US" dirty="0"/>
              <a:t>完成，有一定开销</a:t>
            </a:r>
            <a:endParaRPr kumimoji="1" lang="en-US" altLang="zh-CN" dirty="0"/>
          </a:p>
        </p:txBody>
      </p:sp>
      <p:sp>
        <p:nvSpPr>
          <p:cNvPr id="4" name="灯片编号占位符 3"/>
          <p:cNvSpPr>
            <a:spLocks noGrp="1"/>
          </p:cNvSpPr>
          <p:nvPr>
            <p:ph type="sldNum" sz="quarter" idx="12"/>
          </p:nvPr>
        </p:nvSpPr>
        <p:spPr/>
        <p:txBody>
          <a:bodyPr/>
          <a:lstStyle/>
          <a:p>
            <a:fld id="{ADE361C3-C043-4A6E-BDCE-8DA1E7D90A3B}" type="slidenum">
              <a:rPr lang="zh-CN" altLang="en-US" smtClean="0"/>
              <a:t>61</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不同系统架构下网络设计对比</a:t>
            </a:r>
          </a:p>
        </p:txBody>
      </p:sp>
      <p:sp>
        <p:nvSpPr>
          <p:cNvPr id="3" name="内容占位符 2"/>
          <p:cNvSpPr>
            <a:spLocks noGrp="1"/>
          </p:cNvSpPr>
          <p:nvPr>
            <p:ph idx="1"/>
          </p:nvPr>
        </p:nvSpPr>
        <p:spPr/>
        <p:txBody>
          <a:bodyPr/>
          <a:lstStyle/>
          <a:p>
            <a:r>
              <a:rPr kumimoji="1" lang="zh-CN" altLang="en-US" dirty="0"/>
              <a:t>库操作系统（</a:t>
            </a:r>
            <a:r>
              <a:rPr kumimoji="1" lang="en-US" altLang="zh-CN" dirty="0" err="1"/>
              <a:t>LibOS</a:t>
            </a:r>
            <a:r>
              <a:rPr kumimoji="1" lang="zh-CN" altLang="en-US"/>
              <a:t>）网络模块：</a:t>
            </a:r>
            <a:endParaRPr kumimoji="1" lang="en-US" altLang="zh-CN" dirty="0"/>
          </a:p>
          <a:p>
            <a:pPr lvl="1"/>
            <a:r>
              <a:rPr kumimoji="1" lang="zh-CN" altLang="en-US" dirty="0"/>
              <a:t>用户态或</a:t>
            </a:r>
            <a:r>
              <a:rPr kumimoji="1" lang="en-US" altLang="zh-CN" dirty="0"/>
              <a:t>non-root</a:t>
            </a:r>
            <a:r>
              <a:rPr kumimoji="1" lang="zh-CN" altLang="en-US" dirty="0"/>
              <a:t>模式下协议栈，鲁棒性好</a:t>
            </a:r>
            <a:endParaRPr kumimoji="1" lang="en-US" altLang="zh-CN" dirty="0"/>
          </a:p>
          <a:p>
            <a:pPr lvl="1"/>
            <a:r>
              <a:rPr kumimoji="1" lang="zh-CN" altLang="en-US" dirty="0"/>
              <a:t>每个实例都有自己的协议栈</a:t>
            </a:r>
            <a:endParaRPr kumimoji="1" lang="en-US" altLang="zh-CN" dirty="0"/>
          </a:p>
          <a:p>
            <a:pPr lvl="1"/>
            <a:r>
              <a:rPr kumimoji="1" lang="zh-CN" altLang="en-US" dirty="0"/>
              <a:t>一旦需要更新，可维护性成本高</a:t>
            </a:r>
            <a:endParaRPr kumimoji="1" lang="en-US" altLang="zh-CN" dirty="0"/>
          </a:p>
          <a:p>
            <a:pPr lvl="1"/>
            <a:r>
              <a:rPr kumimoji="1" lang="zh-CN" altLang="en-US" dirty="0"/>
              <a:t>多实例</a:t>
            </a:r>
            <a:r>
              <a:rPr kumimoji="1" lang="en-US" altLang="zh-CN" dirty="0"/>
              <a:t>polling</a:t>
            </a:r>
            <a:r>
              <a:rPr kumimoji="1" lang="zh-CN" altLang="en-US" dirty="0"/>
              <a:t>的情况下会导致浪费</a:t>
            </a:r>
            <a:r>
              <a:rPr kumimoji="1" lang="en-US" altLang="zh-CN" dirty="0"/>
              <a:t>CPU</a:t>
            </a:r>
            <a:r>
              <a:rPr kumimoji="1" lang="zh-CN" altLang="en-US" dirty="0"/>
              <a:t>*</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t>62</a:t>
            </a:fld>
            <a:endParaRPr lang="zh-CN" altLang="en-US"/>
          </a:p>
        </p:txBody>
      </p:sp>
      <p:sp>
        <p:nvSpPr>
          <p:cNvPr id="5" name="页脚占位符 4"/>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
        <p:nvSpPr>
          <p:cNvPr id="6" name="内容占位符 2"/>
          <p:cNvSpPr txBox="1"/>
          <p:nvPr/>
        </p:nvSpPr>
        <p:spPr>
          <a:xfrm>
            <a:off x="827584" y="4945732"/>
            <a:ext cx="4392488" cy="255317"/>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lnSpc>
                <a:spcPct val="120000"/>
              </a:lnSpc>
              <a:spcBef>
                <a:spcPts val="1200"/>
              </a:spcBef>
              <a:buFont typeface="Arial" panose="020B0604020202090204" pitchFamily="34" charset="0"/>
              <a:buChar char="•"/>
              <a:defRPr sz="24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anose="020B0604020202090204"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anose="020B0604020202090204"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buNone/>
            </a:pPr>
            <a:r>
              <a:rPr lang="en-GB" altLang="zh-CN" sz="1400" dirty="0"/>
              <a:t>Snap: a Microkernel Approach to Host Networking</a:t>
            </a:r>
            <a:r>
              <a:rPr lang="en-US" altLang="zh-CN" sz="1400" dirty="0"/>
              <a:t>,</a:t>
            </a:r>
            <a:r>
              <a:rPr lang="zh-CN" altLang="en-US" sz="1400" dirty="0"/>
              <a:t> </a:t>
            </a:r>
            <a:r>
              <a:rPr lang="en-US" altLang="zh-CN" sz="1400" dirty="0"/>
              <a:t>SOSP</a:t>
            </a:r>
            <a:r>
              <a:rPr lang="zh-CN" altLang="en-US" sz="1400" dirty="0"/>
              <a:t> </a:t>
            </a:r>
            <a:r>
              <a:rPr lang="en-US" altLang="zh-CN" sz="1400" dirty="0"/>
              <a:t>2019</a:t>
            </a:r>
            <a:endParaRPr kumimoji="1" lang="zh-CN" altLang="en-US" sz="1400" dirty="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SJTU-Red</Template>
  <TotalTime>1450</TotalTime>
  <Words>4463</Words>
  <Application>Microsoft Macintosh PowerPoint</Application>
  <PresentationFormat>全屏显示(16:10)</PresentationFormat>
  <Paragraphs>842</Paragraphs>
  <Slides>62</Slides>
  <Notes>16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62</vt:i4>
      </vt:variant>
    </vt:vector>
  </HeadingPairs>
  <TitlesOfParts>
    <vt:vector size="69" baseType="lpstr">
      <vt:lpstr>DengXian</vt:lpstr>
      <vt:lpstr>微软雅黑</vt:lpstr>
      <vt:lpstr>Arial</vt:lpstr>
      <vt:lpstr>Calibri</vt:lpstr>
      <vt:lpstr>Courier New</vt:lpstr>
      <vt:lpstr>Wingdings</vt:lpstr>
      <vt:lpstr>Office 主题​​</vt:lpstr>
      <vt:lpstr>设备管理与网络</vt:lpstr>
      <vt:lpstr>版权声明</vt:lpstr>
      <vt:lpstr>设备管理主要的三类方式</vt:lpstr>
      <vt:lpstr>OS的设备管理：对上与对下</vt:lpstr>
      <vt:lpstr>第一类：内核直管</vt:lpstr>
      <vt:lpstr>PowerPoint 演示文稿</vt:lpstr>
      <vt:lpstr>PowerPoint 演示文稿</vt:lpstr>
      <vt:lpstr>PowerPoint 演示文稿</vt:lpstr>
      <vt:lpstr>PowerPoint 演示文稿</vt:lpstr>
      <vt:lpstr>第二类：设备驱动</vt:lpstr>
      <vt:lpstr>回顾：Linux的设备分类</vt:lpstr>
      <vt:lpstr>宏内核vs微内核的驱动</vt:lpstr>
      <vt:lpstr>第三类：用户态库</vt:lpstr>
      <vt:lpstr>案例：Linux的上下半部</vt:lpstr>
      <vt:lpstr>Linux上下半部</vt:lpstr>
      <vt:lpstr>Top Half：马上做</vt:lpstr>
      <vt:lpstr>Bottom Half：延迟去做</vt:lpstr>
      <vt:lpstr>内核线程（Kernel Threads）</vt:lpstr>
      <vt:lpstr>总结</vt:lpstr>
      <vt:lpstr>操作系统的网络</vt:lpstr>
      <vt:lpstr>网络协议栈的分层模型</vt:lpstr>
      <vt:lpstr>Linux网络驱动模型</vt:lpstr>
      <vt:lpstr>中断合并</vt:lpstr>
      <vt:lpstr>架构对比</vt:lpstr>
      <vt:lpstr>案例：Linux的收包过程</vt:lpstr>
      <vt:lpstr>Linux收包过程</vt:lpstr>
      <vt:lpstr>收包：数据链路层（1）</vt:lpstr>
      <vt:lpstr>收包：数据链路层（2）</vt:lpstr>
      <vt:lpstr>收包：网络层</vt:lpstr>
      <vt:lpstr>收包：传输层</vt:lpstr>
      <vt:lpstr>收包：应用层</vt:lpstr>
      <vt:lpstr>网络包的管理</vt:lpstr>
      <vt:lpstr>sk_buff</vt:lpstr>
      <vt:lpstr>例子：发送数据包</vt:lpstr>
      <vt:lpstr>例子：发送数据包</vt:lpstr>
      <vt:lpstr>例子：发送数据包</vt:lpstr>
      <vt:lpstr>例子：发送数据包</vt:lpstr>
      <vt:lpstr>例子：发送数据包</vt:lpstr>
      <vt:lpstr>例子：发送数据包</vt:lpstr>
      <vt:lpstr>skb的协议栈头部</vt:lpstr>
      <vt:lpstr>skb control buffer</vt:lpstr>
      <vt:lpstr>skb的组织</vt:lpstr>
      <vt:lpstr>skb的组织</vt:lpstr>
      <vt:lpstr>skb小结</vt:lpstr>
      <vt:lpstr>用户态协议栈：DPDK</vt:lpstr>
      <vt:lpstr>Linux网络协议栈的问题</vt:lpstr>
      <vt:lpstr>Linux网络协议栈的问题</vt:lpstr>
      <vt:lpstr>Linux网络协议栈的问题</vt:lpstr>
      <vt:lpstr>Intel DPDK</vt:lpstr>
      <vt:lpstr>DPDK架构图</vt:lpstr>
      <vt:lpstr>DPDK特性</vt:lpstr>
      <vt:lpstr>DPDK特性（2）</vt:lpstr>
      <vt:lpstr>DPDK的使用</vt:lpstr>
      <vt:lpstr>类微内核方案</vt:lpstr>
      <vt:lpstr>LibOS方案</vt:lpstr>
      <vt:lpstr>控制平面与数据平面分离</vt:lpstr>
      <vt:lpstr>不同架构对比</vt:lpstr>
      <vt:lpstr>微内核网络架构图</vt:lpstr>
      <vt:lpstr>架构对比</vt:lpstr>
      <vt:lpstr>不同系统架构下网络设计对比</vt:lpstr>
      <vt:lpstr>不同系统架构下网络设计对比</vt:lpstr>
      <vt:lpstr>不同系统架构下网络设计对比</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Yubin Xia</cp:lastModifiedBy>
  <cp:revision>6329</cp:revision>
  <cp:lastPrinted>2020-05-12T01:38:13Z</cp:lastPrinted>
  <dcterms:created xsi:type="dcterms:W3CDTF">2020-05-12T01:38:13Z</dcterms:created>
  <dcterms:modified xsi:type="dcterms:W3CDTF">2022-04-24T01:57:33Z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2052-2.2.0.3563</vt:lpwstr>
  </property>
</Properties>
</file>