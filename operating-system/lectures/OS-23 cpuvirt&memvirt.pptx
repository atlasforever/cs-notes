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1306" r:id="rId2"/>
    <p:sldId id="1359" r:id="rId3"/>
    <p:sldId id="2852" r:id="rId4"/>
    <p:sldId id="2850" r:id="rId5"/>
    <p:sldId id="2844" r:id="rId6"/>
    <p:sldId id="2846" r:id="rId7"/>
    <p:sldId id="2847" r:id="rId8"/>
    <p:sldId id="2843" r:id="rId9"/>
    <p:sldId id="2848" r:id="rId10"/>
    <p:sldId id="2851" r:id="rId11"/>
    <p:sldId id="2771" r:id="rId12"/>
    <p:sldId id="2765" r:id="rId13"/>
    <p:sldId id="2745" r:id="rId14"/>
    <p:sldId id="2736" r:id="rId15"/>
    <p:sldId id="2743" r:id="rId16"/>
    <p:sldId id="2760" r:id="rId17"/>
    <p:sldId id="2764" r:id="rId18"/>
    <p:sldId id="2772" r:id="rId19"/>
    <p:sldId id="2763" r:id="rId20"/>
    <p:sldId id="2754" r:id="rId21"/>
    <p:sldId id="2756" r:id="rId22"/>
    <p:sldId id="2759" r:id="rId23"/>
    <p:sldId id="2758" r:id="rId24"/>
    <p:sldId id="2751" r:id="rId25"/>
    <p:sldId id="2761" r:id="rId26"/>
    <p:sldId id="2811" r:id="rId27"/>
    <p:sldId id="2770" r:id="rId28"/>
    <p:sldId id="2824" r:id="rId29"/>
    <p:sldId id="2812" r:id="rId30"/>
    <p:sldId id="2825" r:id="rId31"/>
    <p:sldId id="512" r:id="rId32"/>
    <p:sldId id="513" r:id="rId33"/>
    <p:sldId id="514" r:id="rId34"/>
    <p:sldId id="541" r:id="rId35"/>
    <p:sldId id="539" r:id="rId36"/>
    <p:sldId id="598" r:id="rId37"/>
    <p:sldId id="540" r:id="rId38"/>
    <p:sldId id="516" r:id="rId39"/>
    <p:sldId id="517" r:id="rId40"/>
    <p:sldId id="2774" r:id="rId41"/>
    <p:sldId id="2826" r:id="rId42"/>
    <p:sldId id="2820" r:id="rId43"/>
    <p:sldId id="2821" r:id="rId44"/>
    <p:sldId id="2822" r:id="rId45"/>
    <p:sldId id="2776" r:id="rId46"/>
    <p:sldId id="2777" r:id="rId47"/>
    <p:sldId id="2840" r:id="rId48"/>
    <p:sldId id="2778" r:id="rId49"/>
    <p:sldId id="2827" r:id="rId50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3878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384B"/>
    <a:srgbClr val="404040"/>
    <a:srgbClr val="FFFF99"/>
    <a:srgbClr val="515151"/>
    <a:srgbClr val="941100"/>
    <a:srgbClr val="FF2F92"/>
    <a:srgbClr val="0432FF"/>
    <a:srgbClr val="FF9300"/>
    <a:srgbClr val="00FB92"/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251" autoAdjust="0"/>
    <p:restoredTop sz="89876" autoAdjust="0"/>
  </p:normalViewPr>
  <p:slideViewPr>
    <p:cSldViewPr>
      <p:cViewPr varScale="1">
        <p:scale>
          <a:sx n="136" d="100"/>
          <a:sy n="136" d="100"/>
        </p:scale>
        <p:origin x="464" y="184"/>
      </p:cViewPr>
      <p:guideLst>
        <p:guide orient="horz" pos="1800"/>
        <p:guide pos="387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1" d="100"/>
          <a:sy n="121" d="100"/>
        </p:scale>
        <p:origin x="386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2022/5/5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2022/5/5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018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4190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Wait for interrupt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，进入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lowpower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3402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52910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56333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3706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7215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9FA25068-95BE-F84A-896E-9E89F9434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4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608DAFC-F7CB-BF45-A12C-3E5B3C748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222B87CB-0BF3-3A40-9555-EFDE39840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4DC863AB-1CA3-014A-96B6-C1A16FEA0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kumimoji="1" lang="zh-CN" altLang="en-US" sz="4800" dirty="0"/>
              <a:t>系统虚拟化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上海交通大学并行与分布式系统研究所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ipads.se.sjtu.edu.cn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SE3357-1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·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操作系统（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2022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春）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806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+mn-lt"/>
              </a:rPr>
              <a:t>版权声明</a:t>
            </a:r>
            <a:endParaRPr kumimoji="1" lang="zh-CN" altLang="en-US" dirty="0">
              <a:latin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>
                <a:latin typeface="+mn-lt"/>
              </a:rPr>
              <a:t>本内容版权归</a:t>
            </a:r>
            <a:r>
              <a:rPr lang="zh-CN" altLang="en-US" sz="2000">
                <a:latin typeface="+mn-lt"/>
              </a:rPr>
              <a:t>上海交通大学并行与分布式系统研究所</a:t>
            </a:r>
            <a:r>
              <a:rPr lang="zh-CN" altLang="en-US" sz="2000" b="0">
                <a:latin typeface="+mn-lt"/>
              </a:rPr>
              <a:t>所有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使用者可以将全部或部分本内容免费用于非商业用途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使用者在使用全部或部分本内容时请注明来源：</a:t>
            </a:r>
            <a:endParaRPr lang="en-US" altLang="zh-CN" sz="2000" b="0">
              <a:latin typeface="+mn-lt"/>
            </a:endParaRPr>
          </a:p>
          <a:p>
            <a:pPr lvl="1"/>
            <a:r>
              <a:rPr lang="zh-CN" altLang="en-US" sz="1600"/>
              <a:t>内容来自：上海交通大学并行与分布式系统研究所</a:t>
            </a:r>
            <a:r>
              <a:rPr lang="en-US" altLang="zh-CN" sz="1600"/>
              <a:t>+</a:t>
            </a:r>
            <a:r>
              <a:rPr lang="zh-CN" altLang="en-US" sz="1600"/>
              <a:t>材料名字</a:t>
            </a:r>
            <a:endParaRPr lang="en-US" altLang="zh-CN" sz="1600"/>
          </a:p>
          <a:p>
            <a:r>
              <a:rPr lang="zh-CN" altLang="en-US" sz="2000" b="0">
                <a:latin typeface="+mn-lt"/>
              </a:rPr>
              <a:t>对于不遵守此声明或者其他违法使用本内容者，将依法保留追究权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本内容的发布采用 </a:t>
            </a:r>
            <a:r>
              <a:rPr lang="en-US" altLang="zh-CN" sz="2000" b="0">
                <a:latin typeface="+mn-lt"/>
              </a:rPr>
              <a:t>Creative Commons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Attribution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4.0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License</a:t>
            </a:r>
            <a:endParaRPr lang="en-US" altLang="zh-CN" sz="2400" b="0">
              <a:latin typeface="+mn-lt"/>
            </a:endParaRPr>
          </a:p>
          <a:p>
            <a:pPr lvl="1"/>
            <a:r>
              <a:rPr lang="zh-CN" altLang="en-US" sz="1600">
                <a:latin typeface="+mn-lt"/>
              </a:rPr>
              <a:t>完整文本：</a:t>
            </a:r>
            <a:r>
              <a:rPr lang="en-US" altLang="zh-CN" sz="1600">
                <a:latin typeface="+mn-lt"/>
                <a:hlinkClick r:id="rId2"/>
              </a:rPr>
              <a:t>https://creativecommons.org/licenses/by/4.0/legalcode</a:t>
            </a:r>
            <a:endParaRPr lang="en-US" altLang="zh-CN" sz="1800" b="0">
              <a:latin typeface="+mn-lt"/>
            </a:endParaRPr>
          </a:p>
          <a:p>
            <a:endParaRPr kumimoji="1" lang="zh-CN" altLang="en-US" sz="2000" dirty="0">
              <a:latin typeface="+mn-lt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E75993-6B82-2A4E-883D-B9872C501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4DB58-9478-0845-B9D0-F1002C2E0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E0ACB-7DA4-F8B7-97A9-DFC970A24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CPU</a:t>
            </a:r>
            <a:r>
              <a:rPr lang="zh-CN" altLang="en-US" dirty="0"/>
              <a:t>虚拟化功能：迭代演进、分步理解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93869-405D-F5C6-211C-D9CCF0D73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7571184" cy="3771636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第一版：支持只有内核态的虚拟机</a:t>
            </a:r>
            <a:endParaRPr lang="en-US" altLang="zh-CN" dirty="0"/>
          </a:p>
          <a:p>
            <a:r>
              <a:rPr lang="zh-CN" altLang="en-US" dirty="0"/>
              <a:t>第二版：支持虚拟机内的时钟中断</a:t>
            </a:r>
            <a:endParaRPr lang="en-US" altLang="zh-CN" dirty="0"/>
          </a:p>
          <a:p>
            <a:r>
              <a:rPr lang="zh-CN" altLang="en-US" dirty="0"/>
              <a:t>第三版：支持虚拟机内单一用户态线程</a:t>
            </a:r>
            <a:endParaRPr lang="en-US" altLang="zh-CN" dirty="0"/>
          </a:p>
          <a:p>
            <a:r>
              <a:rPr lang="zh-CN" altLang="en-US" dirty="0"/>
              <a:t>第四版：支持虚拟机内多个用户态线程</a:t>
            </a:r>
            <a:endParaRPr lang="en-US" altLang="zh-CN" dirty="0"/>
          </a:p>
          <a:p>
            <a:r>
              <a:rPr lang="zh-CN" altLang="en-US" dirty="0"/>
              <a:t>第五版：支持多个虚拟机间的分时复用</a:t>
            </a:r>
            <a:endParaRPr lang="en-US" altLang="zh-CN" dirty="0"/>
          </a:p>
          <a:p>
            <a:r>
              <a:rPr lang="zh-CN" altLang="en-US" dirty="0"/>
              <a:t>第六版：支持多个物理</a:t>
            </a:r>
            <a:r>
              <a:rPr lang="en-US" altLang="zh-CN" dirty="0"/>
              <a:t>CPU</a:t>
            </a:r>
          </a:p>
          <a:p>
            <a:r>
              <a:rPr lang="zh-CN" altLang="en-US" dirty="0"/>
              <a:t>第七版：支持多个虚拟</a:t>
            </a:r>
            <a:r>
              <a:rPr lang="en-US" altLang="zh-CN" dirty="0"/>
              <a:t>CPU</a:t>
            </a: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2A6C5-AEA0-CE67-7890-7736C0BE9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E55D8-E5D2-4E1D-E774-C41AE3043B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1301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E0ACB-7DA4-F8B7-97A9-DFC970A24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第一版：虚拟机只在内核态运行简单代码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93869-405D-F5C6-211C-D9CCF0D73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474840" cy="3771636"/>
          </a:xfrm>
        </p:spPr>
        <p:txBody>
          <a:bodyPr/>
          <a:lstStyle/>
          <a:p>
            <a:r>
              <a:rPr lang="en-US" altLang="zh-CN" dirty="0"/>
              <a:t>VM</a:t>
            </a:r>
            <a:r>
              <a:rPr lang="zh-CN" altLang="en-US" dirty="0"/>
              <a:t>的</a:t>
            </a:r>
            <a:r>
              <a:rPr lang="zh-CN" altLang="en-CN" dirty="0"/>
              <a:t>能力</a:t>
            </a:r>
            <a:endParaRPr lang="en-CN" dirty="0"/>
          </a:p>
          <a:p>
            <a:pPr lvl="1"/>
            <a:r>
              <a:rPr lang="ja-JP" altLang="en-US"/>
              <a:t>只支持一个</a:t>
            </a:r>
            <a:r>
              <a:rPr lang="en-US" altLang="zh-CN" dirty="0"/>
              <a:t>VM</a:t>
            </a:r>
            <a:endParaRPr lang="en-US" altLang="ja-JP" dirty="0"/>
          </a:p>
          <a:p>
            <a:pPr lvl="1"/>
            <a:r>
              <a:rPr lang="ja-JP" altLang="en-US"/>
              <a:t>没有内核态与用户态的切换</a:t>
            </a:r>
          </a:p>
          <a:p>
            <a:pPr lvl="1"/>
            <a:r>
              <a:rPr lang="ja-JP" altLang="en-US"/>
              <a:t>只有内核态，且仅运行用户</a:t>
            </a:r>
            <a:r>
              <a:rPr lang="en-US" dirty="0"/>
              <a:t>ISA</a:t>
            </a:r>
            <a:r>
              <a:rPr lang="ja-JP" altLang="en-US"/>
              <a:t>的指令</a:t>
            </a:r>
            <a:r>
              <a:rPr lang="zh-CN" altLang="en-US" dirty="0"/>
              <a:t>（与用户态没有区别）</a:t>
            </a:r>
            <a:endParaRPr lang="en-US" altLang="ja-JP" dirty="0"/>
          </a:p>
          <a:p>
            <a:r>
              <a:rPr lang="en-US" altLang="zh-CN" dirty="0"/>
              <a:t>VMM</a:t>
            </a:r>
            <a:r>
              <a:rPr lang="zh-CN" altLang="en-US" dirty="0"/>
              <a:t>的实现</a:t>
            </a:r>
            <a:endParaRPr lang="en-US" altLang="zh-CN" dirty="0"/>
          </a:p>
          <a:p>
            <a:pPr lvl="1"/>
            <a:r>
              <a:rPr lang="zh-CN" altLang="en-US" dirty="0"/>
              <a:t>处理时钟中断造成的</a:t>
            </a:r>
            <a:r>
              <a:rPr lang="en-US" altLang="zh-CN" dirty="0"/>
              <a:t>VM</a:t>
            </a:r>
            <a:r>
              <a:rPr lang="zh-CN" altLang="en-US" dirty="0"/>
              <a:t> </a:t>
            </a:r>
            <a:r>
              <a:rPr lang="en-US" altLang="zh-CN" dirty="0"/>
              <a:t>Exit</a:t>
            </a:r>
          </a:p>
          <a:p>
            <a:pPr marL="457200" lvl="1" indent="0">
              <a:buNone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2A6C5-AEA0-CE67-7890-7736C0BE9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E55D8-E5D2-4E1D-E774-C41AE3043B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Rectangle 22">
            <a:extLst>
              <a:ext uri="{FF2B5EF4-FFF2-40B4-BE49-F238E27FC236}">
                <a16:creationId xmlns:a16="http://schemas.microsoft.com/office/drawing/2014/main" id="{662CFADA-0BAC-7BEA-294D-E22050121C28}"/>
              </a:ext>
            </a:extLst>
          </p:cNvPr>
          <p:cNvSpPr/>
          <p:nvPr/>
        </p:nvSpPr>
        <p:spPr>
          <a:xfrm>
            <a:off x="6156177" y="1752373"/>
            <a:ext cx="1500405" cy="78455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5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9" name="Straight Connector 13">
            <a:extLst>
              <a:ext uri="{FF2B5EF4-FFF2-40B4-BE49-F238E27FC236}">
                <a16:creationId xmlns:a16="http://schemas.microsoft.com/office/drawing/2014/main" id="{C3FA715D-90D4-6779-D1C0-6B1C9B9C36C8}"/>
              </a:ext>
            </a:extLst>
          </p:cNvPr>
          <p:cNvCxnSpPr>
            <a:cxnSpLocks/>
          </p:cNvCxnSpPr>
          <p:nvPr/>
        </p:nvCxnSpPr>
        <p:spPr>
          <a:xfrm>
            <a:off x="4991539" y="2931391"/>
            <a:ext cx="3252870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22">
            <a:extLst>
              <a:ext uri="{FF2B5EF4-FFF2-40B4-BE49-F238E27FC236}">
                <a16:creationId xmlns:a16="http://schemas.microsoft.com/office/drawing/2014/main" id="{1D76B81D-0A42-053D-E72D-9D780617F216}"/>
              </a:ext>
            </a:extLst>
          </p:cNvPr>
          <p:cNvSpPr/>
          <p:nvPr/>
        </p:nvSpPr>
        <p:spPr>
          <a:xfrm>
            <a:off x="6012160" y="3217540"/>
            <a:ext cx="1800201" cy="695073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endParaRPr lang="en-US" altLang="zh-CN" sz="11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11" name="文本框 31">
            <a:extLst>
              <a:ext uri="{FF2B5EF4-FFF2-40B4-BE49-F238E27FC236}">
                <a16:creationId xmlns:a16="http://schemas.microsoft.com/office/drawing/2014/main" id="{BE7415BB-7E86-3F43-B38C-7B8493CE0DFF}"/>
              </a:ext>
            </a:extLst>
          </p:cNvPr>
          <p:cNvSpPr txBox="1"/>
          <p:nvPr/>
        </p:nvSpPr>
        <p:spPr>
          <a:xfrm>
            <a:off x="5148065" y="3408558"/>
            <a:ext cx="76174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CN" sz="1500" dirty="0"/>
              <a:t>内核态</a:t>
            </a:r>
            <a:endParaRPr kumimoji="1" lang="zh-CN" altLang="en-US" sz="1500" dirty="0"/>
          </a:p>
        </p:txBody>
      </p:sp>
      <p:sp>
        <p:nvSpPr>
          <p:cNvPr id="13" name="文本框 33">
            <a:extLst>
              <a:ext uri="{FF2B5EF4-FFF2-40B4-BE49-F238E27FC236}">
                <a16:creationId xmlns:a16="http://schemas.microsoft.com/office/drawing/2014/main" id="{A3AA6063-12CD-3FDC-08D0-0AF9639E684D}"/>
              </a:ext>
            </a:extLst>
          </p:cNvPr>
          <p:cNvSpPr txBox="1"/>
          <p:nvPr/>
        </p:nvSpPr>
        <p:spPr>
          <a:xfrm>
            <a:off x="6401385" y="1429951"/>
            <a:ext cx="108395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/>
              <a:t>VM</a:t>
            </a:r>
            <a:r>
              <a:rPr kumimoji="1" lang="zh-CN" altLang="en-US" sz="1500" dirty="0"/>
              <a:t> </a:t>
            </a:r>
            <a:r>
              <a:rPr kumimoji="1" lang="en-US" altLang="zh-CN" sz="1500" dirty="0"/>
              <a:t>Kernel</a:t>
            </a:r>
            <a:endParaRPr kumimoji="1" lang="zh-CN" altLang="en-US" sz="1500" dirty="0"/>
          </a:p>
        </p:txBody>
      </p:sp>
      <p:sp>
        <p:nvSpPr>
          <p:cNvPr id="18" name="文本框 38">
            <a:extLst>
              <a:ext uri="{FF2B5EF4-FFF2-40B4-BE49-F238E27FC236}">
                <a16:creationId xmlns:a16="http://schemas.microsoft.com/office/drawing/2014/main" id="{C2C0F4D3-8743-3819-495C-D60DDEC992D6}"/>
              </a:ext>
            </a:extLst>
          </p:cNvPr>
          <p:cNvSpPr txBox="1"/>
          <p:nvPr/>
        </p:nvSpPr>
        <p:spPr>
          <a:xfrm>
            <a:off x="5148066" y="2040404"/>
            <a:ext cx="76174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CN" sz="1500" dirty="0"/>
              <a:t>用户态</a:t>
            </a:r>
            <a:endParaRPr kumimoji="1" lang="zh-CN" altLang="en-US" sz="1500" dirty="0"/>
          </a:p>
        </p:txBody>
      </p:sp>
      <p:sp>
        <p:nvSpPr>
          <p:cNvPr id="19" name="Line 140">
            <a:extLst>
              <a:ext uri="{FF2B5EF4-FFF2-40B4-BE49-F238E27FC236}">
                <a16:creationId xmlns:a16="http://schemas.microsoft.com/office/drawing/2014/main" id="{8F1751D4-063C-3B38-BC30-A625DDA3B7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04249" y="2328437"/>
            <a:ext cx="2" cy="113917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500"/>
          </a:p>
        </p:txBody>
      </p:sp>
      <p:sp>
        <p:nvSpPr>
          <p:cNvPr id="21" name="文本框 22">
            <a:extLst>
              <a:ext uri="{FF2B5EF4-FFF2-40B4-BE49-F238E27FC236}">
                <a16:creationId xmlns:a16="http://schemas.microsoft.com/office/drawing/2014/main" id="{904D852B-030B-3BA9-1E03-76443653A066}"/>
              </a:ext>
            </a:extLst>
          </p:cNvPr>
          <p:cNvSpPr txBox="1"/>
          <p:nvPr/>
        </p:nvSpPr>
        <p:spPr>
          <a:xfrm>
            <a:off x="6012161" y="3192533"/>
            <a:ext cx="84670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>
                <a:solidFill>
                  <a:schemeClr val="bg1"/>
                </a:solidFill>
              </a:rPr>
              <a:t>VM</a:t>
            </a:r>
            <a:r>
              <a:rPr kumimoji="1" lang="zh-CN" altLang="en-US" sz="1500" dirty="0">
                <a:solidFill>
                  <a:schemeClr val="bg1"/>
                </a:solidFill>
              </a:rPr>
              <a:t> </a:t>
            </a:r>
            <a:r>
              <a:rPr kumimoji="1" lang="en-US" altLang="zh-CN" sz="1500" dirty="0">
                <a:solidFill>
                  <a:schemeClr val="bg1"/>
                </a:solidFill>
              </a:rPr>
              <a:t>Exit</a:t>
            </a:r>
            <a:endParaRPr kumimoji="1" lang="zh-CN" altLang="en-US" sz="1500" dirty="0">
              <a:solidFill>
                <a:schemeClr val="bg1"/>
              </a:solidFill>
            </a:endParaRPr>
          </a:p>
        </p:txBody>
      </p:sp>
      <p:sp>
        <p:nvSpPr>
          <p:cNvPr id="23" name="文本框 33">
            <a:extLst>
              <a:ext uri="{FF2B5EF4-FFF2-40B4-BE49-F238E27FC236}">
                <a16:creationId xmlns:a16="http://schemas.microsoft.com/office/drawing/2014/main" id="{71460EBB-184C-40D1-0539-84A33E9B62F1}"/>
              </a:ext>
            </a:extLst>
          </p:cNvPr>
          <p:cNvSpPr txBox="1"/>
          <p:nvPr/>
        </p:nvSpPr>
        <p:spPr>
          <a:xfrm>
            <a:off x="5796138" y="2616469"/>
            <a:ext cx="106400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/>
              <a:t>Timer</a:t>
            </a:r>
            <a:r>
              <a:rPr kumimoji="1" lang="zh-CN" altLang="en-US" sz="1500" dirty="0"/>
              <a:t> </a:t>
            </a:r>
            <a:r>
              <a:rPr kumimoji="1" lang="en-US" altLang="zh-CN" sz="1500" dirty="0"/>
              <a:t>IRQ</a:t>
            </a:r>
            <a:endParaRPr kumimoji="1" lang="zh-CN" altLang="en-US" sz="1500" dirty="0"/>
          </a:p>
        </p:txBody>
      </p:sp>
      <p:sp>
        <p:nvSpPr>
          <p:cNvPr id="24" name="Line 140">
            <a:extLst>
              <a:ext uri="{FF2B5EF4-FFF2-40B4-BE49-F238E27FC236}">
                <a16:creationId xmlns:a16="http://schemas.microsoft.com/office/drawing/2014/main" id="{96F11909-F075-38A5-2964-7756E1263B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48265" y="2328437"/>
            <a:ext cx="2" cy="113917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500"/>
          </a:p>
        </p:txBody>
      </p:sp>
      <p:sp>
        <p:nvSpPr>
          <p:cNvPr id="25" name="文本框 22">
            <a:extLst>
              <a:ext uri="{FF2B5EF4-FFF2-40B4-BE49-F238E27FC236}">
                <a16:creationId xmlns:a16="http://schemas.microsoft.com/office/drawing/2014/main" id="{DDFE5C20-CF3A-4E56-64D9-3B02BBD88BAD}"/>
              </a:ext>
            </a:extLst>
          </p:cNvPr>
          <p:cNvSpPr txBox="1"/>
          <p:nvPr/>
        </p:nvSpPr>
        <p:spPr>
          <a:xfrm>
            <a:off x="6948265" y="3192533"/>
            <a:ext cx="97494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>
                <a:solidFill>
                  <a:schemeClr val="bg1"/>
                </a:solidFill>
              </a:rPr>
              <a:t>VM</a:t>
            </a:r>
            <a:r>
              <a:rPr kumimoji="1" lang="zh-CN" altLang="en-US" sz="1500" dirty="0">
                <a:solidFill>
                  <a:schemeClr val="bg1"/>
                </a:solidFill>
              </a:rPr>
              <a:t> </a:t>
            </a:r>
            <a:r>
              <a:rPr kumimoji="1" lang="en-US" altLang="zh-CN" sz="1500" dirty="0">
                <a:solidFill>
                  <a:schemeClr val="bg1"/>
                </a:solidFill>
              </a:rPr>
              <a:t>Entry</a:t>
            </a:r>
            <a:endParaRPr kumimoji="1" lang="zh-CN" altLang="en-US" sz="1500" dirty="0">
              <a:solidFill>
                <a:schemeClr val="bg1"/>
              </a:solidFill>
            </a:endParaRPr>
          </a:p>
        </p:txBody>
      </p:sp>
      <p:sp>
        <p:nvSpPr>
          <p:cNvPr id="27" name="Rectangle 22">
            <a:extLst>
              <a:ext uri="{FF2B5EF4-FFF2-40B4-BE49-F238E27FC236}">
                <a16:creationId xmlns:a16="http://schemas.microsoft.com/office/drawing/2014/main" id="{8F52D97C-58A1-0E35-7374-15BDEA67376E}"/>
              </a:ext>
            </a:extLst>
          </p:cNvPr>
          <p:cNvSpPr/>
          <p:nvPr/>
        </p:nvSpPr>
        <p:spPr>
          <a:xfrm>
            <a:off x="6473393" y="1861998"/>
            <a:ext cx="792087" cy="4633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100" dirty="0">
                <a:solidFill>
                  <a:srgbClr val="BE384B"/>
                </a:solidFill>
                <a:cs typeface="Arial Narrow"/>
              </a:rPr>
              <a:t>While</a:t>
            </a:r>
            <a:r>
              <a:rPr lang="zh-CN" altLang="en-US" sz="11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100" dirty="0">
                <a:solidFill>
                  <a:srgbClr val="BE384B"/>
                </a:solidFill>
                <a:cs typeface="Arial Narrow"/>
              </a:rPr>
              <a:t>(1)</a:t>
            </a:r>
          </a:p>
          <a:p>
            <a:pPr algn="ctr"/>
            <a:r>
              <a:rPr lang="en-US" altLang="zh-CN" sz="1100" dirty="0">
                <a:solidFill>
                  <a:srgbClr val="BE384B"/>
                </a:solidFill>
                <a:cs typeface="Arial Narrow"/>
              </a:rPr>
              <a:t>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116239-E953-4906-332B-183DFF05BB31}"/>
              </a:ext>
            </a:extLst>
          </p:cNvPr>
          <p:cNvSpPr txBox="1"/>
          <p:nvPr/>
        </p:nvSpPr>
        <p:spPr>
          <a:xfrm>
            <a:off x="6588225" y="3840605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VMM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362396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E0ACB-7DA4-F8B7-97A9-DFC970A24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第二版：虚拟机内部支持时钟中断</a:t>
            </a:r>
            <a:endParaRPr lang="en-US" altLang="zh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93869-405D-F5C6-211C-D9CCF0D73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186808" cy="3771636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VM</a:t>
            </a:r>
            <a:r>
              <a:rPr lang="zh-CN" altLang="en-US" dirty="0"/>
              <a:t>的</a:t>
            </a:r>
            <a:r>
              <a:rPr lang="zh-CN" altLang="en-CN" dirty="0"/>
              <a:t>能力</a:t>
            </a:r>
            <a:endParaRPr lang="en-CN" dirty="0"/>
          </a:p>
          <a:p>
            <a:pPr lvl="1"/>
            <a:r>
              <a:rPr lang="en-CN" b="1" dirty="0">
                <a:solidFill>
                  <a:srgbClr val="C00000"/>
                </a:solidFill>
              </a:rPr>
              <a:t>设置</a:t>
            </a:r>
            <a:r>
              <a:rPr lang="en-US" altLang="zh-CN" b="1" dirty="0" err="1">
                <a:solidFill>
                  <a:srgbClr val="C00000"/>
                </a:solidFill>
              </a:rPr>
              <a:t>irq_handler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/>
            <a:r>
              <a:rPr lang="en-US" b="1" dirty="0" err="1">
                <a:solidFill>
                  <a:srgbClr val="C00000"/>
                </a:solidFill>
              </a:rPr>
              <a:t>开关时钟中断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(</a:t>
            </a:r>
            <a:r>
              <a:rPr lang="en-US" altLang="zh-CN" b="1" dirty="0" err="1">
                <a:solidFill>
                  <a:srgbClr val="C00000"/>
                </a:solidFill>
              </a:rPr>
              <a:t>irq_bit</a:t>
            </a:r>
            <a:r>
              <a:rPr lang="en-US" altLang="zh-CN" b="1" dirty="0">
                <a:solidFill>
                  <a:srgbClr val="C00000"/>
                </a:solidFill>
              </a:rPr>
              <a:t>)</a:t>
            </a:r>
            <a:endParaRPr lang="en-CN" b="1" dirty="0">
              <a:solidFill>
                <a:srgbClr val="C00000"/>
              </a:solidFill>
            </a:endParaRPr>
          </a:p>
          <a:p>
            <a:pPr lvl="1"/>
            <a:r>
              <a:rPr lang="en-CN" b="1" dirty="0">
                <a:solidFill>
                  <a:srgbClr val="C00000"/>
                </a:solidFill>
              </a:rPr>
              <a:t>运行时钟中断处理函数</a:t>
            </a:r>
          </a:p>
          <a:p>
            <a:r>
              <a:rPr lang="en-US" altLang="zh-CN" dirty="0"/>
              <a:t>VMM</a:t>
            </a:r>
            <a:r>
              <a:rPr lang="zh-CN" altLang="en-US" dirty="0"/>
              <a:t>的实现</a:t>
            </a:r>
            <a:endParaRPr lang="en-US" altLang="zh-CN" dirty="0"/>
          </a:p>
          <a:p>
            <a:pPr lvl="1"/>
            <a:r>
              <a:rPr lang="zh-CN" altLang="en-US" dirty="0"/>
              <a:t>捕捉</a:t>
            </a:r>
            <a:r>
              <a:rPr lang="en-US" altLang="zh-CN" dirty="0"/>
              <a:t>VM</a:t>
            </a:r>
            <a:r>
              <a:rPr lang="zh-CN" altLang="en-US" dirty="0"/>
              <a:t>对</a:t>
            </a:r>
            <a:r>
              <a:rPr lang="en-US" altLang="zh-CN" dirty="0" err="1"/>
              <a:t>irq_handler</a:t>
            </a:r>
            <a:r>
              <a:rPr lang="zh-CN" altLang="en-US" dirty="0"/>
              <a:t>的修改</a:t>
            </a:r>
            <a:endParaRPr lang="en-US" altLang="zh-CN" dirty="0"/>
          </a:p>
          <a:p>
            <a:pPr lvl="1"/>
            <a:r>
              <a:rPr lang="zh-CN" altLang="en-US" dirty="0"/>
              <a:t>捕捉</a:t>
            </a:r>
            <a:r>
              <a:rPr lang="en-US" altLang="zh-CN" dirty="0"/>
              <a:t>VM</a:t>
            </a:r>
            <a:r>
              <a:rPr lang="zh-CN" altLang="en-US" dirty="0"/>
              <a:t>对</a:t>
            </a:r>
            <a:r>
              <a:rPr lang="en-US" altLang="zh-CN" dirty="0" err="1"/>
              <a:t>irq_bit</a:t>
            </a:r>
            <a:r>
              <a:rPr lang="zh-CN" altLang="en-US" dirty="0"/>
              <a:t>的修改</a:t>
            </a:r>
            <a:endParaRPr lang="en-US" altLang="zh-CN" dirty="0"/>
          </a:p>
          <a:p>
            <a:pPr lvl="1"/>
            <a:r>
              <a:rPr lang="zh-CN" altLang="en-US" dirty="0"/>
              <a:t>根据</a:t>
            </a:r>
            <a:r>
              <a:rPr lang="en-US" altLang="zh-CN" dirty="0" err="1"/>
              <a:t>irq_bit</a:t>
            </a:r>
            <a:r>
              <a:rPr lang="zh-CN" altLang="en-US" dirty="0"/>
              <a:t>决定插入虚拟时钟中断</a:t>
            </a:r>
            <a:r>
              <a:rPr lang="en-US" altLang="zh-CN" dirty="0" err="1"/>
              <a:t>vIRQ</a:t>
            </a:r>
            <a:r>
              <a:rPr lang="zh-CN" altLang="en-US" dirty="0"/>
              <a:t>并调用</a:t>
            </a:r>
            <a:r>
              <a:rPr lang="en-US" altLang="zh-CN" dirty="0" err="1"/>
              <a:t>irq_handler</a:t>
            </a:r>
            <a:endParaRPr lang="en-US" altLang="zh-CN" dirty="0"/>
          </a:p>
          <a:p>
            <a:pPr lvl="1"/>
            <a:endParaRPr lang="en-CN" dirty="0"/>
          </a:p>
          <a:p>
            <a:pPr lvl="1"/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2A6C5-AEA0-CE67-7890-7736C0BE9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E55D8-E5D2-4E1D-E774-C41AE3043B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Rectangle 22">
            <a:extLst>
              <a:ext uri="{FF2B5EF4-FFF2-40B4-BE49-F238E27FC236}">
                <a16:creationId xmlns:a16="http://schemas.microsoft.com/office/drawing/2014/main" id="{662CFADA-0BAC-7BEA-294D-E22050121C28}"/>
              </a:ext>
            </a:extLst>
          </p:cNvPr>
          <p:cNvSpPr/>
          <p:nvPr/>
        </p:nvSpPr>
        <p:spPr>
          <a:xfrm>
            <a:off x="5160574" y="1246433"/>
            <a:ext cx="2952328" cy="1250993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5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9" name="Straight Connector 13">
            <a:extLst>
              <a:ext uri="{FF2B5EF4-FFF2-40B4-BE49-F238E27FC236}">
                <a16:creationId xmlns:a16="http://schemas.microsoft.com/office/drawing/2014/main" id="{C3FA715D-90D4-6779-D1C0-6B1C9B9C36C8}"/>
              </a:ext>
            </a:extLst>
          </p:cNvPr>
          <p:cNvCxnSpPr>
            <a:cxnSpLocks/>
          </p:cNvCxnSpPr>
          <p:nvPr/>
        </p:nvCxnSpPr>
        <p:spPr>
          <a:xfrm>
            <a:off x="4139952" y="2857500"/>
            <a:ext cx="4600142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22">
            <a:extLst>
              <a:ext uri="{FF2B5EF4-FFF2-40B4-BE49-F238E27FC236}">
                <a16:creationId xmlns:a16="http://schemas.microsoft.com/office/drawing/2014/main" id="{1D76B81D-0A42-053D-E72D-9D780617F216}"/>
              </a:ext>
            </a:extLst>
          </p:cNvPr>
          <p:cNvSpPr/>
          <p:nvPr/>
        </p:nvSpPr>
        <p:spPr>
          <a:xfrm>
            <a:off x="5160573" y="3143649"/>
            <a:ext cx="3384378" cy="695073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endParaRPr lang="en-US" altLang="zh-CN" sz="11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11" name="文本框 31">
            <a:extLst>
              <a:ext uri="{FF2B5EF4-FFF2-40B4-BE49-F238E27FC236}">
                <a16:creationId xmlns:a16="http://schemas.microsoft.com/office/drawing/2014/main" id="{BE7415BB-7E86-3F43-B38C-7B8493CE0DFF}"/>
              </a:ext>
            </a:extLst>
          </p:cNvPr>
          <p:cNvSpPr txBox="1"/>
          <p:nvPr/>
        </p:nvSpPr>
        <p:spPr>
          <a:xfrm>
            <a:off x="4296478" y="3334667"/>
            <a:ext cx="76174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CN" sz="1500" dirty="0"/>
              <a:t>内核态</a:t>
            </a:r>
            <a:endParaRPr kumimoji="1" lang="zh-CN" altLang="en-US" sz="1500" dirty="0"/>
          </a:p>
        </p:txBody>
      </p:sp>
      <p:sp>
        <p:nvSpPr>
          <p:cNvPr id="13" name="文本框 33">
            <a:extLst>
              <a:ext uri="{FF2B5EF4-FFF2-40B4-BE49-F238E27FC236}">
                <a16:creationId xmlns:a16="http://schemas.microsoft.com/office/drawing/2014/main" id="{A3AA6063-12CD-3FDC-08D0-0AF9639E684D}"/>
              </a:ext>
            </a:extLst>
          </p:cNvPr>
          <p:cNvSpPr txBox="1"/>
          <p:nvPr/>
        </p:nvSpPr>
        <p:spPr>
          <a:xfrm>
            <a:off x="6024669" y="958402"/>
            <a:ext cx="108395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/>
              <a:t>VM</a:t>
            </a:r>
            <a:r>
              <a:rPr kumimoji="1" lang="zh-CN" altLang="en-US" sz="1500" dirty="0"/>
              <a:t> </a:t>
            </a:r>
            <a:r>
              <a:rPr kumimoji="1" lang="en-US" altLang="zh-CN" sz="1500" dirty="0"/>
              <a:t>Kernel</a:t>
            </a:r>
            <a:endParaRPr kumimoji="1" lang="zh-CN" altLang="en-US" sz="1500" dirty="0"/>
          </a:p>
        </p:txBody>
      </p:sp>
      <p:sp>
        <p:nvSpPr>
          <p:cNvPr id="18" name="文本框 38">
            <a:extLst>
              <a:ext uri="{FF2B5EF4-FFF2-40B4-BE49-F238E27FC236}">
                <a16:creationId xmlns:a16="http://schemas.microsoft.com/office/drawing/2014/main" id="{C2C0F4D3-8743-3819-495C-D60DDEC992D6}"/>
              </a:ext>
            </a:extLst>
          </p:cNvPr>
          <p:cNvSpPr txBox="1"/>
          <p:nvPr/>
        </p:nvSpPr>
        <p:spPr>
          <a:xfrm>
            <a:off x="4296479" y="1966513"/>
            <a:ext cx="76174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CN" sz="1500" dirty="0"/>
              <a:t>用户态</a:t>
            </a:r>
            <a:endParaRPr kumimoji="1" lang="zh-CN" altLang="en-US" sz="1500" dirty="0"/>
          </a:p>
        </p:txBody>
      </p:sp>
      <p:sp>
        <p:nvSpPr>
          <p:cNvPr id="21" name="文本框 22">
            <a:extLst>
              <a:ext uri="{FF2B5EF4-FFF2-40B4-BE49-F238E27FC236}">
                <a16:creationId xmlns:a16="http://schemas.microsoft.com/office/drawing/2014/main" id="{904D852B-030B-3BA9-1E03-76443653A066}"/>
              </a:ext>
            </a:extLst>
          </p:cNvPr>
          <p:cNvSpPr txBox="1"/>
          <p:nvPr/>
        </p:nvSpPr>
        <p:spPr>
          <a:xfrm>
            <a:off x="5580112" y="4297661"/>
            <a:ext cx="35272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>
                <a:solidFill>
                  <a:schemeClr val="bg1"/>
                </a:solidFill>
              </a:rPr>
              <a:t>Vi</a:t>
            </a:r>
            <a:endParaRPr kumimoji="1" lang="zh-CN" altLang="en-US" sz="1500" dirty="0">
              <a:solidFill>
                <a:schemeClr val="bg1"/>
              </a:solidFill>
            </a:endParaRPr>
          </a:p>
        </p:txBody>
      </p:sp>
      <p:sp>
        <p:nvSpPr>
          <p:cNvPr id="23" name="文本框 33">
            <a:extLst>
              <a:ext uri="{FF2B5EF4-FFF2-40B4-BE49-F238E27FC236}">
                <a16:creationId xmlns:a16="http://schemas.microsoft.com/office/drawing/2014/main" id="{71460EBB-184C-40D1-0539-84A33E9B62F1}"/>
              </a:ext>
            </a:extLst>
          </p:cNvPr>
          <p:cNvSpPr txBox="1"/>
          <p:nvPr/>
        </p:nvSpPr>
        <p:spPr>
          <a:xfrm>
            <a:off x="6744750" y="2542577"/>
            <a:ext cx="106400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/>
              <a:t>Timer</a:t>
            </a:r>
            <a:r>
              <a:rPr kumimoji="1" lang="zh-CN" altLang="en-US" sz="1500" dirty="0"/>
              <a:t> </a:t>
            </a:r>
            <a:r>
              <a:rPr kumimoji="1" lang="en-US" altLang="zh-CN" sz="1500" dirty="0"/>
              <a:t>IRQ</a:t>
            </a:r>
            <a:endParaRPr kumimoji="1" lang="zh-CN" altLang="en-US" sz="1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116239-E953-4906-332B-183DFF05BB31}"/>
              </a:ext>
            </a:extLst>
          </p:cNvPr>
          <p:cNvSpPr txBox="1"/>
          <p:nvPr/>
        </p:nvSpPr>
        <p:spPr>
          <a:xfrm>
            <a:off x="6456718" y="3766713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VMM</a:t>
            </a:r>
            <a:endParaRPr lang="en-CN" dirty="0"/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1804E3B8-ECAA-6166-9324-7F0C8D916695}"/>
              </a:ext>
            </a:extLst>
          </p:cNvPr>
          <p:cNvSpPr/>
          <p:nvPr/>
        </p:nvSpPr>
        <p:spPr>
          <a:xfrm>
            <a:off x="5376598" y="1318441"/>
            <a:ext cx="1152128" cy="1080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r>
              <a:rPr lang="en-US" altLang="zh-CN" sz="1100" dirty="0" err="1">
                <a:solidFill>
                  <a:schemeClr val="tx1"/>
                </a:solidFill>
                <a:cs typeface="Arial Narrow"/>
              </a:rPr>
              <a:t>save_ctx</a:t>
            </a:r>
            <a:r>
              <a:rPr lang="en-US" altLang="zh-CN" sz="1100" dirty="0">
                <a:solidFill>
                  <a:schemeClr val="tx1"/>
                </a:solidFill>
                <a:cs typeface="Arial Narrow"/>
              </a:rPr>
              <a:t>;</a:t>
            </a:r>
          </a:p>
          <a:p>
            <a:r>
              <a:rPr lang="en-US" altLang="zh-CN" sz="1100" dirty="0" err="1">
                <a:solidFill>
                  <a:schemeClr val="tx1"/>
                </a:solidFill>
                <a:cs typeface="Arial Narrow"/>
              </a:rPr>
              <a:t>irq_cnt</a:t>
            </a:r>
            <a:r>
              <a:rPr lang="en-US" altLang="zh-CN" sz="1100" dirty="0">
                <a:solidFill>
                  <a:schemeClr val="tx1"/>
                </a:solidFill>
                <a:cs typeface="Arial Narrow"/>
              </a:rPr>
              <a:t>++;</a:t>
            </a:r>
          </a:p>
          <a:p>
            <a:r>
              <a:rPr lang="en-US" altLang="zh-CN" sz="1100" dirty="0">
                <a:solidFill>
                  <a:schemeClr val="tx1"/>
                </a:solidFill>
                <a:cs typeface="Arial Narrow"/>
              </a:rPr>
              <a:t>restore</a:t>
            </a:r>
            <a:r>
              <a:rPr lang="zh-CN" altLang="en-US" sz="1100" dirty="0">
                <a:solidFill>
                  <a:schemeClr val="tx1"/>
                </a:solidFill>
                <a:cs typeface="Arial Narrow"/>
              </a:rPr>
              <a:t> </a:t>
            </a:r>
            <a:r>
              <a:rPr lang="en-US" altLang="zh-CN" sz="1100" dirty="0" err="1">
                <a:solidFill>
                  <a:schemeClr val="tx1"/>
                </a:solidFill>
                <a:cs typeface="Arial Narrow"/>
              </a:rPr>
              <a:t>ctx</a:t>
            </a:r>
            <a:endParaRPr lang="en-US" altLang="zh-CN" sz="1100" dirty="0">
              <a:solidFill>
                <a:schemeClr val="tx1"/>
              </a:solidFill>
              <a:cs typeface="Arial Narrow"/>
            </a:endParaRPr>
          </a:p>
          <a:p>
            <a:r>
              <a:rPr lang="en-US" altLang="zh-CN" sz="1100" b="1" dirty="0">
                <a:solidFill>
                  <a:srgbClr val="C00000"/>
                </a:solidFill>
                <a:cs typeface="Arial Narrow"/>
              </a:rPr>
              <a:t>ret;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9A2796-D96A-B6BC-7005-CD656BEC829D}"/>
              </a:ext>
            </a:extLst>
          </p:cNvPr>
          <p:cNvSpPr txBox="1"/>
          <p:nvPr/>
        </p:nvSpPr>
        <p:spPr>
          <a:xfrm>
            <a:off x="5304590" y="1318441"/>
            <a:ext cx="9989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i</a:t>
            </a:r>
            <a:r>
              <a:rPr lang="en-CN" sz="1100" b="1" dirty="0"/>
              <a:t>rq</a:t>
            </a:r>
            <a:r>
              <a:rPr lang="en-US" altLang="zh-CN" sz="1100" b="1" dirty="0"/>
              <a:t>_handler:</a:t>
            </a:r>
            <a:endParaRPr lang="en-CN" sz="1100" b="1" dirty="0"/>
          </a:p>
        </p:txBody>
      </p:sp>
      <p:sp>
        <p:nvSpPr>
          <p:cNvPr id="32" name="文本框 33">
            <a:extLst>
              <a:ext uri="{FF2B5EF4-FFF2-40B4-BE49-F238E27FC236}">
                <a16:creationId xmlns:a16="http://schemas.microsoft.com/office/drawing/2014/main" id="{33A867D2-F226-AE24-1347-94194C86E617}"/>
              </a:ext>
            </a:extLst>
          </p:cNvPr>
          <p:cNvSpPr txBox="1"/>
          <p:nvPr/>
        </p:nvSpPr>
        <p:spPr>
          <a:xfrm>
            <a:off x="5088566" y="2542577"/>
            <a:ext cx="62228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 err="1"/>
              <a:t>vIRQ</a:t>
            </a:r>
            <a:endParaRPr kumimoji="1" lang="zh-CN" altLang="en-US" sz="1500" dirty="0"/>
          </a:p>
        </p:txBody>
      </p:sp>
      <p:sp>
        <p:nvSpPr>
          <p:cNvPr id="33" name="Rectangle 22">
            <a:extLst>
              <a:ext uri="{FF2B5EF4-FFF2-40B4-BE49-F238E27FC236}">
                <a16:creationId xmlns:a16="http://schemas.microsoft.com/office/drawing/2014/main" id="{4D872CD0-2462-5264-2071-5D2F135FF49B}"/>
              </a:ext>
            </a:extLst>
          </p:cNvPr>
          <p:cNvSpPr/>
          <p:nvPr/>
        </p:nvSpPr>
        <p:spPr>
          <a:xfrm>
            <a:off x="5736638" y="3334665"/>
            <a:ext cx="1800200" cy="4633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cs typeface="Arial Narrow"/>
              </a:rPr>
              <a:t>Check</a:t>
            </a:r>
            <a:r>
              <a:rPr lang="zh-CN" altLang="en-US" sz="1100" dirty="0">
                <a:solidFill>
                  <a:schemeClr val="tx1"/>
                </a:solidFill>
                <a:cs typeface="Arial Narrow"/>
              </a:rPr>
              <a:t> </a:t>
            </a:r>
            <a:r>
              <a:rPr lang="en-US" altLang="zh-CN" sz="1100" dirty="0" err="1">
                <a:solidFill>
                  <a:schemeClr val="tx1"/>
                </a:solidFill>
                <a:cs typeface="Arial Narrow"/>
              </a:rPr>
              <a:t>irq</a:t>
            </a:r>
            <a:r>
              <a:rPr lang="zh-CN" altLang="en-US" sz="1100" dirty="0">
                <a:solidFill>
                  <a:schemeClr val="tx1"/>
                </a:solidFill>
                <a:cs typeface="Arial Narrow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cs typeface="Arial Narrow"/>
              </a:rPr>
              <a:t>bit</a:t>
            </a:r>
          </a:p>
          <a:p>
            <a:pPr algn="ctr"/>
            <a:r>
              <a:rPr lang="en-US" altLang="zh-CN" sz="1100" dirty="0">
                <a:solidFill>
                  <a:schemeClr val="tx1"/>
                </a:solidFill>
                <a:cs typeface="Arial Narrow"/>
              </a:rPr>
              <a:t>Inject</a:t>
            </a:r>
            <a:r>
              <a:rPr lang="zh-CN" altLang="en-US" sz="1100" dirty="0">
                <a:solidFill>
                  <a:schemeClr val="tx1"/>
                </a:solidFill>
                <a:cs typeface="Arial Narrow"/>
              </a:rPr>
              <a:t> </a:t>
            </a:r>
            <a:r>
              <a:rPr lang="en-US" altLang="zh-CN" sz="1100" dirty="0" err="1">
                <a:solidFill>
                  <a:schemeClr val="tx1"/>
                </a:solidFill>
                <a:cs typeface="Arial Narrow"/>
              </a:rPr>
              <a:t>vIRQ</a:t>
            </a:r>
            <a:endParaRPr lang="en-US" altLang="zh-CN" sz="1100" dirty="0">
              <a:solidFill>
                <a:schemeClr val="tx1"/>
              </a:solidFill>
              <a:cs typeface="Arial Narrow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BA213D1-B11E-684E-0F88-0FA8E927D031}"/>
              </a:ext>
            </a:extLst>
          </p:cNvPr>
          <p:cNvGrpSpPr/>
          <p:nvPr/>
        </p:nvGrpSpPr>
        <p:grpSpPr>
          <a:xfrm>
            <a:off x="6816758" y="1318440"/>
            <a:ext cx="1152127" cy="1107996"/>
            <a:chOff x="6876256" y="1273323"/>
            <a:chExt cx="1152127" cy="1107996"/>
          </a:xfrm>
        </p:grpSpPr>
        <p:sp>
          <p:nvSpPr>
            <p:cNvPr id="27" name="Rectangle 22">
              <a:extLst>
                <a:ext uri="{FF2B5EF4-FFF2-40B4-BE49-F238E27FC236}">
                  <a16:creationId xmlns:a16="http://schemas.microsoft.com/office/drawing/2014/main" id="{8F52D97C-58A1-0E35-7374-15BDEA67376E}"/>
                </a:ext>
              </a:extLst>
            </p:cNvPr>
            <p:cNvSpPr/>
            <p:nvPr/>
          </p:nvSpPr>
          <p:spPr>
            <a:xfrm>
              <a:off x="6876256" y="1273324"/>
              <a:ext cx="1152127" cy="10801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en-US" altLang="zh-CN" sz="11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844ED0E-DAC7-A609-D383-030D1EA18DB6}"/>
                </a:ext>
              </a:extLst>
            </p:cNvPr>
            <p:cNvSpPr txBox="1"/>
            <p:nvPr/>
          </p:nvSpPr>
          <p:spPr>
            <a:xfrm>
              <a:off x="6948264" y="1273323"/>
              <a:ext cx="1051891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W</a:t>
              </a:r>
              <a:r>
                <a:rPr lang="en-CN" sz="1100" dirty="0"/>
                <a:t>hile</a:t>
              </a:r>
              <a:r>
                <a:rPr lang="zh-CN" altLang="en-US" sz="1100" dirty="0"/>
                <a:t> </a:t>
              </a:r>
              <a:r>
                <a:rPr lang="en-US" altLang="zh-CN" sz="1100" dirty="0"/>
                <a:t>(1)</a:t>
              </a:r>
              <a:r>
                <a:rPr lang="zh-CN" altLang="en-US" sz="1100" dirty="0"/>
                <a:t> </a:t>
              </a:r>
              <a:r>
                <a:rPr lang="en-US" altLang="zh-CN" sz="1100" dirty="0"/>
                <a:t>{</a:t>
              </a:r>
            </a:p>
            <a:p>
              <a:r>
                <a:rPr lang="zh-CN" altLang="en-US" sz="1100" b="1" dirty="0">
                  <a:solidFill>
                    <a:srgbClr val="C00000"/>
                  </a:solidFill>
                </a:rPr>
                <a:t>    </a:t>
              </a:r>
              <a:r>
                <a:rPr lang="en-US" altLang="zh-CN" sz="1100" b="1" dirty="0" err="1">
                  <a:solidFill>
                    <a:srgbClr val="C00000"/>
                  </a:solidFill>
                </a:rPr>
                <a:t>irq_bit</a:t>
              </a:r>
              <a:r>
                <a:rPr lang="zh-CN" altLang="en-US" sz="1100" b="1" dirty="0">
                  <a:solidFill>
                    <a:srgbClr val="C00000"/>
                  </a:solidFill>
                </a:rPr>
                <a:t> </a:t>
              </a:r>
              <a:r>
                <a:rPr lang="en-US" altLang="zh-CN" sz="1100" b="1" dirty="0">
                  <a:solidFill>
                    <a:srgbClr val="C00000"/>
                  </a:solidFill>
                </a:rPr>
                <a:t>=</a:t>
              </a:r>
              <a:r>
                <a:rPr lang="zh-CN" altLang="en-US" sz="1100" b="1" dirty="0">
                  <a:solidFill>
                    <a:srgbClr val="C00000"/>
                  </a:solidFill>
                </a:rPr>
                <a:t> </a:t>
              </a:r>
              <a:r>
                <a:rPr lang="en-US" altLang="zh-CN" sz="1100" b="1" dirty="0">
                  <a:solidFill>
                    <a:srgbClr val="C00000"/>
                  </a:solidFill>
                </a:rPr>
                <a:t>1;</a:t>
              </a:r>
            </a:p>
            <a:p>
              <a:r>
                <a:rPr lang="zh-CN" altLang="en-US" sz="1100" dirty="0"/>
                <a:t>    </a:t>
              </a:r>
              <a:r>
                <a:rPr lang="en-US" altLang="zh-CN" sz="1100" dirty="0"/>
                <a:t>sleep</a:t>
              </a:r>
              <a:r>
                <a:rPr lang="zh-CN" altLang="en-US" sz="1100" dirty="0"/>
                <a:t> </a:t>
              </a:r>
              <a:r>
                <a:rPr lang="en-US" altLang="zh-CN" sz="1100" dirty="0"/>
                <a:t>1s;</a:t>
              </a:r>
            </a:p>
            <a:p>
              <a:r>
                <a:rPr lang="zh-CN" altLang="en-US" sz="1100" dirty="0"/>
                <a:t>    </a:t>
              </a:r>
              <a:r>
                <a:rPr lang="en-US" altLang="zh-CN" sz="1100" b="1" dirty="0" err="1">
                  <a:solidFill>
                    <a:srgbClr val="C00000"/>
                  </a:solidFill>
                </a:rPr>
                <a:t>irq_bit</a:t>
              </a:r>
              <a:r>
                <a:rPr lang="zh-CN" altLang="en-US" sz="1100" b="1" dirty="0">
                  <a:solidFill>
                    <a:srgbClr val="C00000"/>
                  </a:solidFill>
                </a:rPr>
                <a:t> </a:t>
              </a:r>
              <a:r>
                <a:rPr lang="en-US" altLang="zh-CN" sz="1100" b="1" dirty="0">
                  <a:solidFill>
                    <a:srgbClr val="C00000"/>
                  </a:solidFill>
                </a:rPr>
                <a:t>=</a:t>
              </a:r>
              <a:r>
                <a:rPr lang="zh-CN" altLang="en-US" sz="1100" b="1" dirty="0">
                  <a:solidFill>
                    <a:srgbClr val="C00000"/>
                  </a:solidFill>
                </a:rPr>
                <a:t> </a:t>
              </a:r>
              <a:r>
                <a:rPr lang="en-US" altLang="zh-CN" sz="1100" b="1" dirty="0">
                  <a:solidFill>
                    <a:srgbClr val="C00000"/>
                  </a:solidFill>
                </a:rPr>
                <a:t>0;</a:t>
              </a:r>
            </a:p>
            <a:p>
              <a:r>
                <a:rPr lang="zh-CN" altLang="en-US" sz="1100" dirty="0"/>
                <a:t>    </a:t>
              </a:r>
              <a:r>
                <a:rPr lang="en-US" altLang="zh-CN" sz="1100" dirty="0"/>
                <a:t>sleep</a:t>
              </a:r>
              <a:r>
                <a:rPr lang="zh-CN" altLang="en-US" sz="1100" dirty="0"/>
                <a:t> </a:t>
              </a:r>
              <a:r>
                <a:rPr lang="en-US" altLang="zh-CN" sz="1100" dirty="0"/>
                <a:t>1s;</a:t>
              </a:r>
              <a:endParaRPr lang="en-US" sz="1100" dirty="0"/>
            </a:p>
            <a:p>
              <a:r>
                <a:rPr lang="en-US" altLang="zh-CN" sz="1100" dirty="0"/>
                <a:t>}</a:t>
              </a:r>
              <a:endParaRPr lang="en-CN" sz="1100" dirty="0"/>
            </a:p>
          </p:txBody>
        </p:sp>
      </p:grpSp>
      <p:sp>
        <p:nvSpPr>
          <p:cNvPr id="19" name="Line 140">
            <a:extLst>
              <a:ext uri="{FF2B5EF4-FFF2-40B4-BE49-F238E27FC236}">
                <a16:creationId xmlns:a16="http://schemas.microsoft.com/office/drawing/2014/main" id="{8F1751D4-063C-3B38-BC30-A625DDA3B7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20814" y="2254545"/>
            <a:ext cx="2" cy="12961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500"/>
          </a:p>
        </p:txBody>
      </p:sp>
      <p:sp>
        <p:nvSpPr>
          <p:cNvPr id="24" name="Line 140">
            <a:extLst>
              <a:ext uri="{FF2B5EF4-FFF2-40B4-BE49-F238E27FC236}">
                <a16:creationId xmlns:a16="http://schemas.microsoft.com/office/drawing/2014/main" id="{96F11909-F075-38A5-2964-7756E1263B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52662" y="2182537"/>
            <a:ext cx="0" cy="136815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500"/>
          </a:p>
        </p:txBody>
      </p:sp>
    </p:spTree>
    <p:extLst>
      <p:ext uri="{BB962C8B-B14F-4D97-AF65-F5344CB8AC3E}">
        <p14:creationId xmlns:p14="http://schemas.microsoft.com/office/powerpoint/2010/main" val="609177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E0ACB-7DA4-F8B7-97A9-DFC970A24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第三版：虚拟机内支持运行单一用户态线程</a:t>
            </a:r>
            <a:endParaRPr lang="en-US" altLang="zh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93869-405D-F5C6-211C-D9CCF0D73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186808" cy="3771636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VM</a:t>
            </a:r>
            <a:r>
              <a:rPr lang="zh-CN" altLang="en-US" dirty="0"/>
              <a:t>的</a:t>
            </a:r>
            <a:r>
              <a:rPr lang="zh-CN" altLang="en-CN" dirty="0"/>
              <a:t>能力</a:t>
            </a:r>
            <a:endParaRPr lang="en-US" altLang="zh-CN" dirty="0"/>
          </a:p>
          <a:p>
            <a:pPr lvl="1"/>
            <a:r>
              <a:rPr lang="en-CN" b="1" dirty="0">
                <a:solidFill>
                  <a:srgbClr val="C00000"/>
                </a:solidFill>
              </a:rPr>
              <a:t>虚拟机包含内核态与用户态</a:t>
            </a:r>
          </a:p>
          <a:p>
            <a:pPr lvl="1"/>
            <a:r>
              <a:rPr lang="en-CN" b="1" dirty="0">
                <a:solidFill>
                  <a:srgbClr val="C00000"/>
                </a:solidFill>
              </a:rPr>
              <a:t>用户态运行一个用户态线程</a:t>
            </a:r>
          </a:p>
          <a:p>
            <a:pPr lvl="2"/>
            <a:r>
              <a:rPr lang="en-US" altLang="zh-CN" b="1" dirty="0">
                <a:solidFill>
                  <a:srgbClr val="C00000"/>
                </a:solidFill>
              </a:rPr>
              <a:t>U-Thread</a:t>
            </a:r>
            <a:endParaRPr lang="en-CN" b="1" dirty="0">
              <a:solidFill>
                <a:srgbClr val="C00000"/>
              </a:solidFill>
            </a:endParaRPr>
          </a:p>
          <a:p>
            <a:pPr lvl="1"/>
            <a:r>
              <a:rPr lang="en-CN" b="1" dirty="0">
                <a:solidFill>
                  <a:srgbClr val="C00000"/>
                </a:solidFill>
              </a:rPr>
              <a:t>用户态</a:t>
            </a:r>
            <a:r>
              <a:rPr lang="en-US" b="1" dirty="0" err="1">
                <a:solidFill>
                  <a:srgbClr val="C00000"/>
                </a:solidFill>
              </a:rPr>
              <a:t>线程</a:t>
            </a:r>
            <a:r>
              <a:rPr lang="en-CN" b="1" dirty="0">
                <a:solidFill>
                  <a:srgbClr val="C00000"/>
                </a:solidFill>
              </a:rPr>
              <a:t>可调用内核syscall</a:t>
            </a:r>
          </a:p>
          <a:p>
            <a:pPr lvl="1"/>
            <a:r>
              <a:rPr lang="en-CN" b="1" dirty="0">
                <a:solidFill>
                  <a:srgbClr val="C00000"/>
                </a:solidFill>
              </a:rPr>
              <a:t>用户态线程可被时钟中断打断</a:t>
            </a:r>
          </a:p>
          <a:p>
            <a:r>
              <a:rPr lang="en-US" altLang="zh-CN" dirty="0"/>
              <a:t>VMM</a:t>
            </a:r>
            <a:r>
              <a:rPr lang="zh-CN" altLang="en-US" dirty="0"/>
              <a:t>的实现</a:t>
            </a:r>
            <a:endParaRPr lang="en-US" altLang="zh-CN" dirty="0"/>
          </a:p>
          <a:p>
            <a:pPr lvl="1"/>
            <a:r>
              <a:rPr lang="en-CN" dirty="0"/>
              <a:t>捕捉并转发</a:t>
            </a:r>
            <a:r>
              <a:rPr lang="en-US" altLang="zh-CN" dirty="0"/>
              <a:t>U-Thread</a:t>
            </a:r>
            <a:r>
              <a:rPr lang="zh-CN" altLang="en-US" dirty="0"/>
              <a:t>系统调用</a:t>
            </a:r>
            <a:r>
              <a:rPr lang="en-US" altLang="zh-CN" dirty="0" err="1"/>
              <a:t>syscall</a:t>
            </a:r>
            <a:endParaRPr lang="en-US" altLang="zh-CN" dirty="0"/>
          </a:p>
          <a:p>
            <a:pPr lvl="1"/>
            <a:r>
              <a:rPr lang="en-US" dirty="0" err="1"/>
              <a:t>转发syscall至</a:t>
            </a:r>
            <a:r>
              <a:rPr lang="en-US" altLang="zh-CN" dirty="0" err="1"/>
              <a:t>VM</a:t>
            </a:r>
            <a:r>
              <a:rPr lang="en-US" dirty="0" err="1"/>
              <a:t>内核</a:t>
            </a:r>
            <a:endParaRPr lang="en-US" dirty="0"/>
          </a:p>
          <a:p>
            <a:pPr lvl="1"/>
            <a:r>
              <a:rPr lang="en-CN" dirty="0"/>
              <a:t>捕捉并转发</a:t>
            </a:r>
            <a:r>
              <a:rPr lang="en-US" altLang="zh-CN" dirty="0"/>
              <a:t>U-Thread</a:t>
            </a:r>
            <a:r>
              <a:rPr lang="zh-CN" altLang="en-US" dirty="0"/>
              <a:t>执行时的时钟中断</a:t>
            </a:r>
            <a:endParaRPr lang="en-CN" dirty="0"/>
          </a:p>
          <a:p>
            <a:pPr lvl="1"/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2A6C5-AEA0-CE67-7890-7736C0BE9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E55D8-E5D2-4E1D-E774-C41AE3043B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Rectangle 22">
            <a:extLst>
              <a:ext uri="{FF2B5EF4-FFF2-40B4-BE49-F238E27FC236}">
                <a16:creationId xmlns:a16="http://schemas.microsoft.com/office/drawing/2014/main" id="{662CFADA-0BAC-7BEA-294D-E22050121C28}"/>
              </a:ext>
            </a:extLst>
          </p:cNvPr>
          <p:cNvSpPr/>
          <p:nvPr/>
        </p:nvSpPr>
        <p:spPr>
          <a:xfrm>
            <a:off x="5220073" y="1419223"/>
            <a:ext cx="1859698" cy="194421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5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9" name="Straight Connector 13">
            <a:extLst>
              <a:ext uri="{FF2B5EF4-FFF2-40B4-BE49-F238E27FC236}">
                <a16:creationId xmlns:a16="http://schemas.microsoft.com/office/drawing/2014/main" id="{C3FA715D-90D4-6779-D1C0-6B1C9B9C36C8}"/>
              </a:ext>
            </a:extLst>
          </p:cNvPr>
          <p:cNvCxnSpPr>
            <a:cxnSpLocks/>
          </p:cNvCxnSpPr>
          <p:nvPr/>
        </p:nvCxnSpPr>
        <p:spPr>
          <a:xfrm>
            <a:off x="4199451" y="3435447"/>
            <a:ext cx="4600142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22">
            <a:extLst>
              <a:ext uri="{FF2B5EF4-FFF2-40B4-BE49-F238E27FC236}">
                <a16:creationId xmlns:a16="http://schemas.microsoft.com/office/drawing/2014/main" id="{1D76B81D-0A42-053D-E72D-9D780617F216}"/>
              </a:ext>
            </a:extLst>
          </p:cNvPr>
          <p:cNvSpPr/>
          <p:nvPr/>
        </p:nvSpPr>
        <p:spPr>
          <a:xfrm>
            <a:off x="5220072" y="3577580"/>
            <a:ext cx="3384378" cy="695073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endParaRPr lang="en-US" altLang="zh-CN" sz="11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11" name="文本框 31">
            <a:extLst>
              <a:ext uri="{FF2B5EF4-FFF2-40B4-BE49-F238E27FC236}">
                <a16:creationId xmlns:a16="http://schemas.microsoft.com/office/drawing/2014/main" id="{BE7415BB-7E86-3F43-B38C-7B8493CE0DFF}"/>
              </a:ext>
            </a:extLst>
          </p:cNvPr>
          <p:cNvSpPr txBox="1"/>
          <p:nvPr/>
        </p:nvSpPr>
        <p:spPr>
          <a:xfrm>
            <a:off x="4355977" y="3768598"/>
            <a:ext cx="76174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CN" sz="1500" dirty="0"/>
              <a:t>内核态</a:t>
            </a:r>
            <a:endParaRPr kumimoji="1" lang="zh-CN" altLang="en-US" sz="1500" dirty="0"/>
          </a:p>
        </p:txBody>
      </p:sp>
      <p:sp>
        <p:nvSpPr>
          <p:cNvPr id="13" name="文本框 33">
            <a:extLst>
              <a:ext uri="{FF2B5EF4-FFF2-40B4-BE49-F238E27FC236}">
                <a16:creationId xmlns:a16="http://schemas.microsoft.com/office/drawing/2014/main" id="{A3AA6063-12CD-3FDC-08D0-0AF9639E684D}"/>
              </a:ext>
            </a:extLst>
          </p:cNvPr>
          <p:cNvSpPr txBox="1"/>
          <p:nvPr/>
        </p:nvSpPr>
        <p:spPr>
          <a:xfrm>
            <a:off x="5724128" y="913284"/>
            <a:ext cx="74251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500" dirty="0"/>
              <a:t>VM</a:t>
            </a:r>
            <a:r>
              <a:rPr kumimoji="1" lang="zh-CN" altLang="en-US" sz="1500" dirty="0"/>
              <a:t> </a:t>
            </a:r>
            <a:endParaRPr kumimoji="1" lang="en-US" altLang="zh-CN" sz="1500" dirty="0"/>
          </a:p>
          <a:p>
            <a:pPr algn="ctr"/>
            <a:r>
              <a:rPr kumimoji="1" lang="en-US" altLang="zh-CN" sz="1500" dirty="0"/>
              <a:t>Kernel</a:t>
            </a:r>
            <a:endParaRPr kumimoji="1" lang="zh-CN" altLang="en-US" sz="1500" dirty="0"/>
          </a:p>
        </p:txBody>
      </p:sp>
      <p:sp>
        <p:nvSpPr>
          <p:cNvPr id="18" name="文本框 38">
            <a:extLst>
              <a:ext uri="{FF2B5EF4-FFF2-40B4-BE49-F238E27FC236}">
                <a16:creationId xmlns:a16="http://schemas.microsoft.com/office/drawing/2014/main" id="{C2C0F4D3-8743-3819-495C-D60DDEC992D6}"/>
              </a:ext>
            </a:extLst>
          </p:cNvPr>
          <p:cNvSpPr txBox="1"/>
          <p:nvPr/>
        </p:nvSpPr>
        <p:spPr>
          <a:xfrm>
            <a:off x="4355978" y="2400444"/>
            <a:ext cx="76174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CN" sz="1500" dirty="0"/>
              <a:t>用户态</a:t>
            </a:r>
            <a:endParaRPr kumimoji="1" lang="zh-CN" altLang="en-US" sz="1500" dirty="0"/>
          </a:p>
        </p:txBody>
      </p:sp>
      <p:sp>
        <p:nvSpPr>
          <p:cNvPr id="21" name="文本框 22">
            <a:extLst>
              <a:ext uri="{FF2B5EF4-FFF2-40B4-BE49-F238E27FC236}">
                <a16:creationId xmlns:a16="http://schemas.microsoft.com/office/drawing/2014/main" id="{904D852B-030B-3BA9-1E03-76443653A066}"/>
              </a:ext>
            </a:extLst>
          </p:cNvPr>
          <p:cNvSpPr txBox="1"/>
          <p:nvPr/>
        </p:nvSpPr>
        <p:spPr>
          <a:xfrm>
            <a:off x="5639611" y="4731592"/>
            <a:ext cx="35272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>
                <a:solidFill>
                  <a:schemeClr val="bg1"/>
                </a:solidFill>
              </a:rPr>
              <a:t>Vi</a:t>
            </a:r>
            <a:endParaRPr kumimoji="1" lang="zh-CN" altLang="en-US" sz="1500" dirty="0">
              <a:solidFill>
                <a:schemeClr val="bg1"/>
              </a:solidFill>
            </a:endParaRPr>
          </a:p>
        </p:txBody>
      </p:sp>
      <p:sp>
        <p:nvSpPr>
          <p:cNvPr id="23" name="文本框 33">
            <a:extLst>
              <a:ext uri="{FF2B5EF4-FFF2-40B4-BE49-F238E27FC236}">
                <a16:creationId xmlns:a16="http://schemas.microsoft.com/office/drawing/2014/main" id="{71460EBB-184C-40D1-0539-84A33E9B62F1}"/>
              </a:ext>
            </a:extLst>
          </p:cNvPr>
          <p:cNvSpPr txBox="1"/>
          <p:nvPr/>
        </p:nvSpPr>
        <p:spPr>
          <a:xfrm>
            <a:off x="7596336" y="3505572"/>
            <a:ext cx="7954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 err="1">
                <a:solidFill>
                  <a:schemeClr val="bg1"/>
                </a:solidFill>
              </a:rPr>
              <a:t>Syscall</a:t>
            </a:r>
            <a:endParaRPr kumimoji="1" lang="zh-CN" altLang="en-US" sz="15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116239-E953-4906-332B-183DFF05BB31}"/>
              </a:ext>
            </a:extLst>
          </p:cNvPr>
          <p:cNvSpPr txBox="1"/>
          <p:nvPr/>
        </p:nvSpPr>
        <p:spPr>
          <a:xfrm>
            <a:off x="6516217" y="4200644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VMM</a:t>
            </a:r>
            <a:endParaRPr lang="en-CN" dirty="0"/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1804E3B8-ECAA-6166-9324-7F0C8D916695}"/>
              </a:ext>
            </a:extLst>
          </p:cNvPr>
          <p:cNvSpPr/>
          <p:nvPr/>
        </p:nvSpPr>
        <p:spPr>
          <a:xfrm>
            <a:off x="5364088" y="1491231"/>
            <a:ext cx="1584176" cy="1800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endParaRPr lang="en-US" altLang="zh-CN" sz="1100" b="1" dirty="0">
              <a:solidFill>
                <a:schemeClr val="tx1"/>
              </a:solidFill>
              <a:cs typeface="Arial Narrow"/>
            </a:endParaRPr>
          </a:p>
          <a:p>
            <a:r>
              <a:rPr lang="en-US" altLang="zh-CN" sz="1100" b="1" dirty="0" err="1">
                <a:solidFill>
                  <a:schemeClr val="tx1"/>
                </a:solidFill>
                <a:cs typeface="Arial Narrow"/>
              </a:rPr>
              <a:t>save_ctx</a:t>
            </a:r>
            <a:r>
              <a:rPr lang="en-US" altLang="zh-CN" sz="1100" b="1" dirty="0">
                <a:solidFill>
                  <a:schemeClr val="tx1"/>
                </a:solidFill>
                <a:cs typeface="Arial Narrow"/>
              </a:rPr>
              <a:t>;</a:t>
            </a:r>
          </a:p>
          <a:p>
            <a:r>
              <a:rPr lang="en-US" altLang="zh-CN" sz="1100" b="1" dirty="0" err="1">
                <a:solidFill>
                  <a:schemeClr val="tx1"/>
                </a:solidFill>
                <a:cs typeface="Arial Narrow"/>
              </a:rPr>
              <a:t>irq_cnt</a:t>
            </a:r>
            <a:r>
              <a:rPr lang="en-US" altLang="zh-CN" sz="1100" b="1" dirty="0">
                <a:solidFill>
                  <a:schemeClr val="tx1"/>
                </a:solidFill>
                <a:cs typeface="Arial Narrow"/>
              </a:rPr>
              <a:t>++;</a:t>
            </a:r>
          </a:p>
          <a:p>
            <a:r>
              <a:rPr lang="en-US" altLang="zh-CN" sz="1100" b="1" dirty="0" err="1">
                <a:solidFill>
                  <a:schemeClr val="tx1"/>
                </a:solidFill>
                <a:cs typeface="Arial Narrow"/>
              </a:rPr>
              <a:t>restore_ctx</a:t>
            </a:r>
            <a:r>
              <a:rPr lang="en-US" altLang="zh-CN" sz="1100" b="1" dirty="0">
                <a:solidFill>
                  <a:schemeClr val="tx1"/>
                </a:solidFill>
                <a:cs typeface="Arial Narrow"/>
              </a:rPr>
              <a:t>;</a:t>
            </a:r>
          </a:p>
          <a:p>
            <a:r>
              <a:rPr lang="en-US" altLang="zh-CN" sz="1100" b="1" dirty="0">
                <a:solidFill>
                  <a:schemeClr val="tx1"/>
                </a:solidFill>
                <a:cs typeface="Arial Narrow"/>
              </a:rPr>
              <a:t>ret;</a:t>
            </a:r>
          </a:p>
          <a:p>
            <a:endParaRPr lang="en-US" altLang="zh-CN" sz="1100" b="1" dirty="0">
              <a:solidFill>
                <a:schemeClr val="tx1"/>
              </a:solidFill>
              <a:cs typeface="Arial Narrow"/>
            </a:endParaRPr>
          </a:p>
          <a:p>
            <a:endParaRPr lang="en-US" altLang="zh-CN" sz="1100" b="1" dirty="0">
              <a:solidFill>
                <a:schemeClr val="tx1"/>
              </a:solidFill>
              <a:cs typeface="Arial Narrow"/>
            </a:endParaRPr>
          </a:p>
          <a:p>
            <a:r>
              <a:rPr lang="en-US" altLang="zh-CN" sz="1100" b="1" dirty="0" err="1">
                <a:solidFill>
                  <a:schemeClr val="tx1"/>
                </a:solidFill>
                <a:cs typeface="Arial Narrow"/>
              </a:rPr>
              <a:t>save_ctx</a:t>
            </a:r>
            <a:r>
              <a:rPr lang="en-US" altLang="zh-CN" sz="1100" b="1" dirty="0">
                <a:solidFill>
                  <a:schemeClr val="tx1"/>
                </a:solidFill>
                <a:cs typeface="Arial Narrow"/>
              </a:rPr>
              <a:t>;</a:t>
            </a:r>
            <a:r>
              <a:rPr lang="zh-CN" altLang="en-US" sz="1100" b="1" dirty="0">
                <a:solidFill>
                  <a:schemeClr val="tx1"/>
                </a:solidFill>
                <a:cs typeface="Arial Narrow"/>
              </a:rPr>
              <a:t>       </a:t>
            </a:r>
            <a:endParaRPr lang="en-US" altLang="zh-CN" sz="1100" b="1" dirty="0">
              <a:solidFill>
                <a:schemeClr val="tx1"/>
              </a:solidFill>
              <a:cs typeface="Arial Narrow"/>
            </a:endParaRPr>
          </a:p>
          <a:p>
            <a:r>
              <a:rPr lang="en-US" altLang="zh-CN" sz="1100" b="1" dirty="0" err="1">
                <a:solidFill>
                  <a:schemeClr val="tx1"/>
                </a:solidFill>
                <a:cs typeface="Arial Narrow"/>
              </a:rPr>
              <a:t>serve_syscall</a:t>
            </a:r>
            <a:r>
              <a:rPr lang="en-US" altLang="zh-CN" sz="1100" b="1" dirty="0">
                <a:solidFill>
                  <a:schemeClr val="tx1"/>
                </a:solidFill>
                <a:cs typeface="Arial Narrow"/>
              </a:rPr>
              <a:t>;</a:t>
            </a:r>
          </a:p>
          <a:p>
            <a:r>
              <a:rPr lang="en-US" altLang="zh-CN" sz="1100" b="1" dirty="0" err="1">
                <a:solidFill>
                  <a:schemeClr val="tx1"/>
                </a:solidFill>
                <a:cs typeface="Arial Narrow"/>
              </a:rPr>
              <a:t>restore_ctx</a:t>
            </a:r>
            <a:r>
              <a:rPr lang="en-US" altLang="zh-CN" sz="1100" b="1" dirty="0">
                <a:solidFill>
                  <a:schemeClr val="tx1"/>
                </a:solidFill>
                <a:cs typeface="Arial Narrow"/>
              </a:rPr>
              <a:t>;</a:t>
            </a:r>
          </a:p>
          <a:p>
            <a:r>
              <a:rPr lang="en-US" altLang="zh-CN" sz="1100" b="1" dirty="0">
                <a:solidFill>
                  <a:schemeClr val="tx1"/>
                </a:solidFill>
                <a:cs typeface="Arial Narrow"/>
              </a:rPr>
              <a:t>ret;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9A2796-D96A-B6BC-7005-CD656BEC829D}"/>
              </a:ext>
            </a:extLst>
          </p:cNvPr>
          <p:cNvSpPr txBox="1"/>
          <p:nvPr/>
        </p:nvSpPr>
        <p:spPr>
          <a:xfrm>
            <a:off x="5351579" y="1419223"/>
            <a:ext cx="9989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 err="1"/>
              <a:t>irq_handler</a:t>
            </a:r>
            <a:r>
              <a:rPr lang="en-US" altLang="zh-CN" sz="1100" b="1" dirty="0"/>
              <a:t>:</a:t>
            </a:r>
            <a:endParaRPr lang="en-CN" sz="1100" b="1" dirty="0"/>
          </a:p>
        </p:txBody>
      </p:sp>
      <p:sp>
        <p:nvSpPr>
          <p:cNvPr id="32" name="文本框 33">
            <a:extLst>
              <a:ext uri="{FF2B5EF4-FFF2-40B4-BE49-F238E27FC236}">
                <a16:creationId xmlns:a16="http://schemas.microsoft.com/office/drawing/2014/main" id="{33A867D2-F226-AE24-1347-94194C86E617}"/>
              </a:ext>
            </a:extLst>
          </p:cNvPr>
          <p:cNvSpPr txBox="1"/>
          <p:nvPr/>
        </p:nvSpPr>
        <p:spPr>
          <a:xfrm>
            <a:off x="5292080" y="3505572"/>
            <a:ext cx="89159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>
                <a:solidFill>
                  <a:schemeClr val="bg1"/>
                </a:solidFill>
              </a:rPr>
              <a:t>Forward</a:t>
            </a:r>
            <a:endParaRPr kumimoji="1" lang="zh-CN" altLang="en-US" sz="1500" dirty="0">
              <a:solidFill>
                <a:schemeClr val="bg1"/>
              </a:solidFill>
            </a:endParaRPr>
          </a:p>
        </p:txBody>
      </p:sp>
      <p:sp>
        <p:nvSpPr>
          <p:cNvPr id="33" name="Rectangle 22">
            <a:extLst>
              <a:ext uri="{FF2B5EF4-FFF2-40B4-BE49-F238E27FC236}">
                <a16:creationId xmlns:a16="http://schemas.microsoft.com/office/drawing/2014/main" id="{4D872CD0-2462-5264-2071-5D2F135FF49B}"/>
              </a:ext>
            </a:extLst>
          </p:cNvPr>
          <p:cNvSpPr/>
          <p:nvPr/>
        </p:nvSpPr>
        <p:spPr>
          <a:xfrm>
            <a:off x="5940152" y="3793604"/>
            <a:ext cx="1800200" cy="4633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cs typeface="Arial Narrow"/>
              </a:rPr>
              <a:t>Forward</a:t>
            </a:r>
            <a:r>
              <a:rPr lang="zh-CN" altLang="en-US" sz="1100" dirty="0">
                <a:solidFill>
                  <a:schemeClr val="tx1"/>
                </a:solidFill>
                <a:cs typeface="Arial Narrow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cs typeface="Arial Narrow"/>
              </a:rPr>
              <a:t>IRQ</a:t>
            </a:r>
            <a:r>
              <a:rPr lang="zh-CN" altLang="en-US" sz="1100" dirty="0">
                <a:solidFill>
                  <a:schemeClr val="tx1"/>
                </a:solidFill>
                <a:cs typeface="Arial Narrow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cs typeface="Arial Narrow"/>
              </a:rPr>
              <a:t>&amp;</a:t>
            </a:r>
            <a:r>
              <a:rPr lang="zh-CN" altLang="en-US" sz="1100" dirty="0">
                <a:solidFill>
                  <a:schemeClr val="tx1"/>
                </a:solidFill>
                <a:cs typeface="Arial Narrow"/>
              </a:rPr>
              <a:t> </a:t>
            </a:r>
            <a:r>
              <a:rPr lang="en-US" altLang="zh-CN" sz="1100" dirty="0" err="1">
                <a:solidFill>
                  <a:schemeClr val="tx1"/>
                </a:solidFill>
                <a:cs typeface="Arial Narrow"/>
              </a:rPr>
              <a:t>Syscall</a:t>
            </a:r>
            <a:endParaRPr lang="en-US" altLang="zh-CN" sz="1100" dirty="0">
              <a:solidFill>
                <a:schemeClr val="tx1"/>
              </a:solidFill>
              <a:cs typeface="Arial Narrow"/>
            </a:endParaRPr>
          </a:p>
        </p:txBody>
      </p:sp>
      <p:sp>
        <p:nvSpPr>
          <p:cNvPr id="19" name="Line 140">
            <a:extLst>
              <a:ext uri="{FF2B5EF4-FFF2-40B4-BE49-F238E27FC236}">
                <a16:creationId xmlns:a16="http://schemas.microsoft.com/office/drawing/2014/main" id="{8F1751D4-063C-3B38-BC30-A625DDA3B7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24328" y="2641476"/>
            <a:ext cx="2" cy="12961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500"/>
          </a:p>
        </p:txBody>
      </p:sp>
      <p:sp>
        <p:nvSpPr>
          <p:cNvPr id="24" name="Line 140">
            <a:extLst>
              <a:ext uri="{FF2B5EF4-FFF2-40B4-BE49-F238E27FC236}">
                <a16:creationId xmlns:a16="http://schemas.microsoft.com/office/drawing/2014/main" id="{96F11909-F075-38A5-2964-7756E1263B5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4166" y="3289549"/>
            <a:ext cx="1" cy="64807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500"/>
          </a:p>
        </p:txBody>
      </p:sp>
      <p:sp>
        <p:nvSpPr>
          <p:cNvPr id="35" name="Rectangle 22">
            <a:extLst>
              <a:ext uri="{FF2B5EF4-FFF2-40B4-BE49-F238E27FC236}">
                <a16:creationId xmlns:a16="http://schemas.microsoft.com/office/drawing/2014/main" id="{74B15AFC-3045-3CA0-1784-B1A3297F1145}"/>
              </a:ext>
            </a:extLst>
          </p:cNvPr>
          <p:cNvSpPr/>
          <p:nvPr/>
        </p:nvSpPr>
        <p:spPr>
          <a:xfrm>
            <a:off x="7308304" y="1417340"/>
            <a:ext cx="792088" cy="194421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5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B9C490-23C9-321B-CDC2-07908AB7C7F6}"/>
              </a:ext>
            </a:extLst>
          </p:cNvPr>
          <p:cNvSpPr txBox="1"/>
          <p:nvPr/>
        </p:nvSpPr>
        <p:spPr>
          <a:xfrm>
            <a:off x="5351579" y="2427335"/>
            <a:ext cx="10855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 err="1"/>
              <a:t>trap_handler</a:t>
            </a:r>
            <a:r>
              <a:rPr lang="en-US" altLang="zh-CN" sz="1100" b="1" dirty="0"/>
              <a:t>:</a:t>
            </a:r>
            <a:endParaRPr lang="en-CN" sz="1100" b="1" dirty="0"/>
          </a:p>
        </p:txBody>
      </p:sp>
      <p:sp>
        <p:nvSpPr>
          <p:cNvPr id="30" name="Rectangle 22">
            <a:extLst>
              <a:ext uri="{FF2B5EF4-FFF2-40B4-BE49-F238E27FC236}">
                <a16:creationId xmlns:a16="http://schemas.microsoft.com/office/drawing/2014/main" id="{7888CD2F-741C-48DF-7C59-4A69D1BAF35F}"/>
              </a:ext>
            </a:extLst>
          </p:cNvPr>
          <p:cNvSpPr/>
          <p:nvPr/>
        </p:nvSpPr>
        <p:spPr>
          <a:xfrm>
            <a:off x="7452320" y="1993404"/>
            <a:ext cx="504056" cy="7200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r>
              <a:rPr lang="en-US" altLang="zh-CN" sz="1100" b="1" dirty="0">
                <a:solidFill>
                  <a:schemeClr val="tx1"/>
                </a:solidFill>
                <a:cs typeface="Arial Narrow"/>
              </a:rPr>
              <a:t>…</a:t>
            </a:r>
          </a:p>
        </p:txBody>
      </p:sp>
      <p:sp>
        <p:nvSpPr>
          <p:cNvPr id="31" name="文本框 33">
            <a:extLst>
              <a:ext uri="{FF2B5EF4-FFF2-40B4-BE49-F238E27FC236}">
                <a16:creationId xmlns:a16="http://schemas.microsoft.com/office/drawing/2014/main" id="{2BB69B84-9922-4560-814F-AD82F1FCC394}"/>
              </a:ext>
            </a:extLst>
          </p:cNvPr>
          <p:cNvSpPr txBox="1"/>
          <p:nvPr/>
        </p:nvSpPr>
        <p:spPr>
          <a:xfrm>
            <a:off x="7248993" y="913284"/>
            <a:ext cx="99899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500" dirty="0"/>
              <a:t>VM</a:t>
            </a:r>
            <a:r>
              <a:rPr kumimoji="1" lang="zh-CN" altLang="en-US" sz="1500" dirty="0"/>
              <a:t> </a:t>
            </a:r>
            <a:endParaRPr kumimoji="1" lang="en-US" altLang="zh-CN" sz="1500" dirty="0"/>
          </a:p>
          <a:p>
            <a:pPr algn="ctr"/>
            <a:r>
              <a:rPr kumimoji="1" lang="en-US" altLang="zh-CN" sz="1500" dirty="0"/>
              <a:t>U-Thread</a:t>
            </a:r>
            <a:endParaRPr kumimoji="1" lang="zh-CN" altLang="en-US" sz="1500" dirty="0"/>
          </a:p>
        </p:txBody>
      </p:sp>
    </p:spTree>
    <p:extLst>
      <p:ext uri="{BB962C8B-B14F-4D97-AF65-F5344CB8AC3E}">
        <p14:creationId xmlns:p14="http://schemas.microsoft.com/office/powerpoint/2010/main" val="2884737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E0ACB-7DA4-F8B7-97A9-DFC970A24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第四版：虚拟机内部支持多个用户态线程</a:t>
            </a:r>
            <a:endParaRPr lang="en-US" altLang="zh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93869-405D-F5C6-211C-D9CCF0D73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690864" cy="3771636"/>
          </a:xfrm>
        </p:spPr>
        <p:txBody>
          <a:bodyPr>
            <a:normAutofit/>
          </a:bodyPr>
          <a:lstStyle/>
          <a:p>
            <a:r>
              <a:rPr lang="en-US" altLang="zh-CN" dirty="0"/>
              <a:t>VM</a:t>
            </a:r>
            <a:r>
              <a:rPr lang="zh-CN" altLang="en-US" dirty="0"/>
              <a:t>的</a:t>
            </a:r>
            <a:r>
              <a:rPr lang="zh-CN" altLang="en-CN" dirty="0"/>
              <a:t>能力</a:t>
            </a:r>
            <a:endParaRPr lang="en-US" altLang="zh-CN" dirty="0"/>
          </a:p>
          <a:p>
            <a:pPr lvl="1"/>
            <a:r>
              <a:rPr lang="en-CN" dirty="0"/>
              <a:t>用户态运行</a:t>
            </a:r>
            <a:r>
              <a:rPr lang="en-CN" b="1" dirty="0">
                <a:solidFill>
                  <a:srgbClr val="C00000"/>
                </a:solidFill>
              </a:rPr>
              <a:t>多个</a:t>
            </a:r>
            <a:r>
              <a:rPr lang="en-CN" dirty="0"/>
              <a:t>用户态线程</a:t>
            </a:r>
          </a:p>
          <a:p>
            <a:pPr lvl="1"/>
            <a:r>
              <a:rPr lang="en-CN" b="1" dirty="0">
                <a:solidFill>
                  <a:srgbClr val="C00000"/>
                </a:solidFill>
              </a:rPr>
              <a:t>内核可调度用户态线程</a:t>
            </a:r>
          </a:p>
          <a:p>
            <a:r>
              <a:rPr lang="en-US" altLang="zh-CN" dirty="0"/>
              <a:t>VMM</a:t>
            </a:r>
            <a:r>
              <a:rPr lang="zh-CN" altLang="en-US" dirty="0"/>
              <a:t>的实现</a:t>
            </a:r>
            <a:endParaRPr lang="en-US" altLang="zh-CN" dirty="0"/>
          </a:p>
          <a:p>
            <a:pPr lvl="1"/>
            <a:r>
              <a:rPr lang="en-CN" dirty="0"/>
              <a:t>与第</a:t>
            </a:r>
            <a:r>
              <a:rPr lang="en-US" dirty="0" err="1"/>
              <a:t>三</a:t>
            </a:r>
            <a:r>
              <a:rPr lang="en-CN" dirty="0"/>
              <a:t>版相同</a:t>
            </a:r>
          </a:p>
          <a:p>
            <a:pPr lvl="1"/>
            <a:endParaRPr lang="en-CN" dirty="0"/>
          </a:p>
          <a:p>
            <a:pPr lvl="1"/>
            <a:endParaRPr lang="en-CN" dirty="0"/>
          </a:p>
          <a:p>
            <a:pPr marL="457200" lvl="1" indent="0">
              <a:buNone/>
            </a:pPr>
            <a:r>
              <a:rPr lang="en-CN" b="1" dirty="0">
                <a:solidFill>
                  <a:srgbClr val="C00000"/>
                </a:solidFill>
              </a:rPr>
              <a:t>思考</a:t>
            </a:r>
            <a:r>
              <a:rPr lang="zh-CN" altLang="en-US" b="1" dirty="0">
                <a:solidFill>
                  <a:srgbClr val="C00000"/>
                </a:solidFill>
              </a:rPr>
              <a:t>：</a:t>
            </a:r>
            <a:r>
              <a:rPr lang="en-US" altLang="zh-CN" b="1" dirty="0">
                <a:solidFill>
                  <a:srgbClr val="C00000"/>
                </a:solidFill>
              </a:rPr>
              <a:t>Fork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bomb</a:t>
            </a:r>
            <a:r>
              <a:rPr lang="zh-CN" altLang="en-US" b="1" dirty="0">
                <a:solidFill>
                  <a:srgbClr val="C00000"/>
                </a:solidFill>
              </a:rPr>
              <a:t>是否会影响</a:t>
            </a:r>
            <a:r>
              <a:rPr lang="en-US" altLang="zh-CN" b="1" dirty="0">
                <a:solidFill>
                  <a:srgbClr val="C00000"/>
                </a:solidFill>
              </a:rPr>
              <a:t>VMM</a:t>
            </a:r>
            <a:r>
              <a:rPr lang="zh-CN" altLang="en-US" b="1" dirty="0">
                <a:solidFill>
                  <a:srgbClr val="C00000"/>
                </a:solidFill>
              </a:rPr>
              <a:t>？</a:t>
            </a:r>
            <a:endParaRPr lang="en-CN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2A6C5-AEA0-CE67-7890-7736C0BE9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E55D8-E5D2-4E1D-E774-C41AE3043B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Rectangle 22">
            <a:extLst>
              <a:ext uri="{FF2B5EF4-FFF2-40B4-BE49-F238E27FC236}">
                <a16:creationId xmlns:a16="http://schemas.microsoft.com/office/drawing/2014/main" id="{662CFADA-0BAC-7BEA-294D-E22050121C28}"/>
              </a:ext>
            </a:extLst>
          </p:cNvPr>
          <p:cNvSpPr/>
          <p:nvPr/>
        </p:nvSpPr>
        <p:spPr>
          <a:xfrm>
            <a:off x="5220073" y="1419223"/>
            <a:ext cx="1859698" cy="194421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5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9" name="Straight Connector 13">
            <a:extLst>
              <a:ext uri="{FF2B5EF4-FFF2-40B4-BE49-F238E27FC236}">
                <a16:creationId xmlns:a16="http://schemas.microsoft.com/office/drawing/2014/main" id="{C3FA715D-90D4-6779-D1C0-6B1C9B9C36C8}"/>
              </a:ext>
            </a:extLst>
          </p:cNvPr>
          <p:cNvCxnSpPr>
            <a:cxnSpLocks/>
          </p:cNvCxnSpPr>
          <p:nvPr/>
        </p:nvCxnSpPr>
        <p:spPr>
          <a:xfrm>
            <a:off x="4199451" y="3435447"/>
            <a:ext cx="4600142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22">
            <a:extLst>
              <a:ext uri="{FF2B5EF4-FFF2-40B4-BE49-F238E27FC236}">
                <a16:creationId xmlns:a16="http://schemas.microsoft.com/office/drawing/2014/main" id="{1D76B81D-0A42-053D-E72D-9D780617F216}"/>
              </a:ext>
            </a:extLst>
          </p:cNvPr>
          <p:cNvSpPr/>
          <p:nvPr/>
        </p:nvSpPr>
        <p:spPr>
          <a:xfrm>
            <a:off x="5220072" y="3577580"/>
            <a:ext cx="3384378" cy="695073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endParaRPr lang="en-US" altLang="zh-CN" sz="11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11" name="文本框 31">
            <a:extLst>
              <a:ext uri="{FF2B5EF4-FFF2-40B4-BE49-F238E27FC236}">
                <a16:creationId xmlns:a16="http://schemas.microsoft.com/office/drawing/2014/main" id="{BE7415BB-7E86-3F43-B38C-7B8493CE0DFF}"/>
              </a:ext>
            </a:extLst>
          </p:cNvPr>
          <p:cNvSpPr txBox="1"/>
          <p:nvPr/>
        </p:nvSpPr>
        <p:spPr>
          <a:xfrm>
            <a:off x="4355977" y="3768598"/>
            <a:ext cx="76174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CN" sz="1500" dirty="0"/>
              <a:t>内核态</a:t>
            </a:r>
            <a:endParaRPr kumimoji="1" lang="zh-CN" altLang="en-US" sz="1500" dirty="0"/>
          </a:p>
        </p:txBody>
      </p:sp>
      <p:sp>
        <p:nvSpPr>
          <p:cNvPr id="13" name="文本框 33">
            <a:extLst>
              <a:ext uri="{FF2B5EF4-FFF2-40B4-BE49-F238E27FC236}">
                <a16:creationId xmlns:a16="http://schemas.microsoft.com/office/drawing/2014/main" id="{A3AA6063-12CD-3FDC-08D0-0AF9639E684D}"/>
              </a:ext>
            </a:extLst>
          </p:cNvPr>
          <p:cNvSpPr txBox="1"/>
          <p:nvPr/>
        </p:nvSpPr>
        <p:spPr>
          <a:xfrm>
            <a:off x="5724128" y="913284"/>
            <a:ext cx="74251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500" dirty="0"/>
              <a:t>VM</a:t>
            </a:r>
            <a:r>
              <a:rPr kumimoji="1" lang="zh-CN" altLang="en-US" sz="1500" dirty="0"/>
              <a:t> </a:t>
            </a:r>
            <a:endParaRPr kumimoji="1" lang="en-US" altLang="zh-CN" sz="1500" dirty="0"/>
          </a:p>
          <a:p>
            <a:pPr algn="ctr"/>
            <a:r>
              <a:rPr kumimoji="1" lang="en-US" altLang="zh-CN" sz="1500" dirty="0"/>
              <a:t>Kernel</a:t>
            </a:r>
            <a:endParaRPr kumimoji="1" lang="zh-CN" altLang="en-US" sz="1500" dirty="0"/>
          </a:p>
        </p:txBody>
      </p:sp>
      <p:sp>
        <p:nvSpPr>
          <p:cNvPr id="18" name="文本框 38">
            <a:extLst>
              <a:ext uri="{FF2B5EF4-FFF2-40B4-BE49-F238E27FC236}">
                <a16:creationId xmlns:a16="http://schemas.microsoft.com/office/drawing/2014/main" id="{C2C0F4D3-8743-3819-495C-D60DDEC992D6}"/>
              </a:ext>
            </a:extLst>
          </p:cNvPr>
          <p:cNvSpPr txBox="1"/>
          <p:nvPr/>
        </p:nvSpPr>
        <p:spPr>
          <a:xfrm>
            <a:off x="4355978" y="2400444"/>
            <a:ext cx="76174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CN" sz="1500" dirty="0"/>
              <a:t>用户态</a:t>
            </a:r>
            <a:endParaRPr kumimoji="1" lang="zh-CN" altLang="en-US" sz="1500" dirty="0"/>
          </a:p>
        </p:txBody>
      </p:sp>
      <p:sp>
        <p:nvSpPr>
          <p:cNvPr id="21" name="文本框 22">
            <a:extLst>
              <a:ext uri="{FF2B5EF4-FFF2-40B4-BE49-F238E27FC236}">
                <a16:creationId xmlns:a16="http://schemas.microsoft.com/office/drawing/2014/main" id="{904D852B-030B-3BA9-1E03-76443653A066}"/>
              </a:ext>
            </a:extLst>
          </p:cNvPr>
          <p:cNvSpPr txBox="1"/>
          <p:nvPr/>
        </p:nvSpPr>
        <p:spPr>
          <a:xfrm>
            <a:off x="5639611" y="4731592"/>
            <a:ext cx="35272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>
                <a:solidFill>
                  <a:schemeClr val="bg1"/>
                </a:solidFill>
              </a:rPr>
              <a:t>Vi</a:t>
            </a:r>
            <a:endParaRPr kumimoji="1" lang="zh-CN" altLang="en-US" sz="1500" dirty="0">
              <a:solidFill>
                <a:schemeClr val="bg1"/>
              </a:solidFill>
            </a:endParaRPr>
          </a:p>
        </p:txBody>
      </p:sp>
      <p:sp>
        <p:nvSpPr>
          <p:cNvPr id="23" name="文本框 33">
            <a:extLst>
              <a:ext uri="{FF2B5EF4-FFF2-40B4-BE49-F238E27FC236}">
                <a16:creationId xmlns:a16="http://schemas.microsoft.com/office/drawing/2014/main" id="{71460EBB-184C-40D1-0539-84A33E9B62F1}"/>
              </a:ext>
            </a:extLst>
          </p:cNvPr>
          <p:cNvSpPr txBox="1"/>
          <p:nvPr/>
        </p:nvSpPr>
        <p:spPr>
          <a:xfrm>
            <a:off x="6804248" y="3505572"/>
            <a:ext cx="106400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>
                <a:solidFill>
                  <a:schemeClr val="bg1"/>
                </a:solidFill>
              </a:rPr>
              <a:t>Timer</a:t>
            </a:r>
            <a:r>
              <a:rPr kumimoji="1" lang="zh-CN" altLang="en-US" sz="1500" dirty="0">
                <a:solidFill>
                  <a:schemeClr val="bg1"/>
                </a:solidFill>
              </a:rPr>
              <a:t> </a:t>
            </a:r>
            <a:r>
              <a:rPr kumimoji="1" lang="en-US" altLang="zh-CN" sz="1500" dirty="0">
                <a:solidFill>
                  <a:schemeClr val="bg1"/>
                </a:solidFill>
              </a:rPr>
              <a:t>IRQ</a:t>
            </a:r>
            <a:endParaRPr kumimoji="1" lang="zh-CN" altLang="en-US" sz="15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116239-E953-4906-332B-183DFF05BB31}"/>
              </a:ext>
            </a:extLst>
          </p:cNvPr>
          <p:cNvSpPr txBox="1"/>
          <p:nvPr/>
        </p:nvSpPr>
        <p:spPr>
          <a:xfrm>
            <a:off x="6516217" y="4200644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VMM</a:t>
            </a:r>
            <a:endParaRPr lang="en-CN" dirty="0"/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1804E3B8-ECAA-6166-9324-7F0C8D916695}"/>
              </a:ext>
            </a:extLst>
          </p:cNvPr>
          <p:cNvSpPr/>
          <p:nvPr/>
        </p:nvSpPr>
        <p:spPr>
          <a:xfrm>
            <a:off x="5292080" y="1489348"/>
            <a:ext cx="1728192" cy="1800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r>
              <a:rPr lang="en-US" altLang="zh-CN" sz="1100" b="1" dirty="0" err="1">
                <a:solidFill>
                  <a:srgbClr val="C00000"/>
                </a:solidFill>
                <a:cs typeface="Arial Narrow"/>
              </a:rPr>
              <a:t>T_Context</a:t>
            </a:r>
            <a:r>
              <a:rPr lang="zh-CN" altLang="en-US" sz="1100" b="1" dirty="0">
                <a:solidFill>
                  <a:srgbClr val="C00000"/>
                </a:solidFill>
                <a:cs typeface="Arial Narrow"/>
              </a:rPr>
              <a:t> *</a:t>
            </a:r>
            <a:r>
              <a:rPr lang="en-US" altLang="zh-CN" sz="1100" b="1" dirty="0" err="1">
                <a:solidFill>
                  <a:srgbClr val="C00000"/>
                </a:solidFill>
                <a:cs typeface="Arial Narrow"/>
              </a:rPr>
              <a:t>runqueue</a:t>
            </a:r>
            <a:r>
              <a:rPr lang="en-US" altLang="zh-CN" sz="1100" b="1" dirty="0">
                <a:solidFill>
                  <a:srgbClr val="C00000"/>
                </a:solidFill>
                <a:cs typeface="Arial Narrow"/>
              </a:rPr>
              <a:t>;</a:t>
            </a:r>
          </a:p>
          <a:p>
            <a:r>
              <a:rPr lang="zh-CN" altLang="en-US" sz="1100" b="1" dirty="0">
                <a:solidFill>
                  <a:schemeClr val="tx1"/>
                </a:solidFill>
                <a:cs typeface="Arial Narrow"/>
              </a:rPr>
              <a:t>    </a:t>
            </a:r>
            <a:endParaRPr lang="en-US" altLang="zh-CN" sz="1100" b="1" dirty="0">
              <a:solidFill>
                <a:schemeClr val="tx1"/>
              </a:solidFill>
              <a:cs typeface="Arial Narrow"/>
            </a:endParaRPr>
          </a:p>
          <a:p>
            <a:endParaRPr lang="en-US" altLang="zh-CN" sz="1100" b="1" dirty="0">
              <a:solidFill>
                <a:schemeClr val="tx1"/>
              </a:solidFill>
              <a:cs typeface="Arial Narrow"/>
            </a:endParaRPr>
          </a:p>
          <a:p>
            <a:r>
              <a:rPr lang="zh-CN" altLang="en-US" sz="1100" b="1" dirty="0">
                <a:solidFill>
                  <a:schemeClr val="tx1"/>
                </a:solidFill>
                <a:cs typeface="Arial Narrow"/>
              </a:rPr>
              <a:t>    </a:t>
            </a:r>
            <a:r>
              <a:rPr lang="en-US" altLang="zh-CN" sz="1100" b="1" dirty="0" err="1">
                <a:solidFill>
                  <a:schemeClr val="tx1"/>
                </a:solidFill>
                <a:cs typeface="Arial Narrow"/>
              </a:rPr>
              <a:t>save_ctx</a:t>
            </a:r>
            <a:r>
              <a:rPr lang="zh-CN" altLang="en-US" sz="1100" b="1" dirty="0">
                <a:solidFill>
                  <a:schemeClr val="tx1"/>
                </a:solidFill>
                <a:cs typeface="Arial Narrow"/>
              </a:rPr>
              <a:t> </a:t>
            </a:r>
            <a:r>
              <a:rPr lang="en-US" altLang="zh-CN" sz="1100" b="1" dirty="0">
                <a:solidFill>
                  <a:schemeClr val="tx1"/>
                </a:solidFill>
                <a:cs typeface="Arial Narrow"/>
              </a:rPr>
              <a:t>(p);</a:t>
            </a:r>
          </a:p>
          <a:p>
            <a:r>
              <a:rPr lang="zh-CN" altLang="en-US" sz="1100" b="1" dirty="0">
                <a:solidFill>
                  <a:srgbClr val="C00000"/>
                </a:solidFill>
                <a:cs typeface="Arial Narrow"/>
              </a:rPr>
              <a:t>    </a:t>
            </a:r>
            <a:r>
              <a:rPr lang="en-US" altLang="zh-CN" sz="1100" b="1" dirty="0">
                <a:solidFill>
                  <a:srgbClr val="C00000"/>
                </a:solidFill>
                <a:cs typeface="Arial Narrow"/>
              </a:rPr>
              <a:t>schedule(p,</a:t>
            </a:r>
            <a:r>
              <a:rPr lang="zh-CN" altLang="en-US" sz="1100" b="1" dirty="0">
                <a:solidFill>
                  <a:srgbClr val="C00000"/>
                </a:solidFill>
                <a:cs typeface="Arial Narrow"/>
              </a:rPr>
              <a:t> </a:t>
            </a:r>
            <a:r>
              <a:rPr lang="en-US" altLang="zh-CN" sz="1100" b="1" dirty="0">
                <a:solidFill>
                  <a:srgbClr val="C00000"/>
                </a:solidFill>
                <a:cs typeface="Arial Narrow"/>
              </a:rPr>
              <a:t>n);</a:t>
            </a:r>
          </a:p>
          <a:p>
            <a:r>
              <a:rPr lang="zh-CN" altLang="en-US" sz="1100" b="1" dirty="0">
                <a:solidFill>
                  <a:schemeClr val="tx1"/>
                </a:solidFill>
                <a:cs typeface="Arial Narrow"/>
              </a:rPr>
              <a:t>    </a:t>
            </a:r>
            <a:r>
              <a:rPr lang="en-US" altLang="zh-CN" sz="1100" b="1" dirty="0" err="1">
                <a:solidFill>
                  <a:schemeClr val="tx1"/>
                </a:solidFill>
                <a:cs typeface="Arial Narrow"/>
              </a:rPr>
              <a:t>restore_ctx</a:t>
            </a:r>
            <a:r>
              <a:rPr lang="en-US" altLang="zh-CN" sz="1100" b="1" dirty="0">
                <a:solidFill>
                  <a:schemeClr val="tx1"/>
                </a:solidFill>
                <a:cs typeface="Arial Narrow"/>
              </a:rPr>
              <a:t>(n);</a:t>
            </a:r>
          </a:p>
          <a:p>
            <a:r>
              <a:rPr lang="zh-CN" altLang="en-US" sz="1100" b="1" dirty="0">
                <a:solidFill>
                  <a:schemeClr val="tx1"/>
                </a:solidFill>
                <a:cs typeface="Arial Narrow"/>
              </a:rPr>
              <a:t>    </a:t>
            </a:r>
            <a:r>
              <a:rPr lang="en-US" altLang="zh-CN" sz="1100" b="1" dirty="0">
                <a:solidFill>
                  <a:schemeClr val="tx1"/>
                </a:solidFill>
                <a:cs typeface="Arial Narrow"/>
              </a:rPr>
              <a:t>ret;</a:t>
            </a:r>
          </a:p>
          <a:p>
            <a:endParaRPr lang="en-US" altLang="zh-CN" sz="1100" b="1" dirty="0">
              <a:solidFill>
                <a:schemeClr val="tx1"/>
              </a:solidFill>
              <a:cs typeface="Arial Narrow"/>
            </a:endParaRPr>
          </a:p>
          <a:p>
            <a:r>
              <a:rPr lang="zh-CN" altLang="en-US" sz="1100" b="1" dirty="0">
                <a:solidFill>
                  <a:schemeClr val="tx1"/>
                </a:solidFill>
                <a:cs typeface="Arial Narrow"/>
              </a:rPr>
              <a:t>    </a:t>
            </a:r>
            <a:r>
              <a:rPr lang="en-US" altLang="zh-CN" sz="1100" b="1" dirty="0">
                <a:solidFill>
                  <a:schemeClr val="tx1"/>
                </a:solidFill>
                <a:cs typeface="Arial Narrow"/>
              </a:rPr>
              <a:t>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9A2796-D96A-B6BC-7005-CD656BEC829D}"/>
              </a:ext>
            </a:extLst>
          </p:cNvPr>
          <p:cNvSpPr txBox="1"/>
          <p:nvPr/>
        </p:nvSpPr>
        <p:spPr>
          <a:xfrm>
            <a:off x="5292080" y="1921396"/>
            <a:ext cx="9989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 err="1"/>
              <a:t>irq_handler</a:t>
            </a:r>
            <a:r>
              <a:rPr lang="en-US" altLang="zh-CN" sz="1100" b="1" dirty="0"/>
              <a:t>:</a:t>
            </a:r>
            <a:endParaRPr lang="en-CN" sz="1100" b="1" dirty="0"/>
          </a:p>
        </p:txBody>
      </p:sp>
      <p:sp>
        <p:nvSpPr>
          <p:cNvPr id="32" name="文本框 33">
            <a:extLst>
              <a:ext uri="{FF2B5EF4-FFF2-40B4-BE49-F238E27FC236}">
                <a16:creationId xmlns:a16="http://schemas.microsoft.com/office/drawing/2014/main" id="{33A867D2-F226-AE24-1347-94194C86E617}"/>
              </a:ext>
            </a:extLst>
          </p:cNvPr>
          <p:cNvSpPr txBox="1"/>
          <p:nvPr/>
        </p:nvSpPr>
        <p:spPr>
          <a:xfrm>
            <a:off x="5292080" y="3505572"/>
            <a:ext cx="89159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>
                <a:solidFill>
                  <a:schemeClr val="bg1"/>
                </a:solidFill>
              </a:rPr>
              <a:t>Forward</a:t>
            </a:r>
            <a:endParaRPr kumimoji="1" lang="zh-CN" altLang="en-US" sz="1500" dirty="0">
              <a:solidFill>
                <a:schemeClr val="bg1"/>
              </a:solidFill>
            </a:endParaRPr>
          </a:p>
        </p:txBody>
      </p:sp>
      <p:sp>
        <p:nvSpPr>
          <p:cNvPr id="33" name="Rectangle 22">
            <a:extLst>
              <a:ext uri="{FF2B5EF4-FFF2-40B4-BE49-F238E27FC236}">
                <a16:creationId xmlns:a16="http://schemas.microsoft.com/office/drawing/2014/main" id="{4D872CD0-2462-5264-2071-5D2F135FF49B}"/>
              </a:ext>
            </a:extLst>
          </p:cNvPr>
          <p:cNvSpPr/>
          <p:nvPr/>
        </p:nvSpPr>
        <p:spPr>
          <a:xfrm>
            <a:off x="5796136" y="3768596"/>
            <a:ext cx="2736303" cy="4633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cs typeface="Arial Narrow"/>
              </a:rPr>
              <a:t>Forward</a:t>
            </a:r>
            <a:r>
              <a:rPr lang="zh-CN" altLang="en-US" sz="1100" dirty="0">
                <a:solidFill>
                  <a:schemeClr val="tx1"/>
                </a:solidFill>
                <a:cs typeface="Arial Narrow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cs typeface="Arial Narrow"/>
              </a:rPr>
              <a:t>IRQ</a:t>
            </a:r>
            <a:r>
              <a:rPr lang="zh-CN" altLang="en-US" sz="1100" dirty="0">
                <a:solidFill>
                  <a:schemeClr val="tx1"/>
                </a:solidFill>
                <a:cs typeface="Arial Narrow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cs typeface="Arial Narrow"/>
              </a:rPr>
              <a:t>&amp;</a:t>
            </a:r>
            <a:r>
              <a:rPr lang="zh-CN" altLang="en-US" sz="1100" dirty="0">
                <a:solidFill>
                  <a:schemeClr val="tx1"/>
                </a:solidFill>
                <a:cs typeface="Arial Narrow"/>
              </a:rPr>
              <a:t> </a:t>
            </a:r>
            <a:r>
              <a:rPr lang="en-US" altLang="zh-CN" sz="1100" dirty="0" err="1">
                <a:solidFill>
                  <a:schemeClr val="tx1"/>
                </a:solidFill>
                <a:cs typeface="Arial Narrow"/>
              </a:rPr>
              <a:t>Syscall</a:t>
            </a:r>
            <a:endParaRPr lang="en-US" altLang="zh-CN" sz="1100" dirty="0">
              <a:solidFill>
                <a:schemeClr val="tx1"/>
              </a:solidFill>
              <a:cs typeface="Arial Narrow"/>
            </a:endParaRPr>
          </a:p>
        </p:txBody>
      </p:sp>
      <p:sp>
        <p:nvSpPr>
          <p:cNvPr id="19" name="Line 140">
            <a:extLst>
              <a:ext uri="{FF2B5EF4-FFF2-40B4-BE49-F238E27FC236}">
                <a16:creationId xmlns:a16="http://schemas.microsoft.com/office/drawing/2014/main" id="{8F1751D4-063C-3B38-BC30-A625DDA3B7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0313" y="2688476"/>
            <a:ext cx="2" cy="12961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500"/>
          </a:p>
        </p:txBody>
      </p:sp>
      <p:sp>
        <p:nvSpPr>
          <p:cNvPr id="24" name="Line 140">
            <a:extLst>
              <a:ext uri="{FF2B5EF4-FFF2-40B4-BE49-F238E27FC236}">
                <a16:creationId xmlns:a16="http://schemas.microsoft.com/office/drawing/2014/main" id="{96F11909-F075-38A5-2964-7756E1263B5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4166" y="3289549"/>
            <a:ext cx="1" cy="64807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500"/>
          </a:p>
        </p:txBody>
      </p:sp>
      <p:sp>
        <p:nvSpPr>
          <p:cNvPr id="35" name="Rectangle 22">
            <a:extLst>
              <a:ext uri="{FF2B5EF4-FFF2-40B4-BE49-F238E27FC236}">
                <a16:creationId xmlns:a16="http://schemas.microsoft.com/office/drawing/2014/main" id="{74B15AFC-3045-3CA0-1784-B1A3297F1145}"/>
              </a:ext>
            </a:extLst>
          </p:cNvPr>
          <p:cNvSpPr/>
          <p:nvPr/>
        </p:nvSpPr>
        <p:spPr>
          <a:xfrm>
            <a:off x="7164288" y="1417340"/>
            <a:ext cx="792088" cy="194421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5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36" name="文本框 37">
            <a:extLst>
              <a:ext uri="{FF2B5EF4-FFF2-40B4-BE49-F238E27FC236}">
                <a16:creationId xmlns:a16="http://schemas.microsoft.com/office/drawing/2014/main" id="{1AD3C053-6F45-AB5B-2996-933122F7AE66}"/>
              </a:ext>
            </a:extLst>
          </p:cNvPr>
          <p:cNvSpPr txBox="1"/>
          <p:nvPr/>
        </p:nvSpPr>
        <p:spPr>
          <a:xfrm>
            <a:off x="7956376" y="913284"/>
            <a:ext cx="99899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500" dirty="0"/>
              <a:t>VM</a:t>
            </a:r>
          </a:p>
          <a:p>
            <a:pPr algn="ctr"/>
            <a:r>
              <a:rPr kumimoji="1" lang="en-US" altLang="zh-CN" sz="1500" dirty="0"/>
              <a:t>U-Thread</a:t>
            </a:r>
            <a:endParaRPr kumimoji="1" lang="zh-CN" altLang="en-US" sz="15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B9C490-23C9-321B-CDC2-07908AB7C7F6}"/>
              </a:ext>
            </a:extLst>
          </p:cNvPr>
          <p:cNvSpPr txBox="1"/>
          <p:nvPr/>
        </p:nvSpPr>
        <p:spPr>
          <a:xfrm>
            <a:off x="5292080" y="2785492"/>
            <a:ext cx="10855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 err="1"/>
              <a:t>trap_handler</a:t>
            </a:r>
            <a:r>
              <a:rPr lang="en-US" altLang="zh-CN" sz="1100" b="1" dirty="0"/>
              <a:t>:</a:t>
            </a:r>
            <a:endParaRPr lang="en-CN" sz="1100" b="1" dirty="0"/>
          </a:p>
        </p:txBody>
      </p:sp>
      <p:sp>
        <p:nvSpPr>
          <p:cNvPr id="30" name="Rectangle 22">
            <a:extLst>
              <a:ext uri="{FF2B5EF4-FFF2-40B4-BE49-F238E27FC236}">
                <a16:creationId xmlns:a16="http://schemas.microsoft.com/office/drawing/2014/main" id="{7888CD2F-741C-48DF-7C59-4A69D1BAF35F}"/>
              </a:ext>
            </a:extLst>
          </p:cNvPr>
          <p:cNvSpPr/>
          <p:nvPr/>
        </p:nvSpPr>
        <p:spPr>
          <a:xfrm>
            <a:off x="7308304" y="1993404"/>
            <a:ext cx="504056" cy="7200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r>
              <a:rPr lang="en-US" altLang="zh-CN" sz="1100" b="1" dirty="0">
                <a:solidFill>
                  <a:schemeClr val="tx1"/>
                </a:solidFill>
                <a:cs typeface="Arial Narrow"/>
              </a:rPr>
              <a:t>…</a:t>
            </a:r>
          </a:p>
        </p:txBody>
      </p:sp>
      <p:sp>
        <p:nvSpPr>
          <p:cNvPr id="31" name="文本框 33">
            <a:extLst>
              <a:ext uri="{FF2B5EF4-FFF2-40B4-BE49-F238E27FC236}">
                <a16:creationId xmlns:a16="http://schemas.microsoft.com/office/drawing/2014/main" id="{2BB69B84-9922-4560-814F-AD82F1FCC394}"/>
              </a:ext>
            </a:extLst>
          </p:cNvPr>
          <p:cNvSpPr txBox="1"/>
          <p:nvPr/>
        </p:nvSpPr>
        <p:spPr>
          <a:xfrm>
            <a:off x="7104977" y="913284"/>
            <a:ext cx="99899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500" dirty="0"/>
              <a:t>VM</a:t>
            </a:r>
            <a:r>
              <a:rPr kumimoji="1" lang="zh-CN" altLang="en-US" sz="1500" dirty="0"/>
              <a:t> </a:t>
            </a:r>
            <a:endParaRPr kumimoji="1" lang="en-US" altLang="zh-CN" sz="1500" dirty="0"/>
          </a:p>
          <a:p>
            <a:pPr algn="ctr"/>
            <a:r>
              <a:rPr kumimoji="1" lang="en-US" altLang="zh-CN" sz="1500" dirty="0"/>
              <a:t>U-Thread</a:t>
            </a:r>
            <a:endParaRPr kumimoji="1" lang="zh-CN" altLang="en-US" sz="1500" dirty="0"/>
          </a:p>
        </p:txBody>
      </p:sp>
      <p:sp>
        <p:nvSpPr>
          <p:cNvPr id="38" name="Rectangle 22">
            <a:extLst>
              <a:ext uri="{FF2B5EF4-FFF2-40B4-BE49-F238E27FC236}">
                <a16:creationId xmlns:a16="http://schemas.microsoft.com/office/drawing/2014/main" id="{5B9A4F3C-6179-7F00-6EAB-6E2F161D24A9}"/>
              </a:ext>
            </a:extLst>
          </p:cNvPr>
          <p:cNvSpPr/>
          <p:nvPr/>
        </p:nvSpPr>
        <p:spPr>
          <a:xfrm>
            <a:off x="8028384" y="1417340"/>
            <a:ext cx="792088" cy="194421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5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34" name="Rectangle 22">
            <a:extLst>
              <a:ext uri="{FF2B5EF4-FFF2-40B4-BE49-F238E27FC236}">
                <a16:creationId xmlns:a16="http://schemas.microsoft.com/office/drawing/2014/main" id="{DB24093D-5B58-3747-4EF2-577D9C62E490}"/>
              </a:ext>
            </a:extLst>
          </p:cNvPr>
          <p:cNvSpPr/>
          <p:nvPr/>
        </p:nvSpPr>
        <p:spPr>
          <a:xfrm>
            <a:off x="8172400" y="1993404"/>
            <a:ext cx="504056" cy="7200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r>
              <a:rPr lang="en-US" altLang="zh-CN" sz="1100" b="1" dirty="0">
                <a:solidFill>
                  <a:schemeClr val="tx1"/>
                </a:solidFill>
                <a:cs typeface="Arial Narrow"/>
              </a:rPr>
              <a:t>…</a:t>
            </a:r>
          </a:p>
        </p:txBody>
      </p:sp>
      <p:sp>
        <p:nvSpPr>
          <p:cNvPr id="40" name="Line 140">
            <a:extLst>
              <a:ext uri="{FF2B5EF4-FFF2-40B4-BE49-F238E27FC236}">
                <a16:creationId xmlns:a16="http://schemas.microsoft.com/office/drawing/2014/main" id="{9ECDB36C-E89D-C108-48A4-BBD887F8497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2200" y="3296562"/>
            <a:ext cx="1" cy="64807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500"/>
          </a:p>
        </p:txBody>
      </p:sp>
      <p:sp>
        <p:nvSpPr>
          <p:cNvPr id="42" name="Line 140">
            <a:extLst>
              <a:ext uri="{FF2B5EF4-FFF2-40B4-BE49-F238E27FC236}">
                <a16:creationId xmlns:a16="http://schemas.microsoft.com/office/drawing/2014/main" id="{244967C1-4A8E-B866-7458-A0AE62EF16B9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8424" y="3361556"/>
            <a:ext cx="1" cy="64807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500"/>
          </a:p>
        </p:txBody>
      </p:sp>
      <p:cxnSp>
        <p:nvCxnSpPr>
          <p:cNvPr id="43" name="曲线连接符 53">
            <a:extLst>
              <a:ext uri="{FF2B5EF4-FFF2-40B4-BE49-F238E27FC236}">
                <a16:creationId xmlns:a16="http://schemas.microsoft.com/office/drawing/2014/main" id="{7FFB1F5A-141D-3AFA-B08F-EBDE34C84E1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372200" y="2065412"/>
            <a:ext cx="576064" cy="144016"/>
          </a:xfrm>
          <a:prstGeom prst="curvedConnector3">
            <a:avLst>
              <a:gd name="adj1" fmla="val -6830"/>
            </a:avLst>
          </a:prstGeom>
          <a:ln w="19050">
            <a:solidFill>
              <a:srgbClr val="C0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2156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2" grpId="0"/>
      <p:bldP spid="19" grpId="0" animBg="1"/>
      <p:bldP spid="24" grpId="0" animBg="1"/>
      <p:bldP spid="40" grpId="0" animBg="1"/>
      <p:bldP spid="4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E0ACB-7DA4-F8B7-97A9-DFC970A24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第五版：支持多个虚拟机间的分时复用</a:t>
            </a:r>
            <a:endParaRPr lang="en-US" altLang="zh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93869-405D-F5C6-211C-D9CCF0D73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402832" cy="3771636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VM</a:t>
            </a:r>
            <a:r>
              <a:rPr lang="zh-CN" altLang="en-US" dirty="0"/>
              <a:t>的</a:t>
            </a:r>
            <a:r>
              <a:rPr lang="zh-CN" altLang="en-CN" dirty="0"/>
              <a:t>能力</a:t>
            </a:r>
            <a:endParaRPr lang="en-CN" dirty="0"/>
          </a:p>
          <a:p>
            <a:pPr lvl="1"/>
            <a:r>
              <a:rPr lang="ja-JP" altLang="en-US" b="1">
                <a:solidFill>
                  <a:srgbClr val="C00000"/>
                </a:solidFill>
              </a:rPr>
              <a:t>支持多个</a:t>
            </a:r>
            <a:r>
              <a:rPr lang="en-US" altLang="zh-CN" b="1" dirty="0">
                <a:solidFill>
                  <a:srgbClr val="C00000"/>
                </a:solidFill>
              </a:rPr>
              <a:t>VM</a:t>
            </a:r>
            <a:endParaRPr lang="en-US" altLang="ja-JP" b="1" dirty="0">
              <a:solidFill>
                <a:srgbClr val="C00000"/>
              </a:solidFill>
            </a:endParaRPr>
          </a:p>
          <a:p>
            <a:r>
              <a:rPr lang="en-US" altLang="zh-CN" dirty="0"/>
              <a:t>VMM</a:t>
            </a:r>
            <a:r>
              <a:rPr lang="zh-CN" altLang="en-US" dirty="0"/>
              <a:t>的实现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404040"/>
                </a:solidFill>
              </a:rPr>
              <a:t>每个</a:t>
            </a:r>
            <a:r>
              <a:rPr lang="en-US" altLang="zh-CN" dirty="0">
                <a:solidFill>
                  <a:srgbClr val="404040"/>
                </a:solidFill>
              </a:rPr>
              <a:t>VM</a:t>
            </a:r>
            <a:r>
              <a:rPr lang="zh-CN" altLang="en-US" dirty="0">
                <a:solidFill>
                  <a:srgbClr val="404040"/>
                </a:solidFill>
              </a:rPr>
              <a:t>对应一个内核线程</a:t>
            </a:r>
            <a:endParaRPr lang="en-US" altLang="zh-CN" dirty="0">
              <a:solidFill>
                <a:srgbClr val="404040"/>
              </a:solidFill>
            </a:endParaRPr>
          </a:p>
          <a:p>
            <a:pPr lvl="1"/>
            <a:r>
              <a:rPr lang="zh-CN" altLang="en-US" dirty="0"/>
              <a:t>维护</a:t>
            </a:r>
            <a:r>
              <a:rPr lang="en-US" altLang="zh-CN" dirty="0" err="1"/>
              <a:t>VM_runqueue</a:t>
            </a:r>
            <a:r>
              <a:rPr lang="zh-CN" altLang="en-US" dirty="0"/>
              <a:t>队列</a:t>
            </a:r>
            <a:endParaRPr lang="en-US" altLang="zh-CN" dirty="0"/>
          </a:p>
          <a:p>
            <a:pPr lvl="2"/>
            <a:r>
              <a:rPr lang="en-US" dirty="0" err="1">
                <a:solidFill>
                  <a:srgbClr val="404040"/>
                </a:solidFill>
              </a:rPr>
              <a:t>每个元素对应一个</a:t>
            </a:r>
            <a:r>
              <a:rPr lang="en-US" altLang="zh-CN" dirty="0" err="1">
                <a:solidFill>
                  <a:srgbClr val="404040"/>
                </a:solidFill>
              </a:rPr>
              <a:t>VM</a:t>
            </a:r>
            <a:r>
              <a:rPr lang="zh-CN" altLang="en-US" dirty="0">
                <a:solidFill>
                  <a:srgbClr val="404040"/>
                </a:solidFill>
              </a:rPr>
              <a:t>的运行状态</a:t>
            </a:r>
            <a:endParaRPr lang="en-US" dirty="0">
              <a:solidFill>
                <a:srgbClr val="404040"/>
              </a:solidFill>
            </a:endParaRPr>
          </a:p>
          <a:p>
            <a:pPr lvl="1"/>
            <a:r>
              <a:rPr lang="en-US" dirty="0" err="1">
                <a:solidFill>
                  <a:srgbClr val="404040"/>
                </a:solidFill>
              </a:rPr>
              <a:t>由</a:t>
            </a:r>
            <a:r>
              <a:rPr lang="en-US" altLang="zh-CN" dirty="0" err="1">
                <a:solidFill>
                  <a:srgbClr val="404040"/>
                </a:solidFill>
              </a:rPr>
              <a:t>VMM</a:t>
            </a:r>
            <a:r>
              <a:rPr lang="zh-CN" altLang="en-US" dirty="0">
                <a:solidFill>
                  <a:srgbClr val="404040"/>
                </a:solidFill>
              </a:rPr>
              <a:t>实现</a:t>
            </a:r>
            <a:r>
              <a:rPr lang="en-US" altLang="zh-CN" dirty="0">
                <a:solidFill>
                  <a:srgbClr val="404040"/>
                </a:solidFill>
              </a:rPr>
              <a:t>VM</a:t>
            </a:r>
            <a:r>
              <a:rPr lang="zh-CN" altLang="en-US" dirty="0">
                <a:solidFill>
                  <a:srgbClr val="404040"/>
                </a:solidFill>
              </a:rPr>
              <a:t>间切换</a:t>
            </a:r>
            <a:endParaRPr lang="en-US" altLang="zh-CN" dirty="0">
              <a:solidFill>
                <a:srgbClr val="404040"/>
              </a:solidFill>
            </a:endParaRPr>
          </a:p>
          <a:p>
            <a:pPr lvl="2"/>
            <a:r>
              <a:rPr lang="zh-CN" altLang="en-US" dirty="0">
                <a:solidFill>
                  <a:srgbClr val="404040"/>
                </a:solidFill>
              </a:rPr>
              <a:t>保存和恢复</a:t>
            </a:r>
            <a:r>
              <a:rPr lang="en-US" altLang="zh-CN" dirty="0">
                <a:solidFill>
                  <a:srgbClr val="404040"/>
                </a:solidFill>
              </a:rPr>
              <a:t>VM</a:t>
            </a:r>
            <a:r>
              <a:rPr lang="zh-CN" altLang="en-US" dirty="0">
                <a:solidFill>
                  <a:srgbClr val="404040"/>
                </a:solidFill>
              </a:rPr>
              <a:t>寄存器</a:t>
            </a:r>
            <a:endParaRPr lang="en-US" altLang="zh-CN" dirty="0">
              <a:solidFill>
                <a:srgbClr val="404040"/>
              </a:solidFill>
            </a:endParaRPr>
          </a:p>
          <a:p>
            <a:pPr lvl="1"/>
            <a:endParaRPr lang="en-CN" dirty="0"/>
          </a:p>
          <a:p>
            <a:pPr lvl="1"/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2A6C5-AEA0-CE67-7890-7736C0BE9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E55D8-E5D2-4E1D-E774-C41AE3043B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9" name="Straight Connector 13">
            <a:extLst>
              <a:ext uri="{FF2B5EF4-FFF2-40B4-BE49-F238E27FC236}">
                <a16:creationId xmlns:a16="http://schemas.microsoft.com/office/drawing/2014/main" id="{C3FA715D-90D4-6779-D1C0-6B1C9B9C36C8}"/>
              </a:ext>
            </a:extLst>
          </p:cNvPr>
          <p:cNvCxnSpPr>
            <a:cxnSpLocks/>
          </p:cNvCxnSpPr>
          <p:nvPr/>
        </p:nvCxnSpPr>
        <p:spPr>
          <a:xfrm>
            <a:off x="4199450" y="2812382"/>
            <a:ext cx="4600142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22">
            <a:extLst>
              <a:ext uri="{FF2B5EF4-FFF2-40B4-BE49-F238E27FC236}">
                <a16:creationId xmlns:a16="http://schemas.microsoft.com/office/drawing/2014/main" id="{1D76B81D-0A42-053D-E72D-9D780617F216}"/>
              </a:ext>
            </a:extLst>
          </p:cNvPr>
          <p:cNvSpPr/>
          <p:nvPr/>
        </p:nvSpPr>
        <p:spPr>
          <a:xfrm>
            <a:off x="5220071" y="3098531"/>
            <a:ext cx="3384378" cy="695073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endParaRPr lang="en-US" altLang="zh-CN" sz="11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11" name="文本框 31">
            <a:extLst>
              <a:ext uri="{FF2B5EF4-FFF2-40B4-BE49-F238E27FC236}">
                <a16:creationId xmlns:a16="http://schemas.microsoft.com/office/drawing/2014/main" id="{BE7415BB-7E86-3F43-B38C-7B8493CE0DFF}"/>
              </a:ext>
            </a:extLst>
          </p:cNvPr>
          <p:cNvSpPr txBox="1"/>
          <p:nvPr/>
        </p:nvSpPr>
        <p:spPr>
          <a:xfrm>
            <a:off x="4427984" y="3145532"/>
            <a:ext cx="76174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CN" sz="1500" dirty="0"/>
              <a:t>内核态</a:t>
            </a:r>
            <a:endParaRPr kumimoji="1" lang="zh-CN" altLang="en-US" sz="1500" dirty="0"/>
          </a:p>
        </p:txBody>
      </p:sp>
      <p:sp>
        <p:nvSpPr>
          <p:cNvPr id="18" name="文本框 38">
            <a:extLst>
              <a:ext uri="{FF2B5EF4-FFF2-40B4-BE49-F238E27FC236}">
                <a16:creationId xmlns:a16="http://schemas.microsoft.com/office/drawing/2014/main" id="{C2C0F4D3-8743-3819-495C-D60DDEC992D6}"/>
              </a:ext>
            </a:extLst>
          </p:cNvPr>
          <p:cNvSpPr txBox="1"/>
          <p:nvPr/>
        </p:nvSpPr>
        <p:spPr>
          <a:xfrm>
            <a:off x="4427984" y="1921396"/>
            <a:ext cx="76174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CN" sz="1500" dirty="0"/>
              <a:t>用户态</a:t>
            </a:r>
            <a:endParaRPr kumimoji="1" lang="zh-CN" altLang="en-US" sz="1500" dirty="0"/>
          </a:p>
        </p:txBody>
      </p:sp>
      <p:sp>
        <p:nvSpPr>
          <p:cNvPr id="23" name="文本框 33">
            <a:extLst>
              <a:ext uri="{FF2B5EF4-FFF2-40B4-BE49-F238E27FC236}">
                <a16:creationId xmlns:a16="http://schemas.microsoft.com/office/drawing/2014/main" id="{71460EBB-184C-40D1-0539-84A33E9B62F1}"/>
              </a:ext>
            </a:extLst>
          </p:cNvPr>
          <p:cNvSpPr txBox="1"/>
          <p:nvPr/>
        </p:nvSpPr>
        <p:spPr>
          <a:xfrm>
            <a:off x="5148064" y="2497460"/>
            <a:ext cx="106400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/>
              <a:t>Timer</a:t>
            </a:r>
            <a:r>
              <a:rPr kumimoji="1" lang="zh-CN" altLang="en-US" sz="1500" dirty="0"/>
              <a:t> </a:t>
            </a:r>
            <a:r>
              <a:rPr kumimoji="1" lang="en-US" altLang="zh-CN" sz="1500" dirty="0"/>
              <a:t>IRQ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116239-E953-4906-332B-183DFF05BB31}"/>
              </a:ext>
            </a:extLst>
          </p:cNvPr>
          <p:cNvSpPr txBox="1"/>
          <p:nvPr/>
        </p:nvSpPr>
        <p:spPr>
          <a:xfrm>
            <a:off x="6516216" y="3721596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VMM</a:t>
            </a:r>
            <a:endParaRPr lang="en-CN" dirty="0"/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351B3AA7-CA96-A937-7E33-1D958CB0D8C6}"/>
              </a:ext>
            </a:extLst>
          </p:cNvPr>
          <p:cNvSpPr/>
          <p:nvPr/>
        </p:nvSpPr>
        <p:spPr>
          <a:xfrm>
            <a:off x="6012160" y="3217540"/>
            <a:ext cx="1800200" cy="5040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r>
              <a:rPr lang="en-US" altLang="zh-CN" sz="1100" dirty="0" err="1">
                <a:solidFill>
                  <a:schemeClr val="tx1"/>
                </a:solidFill>
                <a:cs typeface="Arial Narrow"/>
              </a:rPr>
              <a:t>save_vm_states</a:t>
            </a:r>
            <a:r>
              <a:rPr lang="en-US" altLang="zh-CN" sz="1100" dirty="0">
                <a:solidFill>
                  <a:schemeClr val="tx1"/>
                </a:solidFill>
                <a:cs typeface="Arial Narrow"/>
              </a:rPr>
              <a:t>;</a:t>
            </a:r>
          </a:p>
          <a:p>
            <a:r>
              <a:rPr lang="en-US" altLang="zh-CN" sz="1100" dirty="0">
                <a:solidFill>
                  <a:schemeClr val="tx1"/>
                </a:solidFill>
                <a:cs typeface="Arial Narrow"/>
              </a:rPr>
              <a:t>schedule();</a:t>
            </a:r>
          </a:p>
          <a:p>
            <a:r>
              <a:rPr lang="en-US" altLang="zh-CN" sz="1100" dirty="0">
                <a:solidFill>
                  <a:schemeClr val="tx1"/>
                </a:solidFill>
                <a:cs typeface="Arial Narrow"/>
              </a:rPr>
              <a:t>restore</a:t>
            </a:r>
            <a:r>
              <a:rPr lang="zh-CN" altLang="en-US" sz="1100" dirty="0">
                <a:solidFill>
                  <a:schemeClr val="tx1"/>
                </a:solidFill>
                <a:cs typeface="Arial Narrow"/>
              </a:rPr>
              <a:t> </a:t>
            </a:r>
            <a:r>
              <a:rPr lang="en-US" altLang="zh-CN" sz="1100" dirty="0" err="1">
                <a:solidFill>
                  <a:schemeClr val="tx1"/>
                </a:solidFill>
                <a:cs typeface="Arial Narrow"/>
              </a:rPr>
              <a:t>vm_states</a:t>
            </a:r>
            <a:r>
              <a:rPr lang="en-US" altLang="zh-CN" sz="1100" dirty="0">
                <a:solidFill>
                  <a:schemeClr val="tx1"/>
                </a:solidFill>
                <a:cs typeface="Arial Narrow"/>
              </a:rPr>
              <a:t>;</a:t>
            </a:r>
          </a:p>
        </p:txBody>
      </p:sp>
      <p:sp>
        <p:nvSpPr>
          <p:cNvPr id="19" name="Line 140">
            <a:extLst>
              <a:ext uri="{FF2B5EF4-FFF2-40B4-BE49-F238E27FC236}">
                <a16:creationId xmlns:a16="http://schemas.microsoft.com/office/drawing/2014/main" id="{8F1751D4-063C-3B38-BC30-A625DDA3B7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56176" y="2209428"/>
            <a:ext cx="2" cy="115212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500"/>
          </a:p>
        </p:txBody>
      </p:sp>
      <p:sp>
        <p:nvSpPr>
          <p:cNvPr id="30" name="Line 140">
            <a:extLst>
              <a:ext uri="{FF2B5EF4-FFF2-40B4-BE49-F238E27FC236}">
                <a16:creationId xmlns:a16="http://schemas.microsoft.com/office/drawing/2014/main" id="{CECA81FD-2EC7-1B38-DD78-AC51B54BF5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68344" y="2209428"/>
            <a:ext cx="2" cy="115212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50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DB8170F-C645-324A-F75F-A59DAE41C8C2}"/>
              </a:ext>
            </a:extLst>
          </p:cNvPr>
          <p:cNvGrpSpPr/>
          <p:nvPr/>
        </p:nvGrpSpPr>
        <p:grpSpPr>
          <a:xfrm>
            <a:off x="5724128" y="1849388"/>
            <a:ext cx="792088" cy="361923"/>
            <a:chOff x="5220072" y="2857500"/>
            <a:chExt cx="792088" cy="361923"/>
          </a:xfrm>
        </p:grpSpPr>
        <p:sp>
          <p:nvSpPr>
            <p:cNvPr id="22" name="Rectangle 22">
              <a:extLst>
                <a:ext uri="{FF2B5EF4-FFF2-40B4-BE49-F238E27FC236}">
                  <a16:creationId xmlns:a16="http://schemas.microsoft.com/office/drawing/2014/main" id="{183D9AFF-2EEE-E36B-21DB-175B6B28D6AC}"/>
                </a:ext>
              </a:extLst>
            </p:cNvPr>
            <p:cNvSpPr/>
            <p:nvPr/>
          </p:nvSpPr>
          <p:spPr>
            <a:xfrm>
              <a:off x="5220072" y="2857500"/>
              <a:ext cx="792088" cy="36192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en-US" sz="15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24" name="文本框 33">
              <a:extLst>
                <a:ext uri="{FF2B5EF4-FFF2-40B4-BE49-F238E27FC236}">
                  <a16:creationId xmlns:a16="http://schemas.microsoft.com/office/drawing/2014/main" id="{63096FF3-BEA0-F4E0-9497-03D1B8E66795}"/>
                </a:ext>
              </a:extLst>
            </p:cNvPr>
            <p:cNvSpPr txBox="1"/>
            <p:nvPr/>
          </p:nvSpPr>
          <p:spPr>
            <a:xfrm>
              <a:off x="5292080" y="2857500"/>
              <a:ext cx="697627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500" dirty="0"/>
                <a:t>VM-1</a:t>
              </a:r>
              <a:r>
                <a:rPr kumimoji="1" lang="zh-CN" altLang="en-US" sz="1500" dirty="0"/>
                <a:t> </a:t>
              </a:r>
              <a:endParaRPr kumimoji="1" lang="en-US" altLang="zh-CN" sz="15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7E173ED-1566-AE17-8FE2-413358347666}"/>
              </a:ext>
            </a:extLst>
          </p:cNvPr>
          <p:cNvGrpSpPr/>
          <p:nvPr/>
        </p:nvGrpSpPr>
        <p:grpSpPr>
          <a:xfrm>
            <a:off x="7308304" y="1849388"/>
            <a:ext cx="792088" cy="361923"/>
            <a:chOff x="5220072" y="2857500"/>
            <a:chExt cx="792088" cy="361923"/>
          </a:xfrm>
        </p:grpSpPr>
        <p:sp>
          <p:nvSpPr>
            <p:cNvPr id="28" name="Rectangle 22">
              <a:extLst>
                <a:ext uri="{FF2B5EF4-FFF2-40B4-BE49-F238E27FC236}">
                  <a16:creationId xmlns:a16="http://schemas.microsoft.com/office/drawing/2014/main" id="{79319444-EA09-BF33-5CFE-20F504E30F7D}"/>
                </a:ext>
              </a:extLst>
            </p:cNvPr>
            <p:cNvSpPr/>
            <p:nvPr/>
          </p:nvSpPr>
          <p:spPr>
            <a:xfrm>
              <a:off x="5220072" y="2857500"/>
              <a:ext cx="792088" cy="36192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en-US" sz="15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31" name="文本框 33">
              <a:extLst>
                <a:ext uri="{FF2B5EF4-FFF2-40B4-BE49-F238E27FC236}">
                  <a16:creationId xmlns:a16="http://schemas.microsoft.com/office/drawing/2014/main" id="{45CDA5F9-EF51-6E09-79A2-6C3482819907}"/>
                </a:ext>
              </a:extLst>
            </p:cNvPr>
            <p:cNvSpPr txBox="1"/>
            <p:nvPr/>
          </p:nvSpPr>
          <p:spPr>
            <a:xfrm>
              <a:off x="5292080" y="2857500"/>
              <a:ext cx="697627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500" dirty="0"/>
                <a:t>VM-2</a:t>
              </a:r>
              <a:r>
                <a:rPr kumimoji="1" lang="zh-CN" altLang="en-US" sz="1500" dirty="0"/>
                <a:t> </a:t>
              </a:r>
              <a:endParaRPr kumimoji="1" lang="en-US" altLang="zh-CN" sz="15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45298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E0ACB-7DA4-F8B7-97A9-DFC970A24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第六版：</a:t>
            </a:r>
            <a:r>
              <a:rPr lang="en-US" altLang="zh-CN" dirty="0"/>
              <a:t>VMM</a:t>
            </a:r>
            <a:r>
              <a:rPr lang="zh-CN" altLang="en-US" dirty="0"/>
              <a:t>支持多个物理</a:t>
            </a:r>
            <a:r>
              <a:rPr lang="en-US" altLang="zh-CN" dirty="0"/>
              <a:t>CPU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93869-405D-F5C6-211C-D9CCF0D73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114800" cy="3756247"/>
          </a:xfrm>
        </p:spPr>
        <p:txBody>
          <a:bodyPr>
            <a:normAutofit/>
          </a:bodyPr>
          <a:lstStyle/>
          <a:p>
            <a:r>
              <a:rPr lang="en-US" altLang="zh-CN" dirty="0"/>
              <a:t>VM</a:t>
            </a:r>
            <a:r>
              <a:rPr lang="zh-CN" altLang="en-US" dirty="0"/>
              <a:t>的</a:t>
            </a:r>
            <a:r>
              <a:rPr lang="zh-CN" altLang="en-CN" dirty="0"/>
              <a:t>能力</a:t>
            </a:r>
            <a:endParaRPr lang="en-US" altLang="zh-CN" dirty="0"/>
          </a:p>
          <a:p>
            <a:pPr lvl="1"/>
            <a:r>
              <a:rPr lang="zh-CN" altLang="en-US" dirty="0"/>
              <a:t>与第五版相同</a:t>
            </a:r>
            <a:endParaRPr lang="en-US" altLang="zh-CN" dirty="0"/>
          </a:p>
          <a:p>
            <a:r>
              <a:rPr lang="en-US" altLang="zh-CN" dirty="0"/>
              <a:t>VMM</a:t>
            </a:r>
            <a:r>
              <a:rPr lang="zh-CN" altLang="en-US" dirty="0"/>
              <a:t>的实现（基于第五版）</a:t>
            </a:r>
            <a:endParaRPr lang="en-US" altLang="zh-CN" dirty="0"/>
          </a:p>
          <a:p>
            <a:pPr lvl="1"/>
            <a:r>
              <a:rPr lang="zh-CN" altLang="en-US" dirty="0"/>
              <a:t>为每个</a:t>
            </a:r>
            <a:r>
              <a:rPr lang="en-US" altLang="zh-CN" dirty="0" err="1"/>
              <a:t>pCPU</a:t>
            </a:r>
            <a:r>
              <a:rPr lang="zh-CN" altLang="en-US" dirty="0"/>
              <a:t>维护不同的</a:t>
            </a:r>
            <a:r>
              <a:rPr lang="en-US" altLang="zh-CN" dirty="0" err="1"/>
              <a:t>VM_runqueue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2A6C5-AEA0-CE67-7890-7736C0BE9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E55D8-E5D2-4E1D-E774-C41AE3043B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9" name="Straight Connector 13">
            <a:extLst>
              <a:ext uri="{FF2B5EF4-FFF2-40B4-BE49-F238E27FC236}">
                <a16:creationId xmlns:a16="http://schemas.microsoft.com/office/drawing/2014/main" id="{C3FA715D-90D4-6779-D1C0-6B1C9B9C36C8}"/>
              </a:ext>
            </a:extLst>
          </p:cNvPr>
          <p:cNvCxnSpPr>
            <a:cxnSpLocks/>
          </p:cNvCxnSpPr>
          <p:nvPr/>
        </p:nvCxnSpPr>
        <p:spPr>
          <a:xfrm>
            <a:off x="4644008" y="2713484"/>
            <a:ext cx="4392488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22">
            <a:extLst>
              <a:ext uri="{FF2B5EF4-FFF2-40B4-BE49-F238E27FC236}">
                <a16:creationId xmlns:a16="http://schemas.microsoft.com/office/drawing/2014/main" id="{1D76B81D-0A42-053D-E72D-9D780617F216}"/>
              </a:ext>
            </a:extLst>
          </p:cNvPr>
          <p:cNvSpPr/>
          <p:nvPr/>
        </p:nvSpPr>
        <p:spPr>
          <a:xfrm>
            <a:off x="5220072" y="2855617"/>
            <a:ext cx="1800200" cy="695073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endParaRPr lang="en-US" altLang="zh-CN" sz="11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11" name="文本框 31">
            <a:extLst>
              <a:ext uri="{FF2B5EF4-FFF2-40B4-BE49-F238E27FC236}">
                <a16:creationId xmlns:a16="http://schemas.microsoft.com/office/drawing/2014/main" id="{BE7415BB-7E86-3F43-B38C-7B8493CE0DFF}"/>
              </a:ext>
            </a:extLst>
          </p:cNvPr>
          <p:cNvSpPr txBox="1"/>
          <p:nvPr/>
        </p:nvSpPr>
        <p:spPr>
          <a:xfrm>
            <a:off x="4499992" y="3001516"/>
            <a:ext cx="76174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CN" sz="1500" dirty="0"/>
              <a:t>内核态</a:t>
            </a:r>
            <a:endParaRPr kumimoji="1" lang="zh-CN" altLang="en-US" sz="15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47ED1E0-DE1F-D1D6-F59E-63DA6BCC114A}"/>
              </a:ext>
            </a:extLst>
          </p:cNvPr>
          <p:cNvGrpSpPr/>
          <p:nvPr/>
        </p:nvGrpSpPr>
        <p:grpSpPr>
          <a:xfrm>
            <a:off x="5220072" y="2135537"/>
            <a:ext cx="792088" cy="361923"/>
            <a:chOff x="5220072" y="2857500"/>
            <a:chExt cx="792088" cy="361923"/>
          </a:xfrm>
        </p:grpSpPr>
        <p:sp>
          <p:nvSpPr>
            <p:cNvPr id="7" name="Rectangle 22">
              <a:extLst>
                <a:ext uri="{FF2B5EF4-FFF2-40B4-BE49-F238E27FC236}">
                  <a16:creationId xmlns:a16="http://schemas.microsoft.com/office/drawing/2014/main" id="{662CFADA-0BAC-7BEA-294D-E22050121C28}"/>
                </a:ext>
              </a:extLst>
            </p:cNvPr>
            <p:cNvSpPr/>
            <p:nvPr/>
          </p:nvSpPr>
          <p:spPr>
            <a:xfrm>
              <a:off x="5220072" y="2857500"/>
              <a:ext cx="792088" cy="36192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en-US" sz="15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13" name="文本框 33">
              <a:extLst>
                <a:ext uri="{FF2B5EF4-FFF2-40B4-BE49-F238E27FC236}">
                  <a16:creationId xmlns:a16="http://schemas.microsoft.com/office/drawing/2014/main" id="{A3AA6063-12CD-3FDC-08D0-0AF9639E684D}"/>
                </a:ext>
              </a:extLst>
            </p:cNvPr>
            <p:cNvSpPr txBox="1"/>
            <p:nvPr/>
          </p:nvSpPr>
          <p:spPr>
            <a:xfrm>
              <a:off x="5292080" y="2857500"/>
              <a:ext cx="697627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500" dirty="0"/>
                <a:t>VM-1</a:t>
              </a:r>
              <a:r>
                <a:rPr kumimoji="1" lang="zh-CN" altLang="en-US" sz="1500" dirty="0"/>
                <a:t> </a:t>
              </a:r>
              <a:endParaRPr kumimoji="1" lang="en-US" altLang="zh-CN" sz="1500" dirty="0"/>
            </a:p>
          </p:txBody>
        </p:sp>
      </p:grpSp>
      <p:sp>
        <p:nvSpPr>
          <p:cNvPr id="18" name="文本框 38">
            <a:extLst>
              <a:ext uri="{FF2B5EF4-FFF2-40B4-BE49-F238E27FC236}">
                <a16:creationId xmlns:a16="http://schemas.microsoft.com/office/drawing/2014/main" id="{C2C0F4D3-8743-3819-495C-D60DDEC992D6}"/>
              </a:ext>
            </a:extLst>
          </p:cNvPr>
          <p:cNvSpPr txBox="1"/>
          <p:nvPr/>
        </p:nvSpPr>
        <p:spPr>
          <a:xfrm>
            <a:off x="4427984" y="2137420"/>
            <a:ext cx="76174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CN" sz="1500" dirty="0"/>
              <a:t>用户态</a:t>
            </a:r>
            <a:endParaRPr kumimoji="1" lang="zh-CN" altLang="en-US" sz="1500" dirty="0"/>
          </a:p>
        </p:txBody>
      </p:sp>
      <p:sp>
        <p:nvSpPr>
          <p:cNvPr id="21" name="文本框 22">
            <a:extLst>
              <a:ext uri="{FF2B5EF4-FFF2-40B4-BE49-F238E27FC236}">
                <a16:creationId xmlns:a16="http://schemas.microsoft.com/office/drawing/2014/main" id="{904D852B-030B-3BA9-1E03-76443653A066}"/>
              </a:ext>
            </a:extLst>
          </p:cNvPr>
          <p:cNvSpPr txBox="1"/>
          <p:nvPr/>
        </p:nvSpPr>
        <p:spPr>
          <a:xfrm>
            <a:off x="5639611" y="4731592"/>
            <a:ext cx="35272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>
                <a:solidFill>
                  <a:schemeClr val="bg1"/>
                </a:solidFill>
              </a:rPr>
              <a:t>Vi</a:t>
            </a:r>
            <a:endParaRPr kumimoji="1" lang="zh-CN" altLang="en-US" sz="15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116239-E953-4906-332B-183DFF05BB31}"/>
              </a:ext>
            </a:extLst>
          </p:cNvPr>
          <p:cNvSpPr txBox="1"/>
          <p:nvPr/>
        </p:nvSpPr>
        <p:spPr>
          <a:xfrm>
            <a:off x="5580112" y="3503689"/>
            <a:ext cx="10054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VMM</a:t>
            </a:r>
          </a:p>
          <a:p>
            <a:pPr algn="ctr"/>
            <a:r>
              <a:rPr lang="en-US" altLang="zh-CN" dirty="0"/>
              <a:t>pCPU-1</a:t>
            </a:r>
            <a:endParaRPr lang="en-CN" dirty="0"/>
          </a:p>
        </p:txBody>
      </p:sp>
      <p:sp>
        <p:nvSpPr>
          <p:cNvPr id="33" name="Rectangle 22">
            <a:extLst>
              <a:ext uri="{FF2B5EF4-FFF2-40B4-BE49-F238E27FC236}">
                <a16:creationId xmlns:a16="http://schemas.microsoft.com/office/drawing/2014/main" id="{4D872CD0-2462-5264-2071-5D2F135FF49B}"/>
              </a:ext>
            </a:extLst>
          </p:cNvPr>
          <p:cNvSpPr/>
          <p:nvPr/>
        </p:nvSpPr>
        <p:spPr>
          <a:xfrm>
            <a:off x="5508104" y="2927625"/>
            <a:ext cx="1152128" cy="4633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cs typeface="Arial Narrow"/>
              </a:rPr>
              <a:t>VM</a:t>
            </a:r>
            <a:r>
              <a:rPr lang="zh-CN" altLang="en-US" sz="1100" dirty="0">
                <a:solidFill>
                  <a:schemeClr val="tx1"/>
                </a:solidFill>
                <a:cs typeface="Arial Narrow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cs typeface="Arial Narrow"/>
              </a:rPr>
              <a:t>Switch</a:t>
            </a:r>
            <a:r>
              <a:rPr lang="zh-CN" altLang="en-US" sz="1100" dirty="0">
                <a:solidFill>
                  <a:schemeClr val="tx1"/>
                </a:solidFill>
                <a:cs typeface="Arial Narrow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cs typeface="Arial Narrow"/>
              </a:rPr>
              <a:t>on</a:t>
            </a:r>
          </a:p>
          <a:p>
            <a:pPr algn="ctr"/>
            <a:r>
              <a:rPr lang="en-US" altLang="zh-CN" sz="1100" dirty="0">
                <a:solidFill>
                  <a:schemeClr val="tx1"/>
                </a:solidFill>
                <a:cs typeface="Arial Narrow"/>
              </a:rPr>
              <a:t>VM_runqueue0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77D2F57-E311-82A7-6C10-599A7B19A03D}"/>
              </a:ext>
            </a:extLst>
          </p:cNvPr>
          <p:cNvGrpSpPr/>
          <p:nvPr/>
        </p:nvGrpSpPr>
        <p:grpSpPr>
          <a:xfrm>
            <a:off x="6156176" y="2135537"/>
            <a:ext cx="792088" cy="361923"/>
            <a:chOff x="5220072" y="2857500"/>
            <a:chExt cx="792088" cy="361923"/>
          </a:xfrm>
        </p:grpSpPr>
        <p:sp>
          <p:nvSpPr>
            <p:cNvPr id="49" name="Rectangle 22">
              <a:extLst>
                <a:ext uri="{FF2B5EF4-FFF2-40B4-BE49-F238E27FC236}">
                  <a16:creationId xmlns:a16="http://schemas.microsoft.com/office/drawing/2014/main" id="{DCD1B897-F847-8865-1EC6-346AB6D2794C}"/>
                </a:ext>
              </a:extLst>
            </p:cNvPr>
            <p:cNvSpPr/>
            <p:nvPr/>
          </p:nvSpPr>
          <p:spPr>
            <a:xfrm>
              <a:off x="5220072" y="2857500"/>
              <a:ext cx="792088" cy="36192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en-US" sz="15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50" name="文本框 33">
              <a:extLst>
                <a:ext uri="{FF2B5EF4-FFF2-40B4-BE49-F238E27FC236}">
                  <a16:creationId xmlns:a16="http://schemas.microsoft.com/office/drawing/2014/main" id="{4FB5BAA0-15E9-DB19-7EC3-16B9A7890C23}"/>
                </a:ext>
              </a:extLst>
            </p:cNvPr>
            <p:cNvSpPr txBox="1"/>
            <p:nvPr/>
          </p:nvSpPr>
          <p:spPr>
            <a:xfrm>
              <a:off x="5292080" y="2857500"/>
              <a:ext cx="697627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500" dirty="0"/>
                <a:t>VM-2</a:t>
              </a:r>
              <a:r>
                <a:rPr kumimoji="1" lang="zh-CN" altLang="en-US" sz="1500" dirty="0"/>
                <a:t> </a:t>
              </a:r>
              <a:endParaRPr kumimoji="1" lang="en-US" altLang="zh-CN" sz="1500" dirty="0"/>
            </a:p>
          </p:txBody>
        </p:sp>
      </p:grpSp>
      <p:cxnSp>
        <p:nvCxnSpPr>
          <p:cNvPr id="51" name="曲线连接符 53">
            <a:extLst>
              <a:ext uri="{FF2B5EF4-FFF2-40B4-BE49-F238E27FC236}">
                <a16:creationId xmlns:a16="http://schemas.microsoft.com/office/drawing/2014/main" id="{424C020D-398F-C0BB-0ED4-BA42E11D7C61}"/>
              </a:ext>
            </a:extLst>
          </p:cNvPr>
          <p:cNvCxnSpPr/>
          <p:nvPr/>
        </p:nvCxnSpPr>
        <p:spPr>
          <a:xfrm rot="16200000" flipH="1">
            <a:off x="6076928" y="2070769"/>
            <a:ext cx="14400" cy="720000"/>
          </a:xfrm>
          <a:prstGeom prst="curvedConnector3">
            <a:avLst>
              <a:gd name="adj1" fmla="val 3878729"/>
            </a:avLst>
          </a:prstGeom>
          <a:ln w="190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22">
            <a:extLst>
              <a:ext uri="{FF2B5EF4-FFF2-40B4-BE49-F238E27FC236}">
                <a16:creationId xmlns:a16="http://schemas.microsoft.com/office/drawing/2014/main" id="{13432C07-E57A-E2B7-6C97-2B3E7EA39A24}"/>
              </a:ext>
            </a:extLst>
          </p:cNvPr>
          <p:cNvSpPr/>
          <p:nvPr/>
        </p:nvSpPr>
        <p:spPr>
          <a:xfrm>
            <a:off x="7236296" y="2855617"/>
            <a:ext cx="1800200" cy="695073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endParaRPr lang="en-US" altLang="zh-CN" sz="1100" dirty="0">
              <a:solidFill>
                <a:schemeClr val="bg1"/>
              </a:solidFill>
              <a:cs typeface="Arial Narrow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59CB116-BD82-75C6-AD64-37BAB524A78A}"/>
              </a:ext>
            </a:extLst>
          </p:cNvPr>
          <p:cNvGrpSpPr/>
          <p:nvPr/>
        </p:nvGrpSpPr>
        <p:grpSpPr>
          <a:xfrm>
            <a:off x="7236296" y="2135537"/>
            <a:ext cx="792088" cy="361923"/>
            <a:chOff x="5220072" y="2857500"/>
            <a:chExt cx="792088" cy="361923"/>
          </a:xfrm>
        </p:grpSpPr>
        <p:sp>
          <p:nvSpPr>
            <p:cNvPr id="54" name="Rectangle 22">
              <a:extLst>
                <a:ext uri="{FF2B5EF4-FFF2-40B4-BE49-F238E27FC236}">
                  <a16:creationId xmlns:a16="http://schemas.microsoft.com/office/drawing/2014/main" id="{2C3B54F8-1F5A-3E69-491D-CA3D613B904E}"/>
                </a:ext>
              </a:extLst>
            </p:cNvPr>
            <p:cNvSpPr/>
            <p:nvPr/>
          </p:nvSpPr>
          <p:spPr>
            <a:xfrm>
              <a:off x="5220072" y="2857500"/>
              <a:ext cx="792088" cy="36192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en-US" sz="15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55" name="文本框 33">
              <a:extLst>
                <a:ext uri="{FF2B5EF4-FFF2-40B4-BE49-F238E27FC236}">
                  <a16:creationId xmlns:a16="http://schemas.microsoft.com/office/drawing/2014/main" id="{20002541-2704-72F3-4A86-BB45EDFD79ED}"/>
                </a:ext>
              </a:extLst>
            </p:cNvPr>
            <p:cNvSpPr txBox="1"/>
            <p:nvPr/>
          </p:nvSpPr>
          <p:spPr>
            <a:xfrm>
              <a:off x="5292080" y="2857500"/>
              <a:ext cx="697627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500" dirty="0"/>
                <a:t>VM-3</a:t>
              </a:r>
              <a:r>
                <a:rPr kumimoji="1" lang="zh-CN" altLang="en-US" sz="1500" dirty="0"/>
                <a:t> </a:t>
              </a:r>
              <a:endParaRPr kumimoji="1" lang="en-US" altLang="zh-CN" sz="1500" dirty="0"/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8BDFCB0C-6B3F-3C66-B28D-8CBAE7ABB2B5}"/>
              </a:ext>
            </a:extLst>
          </p:cNvPr>
          <p:cNvSpPr txBox="1"/>
          <p:nvPr/>
        </p:nvSpPr>
        <p:spPr>
          <a:xfrm>
            <a:off x="7596336" y="3503689"/>
            <a:ext cx="10054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VMM</a:t>
            </a:r>
          </a:p>
          <a:p>
            <a:pPr algn="ctr"/>
            <a:r>
              <a:rPr lang="en-US" altLang="zh-CN" dirty="0"/>
              <a:t>pCPU-2</a:t>
            </a:r>
            <a:endParaRPr lang="en-CN" dirty="0"/>
          </a:p>
        </p:txBody>
      </p:sp>
      <p:sp>
        <p:nvSpPr>
          <p:cNvPr id="57" name="Rectangle 22">
            <a:extLst>
              <a:ext uri="{FF2B5EF4-FFF2-40B4-BE49-F238E27FC236}">
                <a16:creationId xmlns:a16="http://schemas.microsoft.com/office/drawing/2014/main" id="{BCF4407E-13F4-DD1D-69A1-18EB7312FD43}"/>
              </a:ext>
            </a:extLst>
          </p:cNvPr>
          <p:cNvSpPr/>
          <p:nvPr/>
        </p:nvSpPr>
        <p:spPr>
          <a:xfrm>
            <a:off x="7524328" y="2927625"/>
            <a:ext cx="1152128" cy="4633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cs typeface="Arial Narrow"/>
              </a:rPr>
              <a:t>VM</a:t>
            </a:r>
            <a:r>
              <a:rPr lang="zh-CN" altLang="en-US" sz="1100" dirty="0">
                <a:solidFill>
                  <a:schemeClr val="tx1"/>
                </a:solidFill>
                <a:cs typeface="Arial Narrow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cs typeface="Arial Narrow"/>
              </a:rPr>
              <a:t>Switch</a:t>
            </a:r>
            <a:r>
              <a:rPr lang="zh-CN" altLang="en-US" sz="1100" dirty="0">
                <a:solidFill>
                  <a:schemeClr val="tx1"/>
                </a:solidFill>
                <a:cs typeface="Arial Narrow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cs typeface="Arial Narrow"/>
              </a:rPr>
              <a:t>on</a:t>
            </a:r>
          </a:p>
          <a:p>
            <a:pPr algn="ctr"/>
            <a:r>
              <a:rPr lang="en-US" altLang="zh-CN" sz="1100" dirty="0">
                <a:solidFill>
                  <a:schemeClr val="tx1"/>
                </a:solidFill>
                <a:cs typeface="Arial Narrow"/>
              </a:rPr>
              <a:t>VM_runqueue1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DA6C631-6875-AC82-2C53-D5B94E516F01}"/>
              </a:ext>
            </a:extLst>
          </p:cNvPr>
          <p:cNvGrpSpPr/>
          <p:nvPr/>
        </p:nvGrpSpPr>
        <p:grpSpPr>
          <a:xfrm>
            <a:off x="8172400" y="2135537"/>
            <a:ext cx="792088" cy="361923"/>
            <a:chOff x="5220072" y="2857500"/>
            <a:chExt cx="792088" cy="361923"/>
          </a:xfrm>
        </p:grpSpPr>
        <p:sp>
          <p:nvSpPr>
            <p:cNvPr id="59" name="Rectangle 22">
              <a:extLst>
                <a:ext uri="{FF2B5EF4-FFF2-40B4-BE49-F238E27FC236}">
                  <a16:creationId xmlns:a16="http://schemas.microsoft.com/office/drawing/2014/main" id="{7F721A2B-1712-9F23-F8F7-DE9D066FB03E}"/>
                </a:ext>
              </a:extLst>
            </p:cNvPr>
            <p:cNvSpPr/>
            <p:nvPr/>
          </p:nvSpPr>
          <p:spPr>
            <a:xfrm>
              <a:off x="5220072" y="2857500"/>
              <a:ext cx="792088" cy="36192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en-US" sz="15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60" name="文本框 33">
              <a:extLst>
                <a:ext uri="{FF2B5EF4-FFF2-40B4-BE49-F238E27FC236}">
                  <a16:creationId xmlns:a16="http://schemas.microsoft.com/office/drawing/2014/main" id="{80487D16-1858-4A5C-E29F-8A302A4C8627}"/>
                </a:ext>
              </a:extLst>
            </p:cNvPr>
            <p:cNvSpPr txBox="1"/>
            <p:nvPr/>
          </p:nvSpPr>
          <p:spPr>
            <a:xfrm>
              <a:off x="5292080" y="2857500"/>
              <a:ext cx="697627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500" dirty="0"/>
                <a:t>VM-4</a:t>
              </a:r>
              <a:r>
                <a:rPr kumimoji="1" lang="zh-CN" altLang="en-US" sz="1500" dirty="0"/>
                <a:t> </a:t>
              </a:r>
              <a:endParaRPr kumimoji="1" lang="en-US" altLang="zh-CN" sz="1500" dirty="0"/>
            </a:p>
          </p:txBody>
        </p:sp>
      </p:grpSp>
      <p:cxnSp>
        <p:nvCxnSpPr>
          <p:cNvPr id="61" name="曲线连接符 53">
            <a:extLst>
              <a:ext uri="{FF2B5EF4-FFF2-40B4-BE49-F238E27FC236}">
                <a16:creationId xmlns:a16="http://schemas.microsoft.com/office/drawing/2014/main" id="{B2A97C50-9E3C-71EB-5909-918C708BADCC}"/>
              </a:ext>
            </a:extLst>
          </p:cNvPr>
          <p:cNvCxnSpPr/>
          <p:nvPr/>
        </p:nvCxnSpPr>
        <p:spPr>
          <a:xfrm rot="16200000" flipH="1">
            <a:off x="8093152" y="2070769"/>
            <a:ext cx="14400" cy="720000"/>
          </a:xfrm>
          <a:prstGeom prst="curvedConnector3">
            <a:avLst>
              <a:gd name="adj1" fmla="val 3878729"/>
            </a:avLst>
          </a:prstGeom>
          <a:ln w="190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7139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E0ACB-7DA4-F8B7-97A9-DFC970A24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第七版：虚拟机支持多个虚拟</a:t>
            </a:r>
            <a:r>
              <a:rPr lang="en-US" altLang="zh-CN" dirty="0"/>
              <a:t>CPU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93869-405D-F5C6-211C-D9CCF0D73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114800" cy="3756247"/>
          </a:xfrm>
        </p:spPr>
        <p:txBody>
          <a:bodyPr>
            <a:normAutofit/>
          </a:bodyPr>
          <a:lstStyle/>
          <a:p>
            <a:r>
              <a:rPr lang="en-US" altLang="zh-CN" dirty="0"/>
              <a:t>VM</a:t>
            </a:r>
            <a:r>
              <a:rPr lang="zh-CN" altLang="en-US" dirty="0"/>
              <a:t>的</a:t>
            </a:r>
            <a:r>
              <a:rPr lang="zh-CN" altLang="en-CN" dirty="0"/>
              <a:t>能力</a:t>
            </a:r>
            <a:r>
              <a:rPr lang="zh-CN" altLang="en-US" dirty="0"/>
              <a:t>（与第六版的区别）</a:t>
            </a:r>
            <a:endParaRPr lang="en-CN" dirty="0"/>
          </a:p>
          <a:p>
            <a:pPr lvl="1"/>
            <a:r>
              <a:rPr lang="en-CN" b="1" dirty="0">
                <a:solidFill>
                  <a:srgbClr val="C00000"/>
                </a:solidFill>
              </a:rPr>
              <a:t>虚拟机</a:t>
            </a:r>
            <a:r>
              <a:rPr lang="en-US" b="1" dirty="0" err="1">
                <a:solidFill>
                  <a:srgbClr val="C00000"/>
                </a:solidFill>
              </a:rPr>
              <a:t>有多个</a:t>
            </a:r>
            <a:r>
              <a:rPr lang="en-US" altLang="zh-CN" b="1" dirty="0" err="1">
                <a:solidFill>
                  <a:srgbClr val="C00000"/>
                </a:solidFill>
              </a:rPr>
              <a:t>Virtual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CPU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(vCPU)</a:t>
            </a:r>
            <a:endParaRPr lang="en-CN" b="1" dirty="0">
              <a:solidFill>
                <a:srgbClr val="C00000"/>
              </a:solidFill>
            </a:endParaRPr>
          </a:p>
          <a:p>
            <a:r>
              <a:rPr lang="en-US" altLang="zh-CN" dirty="0"/>
              <a:t>VMM</a:t>
            </a:r>
            <a:r>
              <a:rPr lang="zh-CN" altLang="en-US" dirty="0"/>
              <a:t>的实现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C00000"/>
                </a:solidFill>
              </a:rPr>
              <a:t>在</a:t>
            </a:r>
            <a:r>
              <a:rPr lang="en-US" altLang="zh-CN" b="1" dirty="0" err="1">
                <a:solidFill>
                  <a:srgbClr val="C00000"/>
                </a:solidFill>
              </a:rPr>
              <a:t>VM_runqueue</a:t>
            </a:r>
            <a:r>
              <a:rPr lang="zh-CN" altLang="en-US" b="1" dirty="0">
                <a:solidFill>
                  <a:srgbClr val="C00000"/>
                </a:solidFill>
              </a:rPr>
              <a:t>中标记出</a:t>
            </a:r>
            <a:r>
              <a:rPr lang="en-US" altLang="zh-CN" b="1" dirty="0">
                <a:solidFill>
                  <a:srgbClr val="C00000"/>
                </a:solidFill>
              </a:rPr>
              <a:t>VM</a:t>
            </a:r>
            <a:r>
              <a:rPr lang="zh-CN" altLang="en-US" b="1" dirty="0">
                <a:solidFill>
                  <a:srgbClr val="C00000"/>
                </a:solidFill>
              </a:rPr>
              <a:t>和</a:t>
            </a:r>
            <a:r>
              <a:rPr lang="en-US" altLang="zh-CN" b="1" dirty="0">
                <a:solidFill>
                  <a:srgbClr val="C00000"/>
                </a:solidFill>
              </a:rPr>
              <a:t>vCPU</a:t>
            </a:r>
            <a:r>
              <a:rPr lang="zh-CN" altLang="en-US" b="1" dirty="0">
                <a:solidFill>
                  <a:srgbClr val="C00000"/>
                </a:solidFill>
              </a:rPr>
              <a:t>的类型</a:t>
            </a:r>
            <a:endParaRPr lang="en-US" altLang="zh-CN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2A6C5-AEA0-CE67-7890-7736C0BE9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E55D8-E5D2-4E1D-E774-C41AE3043B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9" name="Straight Connector 13">
            <a:extLst>
              <a:ext uri="{FF2B5EF4-FFF2-40B4-BE49-F238E27FC236}">
                <a16:creationId xmlns:a16="http://schemas.microsoft.com/office/drawing/2014/main" id="{C3FA715D-90D4-6779-D1C0-6B1C9B9C36C8}"/>
              </a:ext>
            </a:extLst>
          </p:cNvPr>
          <p:cNvCxnSpPr>
            <a:cxnSpLocks/>
          </p:cNvCxnSpPr>
          <p:nvPr/>
        </p:nvCxnSpPr>
        <p:spPr>
          <a:xfrm>
            <a:off x="4644008" y="2713484"/>
            <a:ext cx="4392488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22">
            <a:extLst>
              <a:ext uri="{FF2B5EF4-FFF2-40B4-BE49-F238E27FC236}">
                <a16:creationId xmlns:a16="http://schemas.microsoft.com/office/drawing/2014/main" id="{1D76B81D-0A42-053D-E72D-9D780617F216}"/>
              </a:ext>
            </a:extLst>
          </p:cNvPr>
          <p:cNvSpPr/>
          <p:nvPr/>
        </p:nvSpPr>
        <p:spPr>
          <a:xfrm>
            <a:off x="5220072" y="2855617"/>
            <a:ext cx="1800200" cy="695073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endParaRPr lang="en-US" altLang="zh-CN" sz="11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11" name="文本框 31">
            <a:extLst>
              <a:ext uri="{FF2B5EF4-FFF2-40B4-BE49-F238E27FC236}">
                <a16:creationId xmlns:a16="http://schemas.microsoft.com/office/drawing/2014/main" id="{BE7415BB-7E86-3F43-B38C-7B8493CE0DFF}"/>
              </a:ext>
            </a:extLst>
          </p:cNvPr>
          <p:cNvSpPr txBox="1"/>
          <p:nvPr/>
        </p:nvSpPr>
        <p:spPr>
          <a:xfrm>
            <a:off x="4355977" y="3046635"/>
            <a:ext cx="76174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CN" sz="1500" dirty="0"/>
              <a:t>内核态</a:t>
            </a:r>
            <a:endParaRPr kumimoji="1" lang="zh-CN" altLang="en-US" sz="1500" dirty="0"/>
          </a:p>
        </p:txBody>
      </p:sp>
      <p:sp>
        <p:nvSpPr>
          <p:cNvPr id="7" name="Rectangle 22">
            <a:extLst>
              <a:ext uri="{FF2B5EF4-FFF2-40B4-BE49-F238E27FC236}">
                <a16:creationId xmlns:a16="http://schemas.microsoft.com/office/drawing/2014/main" id="{662CFADA-0BAC-7BEA-294D-E22050121C28}"/>
              </a:ext>
            </a:extLst>
          </p:cNvPr>
          <p:cNvSpPr/>
          <p:nvPr/>
        </p:nvSpPr>
        <p:spPr>
          <a:xfrm>
            <a:off x="5148064" y="1849388"/>
            <a:ext cx="864096" cy="597135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500" dirty="0">
                <a:solidFill>
                  <a:schemeClr val="tx1"/>
                </a:solidFill>
                <a:cs typeface="Arial Narrow"/>
              </a:rPr>
              <a:t>VM-1</a:t>
            </a:r>
          </a:p>
          <a:p>
            <a:pPr algn="ctr"/>
            <a:r>
              <a:rPr lang="en-US" altLang="zh-CN" sz="1500" dirty="0">
                <a:solidFill>
                  <a:schemeClr val="tx1"/>
                </a:solidFill>
                <a:cs typeface="Arial Narrow"/>
              </a:rPr>
              <a:t>vCPU-1</a:t>
            </a:r>
            <a:endParaRPr lang="en-US" sz="1500" dirty="0">
              <a:solidFill>
                <a:schemeClr val="tx1"/>
              </a:solidFill>
              <a:cs typeface="Arial Narrow"/>
            </a:endParaRPr>
          </a:p>
        </p:txBody>
      </p:sp>
      <p:sp>
        <p:nvSpPr>
          <p:cNvPr id="18" name="文本框 38">
            <a:extLst>
              <a:ext uri="{FF2B5EF4-FFF2-40B4-BE49-F238E27FC236}">
                <a16:creationId xmlns:a16="http://schemas.microsoft.com/office/drawing/2014/main" id="{C2C0F4D3-8743-3819-495C-D60DDEC992D6}"/>
              </a:ext>
            </a:extLst>
          </p:cNvPr>
          <p:cNvSpPr txBox="1"/>
          <p:nvPr/>
        </p:nvSpPr>
        <p:spPr>
          <a:xfrm>
            <a:off x="4283968" y="2135537"/>
            <a:ext cx="76174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CN" sz="1500" dirty="0"/>
              <a:t>用户态</a:t>
            </a:r>
            <a:endParaRPr kumimoji="1" lang="zh-CN" altLang="en-US" sz="1500" dirty="0"/>
          </a:p>
        </p:txBody>
      </p:sp>
      <p:sp>
        <p:nvSpPr>
          <p:cNvPr id="21" name="文本框 22">
            <a:extLst>
              <a:ext uri="{FF2B5EF4-FFF2-40B4-BE49-F238E27FC236}">
                <a16:creationId xmlns:a16="http://schemas.microsoft.com/office/drawing/2014/main" id="{904D852B-030B-3BA9-1E03-76443653A066}"/>
              </a:ext>
            </a:extLst>
          </p:cNvPr>
          <p:cNvSpPr txBox="1"/>
          <p:nvPr/>
        </p:nvSpPr>
        <p:spPr>
          <a:xfrm>
            <a:off x="5639611" y="4731592"/>
            <a:ext cx="35272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>
                <a:solidFill>
                  <a:schemeClr val="bg1"/>
                </a:solidFill>
              </a:rPr>
              <a:t>Vi</a:t>
            </a:r>
            <a:endParaRPr kumimoji="1" lang="zh-CN" altLang="en-US" sz="15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116239-E953-4906-332B-183DFF05BB31}"/>
              </a:ext>
            </a:extLst>
          </p:cNvPr>
          <p:cNvSpPr txBox="1"/>
          <p:nvPr/>
        </p:nvSpPr>
        <p:spPr>
          <a:xfrm>
            <a:off x="5580112" y="3503689"/>
            <a:ext cx="10054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VMM</a:t>
            </a:r>
          </a:p>
          <a:p>
            <a:pPr algn="ctr"/>
            <a:r>
              <a:rPr lang="en-US" altLang="zh-CN" dirty="0"/>
              <a:t>pCPU-1</a:t>
            </a:r>
            <a:endParaRPr lang="en-CN" dirty="0"/>
          </a:p>
        </p:txBody>
      </p:sp>
      <p:sp>
        <p:nvSpPr>
          <p:cNvPr id="33" name="Rectangle 22">
            <a:extLst>
              <a:ext uri="{FF2B5EF4-FFF2-40B4-BE49-F238E27FC236}">
                <a16:creationId xmlns:a16="http://schemas.microsoft.com/office/drawing/2014/main" id="{4D872CD0-2462-5264-2071-5D2F135FF49B}"/>
              </a:ext>
            </a:extLst>
          </p:cNvPr>
          <p:cNvSpPr/>
          <p:nvPr/>
        </p:nvSpPr>
        <p:spPr>
          <a:xfrm>
            <a:off x="5508104" y="2927625"/>
            <a:ext cx="1152128" cy="4633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cs typeface="Arial Narrow"/>
              </a:rPr>
              <a:t>VM</a:t>
            </a:r>
            <a:r>
              <a:rPr lang="zh-CN" altLang="en-US" sz="1100" dirty="0">
                <a:solidFill>
                  <a:schemeClr val="tx1"/>
                </a:solidFill>
                <a:cs typeface="Arial Narrow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cs typeface="Arial Narrow"/>
              </a:rPr>
              <a:t>Switch</a:t>
            </a:r>
            <a:r>
              <a:rPr lang="zh-CN" altLang="en-US" sz="1100" dirty="0">
                <a:solidFill>
                  <a:schemeClr val="tx1"/>
                </a:solidFill>
                <a:cs typeface="Arial Narrow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cs typeface="Arial Narrow"/>
              </a:rPr>
              <a:t>on</a:t>
            </a:r>
          </a:p>
          <a:p>
            <a:pPr algn="ctr"/>
            <a:r>
              <a:rPr lang="en-US" altLang="zh-CN" sz="1100" dirty="0">
                <a:solidFill>
                  <a:schemeClr val="tx1"/>
                </a:solidFill>
                <a:cs typeface="Arial Narrow"/>
              </a:rPr>
              <a:t>VM_runqueue0</a:t>
            </a:r>
          </a:p>
        </p:txBody>
      </p:sp>
      <p:cxnSp>
        <p:nvCxnSpPr>
          <p:cNvPr id="51" name="曲线连接符 53">
            <a:extLst>
              <a:ext uri="{FF2B5EF4-FFF2-40B4-BE49-F238E27FC236}">
                <a16:creationId xmlns:a16="http://schemas.microsoft.com/office/drawing/2014/main" id="{424C020D-398F-C0BB-0ED4-BA42E11D7C61}"/>
              </a:ext>
            </a:extLst>
          </p:cNvPr>
          <p:cNvCxnSpPr/>
          <p:nvPr/>
        </p:nvCxnSpPr>
        <p:spPr>
          <a:xfrm rot="16200000" flipH="1">
            <a:off x="6076928" y="2070769"/>
            <a:ext cx="14400" cy="720000"/>
          </a:xfrm>
          <a:prstGeom prst="curvedConnector3">
            <a:avLst>
              <a:gd name="adj1" fmla="val 3878729"/>
            </a:avLst>
          </a:prstGeom>
          <a:ln w="190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22">
            <a:extLst>
              <a:ext uri="{FF2B5EF4-FFF2-40B4-BE49-F238E27FC236}">
                <a16:creationId xmlns:a16="http://schemas.microsoft.com/office/drawing/2014/main" id="{13432C07-E57A-E2B7-6C97-2B3E7EA39A24}"/>
              </a:ext>
            </a:extLst>
          </p:cNvPr>
          <p:cNvSpPr/>
          <p:nvPr/>
        </p:nvSpPr>
        <p:spPr>
          <a:xfrm>
            <a:off x="7236296" y="2855617"/>
            <a:ext cx="1800200" cy="695073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endParaRPr lang="en-US" altLang="zh-CN" sz="11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BDFCB0C-6B3F-3C66-B28D-8CBAE7ABB2B5}"/>
              </a:ext>
            </a:extLst>
          </p:cNvPr>
          <p:cNvSpPr txBox="1"/>
          <p:nvPr/>
        </p:nvSpPr>
        <p:spPr>
          <a:xfrm>
            <a:off x="7596336" y="3503689"/>
            <a:ext cx="10054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VMM</a:t>
            </a:r>
          </a:p>
          <a:p>
            <a:pPr algn="ctr"/>
            <a:r>
              <a:rPr lang="en-US" altLang="zh-CN" dirty="0"/>
              <a:t>pCPU-2</a:t>
            </a:r>
            <a:endParaRPr lang="en-CN" dirty="0"/>
          </a:p>
        </p:txBody>
      </p:sp>
      <p:sp>
        <p:nvSpPr>
          <p:cNvPr id="57" name="Rectangle 22">
            <a:extLst>
              <a:ext uri="{FF2B5EF4-FFF2-40B4-BE49-F238E27FC236}">
                <a16:creationId xmlns:a16="http://schemas.microsoft.com/office/drawing/2014/main" id="{BCF4407E-13F4-DD1D-69A1-18EB7312FD43}"/>
              </a:ext>
            </a:extLst>
          </p:cNvPr>
          <p:cNvSpPr/>
          <p:nvPr/>
        </p:nvSpPr>
        <p:spPr>
          <a:xfrm>
            <a:off x="7524328" y="2927625"/>
            <a:ext cx="1152128" cy="4633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cs typeface="Arial Narrow"/>
              </a:rPr>
              <a:t>VM</a:t>
            </a:r>
            <a:r>
              <a:rPr lang="zh-CN" altLang="en-US" sz="1100" dirty="0">
                <a:solidFill>
                  <a:schemeClr val="tx1"/>
                </a:solidFill>
                <a:cs typeface="Arial Narrow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cs typeface="Arial Narrow"/>
              </a:rPr>
              <a:t>Switch</a:t>
            </a:r>
            <a:r>
              <a:rPr lang="zh-CN" altLang="en-US" sz="1100" dirty="0">
                <a:solidFill>
                  <a:schemeClr val="tx1"/>
                </a:solidFill>
                <a:cs typeface="Arial Narrow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cs typeface="Arial Narrow"/>
              </a:rPr>
              <a:t>on</a:t>
            </a:r>
          </a:p>
          <a:p>
            <a:pPr algn="ctr"/>
            <a:r>
              <a:rPr lang="en-US" altLang="zh-CN" sz="1100" dirty="0">
                <a:solidFill>
                  <a:schemeClr val="tx1"/>
                </a:solidFill>
                <a:cs typeface="Arial Narrow"/>
              </a:rPr>
              <a:t>VM_runqueue1</a:t>
            </a:r>
          </a:p>
        </p:txBody>
      </p:sp>
      <p:sp>
        <p:nvSpPr>
          <p:cNvPr id="30" name="Rectangle 22">
            <a:extLst>
              <a:ext uri="{FF2B5EF4-FFF2-40B4-BE49-F238E27FC236}">
                <a16:creationId xmlns:a16="http://schemas.microsoft.com/office/drawing/2014/main" id="{B0CA2583-67CC-8FA8-F699-2167F4FA1B21}"/>
              </a:ext>
            </a:extLst>
          </p:cNvPr>
          <p:cNvSpPr/>
          <p:nvPr/>
        </p:nvSpPr>
        <p:spPr>
          <a:xfrm>
            <a:off x="6156176" y="1849388"/>
            <a:ext cx="864096" cy="597135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500" dirty="0">
                <a:solidFill>
                  <a:schemeClr val="tx1"/>
                </a:solidFill>
                <a:cs typeface="Arial Narrow"/>
              </a:rPr>
              <a:t>VM-2</a:t>
            </a:r>
          </a:p>
          <a:p>
            <a:pPr algn="ctr"/>
            <a:r>
              <a:rPr lang="en-US" altLang="zh-CN" sz="1500" dirty="0">
                <a:solidFill>
                  <a:schemeClr val="tx1"/>
                </a:solidFill>
                <a:cs typeface="Arial Narrow"/>
              </a:rPr>
              <a:t>vCPU-1</a:t>
            </a:r>
            <a:endParaRPr lang="en-US" sz="1500" dirty="0">
              <a:solidFill>
                <a:schemeClr val="tx1"/>
              </a:solidFill>
              <a:cs typeface="Arial Narrow"/>
            </a:endParaRPr>
          </a:p>
        </p:txBody>
      </p:sp>
      <p:sp>
        <p:nvSpPr>
          <p:cNvPr id="31" name="Rectangle 22">
            <a:extLst>
              <a:ext uri="{FF2B5EF4-FFF2-40B4-BE49-F238E27FC236}">
                <a16:creationId xmlns:a16="http://schemas.microsoft.com/office/drawing/2014/main" id="{BDEC36D2-6A20-91F1-F657-4CFDC7D426EA}"/>
              </a:ext>
            </a:extLst>
          </p:cNvPr>
          <p:cNvSpPr/>
          <p:nvPr/>
        </p:nvSpPr>
        <p:spPr>
          <a:xfrm>
            <a:off x="7164288" y="1851271"/>
            <a:ext cx="864096" cy="597135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500" dirty="0">
                <a:solidFill>
                  <a:schemeClr val="tx1"/>
                </a:solidFill>
                <a:cs typeface="Arial Narrow"/>
              </a:rPr>
              <a:t>VM-1</a:t>
            </a:r>
          </a:p>
          <a:p>
            <a:pPr algn="ctr"/>
            <a:r>
              <a:rPr lang="en-US" altLang="zh-CN" sz="1500" dirty="0">
                <a:solidFill>
                  <a:schemeClr val="tx1"/>
                </a:solidFill>
                <a:cs typeface="Arial Narrow"/>
              </a:rPr>
              <a:t>vCPU-2</a:t>
            </a:r>
            <a:endParaRPr lang="en-US" sz="1500" dirty="0">
              <a:solidFill>
                <a:schemeClr val="tx1"/>
              </a:solidFill>
              <a:cs typeface="Arial Narrow"/>
            </a:endParaRPr>
          </a:p>
        </p:txBody>
      </p:sp>
      <p:cxnSp>
        <p:nvCxnSpPr>
          <p:cNvPr id="32" name="曲线连接符 53">
            <a:extLst>
              <a:ext uri="{FF2B5EF4-FFF2-40B4-BE49-F238E27FC236}">
                <a16:creationId xmlns:a16="http://schemas.microsoft.com/office/drawing/2014/main" id="{1077C4A1-7CB2-6C8A-ADA8-A3D09BBD8F62}"/>
              </a:ext>
            </a:extLst>
          </p:cNvPr>
          <p:cNvCxnSpPr/>
          <p:nvPr/>
        </p:nvCxnSpPr>
        <p:spPr>
          <a:xfrm rot="16200000" flipH="1">
            <a:off x="8093152" y="2072652"/>
            <a:ext cx="14400" cy="720000"/>
          </a:xfrm>
          <a:prstGeom prst="curvedConnector3">
            <a:avLst>
              <a:gd name="adj1" fmla="val 3878729"/>
            </a:avLst>
          </a:prstGeom>
          <a:ln w="190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22">
            <a:extLst>
              <a:ext uri="{FF2B5EF4-FFF2-40B4-BE49-F238E27FC236}">
                <a16:creationId xmlns:a16="http://schemas.microsoft.com/office/drawing/2014/main" id="{2E6DB3EE-9C03-F20A-D150-6512A7D1B609}"/>
              </a:ext>
            </a:extLst>
          </p:cNvPr>
          <p:cNvSpPr/>
          <p:nvPr/>
        </p:nvSpPr>
        <p:spPr>
          <a:xfrm>
            <a:off x="8172400" y="1851271"/>
            <a:ext cx="864096" cy="597135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500" dirty="0">
                <a:solidFill>
                  <a:schemeClr val="tx1"/>
                </a:solidFill>
                <a:cs typeface="Arial Narrow"/>
              </a:rPr>
              <a:t>VM-2</a:t>
            </a:r>
          </a:p>
          <a:p>
            <a:pPr algn="ctr"/>
            <a:r>
              <a:rPr lang="en-US" altLang="zh-CN" sz="1500" dirty="0">
                <a:solidFill>
                  <a:schemeClr val="tx1"/>
                </a:solidFill>
                <a:cs typeface="Arial Narrow"/>
              </a:rPr>
              <a:t>vCPU-2</a:t>
            </a:r>
            <a:endParaRPr lang="en-US" sz="1500" dirty="0">
              <a:solidFill>
                <a:schemeClr val="tx1"/>
              </a:solidFill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363706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954E9F-6039-9E41-BC35-6EB441CF0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Review:</a:t>
            </a:r>
            <a:r>
              <a:rPr lang="zh-CN" altLang="en-US" dirty="0"/>
              <a:t> </a:t>
            </a:r>
            <a:r>
              <a:rPr lang="en-US" altLang="zh-CN" dirty="0"/>
              <a:t>ARM</a:t>
            </a:r>
            <a:r>
              <a:rPr lang="zh-CN" altLang="en-US" dirty="0"/>
              <a:t>不是严格的可虚拟化架构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FF7C2B-5238-6643-A457-96C535448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404040"/>
                </a:solidFill>
              </a:rPr>
              <a:t>在</a:t>
            </a:r>
            <a:r>
              <a:rPr lang="en-US" altLang="zh-CN" dirty="0">
                <a:solidFill>
                  <a:srgbClr val="404040"/>
                </a:solidFill>
              </a:rPr>
              <a:t>ARM</a:t>
            </a:r>
            <a:r>
              <a:rPr lang="zh-CN" altLang="en-US" dirty="0">
                <a:solidFill>
                  <a:srgbClr val="404040"/>
                </a:solidFill>
              </a:rPr>
              <a:t>中：不是所有敏感指令都属于特权指令</a:t>
            </a:r>
            <a:endParaRPr lang="en-US" altLang="zh-CN" dirty="0">
              <a:solidFill>
                <a:srgbClr val="404040"/>
              </a:solidFill>
            </a:endParaRPr>
          </a:p>
          <a:p>
            <a:r>
              <a:rPr lang="zh-CN" altLang="en-US" dirty="0"/>
              <a:t>例子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BE384B"/>
                </a:solidFill>
              </a:rPr>
              <a:t>CPSID/CPSIE</a:t>
            </a:r>
            <a:r>
              <a:rPr lang="zh-CN" altLang="en-US" dirty="0"/>
              <a:t>指令</a:t>
            </a:r>
            <a:endParaRPr lang="en-US" altLang="zh-CN" sz="2000" dirty="0"/>
          </a:p>
          <a:p>
            <a:pPr lvl="1"/>
            <a:r>
              <a:rPr lang="en-US" altLang="zh-CN" dirty="0"/>
              <a:t>CPSID</a:t>
            </a:r>
            <a:r>
              <a:rPr lang="zh-CN" altLang="en-US" dirty="0"/>
              <a:t>和</a:t>
            </a:r>
            <a:r>
              <a:rPr lang="en-US" altLang="zh-CN" dirty="0"/>
              <a:t>CPSIE</a:t>
            </a:r>
            <a:r>
              <a:rPr lang="zh-CN" altLang="en-US" dirty="0"/>
              <a:t>分别可以关闭和打开中断</a:t>
            </a:r>
            <a:endParaRPr lang="zh-CN" altLang="en-US" sz="1600" dirty="0"/>
          </a:p>
          <a:p>
            <a:pPr lvl="1"/>
            <a:r>
              <a:rPr lang="zh-CN" altLang="en-US" dirty="0"/>
              <a:t>内核态执行：</a:t>
            </a:r>
            <a:r>
              <a:rPr lang="en-US" altLang="zh-CN" dirty="0"/>
              <a:t>PSTATE.{A, I, F}</a:t>
            </a:r>
            <a:r>
              <a:rPr lang="zh-CN" altLang="en-US" dirty="0"/>
              <a:t> 可以被</a:t>
            </a:r>
            <a:r>
              <a:rPr lang="en-US" altLang="zh-CN" dirty="0"/>
              <a:t>CPS</a:t>
            </a:r>
            <a:r>
              <a:rPr lang="zh-CN" altLang="en-US" dirty="0"/>
              <a:t>指令修改</a:t>
            </a:r>
            <a:endParaRPr lang="en-US" altLang="zh-CN" dirty="0"/>
          </a:p>
          <a:p>
            <a:pPr lvl="1"/>
            <a:r>
              <a:rPr lang="zh-CN" altLang="en-US" dirty="0"/>
              <a:t>在用户态执行：</a:t>
            </a:r>
            <a:r>
              <a:rPr lang="en-US" altLang="zh-CN" dirty="0"/>
              <a:t>CPS </a:t>
            </a:r>
            <a:r>
              <a:rPr lang="zh-CN" altLang="en-US" dirty="0"/>
              <a:t>被当做</a:t>
            </a:r>
            <a:r>
              <a:rPr lang="en-US" altLang="zh-CN" dirty="0"/>
              <a:t>NOP</a:t>
            </a:r>
            <a:r>
              <a:rPr lang="zh-CN" altLang="en-US" dirty="0"/>
              <a:t>指令，不产生任何效果</a:t>
            </a:r>
            <a:endParaRPr lang="en-US" altLang="zh-CN" dirty="0"/>
          </a:p>
          <a:p>
            <a:pPr lvl="2"/>
            <a:r>
              <a:rPr lang="zh-CN" altLang="en-US" dirty="0">
                <a:solidFill>
                  <a:srgbClr val="BE384B"/>
                </a:solidFill>
              </a:rPr>
              <a:t>不是特权指令</a:t>
            </a:r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9DBB13-3472-4E4B-B6A0-9DDB41E33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5B4D46-B91E-9E4B-8826-BCFB710C10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1069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F60C4C-D36C-5849-9FE8-57F2BC1FE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Review: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Intel</a:t>
            </a:r>
            <a:r>
              <a:rPr kumimoji="1" lang="zh-CN" altLang="en-US" dirty="0"/>
              <a:t> </a:t>
            </a:r>
            <a:r>
              <a:rPr kumimoji="1" lang="en-US" altLang="zh-CN" dirty="0"/>
              <a:t>VT-x</a:t>
            </a:r>
            <a:r>
              <a:rPr kumimoji="1" lang="zh-CN" altLang="en-US" dirty="0"/>
              <a:t>的处理器虚拟化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A7FFD0-7820-EA46-9D93-15006D433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7B389E-4BF0-D64C-B5F0-79532C9C65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85FD986-06BE-E34F-A103-D886C3ED8444}"/>
              </a:ext>
            </a:extLst>
          </p:cNvPr>
          <p:cNvGrpSpPr/>
          <p:nvPr/>
        </p:nvGrpSpPr>
        <p:grpSpPr>
          <a:xfrm>
            <a:off x="395536" y="1582552"/>
            <a:ext cx="8376651" cy="3219164"/>
            <a:chOff x="765167" y="1805965"/>
            <a:chExt cx="8376651" cy="3219164"/>
          </a:xfrm>
        </p:grpSpPr>
        <p:sp>
          <p:nvSpPr>
            <p:cNvPr id="9" name="Rectangle 27">
              <a:extLst>
                <a:ext uri="{FF2B5EF4-FFF2-40B4-BE49-F238E27FC236}">
                  <a16:creationId xmlns:a16="http://schemas.microsoft.com/office/drawing/2014/main" id="{B1079DF0-D9BA-D141-B107-3FACC05C58DF}"/>
                </a:ext>
              </a:extLst>
            </p:cNvPr>
            <p:cNvSpPr/>
            <p:nvPr/>
          </p:nvSpPr>
          <p:spPr>
            <a:xfrm>
              <a:off x="2147290" y="2223724"/>
              <a:ext cx="1576032" cy="155989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rgbClr val="BE384B"/>
                  </a:solidFill>
                  <a:cs typeface="Arial Narrow"/>
                </a:rPr>
                <a:t>进程</a:t>
              </a:r>
              <a:endParaRPr lang="en-US" sz="1600" dirty="0">
                <a:solidFill>
                  <a:srgbClr val="BE384B"/>
                </a:solidFill>
                <a:cs typeface="Arial Narrow"/>
              </a:endParaRPr>
            </a:p>
          </p:txBody>
        </p:sp>
        <p:cxnSp>
          <p:nvCxnSpPr>
            <p:cNvPr id="10" name="Straight Connector 13">
              <a:extLst>
                <a:ext uri="{FF2B5EF4-FFF2-40B4-BE49-F238E27FC236}">
                  <a16:creationId xmlns:a16="http://schemas.microsoft.com/office/drawing/2014/main" id="{117C1FEE-67D1-084A-A7FB-077AC7B5444C}"/>
                </a:ext>
              </a:extLst>
            </p:cNvPr>
            <p:cNvCxnSpPr>
              <a:cxnSpLocks/>
            </p:cNvCxnSpPr>
            <p:nvPr/>
          </p:nvCxnSpPr>
          <p:spPr>
            <a:xfrm>
              <a:off x="1773279" y="4225652"/>
              <a:ext cx="6913521" cy="0"/>
            </a:xfrm>
            <a:prstGeom prst="line">
              <a:avLst/>
            </a:prstGeom>
            <a:ln>
              <a:solidFill>
                <a:srgbClr val="BE384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1D452BE-7F9B-9F4F-AFD9-DC30DE684E3B}"/>
                </a:ext>
              </a:extLst>
            </p:cNvPr>
            <p:cNvSpPr txBox="1"/>
            <p:nvPr/>
          </p:nvSpPr>
          <p:spPr>
            <a:xfrm>
              <a:off x="7533684" y="3219477"/>
              <a:ext cx="160813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dirty="0"/>
                <a:t>Non-root</a:t>
              </a:r>
              <a:r>
                <a:rPr kumimoji="1" lang="zh-CN" altLang="en-US" dirty="0"/>
                <a:t> 模式</a:t>
              </a:r>
              <a:endParaRPr kumimoji="1" lang="en-US" altLang="zh-CN" dirty="0"/>
            </a:p>
            <a:p>
              <a:pPr algn="ctr"/>
              <a:r>
                <a:rPr kumimoji="1" lang="en-US" altLang="zh-CN" dirty="0"/>
                <a:t>Ring-0</a:t>
              </a:r>
              <a:endParaRPr kumimoji="1" lang="zh-CN" altLang="en-US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996FF38-7531-7044-9761-06199BEBFD61}"/>
                </a:ext>
              </a:extLst>
            </p:cNvPr>
            <p:cNvSpPr txBox="1"/>
            <p:nvPr/>
          </p:nvSpPr>
          <p:spPr>
            <a:xfrm>
              <a:off x="7525243" y="2325099"/>
              <a:ext cx="160813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dirty="0"/>
                <a:t>Non-root</a:t>
              </a:r>
              <a:r>
                <a:rPr kumimoji="1" lang="zh-CN" altLang="en-US" dirty="0"/>
                <a:t> 模式</a:t>
              </a:r>
              <a:endParaRPr kumimoji="1" lang="en-US" altLang="zh-CN" dirty="0"/>
            </a:p>
            <a:p>
              <a:pPr algn="ctr"/>
              <a:r>
                <a:rPr kumimoji="1" lang="en-US" altLang="zh-CN" dirty="0"/>
                <a:t>Ring-3</a:t>
              </a:r>
              <a:endParaRPr kumimoji="1" lang="zh-CN" altLang="en-US" dirty="0"/>
            </a:p>
          </p:txBody>
        </p:sp>
        <p:sp>
          <p:nvSpPr>
            <p:cNvPr id="13" name="Rectangle 22">
              <a:extLst>
                <a:ext uri="{FF2B5EF4-FFF2-40B4-BE49-F238E27FC236}">
                  <a16:creationId xmlns:a16="http://schemas.microsoft.com/office/drawing/2014/main" id="{1F5190EF-F564-1F40-A0E2-411D3B4D5BF5}"/>
                </a:ext>
              </a:extLst>
            </p:cNvPr>
            <p:cNvSpPr/>
            <p:nvPr/>
          </p:nvSpPr>
          <p:spPr>
            <a:xfrm>
              <a:off x="2147290" y="4354925"/>
              <a:ext cx="5224523" cy="670204"/>
            </a:xfrm>
            <a:prstGeom prst="rect">
              <a:avLst/>
            </a:prstGeom>
            <a:solidFill>
              <a:srgbClr val="BE384B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r"/>
              <a:r>
                <a:rPr lang="zh-CN" altLang="en-US" sz="1600" dirty="0">
                  <a:solidFill>
                    <a:schemeClr val="bg1"/>
                  </a:solidFill>
                  <a:cs typeface="Arial Narrow"/>
                </a:rPr>
                <a:t>虚拟机监控器</a:t>
              </a:r>
              <a:endParaRPr lang="en-US" sz="1600" dirty="0">
                <a:solidFill>
                  <a:schemeClr val="bg1"/>
                </a:solidFill>
                <a:cs typeface="Arial Narrow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AC2D095C-A4E0-B240-AEF6-50CB9E19CB6D}"/>
                </a:ext>
              </a:extLst>
            </p:cNvPr>
            <p:cNvSpPr txBox="1"/>
            <p:nvPr/>
          </p:nvSpPr>
          <p:spPr>
            <a:xfrm>
              <a:off x="765167" y="4372259"/>
              <a:ext cx="113364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dirty="0"/>
                <a:t>Root</a:t>
              </a:r>
              <a:r>
                <a:rPr kumimoji="1" lang="zh-CN" altLang="en-US" dirty="0"/>
                <a:t>模式</a:t>
              </a:r>
              <a:endParaRPr kumimoji="1" lang="en-US" altLang="zh-CN" dirty="0"/>
            </a:p>
            <a:p>
              <a:pPr algn="ctr"/>
              <a:r>
                <a:rPr kumimoji="1" lang="en-US" altLang="zh-CN" dirty="0"/>
                <a:t>Ring-0</a:t>
              </a:r>
              <a:endParaRPr kumimoji="1" lang="zh-CN" altLang="en-US" dirty="0"/>
            </a:p>
          </p:txBody>
        </p:sp>
        <p:sp>
          <p:nvSpPr>
            <p:cNvPr id="17" name="Rectangle 22">
              <a:extLst>
                <a:ext uri="{FF2B5EF4-FFF2-40B4-BE49-F238E27FC236}">
                  <a16:creationId xmlns:a16="http://schemas.microsoft.com/office/drawing/2014/main" id="{23DF1B3C-70D8-F448-94CA-A7CE740D40D8}"/>
                </a:ext>
              </a:extLst>
            </p:cNvPr>
            <p:cNvSpPr/>
            <p:nvPr/>
          </p:nvSpPr>
          <p:spPr>
            <a:xfrm>
              <a:off x="4590140" y="3113416"/>
              <a:ext cx="2636232" cy="67020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r"/>
              <a:r>
                <a:rPr lang="zh-CN" altLang="en-US" sz="1600" dirty="0">
                  <a:solidFill>
                    <a:srgbClr val="BE384B"/>
                  </a:solidFill>
                  <a:cs typeface="Arial Narrow"/>
                </a:rPr>
                <a:t>操作系统内核</a:t>
              </a:r>
              <a:endParaRPr lang="en-US" sz="16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BCBE0768-7A69-C741-8ACF-44BDA9E7E2C9}"/>
                </a:ext>
              </a:extLst>
            </p:cNvPr>
            <p:cNvSpPr/>
            <p:nvPr/>
          </p:nvSpPr>
          <p:spPr>
            <a:xfrm>
              <a:off x="4587897" y="2204453"/>
              <a:ext cx="2636232" cy="67020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rgbClr val="BE384B"/>
                  </a:solidFill>
                  <a:cs typeface="Arial Narrow"/>
                </a:rPr>
                <a:t>进程</a:t>
              </a:r>
              <a:endParaRPr lang="en-US" sz="16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19" name="圆角矩形 18">
              <a:extLst>
                <a:ext uri="{FF2B5EF4-FFF2-40B4-BE49-F238E27FC236}">
                  <a16:creationId xmlns:a16="http://schemas.microsoft.com/office/drawing/2014/main" id="{837643CB-0B54-B845-B78D-507DD889631E}"/>
                </a:ext>
              </a:extLst>
            </p:cNvPr>
            <p:cNvSpPr/>
            <p:nvPr/>
          </p:nvSpPr>
          <p:spPr>
            <a:xfrm>
              <a:off x="4440212" y="1805965"/>
              <a:ext cx="2931601" cy="2133498"/>
            </a:xfrm>
            <a:prstGeom prst="roundRect">
              <a:avLst>
                <a:gd name="adj" fmla="val 6497"/>
              </a:avLst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EDF1401A-A8B3-454B-B240-EFA78CAABC90}"/>
                </a:ext>
              </a:extLst>
            </p:cNvPr>
            <p:cNvSpPr txBox="1"/>
            <p:nvPr/>
          </p:nvSpPr>
          <p:spPr>
            <a:xfrm>
              <a:off x="5436096" y="1839539"/>
              <a:ext cx="1416615" cy="501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虚拟机</a:t>
              </a:r>
              <a:r>
                <a:rPr kumimoji="1" lang="en-US" altLang="zh-CN" dirty="0"/>
                <a:t>N</a:t>
              </a:r>
              <a:endParaRPr kumimoji="1" lang="zh-CN" altLang="en-US" dirty="0"/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86418850-A836-444A-85CE-21871D5D00BE}"/>
              </a:ext>
            </a:extLst>
          </p:cNvPr>
          <p:cNvSpPr txBox="1"/>
          <p:nvPr/>
        </p:nvSpPr>
        <p:spPr>
          <a:xfrm>
            <a:off x="395536" y="2595591"/>
            <a:ext cx="11336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/>
              <a:t>Root</a:t>
            </a:r>
            <a:r>
              <a:rPr kumimoji="1" lang="zh-CN" altLang="en-US" dirty="0"/>
              <a:t>模式</a:t>
            </a:r>
            <a:endParaRPr kumimoji="1" lang="en-US" altLang="zh-CN" dirty="0"/>
          </a:p>
          <a:p>
            <a:pPr algn="ctr"/>
            <a:r>
              <a:rPr kumimoji="1" lang="en-US" altLang="zh-CN" dirty="0"/>
              <a:t>Ring-3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638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CEA400-56D1-7944-9A70-02D15A2B0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Review:</a:t>
            </a:r>
            <a:r>
              <a:rPr kumimoji="1" lang="zh-CN" altLang="en-US" dirty="0"/>
              <a:t> </a:t>
            </a:r>
            <a:r>
              <a:rPr kumimoji="1" lang="en-US" altLang="zh-CN" dirty="0"/>
              <a:t>x86</a:t>
            </a:r>
            <a:r>
              <a:rPr kumimoji="1" lang="zh-CN" altLang="en-US" dirty="0"/>
              <a:t>中的</a:t>
            </a:r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Entry</a:t>
            </a:r>
            <a:r>
              <a:rPr kumimoji="1" lang="zh-CN" altLang="en-US" dirty="0"/>
              <a:t>和</a:t>
            </a:r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Exit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5A407D-4005-8046-98F5-860F1CBEE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Entry</a:t>
            </a:r>
          </a:p>
          <a:p>
            <a:pPr lvl="1"/>
            <a:r>
              <a:rPr kumimoji="1" lang="zh-CN" altLang="en-US" dirty="0"/>
              <a:t>从</a:t>
            </a:r>
            <a:r>
              <a:rPr kumimoji="1" lang="en-US" altLang="zh-CN" dirty="0"/>
              <a:t>VMM</a:t>
            </a:r>
            <a:r>
              <a:rPr kumimoji="1" lang="zh-CN" altLang="en-US" dirty="0"/>
              <a:t>进入</a:t>
            </a:r>
            <a:r>
              <a:rPr kumimoji="1" lang="en-US" altLang="zh-CN" dirty="0"/>
              <a:t>VM</a:t>
            </a:r>
          </a:p>
          <a:p>
            <a:pPr lvl="1"/>
            <a:r>
              <a:rPr kumimoji="1" lang="zh-CN" altLang="en-US" dirty="0"/>
              <a:t>从</a:t>
            </a:r>
            <a:r>
              <a:rPr kumimoji="1" lang="en-US" altLang="zh-CN" dirty="0"/>
              <a:t>Root</a:t>
            </a:r>
            <a:r>
              <a:rPr kumimoji="1" lang="zh-CN" altLang="en-US" dirty="0"/>
              <a:t>模式切换到</a:t>
            </a:r>
            <a:r>
              <a:rPr kumimoji="1" lang="en-US" altLang="zh-CN" dirty="0"/>
              <a:t>Non-root</a:t>
            </a:r>
            <a:r>
              <a:rPr kumimoji="1" lang="zh-CN" altLang="en-US" dirty="0"/>
              <a:t>模式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第一次启动虚拟机时使用</a:t>
            </a:r>
            <a:r>
              <a:rPr kumimoji="1" lang="en-US" altLang="zh-CN" dirty="0">
                <a:solidFill>
                  <a:srgbClr val="BE384B"/>
                </a:solidFill>
              </a:rPr>
              <a:t>VMLAUNCH</a:t>
            </a:r>
            <a:r>
              <a:rPr kumimoji="1" lang="zh-CN" altLang="en-US" dirty="0">
                <a:solidFill>
                  <a:srgbClr val="BE384B"/>
                </a:solidFill>
              </a:rPr>
              <a:t>指令</a:t>
            </a:r>
            <a:endParaRPr kumimoji="1" lang="en-US" altLang="zh-CN" dirty="0">
              <a:solidFill>
                <a:srgbClr val="BE384B"/>
              </a:solidFill>
            </a:endParaRPr>
          </a:p>
          <a:p>
            <a:pPr lvl="1"/>
            <a:r>
              <a:rPr kumimoji="1" lang="zh-CN" altLang="en-US" dirty="0">
                <a:solidFill>
                  <a:srgbClr val="404040"/>
                </a:solidFill>
              </a:rPr>
              <a:t>后续的</a:t>
            </a:r>
            <a:r>
              <a:rPr kumimoji="1" lang="en-US" altLang="zh-CN" dirty="0">
                <a:solidFill>
                  <a:srgbClr val="404040"/>
                </a:solidFill>
              </a:rPr>
              <a:t>VM</a:t>
            </a:r>
            <a:r>
              <a:rPr kumimoji="1" lang="zh-CN" altLang="en-US" dirty="0">
                <a:solidFill>
                  <a:srgbClr val="404040"/>
                </a:solidFill>
              </a:rPr>
              <a:t> </a:t>
            </a:r>
            <a:r>
              <a:rPr kumimoji="1" lang="en-US" altLang="zh-CN" dirty="0">
                <a:solidFill>
                  <a:srgbClr val="404040"/>
                </a:solidFill>
              </a:rPr>
              <a:t>Entry</a:t>
            </a:r>
            <a:r>
              <a:rPr kumimoji="1" lang="zh-CN" altLang="en-US" dirty="0">
                <a:solidFill>
                  <a:srgbClr val="404040"/>
                </a:solidFill>
              </a:rPr>
              <a:t>使用</a:t>
            </a:r>
            <a:r>
              <a:rPr kumimoji="1" lang="en-US" altLang="zh-CN" dirty="0">
                <a:solidFill>
                  <a:srgbClr val="BE384B"/>
                </a:solidFill>
              </a:rPr>
              <a:t>VMRESUME</a:t>
            </a:r>
            <a:r>
              <a:rPr kumimoji="1" lang="zh-CN" altLang="en-US" dirty="0">
                <a:solidFill>
                  <a:srgbClr val="BE384B"/>
                </a:solidFill>
              </a:rPr>
              <a:t>指令</a:t>
            </a:r>
            <a:endParaRPr kumimoji="1" lang="en-US" altLang="zh-CN" dirty="0">
              <a:solidFill>
                <a:srgbClr val="BE384B"/>
              </a:solidFill>
            </a:endParaRPr>
          </a:p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Exit</a:t>
            </a:r>
          </a:p>
          <a:p>
            <a:pPr lvl="1"/>
            <a:r>
              <a:rPr kumimoji="1" lang="zh-CN" altLang="en-US" dirty="0"/>
              <a:t>从</a:t>
            </a:r>
            <a:r>
              <a:rPr kumimoji="1" lang="en-US" altLang="zh-CN" dirty="0"/>
              <a:t>VM</a:t>
            </a:r>
            <a:r>
              <a:rPr kumimoji="1" lang="zh-CN" altLang="en-US" dirty="0"/>
              <a:t>回到</a:t>
            </a:r>
            <a:r>
              <a:rPr kumimoji="1" lang="en-US" altLang="zh-CN" dirty="0"/>
              <a:t>VMM</a:t>
            </a:r>
          </a:p>
          <a:p>
            <a:pPr lvl="1"/>
            <a:r>
              <a:rPr kumimoji="1" lang="zh-CN" altLang="en-US" dirty="0"/>
              <a:t>从</a:t>
            </a:r>
            <a:r>
              <a:rPr kumimoji="1" lang="en-US" altLang="zh-CN" dirty="0"/>
              <a:t>Non-root</a:t>
            </a:r>
            <a:r>
              <a:rPr kumimoji="1" lang="zh-CN" altLang="en-US" dirty="0"/>
              <a:t>模式切换到</a:t>
            </a:r>
            <a:r>
              <a:rPr kumimoji="1" lang="en-US" altLang="zh-CN" dirty="0"/>
              <a:t>Root</a:t>
            </a:r>
            <a:r>
              <a:rPr kumimoji="1" lang="zh-CN" altLang="en-US" dirty="0"/>
              <a:t>模式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虚拟机执行敏感指令或发生事件</a:t>
            </a:r>
            <a:r>
              <a:rPr kumimoji="1" lang="en-US" altLang="zh-CN" dirty="0"/>
              <a:t>(</a:t>
            </a:r>
            <a:r>
              <a:rPr kumimoji="1" lang="zh-CN" altLang="en-US" dirty="0"/>
              <a:t>如外部中断</a:t>
            </a:r>
            <a:r>
              <a:rPr kumimoji="1" lang="en-US" altLang="zh-CN" dirty="0"/>
              <a:t>)</a:t>
            </a:r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2D340D-63D6-8843-A0D3-50B23A6FA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F2F736-4719-3840-92FB-FB5DE3981B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7D36E8B7-015D-8A4A-9C64-368241A2FAF7}"/>
              </a:ext>
            </a:extLst>
          </p:cNvPr>
          <p:cNvGrpSpPr/>
          <p:nvPr/>
        </p:nvGrpSpPr>
        <p:grpSpPr>
          <a:xfrm>
            <a:off x="5724129" y="1540642"/>
            <a:ext cx="3093376" cy="2342447"/>
            <a:chOff x="-56953" y="1805965"/>
            <a:chExt cx="8743753" cy="3219164"/>
          </a:xfrm>
        </p:grpSpPr>
        <p:sp>
          <p:nvSpPr>
            <p:cNvPr id="26" name="Rectangle 22">
              <a:extLst>
                <a:ext uri="{FF2B5EF4-FFF2-40B4-BE49-F238E27FC236}">
                  <a16:creationId xmlns:a16="http://schemas.microsoft.com/office/drawing/2014/main" id="{64452D7E-C80D-414D-9C62-854A43644187}"/>
                </a:ext>
              </a:extLst>
            </p:cNvPr>
            <p:cNvSpPr/>
            <p:nvPr/>
          </p:nvSpPr>
          <p:spPr>
            <a:xfrm>
              <a:off x="2422147" y="3132688"/>
              <a:ext cx="2636232" cy="67020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zh-CN" altLang="en-US" sz="1100" dirty="0">
                  <a:solidFill>
                    <a:srgbClr val="BE384B"/>
                  </a:solidFill>
                  <a:cs typeface="Arial Narrow"/>
                </a:rPr>
                <a:t>操作系统</a:t>
              </a:r>
              <a:endParaRPr lang="en-US" altLang="zh-CN" sz="1100" dirty="0">
                <a:solidFill>
                  <a:srgbClr val="BE384B"/>
                </a:solidFill>
                <a:cs typeface="Arial Narrow"/>
              </a:endParaRPr>
            </a:p>
            <a:p>
              <a:pPr algn="ctr"/>
              <a:r>
                <a:rPr lang="zh-CN" altLang="en-US" sz="1100" dirty="0">
                  <a:solidFill>
                    <a:srgbClr val="BE384B"/>
                  </a:solidFill>
                  <a:cs typeface="Arial Narrow"/>
                </a:rPr>
                <a:t>内核</a:t>
              </a:r>
              <a:endParaRPr lang="en-US" sz="11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FB058D2A-9CF0-3245-B50E-5388ABCA2832}"/>
                </a:ext>
              </a:extLst>
            </p:cNvPr>
            <p:cNvSpPr/>
            <p:nvPr/>
          </p:nvSpPr>
          <p:spPr>
            <a:xfrm>
              <a:off x="2419904" y="2223725"/>
              <a:ext cx="2636232" cy="67020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>
                  <a:solidFill>
                    <a:srgbClr val="BE384B"/>
                  </a:solidFill>
                  <a:cs typeface="Arial Narrow"/>
                </a:rPr>
                <a:t>进程</a:t>
              </a:r>
              <a:endParaRPr lang="en-US" sz="1100" dirty="0">
                <a:solidFill>
                  <a:srgbClr val="BE384B"/>
                </a:solidFill>
                <a:cs typeface="Arial Narrow"/>
              </a:endParaRPr>
            </a:p>
          </p:txBody>
        </p:sp>
        <p:cxnSp>
          <p:nvCxnSpPr>
            <p:cNvPr id="28" name="Straight Connector 13">
              <a:extLst>
                <a:ext uri="{FF2B5EF4-FFF2-40B4-BE49-F238E27FC236}">
                  <a16:creationId xmlns:a16="http://schemas.microsoft.com/office/drawing/2014/main" id="{09F9FDAF-0D8F-D94B-860C-C354668D9442}"/>
                </a:ext>
              </a:extLst>
            </p:cNvPr>
            <p:cNvCxnSpPr>
              <a:cxnSpLocks/>
            </p:cNvCxnSpPr>
            <p:nvPr/>
          </p:nvCxnSpPr>
          <p:spPr>
            <a:xfrm>
              <a:off x="604293" y="4225652"/>
              <a:ext cx="8082507" cy="0"/>
            </a:xfrm>
            <a:prstGeom prst="line">
              <a:avLst/>
            </a:prstGeom>
            <a:ln>
              <a:solidFill>
                <a:srgbClr val="BE384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22">
              <a:extLst>
                <a:ext uri="{FF2B5EF4-FFF2-40B4-BE49-F238E27FC236}">
                  <a16:creationId xmlns:a16="http://schemas.microsoft.com/office/drawing/2014/main" id="{1107B237-FE2C-7041-8602-82883C0282D4}"/>
                </a:ext>
              </a:extLst>
            </p:cNvPr>
            <p:cNvSpPr/>
            <p:nvPr/>
          </p:nvSpPr>
          <p:spPr>
            <a:xfrm>
              <a:off x="2145403" y="4354924"/>
              <a:ext cx="6243021" cy="670205"/>
            </a:xfrm>
            <a:prstGeom prst="rect">
              <a:avLst/>
            </a:prstGeom>
            <a:solidFill>
              <a:srgbClr val="BE384B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r"/>
              <a:r>
                <a:rPr lang="zh-CN" altLang="en-US" sz="1100" dirty="0">
                  <a:solidFill>
                    <a:schemeClr val="bg1"/>
                  </a:solidFill>
                  <a:cs typeface="Arial Narrow"/>
                </a:rPr>
                <a:t>虚拟机监控器</a:t>
              </a:r>
              <a:endParaRPr lang="en-US" sz="1100" dirty="0">
                <a:solidFill>
                  <a:schemeClr val="bg1"/>
                </a:solidFill>
                <a:cs typeface="Arial Narrow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DAD28F15-8D55-5B46-A99C-4F4638670179}"/>
                </a:ext>
              </a:extLst>
            </p:cNvPr>
            <p:cNvSpPr txBox="1"/>
            <p:nvPr/>
          </p:nvSpPr>
          <p:spPr>
            <a:xfrm>
              <a:off x="-56953" y="4452850"/>
              <a:ext cx="1532784" cy="5242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100" dirty="0"/>
                <a:t>Root</a:t>
              </a:r>
              <a:r>
                <a:rPr kumimoji="1" lang="zh-CN" altLang="en-US" sz="1100" dirty="0"/>
                <a:t>模式</a:t>
              </a:r>
            </a:p>
          </p:txBody>
        </p:sp>
        <p:sp>
          <p:nvSpPr>
            <p:cNvPr id="33" name="圆角矩形 32">
              <a:extLst>
                <a:ext uri="{FF2B5EF4-FFF2-40B4-BE49-F238E27FC236}">
                  <a16:creationId xmlns:a16="http://schemas.microsoft.com/office/drawing/2014/main" id="{4D15BFAA-F48F-1D4D-9F6B-5B23382FDB1A}"/>
                </a:ext>
              </a:extLst>
            </p:cNvPr>
            <p:cNvSpPr/>
            <p:nvPr/>
          </p:nvSpPr>
          <p:spPr>
            <a:xfrm>
              <a:off x="2283046" y="1811511"/>
              <a:ext cx="2931601" cy="2133498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AFAC3B1C-EE63-9F48-B194-D445143BEDF7}"/>
                </a:ext>
              </a:extLst>
            </p:cNvPr>
            <p:cNvSpPr txBox="1"/>
            <p:nvPr/>
          </p:nvSpPr>
          <p:spPr>
            <a:xfrm>
              <a:off x="2843303" y="1839539"/>
              <a:ext cx="1375395" cy="5242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100" dirty="0"/>
                <a:t>虚拟机</a:t>
              </a:r>
              <a:r>
                <a:rPr kumimoji="1" lang="en-US" altLang="zh-CN" sz="1100" dirty="0"/>
                <a:t>1</a:t>
              </a:r>
              <a:endParaRPr kumimoji="1" lang="zh-CN" altLang="en-US" sz="1100" dirty="0"/>
            </a:p>
          </p:txBody>
        </p:sp>
        <p:sp>
          <p:nvSpPr>
            <p:cNvPr id="35" name="Rectangle 22">
              <a:extLst>
                <a:ext uri="{FF2B5EF4-FFF2-40B4-BE49-F238E27FC236}">
                  <a16:creationId xmlns:a16="http://schemas.microsoft.com/office/drawing/2014/main" id="{240B784C-396C-6745-94E1-BFB0760CA2E1}"/>
                </a:ext>
              </a:extLst>
            </p:cNvPr>
            <p:cNvSpPr/>
            <p:nvPr/>
          </p:nvSpPr>
          <p:spPr>
            <a:xfrm>
              <a:off x="5604598" y="3113416"/>
              <a:ext cx="2636232" cy="67020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zh-CN" altLang="en-US" sz="1100" dirty="0">
                  <a:solidFill>
                    <a:srgbClr val="BE384B"/>
                  </a:solidFill>
                  <a:cs typeface="Arial Narrow"/>
                </a:rPr>
                <a:t>操作系统</a:t>
              </a:r>
              <a:endParaRPr lang="en-US" altLang="zh-CN" sz="1100" dirty="0">
                <a:solidFill>
                  <a:srgbClr val="BE384B"/>
                </a:solidFill>
                <a:cs typeface="Arial Narrow"/>
              </a:endParaRPr>
            </a:p>
            <a:p>
              <a:pPr algn="ctr"/>
              <a:r>
                <a:rPr lang="zh-CN" altLang="en-US" sz="1100" dirty="0">
                  <a:solidFill>
                    <a:srgbClr val="BE384B"/>
                  </a:solidFill>
                  <a:cs typeface="Arial Narrow"/>
                </a:rPr>
                <a:t>内核</a:t>
              </a:r>
              <a:endParaRPr lang="en-US" sz="11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36" name="Rectangle 27">
              <a:extLst>
                <a:ext uri="{FF2B5EF4-FFF2-40B4-BE49-F238E27FC236}">
                  <a16:creationId xmlns:a16="http://schemas.microsoft.com/office/drawing/2014/main" id="{0AE11167-1A48-034B-ACBB-EB29D6C7B300}"/>
                </a:ext>
              </a:extLst>
            </p:cNvPr>
            <p:cNvSpPr/>
            <p:nvPr/>
          </p:nvSpPr>
          <p:spPr>
            <a:xfrm>
              <a:off x="5602355" y="2204453"/>
              <a:ext cx="2636232" cy="67020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>
                  <a:solidFill>
                    <a:srgbClr val="BE384B"/>
                  </a:solidFill>
                  <a:cs typeface="Arial Narrow"/>
                </a:rPr>
                <a:t>进程</a:t>
              </a:r>
              <a:endParaRPr lang="en-US" sz="11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37" name="圆角矩形 36">
              <a:extLst>
                <a:ext uri="{FF2B5EF4-FFF2-40B4-BE49-F238E27FC236}">
                  <a16:creationId xmlns:a16="http://schemas.microsoft.com/office/drawing/2014/main" id="{33AD643B-AD47-F040-B781-DD5DF8767050}"/>
                </a:ext>
              </a:extLst>
            </p:cNvPr>
            <p:cNvSpPr/>
            <p:nvPr/>
          </p:nvSpPr>
          <p:spPr>
            <a:xfrm>
              <a:off x="5454670" y="1805965"/>
              <a:ext cx="2931601" cy="2133498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 dirty="0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B450617B-B787-6F40-BD51-4987529E60D9}"/>
                </a:ext>
              </a:extLst>
            </p:cNvPr>
            <p:cNvSpPr txBox="1"/>
            <p:nvPr/>
          </p:nvSpPr>
          <p:spPr>
            <a:xfrm>
              <a:off x="5942543" y="1839539"/>
              <a:ext cx="1423575" cy="5242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100" dirty="0"/>
                <a:t>虚拟机</a:t>
              </a:r>
              <a:r>
                <a:rPr kumimoji="1" lang="en-US" altLang="zh-CN" sz="1100" dirty="0"/>
                <a:t>N</a:t>
              </a:r>
              <a:endParaRPr kumimoji="1" lang="zh-CN" altLang="en-US" sz="1100" dirty="0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53EA7BFE-167C-A146-9BEA-6F1BB7741395}"/>
                </a:ext>
              </a:extLst>
            </p:cNvPr>
            <p:cNvSpPr txBox="1"/>
            <p:nvPr/>
          </p:nvSpPr>
          <p:spPr>
            <a:xfrm>
              <a:off x="250725" y="2610857"/>
              <a:ext cx="1468543" cy="8633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100" dirty="0"/>
                <a:t>Non-root</a:t>
              </a:r>
            </a:p>
            <a:p>
              <a:pPr algn="ctr"/>
              <a:r>
                <a:rPr kumimoji="1" lang="zh-CN" altLang="en-US" sz="1100" dirty="0"/>
                <a:t>模式</a:t>
              </a:r>
            </a:p>
          </p:txBody>
        </p:sp>
      </p:grpSp>
      <p:sp>
        <p:nvSpPr>
          <p:cNvPr id="21" name="Line 140">
            <a:extLst>
              <a:ext uri="{FF2B5EF4-FFF2-40B4-BE49-F238E27FC236}">
                <a16:creationId xmlns:a16="http://schemas.microsoft.com/office/drawing/2014/main" id="{522D1D40-1FAD-124F-9CA4-501AD549CC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22259" y="2857500"/>
            <a:ext cx="1" cy="708112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500"/>
          </a:p>
        </p:txBody>
      </p:sp>
      <p:sp>
        <p:nvSpPr>
          <p:cNvPr id="22" name="Line 140">
            <a:extLst>
              <a:ext uri="{FF2B5EF4-FFF2-40B4-BE49-F238E27FC236}">
                <a16:creationId xmlns:a16="http://schemas.microsoft.com/office/drawing/2014/main" id="{FFB91230-6D7A-A04E-BC3F-33F563964AAA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8304" y="2804806"/>
            <a:ext cx="0" cy="70403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50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48B7D16-8B3D-7C4F-87BD-F92C0814D527}"/>
              </a:ext>
            </a:extLst>
          </p:cNvPr>
          <p:cNvSpPr txBox="1"/>
          <p:nvPr/>
        </p:nvSpPr>
        <p:spPr>
          <a:xfrm>
            <a:off x="6504156" y="3585046"/>
            <a:ext cx="6254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/>
              <a:t>VM</a:t>
            </a:r>
            <a:r>
              <a:rPr kumimoji="1" lang="zh-CN" altLang="en-US" sz="1000" dirty="0"/>
              <a:t> </a:t>
            </a:r>
            <a:r>
              <a:rPr kumimoji="1" lang="en-US" altLang="zh-CN" sz="1000" dirty="0"/>
              <a:t>Exit</a:t>
            </a:r>
            <a:endParaRPr kumimoji="1" lang="zh-CN" altLang="en-US" sz="10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2FC580D-8340-FB47-95F7-04FD745EBEEB}"/>
              </a:ext>
            </a:extLst>
          </p:cNvPr>
          <p:cNvSpPr txBox="1"/>
          <p:nvPr/>
        </p:nvSpPr>
        <p:spPr>
          <a:xfrm>
            <a:off x="7302926" y="3106179"/>
            <a:ext cx="7104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/>
              <a:t>VM</a:t>
            </a:r>
            <a:r>
              <a:rPr kumimoji="1" lang="zh-CN" altLang="en-US" sz="1000" dirty="0"/>
              <a:t> </a:t>
            </a:r>
            <a:r>
              <a:rPr kumimoji="1" lang="en-US" altLang="zh-CN" sz="1000" dirty="0"/>
              <a:t>Entry</a:t>
            </a:r>
            <a:endParaRPr kumimoji="1"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853761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795A4D-C2D3-3B4D-8C73-8E78137DD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Review:</a:t>
            </a:r>
            <a:r>
              <a:rPr kumimoji="1" lang="zh-CN" altLang="en-US" dirty="0"/>
              <a:t> </a:t>
            </a:r>
            <a:r>
              <a:rPr kumimoji="1" lang="en-US" altLang="zh-CN" dirty="0"/>
              <a:t>ARM</a:t>
            </a:r>
            <a:r>
              <a:rPr kumimoji="1" lang="zh-CN" altLang="en-US" dirty="0"/>
              <a:t>的处理器虚拟化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B12819-9064-A140-9948-FA587A70E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623507-52D7-0043-AFE4-211C109AC1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71869896-D5C2-B542-93D4-D5DCDD7FE510}"/>
              </a:ext>
            </a:extLst>
          </p:cNvPr>
          <p:cNvGrpSpPr/>
          <p:nvPr/>
        </p:nvGrpSpPr>
        <p:grpSpPr>
          <a:xfrm>
            <a:off x="1003343" y="1416110"/>
            <a:ext cx="7137313" cy="3656844"/>
            <a:chOff x="3785670" y="2131558"/>
            <a:chExt cx="5259347" cy="2694657"/>
          </a:xfrm>
        </p:grpSpPr>
        <p:sp>
          <p:nvSpPr>
            <p:cNvPr id="6" name="Rectangle 22">
              <a:extLst>
                <a:ext uri="{FF2B5EF4-FFF2-40B4-BE49-F238E27FC236}">
                  <a16:creationId xmlns:a16="http://schemas.microsoft.com/office/drawing/2014/main" id="{A42FEE01-01C5-9D4F-946E-BD221A3C77EF}"/>
                </a:ext>
              </a:extLst>
            </p:cNvPr>
            <p:cNvSpPr/>
            <p:nvPr/>
          </p:nvSpPr>
          <p:spPr>
            <a:xfrm>
              <a:off x="4357605" y="3109194"/>
              <a:ext cx="1942588" cy="4938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r"/>
              <a:r>
                <a:rPr lang="zh-CN" altLang="en-US" sz="1600" dirty="0">
                  <a:solidFill>
                    <a:srgbClr val="BE384B"/>
                  </a:solidFill>
                  <a:cs typeface="Arial Narrow"/>
                </a:rPr>
                <a:t>操作系统内核</a:t>
              </a:r>
              <a:endParaRPr lang="en-US" sz="16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7" name="Rectangle 24">
              <a:extLst>
                <a:ext uri="{FF2B5EF4-FFF2-40B4-BE49-F238E27FC236}">
                  <a16:creationId xmlns:a16="http://schemas.microsoft.com/office/drawing/2014/main" id="{48CA7806-AA2F-3141-B67D-2AB395B5306A}"/>
                </a:ext>
              </a:extLst>
            </p:cNvPr>
            <p:cNvSpPr/>
            <p:nvPr/>
          </p:nvSpPr>
          <p:spPr>
            <a:xfrm>
              <a:off x="4355954" y="4482275"/>
              <a:ext cx="4287673" cy="3439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rgbClr val="BE384B"/>
                  </a:solidFill>
                  <a:cs typeface="Arial Narrow"/>
                </a:rPr>
                <a:t>硬件</a:t>
              </a:r>
              <a:endParaRPr lang="en-US" sz="16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8" name="Rectangle 27">
              <a:extLst>
                <a:ext uri="{FF2B5EF4-FFF2-40B4-BE49-F238E27FC236}">
                  <a16:creationId xmlns:a16="http://schemas.microsoft.com/office/drawing/2014/main" id="{185CBD85-9B21-0F4D-83A7-34508808F55B}"/>
                </a:ext>
              </a:extLst>
            </p:cNvPr>
            <p:cNvSpPr/>
            <p:nvPr/>
          </p:nvSpPr>
          <p:spPr>
            <a:xfrm>
              <a:off x="4355952" y="2439397"/>
              <a:ext cx="1942588" cy="4938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rgbClr val="BE384B"/>
                  </a:solidFill>
                  <a:cs typeface="Arial Narrow"/>
                </a:rPr>
                <a:t>进程</a:t>
              </a:r>
              <a:endParaRPr lang="en-US" sz="1600" dirty="0">
                <a:solidFill>
                  <a:srgbClr val="BE384B"/>
                </a:solidFill>
                <a:cs typeface="Arial Narrow"/>
              </a:endParaRPr>
            </a:p>
          </p:txBody>
        </p:sp>
        <p:cxnSp>
          <p:nvCxnSpPr>
            <p:cNvPr id="9" name="Straight Connector 13">
              <a:extLst>
                <a:ext uri="{FF2B5EF4-FFF2-40B4-BE49-F238E27FC236}">
                  <a16:creationId xmlns:a16="http://schemas.microsoft.com/office/drawing/2014/main" id="{9AB3EEE8-C7F4-5A40-8B8F-1C778A67A5CF}"/>
                </a:ext>
              </a:extLst>
            </p:cNvPr>
            <p:cNvCxnSpPr>
              <a:cxnSpLocks/>
            </p:cNvCxnSpPr>
            <p:nvPr/>
          </p:nvCxnSpPr>
          <p:spPr>
            <a:xfrm>
              <a:off x="4032925" y="4341956"/>
              <a:ext cx="5012092" cy="0"/>
            </a:xfrm>
            <a:prstGeom prst="line">
              <a:avLst/>
            </a:prstGeom>
            <a:ln>
              <a:solidFill>
                <a:srgbClr val="BE384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105D18A-9F34-914E-B666-71AAED8D0156}"/>
                </a:ext>
              </a:extLst>
            </p:cNvPr>
            <p:cNvSpPr txBox="1"/>
            <p:nvPr/>
          </p:nvSpPr>
          <p:spPr>
            <a:xfrm>
              <a:off x="3785670" y="3181571"/>
              <a:ext cx="5950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EL1</a:t>
              </a:r>
              <a:endParaRPr kumimoji="1"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D49E7E8-E3F5-F54D-AA8A-64474296D2F6}"/>
                </a:ext>
              </a:extLst>
            </p:cNvPr>
            <p:cNvSpPr txBox="1"/>
            <p:nvPr/>
          </p:nvSpPr>
          <p:spPr>
            <a:xfrm>
              <a:off x="3785670" y="2537822"/>
              <a:ext cx="5950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EL0</a:t>
              </a:r>
              <a:endParaRPr kumimoji="1" lang="zh-CN" altLang="en-US" dirty="0"/>
            </a:p>
          </p:txBody>
        </p:sp>
        <p:sp>
          <p:nvSpPr>
            <p:cNvPr id="12" name="Rectangle 22">
              <a:extLst>
                <a:ext uri="{FF2B5EF4-FFF2-40B4-BE49-F238E27FC236}">
                  <a16:creationId xmlns:a16="http://schemas.microsoft.com/office/drawing/2014/main" id="{7F49D29B-D10B-274E-8827-815531C6EBD9}"/>
                </a:ext>
              </a:extLst>
            </p:cNvPr>
            <p:cNvSpPr/>
            <p:nvPr/>
          </p:nvSpPr>
          <p:spPr>
            <a:xfrm>
              <a:off x="4345922" y="3777937"/>
              <a:ext cx="4297705" cy="493860"/>
            </a:xfrm>
            <a:prstGeom prst="rect">
              <a:avLst/>
            </a:prstGeom>
            <a:solidFill>
              <a:srgbClr val="BE384B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r"/>
              <a:r>
                <a:rPr lang="zh-CN" altLang="en-US" sz="1600" dirty="0">
                  <a:solidFill>
                    <a:schemeClr val="bg1"/>
                  </a:solidFill>
                  <a:cs typeface="Arial Narrow"/>
                </a:rPr>
                <a:t>虚拟机监控器</a:t>
              </a:r>
              <a:endParaRPr lang="en-US" sz="1600" dirty="0">
                <a:solidFill>
                  <a:schemeClr val="bg1"/>
                </a:solidFill>
                <a:cs typeface="Arial Narrow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93E36288-1AA9-F946-8916-65D5C3DB2DCB}"/>
                </a:ext>
              </a:extLst>
            </p:cNvPr>
            <p:cNvSpPr txBox="1"/>
            <p:nvPr/>
          </p:nvSpPr>
          <p:spPr>
            <a:xfrm>
              <a:off x="3785670" y="3826181"/>
              <a:ext cx="5950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EL2</a:t>
              </a:r>
              <a:endParaRPr kumimoji="1" lang="zh-CN" altLang="en-US" dirty="0"/>
            </a:p>
          </p:txBody>
        </p:sp>
        <p:sp>
          <p:nvSpPr>
            <p:cNvPr id="14" name="圆角矩形 13">
              <a:extLst>
                <a:ext uri="{FF2B5EF4-FFF2-40B4-BE49-F238E27FC236}">
                  <a16:creationId xmlns:a16="http://schemas.microsoft.com/office/drawing/2014/main" id="{30494FAA-C263-3D4F-AD88-1D16563C49A2}"/>
                </a:ext>
              </a:extLst>
            </p:cNvPr>
            <p:cNvSpPr/>
            <p:nvPr/>
          </p:nvSpPr>
          <p:spPr>
            <a:xfrm>
              <a:off x="4255104" y="2135645"/>
              <a:ext cx="2160240" cy="1572133"/>
            </a:xfrm>
            <a:prstGeom prst="roundRect">
              <a:avLst>
                <a:gd name="adj" fmla="val 7612"/>
              </a:avLst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471DD093-3D7A-804C-AA62-E7A33E31DBEA}"/>
                </a:ext>
              </a:extLst>
            </p:cNvPr>
            <p:cNvSpPr txBox="1"/>
            <p:nvPr/>
          </p:nvSpPr>
          <p:spPr>
            <a:xfrm>
              <a:off x="5028292" y="2154867"/>
              <a:ext cx="10054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虚拟机</a:t>
              </a:r>
              <a:r>
                <a:rPr kumimoji="1" lang="en-US" altLang="zh-CN" dirty="0"/>
                <a:t>1</a:t>
              </a:r>
              <a:endParaRPr kumimoji="1" lang="zh-CN" altLang="en-US" dirty="0"/>
            </a:p>
          </p:txBody>
        </p:sp>
        <p:sp>
          <p:nvSpPr>
            <p:cNvPr id="16" name="Rectangle 22">
              <a:extLst>
                <a:ext uri="{FF2B5EF4-FFF2-40B4-BE49-F238E27FC236}">
                  <a16:creationId xmlns:a16="http://schemas.microsoft.com/office/drawing/2014/main" id="{B2609B38-A75C-EE48-BA72-B827EDAABB31}"/>
                </a:ext>
              </a:extLst>
            </p:cNvPr>
            <p:cNvSpPr/>
            <p:nvPr/>
          </p:nvSpPr>
          <p:spPr>
            <a:xfrm>
              <a:off x="6702691" y="3094993"/>
              <a:ext cx="1942588" cy="4938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r"/>
              <a:r>
                <a:rPr lang="zh-CN" altLang="en-US" sz="1600" dirty="0">
                  <a:solidFill>
                    <a:srgbClr val="BE384B"/>
                  </a:solidFill>
                  <a:cs typeface="Arial Narrow"/>
                </a:rPr>
                <a:t>操作系统内核</a:t>
              </a:r>
              <a:endParaRPr lang="en-US" sz="16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0E206E98-6C17-C648-A820-E7A67799074E}"/>
                </a:ext>
              </a:extLst>
            </p:cNvPr>
            <p:cNvSpPr/>
            <p:nvPr/>
          </p:nvSpPr>
          <p:spPr>
            <a:xfrm>
              <a:off x="6701038" y="2425196"/>
              <a:ext cx="1942588" cy="4938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rgbClr val="BE384B"/>
                  </a:solidFill>
                  <a:cs typeface="Arial Narrow"/>
                </a:rPr>
                <a:t>进程</a:t>
              </a:r>
              <a:endParaRPr lang="en-US" sz="16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18" name="圆角矩形 17">
              <a:extLst>
                <a:ext uri="{FF2B5EF4-FFF2-40B4-BE49-F238E27FC236}">
                  <a16:creationId xmlns:a16="http://schemas.microsoft.com/office/drawing/2014/main" id="{8850F2EE-E293-A04D-9E92-4C8683D0C53D}"/>
                </a:ext>
              </a:extLst>
            </p:cNvPr>
            <p:cNvSpPr/>
            <p:nvPr/>
          </p:nvSpPr>
          <p:spPr>
            <a:xfrm>
              <a:off x="6592212" y="2131558"/>
              <a:ext cx="2160240" cy="1572133"/>
            </a:xfrm>
            <a:prstGeom prst="roundRect">
              <a:avLst>
                <a:gd name="adj" fmla="val 5801"/>
              </a:avLst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FE2106D-577B-DB4D-B66A-A2233468940B}"/>
                </a:ext>
              </a:extLst>
            </p:cNvPr>
            <p:cNvSpPr txBox="1"/>
            <p:nvPr/>
          </p:nvSpPr>
          <p:spPr>
            <a:xfrm>
              <a:off x="7326060" y="2156298"/>
              <a:ext cx="1043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虚拟机</a:t>
              </a:r>
              <a:r>
                <a:rPr kumimoji="1" lang="en-US" altLang="zh-CN" dirty="0"/>
                <a:t>N</a:t>
              </a:r>
              <a:endParaRPr kumimoji="1"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7449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E685C6-3350-7A43-824B-C72B68A18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Review:</a:t>
            </a:r>
            <a:r>
              <a:rPr kumimoji="1" lang="zh-CN" altLang="en-US" dirty="0"/>
              <a:t> </a:t>
            </a:r>
            <a:r>
              <a:rPr kumimoji="1" lang="en-US" altLang="zh-CN" dirty="0"/>
              <a:t>ARMv8.1</a:t>
            </a:r>
            <a:r>
              <a:rPr kumimoji="1" lang="zh-CN" altLang="en-US" dirty="0"/>
              <a:t>中的</a:t>
            </a:r>
            <a:r>
              <a:rPr kumimoji="1" lang="en-US" altLang="zh-CN" dirty="0"/>
              <a:t>Type-2</a:t>
            </a:r>
            <a:r>
              <a:rPr kumimoji="1" lang="zh-CN" altLang="en-US" dirty="0"/>
              <a:t> </a:t>
            </a:r>
            <a:r>
              <a:rPr kumimoji="1" lang="en-US" altLang="zh-CN" dirty="0"/>
              <a:t>VMM</a:t>
            </a:r>
            <a:r>
              <a:rPr kumimoji="1" lang="zh-CN" altLang="en-US" dirty="0"/>
              <a:t>架构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69478A-097B-5444-9933-E1AFA1AE1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192988-2588-FF4A-A683-4513AF8B04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Rectangle 22">
            <a:extLst>
              <a:ext uri="{FF2B5EF4-FFF2-40B4-BE49-F238E27FC236}">
                <a16:creationId xmlns:a16="http://schemas.microsoft.com/office/drawing/2014/main" id="{ED0CFC21-A66D-AA45-A201-05E3AEBC4B10}"/>
              </a:ext>
            </a:extLst>
          </p:cNvPr>
          <p:cNvSpPr/>
          <p:nvPr/>
        </p:nvSpPr>
        <p:spPr>
          <a:xfrm>
            <a:off x="1810847" y="3741374"/>
            <a:ext cx="2636232" cy="670204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Host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OS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9" name="Rectangle 27">
            <a:extLst>
              <a:ext uri="{FF2B5EF4-FFF2-40B4-BE49-F238E27FC236}">
                <a16:creationId xmlns:a16="http://schemas.microsoft.com/office/drawing/2014/main" id="{D87BD6A2-09EC-714D-A0C8-618560403424}"/>
              </a:ext>
            </a:extLst>
          </p:cNvPr>
          <p:cNvSpPr/>
          <p:nvPr/>
        </p:nvSpPr>
        <p:spPr>
          <a:xfrm>
            <a:off x="1777257" y="1833870"/>
            <a:ext cx="2636232" cy="670202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Processes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10" name="Straight Connector 13">
            <a:extLst>
              <a:ext uri="{FF2B5EF4-FFF2-40B4-BE49-F238E27FC236}">
                <a16:creationId xmlns:a16="http://schemas.microsoft.com/office/drawing/2014/main" id="{A9836340-78EC-C14F-9325-7627D3246CC6}"/>
              </a:ext>
            </a:extLst>
          </p:cNvPr>
          <p:cNvCxnSpPr>
            <a:cxnSpLocks/>
          </p:cNvCxnSpPr>
          <p:nvPr/>
        </p:nvCxnSpPr>
        <p:spPr>
          <a:xfrm>
            <a:off x="1134131" y="3669487"/>
            <a:ext cx="6801770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5A43794A-090C-A640-8423-A7EC15C00428}"/>
              </a:ext>
            </a:extLst>
          </p:cNvPr>
          <p:cNvSpPr txBox="1"/>
          <p:nvPr/>
        </p:nvSpPr>
        <p:spPr>
          <a:xfrm>
            <a:off x="1003343" y="2841053"/>
            <a:ext cx="807505" cy="501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EL1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E9C5242-F020-4D4C-99F1-51A356683269}"/>
              </a:ext>
            </a:extLst>
          </p:cNvPr>
          <p:cNvSpPr txBox="1"/>
          <p:nvPr/>
        </p:nvSpPr>
        <p:spPr>
          <a:xfrm>
            <a:off x="1003343" y="1967440"/>
            <a:ext cx="807505" cy="501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EL0</a:t>
            </a:r>
            <a:endParaRPr kumimoji="1"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2467E5C-738B-A940-B672-F82BE0C879EE}"/>
              </a:ext>
            </a:extLst>
          </p:cNvPr>
          <p:cNvSpPr txBox="1"/>
          <p:nvPr/>
        </p:nvSpPr>
        <p:spPr>
          <a:xfrm>
            <a:off x="1003342" y="3851453"/>
            <a:ext cx="807505" cy="501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EL2</a:t>
            </a:r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20C1F04-C251-8145-A264-1D282DD5FCC1}"/>
              </a:ext>
            </a:extLst>
          </p:cNvPr>
          <p:cNvSpPr txBox="1"/>
          <p:nvPr/>
        </p:nvSpPr>
        <p:spPr>
          <a:xfrm>
            <a:off x="2689671" y="1447742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VMM</a:t>
            </a:r>
            <a:endParaRPr kumimoji="1" lang="zh-CN" altLang="en-US" dirty="0"/>
          </a:p>
        </p:txBody>
      </p:sp>
      <p:sp>
        <p:nvSpPr>
          <p:cNvPr id="16" name="Rectangle 22">
            <a:extLst>
              <a:ext uri="{FF2B5EF4-FFF2-40B4-BE49-F238E27FC236}">
                <a16:creationId xmlns:a16="http://schemas.microsoft.com/office/drawing/2014/main" id="{DE1EAA50-3EE7-BD48-A5A5-CE58DC99FF01}"/>
              </a:ext>
            </a:extLst>
          </p:cNvPr>
          <p:cNvSpPr/>
          <p:nvPr/>
        </p:nvSpPr>
        <p:spPr>
          <a:xfrm>
            <a:off x="4961951" y="2723561"/>
            <a:ext cx="2636232" cy="670204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OS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Kernel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7" name="Rectangle 27">
            <a:extLst>
              <a:ext uri="{FF2B5EF4-FFF2-40B4-BE49-F238E27FC236}">
                <a16:creationId xmlns:a16="http://schemas.microsoft.com/office/drawing/2014/main" id="{6B78C15D-9092-ED4E-9535-43F24F67DD44}"/>
              </a:ext>
            </a:extLst>
          </p:cNvPr>
          <p:cNvSpPr/>
          <p:nvPr/>
        </p:nvSpPr>
        <p:spPr>
          <a:xfrm>
            <a:off x="4959708" y="1814598"/>
            <a:ext cx="2636232" cy="670202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Processes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A2D00EBB-6D41-2E48-9A46-A80B1865242A}"/>
              </a:ext>
            </a:extLst>
          </p:cNvPr>
          <p:cNvSpPr/>
          <p:nvPr/>
        </p:nvSpPr>
        <p:spPr>
          <a:xfrm>
            <a:off x="4812023" y="1416110"/>
            <a:ext cx="2931601" cy="2085766"/>
          </a:xfrm>
          <a:prstGeom prst="round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F21322D-728B-8545-8A9F-25CD67A08D77}"/>
              </a:ext>
            </a:extLst>
          </p:cNvPr>
          <p:cNvSpPr txBox="1"/>
          <p:nvPr/>
        </p:nvSpPr>
        <p:spPr>
          <a:xfrm>
            <a:off x="5985301" y="1437088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endParaRPr kumimoji="1" lang="zh-CN" altLang="en-US" dirty="0"/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2417631C-4531-CF46-A268-F184A61B558A}"/>
              </a:ext>
            </a:extLst>
          </p:cNvPr>
          <p:cNvSpPr/>
          <p:nvPr/>
        </p:nvSpPr>
        <p:spPr>
          <a:xfrm>
            <a:off x="1681155" y="1416109"/>
            <a:ext cx="2931601" cy="3313593"/>
          </a:xfrm>
          <a:prstGeom prst="round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1" name="Rectangle 22">
            <a:extLst>
              <a:ext uri="{FF2B5EF4-FFF2-40B4-BE49-F238E27FC236}">
                <a16:creationId xmlns:a16="http://schemas.microsoft.com/office/drawing/2014/main" id="{7D135709-8991-8243-A064-BD810FB353FE}"/>
              </a:ext>
            </a:extLst>
          </p:cNvPr>
          <p:cNvSpPr/>
          <p:nvPr/>
        </p:nvSpPr>
        <p:spPr>
          <a:xfrm>
            <a:off x="3119914" y="3810387"/>
            <a:ext cx="1146017" cy="536591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VMM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22" name="肘形连接符 21">
            <a:extLst>
              <a:ext uri="{FF2B5EF4-FFF2-40B4-BE49-F238E27FC236}">
                <a16:creationId xmlns:a16="http://schemas.microsoft.com/office/drawing/2014/main" id="{432664A4-2563-9344-9D25-9325ABCA84D7}"/>
              </a:ext>
            </a:extLst>
          </p:cNvPr>
          <p:cNvCxnSpPr>
            <a:cxnSpLocks/>
          </p:cNvCxnSpPr>
          <p:nvPr/>
        </p:nvCxnSpPr>
        <p:spPr>
          <a:xfrm rot="10800000" flipV="1">
            <a:off x="4227948" y="3406551"/>
            <a:ext cx="2133629" cy="563286"/>
          </a:xfrm>
          <a:prstGeom prst="bentConnector3">
            <a:avLst>
              <a:gd name="adj1" fmla="val 1021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肘形连接符 22">
            <a:extLst>
              <a:ext uri="{FF2B5EF4-FFF2-40B4-BE49-F238E27FC236}">
                <a16:creationId xmlns:a16="http://schemas.microsoft.com/office/drawing/2014/main" id="{B6B892BF-C988-5849-8C2C-FA341F3DA2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4265931" y="3422779"/>
            <a:ext cx="2491498" cy="805179"/>
          </a:xfrm>
          <a:prstGeom prst="bentConnector3">
            <a:avLst>
              <a:gd name="adj1" fmla="val -47"/>
            </a:avLst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椭圆 25">
            <a:extLst>
              <a:ext uri="{FF2B5EF4-FFF2-40B4-BE49-F238E27FC236}">
                <a16:creationId xmlns:a16="http://schemas.microsoft.com/office/drawing/2014/main" id="{248A811C-7648-4947-BCA9-5627AB36398A}"/>
              </a:ext>
            </a:extLst>
          </p:cNvPr>
          <p:cNvSpPr/>
          <p:nvPr/>
        </p:nvSpPr>
        <p:spPr>
          <a:xfrm>
            <a:off x="5188639" y="3566781"/>
            <a:ext cx="353318" cy="3600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82C915F6-6FF1-E948-A647-C2ADDEFB3786}"/>
              </a:ext>
            </a:extLst>
          </p:cNvPr>
          <p:cNvSpPr/>
          <p:nvPr/>
        </p:nvSpPr>
        <p:spPr>
          <a:xfrm>
            <a:off x="5221680" y="4289828"/>
            <a:ext cx="353318" cy="3600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9270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/>
              <a:t>案例：</a:t>
            </a:r>
            <a:r>
              <a:rPr kumimoji="1" lang="en-US" altLang="zh-CN" b="1" dirty="0"/>
              <a:t>QEMU/KVM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68F72CF8-9211-EE45-9468-F698C90541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692809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5D4E22-1181-B94C-9188-78BCFD566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QEMU</a:t>
            </a:r>
            <a:r>
              <a:rPr kumimoji="1" lang="zh-CN" altLang="en-US" dirty="0"/>
              <a:t>发展历史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84D3CE-A106-C847-868A-0688C5499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000" dirty="0"/>
              <a:t>2003</a:t>
            </a:r>
            <a:r>
              <a:rPr kumimoji="1" lang="zh-CN" altLang="en-US" sz="2000" dirty="0"/>
              <a:t>年，法国程序员</a:t>
            </a:r>
            <a:r>
              <a:rPr lang="en-US" altLang="zh-CN" sz="2000" dirty="0"/>
              <a:t>Fabrice </a:t>
            </a:r>
            <a:r>
              <a:rPr lang="en-US" altLang="zh-CN" sz="2000" dirty="0" err="1"/>
              <a:t>Bellard</a:t>
            </a:r>
            <a:r>
              <a:rPr lang="zh-CN" altLang="en-US" sz="2000" dirty="0"/>
              <a:t>发布了</a:t>
            </a:r>
            <a:r>
              <a:rPr lang="en-US" altLang="zh-CN" sz="2000" dirty="0"/>
              <a:t>QEMU</a:t>
            </a:r>
            <a:r>
              <a:rPr lang="zh-CN" altLang="en-US" sz="2000" dirty="0"/>
              <a:t> </a:t>
            </a:r>
            <a:r>
              <a:rPr lang="en-US" altLang="zh-CN" sz="2000" dirty="0"/>
              <a:t>0.1</a:t>
            </a:r>
            <a:r>
              <a:rPr lang="zh-CN" altLang="en-US" sz="2000" dirty="0"/>
              <a:t>版本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目标是在非</a:t>
            </a:r>
            <a:r>
              <a:rPr kumimoji="1" lang="en-US" altLang="zh-CN" sz="1800" dirty="0"/>
              <a:t>x86</a:t>
            </a:r>
            <a:r>
              <a:rPr kumimoji="1" lang="zh-CN" altLang="en-US" sz="1800" dirty="0"/>
              <a:t>机器上使用动态二进制翻译技术模拟</a:t>
            </a:r>
            <a:r>
              <a:rPr kumimoji="1" lang="en-US" altLang="zh-CN" sz="1800" dirty="0"/>
              <a:t>x86</a:t>
            </a:r>
            <a:r>
              <a:rPr kumimoji="1" lang="zh-CN" altLang="en-US" sz="1800" dirty="0"/>
              <a:t>机器</a:t>
            </a:r>
            <a:endParaRPr kumimoji="1" lang="en-US" altLang="zh-CN" sz="1800" dirty="0"/>
          </a:p>
          <a:p>
            <a:r>
              <a:rPr kumimoji="1" lang="en-US" altLang="zh-CN" sz="2000" dirty="0"/>
              <a:t>2003-2006</a:t>
            </a:r>
            <a:r>
              <a:rPr kumimoji="1" lang="zh-CN" altLang="en-US" sz="2000" dirty="0"/>
              <a:t>年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能模拟出多种不同架构的虚拟机，包括</a:t>
            </a:r>
            <a:r>
              <a:rPr kumimoji="1" lang="en-US" altLang="zh-CN" sz="1800" dirty="0"/>
              <a:t>S390</a:t>
            </a:r>
            <a:r>
              <a:rPr kumimoji="1" lang="zh-CN" altLang="en-US" sz="1800" dirty="0"/>
              <a:t>、</a:t>
            </a:r>
            <a:r>
              <a:rPr kumimoji="1" lang="en-US" altLang="zh-CN" sz="1800" dirty="0"/>
              <a:t>ARM</a:t>
            </a:r>
            <a:r>
              <a:rPr kumimoji="1" lang="zh-CN" altLang="en-US" sz="1800" dirty="0"/>
              <a:t>、</a:t>
            </a:r>
            <a:r>
              <a:rPr kumimoji="1" lang="en-US" altLang="zh-CN" sz="1800" dirty="0"/>
              <a:t>MIPS</a:t>
            </a:r>
            <a:r>
              <a:rPr kumimoji="1" lang="zh-CN" altLang="en-US" sz="1800" dirty="0"/>
              <a:t>、</a:t>
            </a:r>
            <a:r>
              <a:rPr kumimoji="1" lang="en-US" altLang="zh-CN" sz="1800" dirty="0"/>
              <a:t>SPARC</a:t>
            </a:r>
            <a:r>
              <a:rPr kumimoji="1" lang="zh-CN" altLang="en-US" sz="1800" dirty="0"/>
              <a:t>等</a:t>
            </a:r>
            <a:endParaRPr kumimoji="1" lang="en-US" altLang="zh-CN" sz="1800" dirty="0"/>
          </a:p>
          <a:p>
            <a:pPr lvl="1"/>
            <a:r>
              <a:rPr lang="zh-CN" altLang="en-US" sz="1800" dirty="0"/>
              <a:t>在这阶段，</a:t>
            </a:r>
            <a:r>
              <a:rPr lang="en-US" altLang="zh-CN" sz="1800" dirty="0"/>
              <a:t>QEMU</a:t>
            </a:r>
            <a:r>
              <a:rPr lang="zh-CN" altLang="en-US" sz="1800" dirty="0"/>
              <a:t>一直使用</a:t>
            </a:r>
            <a:r>
              <a:rPr lang="zh-CN" altLang="en-US" sz="1800" dirty="0">
                <a:solidFill>
                  <a:srgbClr val="C00000"/>
                </a:solidFill>
              </a:rPr>
              <a:t>软件方法</a:t>
            </a:r>
            <a:r>
              <a:rPr lang="zh-CN" altLang="en-US" sz="1800" dirty="0"/>
              <a:t>进行模拟</a:t>
            </a:r>
            <a:endParaRPr lang="en-US" altLang="zh-CN" sz="1800" dirty="0"/>
          </a:p>
          <a:p>
            <a:pPr lvl="2"/>
            <a:r>
              <a:rPr lang="zh-CN" altLang="en-US" sz="1800" dirty="0"/>
              <a:t>如二进制翻译技术</a:t>
            </a:r>
            <a:endParaRPr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EEE470-0AC2-034F-B86B-AB48AB26B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89CFB9-FB62-484E-876B-A21C687BCD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4EF0AF0C-BAEC-7E44-A8F5-C19B0F869E4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75884" y="172201"/>
            <a:ext cx="2088232" cy="664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098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A1B0D6-8CC3-A144-84B8-B39EA9256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QEMU</a:t>
            </a:r>
            <a:r>
              <a:rPr kumimoji="1" lang="zh-CN" altLang="en-US" dirty="0"/>
              <a:t>发展历史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1828A5-BB47-1D45-A920-A2BFAEF4B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F9C36D-F1A6-2947-93C5-63BC7727E1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A91AE578-D8B9-C64D-A37B-A1439CB8746E}"/>
              </a:ext>
            </a:extLst>
          </p:cNvPr>
          <p:cNvGrpSpPr/>
          <p:nvPr/>
        </p:nvGrpSpPr>
        <p:grpSpPr>
          <a:xfrm>
            <a:off x="1691680" y="1547408"/>
            <a:ext cx="6194642" cy="3377915"/>
            <a:chOff x="1835696" y="1345332"/>
            <a:chExt cx="5188483" cy="2829260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9294DE91-5D3B-3447-B66C-93BCE71A63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35696" y="1345332"/>
              <a:ext cx="5188483" cy="2829260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62354A56-9957-7A49-87F9-7EC6B59047C8}"/>
                </a:ext>
              </a:extLst>
            </p:cNvPr>
            <p:cNvSpPr/>
            <p:nvPr/>
          </p:nvSpPr>
          <p:spPr>
            <a:xfrm>
              <a:off x="1835696" y="3505572"/>
              <a:ext cx="4608512" cy="288032"/>
            </a:xfrm>
            <a:prstGeom prst="rect">
              <a:avLst/>
            </a:prstGeom>
            <a:noFill/>
            <a:ln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94276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1EC8D5-2836-7443-9AA8-67CE8CA9A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KVM</a:t>
            </a:r>
            <a:r>
              <a:rPr kumimoji="1" lang="zh-CN" altLang="en-US" dirty="0"/>
              <a:t>发展历史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23B456-72AE-D74E-870C-8736E8986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000" b="0" dirty="0"/>
              <a:t>2005</a:t>
            </a:r>
            <a:r>
              <a:rPr kumimoji="1" lang="zh-CN" altLang="en-US" sz="2000" b="0" dirty="0"/>
              <a:t>年</a:t>
            </a:r>
            <a:r>
              <a:rPr kumimoji="1" lang="en-US" altLang="zh-CN" sz="2000" b="0" dirty="0"/>
              <a:t>11</a:t>
            </a:r>
            <a:r>
              <a:rPr kumimoji="1" lang="zh-CN" altLang="en-US" sz="2000" b="0" dirty="0"/>
              <a:t>月，</a:t>
            </a:r>
            <a:r>
              <a:rPr kumimoji="1" lang="en-US" altLang="zh-CN" sz="2000" b="0" dirty="0"/>
              <a:t>Intel</a:t>
            </a:r>
            <a:r>
              <a:rPr kumimoji="1" lang="zh-CN" altLang="en-US" sz="2000" b="0" dirty="0"/>
              <a:t>发布带有</a:t>
            </a:r>
            <a:r>
              <a:rPr kumimoji="1" lang="en-US" altLang="zh-CN" sz="2000" b="0" dirty="0"/>
              <a:t>VT-x</a:t>
            </a:r>
            <a:r>
              <a:rPr kumimoji="1" lang="zh-CN" altLang="en-US" sz="2000" b="0" dirty="0"/>
              <a:t>的两款</a:t>
            </a:r>
            <a:r>
              <a:rPr kumimoji="1" lang="en-US" altLang="zh-CN" sz="2000" b="0" dirty="0"/>
              <a:t>Pentium 4</a:t>
            </a:r>
            <a:r>
              <a:rPr kumimoji="1" lang="zh-CN" altLang="en-US" sz="2000" b="0" dirty="0"/>
              <a:t>处理器</a:t>
            </a:r>
            <a:endParaRPr kumimoji="1" lang="en-US" altLang="zh-CN" sz="2000" b="0" dirty="0"/>
          </a:p>
          <a:p>
            <a:r>
              <a:rPr kumimoji="1" lang="en-US" altLang="zh-CN" sz="2000" b="0" dirty="0"/>
              <a:t>2006</a:t>
            </a:r>
            <a:r>
              <a:rPr kumimoji="1" lang="zh-CN" altLang="en-US" sz="2000" b="0" dirty="0"/>
              <a:t>年中期，</a:t>
            </a:r>
            <a:r>
              <a:rPr kumimoji="1" lang="en-US" altLang="zh-CN" sz="2000" b="0" dirty="0"/>
              <a:t> </a:t>
            </a:r>
            <a:r>
              <a:rPr kumimoji="1" lang="en-US" altLang="zh-CN" sz="2000" b="0" dirty="0" err="1"/>
              <a:t>Qumranet</a:t>
            </a:r>
            <a:r>
              <a:rPr kumimoji="1" lang="zh-CN" altLang="en-US" sz="2000" b="0" dirty="0"/>
              <a:t>公司在内部开发</a:t>
            </a:r>
            <a:r>
              <a:rPr kumimoji="1" lang="en-US" altLang="zh-CN" sz="2000" b="0" dirty="0"/>
              <a:t>KVM(Kernel-based Virtual Machine)</a:t>
            </a:r>
            <a:r>
              <a:rPr kumimoji="1" lang="zh-CN" altLang="en-US" sz="2000" b="0" dirty="0"/>
              <a:t>，并于</a:t>
            </a:r>
            <a:r>
              <a:rPr kumimoji="1" lang="en-US" altLang="zh-CN" sz="2000" b="0" dirty="0"/>
              <a:t>11</a:t>
            </a:r>
            <a:r>
              <a:rPr kumimoji="1" lang="zh-CN" altLang="en-US" sz="2000" b="0" dirty="0"/>
              <a:t>月发布</a:t>
            </a:r>
            <a:endParaRPr kumimoji="1" lang="en-US" altLang="zh-CN" sz="2000" b="0" dirty="0"/>
          </a:p>
          <a:p>
            <a:r>
              <a:rPr kumimoji="1" lang="en-US" altLang="zh-CN" sz="2000" b="0" dirty="0"/>
              <a:t>2007</a:t>
            </a:r>
            <a:r>
              <a:rPr kumimoji="1" lang="zh-CN" altLang="en-US" sz="2000" b="0" dirty="0"/>
              <a:t>年，</a:t>
            </a:r>
            <a:r>
              <a:rPr kumimoji="1" lang="en-US" altLang="zh-CN" sz="2000" b="0" dirty="0"/>
              <a:t>KVM</a:t>
            </a:r>
            <a:r>
              <a:rPr kumimoji="1" lang="zh-CN" altLang="en-US" sz="2000" b="0" dirty="0"/>
              <a:t>被整合进</a:t>
            </a:r>
            <a:r>
              <a:rPr kumimoji="1" lang="en-US" altLang="zh-CN" sz="2000" b="0" dirty="0"/>
              <a:t>Linux</a:t>
            </a:r>
            <a:r>
              <a:rPr kumimoji="1" lang="zh-CN" altLang="en-US" sz="2000" b="0" dirty="0"/>
              <a:t> </a:t>
            </a:r>
            <a:r>
              <a:rPr kumimoji="1" lang="en-US" altLang="zh-CN" sz="2000" b="0" dirty="0"/>
              <a:t>2.6.20</a:t>
            </a:r>
          </a:p>
          <a:p>
            <a:r>
              <a:rPr kumimoji="1" lang="en-US" altLang="zh-CN" sz="2000" b="0" dirty="0"/>
              <a:t>2008</a:t>
            </a:r>
            <a:r>
              <a:rPr kumimoji="1" lang="zh-CN" altLang="en-US" sz="2000" b="0" dirty="0"/>
              <a:t>年</a:t>
            </a:r>
            <a:r>
              <a:rPr kumimoji="1" lang="en-US" altLang="zh-CN" sz="2000" b="0" dirty="0"/>
              <a:t>9</a:t>
            </a:r>
            <a:r>
              <a:rPr kumimoji="1" lang="zh-CN" altLang="en-US" sz="2000" b="0" dirty="0"/>
              <a:t>月，</a:t>
            </a:r>
            <a:r>
              <a:rPr kumimoji="1" lang="en-US" altLang="zh-CN" sz="2000" b="0" dirty="0" err="1"/>
              <a:t>Redhat</a:t>
            </a:r>
            <a:r>
              <a:rPr kumimoji="1" lang="zh-CN" altLang="en-US" sz="2000" b="0" dirty="0"/>
              <a:t>出资</a:t>
            </a:r>
            <a:r>
              <a:rPr kumimoji="1" lang="en-US" altLang="zh-CN" sz="2000" b="0" dirty="0"/>
              <a:t>1</a:t>
            </a:r>
            <a:r>
              <a:rPr kumimoji="1" lang="zh-CN" altLang="en-US" sz="2000" b="0" dirty="0"/>
              <a:t>亿多美元收购</a:t>
            </a:r>
            <a:r>
              <a:rPr kumimoji="1" lang="en-US" altLang="zh-CN" sz="2000" b="0" dirty="0" err="1"/>
              <a:t>Qumranet</a:t>
            </a:r>
            <a:endParaRPr kumimoji="1" lang="en-US" altLang="zh-CN" sz="2000" b="0" dirty="0"/>
          </a:p>
          <a:p>
            <a:r>
              <a:rPr kumimoji="1" lang="en-US" altLang="zh-CN" sz="2000" b="0" dirty="0"/>
              <a:t>2009</a:t>
            </a:r>
            <a:r>
              <a:rPr kumimoji="1" lang="zh-CN" altLang="en-US" sz="2000" b="0" dirty="0"/>
              <a:t>年，</a:t>
            </a:r>
            <a:r>
              <a:rPr kumimoji="1" lang="en-US" altLang="zh-CN" sz="2000" b="0" dirty="0"/>
              <a:t>QEMU</a:t>
            </a:r>
            <a:r>
              <a:rPr kumimoji="1" lang="zh-CN" altLang="en-US" sz="2000" b="0" dirty="0"/>
              <a:t> </a:t>
            </a:r>
            <a:r>
              <a:rPr kumimoji="1" lang="en-US" altLang="zh-CN" sz="2000" b="0" dirty="0"/>
              <a:t>0.10.1</a:t>
            </a:r>
            <a:r>
              <a:rPr kumimoji="1" lang="zh-CN" altLang="en-US" sz="2000" b="0" dirty="0"/>
              <a:t>开始使用</a:t>
            </a:r>
            <a:r>
              <a:rPr kumimoji="1" lang="en-US" altLang="zh-CN" sz="2000" b="0" dirty="0"/>
              <a:t>KVM</a:t>
            </a:r>
            <a:r>
              <a:rPr kumimoji="1" lang="zh-CN" altLang="en-US" sz="2000" b="0" dirty="0"/>
              <a:t>，以替代其软件模拟的方案</a:t>
            </a:r>
          </a:p>
          <a:p>
            <a:endParaRPr kumimoji="1" lang="zh-CN" altLang="en-US" sz="2000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5C1E94-8A0C-784C-AE27-6DE03E86F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7EAD0C-306D-CE48-8AF9-090FE81105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72935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964B1-AFAF-0840-8F26-4606FCF40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QEMU/KVM</a:t>
            </a:r>
            <a:r>
              <a:rPr kumimoji="1" lang="zh-CN" altLang="en-US" dirty="0"/>
              <a:t>架构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782EA1-7F6A-6B48-BF7E-866F3CD82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zh-CN" dirty="0"/>
              <a:t>QEMU</a:t>
            </a:r>
            <a:r>
              <a:rPr kumimoji="1" lang="zh-CN" altLang="en-US" dirty="0"/>
              <a:t>运行在用户态，负责实现</a:t>
            </a:r>
            <a:r>
              <a:rPr kumimoji="1" lang="zh-CN" altLang="en-US" dirty="0">
                <a:solidFill>
                  <a:srgbClr val="BE384B"/>
                </a:solidFill>
              </a:rPr>
              <a:t>策略</a:t>
            </a:r>
            <a:endParaRPr kumimoji="1" lang="en-US" altLang="zh-CN" dirty="0">
              <a:solidFill>
                <a:srgbClr val="BE384B"/>
              </a:solidFill>
            </a:endParaRPr>
          </a:p>
          <a:p>
            <a:pPr lvl="1"/>
            <a:r>
              <a:rPr kumimoji="1" lang="zh-CN" altLang="en-US" dirty="0">
                <a:solidFill>
                  <a:srgbClr val="404040"/>
                </a:solidFill>
              </a:rPr>
              <a:t>也提供虚拟设备的支持</a:t>
            </a:r>
            <a:endParaRPr kumimoji="1" lang="en-US" altLang="zh-CN" dirty="0">
              <a:solidFill>
                <a:srgbClr val="404040"/>
              </a:solidFill>
            </a:endParaRPr>
          </a:p>
          <a:p>
            <a:r>
              <a:rPr kumimoji="1" lang="en-US" altLang="zh-CN" dirty="0"/>
              <a:t>KVM</a:t>
            </a:r>
            <a:r>
              <a:rPr kumimoji="1" lang="zh-CN" altLang="en-US" dirty="0"/>
              <a:t>以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内核模块运行，负责实现</a:t>
            </a:r>
            <a:r>
              <a:rPr kumimoji="1" lang="zh-CN" altLang="en-US" dirty="0">
                <a:solidFill>
                  <a:srgbClr val="BE384B"/>
                </a:solidFill>
              </a:rPr>
              <a:t>机制</a:t>
            </a:r>
            <a:endParaRPr kumimoji="1" lang="en-US" altLang="zh-CN" dirty="0">
              <a:solidFill>
                <a:srgbClr val="BE384B"/>
              </a:solidFill>
            </a:endParaRPr>
          </a:p>
          <a:p>
            <a:pPr lvl="1"/>
            <a:r>
              <a:rPr kumimoji="1" lang="zh-CN" altLang="en-US" dirty="0"/>
              <a:t>可以直接使用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的功能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例如内存管理、进程调度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使用硬件虚拟化功能</a:t>
            </a:r>
            <a:endParaRPr kumimoji="1" lang="en-US" altLang="zh-CN" dirty="0"/>
          </a:p>
          <a:p>
            <a:r>
              <a:rPr kumimoji="1" lang="zh-CN" altLang="en-US" dirty="0"/>
              <a:t>两部分合作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KVM</a:t>
            </a:r>
            <a:r>
              <a:rPr kumimoji="1" lang="zh-CN" altLang="en-US" dirty="0"/>
              <a:t>捕捉所有敏感指令和事件，传递给</a:t>
            </a:r>
            <a:r>
              <a:rPr kumimoji="1" lang="en-US" altLang="zh-CN" dirty="0"/>
              <a:t>QEMU</a:t>
            </a:r>
          </a:p>
          <a:p>
            <a:pPr lvl="1"/>
            <a:r>
              <a:rPr kumimoji="1" lang="en-US" altLang="zh-CN" dirty="0"/>
              <a:t>KVM</a:t>
            </a:r>
            <a:r>
              <a:rPr kumimoji="1" lang="zh-CN" altLang="en-US" dirty="0"/>
              <a:t>不提供设备的虚拟化，需要使用</a:t>
            </a:r>
            <a:r>
              <a:rPr kumimoji="1" lang="en-US" altLang="zh-CN" dirty="0"/>
              <a:t>QEMU</a:t>
            </a:r>
            <a:r>
              <a:rPr kumimoji="1" lang="zh-CN" altLang="en-US" dirty="0"/>
              <a:t>的虚拟设备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9D2D0C-413F-A346-8DF6-0AD74E3AB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4D392A-CBCE-DF40-9D93-0D38B26440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42552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C4963C-174F-FC47-87FA-82EC9C82F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QEMU</a:t>
            </a:r>
            <a:r>
              <a:rPr kumimoji="1" lang="zh-CN" altLang="en-US" dirty="0"/>
              <a:t>使用</a:t>
            </a:r>
            <a:r>
              <a:rPr kumimoji="1" lang="en-US" altLang="zh-CN" dirty="0"/>
              <a:t>KVM</a:t>
            </a:r>
            <a:r>
              <a:rPr kumimoji="1" lang="zh-CN" altLang="en-US" dirty="0"/>
              <a:t>的用户态接口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4E443A-0996-AE42-8F99-EBCD487B9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000" dirty="0"/>
              <a:t>QEMU</a:t>
            </a:r>
            <a:r>
              <a:rPr kumimoji="1" lang="zh-CN" altLang="en-US" sz="2000" dirty="0"/>
              <a:t>使用</a:t>
            </a:r>
            <a:r>
              <a:rPr kumimoji="1" lang="en-US" altLang="zh-CN" sz="2000" dirty="0"/>
              <a:t>/dev/</a:t>
            </a:r>
            <a:r>
              <a:rPr kumimoji="1" lang="en-US" altLang="zh-CN" sz="2000" dirty="0" err="1"/>
              <a:t>kvm</a:t>
            </a:r>
            <a:r>
              <a:rPr kumimoji="1" lang="zh-CN" altLang="en-US" sz="2000" dirty="0"/>
              <a:t>与内核态的</a:t>
            </a:r>
            <a:r>
              <a:rPr kumimoji="1" lang="en-US" altLang="zh-CN" sz="2000" dirty="0"/>
              <a:t>KVM</a:t>
            </a:r>
            <a:r>
              <a:rPr kumimoji="1" lang="zh-CN" altLang="en-US" sz="2000" dirty="0"/>
              <a:t>通信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使用</a:t>
            </a:r>
            <a:r>
              <a:rPr kumimoji="1" lang="en-US" altLang="zh-CN" sz="1800" dirty="0" err="1"/>
              <a:t>ioctl</a:t>
            </a:r>
            <a:r>
              <a:rPr kumimoji="1" lang="zh-CN" altLang="en-US" sz="1800" dirty="0"/>
              <a:t>向</a:t>
            </a:r>
            <a:r>
              <a:rPr kumimoji="1" lang="en-US" altLang="zh-CN" sz="1800" dirty="0"/>
              <a:t>KVM</a:t>
            </a:r>
            <a:r>
              <a:rPr kumimoji="1" lang="zh-CN" altLang="en-US" sz="1800" dirty="0"/>
              <a:t>传递不同的命令：</a:t>
            </a:r>
            <a:r>
              <a:rPr kumimoji="1" lang="en-US" altLang="zh-CN" sz="1800" dirty="0"/>
              <a:t>CREATE_VM,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CREATE_VCPU,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KVM_RUN</a:t>
            </a:r>
            <a:r>
              <a:rPr kumimoji="1" lang="zh-CN" altLang="en-US" sz="1800" dirty="0"/>
              <a:t>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05ACDE-C4F4-BE49-8BA0-CDE7442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5CF0E1-F772-4C47-B4BD-17F5F0A677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0" name="矩形 5">
            <a:extLst>
              <a:ext uri="{FF2B5EF4-FFF2-40B4-BE49-F238E27FC236}">
                <a16:creationId xmlns:a16="http://schemas.microsoft.com/office/drawing/2014/main" id="{3737C549-FFBB-ACED-5229-AB58591CBCFD}"/>
              </a:ext>
            </a:extLst>
          </p:cNvPr>
          <p:cNvSpPr/>
          <p:nvPr/>
        </p:nvSpPr>
        <p:spPr>
          <a:xfrm>
            <a:off x="1619672" y="2425453"/>
            <a:ext cx="5688632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open("/dev/</a:t>
            </a:r>
            <a:r>
              <a:rPr lang="en-US" altLang="zh-CN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kvm</a:t>
            </a:r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altLang="zh-CN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ioctl</a:t>
            </a:r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(KVM_CREATE_VM)</a:t>
            </a:r>
          </a:p>
          <a:p>
            <a:r>
              <a:rPr lang="en-US" altLang="zh-CN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ioctl</a:t>
            </a:r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(KVM_CREATE_VCPU)</a:t>
            </a:r>
          </a:p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while (true) {</a:t>
            </a:r>
          </a:p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CN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ioctl</a:t>
            </a:r>
            <a:r>
              <a:rPr lang="en-US" altLang="zh-CN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(KVM_RUN)</a:t>
            </a:r>
          </a:p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CN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exit_reason</a:t>
            </a:r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zh-CN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get_exit_reason</a:t>
            </a:r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switch (</a:t>
            </a:r>
            <a:r>
              <a:rPr lang="en-US" altLang="zh-CN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exit_reason</a:t>
            </a:r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case KVM_EXIT_IO:  /* ... */</a:t>
            </a:r>
          </a:p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break;</a:t>
            </a:r>
          </a:p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case KVM_EXIT_MMIO: /* ... */</a:t>
            </a:r>
          </a:p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break;</a:t>
            </a:r>
          </a:p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</a:p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1400" dirty="0"/>
          </a:p>
        </p:txBody>
      </p:sp>
      <p:sp>
        <p:nvSpPr>
          <p:cNvPr id="31" name="矩形 6">
            <a:extLst>
              <a:ext uri="{FF2B5EF4-FFF2-40B4-BE49-F238E27FC236}">
                <a16:creationId xmlns:a16="http://schemas.microsoft.com/office/drawing/2014/main" id="{F3D92E1E-C152-B833-5F53-8424DE06FA42}"/>
              </a:ext>
            </a:extLst>
          </p:cNvPr>
          <p:cNvSpPr/>
          <p:nvPr/>
        </p:nvSpPr>
        <p:spPr>
          <a:xfrm>
            <a:off x="5317202" y="2991646"/>
            <a:ext cx="175603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Invoke VMENTRY</a:t>
            </a:r>
            <a:endParaRPr lang="zh-CN" altLang="en-US" sz="1400" b="1" dirty="0">
              <a:solidFill>
                <a:srgbClr val="0070C0"/>
              </a:solidFill>
            </a:endParaRPr>
          </a:p>
        </p:txBody>
      </p:sp>
      <p:cxnSp>
        <p:nvCxnSpPr>
          <p:cNvPr id="32" name="直接连接符 6">
            <a:extLst>
              <a:ext uri="{FF2B5EF4-FFF2-40B4-BE49-F238E27FC236}">
                <a16:creationId xmlns:a16="http://schemas.microsoft.com/office/drawing/2014/main" id="{B0D6F9AE-0E90-6AB3-F238-CACBA02C74D9}"/>
              </a:ext>
            </a:extLst>
          </p:cNvPr>
          <p:cNvCxnSpPr>
            <a:cxnSpLocks/>
          </p:cNvCxnSpPr>
          <p:nvPr/>
        </p:nvCxnSpPr>
        <p:spPr>
          <a:xfrm flipV="1">
            <a:off x="3707904" y="3145532"/>
            <a:ext cx="1728192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75436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C94484-CF98-3048-8CDB-4789FA2CC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ioctl</a:t>
            </a:r>
            <a:r>
              <a:rPr kumimoji="1" lang="en-US" altLang="zh-CN" dirty="0"/>
              <a:t>(KVM_RUN)</a:t>
            </a:r>
            <a:r>
              <a:rPr kumimoji="1" lang="zh-CN" altLang="en-US" dirty="0"/>
              <a:t>时发生了什么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D62FBD-80F2-9747-BD6E-B864060A2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1379983"/>
          </a:xfrm>
        </p:spPr>
        <p:txBody>
          <a:bodyPr>
            <a:normAutofit fontScale="70000" lnSpcReduction="20000"/>
          </a:bodyPr>
          <a:lstStyle/>
          <a:p>
            <a:r>
              <a:rPr kumimoji="1" lang="en-US" altLang="zh-CN" dirty="0"/>
              <a:t>x86</a:t>
            </a:r>
            <a:r>
              <a:rPr kumimoji="1" lang="zh-CN" altLang="en-US" dirty="0"/>
              <a:t>中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KVM</a:t>
            </a:r>
            <a:r>
              <a:rPr kumimoji="1" lang="zh-CN" altLang="en-US" dirty="0"/>
              <a:t>加载</a:t>
            </a:r>
            <a:r>
              <a:rPr kumimoji="1" lang="en-US" altLang="zh-CN" dirty="0"/>
              <a:t>vCPU</a:t>
            </a:r>
            <a:r>
              <a:rPr kumimoji="1" lang="zh-CN" altLang="en-US" dirty="0"/>
              <a:t>对应的</a:t>
            </a:r>
            <a:r>
              <a:rPr kumimoji="1" lang="en-US" altLang="zh-CN" dirty="0"/>
              <a:t>VMCS</a:t>
            </a:r>
            <a:r>
              <a:rPr kumimoji="1" lang="zh-CN" altLang="en-US" dirty="0"/>
              <a:t>，</a:t>
            </a:r>
            <a:r>
              <a:rPr kumimoji="1" lang="en-US" altLang="zh-CN" dirty="0"/>
              <a:t>VMLAUNCH/VMRESUME</a:t>
            </a:r>
            <a:r>
              <a:rPr kumimoji="1" lang="zh-CN" altLang="en-US" dirty="0"/>
              <a:t>进入</a:t>
            </a:r>
            <a:r>
              <a:rPr kumimoji="1" lang="en-US" altLang="zh-CN" dirty="0"/>
              <a:t>Non-root</a:t>
            </a:r>
            <a:r>
              <a:rPr kumimoji="1" lang="zh-CN" altLang="en-US" dirty="0"/>
              <a:t>模式</a:t>
            </a:r>
            <a:endParaRPr kumimoji="1" lang="en-US" altLang="zh-CN" dirty="0"/>
          </a:p>
          <a:p>
            <a:r>
              <a:rPr kumimoji="1" lang="en-US" altLang="zh-CN" dirty="0"/>
              <a:t>ARM</a:t>
            </a:r>
            <a:r>
              <a:rPr kumimoji="1" lang="zh-CN" altLang="en-US" dirty="0"/>
              <a:t>中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KVM</a:t>
            </a:r>
            <a:r>
              <a:rPr kumimoji="1" lang="zh-CN" altLang="en-US" dirty="0"/>
              <a:t>主动加载</a:t>
            </a:r>
            <a:r>
              <a:rPr kumimoji="1" lang="en-US" altLang="zh-CN" dirty="0"/>
              <a:t>VCPU</a:t>
            </a:r>
            <a:r>
              <a:rPr kumimoji="1" lang="zh-CN" altLang="en-US" dirty="0"/>
              <a:t>对应的所有状态，使用</a:t>
            </a:r>
            <a:r>
              <a:rPr kumimoji="1" lang="en-US" altLang="zh-CN" dirty="0" err="1"/>
              <a:t>eret</a:t>
            </a:r>
            <a:r>
              <a:rPr kumimoji="1" lang="zh-CN" altLang="en-US" dirty="0"/>
              <a:t>指令进入虚拟机，开始执行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A49097-027F-4541-BF3F-711834E6D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F4F84B-059D-5346-91E0-725957D7A7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823A112-5651-6007-1D9A-DCBAB13E928B}"/>
              </a:ext>
            </a:extLst>
          </p:cNvPr>
          <p:cNvGrpSpPr/>
          <p:nvPr/>
        </p:nvGrpSpPr>
        <p:grpSpPr>
          <a:xfrm>
            <a:off x="949366" y="2713484"/>
            <a:ext cx="6925052" cy="2592288"/>
            <a:chOff x="949366" y="2713484"/>
            <a:chExt cx="6925052" cy="2592288"/>
          </a:xfrm>
        </p:grpSpPr>
        <p:sp>
          <p:nvSpPr>
            <p:cNvPr id="7" name="Rectangle 22">
              <a:extLst>
                <a:ext uri="{FF2B5EF4-FFF2-40B4-BE49-F238E27FC236}">
                  <a16:creationId xmlns:a16="http://schemas.microsoft.com/office/drawing/2014/main" id="{E9DD3468-B55B-6450-3A26-8FA88D75066A}"/>
                </a:ext>
              </a:extLst>
            </p:cNvPr>
            <p:cNvSpPr/>
            <p:nvPr/>
          </p:nvSpPr>
          <p:spPr>
            <a:xfrm>
              <a:off x="1749364" y="4441675"/>
              <a:ext cx="2636232" cy="43204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r>
                <a:rPr lang="en-US" altLang="zh-CN" sz="1600" dirty="0">
                  <a:solidFill>
                    <a:srgbClr val="BE384B"/>
                  </a:solidFill>
                  <a:cs typeface="Arial Narrow"/>
                </a:rPr>
                <a:t>Linux</a:t>
              </a:r>
              <a:endParaRPr lang="en-US" sz="16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8" name="Rectangle 27">
              <a:extLst>
                <a:ext uri="{FF2B5EF4-FFF2-40B4-BE49-F238E27FC236}">
                  <a16:creationId xmlns:a16="http://schemas.microsoft.com/office/drawing/2014/main" id="{18B23C13-F752-0168-7D83-E2B10DEEA14D}"/>
                </a:ext>
              </a:extLst>
            </p:cNvPr>
            <p:cNvSpPr/>
            <p:nvPr/>
          </p:nvSpPr>
          <p:spPr>
            <a:xfrm>
              <a:off x="1741454" y="3073524"/>
              <a:ext cx="2610552" cy="3600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rgbClr val="BE384B"/>
                  </a:solidFill>
                  <a:cs typeface="Arial Narrow"/>
                </a:rPr>
                <a:t>QEMU</a:t>
              </a:r>
              <a:endParaRPr lang="en-US" sz="1600" dirty="0">
                <a:solidFill>
                  <a:srgbClr val="BE384B"/>
                </a:solidFill>
                <a:cs typeface="Arial Narrow"/>
              </a:endParaRPr>
            </a:p>
          </p:txBody>
        </p:sp>
        <p:cxnSp>
          <p:nvCxnSpPr>
            <p:cNvPr id="9" name="Straight Connector 13">
              <a:extLst>
                <a:ext uri="{FF2B5EF4-FFF2-40B4-BE49-F238E27FC236}">
                  <a16:creationId xmlns:a16="http://schemas.microsoft.com/office/drawing/2014/main" id="{40BA4E2F-17AE-FFB6-8A8D-6E1A23A4571D}"/>
                </a:ext>
              </a:extLst>
            </p:cNvPr>
            <p:cNvCxnSpPr>
              <a:cxnSpLocks/>
            </p:cNvCxnSpPr>
            <p:nvPr/>
          </p:nvCxnSpPr>
          <p:spPr>
            <a:xfrm>
              <a:off x="1072648" y="4246782"/>
              <a:ext cx="6801770" cy="0"/>
            </a:xfrm>
            <a:prstGeom prst="line">
              <a:avLst/>
            </a:prstGeom>
            <a:ln>
              <a:solidFill>
                <a:srgbClr val="BE384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C50FF42-BD7C-C98C-4088-8C7C02B686D5}"/>
                </a:ext>
              </a:extLst>
            </p:cNvPr>
            <p:cNvSpPr txBox="1"/>
            <p:nvPr/>
          </p:nvSpPr>
          <p:spPr>
            <a:xfrm>
              <a:off x="949366" y="3721596"/>
              <a:ext cx="807505" cy="501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EL1</a:t>
              </a:r>
              <a:endParaRPr kumimoji="1"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B58BB8C-02DA-39A4-0F08-DCA371EDDBFD}"/>
                </a:ext>
              </a:extLst>
            </p:cNvPr>
            <p:cNvSpPr txBox="1"/>
            <p:nvPr/>
          </p:nvSpPr>
          <p:spPr>
            <a:xfrm>
              <a:off x="949366" y="3001516"/>
              <a:ext cx="807505" cy="501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EL0</a:t>
              </a:r>
              <a:endParaRPr kumimoji="1" lang="zh-CN" altLang="en-US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01009122-565F-06D7-0620-0872D888AF3D}"/>
                </a:ext>
              </a:extLst>
            </p:cNvPr>
            <p:cNvSpPr txBox="1"/>
            <p:nvPr/>
          </p:nvSpPr>
          <p:spPr>
            <a:xfrm>
              <a:off x="949366" y="4513684"/>
              <a:ext cx="807505" cy="501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EL2</a:t>
              </a:r>
              <a:endParaRPr kumimoji="1" lang="zh-CN" altLang="en-US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B23CE38A-F99F-1AAD-FAE6-A544D2E185E3}"/>
                </a:ext>
              </a:extLst>
            </p:cNvPr>
            <p:cNvSpPr txBox="1"/>
            <p:nvPr/>
          </p:nvSpPr>
          <p:spPr>
            <a:xfrm>
              <a:off x="2677558" y="2713484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VMM</a:t>
              </a:r>
              <a:endParaRPr kumimoji="1" lang="zh-CN" altLang="en-US" dirty="0"/>
            </a:p>
          </p:txBody>
        </p:sp>
        <p:sp>
          <p:nvSpPr>
            <p:cNvPr id="14" name="Rectangle 22">
              <a:extLst>
                <a:ext uri="{FF2B5EF4-FFF2-40B4-BE49-F238E27FC236}">
                  <a16:creationId xmlns:a16="http://schemas.microsoft.com/office/drawing/2014/main" id="{314169D7-B1F3-B62D-DCA8-DE62C55D65C8}"/>
                </a:ext>
              </a:extLst>
            </p:cNvPr>
            <p:cNvSpPr/>
            <p:nvPr/>
          </p:nvSpPr>
          <p:spPr>
            <a:xfrm>
              <a:off x="4900468" y="3577580"/>
              <a:ext cx="2636232" cy="39348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r"/>
              <a:r>
                <a:rPr lang="en-US" altLang="zh-CN" sz="1600" dirty="0">
                  <a:solidFill>
                    <a:srgbClr val="BE384B"/>
                  </a:solidFill>
                  <a:cs typeface="Arial Narrow"/>
                </a:rPr>
                <a:t>OS</a:t>
              </a:r>
              <a:r>
                <a:rPr lang="zh-CN" altLang="en-US" sz="1600" dirty="0">
                  <a:solidFill>
                    <a:srgbClr val="BE384B"/>
                  </a:solidFill>
                  <a:cs typeface="Arial Narrow"/>
                </a:rPr>
                <a:t> </a:t>
              </a:r>
              <a:r>
                <a:rPr lang="en-US" altLang="zh-CN" sz="1600" dirty="0">
                  <a:solidFill>
                    <a:srgbClr val="BE384B"/>
                  </a:solidFill>
                  <a:cs typeface="Arial Narrow"/>
                </a:rPr>
                <a:t>Kernel</a:t>
              </a:r>
              <a:endParaRPr lang="en-US" sz="16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1B42CBE3-31DF-05BE-3D49-838B0E61A661}"/>
                </a:ext>
              </a:extLst>
            </p:cNvPr>
            <p:cNvSpPr/>
            <p:nvPr/>
          </p:nvSpPr>
          <p:spPr>
            <a:xfrm>
              <a:off x="4909806" y="3073524"/>
              <a:ext cx="2636232" cy="34861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rgbClr val="BE384B"/>
                  </a:solidFill>
                  <a:cs typeface="Arial Narrow"/>
                </a:rPr>
                <a:t>Processes</a:t>
              </a:r>
              <a:endParaRPr lang="en-US" sz="16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16" name="圆角矩形 15">
              <a:extLst>
                <a:ext uri="{FF2B5EF4-FFF2-40B4-BE49-F238E27FC236}">
                  <a16:creationId xmlns:a16="http://schemas.microsoft.com/office/drawing/2014/main" id="{45A1E8A7-30A3-72C4-C57C-ADF3520E621A}"/>
                </a:ext>
              </a:extLst>
            </p:cNvPr>
            <p:cNvSpPr/>
            <p:nvPr/>
          </p:nvSpPr>
          <p:spPr>
            <a:xfrm>
              <a:off x="4750540" y="2713484"/>
              <a:ext cx="2931601" cy="1365686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D28CA0FA-CFCA-61DE-6E68-C0735B9BD3A8}"/>
                </a:ext>
              </a:extLst>
            </p:cNvPr>
            <p:cNvSpPr txBox="1"/>
            <p:nvPr/>
          </p:nvSpPr>
          <p:spPr>
            <a:xfrm>
              <a:off x="5917918" y="2785492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VM</a:t>
              </a:r>
              <a:endParaRPr kumimoji="1" lang="zh-CN" altLang="en-US" dirty="0"/>
            </a:p>
          </p:txBody>
        </p:sp>
        <p:sp>
          <p:nvSpPr>
            <p:cNvPr id="18" name="圆角矩形 17">
              <a:extLst>
                <a:ext uri="{FF2B5EF4-FFF2-40B4-BE49-F238E27FC236}">
                  <a16:creationId xmlns:a16="http://schemas.microsoft.com/office/drawing/2014/main" id="{F0A1FD4B-C172-CA4C-BA4B-6315B7CBAF78}"/>
                </a:ext>
              </a:extLst>
            </p:cNvPr>
            <p:cNvSpPr/>
            <p:nvPr/>
          </p:nvSpPr>
          <p:spPr>
            <a:xfrm>
              <a:off x="1619672" y="2713484"/>
              <a:ext cx="2931601" cy="2232248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9" name="Rectangle 22">
              <a:extLst>
                <a:ext uri="{FF2B5EF4-FFF2-40B4-BE49-F238E27FC236}">
                  <a16:creationId xmlns:a16="http://schemas.microsoft.com/office/drawing/2014/main" id="{E3BF73E5-6061-103E-1BFB-34D0C5B558F2}"/>
                </a:ext>
              </a:extLst>
            </p:cNvPr>
            <p:cNvSpPr/>
            <p:nvPr/>
          </p:nvSpPr>
          <p:spPr>
            <a:xfrm>
              <a:off x="3058431" y="4585693"/>
              <a:ext cx="1146017" cy="216024"/>
            </a:xfrm>
            <a:prstGeom prst="rect">
              <a:avLst/>
            </a:prstGeom>
            <a:solidFill>
              <a:srgbClr val="BE384B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Arial Narrow"/>
                </a:rPr>
                <a:t>KVM</a:t>
              </a:r>
              <a:endParaRPr lang="en-US" sz="1600" dirty="0">
                <a:solidFill>
                  <a:schemeClr val="bg1"/>
                </a:solidFill>
                <a:cs typeface="Arial Narrow"/>
              </a:endParaRPr>
            </a:p>
          </p:txBody>
        </p:sp>
        <p:cxnSp>
          <p:nvCxnSpPr>
            <p:cNvPr id="20" name="肘形连接符 20">
              <a:extLst>
                <a:ext uri="{FF2B5EF4-FFF2-40B4-BE49-F238E27FC236}">
                  <a16:creationId xmlns:a16="http://schemas.microsoft.com/office/drawing/2014/main" id="{4B5987F9-88CC-2813-9A11-724D8A35977B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 rot="16200000" flipH="1">
              <a:off x="5659239" y="4530404"/>
              <a:ext cx="1118690" cy="1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7">
              <a:extLst>
                <a:ext uri="{FF2B5EF4-FFF2-40B4-BE49-F238E27FC236}">
                  <a16:creationId xmlns:a16="http://schemas.microsoft.com/office/drawing/2014/main" id="{23F57F54-C84A-3647-D082-82EBAE23644D}"/>
                </a:ext>
              </a:extLst>
            </p:cNvPr>
            <p:cNvSpPr/>
            <p:nvPr/>
          </p:nvSpPr>
          <p:spPr>
            <a:xfrm>
              <a:off x="3109606" y="4081636"/>
              <a:ext cx="1052056" cy="23815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rgbClr val="BE384B"/>
                  </a:solidFill>
                  <a:cs typeface="Arial Narrow"/>
                </a:rPr>
                <a:t>/dev/</a:t>
              </a:r>
              <a:r>
                <a:rPr lang="en-US" altLang="zh-CN" sz="1200" dirty="0" err="1">
                  <a:solidFill>
                    <a:srgbClr val="BE384B"/>
                  </a:solidFill>
                  <a:cs typeface="Arial Narrow"/>
                </a:rPr>
                <a:t>kvm</a:t>
              </a:r>
              <a:endParaRPr lang="en-US" sz="1200" dirty="0">
                <a:solidFill>
                  <a:srgbClr val="BE384B"/>
                </a:solidFill>
                <a:cs typeface="Arial Narrow"/>
              </a:endParaRPr>
            </a:p>
          </p:txBody>
        </p:sp>
        <p:cxnSp>
          <p:nvCxnSpPr>
            <p:cNvPr id="22" name="直线箭头连接符 25">
              <a:extLst>
                <a:ext uri="{FF2B5EF4-FFF2-40B4-BE49-F238E27FC236}">
                  <a16:creationId xmlns:a16="http://schemas.microsoft.com/office/drawing/2014/main" id="{A5D65DBE-55A1-DA4D-7442-516E77DD2CB3}"/>
                </a:ext>
              </a:extLst>
            </p:cNvPr>
            <p:cNvCxnSpPr>
              <a:cxnSpLocks/>
            </p:cNvCxnSpPr>
            <p:nvPr/>
          </p:nvCxnSpPr>
          <p:spPr>
            <a:xfrm>
              <a:off x="3635896" y="3361556"/>
              <a:ext cx="0" cy="7920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线箭头连接符 27">
              <a:extLst>
                <a:ext uri="{FF2B5EF4-FFF2-40B4-BE49-F238E27FC236}">
                  <a16:creationId xmlns:a16="http://schemas.microsoft.com/office/drawing/2014/main" id="{CFD66AF2-756A-6D0D-3564-4A717E6E0B5E}"/>
                </a:ext>
              </a:extLst>
            </p:cNvPr>
            <p:cNvCxnSpPr>
              <a:cxnSpLocks/>
              <a:stCxn id="21" idx="2"/>
              <a:endCxn id="19" idx="0"/>
            </p:cNvCxnSpPr>
            <p:nvPr/>
          </p:nvCxnSpPr>
          <p:spPr>
            <a:xfrm flipH="1">
              <a:off x="3631440" y="4319790"/>
              <a:ext cx="4194" cy="26590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本框 28">
              <a:extLst>
                <a:ext uri="{FF2B5EF4-FFF2-40B4-BE49-F238E27FC236}">
                  <a16:creationId xmlns:a16="http://schemas.microsoft.com/office/drawing/2014/main" id="{7E3F0ABD-F6A1-B768-1504-A68CB6937AE7}"/>
                </a:ext>
              </a:extLst>
            </p:cNvPr>
            <p:cNvSpPr txBox="1"/>
            <p:nvPr/>
          </p:nvSpPr>
          <p:spPr>
            <a:xfrm>
              <a:off x="3635896" y="3577580"/>
              <a:ext cx="5950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 err="1"/>
                <a:t>ioctl</a:t>
              </a:r>
              <a:endParaRPr kumimoji="1" lang="zh-CN" altLang="en-US" dirty="0"/>
            </a:p>
          </p:txBody>
        </p:sp>
        <p:sp>
          <p:nvSpPr>
            <p:cNvPr id="25" name="文本框 32">
              <a:extLst>
                <a:ext uri="{FF2B5EF4-FFF2-40B4-BE49-F238E27FC236}">
                  <a16:creationId xmlns:a16="http://schemas.microsoft.com/office/drawing/2014/main" id="{7FE3B792-8F72-45DC-0B61-EA1BA6C18C5F}"/>
                </a:ext>
              </a:extLst>
            </p:cNvPr>
            <p:cNvSpPr txBox="1"/>
            <p:nvPr/>
          </p:nvSpPr>
          <p:spPr>
            <a:xfrm>
              <a:off x="6214493" y="4441676"/>
              <a:ext cx="1133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VM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Entry</a:t>
              </a:r>
              <a:endParaRPr kumimoji="1" lang="zh-CN" altLang="en-US" dirty="0"/>
            </a:p>
          </p:txBody>
        </p:sp>
        <p:sp>
          <p:nvSpPr>
            <p:cNvPr id="26" name="Rectangle 22">
              <a:extLst>
                <a:ext uri="{FF2B5EF4-FFF2-40B4-BE49-F238E27FC236}">
                  <a16:creationId xmlns:a16="http://schemas.microsoft.com/office/drawing/2014/main" id="{066E1EDF-553C-F033-7800-C0F89902BA8A}"/>
                </a:ext>
              </a:extLst>
            </p:cNvPr>
            <p:cNvSpPr/>
            <p:nvPr/>
          </p:nvSpPr>
          <p:spPr>
            <a:xfrm>
              <a:off x="1749997" y="5089748"/>
              <a:ext cx="5940152" cy="216024"/>
            </a:xfrm>
            <a:prstGeom prst="rect">
              <a:avLst/>
            </a:prstGeom>
            <a:solidFill>
              <a:srgbClr val="BE384B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Arial Narrow"/>
                </a:rPr>
                <a:t>Hardware</a:t>
              </a:r>
              <a:r>
                <a:rPr lang="zh-CN" altLang="en-US" sz="1600" dirty="0">
                  <a:solidFill>
                    <a:schemeClr val="bg1"/>
                  </a:solidFill>
                  <a:cs typeface="Arial Narrow"/>
                </a:rPr>
                <a:t> </a:t>
              </a:r>
              <a:r>
                <a:rPr lang="en-US" altLang="zh-CN" sz="1600" dirty="0">
                  <a:solidFill>
                    <a:schemeClr val="bg1"/>
                  </a:solidFill>
                  <a:cs typeface="Arial Narrow"/>
                </a:rPr>
                <a:t>Virtualization</a:t>
              </a:r>
              <a:endParaRPr lang="en-US" sz="1600" dirty="0">
                <a:solidFill>
                  <a:schemeClr val="bg1"/>
                </a:solidFill>
                <a:cs typeface="Arial Narrow"/>
              </a:endParaRPr>
            </a:p>
          </p:txBody>
        </p:sp>
        <p:cxnSp>
          <p:nvCxnSpPr>
            <p:cNvPr id="27" name="直线箭头连接符 41">
              <a:extLst>
                <a:ext uri="{FF2B5EF4-FFF2-40B4-BE49-F238E27FC236}">
                  <a16:creationId xmlns:a16="http://schemas.microsoft.com/office/drawing/2014/main" id="{766C4779-FD30-9437-7C62-B3FE05F684D7}"/>
                </a:ext>
              </a:extLst>
            </p:cNvPr>
            <p:cNvCxnSpPr>
              <a:cxnSpLocks/>
            </p:cNvCxnSpPr>
            <p:nvPr/>
          </p:nvCxnSpPr>
          <p:spPr>
            <a:xfrm>
              <a:off x="3626399" y="4801716"/>
              <a:ext cx="0" cy="36004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72075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3CA1F9-B070-6243-90B9-D05189CDD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QEMU/KVM</a:t>
            </a:r>
            <a:r>
              <a:rPr kumimoji="1" lang="zh-CN" altLang="en-US" dirty="0"/>
              <a:t>的流程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C809B9-663C-CE42-9563-0EFE412A8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50CA32-0CC2-CC4C-BBF8-E396A26619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2331E0-5827-CC4E-B2C9-FB843B8E4BF1}"/>
              </a:ext>
            </a:extLst>
          </p:cNvPr>
          <p:cNvSpPr/>
          <p:nvPr/>
        </p:nvSpPr>
        <p:spPr>
          <a:xfrm>
            <a:off x="971600" y="1705372"/>
            <a:ext cx="1584176" cy="6480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/>
              <a:t>ioctl</a:t>
            </a:r>
            <a:endParaRPr kumimoji="1" lang="zh-CN" altLang="en-US" sz="14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3C712A-B9A1-EE41-9A94-4017CDDE1562}"/>
              </a:ext>
            </a:extLst>
          </p:cNvPr>
          <p:cNvSpPr/>
          <p:nvPr/>
        </p:nvSpPr>
        <p:spPr>
          <a:xfrm>
            <a:off x="971600" y="4081636"/>
            <a:ext cx="1656184" cy="6480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QEMU</a:t>
            </a:r>
          </a:p>
          <a:p>
            <a:pPr algn="ctr"/>
            <a:r>
              <a:rPr kumimoji="1" lang="en-US" altLang="zh-CN" sz="1400" dirty="0"/>
              <a:t>Exit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handler</a:t>
            </a:r>
            <a:endParaRPr kumimoji="1" lang="zh-CN" altLang="en-US" sz="1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29BFFD-1ADC-6B4C-9EAE-5CECA9B2E84F}"/>
              </a:ext>
            </a:extLst>
          </p:cNvPr>
          <p:cNvSpPr/>
          <p:nvPr/>
        </p:nvSpPr>
        <p:spPr>
          <a:xfrm>
            <a:off x="3419872" y="2281436"/>
            <a:ext cx="1656184" cy="648072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rgbClr val="404040"/>
                </a:solidFill>
              </a:rPr>
              <a:t>KVM_VCPU_RUN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9A8D7EF-DBDA-BF4A-AB80-7D83ACCA2557}"/>
              </a:ext>
            </a:extLst>
          </p:cNvPr>
          <p:cNvSpPr/>
          <p:nvPr/>
        </p:nvSpPr>
        <p:spPr>
          <a:xfrm>
            <a:off x="3419872" y="3433564"/>
            <a:ext cx="1656184" cy="648072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rgbClr val="404040"/>
                </a:solidFill>
              </a:rPr>
              <a:t>KVM</a:t>
            </a:r>
          </a:p>
          <a:p>
            <a:pPr algn="ctr"/>
            <a:r>
              <a:rPr kumimoji="1" lang="en-US" altLang="zh-CN" sz="1400" dirty="0">
                <a:solidFill>
                  <a:srgbClr val="404040"/>
                </a:solidFill>
              </a:rPr>
              <a:t>Exit</a:t>
            </a:r>
            <a:r>
              <a:rPr kumimoji="1" lang="zh-CN" altLang="en-US" sz="1400" dirty="0">
                <a:solidFill>
                  <a:srgbClr val="404040"/>
                </a:solidFill>
              </a:rPr>
              <a:t> </a:t>
            </a:r>
            <a:r>
              <a:rPr kumimoji="1" lang="en-US" altLang="zh-CN" sz="1400" dirty="0">
                <a:solidFill>
                  <a:srgbClr val="404040"/>
                </a:solidFill>
              </a:rPr>
              <a:t>handler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A60BBB6-73A7-5E4B-8478-F670E9781440}"/>
              </a:ext>
            </a:extLst>
          </p:cNvPr>
          <p:cNvSpPr/>
          <p:nvPr/>
        </p:nvSpPr>
        <p:spPr>
          <a:xfrm>
            <a:off x="6156176" y="2785492"/>
            <a:ext cx="1656184" cy="6480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rgbClr val="404040"/>
                </a:solidFill>
              </a:rPr>
              <a:t>VM</a:t>
            </a:r>
          </a:p>
          <a:p>
            <a:pPr algn="ctr"/>
            <a:r>
              <a:rPr kumimoji="1" lang="en-US" altLang="zh-CN" sz="1400" dirty="0">
                <a:solidFill>
                  <a:srgbClr val="404040"/>
                </a:solidFill>
              </a:rPr>
              <a:t>Execution</a:t>
            </a:r>
          </a:p>
        </p:txBody>
      </p:sp>
      <p:cxnSp>
        <p:nvCxnSpPr>
          <p:cNvPr id="12" name="肘形连接符 11">
            <a:extLst>
              <a:ext uri="{FF2B5EF4-FFF2-40B4-BE49-F238E27FC236}">
                <a16:creationId xmlns:a16="http://schemas.microsoft.com/office/drawing/2014/main" id="{7AD0293F-F733-9642-9B47-AAC1B4E9E4C3}"/>
              </a:ext>
            </a:extLst>
          </p:cNvPr>
          <p:cNvCxnSpPr>
            <a:stCxn id="3" idx="3"/>
            <a:endCxn id="8" idx="0"/>
          </p:cNvCxnSpPr>
          <p:nvPr/>
        </p:nvCxnSpPr>
        <p:spPr>
          <a:xfrm>
            <a:off x="2555776" y="2029408"/>
            <a:ext cx="1692188" cy="25202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肘形连接符 12">
            <a:extLst>
              <a:ext uri="{FF2B5EF4-FFF2-40B4-BE49-F238E27FC236}">
                <a16:creationId xmlns:a16="http://schemas.microsoft.com/office/drawing/2014/main" id="{E2439EE5-1EC4-8343-9808-B772991E844C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5076056" y="2605472"/>
            <a:ext cx="1080120" cy="504056"/>
          </a:xfrm>
          <a:prstGeom prst="bentConnector3">
            <a:avLst>
              <a:gd name="adj1" fmla="val 31394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肘形连接符 15">
            <a:extLst>
              <a:ext uri="{FF2B5EF4-FFF2-40B4-BE49-F238E27FC236}">
                <a16:creationId xmlns:a16="http://schemas.microsoft.com/office/drawing/2014/main" id="{607C1F1B-E22E-FE40-A633-EE0CD4426747}"/>
              </a:ext>
            </a:extLst>
          </p:cNvPr>
          <p:cNvCxnSpPr>
            <a:cxnSpLocks/>
            <a:stCxn id="10" idx="2"/>
            <a:endCxn id="9" idx="3"/>
          </p:cNvCxnSpPr>
          <p:nvPr/>
        </p:nvCxnSpPr>
        <p:spPr>
          <a:xfrm rot="5400000">
            <a:off x="5868144" y="2641476"/>
            <a:ext cx="324036" cy="190821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肘形连接符 18">
            <a:extLst>
              <a:ext uri="{FF2B5EF4-FFF2-40B4-BE49-F238E27FC236}">
                <a16:creationId xmlns:a16="http://schemas.microsoft.com/office/drawing/2014/main" id="{83DDDB54-C6EF-7048-A676-434CDC9D28C0}"/>
              </a:ext>
            </a:extLst>
          </p:cNvPr>
          <p:cNvCxnSpPr>
            <a:cxnSpLocks/>
            <a:stCxn id="9" idx="1"/>
            <a:endCxn id="8" idx="1"/>
          </p:cNvCxnSpPr>
          <p:nvPr/>
        </p:nvCxnSpPr>
        <p:spPr>
          <a:xfrm rot="10800000">
            <a:off x="3419872" y="2605472"/>
            <a:ext cx="12700" cy="1152128"/>
          </a:xfrm>
          <a:prstGeom prst="bentConnector3">
            <a:avLst>
              <a:gd name="adj1" fmla="val 180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肘形连接符 21">
            <a:extLst>
              <a:ext uri="{FF2B5EF4-FFF2-40B4-BE49-F238E27FC236}">
                <a16:creationId xmlns:a16="http://schemas.microsoft.com/office/drawing/2014/main" id="{6A7942FD-8AEB-6541-9273-3CDC0F64D592}"/>
              </a:ext>
            </a:extLst>
          </p:cNvPr>
          <p:cNvCxnSpPr>
            <a:cxnSpLocks/>
            <a:stCxn id="9" idx="2"/>
            <a:endCxn id="7" idx="3"/>
          </p:cNvCxnSpPr>
          <p:nvPr/>
        </p:nvCxnSpPr>
        <p:spPr>
          <a:xfrm rot="5400000">
            <a:off x="3275856" y="3433564"/>
            <a:ext cx="324036" cy="1620180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肘形连接符 24">
            <a:extLst>
              <a:ext uri="{FF2B5EF4-FFF2-40B4-BE49-F238E27FC236}">
                <a16:creationId xmlns:a16="http://schemas.microsoft.com/office/drawing/2014/main" id="{092B6A78-F362-8E4D-A27B-4E6173DF1AA8}"/>
              </a:ext>
            </a:extLst>
          </p:cNvPr>
          <p:cNvCxnSpPr>
            <a:cxnSpLocks/>
            <a:stCxn id="7" idx="1"/>
            <a:endCxn id="3" idx="1"/>
          </p:cNvCxnSpPr>
          <p:nvPr/>
        </p:nvCxnSpPr>
        <p:spPr>
          <a:xfrm rot="10800000">
            <a:off x="971600" y="2029408"/>
            <a:ext cx="12700" cy="2376264"/>
          </a:xfrm>
          <a:prstGeom prst="bentConnector3">
            <a:avLst>
              <a:gd name="adj1" fmla="val 180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C339FE0D-F682-1A42-A9FC-6F52D41B2479}"/>
              </a:ext>
            </a:extLst>
          </p:cNvPr>
          <p:cNvSpPr txBox="1"/>
          <p:nvPr/>
        </p:nvSpPr>
        <p:spPr>
          <a:xfrm>
            <a:off x="5184000" y="2281436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Entry</a:t>
            </a:r>
            <a:endParaRPr kumimoji="1"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E78F3F8-E32E-7047-BBBB-15EBD8F7D20B}"/>
              </a:ext>
            </a:extLst>
          </p:cNvPr>
          <p:cNvSpPr txBox="1"/>
          <p:nvPr/>
        </p:nvSpPr>
        <p:spPr>
          <a:xfrm>
            <a:off x="5184000" y="3865612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Exit</a:t>
            </a:r>
            <a:endParaRPr kumimoji="1"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0D86516-A1E4-3D45-84DD-15C509C049DA}"/>
              </a:ext>
            </a:extLst>
          </p:cNvPr>
          <p:cNvSpPr txBox="1"/>
          <p:nvPr/>
        </p:nvSpPr>
        <p:spPr>
          <a:xfrm>
            <a:off x="2987824" y="1705372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System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</a:t>
            </a:r>
            <a:endParaRPr kumimoji="1"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9E20566-E7F0-3B49-8D78-811DEC01FD88}"/>
              </a:ext>
            </a:extLst>
          </p:cNvPr>
          <p:cNvSpPr txBox="1"/>
          <p:nvPr/>
        </p:nvSpPr>
        <p:spPr>
          <a:xfrm>
            <a:off x="3059832" y="4513684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Return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user</a:t>
            </a:r>
            <a:endParaRPr kumimoji="1" lang="zh-CN" altLang="en-US" dirty="0"/>
          </a:p>
        </p:txBody>
      </p: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1A55BB45-FFAA-7740-9558-7FECBBFD35B9}"/>
              </a:ext>
            </a:extLst>
          </p:cNvPr>
          <p:cNvCxnSpPr>
            <a:cxnSpLocks/>
          </p:cNvCxnSpPr>
          <p:nvPr/>
        </p:nvCxnSpPr>
        <p:spPr>
          <a:xfrm>
            <a:off x="2915816" y="985292"/>
            <a:ext cx="0" cy="4176464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3357811B-B090-DC43-AE8C-27A0997A5BC6}"/>
              </a:ext>
            </a:extLst>
          </p:cNvPr>
          <p:cNvCxnSpPr>
            <a:cxnSpLocks/>
          </p:cNvCxnSpPr>
          <p:nvPr/>
        </p:nvCxnSpPr>
        <p:spPr>
          <a:xfrm>
            <a:off x="5652120" y="1057300"/>
            <a:ext cx="0" cy="4176464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98148BAB-CE09-AC43-8817-1C59B8B93B26}"/>
              </a:ext>
            </a:extLst>
          </p:cNvPr>
          <p:cNvCxnSpPr/>
          <p:nvPr/>
        </p:nvCxnSpPr>
        <p:spPr>
          <a:xfrm>
            <a:off x="2195736" y="1201316"/>
            <a:ext cx="720080" cy="0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D44DE887-1B1B-F643-A690-1A3782EBD786}"/>
              </a:ext>
            </a:extLst>
          </p:cNvPr>
          <p:cNvCxnSpPr>
            <a:cxnSpLocks/>
          </p:cNvCxnSpPr>
          <p:nvPr/>
        </p:nvCxnSpPr>
        <p:spPr>
          <a:xfrm flipH="1">
            <a:off x="683568" y="1201316"/>
            <a:ext cx="728464" cy="0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FA735F01-6343-F141-85C5-744CD6BBCAE8}"/>
              </a:ext>
            </a:extLst>
          </p:cNvPr>
          <p:cNvSpPr txBox="1"/>
          <p:nvPr/>
        </p:nvSpPr>
        <p:spPr>
          <a:xfrm>
            <a:off x="1368000" y="100800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QEMU</a:t>
            </a:r>
            <a:endParaRPr kumimoji="1" lang="zh-CN" altLang="en-US" dirty="0"/>
          </a:p>
        </p:txBody>
      </p: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ECB68EC9-B6BB-FA43-89E2-2F58473FB59F}"/>
              </a:ext>
            </a:extLst>
          </p:cNvPr>
          <p:cNvCxnSpPr>
            <a:cxnSpLocks/>
          </p:cNvCxnSpPr>
          <p:nvPr/>
        </p:nvCxnSpPr>
        <p:spPr>
          <a:xfrm>
            <a:off x="4572000" y="1201316"/>
            <a:ext cx="1008112" cy="0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085C2AB8-757B-6D4D-BD54-E08EE1E61FDD}"/>
              </a:ext>
            </a:extLst>
          </p:cNvPr>
          <p:cNvCxnSpPr>
            <a:cxnSpLocks/>
          </p:cNvCxnSpPr>
          <p:nvPr/>
        </p:nvCxnSpPr>
        <p:spPr>
          <a:xfrm flipH="1">
            <a:off x="2987824" y="1201316"/>
            <a:ext cx="800472" cy="0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E2351D05-89E6-0A43-AC88-0CB3AD6748E0}"/>
              </a:ext>
            </a:extLst>
          </p:cNvPr>
          <p:cNvSpPr txBox="1"/>
          <p:nvPr/>
        </p:nvSpPr>
        <p:spPr>
          <a:xfrm>
            <a:off x="3888000" y="1008000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KVM</a:t>
            </a:r>
            <a:endParaRPr kumimoji="1" lang="zh-CN" altLang="en-US" dirty="0"/>
          </a:p>
        </p:txBody>
      </p: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0FE1BCE9-C974-6642-8994-F907F057DAE3}"/>
              </a:ext>
            </a:extLst>
          </p:cNvPr>
          <p:cNvCxnSpPr>
            <a:cxnSpLocks/>
          </p:cNvCxnSpPr>
          <p:nvPr/>
        </p:nvCxnSpPr>
        <p:spPr>
          <a:xfrm>
            <a:off x="6732240" y="1201316"/>
            <a:ext cx="1008112" cy="0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8E5251E9-A8D4-404F-B440-B051C36DBF31}"/>
              </a:ext>
            </a:extLst>
          </p:cNvPr>
          <p:cNvCxnSpPr>
            <a:cxnSpLocks/>
          </p:cNvCxnSpPr>
          <p:nvPr/>
        </p:nvCxnSpPr>
        <p:spPr>
          <a:xfrm flipH="1">
            <a:off x="5652120" y="1201316"/>
            <a:ext cx="576064" cy="0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A1F68F72-FB63-534A-9DE3-0ECC2896CE52}"/>
              </a:ext>
            </a:extLst>
          </p:cNvPr>
          <p:cNvSpPr txBox="1"/>
          <p:nvPr/>
        </p:nvSpPr>
        <p:spPr>
          <a:xfrm>
            <a:off x="6228000" y="100800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88230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例：</a:t>
            </a:r>
            <a:r>
              <a:rPr kumimoji="1" lang="en-US" altLang="zh-CN" dirty="0"/>
              <a:t>WFI</a:t>
            </a:r>
            <a:r>
              <a:rPr kumimoji="1" lang="zh-CN" altLang="en-US" dirty="0"/>
              <a:t>指令</a:t>
            </a:r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Exit</a:t>
            </a:r>
            <a:r>
              <a:rPr kumimoji="1" lang="zh-CN" altLang="en-US" dirty="0"/>
              <a:t>的处理流程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CE0AA5-CA98-1741-8F2F-8FC03B649F7D}"/>
              </a:ext>
            </a:extLst>
          </p:cNvPr>
          <p:cNvSpPr/>
          <p:nvPr/>
        </p:nvSpPr>
        <p:spPr>
          <a:xfrm>
            <a:off x="982910" y="1633364"/>
            <a:ext cx="1665624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BE384B"/>
                </a:solidFill>
              </a:rPr>
              <a:t>VCPU</a:t>
            </a:r>
            <a:r>
              <a:rPr kumimoji="1" lang="zh-CN" altLang="en-US" dirty="0">
                <a:solidFill>
                  <a:srgbClr val="BE384B"/>
                </a:solidFill>
              </a:rPr>
              <a:t> </a:t>
            </a:r>
            <a:r>
              <a:rPr kumimoji="1" lang="en-US" altLang="zh-CN" dirty="0">
                <a:solidFill>
                  <a:srgbClr val="BE384B"/>
                </a:solidFill>
              </a:rPr>
              <a:t>1</a:t>
            </a:r>
            <a:endParaRPr kumimoji="1" lang="zh-CN" altLang="en-US" dirty="0">
              <a:solidFill>
                <a:srgbClr val="BE384B"/>
              </a:solidFill>
            </a:endParaRP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23B7711A-C620-1D48-AA4E-5E967FD2BA33}"/>
              </a:ext>
            </a:extLst>
          </p:cNvPr>
          <p:cNvCxnSpPr>
            <a:cxnSpLocks/>
            <a:stCxn id="11" idx="2"/>
            <a:endCxn id="17" idx="0"/>
          </p:cNvCxnSpPr>
          <p:nvPr/>
        </p:nvCxnSpPr>
        <p:spPr>
          <a:xfrm>
            <a:off x="1782410" y="2497460"/>
            <a:ext cx="359" cy="1008112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06A5300-F1BE-F847-B279-8B2FC6440AFA}"/>
              </a:ext>
            </a:extLst>
          </p:cNvPr>
          <p:cNvSpPr txBox="1"/>
          <p:nvPr/>
        </p:nvSpPr>
        <p:spPr>
          <a:xfrm>
            <a:off x="1835696" y="2785492"/>
            <a:ext cx="906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Exit</a:t>
            </a:r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0DB9534-F719-A44D-89AF-11E6F12139A2}"/>
              </a:ext>
            </a:extLst>
          </p:cNvPr>
          <p:cNvSpPr/>
          <p:nvPr/>
        </p:nvSpPr>
        <p:spPr>
          <a:xfrm>
            <a:off x="1382660" y="2209428"/>
            <a:ext cx="799500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WFI</a:t>
            </a:r>
            <a:endParaRPr kumimoji="1" lang="zh-CN" altLang="en-US" sz="12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600CE4A-87BE-2743-9E7C-B31198768F1F}"/>
              </a:ext>
            </a:extLst>
          </p:cNvPr>
          <p:cNvSpPr/>
          <p:nvPr/>
        </p:nvSpPr>
        <p:spPr>
          <a:xfrm>
            <a:off x="982910" y="3289548"/>
            <a:ext cx="3664374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/>
          <a:lstStyle/>
          <a:p>
            <a:pPr algn="r"/>
            <a:r>
              <a:rPr kumimoji="1" lang="en-US" altLang="zh-CN" dirty="0">
                <a:solidFill>
                  <a:srgbClr val="BE384B"/>
                </a:solidFill>
              </a:rPr>
              <a:t>KVM</a:t>
            </a:r>
            <a:endParaRPr kumimoji="1" lang="zh-CN" altLang="en-US" dirty="0">
              <a:solidFill>
                <a:srgbClr val="BE384B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A25FB28-BFD1-4543-92BD-A66FBD493521}"/>
              </a:ext>
            </a:extLst>
          </p:cNvPr>
          <p:cNvSpPr/>
          <p:nvPr/>
        </p:nvSpPr>
        <p:spPr>
          <a:xfrm>
            <a:off x="1149832" y="3505572"/>
            <a:ext cx="1265875" cy="5760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保存</a:t>
            </a:r>
            <a:endParaRPr kumimoji="1" lang="en-US" altLang="zh-CN" sz="1600" dirty="0"/>
          </a:p>
          <a:p>
            <a:pPr algn="ctr"/>
            <a:r>
              <a:rPr kumimoji="1" lang="en-US" altLang="zh-CN" sz="1600" dirty="0"/>
              <a:t>VCPU</a:t>
            </a:r>
            <a:r>
              <a:rPr kumimoji="1" lang="zh-CN" altLang="en-US" sz="1600" dirty="0"/>
              <a:t>状态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AC8ACC9-314D-4A4D-BF24-BA0ADE7207B7}"/>
              </a:ext>
            </a:extLst>
          </p:cNvPr>
          <p:cNvSpPr/>
          <p:nvPr/>
        </p:nvSpPr>
        <p:spPr>
          <a:xfrm>
            <a:off x="3181535" y="3505572"/>
            <a:ext cx="1365453" cy="5760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handle_wfx</a:t>
            </a:r>
            <a:endParaRPr kumimoji="1" lang="en-US" altLang="zh-CN" dirty="0"/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C150C70F-468F-AD4F-A587-2C512F087185}"/>
              </a:ext>
            </a:extLst>
          </p:cNvPr>
          <p:cNvCxnSpPr>
            <a:cxnSpLocks/>
          </p:cNvCxnSpPr>
          <p:nvPr/>
        </p:nvCxnSpPr>
        <p:spPr>
          <a:xfrm>
            <a:off x="2448660" y="3793604"/>
            <a:ext cx="732875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1E960ECB-18CC-964E-96C6-774898D0F9C1}"/>
              </a:ext>
            </a:extLst>
          </p:cNvPr>
          <p:cNvSpPr/>
          <p:nvPr/>
        </p:nvSpPr>
        <p:spPr>
          <a:xfrm>
            <a:off x="4847159" y="3289548"/>
            <a:ext cx="2131999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/>
          <a:lstStyle/>
          <a:p>
            <a:pPr algn="r"/>
            <a:r>
              <a:rPr kumimoji="1" lang="en-US" altLang="zh-CN" dirty="0">
                <a:solidFill>
                  <a:srgbClr val="BE384B"/>
                </a:solidFill>
              </a:rPr>
              <a:t>Linux</a:t>
            </a:r>
            <a:r>
              <a:rPr kumimoji="1" lang="zh-CN" altLang="en-US" dirty="0">
                <a:solidFill>
                  <a:srgbClr val="BE384B"/>
                </a:solidFill>
              </a:rPr>
              <a:t> </a:t>
            </a:r>
            <a:r>
              <a:rPr kumimoji="1" lang="en-US" altLang="zh-CN" dirty="0">
                <a:solidFill>
                  <a:srgbClr val="BE384B"/>
                </a:solidFill>
              </a:rPr>
              <a:t>Kernel</a:t>
            </a:r>
            <a:endParaRPr kumimoji="1" lang="zh-CN" altLang="en-US" dirty="0">
              <a:solidFill>
                <a:srgbClr val="BE384B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D4D167C-4AE6-CE4E-8652-7DFBA3A492D2}"/>
              </a:ext>
            </a:extLst>
          </p:cNvPr>
          <p:cNvSpPr/>
          <p:nvPr/>
        </p:nvSpPr>
        <p:spPr>
          <a:xfrm>
            <a:off x="5246909" y="3505572"/>
            <a:ext cx="1365453" cy="5760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reschedule</a:t>
            </a:r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86B1FE98-87AB-2449-B003-7047A9010444}"/>
              </a:ext>
            </a:extLst>
          </p:cNvPr>
          <p:cNvCxnSpPr>
            <a:cxnSpLocks/>
          </p:cNvCxnSpPr>
          <p:nvPr/>
        </p:nvCxnSpPr>
        <p:spPr>
          <a:xfrm>
            <a:off x="4514034" y="3793604"/>
            <a:ext cx="732875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118F5CEF-F8DD-A641-881D-E3BFFD5CFEC6}"/>
              </a:ext>
            </a:extLst>
          </p:cNvPr>
          <p:cNvSpPr/>
          <p:nvPr/>
        </p:nvSpPr>
        <p:spPr>
          <a:xfrm>
            <a:off x="7179033" y="3289548"/>
            <a:ext cx="1532374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/>
          <a:lstStyle/>
          <a:p>
            <a:pPr algn="r"/>
            <a:r>
              <a:rPr kumimoji="1" lang="en-US" altLang="zh-CN" dirty="0">
                <a:solidFill>
                  <a:srgbClr val="BE384B"/>
                </a:solidFill>
              </a:rPr>
              <a:t>KVM</a:t>
            </a:r>
            <a:endParaRPr kumimoji="1" lang="zh-CN" altLang="en-US" dirty="0">
              <a:solidFill>
                <a:srgbClr val="BE384B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0010CA4-84B5-1840-A48F-0D2193570653}"/>
              </a:ext>
            </a:extLst>
          </p:cNvPr>
          <p:cNvSpPr/>
          <p:nvPr/>
        </p:nvSpPr>
        <p:spPr>
          <a:xfrm>
            <a:off x="7312283" y="3433564"/>
            <a:ext cx="1265875" cy="5760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恢复</a:t>
            </a:r>
            <a:endParaRPr kumimoji="1" lang="en-US" altLang="zh-CN" sz="1600" dirty="0"/>
          </a:p>
          <a:p>
            <a:pPr algn="ctr"/>
            <a:r>
              <a:rPr kumimoji="1" lang="en-US" altLang="zh-CN" sz="1600" dirty="0"/>
              <a:t>VCPU</a:t>
            </a:r>
            <a:r>
              <a:rPr kumimoji="1" lang="zh-CN" altLang="en-US" sz="1600" dirty="0"/>
              <a:t>状态</a:t>
            </a:r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4113D68F-110D-F847-A0E4-DEE3A4A32436}"/>
              </a:ext>
            </a:extLst>
          </p:cNvPr>
          <p:cNvCxnSpPr>
            <a:cxnSpLocks/>
          </p:cNvCxnSpPr>
          <p:nvPr/>
        </p:nvCxnSpPr>
        <p:spPr>
          <a:xfrm>
            <a:off x="6579408" y="3793604"/>
            <a:ext cx="732875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B02A2B2D-0DE3-9647-9A31-C2966793C51D}"/>
              </a:ext>
            </a:extLst>
          </p:cNvPr>
          <p:cNvSpPr/>
          <p:nvPr/>
        </p:nvSpPr>
        <p:spPr>
          <a:xfrm>
            <a:off x="7045783" y="1705372"/>
            <a:ext cx="1665624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BE384B"/>
                </a:solidFill>
              </a:rPr>
              <a:t>VCPU</a:t>
            </a:r>
            <a:r>
              <a:rPr kumimoji="1" lang="zh-CN" altLang="en-US" dirty="0">
                <a:solidFill>
                  <a:srgbClr val="BE384B"/>
                </a:solidFill>
              </a:rPr>
              <a:t> </a:t>
            </a:r>
            <a:r>
              <a:rPr kumimoji="1" lang="en-US" altLang="zh-CN" dirty="0">
                <a:solidFill>
                  <a:srgbClr val="BE384B"/>
                </a:solidFill>
              </a:rPr>
              <a:t>2</a:t>
            </a:r>
            <a:endParaRPr kumimoji="1" lang="zh-CN" altLang="en-US" dirty="0">
              <a:solidFill>
                <a:srgbClr val="BE384B"/>
              </a:solidFill>
            </a:endParaRPr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91B87027-58F1-CB47-A994-449517836096}"/>
              </a:ext>
            </a:extLst>
          </p:cNvPr>
          <p:cNvCxnSpPr>
            <a:cxnSpLocks/>
          </p:cNvCxnSpPr>
          <p:nvPr/>
        </p:nvCxnSpPr>
        <p:spPr>
          <a:xfrm>
            <a:off x="7911908" y="2209428"/>
            <a:ext cx="0" cy="1152128"/>
          </a:xfrm>
          <a:prstGeom prst="straightConnector1">
            <a:avLst/>
          </a:prstGeom>
          <a:ln w="381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F366FF41-5679-9945-852D-3D7F40ACC385}"/>
              </a:ext>
            </a:extLst>
          </p:cNvPr>
          <p:cNvSpPr txBox="1"/>
          <p:nvPr/>
        </p:nvSpPr>
        <p:spPr>
          <a:xfrm>
            <a:off x="7911908" y="2713484"/>
            <a:ext cx="1048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Entry</a:t>
            </a:r>
            <a:endParaRPr kumimoji="1" lang="zh-CN" altLang="en-US" dirty="0"/>
          </a:p>
        </p:txBody>
      </p:sp>
      <p:cxnSp>
        <p:nvCxnSpPr>
          <p:cNvPr id="37" name="直线连接符 36">
            <a:extLst>
              <a:ext uri="{FF2B5EF4-FFF2-40B4-BE49-F238E27FC236}">
                <a16:creationId xmlns:a16="http://schemas.microsoft.com/office/drawing/2014/main" id="{09C4B836-45CA-C64A-B3D7-D2B4312CCCAD}"/>
              </a:ext>
            </a:extLst>
          </p:cNvPr>
          <p:cNvCxnSpPr/>
          <p:nvPr/>
        </p:nvCxnSpPr>
        <p:spPr>
          <a:xfrm>
            <a:off x="683568" y="2641476"/>
            <a:ext cx="8460432" cy="0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AC062021-0190-C14A-9CC9-B6D2606A8425}"/>
              </a:ext>
            </a:extLst>
          </p:cNvPr>
          <p:cNvSpPr txBox="1"/>
          <p:nvPr/>
        </p:nvSpPr>
        <p:spPr>
          <a:xfrm>
            <a:off x="0" y="170537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EL0&amp;1</a:t>
            </a:r>
            <a:endParaRPr kumimoji="1"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80313D7-DE95-8F4D-88B1-BD5A0B3DFE6B}"/>
              </a:ext>
            </a:extLst>
          </p:cNvPr>
          <p:cNvSpPr txBox="1"/>
          <p:nvPr/>
        </p:nvSpPr>
        <p:spPr>
          <a:xfrm>
            <a:off x="107504" y="3505572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EL2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1208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animBg="1"/>
      <p:bldP spid="13" grpId="0" animBg="1"/>
      <p:bldP spid="17" grpId="0" animBg="1"/>
      <p:bldP spid="22" grpId="0" animBg="1"/>
      <p:bldP spid="25" grpId="0" animBg="1"/>
      <p:bldP spid="26" grpId="0" animBg="1"/>
      <p:bldP spid="29" grpId="0" animBg="1"/>
      <p:bldP spid="30" grpId="0" animBg="1"/>
      <p:bldP spid="32" grpId="0" animBg="1"/>
      <p:bldP spid="3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例：</a:t>
            </a:r>
            <a:r>
              <a:rPr kumimoji="1" lang="en-US" altLang="zh-CN" dirty="0"/>
              <a:t>I/O</a:t>
            </a:r>
            <a:r>
              <a:rPr kumimoji="1" lang="zh-CN" altLang="en-US" dirty="0"/>
              <a:t>指令</a:t>
            </a:r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Exit</a:t>
            </a:r>
            <a:r>
              <a:rPr kumimoji="1" lang="zh-CN" altLang="en-US" dirty="0"/>
              <a:t>的处理流程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CE0AA5-CA98-1741-8F2F-8FC03B649F7D}"/>
              </a:ext>
            </a:extLst>
          </p:cNvPr>
          <p:cNvSpPr/>
          <p:nvPr/>
        </p:nvSpPr>
        <p:spPr>
          <a:xfrm>
            <a:off x="2195736" y="1345332"/>
            <a:ext cx="1800200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BE384B"/>
                </a:solidFill>
              </a:rPr>
              <a:t>VCPU</a:t>
            </a:r>
            <a:r>
              <a:rPr kumimoji="1" lang="zh-CN" altLang="en-US" dirty="0">
                <a:solidFill>
                  <a:srgbClr val="BE384B"/>
                </a:solidFill>
              </a:rPr>
              <a:t> </a:t>
            </a:r>
            <a:r>
              <a:rPr kumimoji="1" lang="en-US" altLang="zh-CN" dirty="0">
                <a:solidFill>
                  <a:srgbClr val="BE384B"/>
                </a:solidFill>
              </a:rPr>
              <a:t>1</a:t>
            </a:r>
            <a:endParaRPr kumimoji="1" lang="zh-CN" altLang="en-US" dirty="0">
              <a:solidFill>
                <a:srgbClr val="BE384B"/>
              </a:solidFill>
            </a:endParaRP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23B7711A-C620-1D48-AA4E-5E967FD2BA33}"/>
              </a:ext>
            </a:extLst>
          </p:cNvPr>
          <p:cNvCxnSpPr>
            <a:cxnSpLocks/>
          </p:cNvCxnSpPr>
          <p:nvPr/>
        </p:nvCxnSpPr>
        <p:spPr>
          <a:xfrm>
            <a:off x="2843808" y="2209428"/>
            <a:ext cx="0" cy="1008112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06A5300-F1BE-F847-B279-8B2FC6440AFA}"/>
              </a:ext>
            </a:extLst>
          </p:cNvPr>
          <p:cNvSpPr txBox="1"/>
          <p:nvPr/>
        </p:nvSpPr>
        <p:spPr>
          <a:xfrm>
            <a:off x="1872208" y="2641476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Exit</a:t>
            </a:r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0DB9534-F719-A44D-89AF-11E6F12139A2}"/>
              </a:ext>
            </a:extLst>
          </p:cNvPr>
          <p:cNvSpPr/>
          <p:nvPr/>
        </p:nvSpPr>
        <p:spPr>
          <a:xfrm>
            <a:off x="2411760" y="1921396"/>
            <a:ext cx="648072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MMIO</a:t>
            </a:r>
            <a:endParaRPr kumimoji="1" lang="zh-CN" altLang="en-US" sz="12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600CE4A-87BE-2743-9E7C-B31198768F1F}"/>
              </a:ext>
            </a:extLst>
          </p:cNvPr>
          <p:cNvSpPr/>
          <p:nvPr/>
        </p:nvSpPr>
        <p:spPr>
          <a:xfrm>
            <a:off x="2195736" y="3001516"/>
            <a:ext cx="1872208" cy="21602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/>
          <a:lstStyle/>
          <a:p>
            <a:pPr algn="r"/>
            <a:r>
              <a:rPr kumimoji="1" lang="en-US" altLang="zh-CN" dirty="0">
                <a:solidFill>
                  <a:srgbClr val="BE384B"/>
                </a:solidFill>
              </a:rPr>
              <a:t>KVM</a:t>
            </a:r>
            <a:endParaRPr kumimoji="1" lang="zh-CN" altLang="en-US" dirty="0">
              <a:solidFill>
                <a:srgbClr val="BE384B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A25FB28-BFD1-4543-92BD-A66FBD493521}"/>
              </a:ext>
            </a:extLst>
          </p:cNvPr>
          <p:cNvSpPr/>
          <p:nvPr/>
        </p:nvSpPr>
        <p:spPr>
          <a:xfrm>
            <a:off x="2376144" y="3217540"/>
            <a:ext cx="1368152" cy="5760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保存</a:t>
            </a:r>
            <a:r>
              <a:rPr kumimoji="1" lang="en-US" altLang="zh-CN" dirty="0"/>
              <a:t>/</a:t>
            </a:r>
            <a:r>
              <a:rPr kumimoji="1" lang="zh-CN" altLang="en-US" dirty="0"/>
              <a:t>恢复</a:t>
            </a:r>
            <a:endParaRPr kumimoji="1" lang="en-US" altLang="zh-CN" dirty="0"/>
          </a:p>
          <a:p>
            <a:pPr algn="ctr"/>
            <a:r>
              <a:rPr kumimoji="1" lang="en-US" altLang="zh-CN" dirty="0"/>
              <a:t>VCPU</a:t>
            </a:r>
            <a:r>
              <a:rPr kumimoji="1" lang="zh-CN" altLang="en-US" dirty="0"/>
              <a:t>状态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AC8ACC9-314D-4A4D-BF24-BA0ADE7207B7}"/>
              </a:ext>
            </a:extLst>
          </p:cNvPr>
          <p:cNvSpPr/>
          <p:nvPr/>
        </p:nvSpPr>
        <p:spPr>
          <a:xfrm>
            <a:off x="2376208" y="4166765"/>
            <a:ext cx="1368152" cy="5760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handle_io</a:t>
            </a:r>
            <a:endParaRPr kumimoji="1" lang="en-US" altLang="zh-CN" dirty="0"/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C150C70F-468F-AD4F-A587-2C512F087185}"/>
              </a:ext>
            </a:extLst>
          </p:cNvPr>
          <p:cNvCxnSpPr>
            <a:cxnSpLocks/>
            <a:stCxn id="17" idx="2"/>
            <a:endCxn id="22" idx="0"/>
          </p:cNvCxnSpPr>
          <p:nvPr/>
        </p:nvCxnSpPr>
        <p:spPr>
          <a:xfrm>
            <a:off x="3060220" y="3793604"/>
            <a:ext cx="64" cy="37316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1E960ECB-18CC-964E-96C6-774898D0F9C1}"/>
              </a:ext>
            </a:extLst>
          </p:cNvPr>
          <p:cNvSpPr/>
          <p:nvPr/>
        </p:nvSpPr>
        <p:spPr>
          <a:xfrm>
            <a:off x="5004048" y="1273324"/>
            <a:ext cx="2304256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/>
          <a:lstStyle/>
          <a:p>
            <a:pPr algn="r"/>
            <a:r>
              <a:rPr kumimoji="1" lang="en-US" altLang="zh-CN" dirty="0">
                <a:solidFill>
                  <a:srgbClr val="BE384B"/>
                </a:solidFill>
              </a:rPr>
              <a:t>QEMU</a:t>
            </a:r>
            <a:endParaRPr kumimoji="1" lang="zh-CN" altLang="en-US" dirty="0">
              <a:solidFill>
                <a:srgbClr val="BE384B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D4D167C-4AE6-CE4E-8652-7DFBA3A492D2}"/>
              </a:ext>
            </a:extLst>
          </p:cNvPr>
          <p:cNvSpPr/>
          <p:nvPr/>
        </p:nvSpPr>
        <p:spPr>
          <a:xfrm>
            <a:off x="5508104" y="1489348"/>
            <a:ext cx="1475776" cy="5760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处理</a:t>
            </a:r>
            <a:r>
              <a:rPr kumimoji="1" lang="en-US" altLang="zh-CN" dirty="0"/>
              <a:t>IO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366FF41-5679-9945-852D-3D7F40ACC385}"/>
              </a:ext>
            </a:extLst>
          </p:cNvPr>
          <p:cNvSpPr txBox="1"/>
          <p:nvPr/>
        </p:nvSpPr>
        <p:spPr>
          <a:xfrm>
            <a:off x="3203848" y="2641476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Entry</a:t>
            </a:r>
            <a:endParaRPr kumimoji="1" lang="zh-CN" altLang="en-US" dirty="0"/>
          </a:p>
        </p:txBody>
      </p:sp>
      <p:cxnSp>
        <p:nvCxnSpPr>
          <p:cNvPr id="19" name="肘形连接符 18">
            <a:extLst>
              <a:ext uri="{FF2B5EF4-FFF2-40B4-BE49-F238E27FC236}">
                <a16:creationId xmlns:a16="http://schemas.microsoft.com/office/drawing/2014/main" id="{997CACC6-1B46-B847-8FC1-E7F7E0D25B98}"/>
              </a:ext>
            </a:extLst>
          </p:cNvPr>
          <p:cNvCxnSpPr>
            <a:cxnSpLocks/>
            <a:stCxn id="22" idx="3"/>
            <a:endCxn id="26" idx="3"/>
          </p:cNvCxnSpPr>
          <p:nvPr/>
        </p:nvCxnSpPr>
        <p:spPr>
          <a:xfrm flipV="1">
            <a:off x="3744360" y="1777380"/>
            <a:ext cx="3239520" cy="2677417"/>
          </a:xfrm>
          <a:prstGeom prst="bentConnector3">
            <a:avLst>
              <a:gd name="adj1" fmla="val 107057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71F9722A-3E5E-8C45-927D-B75FB08CD623}"/>
              </a:ext>
            </a:extLst>
          </p:cNvPr>
          <p:cNvCxnSpPr>
            <a:cxnSpLocks/>
          </p:cNvCxnSpPr>
          <p:nvPr/>
        </p:nvCxnSpPr>
        <p:spPr>
          <a:xfrm>
            <a:off x="1259632" y="2641476"/>
            <a:ext cx="6696744" cy="0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肘形连接符 35">
            <a:extLst>
              <a:ext uri="{FF2B5EF4-FFF2-40B4-BE49-F238E27FC236}">
                <a16:creationId xmlns:a16="http://schemas.microsoft.com/office/drawing/2014/main" id="{B8991A87-BD50-FF44-840A-9984591E6915}"/>
              </a:ext>
            </a:extLst>
          </p:cNvPr>
          <p:cNvCxnSpPr>
            <a:cxnSpLocks/>
            <a:stCxn id="26" idx="1"/>
            <a:endCxn id="17" idx="3"/>
          </p:cNvCxnSpPr>
          <p:nvPr/>
        </p:nvCxnSpPr>
        <p:spPr>
          <a:xfrm rot="10800000" flipV="1">
            <a:off x="3744296" y="1777380"/>
            <a:ext cx="1763808" cy="1728192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AEE96793-4F9F-9948-95B4-1C062F6AE842}"/>
              </a:ext>
            </a:extLst>
          </p:cNvPr>
          <p:cNvCxnSpPr>
            <a:cxnSpLocks/>
          </p:cNvCxnSpPr>
          <p:nvPr/>
        </p:nvCxnSpPr>
        <p:spPr>
          <a:xfrm>
            <a:off x="3203848" y="1849388"/>
            <a:ext cx="0" cy="1368152"/>
          </a:xfrm>
          <a:prstGeom prst="straightConnector1">
            <a:avLst/>
          </a:prstGeom>
          <a:ln w="381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2EE0001D-4C98-3C45-AE07-FB112C6319F0}"/>
              </a:ext>
            </a:extLst>
          </p:cNvPr>
          <p:cNvSpPr txBox="1"/>
          <p:nvPr/>
        </p:nvSpPr>
        <p:spPr>
          <a:xfrm>
            <a:off x="1152128" y="177738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EL0&amp;1</a:t>
            </a:r>
            <a:endParaRPr kumimoji="1"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E0EDE41-36FB-0D4A-BB84-DD79F8B5B8EB}"/>
              </a:ext>
            </a:extLst>
          </p:cNvPr>
          <p:cNvSpPr txBox="1"/>
          <p:nvPr/>
        </p:nvSpPr>
        <p:spPr>
          <a:xfrm>
            <a:off x="1259632" y="3577580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EL2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8118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animBg="1"/>
      <p:bldP spid="13" grpId="0" animBg="1"/>
      <p:bldP spid="17" grpId="0" animBg="1"/>
      <p:bldP spid="22" grpId="0" animBg="1"/>
      <p:bldP spid="25" grpId="0" animBg="1"/>
      <p:bldP spid="26" grpId="0" animBg="1"/>
      <p:bldP spid="3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</a:t>
            </a:r>
            <a:r>
              <a:rPr kumimoji="1" lang="zh-CN" altLang="en-US" b="1" dirty="0"/>
              <a:t>虚拟化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Memory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Virtualization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68F72CF8-9211-EE45-9468-F698C90541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3202704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6E7F60-9B62-7445-9D2D-2EF7CAA69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为什么需要内存虚拟化</a:t>
            </a:r>
            <a:r>
              <a:rPr kumimoji="1" lang="en-US" altLang="zh-CN" dirty="0"/>
              <a:t>?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643B9F-9D8F-2642-8B7F-FE7DD94BD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操作系统内核直接管理物理内存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物理地址从</a:t>
            </a:r>
            <a:r>
              <a:rPr kumimoji="1" lang="en-US" altLang="zh-CN" sz="1800" dirty="0"/>
              <a:t>0</a:t>
            </a:r>
            <a:r>
              <a:rPr kumimoji="1" lang="zh-CN" altLang="en-US" sz="1800" dirty="0"/>
              <a:t>开始连续增长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向上层进程提供虚拟内存的抽象</a:t>
            </a:r>
            <a:endParaRPr kumimoji="1" lang="en-US" altLang="zh-CN" sz="1800" dirty="0"/>
          </a:p>
          <a:p>
            <a:r>
              <a:rPr kumimoji="1" lang="zh-CN" altLang="en-US" sz="2000" dirty="0"/>
              <a:t>如果</a:t>
            </a:r>
            <a:r>
              <a:rPr kumimoji="1" lang="en-US" altLang="zh-CN" sz="2000" dirty="0"/>
              <a:t>VM</a:t>
            </a:r>
            <a:r>
              <a:rPr kumimoji="1" lang="zh-CN" altLang="en-US" sz="2000" dirty="0"/>
              <a:t>使用的是真实物理地址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A898D7-CDA9-CD44-92BD-2291D9FDC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AD7939-81F3-DF4F-AD4E-69B72F1632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6" name="Rectangle 24">
            <a:extLst>
              <a:ext uri="{FF2B5EF4-FFF2-40B4-BE49-F238E27FC236}">
                <a16:creationId xmlns:a16="http://schemas.microsoft.com/office/drawing/2014/main" id="{3E64C4DD-090B-C346-BE35-5942885564F7}"/>
              </a:ext>
            </a:extLst>
          </p:cNvPr>
          <p:cNvSpPr/>
          <p:nvPr/>
        </p:nvSpPr>
        <p:spPr>
          <a:xfrm>
            <a:off x="1115616" y="4801716"/>
            <a:ext cx="6336704" cy="38546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47" name="Rectangle 27">
            <a:extLst>
              <a:ext uri="{FF2B5EF4-FFF2-40B4-BE49-F238E27FC236}">
                <a16:creationId xmlns:a16="http://schemas.microsoft.com/office/drawing/2014/main" id="{1AB40DE7-AB61-A64C-BE83-9029A602FF37}"/>
              </a:ext>
            </a:extLst>
          </p:cNvPr>
          <p:cNvSpPr/>
          <p:nvPr/>
        </p:nvSpPr>
        <p:spPr>
          <a:xfrm>
            <a:off x="1187624" y="3865612"/>
            <a:ext cx="1800200" cy="462028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Kernel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48" name="Straight Connector 13">
            <a:extLst>
              <a:ext uri="{FF2B5EF4-FFF2-40B4-BE49-F238E27FC236}">
                <a16:creationId xmlns:a16="http://schemas.microsoft.com/office/drawing/2014/main" id="{282DCD65-96D9-AD44-A344-3FC5C3DA90C3}"/>
              </a:ext>
            </a:extLst>
          </p:cNvPr>
          <p:cNvCxnSpPr>
            <a:cxnSpLocks/>
          </p:cNvCxnSpPr>
          <p:nvPr/>
        </p:nvCxnSpPr>
        <p:spPr>
          <a:xfrm>
            <a:off x="971600" y="4657700"/>
            <a:ext cx="6552728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27">
            <a:extLst>
              <a:ext uri="{FF2B5EF4-FFF2-40B4-BE49-F238E27FC236}">
                <a16:creationId xmlns:a16="http://schemas.microsoft.com/office/drawing/2014/main" id="{0B66DD2C-0B4C-0745-A25D-756691BC4543}"/>
              </a:ext>
            </a:extLst>
          </p:cNvPr>
          <p:cNvSpPr/>
          <p:nvPr/>
        </p:nvSpPr>
        <p:spPr>
          <a:xfrm>
            <a:off x="1187624" y="3433564"/>
            <a:ext cx="798014" cy="32194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50" name="Rectangle 27">
            <a:extLst>
              <a:ext uri="{FF2B5EF4-FFF2-40B4-BE49-F238E27FC236}">
                <a16:creationId xmlns:a16="http://schemas.microsoft.com/office/drawing/2014/main" id="{50B7244C-B0C3-1546-A1A6-9008E6F210DC}"/>
              </a:ext>
            </a:extLst>
          </p:cNvPr>
          <p:cNvSpPr/>
          <p:nvPr/>
        </p:nvSpPr>
        <p:spPr>
          <a:xfrm>
            <a:off x="2195736" y="3433564"/>
            <a:ext cx="798014" cy="32194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36A38F49-0565-494B-835B-5046131DBF22}"/>
              </a:ext>
            </a:extLst>
          </p:cNvPr>
          <p:cNvSpPr/>
          <p:nvPr/>
        </p:nvSpPr>
        <p:spPr>
          <a:xfrm>
            <a:off x="1115616" y="3217540"/>
            <a:ext cx="1944216" cy="1224136"/>
          </a:xfrm>
          <a:prstGeom prst="rect">
            <a:avLst/>
          </a:prstGeom>
          <a:noFill/>
          <a:ln w="63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D9453A05-9553-F142-B5A7-0D308AB48855}"/>
              </a:ext>
            </a:extLst>
          </p:cNvPr>
          <p:cNvSpPr txBox="1"/>
          <p:nvPr/>
        </p:nvSpPr>
        <p:spPr>
          <a:xfrm>
            <a:off x="1835696" y="3217540"/>
            <a:ext cx="5517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VM-1</a:t>
            </a:r>
            <a:endParaRPr kumimoji="1" lang="zh-CN" altLang="en-US" sz="1200" dirty="0"/>
          </a:p>
        </p:txBody>
      </p:sp>
      <p:sp>
        <p:nvSpPr>
          <p:cNvPr id="78" name="Rectangle 27">
            <a:extLst>
              <a:ext uri="{FF2B5EF4-FFF2-40B4-BE49-F238E27FC236}">
                <a16:creationId xmlns:a16="http://schemas.microsoft.com/office/drawing/2014/main" id="{4DD7D1ED-B4A4-EF44-A1B6-CDE4DBB22AB8}"/>
              </a:ext>
            </a:extLst>
          </p:cNvPr>
          <p:cNvSpPr/>
          <p:nvPr/>
        </p:nvSpPr>
        <p:spPr>
          <a:xfrm>
            <a:off x="3347864" y="3865612"/>
            <a:ext cx="1800200" cy="462028"/>
          </a:xfrm>
          <a:prstGeom prst="rect">
            <a:avLst/>
          </a:prstGeom>
          <a:solidFill>
            <a:srgbClr val="9BBC59"/>
          </a:solidFill>
          <a:ln>
            <a:solidFill>
              <a:srgbClr val="9BB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Kernel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79" name="Rectangle 27">
            <a:extLst>
              <a:ext uri="{FF2B5EF4-FFF2-40B4-BE49-F238E27FC236}">
                <a16:creationId xmlns:a16="http://schemas.microsoft.com/office/drawing/2014/main" id="{874E1D58-86E3-EB4F-85AB-449F5B553135}"/>
              </a:ext>
            </a:extLst>
          </p:cNvPr>
          <p:cNvSpPr/>
          <p:nvPr/>
        </p:nvSpPr>
        <p:spPr>
          <a:xfrm>
            <a:off x="3347864" y="3433564"/>
            <a:ext cx="798014" cy="321946"/>
          </a:xfrm>
          <a:prstGeom prst="rect">
            <a:avLst/>
          </a:prstGeom>
          <a:noFill/>
          <a:ln>
            <a:solidFill>
              <a:srgbClr val="9BB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80" name="Rectangle 27">
            <a:extLst>
              <a:ext uri="{FF2B5EF4-FFF2-40B4-BE49-F238E27FC236}">
                <a16:creationId xmlns:a16="http://schemas.microsoft.com/office/drawing/2014/main" id="{795F6E4C-4F8B-9A42-BDA8-B2D3612BC7FC}"/>
              </a:ext>
            </a:extLst>
          </p:cNvPr>
          <p:cNvSpPr/>
          <p:nvPr/>
        </p:nvSpPr>
        <p:spPr>
          <a:xfrm>
            <a:off x="4355976" y="3433564"/>
            <a:ext cx="798014" cy="321946"/>
          </a:xfrm>
          <a:prstGeom prst="rect">
            <a:avLst/>
          </a:prstGeom>
          <a:noFill/>
          <a:ln>
            <a:solidFill>
              <a:srgbClr val="9BB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0FD0B344-A9EF-5F49-A31F-70C8050A9C21}"/>
              </a:ext>
            </a:extLst>
          </p:cNvPr>
          <p:cNvSpPr/>
          <p:nvPr/>
        </p:nvSpPr>
        <p:spPr>
          <a:xfrm>
            <a:off x="3275856" y="3217540"/>
            <a:ext cx="1944216" cy="1224136"/>
          </a:xfrm>
          <a:prstGeom prst="rect">
            <a:avLst/>
          </a:prstGeom>
          <a:noFill/>
          <a:ln w="63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758C4B3C-653B-2A4B-A5B3-11A83189C89A}"/>
              </a:ext>
            </a:extLst>
          </p:cNvPr>
          <p:cNvSpPr txBox="1"/>
          <p:nvPr/>
        </p:nvSpPr>
        <p:spPr>
          <a:xfrm>
            <a:off x="3995936" y="3217540"/>
            <a:ext cx="5517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VM-2</a:t>
            </a:r>
            <a:endParaRPr kumimoji="1" lang="zh-CN" altLang="en-US" sz="1200" dirty="0"/>
          </a:p>
        </p:txBody>
      </p:sp>
      <p:sp>
        <p:nvSpPr>
          <p:cNvPr id="83" name="Rectangle 27">
            <a:extLst>
              <a:ext uri="{FF2B5EF4-FFF2-40B4-BE49-F238E27FC236}">
                <a16:creationId xmlns:a16="http://schemas.microsoft.com/office/drawing/2014/main" id="{F7ED1A10-1C8A-9341-B6D4-8CD789FFC8FA}"/>
              </a:ext>
            </a:extLst>
          </p:cNvPr>
          <p:cNvSpPr/>
          <p:nvPr/>
        </p:nvSpPr>
        <p:spPr>
          <a:xfrm>
            <a:off x="5508104" y="3865612"/>
            <a:ext cx="1800200" cy="462028"/>
          </a:xfrm>
          <a:prstGeom prst="rect">
            <a:avLst/>
          </a:prstGeom>
          <a:solidFill>
            <a:srgbClr val="558ED6"/>
          </a:solidFill>
          <a:ln>
            <a:solidFill>
              <a:srgbClr val="558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Kernel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84" name="Rectangle 27">
            <a:extLst>
              <a:ext uri="{FF2B5EF4-FFF2-40B4-BE49-F238E27FC236}">
                <a16:creationId xmlns:a16="http://schemas.microsoft.com/office/drawing/2014/main" id="{58B2BEBD-F2FA-1249-9D93-76F4F740D22F}"/>
              </a:ext>
            </a:extLst>
          </p:cNvPr>
          <p:cNvSpPr/>
          <p:nvPr/>
        </p:nvSpPr>
        <p:spPr>
          <a:xfrm>
            <a:off x="5508104" y="3433564"/>
            <a:ext cx="798014" cy="321946"/>
          </a:xfrm>
          <a:prstGeom prst="rect">
            <a:avLst/>
          </a:prstGeom>
          <a:noFill/>
          <a:ln>
            <a:solidFill>
              <a:srgbClr val="558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85" name="Rectangle 27">
            <a:extLst>
              <a:ext uri="{FF2B5EF4-FFF2-40B4-BE49-F238E27FC236}">
                <a16:creationId xmlns:a16="http://schemas.microsoft.com/office/drawing/2014/main" id="{77B675FB-1995-B340-92E5-B68D3833DECD}"/>
              </a:ext>
            </a:extLst>
          </p:cNvPr>
          <p:cNvSpPr/>
          <p:nvPr/>
        </p:nvSpPr>
        <p:spPr>
          <a:xfrm>
            <a:off x="6516216" y="3433564"/>
            <a:ext cx="798014" cy="321946"/>
          </a:xfrm>
          <a:prstGeom prst="rect">
            <a:avLst/>
          </a:prstGeom>
          <a:noFill/>
          <a:ln>
            <a:solidFill>
              <a:srgbClr val="558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B310716C-6245-8E4D-8EEB-5181C4B931C2}"/>
              </a:ext>
            </a:extLst>
          </p:cNvPr>
          <p:cNvSpPr/>
          <p:nvPr/>
        </p:nvSpPr>
        <p:spPr>
          <a:xfrm>
            <a:off x="5436096" y="3217540"/>
            <a:ext cx="1944216" cy="1224136"/>
          </a:xfrm>
          <a:prstGeom prst="rect">
            <a:avLst/>
          </a:prstGeom>
          <a:noFill/>
          <a:ln w="63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8A9549DF-ADDB-694A-86C4-EBF2BAB32AB4}"/>
              </a:ext>
            </a:extLst>
          </p:cNvPr>
          <p:cNvSpPr txBox="1"/>
          <p:nvPr/>
        </p:nvSpPr>
        <p:spPr>
          <a:xfrm>
            <a:off x="6156176" y="3217540"/>
            <a:ext cx="5774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VM-N</a:t>
            </a:r>
            <a:endParaRPr kumimoji="1" lang="zh-CN" altLang="en-US" sz="1200" dirty="0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D52FE2E6-F4A4-884A-9D1A-8F265FC0CD2C}"/>
              </a:ext>
            </a:extLst>
          </p:cNvPr>
          <p:cNvSpPr/>
          <p:nvPr/>
        </p:nvSpPr>
        <p:spPr>
          <a:xfrm>
            <a:off x="1259632" y="4801716"/>
            <a:ext cx="1584176" cy="396000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8899B6D3-6F14-C240-B5F4-82D32E09E18B}"/>
              </a:ext>
            </a:extLst>
          </p:cNvPr>
          <p:cNvSpPr/>
          <p:nvPr/>
        </p:nvSpPr>
        <p:spPr>
          <a:xfrm>
            <a:off x="3419872" y="4801716"/>
            <a:ext cx="1656184" cy="396000"/>
          </a:xfrm>
          <a:prstGeom prst="rect">
            <a:avLst/>
          </a:prstGeom>
          <a:solidFill>
            <a:srgbClr val="9BBC59"/>
          </a:solidFill>
          <a:ln>
            <a:solidFill>
              <a:srgbClr val="9BBC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8B83953B-7D94-DF49-9A51-8DD5340EAF4D}"/>
              </a:ext>
            </a:extLst>
          </p:cNvPr>
          <p:cNvSpPr/>
          <p:nvPr/>
        </p:nvSpPr>
        <p:spPr>
          <a:xfrm>
            <a:off x="5724128" y="4801716"/>
            <a:ext cx="1512168" cy="396000"/>
          </a:xfrm>
          <a:prstGeom prst="rect">
            <a:avLst/>
          </a:prstGeom>
          <a:solidFill>
            <a:srgbClr val="558ED6"/>
          </a:solidFill>
          <a:ln>
            <a:solidFill>
              <a:srgbClr val="558E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540BEE10-7CE9-4047-B37A-E7D6D8994B12}"/>
              </a:ext>
            </a:extLst>
          </p:cNvPr>
          <p:cNvSpPr txBox="1"/>
          <p:nvPr/>
        </p:nvSpPr>
        <p:spPr>
          <a:xfrm>
            <a:off x="3635896" y="5161756"/>
            <a:ext cx="13532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Physical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Memory</a:t>
            </a:r>
            <a:endParaRPr kumimoji="1" lang="zh-CN" altLang="en-US" sz="1200" dirty="0"/>
          </a:p>
        </p:txBody>
      </p:sp>
      <p:cxnSp>
        <p:nvCxnSpPr>
          <p:cNvPr id="95" name="肘形连接符 94">
            <a:extLst>
              <a:ext uri="{FF2B5EF4-FFF2-40B4-BE49-F238E27FC236}">
                <a16:creationId xmlns:a16="http://schemas.microsoft.com/office/drawing/2014/main" id="{A009CECF-5FD6-3242-8537-062347C96586}"/>
              </a:ext>
            </a:extLst>
          </p:cNvPr>
          <p:cNvCxnSpPr>
            <a:stCxn id="47" idx="2"/>
            <a:endCxn id="91" idx="0"/>
          </p:cNvCxnSpPr>
          <p:nvPr/>
        </p:nvCxnSpPr>
        <p:spPr>
          <a:xfrm rot="16200000" flipH="1">
            <a:off x="2930806" y="3484558"/>
            <a:ext cx="474076" cy="21602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肘形连接符 95">
            <a:extLst>
              <a:ext uri="{FF2B5EF4-FFF2-40B4-BE49-F238E27FC236}">
                <a16:creationId xmlns:a16="http://schemas.microsoft.com/office/drawing/2014/main" id="{1545F30E-E5F5-984A-B4E3-C80086F118C2}"/>
              </a:ext>
            </a:extLst>
          </p:cNvPr>
          <p:cNvCxnSpPr>
            <a:cxnSpLocks/>
            <a:stCxn id="47" idx="2"/>
            <a:endCxn id="92" idx="0"/>
          </p:cNvCxnSpPr>
          <p:nvPr/>
        </p:nvCxnSpPr>
        <p:spPr>
          <a:xfrm rot="16200000" flipH="1">
            <a:off x="4046930" y="2368434"/>
            <a:ext cx="474076" cy="439248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本框 100">
            <a:extLst>
              <a:ext uri="{FF2B5EF4-FFF2-40B4-BE49-F238E27FC236}">
                <a16:creationId xmlns:a16="http://schemas.microsoft.com/office/drawing/2014/main" id="{E565729B-0D3A-BE41-AB33-D6147A13FCA8}"/>
              </a:ext>
            </a:extLst>
          </p:cNvPr>
          <p:cNvSpPr txBox="1"/>
          <p:nvPr/>
        </p:nvSpPr>
        <p:spPr>
          <a:xfrm>
            <a:off x="2627784" y="4369668"/>
            <a:ext cx="9497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Read/Write</a:t>
            </a:r>
            <a:endParaRPr kumimoji="1"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8216170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63430A-0BCB-8240-A7A5-AFCF0DF3D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内存虚拟化的目标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99255F-2BE5-6C42-84D9-F35D5F63E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为虚拟机提供虚拟的物理地址空间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物理地址从</a:t>
            </a:r>
            <a:r>
              <a:rPr kumimoji="1" lang="en-US" altLang="zh-CN" dirty="0"/>
              <a:t>0</a:t>
            </a:r>
            <a:r>
              <a:rPr kumimoji="1" lang="zh-CN" altLang="en-US" dirty="0"/>
              <a:t>开始连续增长</a:t>
            </a:r>
            <a:endParaRPr kumimoji="1" lang="en-US" altLang="zh-CN" dirty="0"/>
          </a:p>
          <a:p>
            <a:r>
              <a:rPr kumimoji="1" lang="zh-CN" altLang="en-US" dirty="0"/>
              <a:t>隔离不同虚拟机的物理地址空间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VM-1</a:t>
            </a:r>
            <a:r>
              <a:rPr kumimoji="1" lang="zh-CN" altLang="en-US" dirty="0"/>
              <a:t>无法访问其他的内存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E30624-876E-BE4C-994E-7222D1493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BB68DC-785D-4E47-AB32-293BEAF6F4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95656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3006B7-7069-E847-9A77-48C769AEE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三种地址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D63901-7864-1040-9A21-B5D40BA88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客户虚拟地址</a:t>
            </a:r>
            <a:r>
              <a:rPr kumimoji="1" lang="en-US" altLang="zh-CN" dirty="0"/>
              <a:t>(Guest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Virtual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Address,</a:t>
            </a:r>
            <a:r>
              <a:rPr kumimoji="1" lang="zh-CN" altLang="en-US" dirty="0"/>
              <a:t> </a:t>
            </a:r>
            <a:r>
              <a:rPr kumimoji="1" lang="en-US" altLang="zh-CN" dirty="0"/>
              <a:t>GVA)</a:t>
            </a:r>
          </a:p>
          <a:p>
            <a:pPr lvl="1"/>
            <a:r>
              <a:rPr kumimoji="1" lang="zh-CN" altLang="en-US" dirty="0"/>
              <a:t>虚拟机内进程使用的虚拟地址</a:t>
            </a:r>
            <a:endParaRPr kumimoji="1" lang="en-US" altLang="zh-CN" dirty="0"/>
          </a:p>
          <a:p>
            <a:r>
              <a:rPr kumimoji="1" lang="zh-CN" altLang="en-US" dirty="0">
                <a:highlight>
                  <a:srgbClr val="FFFF00"/>
                </a:highlight>
              </a:rPr>
              <a:t>客户物理地址</a:t>
            </a:r>
            <a:r>
              <a:rPr kumimoji="1" lang="en-US" altLang="zh-CN" dirty="0">
                <a:highlight>
                  <a:srgbClr val="FFFF00"/>
                </a:highlight>
              </a:rPr>
              <a:t>(Guest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Physical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Address,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GPA)</a:t>
            </a:r>
          </a:p>
          <a:p>
            <a:pPr lvl="1"/>
            <a:r>
              <a:rPr kumimoji="1" lang="zh-CN" altLang="en-US" dirty="0"/>
              <a:t>虚拟机内使用的</a:t>
            </a:r>
            <a:r>
              <a:rPr kumimoji="1" lang="en-US" altLang="zh-CN" dirty="0"/>
              <a:t>“</a:t>
            </a:r>
            <a:r>
              <a:rPr kumimoji="1" lang="zh-CN" altLang="en-US" dirty="0"/>
              <a:t>假</a:t>
            </a:r>
            <a:r>
              <a:rPr kumimoji="1" lang="en-US" altLang="zh-CN" dirty="0"/>
              <a:t>”</a:t>
            </a:r>
            <a:r>
              <a:rPr kumimoji="1" lang="zh-CN" altLang="en-US" dirty="0"/>
              <a:t>物理地址</a:t>
            </a:r>
            <a:endParaRPr kumimoji="1" lang="en-US" altLang="zh-CN" dirty="0"/>
          </a:p>
          <a:p>
            <a:r>
              <a:rPr kumimoji="1" lang="zh-CN" altLang="en-US" dirty="0"/>
              <a:t>主机物理地址</a:t>
            </a:r>
            <a:r>
              <a:rPr kumimoji="1" lang="en-US" altLang="zh-CN" dirty="0"/>
              <a:t>(Host</a:t>
            </a:r>
            <a:r>
              <a:rPr kumimoji="1" lang="zh-CN" altLang="en-US" dirty="0"/>
              <a:t> </a:t>
            </a:r>
            <a:r>
              <a:rPr kumimoji="1" lang="en-US" altLang="zh-CN" dirty="0"/>
              <a:t>Physical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Address,</a:t>
            </a:r>
            <a:r>
              <a:rPr kumimoji="1" lang="zh-CN" altLang="en-US" dirty="0"/>
              <a:t> </a:t>
            </a:r>
            <a:r>
              <a:rPr kumimoji="1" lang="en-US" altLang="zh-CN" dirty="0"/>
              <a:t>HPA)</a:t>
            </a:r>
          </a:p>
          <a:p>
            <a:pPr lvl="1"/>
            <a:r>
              <a:rPr kumimoji="1" lang="zh-CN" altLang="en-US" dirty="0"/>
              <a:t>真实寻址的物理地址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GPA</a:t>
            </a:r>
            <a:r>
              <a:rPr kumimoji="1" lang="zh-CN" altLang="en-US" dirty="0"/>
              <a:t>需要翻译成</a:t>
            </a:r>
            <a:r>
              <a:rPr kumimoji="1" lang="en-US" altLang="zh-CN" dirty="0"/>
              <a:t>HPA</a:t>
            </a:r>
            <a:r>
              <a:rPr kumimoji="1" lang="zh-CN" altLang="en-US" dirty="0"/>
              <a:t>才能访存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D0C91B-FD4F-3A41-AD26-114C5EE3C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44" name="右大括号 43">
            <a:extLst>
              <a:ext uri="{FF2B5EF4-FFF2-40B4-BE49-F238E27FC236}">
                <a16:creationId xmlns:a16="http://schemas.microsoft.com/office/drawing/2014/main" id="{1D34257C-2E2A-184F-BE48-6B60FA168999}"/>
              </a:ext>
            </a:extLst>
          </p:cNvPr>
          <p:cNvSpPr/>
          <p:nvPr/>
        </p:nvSpPr>
        <p:spPr>
          <a:xfrm>
            <a:off x="7357844" y="2353444"/>
            <a:ext cx="144016" cy="2380910"/>
          </a:xfrm>
          <a:prstGeom prst="rightBrace">
            <a:avLst>
              <a:gd name="adj1" fmla="val 7258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54052EE-2AE0-C442-AC17-910BE15BB8D1}"/>
              </a:ext>
            </a:extLst>
          </p:cNvPr>
          <p:cNvSpPr txBox="1"/>
          <p:nvPr/>
        </p:nvSpPr>
        <p:spPr>
          <a:xfrm>
            <a:off x="7501860" y="3359233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BE384B"/>
                </a:solidFill>
              </a:rPr>
              <a:t>VMM</a:t>
            </a:r>
            <a:r>
              <a:rPr kumimoji="1" lang="zh-CN" altLang="en-US" dirty="0">
                <a:solidFill>
                  <a:srgbClr val="BE384B"/>
                </a:solidFill>
              </a:rPr>
              <a:t>管理</a:t>
            </a:r>
          </a:p>
        </p:txBody>
      </p:sp>
    </p:spTree>
    <p:extLst>
      <p:ext uri="{BB962C8B-B14F-4D97-AF65-F5344CB8AC3E}">
        <p14:creationId xmlns:p14="http://schemas.microsoft.com/office/powerpoint/2010/main" val="38756128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7EA33-758D-FD46-A427-1FED07CF6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怎么实现内存虚拟化</a:t>
            </a:r>
            <a:r>
              <a:rPr kumimoji="1" lang="en-US" altLang="zh-CN" dirty="0"/>
              <a:t>?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001AC1-6C2C-F642-B001-BED88A8E9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1</a:t>
            </a:r>
            <a:r>
              <a:rPr kumimoji="1" lang="zh-CN" altLang="en-US" dirty="0"/>
              <a:t>、影子页表</a:t>
            </a:r>
            <a:r>
              <a:rPr kumimoji="1" lang="en-US" altLang="zh-CN" dirty="0"/>
              <a:t>(Shadow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Table)</a:t>
            </a:r>
          </a:p>
          <a:p>
            <a:r>
              <a:rPr kumimoji="1" lang="en-US" altLang="zh-CN" dirty="0"/>
              <a:t>2</a:t>
            </a:r>
            <a:r>
              <a:rPr kumimoji="1" lang="zh-CN" altLang="en-US" dirty="0"/>
              <a:t>、直接页表</a:t>
            </a:r>
            <a:r>
              <a:rPr kumimoji="1" lang="en-US" altLang="zh-CN" dirty="0"/>
              <a:t>(Direct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Table)</a:t>
            </a:r>
          </a:p>
          <a:p>
            <a:r>
              <a:rPr kumimoji="1" lang="en-US" altLang="zh-CN" dirty="0"/>
              <a:t>3</a:t>
            </a:r>
            <a:r>
              <a:rPr kumimoji="1" lang="zh-CN" altLang="en-US" dirty="0"/>
              <a:t>、硬件虚拟化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6E03A9-01A4-1A4A-809D-9FF9F1243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D67354-7F4B-C24B-8871-00B6217FEC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38332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、影子页表</a:t>
            </a:r>
            <a:endParaRPr kumimoji="1" lang="zh-CN" altLang="en-US" dirty="0"/>
          </a:p>
        </p:txBody>
      </p:sp>
      <p:cxnSp>
        <p:nvCxnSpPr>
          <p:cNvPr id="106" name="直接连接符 55">
            <a:extLst>
              <a:ext uri="{FF2B5EF4-FFF2-40B4-BE49-F238E27FC236}">
                <a16:creationId xmlns:a16="http://schemas.microsoft.com/office/drawing/2014/main" id="{D9C24ABE-F1DB-5C46-A6D0-BAA49A913A46}"/>
              </a:ext>
            </a:extLst>
          </p:cNvPr>
          <p:cNvCxnSpPr/>
          <p:nvPr/>
        </p:nvCxnSpPr>
        <p:spPr>
          <a:xfrm>
            <a:off x="849982" y="3369615"/>
            <a:ext cx="7620000" cy="0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dash"/>
          </a:ln>
          <a:effectLst/>
        </p:spPr>
      </p:cxnSp>
      <p:cxnSp>
        <p:nvCxnSpPr>
          <p:cNvPr id="107" name="直接连接符 2">
            <a:extLst>
              <a:ext uri="{FF2B5EF4-FFF2-40B4-BE49-F238E27FC236}">
                <a16:creationId xmlns:a16="http://schemas.microsoft.com/office/drawing/2014/main" id="{2E1C92AF-2199-1049-8E0D-5CA7D25674A3}"/>
              </a:ext>
            </a:extLst>
          </p:cNvPr>
          <p:cNvCxnSpPr/>
          <p:nvPr/>
        </p:nvCxnSpPr>
        <p:spPr>
          <a:xfrm>
            <a:off x="856409" y="2343502"/>
            <a:ext cx="7620000" cy="0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dash"/>
          </a:ln>
          <a:effectLst/>
        </p:spPr>
      </p:cxnSp>
      <p:cxnSp>
        <p:nvCxnSpPr>
          <p:cNvPr id="108" name="Elbow Connector 116">
            <a:extLst>
              <a:ext uri="{FF2B5EF4-FFF2-40B4-BE49-F238E27FC236}">
                <a16:creationId xmlns:a16="http://schemas.microsoft.com/office/drawing/2014/main" id="{7C1290C7-B3EF-1540-B54E-44E1A7BC04CB}"/>
              </a:ext>
            </a:extLst>
          </p:cNvPr>
          <p:cNvCxnSpPr/>
          <p:nvPr/>
        </p:nvCxnSpPr>
        <p:spPr>
          <a:xfrm>
            <a:off x="2386156" y="1901246"/>
            <a:ext cx="12700" cy="2080471"/>
          </a:xfrm>
          <a:prstGeom prst="bentConnector3">
            <a:avLst>
              <a:gd name="adj1" fmla="val 1800000"/>
            </a:avLst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09" name="Elbow Connector 116">
            <a:extLst>
              <a:ext uri="{FF2B5EF4-FFF2-40B4-BE49-F238E27FC236}">
                <a16:creationId xmlns:a16="http://schemas.microsoft.com/office/drawing/2014/main" id="{F208DBC6-3CF1-454F-A841-08C5D8277891}"/>
              </a:ext>
            </a:extLst>
          </p:cNvPr>
          <p:cNvCxnSpPr/>
          <p:nvPr/>
        </p:nvCxnSpPr>
        <p:spPr>
          <a:xfrm rot="10800000" flipV="1">
            <a:off x="1606069" y="1901245"/>
            <a:ext cx="12700" cy="2080471"/>
          </a:xfrm>
          <a:prstGeom prst="bentConnector3">
            <a:avLst>
              <a:gd name="adj1" fmla="val 1800000"/>
            </a:avLst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10" name="Straight Connector 146">
            <a:extLst>
              <a:ext uri="{FF2B5EF4-FFF2-40B4-BE49-F238E27FC236}">
                <a16:creationId xmlns:a16="http://schemas.microsoft.com/office/drawing/2014/main" id="{551B0065-A65F-E341-A39F-B8F23CCE5DD7}"/>
              </a:ext>
            </a:extLst>
          </p:cNvPr>
          <p:cNvCxnSpPr/>
          <p:nvPr/>
        </p:nvCxnSpPr>
        <p:spPr>
          <a:xfrm>
            <a:off x="5986558" y="3031576"/>
            <a:ext cx="133038" cy="726390"/>
          </a:xfrm>
          <a:prstGeom prst="line">
            <a:avLst/>
          </a:prstGeom>
          <a:noFill/>
          <a:ln w="25400" cap="flat" cmpd="sng" algn="ctr">
            <a:solidFill>
              <a:srgbClr val="C0504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pic>
        <p:nvPicPr>
          <p:cNvPr id="111" name="Picture 83">
            <a:extLst>
              <a:ext uri="{FF2B5EF4-FFF2-40B4-BE49-F238E27FC236}">
                <a16:creationId xmlns:a16="http://schemas.microsoft.com/office/drawing/2014/main" id="{9C643D37-29B0-FE4C-9D2A-4D68633BB1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0008" b="43755"/>
          <a:stretch/>
        </p:blipFill>
        <p:spPr>
          <a:xfrm>
            <a:off x="3706303" y="3781662"/>
            <a:ext cx="4320480" cy="598401"/>
          </a:xfrm>
          <a:prstGeom prst="rect">
            <a:avLst/>
          </a:prstGeom>
        </p:spPr>
      </p:pic>
      <p:sp>
        <p:nvSpPr>
          <p:cNvPr id="112" name="Rectangle 5">
            <a:extLst>
              <a:ext uri="{FF2B5EF4-FFF2-40B4-BE49-F238E27FC236}">
                <a16:creationId xmlns:a16="http://schemas.microsoft.com/office/drawing/2014/main" id="{6AFBBF83-64B0-7749-9A0D-2F4A5060B9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96343" y="3757969"/>
            <a:ext cx="546540" cy="294029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13" name="Rectangle 5">
            <a:extLst>
              <a:ext uri="{FF2B5EF4-FFF2-40B4-BE49-F238E27FC236}">
                <a16:creationId xmlns:a16="http://schemas.microsoft.com/office/drawing/2014/main" id="{61937217-FC8F-D248-AC52-2004F248CA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7000" y="1734966"/>
            <a:ext cx="546540" cy="294029"/>
          </a:xfrm>
          <a:prstGeom prst="rect">
            <a:avLst/>
          </a:prstGeom>
          <a:solidFill>
            <a:srgbClr val="558ED5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333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14" name="Rectangle 5">
            <a:extLst>
              <a:ext uri="{FF2B5EF4-FFF2-40B4-BE49-F238E27FC236}">
                <a16:creationId xmlns:a16="http://schemas.microsoft.com/office/drawing/2014/main" id="{58D5F878-309F-9047-8E0C-A4903EEC14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93540" y="1734966"/>
            <a:ext cx="546540" cy="294029"/>
          </a:xfrm>
          <a:prstGeom prst="rect">
            <a:avLst/>
          </a:prstGeom>
          <a:solidFill>
            <a:srgbClr val="558ED5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333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15" name="Rectangle 5">
            <a:extLst>
              <a:ext uri="{FF2B5EF4-FFF2-40B4-BE49-F238E27FC236}">
                <a16:creationId xmlns:a16="http://schemas.microsoft.com/office/drawing/2014/main" id="{F039C4C5-A91D-7143-989F-C2EB34F941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40080" y="1734966"/>
            <a:ext cx="546540" cy="294029"/>
          </a:xfrm>
          <a:prstGeom prst="rect">
            <a:avLst/>
          </a:prstGeom>
          <a:solidFill>
            <a:srgbClr val="558ED5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333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16" name="Rectangle 5">
            <a:extLst>
              <a:ext uri="{FF2B5EF4-FFF2-40B4-BE49-F238E27FC236}">
                <a16:creationId xmlns:a16="http://schemas.microsoft.com/office/drawing/2014/main" id="{7B3D778E-CADD-8346-AB50-336A0DEF7E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7000" y="2732166"/>
            <a:ext cx="546540" cy="294029"/>
          </a:xfrm>
          <a:prstGeom prst="rect">
            <a:avLst/>
          </a:prstGeom>
          <a:solidFill>
            <a:srgbClr val="558ED5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333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17" name="Rectangle 5">
            <a:extLst>
              <a:ext uri="{FF2B5EF4-FFF2-40B4-BE49-F238E27FC236}">
                <a16:creationId xmlns:a16="http://schemas.microsoft.com/office/drawing/2014/main" id="{23D67FD4-A3D1-B547-9446-0B0830CFCE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7000" y="2738567"/>
            <a:ext cx="546540" cy="294029"/>
          </a:xfrm>
          <a:prstGeom prst="rect">
            <a:avLst/>
          </a:prstGeom>
          <a:noFill/>
          <a:ln w="25400" cap="flat" cmpd="sng" algn="ctr">
            <a:solidFill>
              <a:srgbClr val="C0504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18" name="Rectangle 11">
            <a:extLst>
              <a:ext uri="{FF2B5EF4-FFF2-40B4-BE49-F238E27FC236}">
                <a16:creationId xmlns:a16="http://schemas.microsoft.com/office/drawing/2014/main" id="{9B6DE5DB-F48A-BB4C-93DB-FDE4CEA73C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93540" y="2738567"/>
            <a:ext cx="546540" cy="294029"/>
          </a:xfrm>
          <a:prstGeom prst="rect">
            <a:avLst/>
          </a:prstGeom>
          <a:solidFill>
            <a:srgbClr val="558ED5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333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19" name="Rectangle 5">
            <a:extLst>
              <a:ext uri="{FF2B5EF4-FFF2-40B4-BE49-F238E27FC236}">
                <a16:creationId xmlns:a16="http://schemas.microsoft.com/office/drawing/2014/main" id="{6B4781DB-1D4B-AD44-9595-87AED70466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40080" y="2738567"/>
            <a:ext cx="546540" cy="294029"/>
          </a:xfrm>
          <a:prstGeom prst="rect">
            <a:avLst/>
          </a:prstGeom>
          <a:noFill/>
          <a:ln w="25400" cap="flat" cmpd="sng" algn="ctr">
            <a:solidFill>
              <a:srgbClr val="C0504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20" name="Rectangle 5">
            <a:extLst>
              <a:ext uri="{FF2B5EF4-FFF2-40B4-BE49-F238E27FC236}">
                <a16:creationId xmlns:a16="http://schemas.microsoft.com/office/drawing/2014/main" id="{B5C178E9-698E-4048-BFB0-A70D23FB16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6620" y="2738567"/>
            <a:ext cx="546540" cy="294029"/>
          </a:xfrm>
          <a:prstGeom prst="rect">
            <a:avLst/>
          </a:prstGeom>
          <a:solidFill>
            <a:srgbClr val="9BBB59"/>
          </a:solidFill>
          <a:ln w="25400" cap="flat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cxnSp>
        <p:nvCxnSpPr>
          <p:cNvPr id="121" name="Straight Connector 15">
            <a:extLst>
              <a:ext uri="{FF2B5EF4-FFF2-40B4-BE49-F238E27FC236}">
                <a16:creationId xmlns:a16="http://schemas.microsoft.com/office/drawing/2014/main" id="{A4118C66-C944-DC48-A518-DFF6FE629AB3}"/>
              </a:ext>
            </a:extLst>
          </p:cNvPr>
          <p:cNvCxnSpPr/>
          <p:nvPr/>
        </p:nvCxnSpPr>
        <p:spPr>
          <a:xfrm>
            <a:off x="4347000" y="2028993"/>
            <a:ext cx="546540" cy="709572"/>
          </a:xfrm>
          <a:prstGeom prst="line">
            <a:avLst/>
          </a:prstGeom>
          <a:noFill/>
          <a:ln w="25400" cap="flat" cmpd="sng" algn="ctr">
            <a:solidFill>
              <a:srgbClr val="4F81B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2" name="Straight Connector 16">
            <a:extLst>
              <a:ext uri="{FF2B5EF4-FFF2-40B4-BE49-F238E27FC236}">
                <a16:creationId xmlns:a16="http://schemas.microsoft.com/office/drawing/2014/main" id="{0FB0964D-6D43-B548-8F3C-8D58FBA37BC1}"/>
              </a:ext>
            </a:extLst>
          </p:cNvPr>
          <p:cNvCxnSpPr/>
          <p:nvPr/>
        </p:nvCxnSpPr>
        <p:spPr>
          <a:xfrm>
            <a:off x="4893540" y="2028993"/>
            <a:ext cx="546540" cy="709572"/>
          </a:xfrm>
          <a:prstGeom prst="line">
            <a:avLst/>
          </a:prstGeom>
          <a:noFill/>
          <a:ln w="25400" cap="flat" cmpd="sng" algn="ctr">
            <a:solidFill>
              <a:srgbClr val="4F81B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3" name="Straight Connector 17">
            <a:extLst>
              <a:ext uri="{FF2B5EF4-FFF2-40B4-BE49-F238E27FC236}">
                <a16:creationId xmlns:a16="http://schemas.microsoft.com/office/drawing/2014/main" id="{6508D21A-9BED-6645-A0BF-A3CC7D23B4C9}"/>
              </a:ext>
            </a:extLst>
          </p:cNvPr>
          <p:cNvCxnSpPr/>
          <p:nvPr/>
        </p:nvCxnSpPr>
        <p:spPr>
          <a:xfrm flipH="1">
            <a:off x="5986620" y="2028993"/>
            <a:ext cx="546540" cy="709572"/>
          </a:xfrm>
          <a:prstGeom prst="line">
            <a:avLst/>
          </a:prstGeom>
          <a:noFill/>
          <a:ln w="25400" cap="flat" cmpd="sng" algn="ctr">
            <a:solidFill>
              <a:srgbClr val="9BBB59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4" name="Straight Connector 20">
            <a:extLst>
              <a:ext uri="{FF2B5EF4-FFF2-40B4-BE49-F238E27FC236}">
                <a16:creationId xmlns:a16="http://schemas.microsoft.com/office/drawing/2014/main" id="{3C860F4C-68BD-EB4B-AB2E-83DFE105C00A}"/>
              </a:ext>
            </a:extLst>
          </p:cNvPr>
          <p:cNvCxnSpPr/>
          <p:nvPr/>
        </p:nvCxnSpPr>
        <p:spPr>
          <a:xfrm flipH="1">
            <a:off x="6533160" y="2028993"/>
            <a:ext cx="546540" cy="709572"/>
          </a:xfrm>
          <a:prstGeom prst="line">
            <a:avLst/>
          </a:prstGeom>
          <a:noFill/>
          <a:ln w="25400" cap="flat" cmpd="sng" algn="ctr">
            <a:solidFill>
              <a:srgbClr val="9BBB59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25" name="Rectangle 5">
            <a:extLst>
              <a:ext uri="{FF2B5EF4-FFF2-40B4-BE49-F238E27FC236}">
                <a16:creationId xmlns:a16="http://schemas.microsoft.com/office/drawing/2014/main" id="{3F266C12-3842-6A4B-9A93-CBC4BC8A4A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33160" y="1734966"/>
            <a:ext cx="546540" cy="294029"/>
          </a:xfrm>
          <a:prstGeom prst="rect">
            <a:avLst/>
          </a:prstGeom>
          <a:solidFill>
            <a:srgbClr val="9BBB59"/>
          </a:solidFill>
          <a:ln w="25400" cap="flat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26" name="Rectangle 5">
            <a:extLst>
              <a:ext uri="{FF2B5EF4-FFF2-40B4-BE49-F238E27FC236}">
                <a16:creationId xmlns:a16="http://schemas.microsoft.com/office/drawing/2014/main" id="{C9C3C58E-A3AE-5C4A-B11F-3D470359EC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33160" y="2738567"/>
            <a:ext cx="546540" cy="294029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cxnSp>
        <p:nvCxnSpPr>
          <p:cNvPr id="127" name="Straight Connector 25">
            <a:extLst>
              <a:ext uri="{FF2B5EF4-FFF2-40B4-BE49-F238E27FC236}">
                <a16:creationId xmlns:a16="http://schemas.microsoft.com/office/drawing/2014/main" id="{D0A965C9-8A78-FD49-9B73-B4BEF3ABD28C}"/>
              </a:ext>
            </a:extLst>
          </p:cNvPr>
          <p:cNvCxnSpPr/>
          <p:nvPr/>
        </p:nvCxnSpPr>
        <p:spPr>
          <a:xfrm flipH="1">
            <a:off x="4356450" y="2028993"/>
            <a:ext cx="1083630" cy="709572"/>
          </a:xfrm>
          <a:prstGeom prst="line">
            <a:avLst/>
          </a:prstGeom>
          <a:noFill/>
          <a:ln w="25400" cap="flat" cmpd="sng" algn="ctr">
            <a:solidFill>
              <a:srgbClr val="4F81B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8" name="Straight Connector 27">
            <a:extLst>
              <a:ext uri="{FF2B5EF4-FFF2-40B4-BE49-F238E27FC236}">
                <a16:creationId xmlns:a16="http://schemas.microsoft.com/office/drawing/2014/main" id="{0BC431C6-648D-FD41-806A-F4D9BBC56D95}"/>
              </a:ext>
            </a:extLst>
          </p:cNvPr>
          <p:cNvCxnSpPr/>
          <p:nvPr/>
        </p:nvCxnSpPr>
        <p:spPr>
          <a:xfrm flipH="1">
            <a:off x="4893540" y="2028993"/>
            <a:ext cx="1093080" cy="709572"/>
          </a:xfrm>
          <a:prstGeom prst="line">
            <a:avLst/>
          </a:prstGeom>
          <a:noFill/>
          <a:ln w="25400" cap="flat" cmpd="sng" algn="ctr">
            <a:solidFill>
              <a:srgbClr val="4F81B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29" name="Rectangle 5">
            <a:extLst>
              <a:ext uri="{FF2B5EF4-FFF2-40B4-BE49-F238E27FC236}">
                <a16:creationId xmlns:a16="http://schemas.microsoft.com/office/drawing/2014/main" id="{3D57A556-B427-8146-B856-C3004E8432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35963" y="3763519"/>
            <a:ext cx="546540" cy="294029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30" name="Rectangle 5">
            <a:extLst>
              <a:ext uri="{FF2B5EF4-FFF2-40B4-BE49-F238E27FC236}">
                <a16:creationId xmlns:a16="http://schemas.microsoft.com/office/drawing/2014/main" id="{857B3131-AD86-0048-A14F-3014CB400D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73053" y="3763519"/>
            <a:ext cx="546540" cy="294029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31" name="Rectangle 31">
            <a:extLst>
              <a:ext uri="{FF2B5EF4-FFF2-40B4-BE49-F238E27FC236}">
                <a16:creationId xmlns:a16="http://schemas.microsoft.com/office/drawing/2014/main" id="{A08FAABD-E18E-D648-AFCC-178454EBB5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19593" y="3763519"/>
            <a:ext cx="546540" cy="294029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32" name="Rectangle 5">
            <a:extLst>
              <a:ext uri="{FF2B5EF4-FFF2-40B4-BE49-F238E27FC236}">
                <a16:creationId xmlns:a16="http://schemas.microsoft.com/office/drawing/2014/main" id="{7592F547-B819-BF4E-8254-7F1402D960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66133" y="3763519"/>
            <a:ext cx="546540" cy="294029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33" name="Rectangle 5">
            <a:extLst>
              <a:ext uri="{FF2B5EF4-FFF2-40B4-BE49-F238E27FC236}">
                <a16:creationId xmlns:a16="http://schemas.microsoft.com/office/drawing/2014/main" id="{90B2792A-2F7E-0142-BC64-CD26C0B4C7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79700" y="1734966"/>
            <a:ext cx="546540" cy="294029"/>
          </a:xfrm>
          <a:prstGeom prst="rect">
            <a:avLst/>
          </a:prstGeom>
          <a:solidFill>
            <a:srgbClr val="9BBB59"/>
          </a:solidFill>
          <a:ln w="25400" cap="flat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34" name="Rectangle 5">
            <a:extLst>
              <a:ext uri="{FF2B5EF4-FFF2-40B4-BE49-F238E27FC236}">
                <a16:creationId xmlns:a16="http://schemas.microsoft.com/office/drawing/2014/main" id="{90B1EC54-9F16-B747-A301-D184B75648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7000" y="2734956"/>
            <a:ext cx="2732700" cy="294029"/>
          </a:xfrm>
          <a:prstGeom prst="rect">
            <a:avLst/>
          </a:prstGeom>
          <a:noFill/>
          <a:ln w="38100" cap="flat" cmpd="sng" algn="ctr">
            <a:solidFill>
              <a:srgbClr val="C0504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35" name="Rectangle 5">
            <a:extLst>
              <a:ext uri="{FF2B5EF4-FFF2-40B4-BE49-F238E27FC236}">
                <a16:creationId xmlns:a16="http://schemas.microsoft.com/office/drawing/2014/main" id="{1BC60A9A-0F49-4E48-B8B1-D3DB8B14F9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79973" y="3763519"/>
            <a:ext cx="546540" cy="294029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36" name="Rectangle 5">
            <a:extLst>
              <a:ext uri="{FF2B5EF4-FFF2-40B4-BE49-F238E27FC236}">
                <a16:creationId xmlns:a16="http://schemas.microsoft.com/office/drawing/2014/main" id="{A838FF0F-5E94-EB42-AC40-AD8D10701C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33433" y="3763519"/>
            <a:ext cx="546540" cy="294029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cxnSp>
        <p:nvCxnSpPr>
          <p:cNvPr id="137" name="Straight Connector 50">
            <a:extLst>
              <a:ext uri="{FF2B5EF4-FFF2-40B4-BE49-F238E27FC236}">
                <a16:creationId xmlns:a16="http://schemas.microsoft.com/office/drawing/2014/main" id="{A3D38E8E-5D7A-A744-900E-279A48619357}"/>
              </a:ext>
            </a:extLst>
          </p:cNvPr>
          <p:cNvCxnSpPr/>
          <p:nvPr/>
        </p:nvCxnSpPr>
        <p:spPr>
          <a:xfrm flipH="1">
            <a:off x="4479974" y="3031576"/>
            <a:ext cx="966522" cy="708160"/>
          </a:xfrm>
          <a:prstGeom prst="line">
            <a:avLst/>
          </a:prstGeom>
          <a:noFill/>
          <a:ln w="25400" cap="flat" cmpd="sng" algn="ctr">
            <a:solidFill>
              <a:srgbClr val="C0504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38" name="Straight Connector 53">
            <a:extLst>
              <a:ext uri="{FF2B5EF4-FFF2-40B4-BE49-F238E27FC236}">
                <a16:creationId xmlns:a16="http://schemas.microsoft.com/office/drawing/2014/main" id="{778C20F3-1A60-D24B-B343-798F44ED8C15}"/>
              </a:ext>
            </a:extLst>
          </p:cNvPr>
          <p:cNvCxnSpPr/>
          <p:nvPr/>
        </p:nvCxnSpPr>
        <p:spPr>
          <a:xfrm flipH="1">
            <a:off x="3933434" y="3031578"/>
            <a:ext cx="973002" cy="723755"/>
          </a:xfrm>
          <a:prstGeom prst="line">
            <a:avLst/>
          </a:prstGeom>
          <a:noFill/>
          <a:ln w="25400" cap="flat" cmpd="sng" algn="ctr">
            <a:solidFill>
              <a:srgbClr val="C0504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39" name="Rectangle 5">
            <a:extLst>
              <a:ext uri="{FF2B5EF4-FFF2-40B4-BE49-F238E27FC236}">
                <a16:creationId xmlns:a16="http://schemas.microsoft.com/office/drawing/2014/main" id="{1AE0B3D9-B713-D844-ADCC-DC598700F3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19593" y="3763519"/>
            <a:ext cx="546540" cy="294029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40" name="TextBox 71">
            <a:extLst>
              <a:ext uri="{FF2B5EF4-FFF2-40B4-BE49-F238E27FC236}">
                <a16:creationId xmlns:a16="http://schemas.microsoft.com/office/drawing/2014/main" id="{576CC279-51EF-6C4E-A326-FBA53A8A2AA9}"/>
              </a:ext>
            </a:extLst>
          </p:cNvPr>
          <p:cNvSpPr txBox="1"/>
          <p:nvPr/>
        </p:nvSpPr>
        <p:spPr>
          <a:xfrm>
            <a:off x="1606070" y="3781661"/>
            <a:ext cx="7800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sz="2000" dirty="0">
                <a:solidFill>
                  <a:srgbClr val="000000"/>
                </a:solidFill>
                <a:latin typeface="DengXian" charset="0"/>
                <a:ea typeface="DengXian" charset="0"/>
                <a:cs typeface="DengXian" charset="0"/>
              </a:rPr>
              <a:t>HPA</a:t>
            </a:r>
          </a:p>
        </p:txBody>
      </p:sp>
      <p:sp>
        <p:nvSpPr>
          <p:cNvPr id="141" name="Rectangle 10">
            <a:extLst>
              <a:ext uri="{FF2B5EF4-FFF2-40B4-BE49-F238E27FC236}">
                <a16:creationId xmlns:a16="http://schemas.microsoft.com/office/drawing/2014/main" id="{DD731605-D5C3-7145-9B79-9E5807E9225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86356" y="1481404"/>
            <a:ext cx="3620552" cy="1887380"/>
          </a:xfrm>
          <a:prstGeom prst="rect">
            <a:avLst/>
          </a:prstGeom>
          <a:noFill/>
          <a:ln w="3175" cap="flat" cmpd="sng" algn="ctr">
            <a:solidFill>
              <a:srgbClr val="C0504D">
                <a:shade val="50000"/>
              </a:srgbClr>
            </a:solidFill>
            <a:prstDash val="solid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333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42" name="TextBox 74">
            <a:extLst>
              <a:ext uri="{FF2B5EF4-FFF2-40B4-BE49-F238E27FC236}">
                <a16:creationId xmlns:a16="http://schemas.microsoft.com/office/drawing/2014/main" id="{9F0CD2F9-F576-C940-AC27-55FDDDD13AF3}"/>
              </a:ext>
            </a:extLst>
          </p:cNvPr>
          <p:cNvSpPr txBox="1"/>
          <p:nvPr/>
        </p:nvSpPr>
        <p:spPr>
          <a:xfrm>
            <a:off x="4030338" y="1033110"/>
            <a:ext cx="14363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dirty="0">
                <a:solidFill>
                  <a:srgbClr val="000000"/>
                </a:solidFill>
                <a:latin typeface="DengXian" charset="0"/>
                <a:ea typeface="DengXian" charset="0"/>
                <a:cs typeface="DengXian" charset="0"/>
              </a:rPr>
              <a:t>Guest VM</a:t>
            </a:r>
            <a:endParaRPr kumimoji="1" lang="en-US" sz="2000" dirty="0">
              <a:solidFill>
                <a:srgbClr val="000000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43" name="Rectangle 106">
            <a:extLst>
              <a:ext uri="{FF2B5EF4-FFF2-40B4-BE49-F238E27FC236}">
                <a16:creationId xmlns:a16="http://schemas.microsoft.com/office/drawing/2014/main" id="{F7552869-5240-3F41-A1C5-A2C9A9BE11C9}"/>
              </a:ext>
            </a:extLst>
          </p:cNvPr>
          <p:cNvSpPr/>
          <p:nvPr/>
        </p:nvSpPr>
        <p:spPr>
          <a:xfrm>
            <a:off x="1006004" y="2208257"/>
            <a:ext cx="610468" cy="248663"/>
          </a:xfrm>
          <a:prstGeom prst="rect">
            <a:avLst/>
          </a:prstGeom>
          <a:solidFill>
            <a:srgbClr val="4F81BD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engXian" charset="0"/>
                <a:ea typeface="DengXian" charset="0"/>
                <a:cs typeface="DengXian" charset="0"/>
              </a:rPr>
              <a:t>GPT</a:t>
            </a:r>
          </a:p>
        </p:txBody>
      </p:sp>
      <p:pic>
        <p:nvPicPr>
          <p:cNvPr id="144" name="Picture 113">
            <a:extLst>
              <a:ext uri="{FF2B5EF4-FFF2-40B4-BE49-F238E27FC236}">
                <a16:creationId xmlns:a16="http://schemas.microsoft.com/office/drawing/2014/main" id="{B7E1E56D-2AC2-524A-A637-6896416F6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587" y="4643369"/>
            <a:ext cx="839219" cy="681778"/>
          </a:xfrm>
          <a:prstGeom prst="rect">
            <a:avLst/>
          </a:prstGeom>
        </p:spPr>
      </p:pic>
      <p:cxnSp>
        <p:nvCxnSpPr>
          <p:cNvPr id="145" name="Elbow Connector 116">
            <a:extLst>
              <a:ext uri="{FF2B5EF4-FFF2-40B4-BE49-F238E27FC236}">
                <a16:creationId xmlns:a16="http://schemas.microsoft.com/office/drawing/2014/main" id="{B4C6A4FB-32A2-9D4D-BA6C-BC94E423E683}"/>
              </a:ext>
            </a:extLst>
          </p:cNvPr>
          <p:cNvCxnSpPr/>
          <p:nvPr/>
        </p:nvCxnSpPr>
        <p:spPr>
          <a:xfrm rot="10800000">
            <a:off x="2806202" y="3341872"/>
            <a:ext cx="2576382" cy="1642387"/>
          </a:xfrm>
          <a:prstGeom prst="bentConnector3">
            <a:avLst>
              <a:gd name="adj1" fmla="val 87390"/>
            </a:avLst>
          </a:prstGeom>
          <a:noFill/>
          <a:ln w="25400" cap="flat" cmpd="sng" algn="ctr">
            <a:solidFill>
              <a:srgbClr val="C0504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46" name="Straight Connector 143">
            <a:extLst>
              <a:ext uri="{FF2B5EF4-FFF2-40B4-BE49-F238E27FC236}">
                <a16:creationId xmlns:a16="http://schemas.microsoft.com/office/drawing/2014/main" id="{DFD78D38-D90A-5849-A1E4-36548A489BBE}"/>
              </a:ext>
            </a:extLst>
          </p:cNvPr>
          <p:cNvCxnSpPr/>
          <p:nvPr/>
        </p:nvCxnSpPr>
        <p:spPr>
          <a:xfrm>
            <a:off x="6526618" y="3031576"/>
            <a:ext cx="139518" cy="708160"/>
          </a:xfrm>
          <a:prstGeom prst="line">
            <a:avLst/>
          </a:prstGeom>
          <a:noFill/>
          <a:ln w="25400" cap="flat" cmpd="sng" algn="ctr">
            <a:solidFill>
              <a:srgbClr val="C0504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47" name="TextBox 69">
            <a:extLst>
              <a:ext uri="{FF2B5EF4-FFF2-40B4-BE49-F238E27FC236}">
                <a16:creationId xmlns:a16="http://schemas.microsoft.com/office/drawing/2014/main" id="{1709BCEE-6D4D-B04F-8D34-F51DE24050D7}"/>
              </a:ext>
            </a:extLst>
          </p:cNvPr>
          <p:cNvSpPr txBox="1"/>
          <p:nvPr/>
        </p:nvSpPr>
        <p:spPr>
          <a:xfrm>
            <a:off x="1606070" y="1701190"/>
            <a:ext cx="7800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sz="2000" dirty="0">
                <a:solidFill>
                  <a:srgbClr val="000000"/>
                </a:solidFill>
                <a:latin typeface="DengXian" charset="0"/>
                <a:ea typeface="DengXian" charset="0"/>
                <a:cs typeface="DengXian" charset="0"/>
              </a:rPr>
              <a:t>GVA</a:t>
            </a:r>
          </a:p>
        </p:txBody>
      </p:sp>
      <p:sp>
        <p:nvSpPr>
          <p:cNvPr id="148" name="Rectangle 107">
            <a:extLst>
              <a:ext uri="{FF2B5EF4-FFF2-40B4-BE49-F238E27FC236}">
                <a16:creationId xmlns:a16="http://schemas.microsoft.com/office/drawing/2014/main" id="{D9FB6D75-5527-5042-81FC-65DD964258E5}"/>
              </a:ext>
            </a:extLst>
          </p:cNvPr>
          <p:cNvSpPr/>
          <p:nvPr/>
        </p:nvSpPr>
        <p:spPr>
          <a:xfrm>
            <a:off x="2195736" y="3217540"/>
            <a:ext cx="610468" cy="248663"/>
          </a:xfrm>
          <a:prstGeom prst="rect">
            <a:avLst/>
          </a:prstGeom>
          <a:solidFill>
            <a:srgbClr val="C0504D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engXian" charset="0"/>
                <a:ea typeface="DengXian" charset="0"/>
                <a:cs typeface="DengXian" charset="0"/>
              </a:rPr>
              <a:t>SPT</a:t>
            </a:r>
          </a:p>
        </p:txBody>
      </p:sp>
      <p:sp>
        <p:nvSpPr>
          <p:cNvPr id="149" name="Rectangle 107">
            <a:extLst>
              <a:ext uri="{FF2B5EF4-FFF2-40B4-BE49-F238E27FC236}">
                <a16:creationId xmlns:a16="http://schemas.microsoft.com/office/drawing/2014/main" id="{A4E6693C-C046-BF49-B165-E26F76741806}"/>
              </a:ext>
            </a:extLst>
          </p:cNvPr>
          <p:cNvSpPr/>
          <p:nvPr/>
        </p:nvSpPr>
        <p:spPr>
          <a:xfrm>
            <a:off x="1006004" y="3220295"/>
            <a:ext cx="610468" cy="248663"/>
          </a:xfrm>
          <a:prstGeom prst="rect">
            <a:avLst/>
          </a:prstGeom>
          <a:solidFill>
            <a:srgbClr val="8064A2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engXian" charset="0"/>
                <a:ea typeface="DengXian" charset="0"/>
                <a:cs typeface="DengXian" charset="0"/>
              </a:rPr>
              <a:t>HPT</a:t>
            </a:r>
          </a:p>
        </p:txBody>
      </p:sp>
      <p:sp>
        <p:nvSpPr>
          <p:cNvPr id="150" name="TextBox 70">
            <a:extLst>
              <a:ext uri="{FF2B5EF4-FFF2-40B4-BE49-F238E27FC236}">
                <a16:creationId xmlns:a16="http://schemas.microsoft.com/office/drawing/2014/main" id="{EEC0A0F8-3888-D14F-834E-83D4132E08E7}"/>
              </a:ext>
            </a:extLst>
          </p:cNvPr>
          <p:cNvSpPr txBox="1"/>
          <p:nvPr/>
        </p:nvSpPr>
        <p:spPr>
          <a:xfrm>
            <a:off x="945997" y="2731544"/>
            <a:ext cx="758053" cy="400110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sz="2000" dirty="0">
                <a:solidFill>
                  <a:srgbClr val="000000"/>
                </a:solidFill>
                <a:latin typeface="DengXian" charset="0"/>
                <a:ea typeface="DengXian" charset="0"/>
                <a:cs typeface="DengXian" charset="0"/>
              </a:rPr>
              <a:t>GPA</a:t>
            </a:r>
          </a:p>
        </p:txBody>
      </p:sp>
      <p:sp>
        <p:nvSpPr>
          <p:cNvPr id="151" name="Rectangle 5">
            <a:extLst>
              <a:ext uri="{FF2B5EF4-FFF2-40B4-BE49-F238E27FC236}">
                <a16:creationId xmlns:a16="http://schemas.microsoft.com/office/drawing/2014/main" id="{0E5F9935-0153-544D-BCC0-3DCDEEFE51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86689" y="3754267"/>
            <a:ext cx="1080120" cy="294029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52" name="Rectangle 5">
            <a:extLst>
              <a:ext uri="{FF2B5EF4-FFF2-40B4-BE49-F238E27FC236}">
                <a16:creationId xmlns:a16="http://schemas.microsoft.com/office/drawing/2014/main" id="{FDC14543-86FD-454A-808E-9DAE980A7C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96343" y="3755333"/>
            <a:ext cx="4909410" cy="294029"/>
          </a:xfrm>
          <a:prstGeom prst="rect">
            <a:avLst/>
          </a:prstGeom>
          <a:noFill/>
          <a:ln w="571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53" name="TextBox 69">
            <a:extLst>
              <a:ext uri="{FF2B5EF4-FFF2-40B4-BE49-F238E27FC236}">
                <a16:creationId xmlns:a16="http://schemas.microsoft.com/office/drawing/2014/main" id="{BE50EDDD-5083-6C48-A7D3-CE523590F9E4}"/>
              </a:ext>
            </a:extLst>
          </p:cNvPr>
          <p:cNvSpPr txBox="1"/>
          <p:nvPr/>
        </p:nvSpPr>
        <p:spPr>
          <a:xfrm>
            <a:off x="7768682" y="1689618"/>
            <a:ext cx="7800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sz="2000" dirty="0">
                <a:solidFill>
                  <a:srgbClr val="000000"/>
                </a:solidFill>
                <a:latin typeface="DengXian" charset="0"/>
                <a:ea typeface="DengXian" charset="0"/>
                <a:cs typeface="DengXian" charset="0"/>
              </a:rPr>
              <a:t>GVA</a:t>
            </a:r>
          </a:p>
        </p:txBody>
      </p:sp>
      <p:sp>
        <p:nvSpPr>
          <p:cNvPr id="154" name="TextBox 70">
            <a:extLst>
              <a:ext uri="{FF2B5EF4-FFF2-40B4-BE49-F238E27FC236}">
                <a16:creationId xmlns:a16="http://schemas.microsoft.com/office/drawing/2014/main" id="{C39AFDFE-5855-C044-9ECD-1BB156CCE238}"/>
              </a:ext>
            </a:extLst>
          </p:cNvPr>
          <p:cNvSpPr txBox="1"/>
          <p:nvPr/>
        </p:nvSpPr>
        <p:spPr>
          <a:xfrm>
            <a:off x="7141458" y="2693218"/>
            <a:ext cx="7580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sz="2000" dirty="0">
                <a:solidFill>
                  <a:srgbClr val="000000"/>
                </a:solidFill>
                <a:latin typeface="DengXian" charset="0"/>
                <a:ea typeface="DengXian" charset="0"/>
                <a:cs typeface="DengXian" charset="0"/>
              </a:rPr>
              <a:t>GPA</a:t>
            </a:r>
          </a:p>
        </p:txBody>
      </p:sp>
      <p:sp>
        <p:nvSpPr>
          <p:cNvPr id="155" name="TextBox 71">
            <a:extLst>
              <a:ext uri="{FF2B5EF4-FFF2-40B4-BE49-F238E27FC236}">
                <a16:creationId xmlns:a16="http://schemas.microsoft.com/office/drawing/2014/main" id="{5FB4994A-3DED-F642-ACE8-5BA3C7413D20}"/>
              </a:ext>
            </a:extLst>
          </p:cNvPr>
          <p:cNvSpPr txBox="1"/>
          <p:nvPr/>
        </p:nvSpPr>
        <p:spPr>
          <a:xfrm>
            <a:off x="7574545" y="3706139"/>
            <a:ext cx="7800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sz="2000" dirty="0">
                <a:solidFill>
                  <a:srgbClr val="000000"/>
                </a:solidFill>
                <a:latin typeface="DengXian" charset="0"/>
                <a:ea typeface="DengXian" charset="0"/>
                <a:cs typeface="DengXian" charset="0"/>
              </a:rPr>
              <a:t>HPA</a:t>
            </a:r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CCDDC9C8-A67F-BB41-A25A-28304DA3251C}"/>
              </a:ext>
            </a:extLst>
          </p:cNvPr>
          <p:cNvSpPr txBox="1"/>
          <p:nvPr/>
        </p:nvSpPr>
        <p:spPr>
          <a:xfrm>
            <a:off x="4697166" y="4984258"/>
            <a:ext cx="685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prstClr val="black"/>
                </a:solidFill>
                <a:latin typeface="DengXian" charset="0"/>
                <a:ea typeface="DengXian" charset="0"/>
                <a:cs typeface="DengXian" charset="0"/>
              </a:rPr>
              <a:t>CR3</a:t>
            </a:r>
            <a:endParaRPr kumimoji="1" lang="zh-CN" altLang="en-US" dirty="0">
              <a:solidFill>
                <a:prstClr val="black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78741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个页表 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 </a:t>
            </a:r>
            <a:r>
              <a:rPr kumimoji="1" lang="en-US" altLang="zh-CN" dirty="0"/>
              <a:t>1</a:t>
            </a:r>
            <a:r>
              <a:rPr kumimoji="1" lang="zh-CN" altLang="en-US" dirty="0"/>
              <a:t>个页表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57159" indent="-357159">
              <a:buFont typeface="+mj-lt"/>
              <a:buAutoNum type="arabicPeriod"/>
            </a:pPr>
            <a:r>
              <a:rPr lang="en-US" altLang="zh-CN" sz="1667" dirty="0"/>
              <a:t>VMM intercepts guest OS setting the virtual CR3</a:t>
            </a:r>
          </a:p>
          <a:p>
            <a:pPr marL="357159" indent="-357159">
              <a:buFont typeface="+mj-lt"/>
              <a:buAutoNum type="arabicPeriod"/>
            </a:pPr>
            <a:r>
              <a:rPr lang="en-US" altLang="zh-CN" sz="1667" dirty="0"/>
              <a:t>VMM iterates over the guest page table, constructs a corresponding shadow page</a:t>
            </a:r>
            <a:r>
              <a:rPr lang="zh-CN" altLang="en-US" sz="1667" dirty="0"/>
              <a:t> </a:t>
            </a:r>
            <a:r>
              <a:rPr lang="en-US" altLang="zh-CN" sz="1667" dirty="0"/>
              <a:t>table</a:t>
            </a:r>
          </a:p>
          <a:p>
            <a:pPr marL="357159" indent="-357159">
              <a:buFont typeface="+mj-lt"/>
              <a:buAutoNum type="arabicPeriod"/>
            </a:pPr>
            <a:r>
              <a:rPr lang="en-US" altLang="zh-CN" sz="1667" dirty="0"/>
              <a:t>In shadow PT, every guest physical address is translated into host physical address</a:t>
            </a:r>
          </a:p>
          <a:p>
            <a:pPr marL="357159" indent="-357159">
              <a:buFont typeface="+mj-lt"/>
              <a:buAutoNum type="arabicPeriod"/>
            </a:pPr>
            <a:r>
              <a:rPr lang="en-US" altLang="zh-CN" sz="1667" dirty="0"/>
              <a:t>Finally, VMM loads the host physical address of the shadow page</a:t>
            </a:r>
            <a:r>
              <a:rPr lang="zh-CN" altLang="en-US" sz="1667" dirty="0"/>
              <a:t> </a:t>
            </a:r>
            <a:r>
              <a:rPr lang="en-US" altLang="zh-CN" sz="1667" dirty="0"/>
              <a:t>table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FB38-4DA8-4D40-A1B7-468F17DAFC82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5471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Shadow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  <a:r>
              <a:rPr kumimoji="1" lang="zh-CN" altLang="en-US" dirty="0"/>
              <a:t> 设置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541663" y="1597360"/>
            <a:ext cx="6459337" cy="317881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500" b="1" dirty="0">
                <a:solidFill>
                  <a:srgbClr val="0096FF"/>
                </a:solidFill>
                <a:latin typeface="Courier" charset="0"/>
                <a:ea typeface="Courier" charset="0"/>
                <a:cs typeface="Courier" charset="0"/>
              </a:rPr>
              <a:t>set_cr3 (</a:t>
            </a:r>
            <a:r>
              <a:rPr kumimoji="1" lang="en-US" altLang="zh-CN" sz="1500" b="1" dirty="0" err="1">
                <a:solidFill>
                  <a:srgbClr val="0096FF"/>
                </a:solidFill>
                <a:latin typeface="Courier" charset="0"/>
                <a:ea typeface="Courier" charset="0"/>
                <a:cs typeface="Courier" charset="0"/>
              </a:rPr>
              <a:t>guest_page_table</a:t>
            </a:r>
            <a:r>
              <a:rPr kumimoji="1" lang="en-US" altLang="zh-CN" sz="1500" b="1" dirty="0">
                <a:solidFill>
                  <a:srgbClr val="0096FF"/>
                </a:solidFill>
                <a:latin typeface="Courier" charset="0"/>
                <a:ea typeface="Courier" charset="0"/>
                <a:cs typeface="Courier" charset="0"/>
              </a:rPr>
              <a:t>):</a:t>
            </a:r>
            <a:endParaRPr kumimoji="1" lang="zh-CN" altLang="en-US" sz="1500" b="1" dirty="0">
              <a:solidFill>
                <a:srgbClr val="0096FF"/>
              </a:solidFill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for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GVA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in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0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to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2</a:t>
            </a:r>
            <a:r>
              <a:rPr kumimoji="1" lang="en-US" altLang="zh-CN" sz="1500" baseline="30000" dirty="0">
                <a:latin typeface="Courier" charset="0"/>
                <a:ea typeface="Courier" charset="0"/>
                <a:cs typeface="Courier" charset="0"/>
              </a:rPr>
              <a:t>20</a:t>
            </a:r>
            <a:endParaRPr kumimoji="1" lang="zh-CN" altLang="en-US" sz="1500" baseline="30000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if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 err="1">
                <a:latin typeface="Courier" charset="0"/>
                <a:ea typeface="Courier" charset="0"/>
                <a:cs typeface="Courier" charset="0"/>
              </a:rPr>
              <a:t>guest_page_table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[GVA]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&amp;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PTE_P:</a:t>
            </a:r>
            <a:endParaRPr kumimoji="1" lang="zh-CN" altLang="en-US" sz="1500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          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GPA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=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 err="1">
                <a:latin typeface="Courier" charset="0"/>
                <a:ea typeface="Courier" charset="0"/>
                <a:cs typeface="Courier" charset="0"/>
              </a:rPr>
              <a:t>guest_page_table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[GVA]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&gt;&gt;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12</a:t>
            </a:r>
            <a:endParaRPr kumimoji="1" lang="zh-CN" altLang="en-US" sz="1500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          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HPA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=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 err="1">
                <a:latin typeface="Courier" charset="0"/>
                <a:ea typeface="Courier" charset="0"/>
                <a:cs typeface="Courier" charset="0"/>
              </a:rPr>
              <a:t>host_page_table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[GPA]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&gt;&gt;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12</a:t>
            </a:r>
            <a:endParaRPr kumimoji="1" lang="zh-CN" altLang="en-US" sz="1500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           </a:t>
            </a:r>
            <a:r>
              <a:rPr kumimoji="1" lang="en-US" altLang="zh-CN" sz="1500" dirty="0" err="1">
                <a:latin typeface="Courier" charset="0"/>
                <a:ea typeface="Courier" charset="0"/>
                <a:cs typeface="Courier" charset="0"/>
              </a:rPr>
              <a:t>shadow_page_table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[GVA]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=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(HPA&lt;&lt;12)|PTE_P</a:t>
            </a:r>
            <a:endParaRPr kumimoji="1" lang="zh-CN" altLang="en-US" sz="1500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else</a:t>
            </a:r>
            <a:endParaRPr kumimoji="1" lang="zh-CN" altLang="en-US" sz="1500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           </a:t>
            </a:r>
            <a:r>
              <a:rPr kumimoji="1" lang="en-US" altLang="zh-CN" sz="1500" dirty="0" err="1">
                <a:latin typeface="Courier" charset="0"/>
                <a:ea typeface="Courier" charset="0"/>
                <a:cs typeface="Courier" charset="0"/>
              </a:rPr>
              <a:t>shadow_page_table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[GVA]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=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0</a:t>
            </a:r>
            <a:endParaRPr kumimoji="1" lang="zh-CN" altLang="en-US" sz="1500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   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CR3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=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PHYSICAL_ADDR(</a:t>
            </a:r>
            <a:r>
              <a:rPr kumimoji="1" lang="en-US" altLang="zh-CN" sz="1500" dirty="0" err="1">
                <a:latin typeface="Courier" charset="0"/>
                <a:ea typeface="Courier" charset="0"/>
                <a:cs typeface="Courier" charset="0"/>
              </a:rPr>
              <a:t>shadow_page_table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)</a:t>
            </a:r>
            <a:endParaRPr kumimoji="1" lang="zh-CN" altLang="en-US" sz="1500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3922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Guest OS</a:t>
            </a:r>
            <a:r>
              <a:rPr lang="zh-CN" altLang="en-US" dirty="0"/>
              <a:t>修改页表，如何生效？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1273324"/>
            <a:ext cx="7920880" cy="3600400"/>
          </a:xfrm>
        </p:spPr>
        <p:txBody>
          <a:bodyPr>
            <a:normAutofit/>
          </a:bodyPr>
          <a:lstStyle/>
          <a:p>
            <a:r>
              <a:rPr lang="en-US" altLang="zh-CN" sz="1800" dirty="0"/>
              <a:t>Real hardware would start using the new page table's mappings</a:t>
            </a:r>
          </a:p>
          <a:p>
            <a:pPr lvl="1"/>
            <a:r>
              <a:rPr lang="en-US" altLang="zh-CN" sz="1400" dirty="0"/>
              <a:t>Virtual machine monitor has a separate shadow page table</a:t>
            </a:r>
          </a:p>
          <a:p>
            <a:r>
              <a:rPr lang="en-US" altLang="zh-CN" sz="1800" dirty="0"/>
              <a:t>Goal: </a:t>
            </a:r>
          </a:p>
          <a:p>
            <a:pPr lvl="1"/>
            <a:r>
              <a:rPr lang="en-US" altLang="zh-CN" sz="1400" dirty="0"/>
              <a:t>VMM needs to intercept when guest OS modifies page table, update shadow page table accordingly</a:t>
            </a:r>
          </a:p>
          <a:p>
            <a:r>
              <a:rPr lang="en-US" altLang="zh-CN" sz="1800" dirty="0"/>
              <a:t>Technique: </a:t>
            </a:r>
          </a:p>
          <a:p>
            <a:pPr lvl="1"/>
            <a:r>
              <a:rPr lang="en-US" altLang="zh-CN" sz="1400" dirty="0"/>
              <a:t>Use the read/write bit in the PTE to mark those pages read-only</a:t>
            </a:r>
          </a:p>
          <a:p>
            <a:pPr lvl="1"/>
            <a:r>
              <a:rPr lang="en-US" altLang="zh-CN" sz="1400" dirty="0"/>
              <a:t>If guest OS tries to modify them, hardware triggers page fault</a:t>
            </a:r>
          </a:p>
          <a:p>
            <a:pPr lvl="1"/>
            <a:r>
              <a:rPr lang="en-US" altLang="zh-CN" sz="1400" dirty="0"/>
              <a:t>Page fault handled by VMM: update shadow page table &amp; restart guest</a:t>
            </a: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FB38-4DA8-4D40-A1B7-468F17DAFC82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3304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Guest</a:t>
            </a:r>
            <a:r>
              <a:rPr lang="zh-CN" altLang="en-US" dirty="0"/>
              <a:t>内核如何与</a:t>
            </a:r>
            <a:r>
              <a:rPr lang="en-US" altLang="zh-CN" dirty="0"/>
              <a:t>Guest</a:t>
            </a:r>
            <a:r>
              <a:rPr lang="zh-CN" altLang="en-US" dirty="0"/>
              <a:t>应用隔离？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262" y="1273324"/>
            <a:ext cx="7993178" cy="3771636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How do we selectively allow / deny access to kernel-only pages in guest PT? </a:t>
            </a:r>
          </a:p>
          <a:p>
            <a:pPr lvl="1"/>
            <a:r>
              <a:rPr lang="en-US" altLang="zh-CN" sz="1800" dirty="0"/>
              <a:t>Hardware doesn't know about the virtual U/K bit </a:t>
            </a:r>
          </a:p>
          <a:p>
            <a:r>
              <a:rPr lang="en-US" altLang="zh-CN" sz="2000" dirty="0"/>
              <a:t>Idea: </a:t>
            </a:r>
          </a:p>
          <a:p>
            <a:pPr lvl="1"/>
            <a:r>
              <a:rPr lang="en-US" altLang="zh-CN" sz="1800" dirty="0"/>
              <a:t>Generate </a:t>
            </a:r>
            <a:r>
              <a:rPr lang="en-US" altLang="zh-CN" sz="1800" dirty="0">
                <a:solidFill>
                  <a:srgbClr val="00B0F0"/>
                </a:solidFill>
              </a:rPr>
              <a:t>two</a:t>
            </a:r>
            <a:r>
              <a:rPr lang="en-US" altLang="zh-CN" sz="1800" dirty="0"/>
              <a:t> shadow page tables, one for U, one for K</a:t>
            </a:r>
          </a:p>
          <a:p>
            <a:pPr lvl="1"/>
            <a:r>
              <a:rPr lang="en-US" altLang="zh-CN" sz="1800" dirty="0"/>
              <a:t>When guest OS switches to U mode, VMM must invoke </a:t>
            </a:r>
            <a:r>
              <a:rPr lang="en-US" altLang="zh-CN" sz="1800" dirty="0" err="1"/>
              <a:t>set_ptp</a:t>
            </a:r>
            <a:r>
              <a:rPr lang="en-US" altLang="zh-CN" sz="1800" dirty="0"/>
              <a:t>(current, 0)</a:t>
            </a:r>
            <a:endParaRPr lang="zh-CN" altLang="en-US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FB38-4DA8-4D40-A1B7-468F17DAFC82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489709D-CAF0-9E40-A0C2-A97247373D54}"/>
              </a:ext>
            </a:extLst>
          </p:cNvPr>
          <p:cNvSpPr/>
          <p:nvPr/>
        </p:nvSpPr>
        <p:spPr>
          <a:xfrm>
            <a:off x="2901429" y="4647741"/>
            <a:ext cx="32688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b="1" dirty="0">
                <a:solidFill>
                  <a:schemeClr val="accent1"/>
                </a:solidFill>
              </a:rPr>
              <a:t>1</a:t>
            </a:r>
            <a:r>
              <a:rPr kumimoji="1" lang="zh-CN" altLang="en-US" sz="2800" b="1" dirty="0">
                <a:solidFill>
                  <a:schemeClr val="accent1"/>
                </a:solidFill>
              </a:rPr>
              <a:t>个页表 </a:t>
            </a:r>
            <a:r>
              <a:rPr kumimoji="1" lang="en-US" altLang="zh-CN" sz="2800" b="1" dirty="0">
                <a:solidFill>
                  <a:schemeClr val="accent1"/>
                </a:solidFill>
              </a:rPr>
              <a:t>-&gt;</a:t>
            </a:r>
            <a:r>
              <a:rPr kumimoji="1" lang="zh-CN" altLang="en-US" sz="2800" b="1" dirty="0">
                <a:solidFill>
                  <a:schemeClr val="accent1"/>
                </a:solidFill>
              </a:rPr>
              <a:t> </a:t>
            </a:r>
            <a:r>
              <a:rPr kumimoji="1" lang="en-US" altLang="zh-CN" sz="2800" b="1" dirty="0">
                <a:solidFill>
                  <a:schemeClr val="accent1"/>
                </a:solidFill>
              </a:rPr>
              <a:t>2</a:t>
            </a:r>
            <a:r>
              <a:rPr kumimoji="1" lang="zh-CN" altLang="en-US" sz="2800" b="1" dirty="0">
                <a:solidFill>
                  <a:schemeClr val="accent1"/>
                </a:solidFill>
              </a:rPr>
              <a:t>个页表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583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构建</a:t>
            </a:r>
            <a:r>
              <a:rPr lang="en-US" altLang="zh-CN" dirty="0"/>
              <a:t>2</a:t>
            </a:r>
            <a:r>
              <a:rPr lang="zh-CN" altLang="en-US" dirty="0"/>
              <a:t>个不同的</a:t>
            </a:r>
            <a:r>
              <a:rPr lang="en-US" altLang="zh-CN" dirty="0"/>
              <a:t>Guest Pages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FB38-4DA8-4D40-A1B7-468F17DAFC82}" type="slidenum">
              <a:rPr lang="zh-CN" altLang="en-US" smtClean="0"/>
              <a:t>36</a:t>
            </a:fld>
            <a:endParaRPr lang="zh-CN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700" y="1457345"/>
            <a:ext cx="5340593" cy="3393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04656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Two</a:t>
            </a:r>
            <a:r>
              <a:rPr kumimoji="1" lang="zh-CN" altLang="en-US" dirty="0"/>
              <a:t> </a:t>
            </a:r>
            <a:r>
              <a:rPr kumimoji="1" lang="en-US" altLang="zh-CN" dirty="0"/>
              <a:t>Memory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Views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Guest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VM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867810" y="1993404"/>
            <a:ext cx="1320147" cy="42004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500"/>
          </a:p>
        </p:txBody>
      </p:sp>
      <p:sp>
        <p:nvSpPr>
          <p:cNvPr id="5" name="矩形 4"/>
          <p:cNvSpPr/>
          <p:nvPr/>
        </p:nvSpPr>
        <p:spPr>
          <a:xfrm>
            <a:off x="2867810" y="2473457"/>
            <a:ext cx="1320147" cy="10801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500"/>
          </a:p>
        </p:txBody>
      </p:sp>
      <p:sp>
        <p:nvSpPr>
          <p:cNvPr id="6" name="文本框 5"/>
          <p:cNvSpPr txBox="1"/>
          <p:nvPr/>
        </p:nvSpPr>
        <p:spPr>
          <a:xfrm>
            <a:off x="1187624" y="2045668"/>
            <a:ext cx="13575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engXian" charset="0"/>
                <a:ea typeface="DengXian" charset="0"/>
                <a:cs typeface="DengXian" charset="0"/>
              </a:rPr>
              <a:t>Kernel</a:t>
            </a:r>
            <a:r>
              <a:rPr kumimoji="1" lang="zh-CN" alt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engXian" charset="0"/>
                <a:ea typeface="DengXian" charset="0"/>
                <a:cs typeface="DengXian" charset="0"/>
              </a:rPr>
              <a:t> </a:t>
            </a:r>
            <a:r>
              <a:rPr kumimoji="1" lang="en-US" altLang="zh-C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engXian" charset="0"/>
                <a:ea typeface="DengXian" charset="0"/>
                <a:cs typeface="DengXian" charset="0"/>
              </a:rPr>
              <a:t>space</a:t>
            </a:r>
            <a:endParaRPr kumimoji="1" lang="zh-CN" altLang="en-US" sz="1500" b="1" dirty="0">
              <a:solidFill>
                <a:schemeClr val="tx1">
                  <a:lumMod val="75000"/>
                  <a:lumOff val="25000"/>
                </a:schemeClr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24355" y="2825754"/>
            <a:ext cx="112082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zh-C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engXian" charset="0"/>
                <a:ea typeface="DengXian" charset="0"/>
                <a:cs typeface="DengXian" charset="0"/>
              </a:rPr>
              <a:t>User</a:t>
            </a:r>
            <a:r>
              <a:rPr kumimoji="1" lang="zh-CN" alt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engXian" charset="0"/>
                <a:ea typeface="DengXian" charset="0"/>
                <a:cs typeface="DengXian" charset="0"/>
              </a:rPr>
              <a:t> </a:t>
            </a:r>
            <a:r>
              <a:rPr kumimoji="1" lang="en-US" altLang="zh-C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engXian" charset="0"/>
                <a:ea typeface="DengXian" charset="0"/>
                <a:cs typeface="DengXian" charset="0"/>
              </a:rPr>
              <a:t>space</a:t>
            </a:r>
            <a:endParaRPr kumimoji="1" lang="zh-CN" altLang="en-US" sz="1500" b="1" dirty="0">
              <a:solidFill>
                <a:schemeClr val="tx1">
                  <a:lumMod val="75000"/>
                  <a:lumOff val="25000"/>
                </a:schemeClr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148064" y="1993404"/>
            <a:ext cx="1320147" cy="420047"/>
          </a:xfrm>
          <a:prstGeom prst="rect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500"/>
          </a:p>
        </p:txBody>
      </p:sp>
      <p:sp>
        <p:nvSpPr>
          <p:cNvPr id="9" name="矩形 8"/>
          <p:cNvSpPr/>
          <p:nvPr/>
        </p:nvSpPr>
        <p:spPr>
          <a:xfrm>
            <a:off x="5148064" y="2473457"/>
            <a:ext cx="1320147" cy="10801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500"/>
          </a:p>
        </p:txBody>
      </p:sp>
      <p:sp>
        <p:nvSpPr>
          <p:cNvPr id="10" name="文本框 9"/>
          <p:cNvSpPr txBox="1"/>
          <p:nvPr/>
        </p:nvSpPr>
        <p:spPr>
          <a:xfrm>
            <a:off x="2458972" y="1334782"/>
            <a:ext cx="21885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500" b="1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When</a:t>
            </a:r>
            <a:r>
              <a:rPr kumimoji="1" lang="zh-CN" altLang="en-US" sz="1500" b="1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 </a:t>
            </a:r>
            <a:r>
              <a:rPr kumimoji="1" lang="en-US" altLang="zh-CN" sz="1500" b="1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guest</a:t>
            </a:r>
            <a:r>
              <a:rPr kumimoji="1" lang="zh-CN" altLang="en-US" sz="1500" b="1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 </a:t>
            </a:r>
            <a:r>
              <a:rPr kumimoji="1" lang="en-US" altLang="zh-CN" sz="1500" b="1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OS</a:t>
            </a:r>
            <a:endParaRPr kumimoji="1" lang="zh-CN" altLang="en-US" sz="1500" b="1" dirty="0">
              <a:solidFill>
                <a:srgbClr val="0096FF"/>
              </a:solidFill>
              <a:latin typeface="DengXian" charset="0"/>
              <a:ea typeface="DengXian" charset="0"/>
              <a:cs typeface="DengXian" charset="0"/>
            </a:endParaRPr>
          </a:p>
          <a:p>
            <a:pPr algn="ctr"/>
            <a:r>
              <a:rPr kumimoji="1" lang="en-US" altLang="zh-CN" sz="1500" b="1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is</a:t>
            </a:r>
            <a:r>
              <a:rPr kumimoji="1" lang="zh-CN" altLang="en-US" sz="1500" b="1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 </a:t>
            </a:r>
            <a:r>
              <a:rPr kumimoji="1" lang="en-US" altLang="zh-CN" sz="1500" b="1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running</a:t>
            </a:r>
            <a:endParaRPr kumimoji="1" lang="zh-CN" altLang="en-US" sz="1500" b="1" dirty="0">
              <a:solidFill>
                <a:srgbClr val="0096FF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884034" y="1334782"/>
            <a:ext cx="184820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500" b="1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When</a:t>
            </a:r>
            <a:r>
              <a:rPr kumimoji="1" lang="zh-CN" altLang="en-US" sz="1500" b="1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 </a:t>
            </a:r>
            <a:r>
              <a:rPr kumimoji="1" lang="en-US" altLang="zh-CN" sz="1500" b="1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application</a:t>
            </a:r>
            <a:r>
              <a:rPr kumimoji="1" lang="zh-CN" altLang="en-US" sz="1500" b="1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 </a:t>
            </a:r>
          </a:p>
          <a:p>
            <a:pPr algn="ctr"/>
            <a:r>
              <a:rPr kumimoji="1" lang="en-US" altLang="zh-CN" sz="1500" b="1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is</a:t>
            </a:r>
            <a:r>
              <a:rPr kumimoji="1" lang="zh-CN" altLang="en-US" sz="1500" b="1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 </a:t>
            </a:r>
            <a:r>
              <a:rPr kumimoji="1" lang="en-US" altLang="zh-CN" sz="1500" b="1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running</a:t>
            </a:r>
            <a:endParaRPr kumimoji="1" lang="zh-CN" altLang="en-US" sz="1500" b="1" dirty="0">
              <a:solidFill>
                <a:srgbClr val="0096FF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948264" y="2309216"/>
            <a:ext cx="84009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500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No</a:t>
            </a:r>
            <a:r>
              <a:rPr kumimoji="1" lang="zh-CN" altLang="en-US" sz="1500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 </a:t>
            </a:r>
            <a:r>
              <a:rPr kumimoji="1" lang="en-US" altLang="zh-CN" sz="1500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user</a:t>
            </a:r>
            <a:r>
              <a:rPr kumimoji="1" lang="zh-CN" altLang="en-US" sz="1500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 </a:t>
            </a:r>
            <a:r>
              <a:rPr kumimoji="1" lang="en-US" altLang="zh-CN" sz="1500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access</a:t>
            </a:r>
            <a:endParaRPr kumimoji="1" lang="zh-CN" altLang="en-US" sz="1500" dirty="0">
              <a:solidFill>
                <a:srgbClr val="0096FF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827917" y="3553577"/>
            <a:ext cx="168018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500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User</a:t>
            </a:r>
            <a:r>
              <a:rPr kumimoji="1" lang="zh-CN" altLang="en-US" sz="1500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 </a:t>
            </a:r>
            <a:endParaRPr kumimoji="1" lang="en-US" altLang="zh-CN" sz="1500" dirty="0">
              <a:solidFill>
                <a:srgbClr val="0096FF"/>
              </a:solidFill>
              <a:latin typeface="DengXian" charset="0"/>
              <a:ea typeface="DengXian" charset="0"/>
              <a:cs typeface="DengXian" charset="0"/>
            </a:endParaRPr>
          </a:p>
          <a:p>
            <a:pPr algn="ctr"/>
            <a:r>
              <a:rPr kumimoji="1" lang="en-US" altLang="zh-CN" sz="1500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accessible</a:t>
            </a:r>
            <a:endParaRPr kumimoji="1" lang="zh-CN" altLang="en-US" sz="1500" dirty="0">
              <a:solidFill>
                <a:srgbClr val="0096FF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cxnSp>
        <p:nvCxnSpPr>
          <p:cNvPr id="15" name="直线连接符 14"/>
          <p:cNvCxnSpPr>
            <a:stCxn id="4" idx="3"/>
            <a:endCxn id="13" idx="0"/>
          </p:cNvCxnSpPr>
          <p:nvPr/>
        </p:nvCxnSpPr>
        <p:spPr>
          <a:xfrm>
            <a:off x="4187957" y="2203428"/>
            <a:ext cx="480054" cy="1350149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/>
          <p:cNvCxnSpPr>
            <a:stCxn id="5" idx="3"/>
            <a:endCxn id="13" idx="0"/>
          </p:cNvCxnSpPr>
          <p:nvPr/>
        </p:nvCxnSpPr>
        <p:spPr>
          <a:xfrm>
            <a:off x="4187957" y="3013517"/>
            <a:ext cx="480054" cy="54006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18"/>
          <p:cNvCxnSpPr>
            <a:stCxn id="9" idx="1"/>
            <a:endCxn id="13" idx="0"/>
          </p:cNvCxnSpPr>
          <p:nvPr/>
        </p:nvCxnSpPr>
        <p:spPr>
          <a:xfrm flipH="1">
            <a:off x="4668011" y="3013517"/>
            <a:ext cx="480053" cy="54006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连接符 21"/>
          <p:cNvCxnSpPr>
            <a:stCxn id="8" idx="3"/>
            <a:endCxn id="12" idx="1"/>
          </p:cNvCxnSpPr>
          <p:nvPr/>
        </p:nvCxnSpPr>
        <p:spPr>
          <a:xfrm>
            <a:off x="6468211" y="2203428"/>
            <a:ext cx="480053" cy="3827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7F560058-A311-3D4B-A562-025B33745F03}"/>
              </a:ext>
            </a:extLst>
          </p:cNvPr>
          <p:cNvSpPr/>
          <p:nvPr/>
        </p:nvSpPr>
        <p:spPr>
          <a:xfrm>
            <a:off x="3383867" y="4300809"/>
            <a:ext cx="288032" cy="432048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AFDA832-A0EB-474E-894D-C0DAD889419B}"/>
              </a:ext>
            </a:extLst>
          </p:cNvPr>
          <p:cNvSpPr/>
          <p:nvPr/>
        </p:nvSpPr>
        <p:spPr>
          <a:xfrm>
            <a:off x="2867809" y="4297660"/>
            <a:ext cx="288032" cy="432048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6E50C0F-FF35-4B48-BDD8-BC9A15B09648}"/>
              </a:ext>
            </a:extLst>
          </p:cNvPr>
          <p:cNvSpPr/>
          <p:nvPr/>
        </p:nvSpPr>
        <p:spPr>
          <a:xfrm>
            <a:off x="3899925" y="4297660"/>
            <a:ext cx="288032" cy="432048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5524D3-0F60-CD44-886B-9447D8973DC0}"/>
              </a:ext>
            </a:extLst>
          </p:cNvPr>
          <p:cNvSpPr/>
          <p:nvPr/>
        </p:nvSpPr>
        <p:spPr>
          <a:xfrm>
            <a:off x="3383867" y="4361284"/>
            <a:ext cx="288032" cy="72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7CCC712-529E-8F42-AD3F-810004ED9116}"/>
              </a:ext>
            </a:extLst>
          </p:cNvPr>
          <p:cNvSpPr/>
          <p:nvPr/>
        </p:nvSpPr>
        <p:spPr>
          <a:xfrm>
            <a:off x="3899925" y="4577308"/>
            <a:ext cx="288032" cy="72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139C060-22BF-7649-8349-3F7308138629}"/>
              </a:ext>
            </a:extLst>
          </p:cNvPr>
          <p:cNvSpPr/>
          <p:nvPr/>
        </p:nvSpPr>
        <p:spPr>
          <a:xfrm>
            <a:off x="2867809" y="4477680"/>
            <a:ext cx="288032" cy="72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7" name="肘形连接符 26">
            <a:extLst>
              <a:ext uri="{FF2B5EF4-FFF2-40B4-BE49-F238E27FC236}">
                <a16:creationId xmlns:a16="http://schemas.microsoft.com/office/drawing/2014/main" id="{73F66A99-DDE4-1743-B909-46DAC6A8B905}"/>
              </a:ext>
            </a:extLst>
          </p:cNvPr>
          <p:cNvCxnSpPr>
            <a:stCxn id="26" idx="3"/>
            <a:endCxn id="24" idx="1"/>
          </p:cNvCxnSpPr>
          <p:nvPr/>
        </p:nvCxnSpPr>
        <p:spPr>
          <a:xfrm flipV="1">
            <a:off x="3155841" y="4397288"/>
            <a:ext cx="228026" cy="116396"/>
          </a:xfrm>
          <a:prstGeom prst="bentConnector3">
            <a:avLst/>
          </a:prstGeom>
          <a:ln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肘形连接符 27">
            <a:extLst>
              <a:ext uri="{FF2B5EF4-FFF2-40B4-BE49-F238E27FC236}">
                <a16:creationId xmlns:a16="http://schemas.microsoft.com/office/drawing/2014/main" id="{AA63AF50-0F80-5E48-950F-97E975A4CED9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3671899" y="4397288"/>
            <a:ext cx="228026" cy="216024"/>
          </a:xfrm>
          <a:prstGeom prst="bentConnector3">
            <a:avLst/>
          </a:prstGeom>
          <a:ln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1308AD1F-BBBC-3846-ACD7-37CC0BCADB8A}"/>
              </a:ext>
            </a:extLst>
          </p:cNvPr>
          <p:cNvSpPr/>
          <p:nvPr/>
        </p:nvSpPr>
        <p:spPr>
          <a:xfrm>
            <a:off x="5664121" y="4300809"/>
            <a:ext cx="288032" cy="432048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8A423FA-13AB-A544-B6AB-0F87F361A837}"/>
              </a:ext>
            </a:extLst>
          </p:cNvPr>
          <p:cNvSpPr/>
          <p:nvPr/>
        </p:nvSpPr>
        <p:spPr>
          <a:xfrm>
            <a:off x="5148063" y="4297660"/>
            <a:ext cx="288032" cy="432048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D219224-28A3-544B-B883-D56D7C2A3BC9}"/>
              </a:ext>
            </a:extLst>
          </p:cNvPr>
          <p:cNvSpPr/>
          <p:nvPr/>
        </p:nvSpPr>
        <p:spPr>
          <a:xfrm>
            <a:off x="6180179" y="4297660"/>
            <a:ext cx="288032" cy="432048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ED14F62-A024-A343-9582-60D7FA38F8B5}"/>
              </a:ext>
            </a:extLst>
          </p:cNvPr>
          <p:cNvSpPr/>
          <p:nvPr/>
        </p:nvSpPr>
        <p:spPr>
          <a:xfrm>
            <a:off x="5664121" y="4361284"/>
            <a:ext cx="288032" cy="72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B09A766-ABC1-B146-8736-0D1E58FFBAF1}"/>
              </a:ext>
            </a:extLst>
          </p:cNvPr>
          <p:cNvSpPr/>
          <p:nvPr/>
        </p:nvSpPr>
        <p:spPr>
          <a:xfrm>
            <a:off x="6180179" y="4577308"/>
            <a:ext cx="288032" cy="72008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3F95300-1957-6A4B-8D48-E76009ECCA42}"/>
              </a:ext>
            </a:extLst>
          </p:cNvPr>
          <p:cNvSpPr/>
          <p:nvPr/>
        </p:nvSpPr>
        <p:spPr>
          <a:xfrm>
            <a:off x="5148063" y="4477680"/>
            <a:ext cx="288032" cy="72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7" name="肘形连接符 36">
            <a:extLst>
              <a:ext uri="{FF2B5EF4-FFF2-40B4-BE49-F238E27FC236}">
                <a16:creationId xmlns:a16="http://schemas.microsoft.com/office/drawing/2014/main" id="{197992A5-C18C-FF42-ADB0-BEC9EE378A81}"/>
              </a:ext>
            </a:extLst>
          </p:cNvPr>
          <p:cNvCxnSpPr>
            <a:stCxn id="36" idx="3"/>
            <a:endCxn id="34" idx="1"/>
          </p:cNvCxnSpPr>
          <p:nvPr/>
        </p:nvCxnSpPr>
        <p:spPr>
          <a:xfrm flipV="1">
            <a:off x="5436095" y="4397288"/>
            <a:ext cx="228026" cy="116396"/>
          </a:xfrm>
          <a:prstGeom prst="bentConnector3">
            <a:avLst/>
          </a:prstGeom>
          <a:ln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AD31EAB4-ABC1-4B42-8AF7-1640C485979E}"/>
              </a:ext>
            </a:extLst>
          </p:cNvPr>
          <p:cNvSpPr txBox="1"/>
          <p:nvPr/>
        </p:nvSpPr>
        <p:spPr>
          <a:xfrm>
            <a:off x="2979989" y="4829336"/>
            <a:ext cx="11464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b="1" dirty="0">
                <a:solidFill>
                  <a:schemeClr val="accent1"/>
                </a:solidFill>
                <a:latin typeface="DengXian" charset="0"/>
                <a:ea typeface="DengXian" charset="0"/>
                <a:cs typeface="DengXian" charset="0"/>
              </a:rPr>
              <a:t>Shadow</a:t>
            </a:r>
            <a:r>
              <a:rPr kumimoji="1" lang="zh-CN" altLang="en-US" sz="1200" b="1" dirty="0">
                <a:solidFill>
                  <a:schemeClr val="accent1"/>
                </a:solidFill>
                <a:latin typeface="DengXian" charset="0"/>
                <a:ea typeface="DengXian" charset="0"/>
                <a:cs typeface="DengXian" charset="0"/>
              </a:rPr>
              <a:t> </a:t>
            </a:r>
            <a:r>
              <a:rPr kumimoji="1" lang="en-US" altLang="zh-CN" sz="1200" b="1" dirty="0">
                <a:solidFill>
                  <a:schemeClr val="accent1"/>
                </a:solidFill>
                <a:latin typeface="DengXian" charset="0"/>
                <a:ea typeface="DengXian" charset="0"/>
                <a:cs typeface="DengXian" charset="0"/>
              </a:rPr>
              <a:t>PT</a:t>
            </a:r>
            <a:r>
              <a:rPr kumimoji="1" lang="zh-CN" altLang="en-US" sz="1200" b="1" dirty="0">
                <a:solidFill>
                  <a:schemeClr val="accent1"/>
                </a:solidFill>
                <a:latin typeface="DengXian" charset="0"/>
                <a:ea typeface="DengXian" charset="0"/>
                <a:cs typeface="DengXian" charset="0"/>
              </a:rPr>
              <a:t> </a:t>
            </a:r>
            <a:endParaRPr kumimoji="1" lang="en-US" altLang="zh-CN" sz="1200" b="1" dirty="0">
              <a:solidFill>
                <a:schemeClr val="accent1"/>
              </a:solidFill>
              <a:latin typeface="DengXian" charset="0"/>
              <a:ea typeface="DengXian" charset="0"/>
              <a:cs typeface="DengXian" charset="0"/>
            </a:endParaRPr>
          </a:p>
          <a:p>
            <a:pPr algn="ctr"/>
            <a:r>
              <a:rPr kumimoji="1" lang="en-US" altLang="zh-CN" sz="1200" b="1" dirty="0">
                <a:solidFill>
                  <a:schemeClr val="accent1"/>
                </a:solidFill>
                <a:latin typeface="DengXian" charset="0"/>
                <a:ea typeface="DengXian" charset="0"/>
                <a:cs typeface="DengXian" charset="0"/>
              </a:rPr>
              <a:t>(guest</a:t>
            </a:r>
            <a:r>
              <a:rPr kumimoji="1" lang="zh-CN" altLang="en-US" sz="1200" b="1" dirty="0">
                <a:solidFill>
                  <a:schemeClr val="accent1"/>
                </a:solidFill>
                <a:latin typeface="DengXian" charset="0"/>
                <a:ea typeface="DengXian" charset="0"/>
                <a:cs typeface="DengXian" charset="0"/>
              </a:rPr>
              <a:t> </a:t>
            </a:r>
            <a:r>
              <a:rPr kumimoji="1" lang="en-US" altLang="zh-CN" sz="1200" b="1" dirty="0">
                <a:solidFill>
                  <a:schemeClr val="accent1"/>
                </a:solidFill>
                <a:latin typeface="DengXian" charset="0"/>
                <a:ea typeface="DengXian" charset="0"/>
                <a:cs typeface="DengXian" charset="0"/>
              </a:rPr>
              <a:t>kernel)</a:t>
            </a:r>
            <a:endParaRPr kumimoji="1" lang="zh-CN" altLang="en-US" sz="1200" b="1" dirty="0">
              <a:solidFill>
                <a:schemeClr val="accent1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E41AAF8-071D-D745-BDF4-E81F93F7054B}"/>
              </a:ext>
            </a:extLst>
          </p:cNvPr>
          <p:cNvSpPr txBox="1"/>
          <p:nvPr/>
        </p:nvSpPr>
        <p:spPr>
          <a:xfrm>
            <a:off x="5303031" y="4814527"/>
            <a:ext cx="1010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b="1" dirty="0">
                <a:solidFill>
                  <a:schemeClr val="accent1"/>
                </a:solidFill>
                <a:latin typeface="DengXian" charset="0"/>
                <a:ea typeface="DengXian" charset="0"/>
                <a:cs typeface="DengXian" charset="0"/>
              </a:rPr>
              <a:t>Shadow</a:t>
            </a:r>
            <a:r>
              <a:rPr kumimoji="1" lang="zh-CN" altLang="en-US" sz="1200" b="1" dirty="0">
                <a:solidFill>
                  <a:schemeClr val="accent1"/>
                </a:solidFill>
                <a:latin typeface="DengXian" charset="0"/>
                <a:ea typeface="DengXian" charset="0"/>
                <a:cs typeface="DengXian" charset="0"/>
              </a:rPr>
              <a:t> </a:t>
            </a:r>
            <a:r>
              <a:rPr kumimoji="1" lang="en-US" altLang="zh-CN" sz="1200" b="1" dirty="0">
                <a:solidFill>
                  <a:schemeClr val="accent1"/>
                </a:solidFill>
                <a:latin typeface="DengXian" charset="0"/>
                <a:ea typeface="DengXian" charset="0"/>
                <a:cs typeface="DengXian" charset="0"/>
              </a:rPr>
              <a:t>PT</a:t>
            </a:r>
            <a:r>
              <a:rPr kumimoji="1" lang="zh-CN" altLang="en-US" sz="1200" b="1" dirty="0">
                <a:solidFill>
                  <a:schemeClr val="accent1"/>
                </a:solidFill>
                <a:latin typeface="DengXian" charset="0"/>
                <a:ea typeface="DengXian" charset="0"/>
                <a:cs typeface="DengXian" charset="0"/>
              </a:rPr>
              <a:t> </a:t>
            </a:r>
            <a:endParaRPr kumimoji="1" lang="en-US" altLang="zh-CN" sz="1200" b="1" dirty="0">
              <a:solidFill>
                <a:schemeClr val="accent1"/>
              </a:solidFill>
              <a:latin typeface="DengXian" charset="0"/>
              <a:ea typeface="DengXian" charset="0"/>
              <a:cs typeface="DengXian" charset="0"/>
            </a:endParaRPr>
          </a:p>
          <a:p>
            <a:pPr algn="ctr"/>
            <a:r>
              <a:rPr kumimoji="1" lang="en-US" altLang="zh-CN" sz="1200" b="1" dirty="0">
                <a:solidFill>
                  <a:schemeClr val="accent1"/>
                </a:solidFill>
                <a:latin typeface="DengXian" charset="0"/>
                <a:ea typeface="DengXian" charset="0"/>
                <a:cs typeface="DengXian" charset="0"/>
              </a:rPr>
              <a:t>(guest</a:t>
            </a:r>
            <a:r>
              <a:rPr kumimoji="1" lang="zh-CN" altLang="en-US" sz="1200" b="1" dirty="0">
                <a:solidFill>
                  <a:schemeClr val="accent1"/>
                </a:solidFill>
                <a:latin typeface="DengXian" charset="0"/>
                <a:ea typeface="DengXian" charset="0"/>
                <a:cs typeface="DengXian" charset="0"/>
              </a:rPr>
              <a:t> </a:t>
            </a:r>
            <a:r>
              <a:rPr kumimoji="1" lang="en-US" altLang="zh-CN" sz="1200" b="1" dirty="0">
                <a:solidFill>
                  <a:schemeClr val="accent1"/>
                </a:solidFill>
                <a:latin typeface="DengXian" charset="0"/>
                <a:ea typeface="DengXian" charset="0"/>
                <a:cs typeface="DengXian" charset="0"/>
              </a:rPr>
              <a:t>user)</a:t>
            </a:r>
            <a:endParaRPr kumimoji="1" lang="zh-CN" altLang="en-US" sz="1200" b="1" dirty="0">
              <a:solidFill>
                <a:schemeClr val="accent1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581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、</a:t>
            </a:r>
            <a:r>
              <a:rPr kumimoji="1" lang="en-US" altLang="zh-CN" dirty="0"/>
              <a:t>Direct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(Para-virtualization)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Modify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guest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OS</a:t>
            </a:r>
            <a:endParaRPr kumimoji="1" lang="zh-CN" altLang="en-US" dirty="0"/>
          </a:p>
          <a:p>
            <a:pPr lvl="1"/>
            <a:r>
              <a:rPr kumimoji="1" lang="en-US" altLang="zh-CN" dirty="0"/>
              <a:t>No</a:t>
            </a:r>
            <a:r>
              <a:rPr kumimoji="1" lang="zh-CN" altLang="en-US" dirty="0"/>
              <a:t> </a:t>
            </a:r>
            <a:r>
              <a:rPr kumimoji="1" lang="en-US" altLang="zh-CN" dirty="0"/>
              <a:t>GPA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needed,</a:t>
            </a:r>
            <a:r>
              <a:rPr kumimoji="1" lang="zh-CN" altLang="en-US" dirty="0"/>
              <a:t> </a:t>
            </a:r>
            <a:r>
              <a:rPr kumimoji="1" lang="en-US" altLang="zh-CN" dirty="0"/>
              <a:t>just</a:t>
            </a:r>
            <a:r>
              <a:rPr kumimoji="1" lang="zh-CN" altLang="en-US" dirty="0"/>
              <a:t> </a:t>
            </a:r>
            <a:r>
              <a:rPr kumimoji="1" lang="en-US" altLang="zh-CN" dirty="0"/>
              <a:t>GVA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HPA</a:t>
            </a:r>
            <a:endParaRPr kumimoji="1" lang="zh-CN" altLang="en-US" dirty="0"/>
          </a:p>
          <a:p>
            <a:pPr lvl="1"/>
            <a:r>
              <a:rPr kumimoji="1" lang="en-US" altLang="zh-CN" dirty="0"/>
              <a:t>Guest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OS</a:t>
            </a:r>
            <a:r>
              <a:rPr kumimoji="1" lang="zh-CN" altLang="en-US" dirty="0"/>
              <a:t> </a:t>
            </a:r>
            <a:r>
              <a:rPr kumimoji="1" lang="en-US" altLang="zh-CN" dirty="0"/>
              <a:t>directly</a:t>
            </a:r>
            <a:r>
              <a:rPr kumimoji="1" lang="zh-CN" altLang="en-US" dirty="0"/>
              <a:t> </a:t>
            </a:r>
            <a:r>
              <a:rPr kumimoji="1" lang="en-US" altLang="zh-CN" dirty="0"/>
              <a:t>manages</a:t>
            </a:r>
            <a:r>
              <a:rPr kumimoji="1" lang="zh-CN" altLang="en-US" dirty="0"/>
              <a:t> </a:t>
            </a:r>
            <a:r>
              <a:rPr kumimoji="1" lang="en-US" altLang="zh-CN" dirty="0"/>
              <a:t>its</a:t>
            </a:r>
            <a:r>
              <a:rPr kumimoji="1" lang="zh-CN" altLang="en-US" dirty="0"/>
              <a:t> </a:t>
            </a:r>
            <a:r>
              <a:rPr kumimoji="1" lang="en-US" altLang="zh-CN" dirty="0"/>
              <a:t>HPA</a:t>
            </a:r>
            <a:r>
              <a:rPr kumimoji="1" lang="zh-CN" altLang="en-US" dirty="0"/>
              <a:t> </a:t>
            </a:r>
            <a:r>
              <a:rPr kumimoji="1" lang="en-US" altLang="zh-CN" dirty="0"/>
              <a:t>space</a:t>
            </a:r>
            <a:endParaRPr kumimoji="1" lang="zh-CN" altLang="en-US" dirty="0"/>
          </a:p>
          <a:p>
            <a:pPr lvl="1"/>
            <a:r>
              <a:rPr kumimoji="1" lang="en-US" altLang="zh-CN" dirty="0"/>
              <a:t>Use</a:t>
            </a:r>
            <a:r>
              <a:rPr kumimoji="1" lang="zh-CN" altLang="en-US" dirty="0"/>
              <a:t> </a:t>
            </a:r>
            <a:r>
              <a:rPr kumimoji="1" lang="en-US" altLang="zh-CN" i="1" dirty="0" err="1"/>
              <a:t>hypercall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let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VMM</a:t>
            </a:r>
            <a:r>
              <a:rPr kumimoji="1" lang="zh-CN" altLang="en-US" dirty="0"/>
              <a:t> </a:t>
            </a:r>
            <a:r>
              <a:rPr kumimoji="1" lang="en-US" altLang="zh-CN" dirty="0"/>
              <a:t>update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  <a:endParaRPr kumimoji="1" lang="zh-CN" altLang="en-US" dirty="0"/>
          </a:p>
          <a:p>
            <a:pPr lvl="1"/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hardware</a:t>
            </a:r>
            <a:r>
              <a:rPr kumimoji="1" lang="zh-CN" altLang="en-US" dirty="0"/>
              <a:t> </a:t>
            </a:r>
            <a:r>
              <a:rPr kumimoji="1" lang="en-US" altLang="zh-CN" dirty="0"/>
              <a:t>CR3</a:t>
            </a:r>
            <a:r>
              <a:rPr kumimoji="1" lang="zh-CN" altLang="en-US" dirty="0"/>
              <a:t> </a:t>
            </a:r>
            <a:r>
              <a:rPr kumimoji="1" lang="en-US" altLang="zh-CN" dirty="0"/>
              <a:t>will</a:t>
            </a:r>
            <a:r>
              <a:rPr kumimoji="1" lang="zh-CN" altLang="en-US" dirty="0"/>
              <a:t> </a:t>
            </a:r>
            <a:r>
              <a:rPr kumimoji="1" lang="en-US" altLang="zh-CN" dirty="0"/>
              <a:t>point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guest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  <a:endParaRPr kumimoji="1" lang="zh-CN" altLang="en-US" dirty="0"/>
          </a:p>
          <a:p>
            <a:r>
              <a:rPr kumimoji="1" lang="en-US" altLang="zh-CN" dirty="0"/>
              <a:t>VMM</a:t>
            </a:r>
            <a:r>
              <a:rPr kumimoji="1" lang="zh-CN" altLang="en-US" dirty="0"/>
              <a:t> </a:t>
            </a:r>
            <a:r>
              <a:rPr kumimoji="1" lang="en-US" altLang="zh-CN" dirty="0"/>
              <a:t>will</a:t>
            </a:r>
            <a:r>
              <a:rPr kumimoji="1" lang="zh-CN" altLang="en-US" dirty="0"/>
              <a:t> </a:t>
            </a:r>
            <a:r>
              <a:rPr kumimoji="1" lang="en-US" altLang="zh-CN" dirty="0"/>
              <a:t>check</a:t>
            </a:r>
            <a:r>
              <a:rPr kumimoji="1" lang="zh-CN" altLang="en-US" dirty="0"/>
              <a:t> </a:t>
            </a:r>
            <a:r>
              <a:rPr kumimoji="1" lang="en-US" altLang="zh-CN" dirty="0"/>
              <a:t>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operations</a:t>
            </a:r>
            <a:endParaRPr kumimoji="1" lang="zh-CN" altLang="en-US" dirty="0"/>
          </a:p>
          <a:p>
            <a:pPr lvl="1"/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guest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tables</a:t>
            </a:r>
            <a:r>
              <a:rPr kumimoji="1" lang="zh-CN" altLang="en-US" dirty="0"/>
              <a:t> </a:t>
            </a:r>
            <a:r>
              <a:rPr kumimoji="1" lang="en-US" altLang="zh-CN" dirty="0"/>
              <a:t>are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read-only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guest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82003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、</a:t>
            </a:r>
            <a:r>
              <a:rPr kumimoji="1" lang="en-US" altLang="zh-CN" dirty="0"/>
              <a:t>Direct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(Para-virtualization)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Positive</a:t>
            </a:r>
            <a:endParaRPr kumimoji="1" lang="zh-CN" altLang="en-US" dirty="0"/>
          </a:p>
          <a:p>
            <a:pPr lvl="1"/>
            <a:r>
              <a:rPr kumimoji="1" lang="en-US" altLang="zh-CN" dirty="0"/>
              <a:t>Easy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implement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more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clear</a:t>
            </a:r>
            <a:r>
              <a:rPr kumimoji="1" lang="zh-CN" altLang="en-US" dirty="0"/>
              <a:t> </a:t>
            </a:r>
            <a:r>
              <a:rPr kumimoji="1" lang="en-US" altLang="zh-CN" dirty="0"/>
              <a:t>architecture</a:t>
            </a:r>
            <a:endParaRPr kumimoji="1" lang="zh-CN" altLang="en-US" dirty="0"/>
          </a:p>
          <a:p>
            <a:pPr lvl="1"/>
            <a:r>
              <a:rPr kumimoji="1" lang="en-US" altLang="zh-CN" dirty="0"/>
              <a:t>Better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performance:</a:t>
            </a:r>
            <a:r>
              <a:rPr kumimoji="1" lang="zh-CN" altLang="en-US" dirty="0"/>
              <a:t> </a:t>
            </a:r>
            <a:r>
              <a:rPr kumimoji="1" lang="en-US" altLang="zh-CN" dirty="0"/>
              <a:t>guest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batch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reduce</a:t>
            </a:r>
            <a:r>
              <a:rPr kumimoji="1" lang="zh-CN" altLang="en-US" dirty="0"/>
              <a:t> </a:t>
            </a:r>
            <a:r>
              <a:rPr kumimoji="1" lang="en-US" altLang="zh-CN" dirty="0"/>
              <a:t>trap</a:t>
            </a:r>
            <a:endParaRPr kumimoji="1" lang="zh-CN" altLang="en-US" dirty="0"/>
          </a:p>
          <a:p>
            <a:r>
              <a:rPr kumimoji="1" lang="en-US" altLang="zh-CN" dirty="0"/>
              <a:t>Negatives</a:t>
            </a:r>
            <a:endParaRPr kumimoji="1" lang="zh-CN" altLang="en-US" dirty="0"/>
          </a:p>
          <a:p>
            <a:pPr lvl="1"/>
            <a:r>
              <a:rPr kumimoji="1" lang="en-US" altLang="zh-CN" dirty="0"/>
              <a:t>Not</a:t>
            </a:r>
            <a:r>
              <a:rPr kumimoji="1" lang="zh-CN" altLang="en-US" dirty="0"/>
              <a:t> </a:t>
            </a:r>
            <a:r>
              <a:rPr kumimoji="1" lang="en-US" altLang="zh-CN" dirty="0"/>
              <a:t>transparent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guest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OS</a:t>
            </a:r>
            <a:endParaRPr kumimoji="1" lang="zh-CN" altLang="en-US" dirty="0"/>
          </a:p>
          <a:p>
            <a:pPr lvl="1"/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guest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now</a:t>
            </a:r>
            <a:r>
              <a:rPr kumimoji="1" lang="zh-CN" altLang="en-US" dirty="0"/>
              <a:t> </a:t>
            </a:r>
            <a:r>
              <a:rPr kumimoji="1" lang="en-US" altLang="zh-CN" dirty="0"/>
              <a:t>knows</a:t>
            </a:r>
            <a:r>
              <a:rPr kumimoji="1" lang="zh-CN" altLang="en-US" dirty="0"/>
              <a:t> </a:t>
            </a:r>
            <a:r>
              <a:rPr kumimoji="1" lang="en-US" altLang="zh-CN" dirty="0"/>
              <a:t>much</a:t>
            </a:r>
            <a:r>
              <a:rPr kumimoji="1" lang="zh-CN" altLang="en-US" dirty="0"/>
              <a:t> </a:t>
            </a:r>
            <a:r>
              <a:rPr kumimoji="1" lang="en-US" altLang="zh-CN" dirty="0"/>
              <a:t>info,</a:t>
            </a:r>
            <a:r>
              <a:rPr kumimoji="1" lang="zh-CN" altLang="en-US" dirty="0"/>
              <a:t> </a:t>
            </a:r>
            <a:r>
              <a:rPr kumimoji="1" lang="en-US" altLang="zh-CN" dirty="0"/>
              <a:t>e.g.,</a:t>
            </a:r>
            <a:r>
              <a:rPr kumimoji="1" lang="zh-CN" altLang="en-US" dirty="0"/>
              <a:t> </a:t>
            </a:r>
            <a:r>
              <a:rPr kumimoji="1" lang="en-US" altLang="zh-CN" dirty="0"/>
              <a:t>HPA</a:t>
            </a:r>
            <a:endParaRPr kumimoji="1" lang="zh-CN" altLang="en-US" dirty="0"/>
          </a:p>
          <a:p>
            <a:pPr lvl="2"/>
            <a:r>
              <a:rPr kumimoji="1" lang="en-US" altLang="zh-CN" dirty="0"/>
              <a:t>May</a:t>
            </a:r>
            <a:r>
              <a:rPr kumimoji="1" lang="zh-CN" altLang="en-US" dirty="0"/>
              <a:t> </a:t>
            </a:r>
            <a:r>
              <a:rPr kumimoji="1" lang="en-US" altLang="zh-CN" dirty="0"/>
              <a:t>use</a:t>
            </a:r>
            <a:r>
              <a:rPr kumimoji="1" lang="zh-CN" altLang="en-US" dirty="0"/>
              <a:t> </a:t>
            </a:r>
            <a:r>
              <a:rPr kumimoji="1" lang="en-US" altLang="zh-CN" dirty="0"/>
              <a:t>such</a:t>
            </a:r>
            <a:r>
              <a:rPr kumimoji="1" lang="zh-CN" altLang="en-US" dirty="0"/>
              <a:t> </a:t>
            </a:r>
            <a:r>
              <a:rPr kumimoji="1" lang="en-US" altLang="zh-CN" dirty="0"/>
              <a:t>info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trigger</a:t>
            </a:r>
            <a:r>
              <a:rPr kumimoji="1" lang="zh-CN" altLang="en-US" dirty="0"/>
              <a:t> </a:t>
            </a:r>
            <a:r>
              <a:rPr kumimoji="1" lang="en-US" altLang="zh-CN" i="1" dirty="0" err="1">
                <a:solidFill>
                  <a:srgbClr val="FF0000"/>
                </a:solidFill>
              </a:rPr>
              <a:t>rowhammer</a:t>
            </a:r>
            <a:r>
              <a:rPr kumimoji="1" lang="zh-CN" altLang="en-US" dirty="0"/>
              <a:t> </a:t>
            </a:r>
            <a:r>
              <a:rPr kumimoji="1" lang="en-US" altLang="zh-CN" dirty="0"/>
              <a:t>attacks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57949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40A6F1-E99C-2B48-8887-EF38D3A4C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  <a:r>
              <a:rPr kumimoji="1" lang="zh-CN" altLang="en-US" dirty="0"/>
              <a:t>、硬件虚拟化对内存翻译的支持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2489A7-CC3D-6F4A-99FC-6828E52FC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Intel</a:t>
            </a:r>
            <a:r>
              <a:rPr kumimoji="1" lang="zh-CN" altLang="en-US" dirty="0"/>
              <a:t> </a:t>
            </a:r>
            <a:r>
              <a:rPr kumimoji="1" lang="en-US" altLang="zh-CN" dirty="0"/>
              <a:t>VT-x</a:t>
            </a:r>
            <a:r>
              <a:rPr kumimoji="1" lang="zh-CN" altLang="en-US" dirty="0"/>
              <a:t>和</a:t>
            </a:r>
            <a:r>
              <a:rPr kumimoji="1" lang="en-US" altLang="zh-CN" dirty="0"/>
              <a:t>ARM</a:t>
            </a:r>
            <a:r>
              <a:rPr kumimoji="1" lang="zh-CN" altLang="en-US" dirty="0"/>
              <a:t>硬件虚拟化都有对应的内存虚拟化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Intel</a:t>
            </a:r>
            <a:r>
              <a:rPr kumimoji="1" lang="zh-CN" altLang="en-US" dirty="0"/>
              <a:t> </a:t>
            </a:r>
            <a:r>
              <a:rPr kumimoji="1" lang="en-US" altLang="zh-CN" dirty="0"/>
              <a:t>Extended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(EPT)</a:t>
            </a:r>
          </a:p>
          <a:p>
            <a:pPr lvl="1"/>
            <a:r>
              <a:rPr kumimoji="1" lang="en-US" altLang="zh-CN" dirty="0"/>
              <a:t>ARM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Stage-2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(</a:t>
            </a:r>
            <a:r>
              <a:rPr kumimoji="1" lang="zh-CN" altLang="en-US" dirty="0"/>
              <a:t>第二阶段页表</a:t>
            </a:r>
            <a:r>
              <a:rPr kumimoji="1" lang="en-US" altLang="zh-CN" dirty="0"/>
              <a:t>)</a:t>
            </a:r>
          </a:p>
          <a:p>
            <a:r>
              <a:rPr kumimoji="1" lang="zh-CN" altLang="en-US" dirty="0"/>
              <a:t>新的页表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将</a:t>
            </a:r>
            <a:r>
              <a:rPr kumimoji="1" lang="en-US" altLang="zh-CN" dirty="0"/>
              <a:t>GPA</a:t>
            </a:r>
            <a:r>
              <a:rPr kumimoji="1" lang="zh-CN" altLang="en-US" dirty="0"/>
              <a:t>翻译成</a:t>
            </a:r>
            <a:r>
              <a:rPr kumimoji="1" lang="en-US" altLang="zh-CN" dirty="0"/>
              <a:t>HPA</a:t>
            </a:r>
          </a:p>
          <a:p>
            <a:pPr lvl="1"/>
            <a:r>
              <a:rPr kumimoji="1" lang="zh-CN" altLang="en-US" dirty="0"/>
              <a:t>此表被</a:t>
            </a:r>
            <a:r>
              <a:rPr kumimoji="1" lang="en-US" altLang="zh-CN" dirty="0"/>
              <a:t>VMM</a:t>
            </a:r>
            <a:r>
              <a:rPr kumimoji="1" lang="zh-CN" altLang="en-US" dirty="0"/>
              <a:t>直接控制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每一个</a:t>
            </a:r>
            <a:r>
              <a:rPr kumimoji="1" lang="en-US" altLang="zh-CN" dirty="0"/>
              <a:t>VM</a:t>
            </a:r>
            <a:r>
              <a:rPr kumimoji="1" lang="zh-CN" altLang="en-US" dirty="0"/>
              <a:t>有一个对应的页表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64B11C-8D73-F543-AFC6-3DB21F8DC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D1F155-DB47-6D43-8FA4-D81908CF1E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30324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3E995C-D995-3E42-902C-0B671ED00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第二阶段页表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0997AA-B8E1-1048-9B62-60456A146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第一阶段页表：虚拟机内虚拟地址翻译（</a:t>
            </a:r>
            <a:r>
              <a:rPr kumimoji="1" lang="en-US" altLang="zh-CN" dirty="0"/>
              <a:t>GVA-&gt;GPA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zh-CN" altLang="en-US" dirty="0"/>
              <a:t>第二阶段页表：虚拟机客户物理地址翻译（</a:t>
            </a:r>
            <a:r>
              <a:rPr kumimoji="1" lang="en-US" altLang="zh-CN" dirty="0"/>
              <a:t>GPA-&gt;HPA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C9E3B4-D398-794B-BE5A-53933A034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99556D-1E09-F54B-A22F-C3D6B30A39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920009B-105A-D04E-BD34-028B3CFA035E}"/>
              </a:ext>
            </a:extLst>
          </p:cNvPr>
          <p:cNvGrpSpPr/>
          <p:nvPr/>
        </p:nvGrpSpPr>
        <p:grpSpPr>
          <a:xfrm>
            <a:off x="755576" y="2281436"/>
            <a:ext cx="7488832" cy="3049100"/>
            <a:chOff x="475924" y="70274"/>
            <a:chExt cx="8360384" cy="5239165"/>
          </a:xfrm>
        </p:grpSpPr>
        <p:cxnSp>
          <p:nvCxnSpPr>
            <p:cNvPr id="7" name="Straight Connector 146">
              <a:extLst>
                <a:ext uri="{FF2B5EF4-FFF2-40B4-BE49-F238E27FC236}">
                  <a16:creationId xmlns:a16="http://schemas.microsoft.com/office/drawing/2014/main" id="{1AE110D6-C335-C740-9833-E0C28518777A}"/>
                </a:ext>
              </a:extLst>
            </p:cNvPr>
            <p:cNvCxnSpPr/>
            <p:nvPr/>
          </p:nvCxnSpPr>
          <p:spPr>
            <a:xfrm>
              <a:off x="3632968" y="2504742"/>
              <a:ext cx="1311696" cy="924083"/>
            </a:xfrm>
            <a:prstGeom prst="line">
              <a:avLst/>
            </a:prstGeom>
            <a:ln>
              <a:solidFill>
                <a:srgbClr val="BE38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83">
              <a:extLst>
                <a:ext uri="{FF2B5EF4-FFF2-40B4-BE49-F238E27FC236}">
                  <a16:creationId xmlns:a16="http://schemas.microsoft.com/office/drawing/2014/main" id="{081229DF-1E5B-5F48-96D1-5E6782A4EC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72652" y="3457256"/>
              <a:ext cx="6318029" cy="718081"/>
            </a:xfrm>
            <a:prstGeom prst="rect">
              <a:avLst/>
            </a:prstGeom>
          </p:spPr>
        </p:pic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0E164BDA-81FD-DC4E-BF2A-279AA737D72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910355" y="3428824"/>
              <a:ext cx="655848" cy="3528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673A9FC0-24A0-2247-B933-9178EA47B47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76764" y="3428824"/>
              <a:ext cx="655848" cy="3528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FB7A246F-CB54-F14F-9140-30BA4404509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65424" y="979591"/>
              <a:ext cx="655848" cy="352835"/>
            </a:xfrm>
            <a:prstGeom prst="rect">
              <a:avLst/>
            </a:prstGeom>
            <a:solidFill>
              <a:srgbClr val="558ED5"/>
            </a:solidFill>
            <a:ln>
              <a:solidFill>
                <a:srgbClr val="385D8A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endParaRPr lang="en-US" altLang="zh-TW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039BCCAC-566A-E943-AE81-E3740FCD16D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21272" y="979591"/>
              <a:ext cx="655848" cy="352835"/>
            </a:xfrm>
            <a:prstGeom prst="rect">
              <a:avLst/>
            </a:prstGeom>
            <a:solidFill>
              <a:srgbClr val="558ED5"/>
            </a:solidFill>
            <a:ln>
              <a:solidFill>
                <a:srgbClr val="385D8A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endParaRPr lang="en-US" altLang="zh-TW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1F55AD9C-AAA1-5F4E-A725-5C76F18FB3D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77120" y="979591"/>
              <a:ext cx="655848" cy="352835"/>
            </a:xfrm>
            <a:prstGeom prst="rect">
              <a:avLst/>
            </a:prstGeom>
            <a:solidFill>
              <a:srgbClr val="558ED5"/>
            </a:solidFill>
            <a:ln>
              <a:solidFill>
                <a:srgbClr val="385D8A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endParaRPr lang="en-US" altLang="zh-TW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ACC4EE90-59BC-D744-8B57-C3B60F6F029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65424" y="2176230"/>
              <a:ext cx="655848" cy="352835"/>
            </a:xfrm>
            <a:prstGeom prst="rect">
              <a:avLst/>
            </a:prstGeom>
            <a:solidFill>
              <a:srgbClr val="558ED5"/>
            </a:solidFill>
            <a:ln>
              <a:solidFill>
                <a:srgbClr val="385D8A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endParaRPr lang="en-US" altLang="zh-TW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2FCFDE0B-DE4C-414B-909E-9E584E5C1C6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65424" y="2183912"/>
              <a:ext cx="655848" cy="352835"/>
            </a:xfrm>
            <a:prstGeom prst="rect">
              <a:avLst/>
            </a:prstGeom>
            <a:noFill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6" name="Rectangle 11">
              <a:extLst>
                <a:ext uri="{FF2B5EF4-FFF2-40B4-BE49-F238E27FC236}">
                  <a16:creationId xmlns:a16="http://schemas.microsoft.com/office/drawing/2014/main" id="{7C21F957-FC21-914F-9D3C-3B8912076CA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21272" y="2183912"/>
              <a:ext cx="655848" cy="352835"/>
            </a:xfrm>
            <a:prstGeom prst="rect">
              <a:avLst/>
            </a:prstGeom>
            <a:solidFill>
              <a:srgbClr val="558ED5"/>
            </a:solidFill>
            <a:ln>
              <a:solidFill>
                <a:srgbClr val="385D8A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endParaRPr lang="en-US" altLang="zh-TW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7" name="Rectangle 5">
              <a:extLst>
                <a:ext uri="{FF2B5EF4-FFF2-40B4-BE49-F238E27FC236}">
                  <a16:creationId xmlns:a16="http://schemas.microsoft.com/office/drawing/2014/main" id="{6546AB6F-130E-7C45-B24C-7CFD6BD4DB2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77120" y="2183912"/>
              <a:ext cx="655848" cy="352835"/>
            </a:xfrm>
            <a:prstGeom prst="rect">
              <a:avLst/>
            </a:prstGeom>
            <a:noFill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8" name="Rectangle 5">
              <a:extLst>
                <a:ext uri="{FF2B5EF4-FFF2-40B4-BE49-F238E27FC236}">
                  <a16:creationId xmlns:a16="http://schemas.microsoft.com/office/drawing/2014/main" id="{15B39B1A-8990-E041-B93E-9492E99ECDF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32968" y="2183912"/>
              <a:ext cx="655848" cy="352835"/>
            </a:xfrm>
            <a:prstGeom prst="rect">
              <a:avLst/>
            </a:prstGeom>
            <a:solidFill>
              <a:srgbClr val="9BBC59"/>
            </a:solidFill>
            <a:ln>
              <a:solidFill>
                <a:srgbClr val="72893E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cxnSp>
          <p:nvCxnSpPr>
            <p:cNvPr id="19" name="Straight Connector 15">
              <a:extLst>
                <a:ext uri="{FF2B5EF4-FFF2-40B4-BE49-F238E27FC236}">
                  <a16:creationId xmlns:a16="http://schemas.microsoft.com/office/drawing/2014/main" id="{9609828E-1781-BD44-969E-93DAB7F0C9D5}"/>
                </a:ext>
              </a:extLst>
            </p:cNvPr>
            <p:cNvCxnSpPr/>
            <p:nvPr/>
          </p:nvCxnSpPr>
          <p:spPr>
            <a:xfrm>
              <a:off x="1665424" y="1332426"/>
              <a:ext cx="655848" cy="851486"/>
            </a:xfrm>
            <a:prstGeom prst="line">
              <a:avLst/>
            </a:prstGeom>
            <a:ln>
              <a:solidFill>
                <a:srgbClr val="385D8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6">
              <a:extLst>
                <a:ext uri="{FF2B5EF4-FFF2-40B4-BE49-F238E27FC236}">
                  <a16:creationId xmlns:a16="http://schemas.microsoft.com/office/drawing/2014/main" id="{7F7D681C-A90A-674D-A1F9-9EE50B8AC3F2}"/>
                </a:ext>
              </a:extLst>
            </p:cNvPr>
            <p:cNvCxnSpPr/>
            <p:nvPr/>
          </p:nvCxnSpPr>
          <p:spPr>
            <a:xfrm>
              <a:off x="2321272" y="1332426"/>
              <a:ext cx="655848" cy="851486"/>
            </a:xfrm>
            <a:prstGeom prst="line">
              <a:avLst/>
            </a:prstGeom>
            <a:ln>
              <a:solidFill>
                <a:srgbClr val="385D8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17">
              <a:extLst>
                <a:ext uri="{FF2B5EF4-FFF2-40B4-BE49-F238E27FC236}">
                  <a16:creationId xmlns:a16="http://schemas.microsoft.com/office/drawing/2014/main" id="{F688F64A-8968-6A40-99B2-0E905EC301E0}"/>
                </a:ext>
              </a:extLst>
            </p:cNvPr>
            <p:cNvCxnSpPr/>
            <p:nvPr/>
          </p:nvCxnSpPr>
          <p:spPr>
            <a:xfrm flipH="1">
              <a:off x="3632968" y="1332426"/>
              <a:ext cx="655848" cy="851486"/>
            </a:xfrm>
            <a:prstGeom prst="line">
              <a:avLst/>
            </a:prstGeom>
            <a:ln>
              <a:solidFill>
                <a:srgbClr val="72893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0">
              <a:extLst>
                <a:ext uri="{FF2B5EF4-FFF2-40B4-BE49-F238E27FC236}">
                  <a16:creationId xmlns:a16="http://schemas.microsoft.com/office/drawing/2014/main" id="{AC889F1C-00A3-B640-8D6A-6E28B1B59093}"/>
                </a:ext>
              </a:extLst>
            </p:cNvPr>
            <p:cNvCxnSpPr/>
            <p:nvPr/>
          </p:nvCxnSpPr>
          <p:spPr>
            <a:xfrm flipH="1">
              <a:off x="4288816" y="1332426"/>
              <a:ext cx="655848" cy="851486"/>
            </a:xfrm>
            <a:prstGeom prst="line">
              <a:avLst/>
            </a:prstGeom>
            <a:ln>
              <a:solidFill>
                <a:srgbClr val="72893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5">
              <a:extLst>
                <a:ext uri="{FF2B5EF4-FFF2-40B4-BE49-F238E27FC236}">
                  <a16:creationId xmlns:a16="http://schemas.microsoft.com/office/drawing/2014/main" id="{6B0C7A8A-89AF-A94C-91DC-B4DABB97FC8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88816" y="979591"/>
              <a:ext cx="655848" cy="352835"/>
            </a:xfrm>
            <a:prstGeom prst="rect">
              <a:avLst/>
            </a:prstGeom>
            <a:solidFill>
              <a:srgbClr val="9BBC59"/>
            </a:solidFill>
            <a:ln>
              <a:solidFill>
                <a:srgbClr val="72893E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24" name="Rectangle 5">
              <a:extLst>
                <a:ext uri="{FF2B5EF4-FFF2-40B4-BE49-F238E27FC236}">
                  <a16:creationId xmlns:a16="http://schemas.microsoft.com/office/drawing/2014/main" id="{76AB5DCA-74F7-8E41-A274-3CC081501DA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88816" y="2183912"/>
              <a:ext cx="655848" cy="352835"/>
            </a:xfrm>
            <a:prstGeom prst="rect">
              <a:avLst/>
            </a:prstGeom>
            <a:solidFill>
              <a:srgbClr val="FFFFFF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cxnSp>
          <p:nvCxnSpPr>
            <p:cNvPr id="25" name="Straight Connector 25">
              <a:extLst>
                <a:ext uri="{FF2B5EF4-FFF2-40B4-BE49-F238E27FC236}">
                  <a16:creationId xmlns:a16="http://schemas.microsoft.com/office/drawing/2014/main" id="{1DFC766A-A04A-1241-AE9B-40DE08FDDADC}"/>
                </a:ext>
              </a:extLst>
            </p:cNvPr>
            <p:cNvCxnSpPr/>
            <p:nvPr/>
          </p:nvCxnSpPr>
          <p:spPr>
            <a:xfrm flipH="1">
              <a:off x="1676764" y="1332426"/>
              <a:ext cx="1300356" cy="851486"/>
            </a:xfrm>
            <a:prstGeom prst="line">
              <a:avLst/>
            </a:prstGeom>
            <a:ln>
              <a:solidFill>
                <a:srgbClr val="385D8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7">
              <a:extLst>
                <a:ext uri="{FF2B5EF4-FFF2-40B4-BE49-F238E27FC236}">
                  <a16:creationId xmlns:a16="http://schemas.microsoft.com/office/drawing/2014/main" id="{C69E5FF5-E0DF-C943-81F8-E2A4AB1BC248}"/>
                </a:ext>
              </a:extLst>
            </p:cNvPr>
            <p:cNvCxnSpPr/>
            <p:nvPr/>
          </p:nvCxnSpPr>
          <p:spPr>
            <a:xfrm flipH="1">
              <a:off x="2321272" y="1332426"/>
              <a:ext cx="1311696" cy="851486"/>
            </a:xfrm>
            <a:prstGeom prst="line">
              <a:avLst/>
            </a:prstGeom>
            <a:ln>
              <a:solidFill>
                <a:srgbClr val="385D8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5">
              <a:extLst>
                <a:ext uri="{FF2B5EF4-FFF2-40B4-BE49-F238E27FC236}">
                  <a16:creationId xmlns:a16="http://schemas.microsoft.com/office/drawing/2014/main" id="{46CE1484-D1ED-3B40-8445-A26BF6BACB1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44308" y="3435484"/>
              <a:ext cx="655848" cy="3528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28" name="Rectangle 5">
              <a:extLst>
                <a:ext uri="{FF2B5EF4-FFF2-40B4-BE49-F238E27FC236}">
                  <a16:creationId xmlns:a16="http://schemas.microsoft.com/office/drawing/2014/main" id="{3E3E8DE0-DED1-E641-AFE9-DC37C19FE42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88816" y="3435484"/>
              <a:ext cx="655848" cy="352835"/>
            </a:xfrm>
            <a:prstGeom prst="rect">
              <a:avLst/>
            </a:prstGeom>
            <a:solidFill>
              <a:srgbClr val="BE384B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29" name="Rectangle 31">
              <a:extLst>
                <a:ext uri="{FF2B5EF4-FFF2-40B4-BE49-F238E27FC236}">
                  <a16:creationId xmlns:a16="http://schemas.microsoft.com/office/drawing/2014/main" id="{068F2896-6E3D-6944-848A-6E9080DE99A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44664" y="3435484"/>
              <a:ext cx="655848" cy="3528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0" name="Rectangle 5">
              <a:extLst>
                <a:ext uri="{FF2B5EF4-FFF2-40B4-BE49-F238E27FC236}">
                  <a16:creationId xmlns:a16="http://schemas.microsoft.com/office/drawing/2014/main" id="{B1601F76-99DC-E447-AF27-06FD3C1F53D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600512" y="3435484"/>
              <a:ext cx="655848" cy="3528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1" name="Rectangle 5">
              <a:extLst>
                <a:ext uri="{FF2B5EF4-FFF2-40B4-BE49-F238E27FC236}">
                  <a16:creationId xmlns:a16="http://schemas.microsoft.com/office/drawing/2014/main" id="{999B7A61-F08C-0347-90B1-BCEDC3B066A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256360" y="3435484"/>
              <a:ext cx="655848" cy="35283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2" name="Rectangle 5">
              <a:extLst>
                <a:ext uri="{FF2B5EF4-FFF2-40B4-BE49-F238E27FC236}">
                  <a16:creationId xmlns:a16="http://schemas.microsoft.com/office/drawing/2014/main" id="{0627418E-DE60-8D47-A105-A7E4810E366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256360" y="3435484"/>
              <a:ext cx="655848" cy="3528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3" name="Rectangle 5">
              <a:extLst>
                <a:ext uri="{FF2B5EF4-FFF2-40B4-BE49-F238E27FC236}">
                  <a16:creationId xmlns:a16="http://schemas.microsoft.com/office/drawing/2014/main" id="{7DB612F2-9650-C64C-8ADE-3121BBF4958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44664" y="979591"/>
              <a:ext cx="655848" cy="352835"/>
            </a:xfrm>
            <a:prstGeom prst="rect">
              <a:avLst/>
            </a:prstGeom>
            <a:solidFill>
              <a:srgbClr val="9BBC59"/>
            </a:solidFill>
            <a:ln>
              <a:solidFill>
                <a:srgbClr val="72893E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4" name="Rectangle 5">
              <a:extLst>
                <a:ext uri="{FF2B5EF4-FFF2-40B4-BE49-F238E27FC236}">
                  <a16:creationId xmlns:a16="http://schemas.microsoft.com/office/drawing/2014/main" id="{8835C851-6A80-574D-A319-7FE8A0215AC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256360" y="2183912"/>
              <a:ext cx="655848" cy="352835"/>
            </a:xfrm>
            <a:prstGeom prst="rect">
              <a:avLst/>
            </a:prstGeom>
            <a:no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5" name="Rectangle 5">
              <a:extLst>
                <a:ext uri="{FF2B5EF4-FFF2-40B4-BE49-F238E27FC236}">
                  <a16:creationId xmlns:a16="http://schemas.microsoft.com/office/drawing/2014/main" id="{BC47905B-3858-1D4E-B962-16B33E85481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912208" y="2183912"/>
              <a:ext cx="655848" cy="35283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6" name="Rectangle 5">
              <a:extLst>
                <a:ext uri="{FF2B5EF4-FFF2-40B4-BE49-F238E27FC236}">
                  <a16:creationId xmlns:a16="http://schemas.microsoft.com/office/drawing/2014/main" id="{F125C589-BF92-974A-BB89-B67D7BA18AA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65424" y="2179579"/>
              <a:ext cx="3279240" cy="352835"/>
            </a:xfrm>
            <a:prstGeom prst="rect">
              <a:avLst/>
            </a:prstGeom>
            <a:noFill/>
            <a:ln w="38100" cmpd="sng">
              <a:solidFill>
                <a:srgbClr val="BE384B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7" name="Rectangle 5">
              <a:extLst>
                <a:ext uri="{FF2B5EF4-FFF2-40B4-BE49-F238E27FC236}">
                  <a16:creationId xmlns:a16="http://schemas.microsoft.com/office/drawing/2014/main" id="{5BB2A7DF-0B03-9A42-9B38-1C0AF90E9AF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77120" y="3435484"/>
              <a:ext cx="655848" cy="352835"/>
            </a:xfrm>
            <a:prstGeom prst="rect">
              <a:avLst/>
            </a:prstGeom>
            <a:solidFill>
              <a:srgbClr val="BE384B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8" name="Rectangle 5">
              <a:extLst>
                <a:ext uri="{FF2B5EF4-FFF2-40B4-BE49-F238E27FC236}">
                  <a16:creationId xmlns:a16="http://schemas.microsoft.com/office/drawing/2014/main" id="{DE182014-3C80-6646-B073-1BBEAB1B3C2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21272" y="3435484"/>
              <a:ext cx="655848" cy="352835"/>
            </a:xfrm>
            <a:prstGeom prst="rect">
              <a:avLst/>
            </a:prstGeom>
            <a:solidFill>
              <a:srgbClr val="BE384B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cxnSp>
          <p:nvCxnSpPr>
            <p:cNvPr id="39" name="Straight Connector 50">
              <a:extLst>
                <a:ext uri="{FF2B5EF4-FFF2-40B4-BE49-F238E27FC236}">
                  <a16:creationId xmlns:a16="http://schemas.microsoft.com/office/drawing/2014/main" id="{F3D65767-0B28-224C-9D5C-D195503A60AD}"/>
                </a:ext>
              </a:extLst>
            </p:cNvPr>
            <p:cNvCxnSpPr/>
            <p:nvPr/>
          </p:nvCxnSpPr>
          <p:spPr>
            <a:xfrm>
              <a:off x="2321272" y="2542542"/>
              <a:ext cx="655848" cy="864406"/>
            </a:xfrm>
            <a:prstGeom prst="line">
              <a:avLst/>
            </a:prstGeom>
            <a:ln>
              <a:solidFill>
                <a:srgbClr val="BE38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53">
              <a:extLst>
                <a:ext uri="{FF2B5EF4-FFF2-40B4-BE49-F238E27FC236}">
                  <a16:creationId xmlns:a16="http://schemas.microsoft.com/office/drawing/2014/main" id="{353B8BD4-A5EC-CE47-AC76-7255683C2905}"/>
                </a:ext>
              </a:extLst>
            </p:cNvPr>
            <p:cNvCxnSpPr/>
            <p:nvPr/>
          </p:nvCxnSpPr>
          <p:spPr>
            <a:xfrm>
              <a:off x="1665424" y="2529065"/>
              <a:ext cx="655848" cy="896597"/>
            </a:xfrm>
            <a:prstGeom prst="line">
              <a:avLst/>
            </a:prstGeom>
            <a:ln>
              <a:solidFill>
                <a:srgbClr val="BE38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62">
              <a:extLst>
                <a:ext uri="{FF2B5EF4-FFF2-40B4-BE49-F238E27FC236}">
                  <a16:creationId xmlns:a16="http://schemas.microsoft.com/office/drawing/2014/main" id="{6D72707E-A1C2-7349-BCAD-ADC1FDDFAE65}"/>
                </a:ext>
              </a:extLst>
            </p:cNvPr>
            <p:cNvCxnSpPr/>
            <p:nvPr/>
          </p:nvCxnSpPr>
          <p:spPr>
            <a:xfrm flipH="1">
              <a:off x="6256360" y="2536747"/>
              <a:ext cx="655848" cy="888915"/>
            </a:xfrm>
            <a:prstGeom prst="line">
              <a:avLst/>
            </a:prstGeom>
            <a:ln>
              <a:solidFill>
                <a:srgbClr val="D5C88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64">
              <a:extLst>
                <a:ext uri="{FF2B5EF4-FFF2-40B4-BE49-F238E27FC236}">
                  <a16:creationId xmlns:a16="http://schemas.microsoft.com/office/drawing/2014/main" id="{6E08895B-645A-B241-B957-D3EFED4DCA3E}"/>
                </a:ext>
              </a:extLst>
            </p:cNvPr>
            <p:cNvCxnSpPr/>
            <p:nvPr/>
          </p:nvCxnSpPr>
          <p:spPr>
            <a:xfrm flipH="1">
              <a:off x="6912208" y="2536747"/>
              <a:ext cx="655848" cy="870201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5">
              <a:extLst>
                <a:ext uri="{FF2B5EF4-FFF2-40B4-BE49-F238E27FC236}">
                  <a16:creationId xmlns:a16="http://schemas.microsoft.com/office/drawing/2014/main" id="{A8E54B0C-92A3-1E42-9A5F-E9E4D5DA5B6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44664" y="3435484"/>
              <a:ext cx="655848" cy="352835"/>
            </a:xfrm>
            <a:prstGeom prst="rect">
              <a:avLst/>
            </a:prstGeom>
            <a:solidFill>
              <a:srgbClr val="BE384B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44" name="Rectangle 5">
              <a:extLst>
                <a:ext uri="{FF2B5EF4-FFF2-40B4-BE49-F238E27FC236}">
                  <a16:creationId xmlns:a16="http://schemas.microsoft.com/office/drawing/2014/main" id="{638B4A23-2102-1449-9B36-E2DDE42E2A0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76764" y="3425662"/>
              <a:ext cx="5891292" cy="352835"/>
            </a:xfrm>
            <a:prstGeom prst="rect">
              <a:avLst/>
            </a:prstGeom>
            <a:noFill/>
            <a:ln w="57150" cmpd="sng"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45" name="TextBox 69">
              <a:extLst>
                <a:ext uri="{FF2B5EF4-FFF2-40B4-BE49-F238E27FC236}">
                  <a16:creationId xmlns:a16="http://schemas.microsoft.com/office/drawing/2014/main" id="{A717D2AB-0127-7F47-BFBF-5A52DA0D3079}"/>
                </a:ext>
              </a:extLst>
            </p:cNvPr>
            <p:cNvSpPr txBox="1"/>
            <p:nvPr/>
          </p:nvSpPr>
          <p:spPr>
            <a:xfrm>
              <a:off x="475924" y="317732"/>
              <a:ext cx="9096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GVA</a:t>
              </a:r>
            </a:p>
          </p:txBody>
        </p:sp>
        <p:sp>
          <p:nvSpPr>
            <p:cNvPr id="46" name="TextBox 70">
              <a:extLst>
                <a:ext uri="{FF2B5EF4-FFF2-40B4-BE49-F238E27FC236}">
                  <a16:creationId xmlns:a16="http://schemas.microsoft.com/office/drawing/2014/main" id="{BB737759-FE23-F045-ABAE-227ADB0AFD03}"/>
                </a:ext>
              </a:extLst>
            </p:cNvPr>
            <p:cNvSpPr txBox="1"/>
            <p:nvPr/>
          </p:nvSpPr>
          <p:spPr>
            <a:xfrm>
              <a:off x="475924" y="1926208"/>
              <a:ext cx="9096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GPA</a:t>
              </a:r>
            </a:p>
          </p:txBody>
        </p:sp>
        <p:sp>
          <p:nvSpPr>
            <p:cNvPr id="47" name="TextBox 71">
              <a:extLst>
                <a:ext uri="{FF2B5EF4-FFF2-40B4-BE49-F238E27FC236}">
                  <a16:creationId xmlns:a16="http://schemas.microsoft.com/office/drawing/2014/main" id="{BDFFAA24-AF18-CA4B-BFD1-ECFE07E8620F}"/>
                </a:ext>
              </a:extLst>
            </p:cNvPr>
            <p:cNvSpPr txBox="1"/>
            <p:nvPr/>
          </p:nvSpPr>
          <p:spPr>
            <a:xfrm>
              <a:off x="475924" y="3410954"/>
              <a:ext cx="9096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HPA</a:t>
              </a:r>
            </a:p>
          </p:txBody>
        </p:sp>
        <p:sp>
          <p:nvSpPr>
            <p:cNvPr id="48" name="Rectangle 10">
              <a:extLst>
                <a:ext uri="{FF2B5EF4-FFF2-40B4-BE49-F238E27FC236}">
                  <a16:creationId xmlns:a16="http://schemas.microsoft.com/office/drawing/2014/main" id="{C42984D7-4EF9-9A4F-8F44-567AD0657DE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72652" y="702453"/>
              <a:ext cx="4309061" cy="2264856"/>
            </a:xfrm>
            <a:prstGeom prst="rect">
              <a:avLst/>
            </a:prstGeom>
            <a:noFill/>
            <a:ln w="3175" cmpd="sng">
              <a:prstDash val="dash"/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endParaRPr lang="en-US" altLang="zh-TW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49" name="Rectangle 10">
              <a:extLst>
                <a:ext uri="{FF2B5EF4-FFF2-40B4-BE49-F238E27FC236}">
                  <a16:creationId xmlns:a16="http://schemas.microsoft.com/office/drawing/2014/main" id="{CA03A7BD-9F04-054F-8D10-13F641FCD07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053864" y="702453"/>
              <a:ext cx="1723625" cy="2264856"/>
            </a:xfrm>
            <a:prstGeom prst="rect">
              <a:avLst/>
            </a:prstGeom>
            <a:noFill/>
            <a:ln w="3175" cmpd="sng">
              <a:solidFill>
                <a:srgbClr val="8064A2"/>
              </a:solidFill>
              <a:prstDash val="dash"/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endParaRPr lang="en-US" altLang="zh-TW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50" name="TextBox 74">
              <a:extLst>
                <a:ext uri="{FF2B5EF4-FFF2-40B4-BE49-F238E27FC236}">
                  <a16:creationId xmlns:a16="http://schemas.microsoft.com/office/drawing/2014/main" id="{16B67F9C-0026-C040-8727-4EE7D3081C47}"/>
                </a:ext>
              </a:extLst>
            </p:cNvPr>
            <p:cNvSpPr txBox="1"/>
            <p:nvPr/>
          </p:nvSpPr>
          <p:spPr>
            <a:xfrm>
              <a:off x="2726797" y="70274"/>
              <a:ext cx="17236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Guest VM</a:t>
              </a:r>
              <a:endParaRPr lang="en-US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51" name="TextBox 75">
              <a:extLst>
                <a:ext uri="{FF2B5EF4-FFF2-40B4-BE49-F238E27FC236}">
                  <a16:creationId xmlns:a16="http://schemas.microsoft.com/office/drawing/2014/main" id="{C7907F6F-86F4-A946-8694-BD53A5EA1B50}"/>
                </a:ext>
              </a:extLst>
            </p:cNvPr>
            <p:cNvSpPr txBox="1"/>
            <p:nvPr/>
          </p:nvSpPr>
          <p:spPr>
            <a:xfrm>
              <a:off x="6424659" y="70274"/>
              <a:ext cx="17236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VMM</a:t>
              </a:r>
              <a:endParaRPr lang="en-US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52" name="TextBox 76">
              <a:extLst>
                <a:ext uri="{FF2B5EF4-FFF2-40B4-BE49-F238E27FC236}">
                  <a16:creationId xmlns:a16="http://schemas.microsoft.com/office/drawing/2014/main" id="{63E2CEC3-902C-A14C-8335-4869C972EA2F}"/>
                </a:ext>
              </a:extLst>
            </p:cNvPr>
            <p:cNvSpPr txBox="1"/>
            <p:nvPr/>
          </p:nvSpPr>
          <p:spPr>
            <a:xfrm>
              <a:off x="7871648" y="1678750"/>
              <a:ext cx="9096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VA</a:t>
              </a:r>
            </a:p>
          </p:txBody>
        </p:sp>
        <p:sp>
          <p:nvSpPr>
            <p:cNvPr id="53" name="TextBox 77">
              <a:extLst>
                <a:ext uri="{FF2B5EF4-FFF2-40B4-BE49-F238E27FC236}">
                  <a16:creationId xmlns:a16="http://schemas.microsoft.com/office/drawing/2014/main" id="{31C83834-B69A-1045-942A-3B286AD7BEB9}"/>
                </a:ext>
              </a:extLst>
            </p:cNvPr>
            <p:cNvSpPr txBox="1"/>
            <p:nvPr/>
          </p:nvSpPr>
          <p:spPr>
            <a:xfrm>
              <a:off x="7884368" y="3361556"/>
              <a:ext cx="9096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PA</a:t>
              </a:r>
            </a:p>
          </p:txBody>
        </p:sp>
        <p:cxnSp>
          <p:nvCxnSpPr>
            <p:cNvPr id="54" name="Straight Arrow Connector 79">
              <a:extLst>
                <a:ext uri="{FF2B5EF4-FFF2-40B4-BE49-F238E27FC236}">
                  <a16:creationId xmlns:a16="http://schemas.microsoft.com/office/drawing/2014/main" id="{71BE3C40-7744-0246-A5F2-129C6F88CC8D}"/>
                </a:ext>
              </a:extLst>
            </p:cNvPr>
            <p:cNvCxnSpPr>
              <a:cxnSpLocks/>
            </p:cNvCxnSpPr>
            <p:nvPr/>
          </p:nvCxnSpPr>
          <p:spPr>
            <a:xfrm>
              <a:off x="958254" y="936376"/>
              <a:ext cx="0" cy="111539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80">
              <a:extLst>
                <a:ext uri="{FF2B5EF4-FFF2-40B4-BE49-F238E27FC236}">
                  <a16:creationId xmlns:a16="http://schemas.microsoft.com/office/drawing/2014/main" id="{750E2F10-219D-F641-A3C5-B0B9A2298126}"/>
                </a:ext>
              </a:extLst>
            </p:cNvPr>
            <p:cNvCxnSpPr>
              <a:cxnSpLocks/>
            </p:cNvCxnSpPr>
            <p:nvPr/>
          </p:nvCxnSpPr>
          <p:spPr>
            <a:xfrm>
              <a:off x="958254" y="2544852"/>
              <a:ext cx="0" cy="100477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99">
              <a:extLst>
                <a:ext uri="{FF2B5EF4-FFF2-40B4-BE49-F238E27FC236}">
                  <a16:creationId xmlns:a16="http://schemas.microsoft.com/office/drawing/2014/main" id="{B3D30F1D-EFCC-F44D-9A24-086E6142CF9B}"/>
                </a:ext>
              </a:extLst>
            </p:cNvPr>
            <p:cNvCxnSpPr>
              <a:cxnSpLocks/>
            </p:cNvCxnSpPr>
            <p:nvPr/>
          </p:nvCxnSpPr>
          <p:spPr>
            <a:xfrm>
              <a:off x="8316416" y="2281436"/>
              <a:ext cx="0" cy="111063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Rectangle 106">
              <a:extLst>
                <a:ext uri="{FF2B5EF4-FFF2-40B4-BE49-F238E27FC236}">
                  <a16:creationId xmlns:a16="http://schemas.microsoft.com/office/drawing/2014/main" id="{7EFCF76C-E2D8-0842-BC0C-D3C913B256D3}"/>
                </a:ext>
              </a:extLst>
            </p:cNvPr>
            <p:cNvSpPr/>
            <p:nvPr/>
          </p:nvSpPr>
          <p:spPr>
            <a:xfrm>
              <a:off x="475924" y="1098768"/>
              <a:ext cx="964660" cy="594243"/>
            </a:xfrm>
            <a:prstGeom prst="rect">
              <a:avLst/>
            </a:prstGeom>
            <a:solidFill>
              <a:srgbClr val="558ED6"/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latin typeface="等线" panose="02010600030101010101" pitchFamily="2" charset="-122"/>
                  <a:ea typeface="等线" panose="02010600030101010101" pitchFamily="2" charset="-122"/>
                </a:rPr>
                <a:t>Stage1</a:t>
              </a:r>
            </a:p>
            <a:p>
              <a:pPr algn="ctr"/>
              <a:r>
                <a:rPr lang="en-US" sz="1200" dirty="0">
                  <a:latin typeface="等线" panose="02010600030101010101" pitchFamily="2" charset="-122"/>
                  <a:ea typeface="等线" panose="02010600030101010101" pitchFamily="2" charset="-122"/>
                </a:rPr>
                <a:t>PT</a:t>
              </a:r>
            </a:p>
          </p:txBody>
        </p:sp>
        <p:sp>
          <p:nvSpPr>
            <p:cNvPr id="58" name="Rectangle 107">
              <a:extLst>
                <a:ext uri="{FF2B5EF4-FFF2-40B4-BE49-F238E27FC236}">
                  <a16:creationId xmlns:a16="http://schemas.microsoft.com/office/drawing/2014/main" id="{244E8ADB-2F49-BD44-8CA0-7B23A4624DBA}"/>
                </a:ext>
              </a:extLst>
            </p:cNvPr>
            <p:cNvSpPr/>
            <p:nvPr/>
          </p:nvSpPr>
          <p:spPr>
            <a:xfrm>
              <a:off x="475924" y="2668581"/>
              <a:ext cx="964660" cy="576001"/>
            </a:xfrm>
            <a:prstGeom prst="rect">
              <a:avLst/>
            </a:prstGeom>
            <a:solidFill>
              <a:srgbClr val="BE384B"/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latin typeface="等线" panose="02010600030101010101" pitchFamily="2" charset="-122"/>
                  <a:ea typeface="等线" panose="02010600030101010101" pitchFamily="2" charset="-122"/>
                </a:rPr>
                <a:t>Stage2</a:t>
              </a:r>
              <a:r>
                <a:rPr lang="zh-CN" altLang="en-US" sz="1200" dirty="0">
                  <a:latin typeface="等线" panose="02010600030101010101" pitchFamily="2" charset="-122"/>
                  <a:ea typeface="等线" panose="02010600030101010101" pitchFamily="2" charset="-122"/>
                </a:rPr>
                <a:t> </a:t>
              </a:r>
              <a:endParaRPr lang="en-US" altLang="zh-CN" sz="12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  <a:p>
              <a:pPr algn="ctr"/>
              <a:r>
                <a:rPr lang="en-US" altLang="zh-CN" sz="1200" dirty="0">
                  <a:latin typeface="等线" panose="02010600030101010101" pitchFamily="2" charset="-122"/>
                  <a:ea typeface="等线" panose="02010600030101010101" pitchFamily="2" charset="-122"/>
                </a:rPr>
                <a:t>PT</a:t>
              </a:r>
              <a:endParaRPr lang="en-US" sz="12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59" name="Rectangle 108">
              <a:extLst>
                <a:ext uri="{FF2B5EF4-FFF2-40B4-BE49-F238E27FC236}">
                  <a16:creationId xmlns:a16="http://schemas.microsoft.com/office/drawing/2014/main" id="{3D7A4DE5-DA97-914A-A337-AFBCAB99D7A7}"/>
                </a:ext>
              </a:extLst>
            </p:cNvPr>
            <p:cNvSpPr/>
            <p:nvPr/>
          </p:nvSpPr>
          <p:spPr>
            <a:xfrm>
              <a:off x="7740352" y="2425452"/>
              <a:ext cx="1095956" cy="616475"/>
            </a:xfrm>
            <a:prstGeom prst="rect">
              <a:avLst/>
            </a:prstGeom>
            <a:solidFill>
              <a:schemeClr val="accent4"/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latin typeface="等线" panose="02010600030101010101" pitchFamily="2" charset="-122"/>
                  <a:ea typeface="等线" panose="02010600030101010101" pitchFamily="2" charset="-122"/>
                </a:rPr>
                <a:t>Stage1</a:t>
              </a:r>
            </a:p>
            <a:p>
              <a:pPr algn="ctr"/>
              <a:r>
                <a:rPr lang="en-US" sz="1200" dirty="0">
                  <a:latin typeface="等线" panose="02010600030101010101" pitchFamily="2" charset="-122"/>
                  <a:ea typeface="等线" panose="02010600030101010101" pitchFamily="2" charset="-122"/>
                </a:rPr>
                <a:t>PT</a:t>
              </a:r>
            </a:p>
          </p:txBody>
        </p:sp>
        <p:pic>
          <p:nvPicPr>
            <p:cNvPr id="60" name="Picture 113">
              <a:extLst>
                <a:ext uri="{FF2B5EF4-FFF2-40B4-BE49-F238E27FC236}">
                  <a16:creationId xmlns:a16="http://schemas.microsoft.com/office/drawing/2014/main" id="{F441721F-6A1D-A841-A4D2-553CB6B068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060254" y="4491306"/>
              <a:ext cx="1007063" cy="818133"/>
            </a:xfrm>
            <a:prstGeom prst="rect">
              <a:avLst/>
            </a:prstGeom>
          </p:spPr>
        </p:pic>
        <p:cxnSp>
          <p:nvCxnSpPr>
            <p:cNvPr id="61" name="Elbow Connector 115">
              <a:extLst>
                <a:ext uri="{FF2B5EF4-FFF2-40B4-BE49-F238E27FC236}">
                  <a16:creationId xmlns:a16="http://schemas.microsoft.com/office/drawing/2014/main" id="{A6C15E3A-1030-FE4D-AE48-FA0327EEE051}"/>
                </a:ext>
              </a:extLst>
            </p:cNvPr>
            <p:cNvCxnSpPr>
              <a:cxnSpLocks/>
              <a:stCxn id="60" idx="1"/>
              <a:endCxn id="57" idx="1"/>
            </p:cNvCxnSpPr>
            <p:nvPr/>
          </p:nvCxnSpPr>
          <p:spPr>
            <a:xfrm rot="10800000">
              <a:off x="475925" y="1395890"/>
              <a:ext cx="3584330" cy="3504483"/>
            </a:xfrm>
            <a:prstGeom prst="bentConnector3">
              <a:avLst>
                <a:gd name="adj1" fmla="val 107120"/>
              </a:avLst>
            </a:prstGeom>
            <a:ln>
              <a:solidFill>
                <a:srgbClr val="558ED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Elbow Connector 116">
              <a:extLst>
                <a:ext uri="{FF2B5EF4-FFF2-40B4-BE49-F238E27FC236}">
                  <a16:creationId xmlns:a16="http://schemas.microsoft.com/office/drawing/2014/main" id="{2E36C8E3-2154-874A-9261-2C8396E12C45}"/>
                </a:ext>
              </a:extLst>
            </p:cNvPr>
            <p:cNvCxnSpPr>
              <a:cxnSpLocks/>
              <a:endCxn id="58" idx="1"/>
            </p:cNvCxnSpPr>
            <p:nvPr/>
          </p:nvCxnSpPr>
          <p:spPr>
            <a:xfrm rot="10800000">
              <a:off x="475924" y="2956581"/>
              <a:ext cx="3520713" cy="2014323"/>
            </a:xfrm>
            <a:prstGeom prst="bentConnector3">
              <a:avLst>
                <a:gd name="adj1" fmla="val 109479"/>
              </a:avLst>
            </a:prstGeom>
            <a:ln>
              <a:solidFill>
                <a:srgbClr val="BE384B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Elbow Connector 125">
              <a:extLst>
                <a:ext uri="{FF2B5EF4-FFF2-40B4-BE49-F238E27FC236}">
                  <a16:creationId xmlns:a16="http://schemas.microsoft.com/office/drawing/2014/main" id="{50B04859-A2C6-B147-950D-6B425AF94249}"/>
                </a:ext>
              </a:extLst>
            </p:cNvPr>
            <p:cNvCxnSpPr>
              <a:cxnSpLocks/>
              <a:stCxn id="60" idx="3"/>
              <a:endCxn id="59" idx="3"/>
            </p:cNvCxnSpPr>
            <p:nvPr/>
          </p:nvCxnSpPr>
          <p:spPr>
            <a:xfrm flipV="1">
              <a:off x="5067317" y="2733690"/>
              <a:ext cx="3768991" cy="2166683"/>
            </a:xfrm>
            <a:prstGeom prst="bentConnector3">
              <a:avLst>
                <a:gd name="adj1" fmla="val 106065"/>
              </a:avLst>
            </a:prstGeom>
            <a:ln>
              <a:solidFill>
                <a:schemeClr val="accent4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43">
              <a:extLst>
                <a:ext uri="{FF2B5EF4-FFF2-40B4-BE49-F238E27FC236}">
                  <a16:creationId xmlns:a16="http://schemas.microsoft.com/office/drawing/2014/main" id="{DEAB8A96-63D0-5942-A350-DA4FAB3B5729}"/>
                </a:ext>
              </a:extLst>
            </p:cNvPr>
            <p:cNvCxnSpPr/>
            <p:nvPr/>
          </p:nvCxnSpPr>
          <p:spPr>
            <a:xfrm>
              <a:off x="4300156" y="2531615"/>
              <a:ext cx="1300356" cy="875333"/>
            </a:xfrm>
            <a:prstGeom prst="line">
              <a:avLst/>
            </a:prstGeom>
            <a:ln>
              <a:solidFill>
                <a:srgbClr val="BE38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160">
              <a:extLst>
                <a:ext uri="{FF2B5EF4-FFF2-40B4-BE49-F238E27FC236}">
                  <a16:creationId xmlns:a16="http://schemas.microsoft.com/office/drawing/2014/main" id="{75985FBE-57E4-8D44-8643-93FC391794E9}"/>
                </a:ext>
              </a:extLst>
            </p:cNvPr>
            <p:cNvSpPr txBox="1"/>
            <p:nvPr/>
          </p:nvSpPr>
          <p:spPr>
            <a:xfrm>
              <a:off x="5520902" y="4522302"/>
              <a:ext cx="29256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EL2</a:t>
              </a:r>
              <a:endParaRPr lang="en-US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66" name="TextBox 161">
              <a:extLst>
                <a:ext uri="{FF2B5EF4-FFF2-40B4-BE49-F238E27FC236}">
                  <a16:creationId xmlns:a16="http://schemas.microsoft.com/office/drawing/2014/main" id="{FCF9EF41-7247-2F4A-9316-550B8597CEFB}"/>
                </a:ext>
              </a:extLst>
            </p:cNvPr>
            <p:cNvSpPr txBox="1"/>
            <p:nvPr/>
          </p:nvSpPr>
          <p:spPr>
            <a:xfrm>
              <a:off x="877866" y="4277057"/>
              <a:ext cx="29256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EL0</a:t>
              </a:r>
              <a:r>
                <a:rPr lang="zh-CN" altLang="en-US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 </a:t>
              </a:r>
              <a:r>
                <a:rPr lang="en-US" altLang="zh-CN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&amp;</a:t>
              </a:r>
              <a:r>
                <a:rPr lang="zh-CN" altLang="en-US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 </a:t>
              </a:r>
              <a:r>
                <a:rPr lang="en-US" altLang="zh-CN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EL1</a:t>
              </a:r>
              <a:endParaRPr lang="en-US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67" name="Rectangle 5">
              <a:extLst>
                <a:ext uri="{FF2B5EF4-FFF2-40B4-BE49-F238E27FC236}">
                  <a16:creationId xmlns:a16="http://schemas.microsoft.com/office/drawing/2014/main" id="{693584AD-1348-AE45-8A85-0C3C44D1B28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256360" y="2189707"/>
              <a:ext cx="655848" cy="35283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cxnSp>
          <p:nvCxnSpPr>
            <p:cNvPr id="68" name="Straight Connector 163">
              <a:extLst>
                <a:ext uri="{FF2B5EF4-FFF2-40B4-BE49-F238E27FC236}">
                  <a16:creationId xmlns:a16="http://schemas.microsoft.com/office/drawing/2014/main" id="{E49DBC03-F6CD-AD44-A85E-5C6D50A11909}"/>
                </a:ext>
              </a:extLst>
            </p:cNvPr>
            <p:cNvCxnSpPr/>
            <p:nvPr/>
          </p:nvCxnSpPr>
          <p:spPr>
            <a:xfrm flipH="1">
              <a:off x="4944664" y="2548953"/>
              <a:ext cx="1311696" cy="876709"/>
            </a:xfrm>
            <a:prstGeom prst="line">
              <a:avLst/>
            </a:prstGeom>
            <a:ln>
              <a:solidFill>
                <a:srgbClr val="D5C88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65">
              <a:extLst>
                <a:ext uri="{FF2B5EF4-FFF2-40B4-BE49-F238E27FC236}">
                  <a16:creationId xmlns:a16="http://schemas.microsoft.com/office/drawing/2014/main" id="{6423C01A-74C5-E249-882E-ED7F11D39571}"/>
                </a:ext>
              </a:extLst>
            </p:cNvPr>
            <p:cNvCxnSpPr/>
            <p:nvPr/>
          </p:nvCxnSpPr>
          <p:spPr>
            <a:xfrm flipH="1">
              <a:off x="5598659" y="2542542"/>
              <a:ext cx="1311696" cy="886283"/>
            </a:xfrm>
            <a:prstGeom prst="line">
              <a:avLst/>
            </a:prstGeom>
            <a:ln>
              <a:solidFill>
                <a:srgbClr val="D5C88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863227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89D8BC-CF51-D640-B33E-A035CD2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第二阶段</a:t>
            </a:r>
            <a:r>
              <a:rPr kumimoji="1" lang="en-US" altLang="zh-CN" dirty="0"/>
              <a:t>4</a:t>
            </a:r>
            <a:r>
              <a:rPr kumimoji="1" lang="zh-CN" altLang="en-US" dirty="0"/>
              <a:t>级页表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270E39-FD5C-C94B-B36C-4037A2157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915C4C-322A-2C4C-AAD5-2638DA0D8A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F7AB3D3-7918-BF49-8CB7-30A9CCE81C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5616" y="1129308"/>
            <a:ext cx="6316146" cy="406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2216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5228FB-B8D2-E948-8477-BC0475160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VTTBR_EL2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ACCEA8-49D4-2446-84CD-5ABE194B8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存储虚拟机第二阶段页表基地址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只有</a:t>
            </a:r>
            <a:r>
              <a:rPr kumimoji="1" lang="en-US" altLang="zh-CN" dirty="0"/>
              <a:t>1</a:t>
            </a:r>
            <a:r>
              <a:rPr kumimoji="1" lang="zh-CN" altLang="en-US" dirty="0"/>
              <a:t>个寄存器：</a:t>
            </a:r>
            <a:r>
              <a:rPr kumimoji="1" lang="en-US" altLang="zh-CN" dirty="0"/>
              <a:t>VTTBR_EL2</a:t>
            </a:r>
          </a:p>
          <a:p>
            <a:r>
              <a:rPr kumimoji="1" lang="zh-CN" altLang="en-US" dirty="0"/>
              <a:t>对比第一阶段页表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有</a:t>
            </a:r>
            <a:r>
              <a:rPr kumimoji="1" lang="en-US" altLang="zh-CN" dirty="0"/>
              <a:t>2</a:t>
            </a:r>
            <a:r>
              <a:rPr kumimoji="1" lang="zh-CN" altLang="en-US" dirty="0"/>
              <a:t>个页表基地址寄存器：</a:t>
            </a:r>
            <a:r>
              <a:rPr kumimoji="1" lang="en-US" altLang="zh-CN" dirty="0"/>
              <a:t>TTBR0_EL1</a:t>
            </a:r>
            <a:r>
              <a:rPr kumimoji="1" lang="zh-CN" altLang="en-US" dirty="0"/>
              <a:t>、</a:t>
            </a:r>
            <a:r>
              <a:rPr kumimoji="1" lang="en-US" altLang="zh-CN" dirty="0"/>
              <a:t>TTBR1_EL1</a:t>
            </a:r>
          </a:p>
          <a:p>
            <a:r>
              <a:rPr kumimoji="1" lang="en-US" altLang="zh-CN" dirty="0"/>
              <a:t>VMM</a:t>
            </a:r>
            <a:r>
              <a:rPr kumimoji="1" lang="zh-CN" altLang="en-US" dirty="0"/>
              <a:t>在调度</a:t>
            </a:r>
            <a:r>
              <a:rPr kumimoji="1" lang="en-US" altLang="zh-CN" dirty="0"/>
              <a:t>VM</a:t>
            </a:r>
            <a:r>
              <a:rPr kumimoji="1" lang="zh-CN" altLang="en-US" dirty="0"/>
              <a:t>之前需要在</a:t>
            </a:r>
            <a:r>
              <a:rPr kumimoji="1" lang="en-US" altLang="zh-CN" dirty="0"/>
              <a:t>VTTBR_EL2</a:t>
            </a:r>
            <a:r>
              <a:rPr kumimoji="1" lang="zh-CN" altLang="en-US" dirty="0"/>
              <a:t>中写入此</a:t>
            </a:r>
            <a:r>
              <a:rPr kumimoji="1" lang="en-US" altLang="zh-CN" dirty="0"/>
              <a:t>VM</a:t>
            </a:r>
            <a:r>
              <a:rPr kumimoji="1" lang="zh-CN" altLang="en-US" dirty="0"/>
              <a:t>的第二阶段页表基地址</a:t>
            </a:r>
          </a:p>
          <a:p>
            <a:r>
              <a:rPr kumimoji="1" lang="zh-CN" altLang="en-US" dirty="0"/>
              <a:t>第二阶段页表使能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HCR_EL2</a:t>
            </a:r>
            <a:r>
              <a:rPr kumimoji="1" lang="zh-CN" altLang="en-US" dirty="0"/>
              <a:t>第</a:t>
            </a:r>
            <a:r>
              <a:rPr kumimoji="1" lang="en-US" altLang="zh-CN" dirty="0"/>
              <a:t>0</a:t>
            </a:r>
            <a:r>
              <a:rPr kumimoji="1" lang="zh-CN" altLang="en-US" dirty="0"/>
              <a:t>位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BE1F36-A463-9B4B-85D3-14162DE09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7252B8-17A3-534E-B54A-276BA6DA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37913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8D4017-8BC0-D44C-BC88-EA8695142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第二阶段页表项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69AA50-5A9B-5D4B-8A47-E2E8604E4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第</a:t>
            </a:r>
            <a:r>
              <a:rPr kumimoji="1" lang="en-US" altLang="zh-CN" dirty="0"/>
              <a:t>3</a:t>
            </a:r>
            <a:r>
              <a:rPr kumimoji="1" lang="zh-CN" altLang="en-US" dirty="0"/>
              <a:t>级页表页中的页表项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与第一阶段页表完全一致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 第</a:t>
            </a:r>
            <a:r>
              <a:rPr kumimoji="1" lang="en-US" altLang="zh-CN" dirty="0"/>
              <a:t>0-2</a:t>
            </a:r>
            <a:r>
              <a:rPr kumimoji="1" lang="zh-CN" altLang="en-US" dirty="0"/>
              <a:t>级页表页中的页表项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与第一阶段在高位有不同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0374C1-2E4A-F242-B945-4F3176EF2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950E68-C0C2-5843-839E-F259FEF4E5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812DEAC-EFA5-104C-939A-6F890DA5051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536" y="2209428"/>
            <a:ext cx="8326685" cy="65158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D7489CC-AD16-1C4F-AB82-15E66357A7F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544" y="3937620"/>
            <a:ext cx="7812360" cy="1384283"/>
          </a:xfrm>
          <a:prstGeom prst="rect">
            <a:avLst/>
          </a:prstGeom>
        </p:spPr>
      </p:pic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C05A11E6-D186-AD42-9DD9-9DEC1F167B88}"/>
              </a:ext>
            </a:extLst>
          </p:cNvPr>
          <p:cNvSpPr txBox="1">
            <a:spLocks/>
          </p:cNvSpPr>
          <p:nvPr/>
        </p:nvSpPr>
        <p:spPr>
          <a:xfrm>
            <a:off x="4860032" y="3001516"/>
            <a:ext cx="4104456" cy="1724536"/>
          </a:xfrm>
          <a:prstGeom prst="rect">
            <a:avLst/>
          </a:prstGeom>
          <a:ln w="25400">
            <a:solidFill>
              <a:srgbClr val="BE384B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600" dirty="0" err="1"/>
              <a:t>NSTable</a:t>
            </a:r>
            <a:r>
              <a:rPr kumimoji="1" lang="en-US" altLang="zh-CN" sz="1600" dirty="0"/>
              <a:t>:</a:t>
            </a:r>
            <a:r>
              <a:rPr kumimoji="1" lang="zh-CN" altLang="en-US" sz="1600" dirty="0"/>
              <a:t> 与</a:t>
            </a:r>
            <a:r>
              <a:rPr kumimoji="1" lang="en-US" altLang="zh-CN" sz="1600" dirty="0" err="1"/>
              <a:t>TrustZone</a:t>
            </a:r>
            <a:r>
              <a:rPr kumimoji="1" lang="zh-CN" altLang="en-US" sz="1600" dirty="0"/>
              <a:t>有关</a:t>
            </a:r>
            <a:endParaRPr kumimoji="1" lang="en-US" altLang="zh-CN" sz="1600" dirty="0"/>
          </a:p>
          <a:p>
            <a:r>
              <a:rPr kumimoji="1" lang="en-US" altLang="zh-CN" sz="1600" dirty="0" err="1"/>
              <a:t>APTable</a:t>
            </a:r>
            <a:r>
              <a:rPr kumimoji="1" lang="zh-CN" altLang="en-US" sz="1600" dirty="0"/>
              <a:t>：读写权限</a:t>
            </a:r>
            <a:endParaRPr kumimoji="1" lang="en-US" altLang="zh-CN" sz="1600" dirty="0"/>
          </a:p>
          <a:p>
            <a:r>
              <a:rPr kumimoji="1" lang="en-US" altLang="zh-CN" sz="1600" dirty="0" err="1"/>
              <a:t>XNTable</a:t>
            </a:r>
            <a:r>
              <a:rPr kumimoji="1" lang="zh-CN" altLang="en-US" sz="1600" dirty="0"/>
              <a:t>：执行权限</a:t>
            </a:r>
            <a:endParaRPr kumimoji="1" lang="en-US" altLang="zh-CN" sz="1600" dirty="0"/>
          </a:p>
          <a:p>
            <a:r>
              <a:rPr kumimoji="1" lang="en-US" altLang="zh-CN" sz="1600" dirty="0" err="1"/>
              <a:t>PXNTable</a:t>
            </a:r>
            <a:r>
              <a:rPr kumimoji="1" lang="zh-CN" altLang="en-US" sz="1600" dirty="0"/>
              <a:t>：特权级别软件的执行权限</a:t>
            </a:r>
            <a:endParaRPr kumimoji="1" lang="en-US" altLang="zh-CN" sz="16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DF7483B-EE34-9448-9503-54FEEC4CECC6}"/>
              </a:ext>
            </a:extLst>
          </p:cNvPr>
          <p:cNvSpPr/>
          <p:nvPr/>
        </p:nvSpPr>
        <p:spPr>
          <a:xfrm>
            <a:off x="467544" y="3937620"/>
            <a:ext cx="2952328" cy="8640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01774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D7B1FD-EFD7-E946-88B5-FC12B0DEA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5AA4FE-518B-4F4D-8B90-724ECC5430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BD2028A8-E3F4-8F42-9102-A2F55771A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翻译过程</a:t>
            </a: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4BB001F5-09F8-354C-9F0A-E5288ABC1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3034623" cy="3771636"/>
          </a:xfrm>
        </p:spPr>
        <p:txBody>
          <a:bodyPr/>
          <a:lstStyle/>
          <a:p>
            <a:r>
              <a:rPr kumimoji="1" lang="zh-CN" altLang="en-US" dirty="0"/>
              <a:t>总共</a:t>
            </a:r>
            <a:r>
              <a:rPr kumimoji="1" lang="en-US" altLang="zh-CN" dirty="0"/>
              <a:t>24</a:t>
            </a:r>
            <a:r>
              <a:rPr kumimoji="1" lang="zh-CN" altLang="en-US" dirty="0"/>
              <a:t>次内存访问</a:t>
            </a:r>
            <a:endParaRPr kumimoji="1" lang="en-US" altLang="zh-CN" dirty="0"/>
          </a:p>
          <a:p>
            <a:pPr lvl="1"/>
            <a:r>
              <a:rPr kumimoji="1" lang="zh-CN" altLang="en-US" dirty="0">
                <a:solidFill>
                  <a:srgbClr val="BE384B"/>
                </a:solidFill>
              </a:rPr>
              <a:t>为什么</a:t>
            </a:r>
            <a:r>
              <a:rPr kumimoji="1" lang="en-US" altLang="zh-CN" dirty="0">
                <a:solidFill>
                  <a:srgbClr val="BE384B"/>
                </a:solidFill>
              </a:rPr>
              <a:t>?</a:t>
            </a:r>
          </a:p>
          <a:p>
            <a:pPr lvl="1"/>
            <a:r>
              <a:rPr kumimoji="1" lang="en-US" altLang="zh-CN" dirty="0">
                <a:solidFill>
                  <a:srgbClr val="BE384B"/>
                </a:solidFill>
              </a:rPr>
              <a:t>25-1</a:t>
            </a:r>
          </a:p>
          <a:p>
            <a:pPr lvl="1"/>
            <a:r>
              <a:rPr kumimoji="1" lang="zh-CN" altLang="en-US" dirty="0">
                <a:solidFill>
                  <a:srgbClr val="BE384B"/>
                </a:solidFill>
              </a:rPr>
              <a:t>第一次访问寄存器</a:t>
            </a:r>
            <a:endParaRPr kumimoji="1" lang="en-US" altLang="zh-CN" dirty="0">
              <a:solidFill>
                <a:srgbClr val="BE384B"/>
              </a:solidFill>
            </a:endParaRPr>
          </a:p>
          <a:p>
            <a:pPr lvl="1"/>
            <a:endParaRPr kumimoji="1" lang="zh-CN" altLang="en-US" dirty="0">
              <a:solidFill>
                <a:srgbClr val="BE384B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BCD20F9-02D4-654A-9D13-BD5AB1821D9C}"/>
              </a:ext>
            </a:extLst>
          </p:cNvPr>
          <p:cNvSpPr/>
          <p:nvPr/>
        </p:nvSpPr>
        <p:spPr>
          <a:xfrm>
            <a:off x="4211960" y="337220"/>
            <a:ext cx="576064" cy="21602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TTBR0_EL1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EEE1833-46A8-0A41-9842-0E457FCB17DA}"/>
              </a:ext>
            </a:extLst>
          </p:cNvPr>
          <p:cNvSpPr/>
          <p:nvPr/>
        </p:nvSpPr>
        <p:spPr>
          <a:xfrm>
            <a:off x="5004048" y="337220"/>
            <a:ext cx="3168352" cy="14401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L0</a:t>
            </a:r>
            <a:r>
              <a: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rPr>
              <a:t>页表页</a:t>
            </a:r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GPA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3E14542-3DCB-194B-968D-304D5A533339}"/>
              </a:ext>
            </a:extLst>
          </p:cNvPr>
          <p:cNvSpPr/>
          <p:nvPr/>
        </p:nvSpPr>
        <p:spPr>
          <a:xfrm>
            <a:off x="4211960" y="625252"/>
            <a:ext cx="576064" cy="216024"/>
          </a:xfrm>
          <a:prstGeom prst="rect">
            <a:avLst/>
          </a:prstGeom>
          <a:solidFill>
            <a:srgbClr val="BE38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VTTBR0_EL2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67C637FA-9B1A-964C-A619-B3295F690445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4788024" y="409228"/>
            <a:ext cx="216024" cy="0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A8078FA6-B981-CF42-9C60-C91BE0F34296}"/>
              </a:ext>
            </a:extLst>
          </p:cNvPr>
          <p:cNvGrpSpPr/>
          <p:nvPr/>
        </p:nvGrpSpPr>
        <p:grpSpPr>
          <a:xfrm>
            <a:off x="5292080" y="625252"/>
            <a:ext cx="503999" cy="432048"/>
            <a:chOff x="5580112" y="409228"/>
            <a:chExt cx="648072" cy="432048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0255503D-0069-AC4D-AA54-537E5F70CBFE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4BAB48D1-EF92-034E-9F54-DAB97E766721}"/>
                </a:ext>
              </a:extLst>
            </p:cNvPr>
            <p:cNvSpPr/>
            <p:nvPr/>
          </p:nvSpPr>
          <p:spPr>
            <a:xfrm>
              <a:off x="5580112" y="625252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L0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251284A-C74E-5C40-8EC6-09749C7D2E0B}"/>
              </a:ext>
            </a:extLst>
          </p:cNvPr>
          <p:cNvGrpSpPr/>
          <p:nvPr/>
        </p:nvGrpSpPr>
        <p:grpSpPr>
          <a:xfrm>
            <a:off x="6084168" y="625252"/>
            <a:ext cx="503999" cy="432048"/>
            <a:chOff x="5580112" y="409228"/>
            <a:chExt cx="648072" cy="432048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FA9B59-D1C4-974A-BD4F-4638495F0D72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2581C655-EED4-F149-9BAA-0AC2B24251B3}"/>
                </a:ext>
              </a:extLst>
            </p:cNvPr>
            <p:cNvSpPr/>
            <p:nvPr/>
          </p:nvSpPr>
          <p:spPr>
            <a:xfrm>
              <a:off x="5580112" y="481236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L1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707C91C-C448-D546-8675-6C5CEB785F72}"/>
              </a:ext>
            </a:extLst>
          </p:cNvPr>
          <p:cNvGrpSpPr/>
          <p:nvPr/>
        </p:nvGrpSpPr>
        <p:grpSpPr>
          <a:xfrm>
            <a:off x="6876256" y="625252"/>
            <a:ext cx="503999" cy="432048"/>
            <a:chOff x="5580112" y="409228"/>
            <a:chExt cx="648072" cy="432048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83704592-37A9-4C46-B42F-4566F4D0C4DD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43CB387C-3CDC-2045-B35A-A2310076838C}"/>
                </a:ext>
              </a:extLst>
            </p:cNvPr>
            <p:cNvSpPr/>
            <p:nvPr/>
          </p:nvSpPr>
          <p:spPr>
            <a:xfrm>
              <a:off x="5580112" y="553244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L2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A90DED42-6603-1F4D-B725-9BD1D1181A1E}"/>
              </a:ext>
            </a:extLst>
          </p:cNvPr>
          <p:cNvGrpSpPr/>
          <p:nvPr/>
        </p:nvGrpSpPr>
        <p:grpSpPr>
          <a:xfrm>
            <a:off x="7668344" y="625252"/>
            <a:ext cx="503999" cy="432048"/>
            <a:chOff x="5580112" y="409228"/>
            <a:chExt cx="648072" cy="432048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B2525842-D98D-D742-9179-C204D338700F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58F679D3-73E0-824C-9D2A-181CAA6D58FF}"/>
                </a:ext>
              </a:extLst>
            </p:cNvPr>
            <p:cNvSpPr/>
            <p:nvPr/>
          </p:nvSpPr>
          <p:spPr>
            <a:xfrm>
              <a:off x="5580112" y="625252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L3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04215EA3-D36D-0B42-A0FC-E501150A046E}"/>
              </a:ext>
            </a:extLst>
          </p:cNvPr>
          <p:cNvCxnSpPr>
            <a:cxnSpLocks/>
          </p:cNvCxnSpPr>
          <p:nvPr/>
        </p:nvCxnSpPr>
        <p:spPr>
          <a:xfrm>
            <a:off x="4788024" y="625252"/>
            <a:ext cx="504056" cy="0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肘形连接符 37">
            <a:extLst>
              <a:ext uri="{FF2B5EF4-FFF2-40B4-BE49-F238E27FC236}">
                <a16:creationId xmlns:a16="http://schemas.microsoft.com/office/drawing/2014/main" id="{B989095E-2A5D-E645-AB3A-E35D847DF145}"/>
              </a:ext>
            </a:extLst>
          </p:cNvPr>
          <p:cNvCxnSpPr>
            <a:cxnSpLocks/>
            <a:endCxn id="21" idx="1"/>
          </p:cNvCxnSpPr>
          <p:nvPr/>
        </p:nvCxnSpPr>
        <p:spPr>
          <a:xfrm rot="16200000" flipH="1">
            <a:off x="4965948" y="591344"/>
            <a:ext cx="436240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肘形连接符 40">
            <a:extLst>
              <a:ext uri="{FF2B5EF4-FFF2-40B4-BE49-F238E27FC236}">
                <a16:creationId xmlns:a16="http://schemas.microsoft.com/office/drawing/2014/main" id="{5B27ADEF-88BB-AF4B-9111-4145FA867AD6}"/>
              </a:ext>
            </a:extLst>
          </p:cNvPr>
          <p:cNvCxnSpPr>
            <a:cxnSpLocks/>
            <a:endCxn id="25" idx="1"/>
          </p:cNvCxnSpPr>
          <p:nvPr/>
        </p:nvCxnSpPr>
        <p:spPr>
          <a:xfrm rot="16200000" flipH="1">
            <a:off x="5830044" y="519336"/>
            <a:ext cx="292224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肘形连接符 44">
            <a:extLst>
              <a:ext uri="{FF2B5EF4-FFF2-40B4-BE49-F238E27FC236}">
                <a16:creationId xmlns:a16="http://schemas.microsoft.com/office/drawing/2014/main" id="{26A327E2-3652-A54F-B276-3CD9332A92BF}"/>
              </a:ext>
            </a:extLst>
          </p:cNvPr>
          <p:cNvCxnSpPr>
            <a:cxnSpLocks/>
            <a:endCxn id="28" idx="1"/>
          </p:cNvCxnSpPr>
          <p:nvPr/>
        </p:nvCxnSpPr>
        <p:spPr>
          <a:xfrm rot="16200000" flipH="1">
            <a:off x="6586128" y="555340"/>
            <a:ext cx="364232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肘形连接符 46">
            <a:extLst>
              <a:ext uri="{FF2B5EF4-FFF2-40B4-BE49-F238E27FC236}">
                <a16:creationId xmlns:a16="http://schemas.microsoft.com/office/drawing/2014/main" id="{1C22DE27-3451-124F-9AB6-9A5A9FD029C6}"/>
              </a:ext>
            </a:extLst>
          </p:cNvPr>
          <p:cNvCxnSpPr>
            <a:cxnSpLocks/>
            <a:endCxn id="32" idx="1"/>
          </p:cNvCxnSpPr>
          <p:nvPr/>
        </p:nvCxnSpPr>
        <p:spPr>
          <a:xfrm rot="16200000" flipH="1">
            <a:off x="7342212" y="591344"/>
            <a:ext cx="436240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肘形连接符 56">
            <a:extLst>
              <a:ext uri="{FF2B5EF4-FFF2-40B4-BE49-F238E27FC236}">
                <a16:creationId xmlns:a16="http://schemas.microsoft.com/office/drawing/2014/main" id="{604F46B9-DFB4-F845-A3B7-1F2E96E6EABA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5796079" y="625252"/>
            <a:ext cx="288089" cy="288000"/>
          </a:xfrm>
          <a:prstGeom prst="bentConnector3">
            <a:avLst>
              <a:gd name="adj1" fmla="val 37877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肘形连接符 61">
            <a:extLst>
              <a:ext uri="{FF2B5EF4-FFF2-40B4-BE49-F238E27FC236}">
                <a16:creationId xmlns:a16="http://schemas.microsoft.com/office/drawing/2014/main" id="{377112A0-5682-B44D-8AFD-3AAE48471DD1}"/>
              </a:ext>
            </a:extLst>
          </p:cNvPr>
          <p:cNvCxnSpPr>
            <a:cxnSpLocks/>
          </p:cNvCxnSpPr>
          <p:nvPr/>
        </p:nvCxnSpPr>
        <p:spPr>
          <a:xfrm flipV="1">
            <a:off x="6588224" y="625252"/>
            <a:ext cx="288032" cy="14398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肘形连接符 63">
            <a:extLst>
              <a:ext uri="{FF2B5EF4-FFF2-40B4-BE49-F238E27FC236}">
                <a16:creationId xmlns:a16="http://schemas.microsoft.com/office/drawing/2014/main" id="{E7FBFD27-4270-DF4A-87D2-D3A090EC2EAE}"/>
              </a:ext>
            </a:extLst>
          </p:cNvPr>
          <p:cNvCxnSpPr>
            <a:cxnSpLocks/>
          </p:cNvCxnSpPr>
          <p:nvPr/>
        </p:nvCxnSpPr>
        <p:spPr>
          <a:xfrm flipV="1">
            <a:off x="7380312" y="625252"/>
            <a:ext cx="288032" cy="21599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1B712964-05BD-DA4B-B9C9-EE88A13B2BAD}"/>
              </a:ext>
            </a:extLst>
          </p:cNvPr>
          <p:cNvGrpSpPr/>
          <p:nvPr/>
        </p:nvGrpSpPr>
        <p:grpSpPr>
          <a:xfrm>
            <a:off x="4211960" y="1201316"/>
            <a:ext cx="503999" cy="432048"/>
            <a:chOff x="5580112" y="409228"/>
            <a:chExt cx="648072" cy="432048"/>
          </a:xfrm>
        </p:grpSpPr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14DADE60-C5FF-D442-ACDE-73AB39960A4A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6AD2D79B-7C5B-C44B-871D-EA390F922DCD}"/>
                </a:ext>
              </a:extLst>
            </p:cNvPr>
            <p:cNvSpPr/>
            <p:nvPr/>
          </p:nvSpPr>
          <p:spPr>
            <a:xfrm>
              <a:off x="5580112" y="553244"/>
              <a:ext cx="648072" cy="1524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L0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cxnSp>
        <p:nvCxnSpPr>
          <p:cNvPr id="70" name="肘形连接符 69">
            <a:extLst>
              <a:ext uri="{FF2B5EF4-FFF2-40B4-BE49-F238E27FC236}">
                <a16:creationId xmlns:a16="http://schemas.microsoft.com/office/drawing/2014/main" id="{F907ABDA-15A1-0D4C-9C44-857D80236317}"/>
              </a:ext>
            </a:extLst>
          </p:cNvPr>
          <p:cNvCxnSpPr>
            <a:stCxn id="32" idx="3"/>
            <a:endCxn id="67" idx="1"/>
          </p:cNvCxnSpPr>
          <p:nvPr/>
        </p:nvCxnSpPr>
        <p:spPr>
          <a:xfrm flipH="1">
            <a:off x="4211960" y="917477"/>
            <a:ext cx="3960383" cy="288000"/>
          </a:xfrm>
          <a:prstGeom prst="bentConnector5">
            <a:avLst>
              <a:gd name="adj1" fmla="val -5772"/>
              <a:gd name="adj2" fmla="val 72933"/>
              <a:gd name="adj3" fmla="val 105772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 71">
            <a:extLst>
              <a:ext uri="{FF2B5EF4-FFF2-40B4-BE49-F238E27FC236}">
                <a16:creationId xmlns:a16="http://schemas.microsoft.com/office/drawing/2014/main" id="{1DFB215F-3BEE-9648-9D56-35B885DB945C}"/>
              </a:ext>
            </a:extLst>
          </p:cNvPr>
          <p:cNvSpPr/>
          <p:nvPr/>
        </p:nvSpPr>
        <p:spPr>
          <a:xfrm>
            <a:off x="4211960" y="1705372"/>
            <a:ext cx="576064" cy="216024"/>
          </a:xfrm>
          <a:prstGeom prst="rect">
            <a:avLst/>
          </a:prstGeom>
          <a:solidFill>
            <a:srgbClr val="BE38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VTTBR0_EL2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8F4E7A84-7129-BD46-B78B-D1D837AB725C}"/>
              </a:ext>
            </a:extLst>
          </p:cNvPr>
          <p:cNvSpPr/>
          <p:nvPr/>
        </p:nvSpPr>
        <p:spPr>
          <a:xfrm>
            <a:off x="5004048" y="1341139"/>
            <a:ext cx="3168352" cy="14401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L1</a:t>
            </a:r>
            <a:r>
              <a: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rPr>
              <a:t>页表页</a:t>
            </a:r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GPA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cxnSp>
        <p:nvCxnSpPr>
          <p:cNvPr id="74" name="直线箭头连接符 73">
            <a:extLst>
              <a:ext uri="{FF2B5EF4-FFF2-40B4-BE49-F238E27FC236}">
                <a16:creationId xmlns:a16="http://schemas.microsoft.com/office/drawing/2014/main" id="{E215D362-9E58-D14F-9E71-DB4CACF9CC4B}"/>
              </a:ext>
            </a:extLst>
          </p:cNvPr>
          <p:cNvCxnSpPr>
            <a:cxnSpLocks/>
            <a:stCxn id="67" idx="3"/>
            <a:endCxn id="73" idx="1"/>
          </p:cNvCxnSpPr>
          <p:nvPr/>
        </p:nvCxnSpPr>
        <p:spPr>
          <a:xfrm flipV="1">
            <a:off x="4715959" y="1413147"/>
            <a:ext cx="288089" cy="4193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BEE82469-73E6-774B-9365-374A03CB72D9}"/>
              </a:ext>
            </a:extLst>
          </p:cNvPr>
          <p:cNvGrpSpPr/>
          <p:nvPr/>
        </p:nvGrpSpPr>
        <p:grpSpPr>
          <a:xfrm>
            <a:off x="5292080" y="1629171"/>
            <a:ext cx="503999" cy="432048"/>
            <a:chOff x="5580112" y="409228"/>
            <a:chExt cx="648072" cy="432048"/>
          </a:xfrm>
        </p:grpSpPr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7A113F0C-56D9-6D4B-8364-F28DAA95650F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062FC814-2405-A841-B1AB-DF51F0BF376A}"/>
                </a:ext>
              </a:extLst>
            </p:cNvPr>
            <p:cNvSpPr/>
            <p:nvPr/>
          </p:nvSpPr>
          <p:spPr>
            <a:xfrm>
              <a:off x="5580112" y="625252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L0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B7B7C3E3-F60A-A04D-A222-C9BB180DE9FE}"/>
              </a:ext>
            </a:extLst>
          </p:cNvPr>
          <p:cNvGrpSpPr/>
          <p:nvPr/>
        </p:nvGrpSpPr>
        <p:grpSpPr>
          <a:xfrm>
            <a:off x="6084168" y="1629171"/>
            <a:ext cx="503999" cy="432048"/>
            <a:chOff x="5580112" y="409228"/>
            <a:chExt cx="648072" cy="432048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DF61364B-88A2-BF47-9F49-67C7CF3D6FD1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95E1E108-AFB4-BD42-840A-410E1E8031FF}"/>
                </a:ext>
              </a:extLst>
            </p:cNvPr>
            <p:cNvSpPr/>
            <p:nvPr/>
          </p:nvSpPr>
          <p:spPr>
            <a:xfrm>
              <a:off x="5580112" y="481236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L1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4ADCA1AD-5E29-8849-B427-1AFF3CF71431}"/>
              </a:ext>
            </a:extLst>
          </p:cNvPr>
          <p:cNvGrpSpPr/>
          <p:nvPr/>
        </p:nvGrpSpPr>
        <p:grpSpPr>
          <a:xfrm>
            <a:off x="6876256" y="1629171"/>
            <a:ext cx="503999" cy="432048"/>
            <a:chOff x="5580112" y="409228"/>
            <a:chExt cx="648072" cy="432048"/>
          </a:xfrm>
        </p:grpSpPr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14D525DE-E304-DE4E-A7E4-A41FE7023588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A1DFA44D-8770-DB4A-92A1-E3AB4939C57A}"/>
                </a:ext>
              </a:extLst>
            </p:cNvPr>
            <p:cNvSpPr/>
            <p:nvPr/>
          </p:nvSpPr>
          <p:spPr>
            <a:xfrm>
              <a:off x="5580112" y="553244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L2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4F5D9FFE-E3C1-F249-8904-63813BEA1C7C}"/>
              </a:ext>
            </a:extLst>
          </p:cNvPr>
          <p:cNvGrpSpPr/>
          <p:nvPr/>
        </p:nvGrpSpPr>
        <p:grpSpPr>
          <a:xfrm>
            <a:off x="7668344" y="1629171"/>
            <a:ext cx="503999" cy="432048"/>
            <a:chOff x="5580112" y="409228"/>
            <a:chExt cx="648072" cy="432048"/>
          </a:xfrm>
        </p:grpSpPr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5BCF681E-8666-9946-9EDF-9432901D8C40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A07593D2-6C0E-6949-84DD-A5BDA15245BB}"/>
                </a:ext>
              </a:extLst>
            </p:cNvPr>
            <p:cNvSpPr/>
            <p:nvPr/>
          </p:nvSpPr>
          <p:spPr>
            <a:xfrm>
              <a:off x="5580112" y="625252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L3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cxnSp>
        <p:nvCxnSpPr>
          <p:cNvPr id="88" name="肘形连接符 87">
            <a:extLst>
              <a:ext uri="{FF2B5EF4-FFF2-40B4-BE49-F238E27FC236}">
                <a16:creationId xmlns:a16="http://schemas.microsoft.com/office/drawing/2014/main" id="{47E43826-C61C-6747-84D8-1DE5978C69D4}"/>
              </a:ext>
            </a:extLst>
          </p:cNvPr>
          <p:cNvCxnSpPr>
            <a:cxnSpLocks/>
            <a:endCxn id="77" idx="1"/>
          </p:cNvCxnSpPr>
          <p:nvPr/>
        </p:nvCxnSpPr>
        <p:spPr>
          <a:xfrm rot="16200000" flipH="1">
            <a:off x="4965948" y="1595263"/>
            <a:ext cx="436240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肘形连接符 88">
            <a:extLst>
              <a:ext uri="{FF2B5EF4-FFF2-40B4-BE49-F238E27FC236}">
                <a16:creationId xmlns:a16="http://schemas.microsoft.com/office/drawing/2014/main" id="{44C950FD-144D-AD43-911F-C010E28CB4E3}"/>
              </a:ext>
            </a:extLst>
          </p:cNvPr>
          <p:cNvCxnSpPr>
            <a:cxnSpLocks/>
            <a:endCxn id="80" idx="1"/>
          </p:cNvCxnSpPr>
          <p:nvPr/>
        </p:nvCxnSpPr>
        <p:spPr>
          <a:xfrm rot="16200000" flipH="1">
            <a:off x="5830044" y="1523255"/>
            <a:ext cx="292224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肘形连接符 89">
            <a:extLst>
              <a:ext uri="{FF2B5EF4-FFF2-40B4-BE49-F238E27FC236}">
                <a16:creationId xmlns:a16="http://schemas.microsoft.com/office/drawing/2014/main" id="{94FFF14B-3AFF-FF4B-A0AD-2B4ED889CC61}"/>
              </a:ext>
            </a:extLst>
          </p:cNvPr>
          <p:cNvCxnSpPr>
            <a:cxnSpLocks/>
            <a:endCxn id="83" idx="1"/>
          </p:cNvCxnSpPr>
          <p:nvPr/>
        </p:nvCxnSpPr>
        <p:spPr>
          <a:xfrm rot="16200000" flipH="1">
            <a:off x="6586128" y="1559259"/>
            <a:ext cx="364232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肘形连接符 90">
            <a:extLst>
              <a:ext uri="{FF2B5EF4-FFF2-40B4-BE49-F238E27FC236}">
                <a16:creationId xmlns:a16="http://schemas.microsoft.com/office/drawing/2014/main" id="{26BD0D0E-8904-AF44-837D-A00C57E33AA9}"/>
              </a:ext>
            </a:extLst>
          </p:cNvPr>
          <p:cNvCxnSpPr>
            <a:cxnSpLocks/>
            <a:endCxn id="86" idx="1"/>
          </p:cNvCxnSpPr>
          <p:nvPr/>
        </p:nvCxnSpPr>
        <p:spPr>
          <a:xfrm rot="16200000" flipH="1">
            <a:off x="7342212" y="1595263"/>
            <a:ext cx="436240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肘形连接符 91">
            <a:extLst>
              <a:ext uri="{FF2B5EF4-FFF2-40B4-BE49-F238E27FC236}">
                <a16:creationId xmlns:a16="http://schemas.microsoft.com/office/drawing/2014/main" id="{8059CCD3-7040-CD4E-A913-0684A8AFEB98}"/>
              </a:ext>
            </a:extLst>
          </p:cNvPr>
          <p:cNvCxnSpPr>
            <a:cxnSpLocks/>
            <a:stCxn id="76" idx="3"/>
          </p:cNvCxnSpPr>
          <p:nvPr/>
        </p:nvCxnSpPr>
        <p:spPr>
          <a:xfrm flipV="1">
            <a:off x="5796079" y="1629171"/>
            <a:ext cx="288089" cy="288000"/>
          </a:xfrm>
          <a:prstGeom prst="bentConnector3">
            <a:avLst>
              <a:gd name="adj1" fmla="val 37877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肘形连接符 92">
            <a:extLst>
              <a:ext uri="{FF2B5EF4-FFF2-40B4-BE49-F238E27FC236}">
                <a16:creationId xmlns:a16="http://schemas.microsoft.com/office/drawing/2014/main" id="{C586D77E-105D-584A-A55E-C96F07880055}"/>
              </a:ext>
            </a:extLst>
          </p:cNvPr>
          <p:cNvCxnSpPr>
            <a:cxnSpLocks/>
          </p:cNvCxnSpPr>
          <p:nvPr/>
        </p:nvCxnSpPr>
        <p:spPr>
          <a:xfrm flipV="1">
            <a:off x="6588224" y="1629171"/>
            <a:ext cx="288032" cy="14398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肘形连接符 93">
            <a:extLst>
              <a:ext uri="{FF2B5EF4-FFF2-40B4-BE49-F238E27FC236}">
                <a16:creationId xmlns:a16="http://schemas.microsoft.com/office/drawing/2014/main" id="{CD364062-C0FB-6B44-84A3-2307A0D993F9}"/>
              </a:ext>
            </a:extLst>
          </p:cNvPr>
          <p:cNvCxnSpPr>
            <a:cxnSpLocks/>
          </p:cNvCxnSpPr>
          <p:nvPr/>
        </p:nvCxnSpPr>
        <p:spPr>
          <a:xfrm flipV="1">
            <a:off x="7380312" y="1629171"/>
            <a:ext cx="288032" cy="21599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肘形连接符 94">
            <a:extLst>
              <a:ext uri="{FF2B5EF4-FFF2-40B4-BE49-F238E27FC236}">
                <a16:creationId xmlns:a16="http://schemas.microsoft.com/office/drawing/2014/main" id="{584E9C09-5D8E-FF47-849C-BFB443E8B8A1}"/>
              </a:ext>
            </a:extLst>
          </p:cNvPr>
          <p:cNvCxnSpPr>
            <a:stCxn id="86" idx="3"/>
          </p:cNvCxnSpPr>
          <p:nvPr/>
        </p:nvCxnSpPr>
        <p:spPr>
          <a:xfrm flipH="1">
            <a:off x="4211960" y="1921396"/>
            <a:ext cx="3960383" cy="288000"/>
          </a:xfrm>
          <a:prstGeom prst="bentConnector5">
            <a:avLst>
              <a:gd name="adj1" fmla="val -5772"/>
              <a:gd name="adj2" fmla="val 72933"/>
              <a:gd name="adj3" fmla="val 105772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肘形连接符 98">
            <a:extLst>
              <a:ext uri="{FF2B5EF4-FFF2-40B4-BE49-F238E27FC236}">
                <a16:creationId xmlns:a16="http://schemas.microsoft.com/office/drawing/2014/main" id="{66F90C04-F79B-924F-B861-09C60792B142}"/>
              </a:ext>
            </a:extLst>
          </p:cNvPr>
          <p:cNvCxnSpPr>
            <a:cxnSpLocks/>
          </p:cNvCxnSpPr>
          <p:nvPr/>
        </p:nvCxnSpPr>
        <p:spPr>
          <a:xfrm flipV="1">
            <a:off x="4788024" y="1633364"/>
            <a:ext cx="504056" cy="215992"/>
          </a:xfrm>
          <a:prstGeom prst="bentConnector3">
            <a:avLst>
              <a:gd name="adj1" fmla="val 19211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7FC53931-0115-9442-9031-4F7C6DD384F9}"/>
              </a:ext>
            </a:extLst>
          </p:cNvPr>
          <p:cNvGrpSpPr/>
          <p:nvPr/>
        </p:nvGrpSpPr>
        <p:grpSpPr>
          <a:xfrm>
            <a:off x="4211960" y="2209428"/>
            <a:ext cx="503999" cy="432048"/>
            <a:chOff x="5580112" y="409228"/>
            <a:chExt cx="648072" cy="432048"/>
          </a:xfrm>
        </p:grpSpPr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D63B5644-ED09-9F4D-B160-866809F41DD7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99703D37-6934-AF46-933F-575E668070B1}"/>
                </a:ext>
              </a:extLst>
            </p:cNvPr>
            <p:cNvSpPr/>
            <p:nvPr/>
          </p:nvSpPr>
          <p:spPr>
            <a:xfrm>
              <a:off x="5580112" y="553244"/>
              <a:ext cx="648072" cy="1524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L1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sp>
        <p:nvSpPr>
          <p:cNvPr id="105" name="矩形 104">
            <a:extLst>
              <a:ext uri="{FF2B5EF4-FFF2-40B4-BE49-F238E27FC236}">
                <a16:creationId xmlns:a16="http://schemas.microsoft.com/office/drawing/2014/main" id="{A15D4458-4CF9-8C4B-869E-0A619FD2AACD}"/>
              </a:ext>
            </a:extLst>
          </p:cNvPr>
          <p:cNvSpPr/>
          <p:nvPr/>
        </p:nvSpPr>
        <p:spPr>
          <a:xfrm>
            <a:off x="4211960" y="2713484"/>
            <a:ext cx="576064" cy="216024"/>
          </a:xfrm>
          <a:prstGeom prst="rect">
            <a:avLst/>
          </a:prstGeom>
          <a:solidFill>
            <a:srgbClr val="BE38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VTTBR0_EL2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E8F704CB-8669-A044-9E01-35DBD8DFDE92}"/>
              </a:ext>
            </a:extLst>
          </p:cNvPr>
          <p:cNvSpPr/>
          <p:nvPr/>
        </p:nvSpPr>
        <p:spPr>
          <a:xfrm>
            <a:off x="5004048" y="2349251"/>
            <a:ext cx="3168352" cy="14401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L2</a:t>
            </a:r>
            <a:r>
              <a: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rPr>
              <a:t>页表页</a:t>
            </a:r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GPA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cxnSp>
        <p:nvCxnSpPr>
          <p:cNvPr id="107" name="直线箭头连接符 106">
            <a:extLst>
              <a:ext uri="{FF2B5EF4-FFF2-40B4-BE49-F238E27FC236}">
                <a16:creationId xmlns:a16="http://schemas.microsoft.com/office/drawing/2014/main" id="{0B000466-29DD-7A4F-BB8F-C961B20C5A81}"/>
              </a:ext>
            </a:extLst>
          </p:cNvPr>
          <p:cNvCxnSpPr>
            <a:cxnSpLocks/>
            <a:stCxn id="103" idx="3"/>
            <a:endCxn id="106" idx="1"/>
          </p:cNvCxnSpPr>
          <p:nvPr/>
        </p:nvCxnSpPr>
        <p:spPr>
          <a:xfrm flipV="1">
            <a:off x="4715959" y="2421259"/>
            <a:ext cx="288089" cy="4193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1913362F-FB36-344D-BBCC-1619ABB29D2B}"/>
              </a:ext>
            </a:extLst>
          </p:cNvPr>
          <p:cNvGrpSpPr/>
          <p:nvPr/>
        </p:nvGrpSpPr>
        <p:grpSpPr>
          <a:xfrm>
            <a:off x="5292080" y="2637283"/>
            <a:ext cx="503999" cy="432048"/>
            <a:chOff x="5580112" y="409228"/>
            <a:chExt cx="648072" cy="432048"/>
          </a:xfrm>
        </p:grpSpPr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FA7062B0-47E1-DF43-B534-AC9EB344FD26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F7B4B465-E0C4-1D41-B2FA-26FE08955C23}"/>
                </a:ext>
              </a:extLst>
            </p:cNvPr>
            <p:cNvSpPr/>
            <p:nvPr/>
          </p:nvSpPr>
          <p:spPr>
            <a:xfrm>
              <a:off x="5580112" y="625252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L0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E597CFE6-FED6-5940-8A5F-B31B53468341}"/>
              </a:ext>
            </a:extLst>
          </p:cNvPr>
          <p:cNvGrpSpPr/>
          <p:nvPr/>
        </p:nvGrpSpPr>
        <p:grpSpPr>
          <a:xfrm>
            <a:off x="6084168" y="2637283"/>
            <a:ext cx="503999" cy="432048"/>
            <a:chOff x="5580112" y="409228"/>
            <a:chExt cx="648072" cy="432048"/>
          </a:xfrm>
        </p:grpSpPr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218C1F49-3E7C-E545-92F9-C15E33DBDDF0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F4038DAA-F7C7-7441-B0A8-3B6539552FF4}"/>
                </a:ext>
              </a:extLst>
            </p:cNvPr>
            <p:cNvSpPr/>
            <p:nvPr/>
          </p:nvSpPr>
          <p:spPr>
            <a:xfrm>
              <a:off x="5580112" y="481236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L1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874AF927-FD5A-DA42-BCBB-F3743B093339}"/>
              </a:ext>
            </a:extLst>
          </p:cNvPr>
          <p:cNvGrpSpPr/>
          <p:nvPr/>
        </p:nvGrpSpPr>
        <p:grpSpPr>
          <a:xfrm>
            <a:off x="6876256" y="2637283"/>
            <a:ext cx="503999" cy="432048"/>
            <a:chOff x="5580112" y="409228"/>
            <a:chExt cx="648072" cy="432048"/>
          </a:xfrm>
        </p:grpSpPr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4A7CC3DE-18E1-2245-997E-A5E090F19942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A999D4B7-4CFB-814A-BF0D-C6557CBEA3F6}"/>
                </a:ext>
              </a:extLst>
            </p:cNvPr>
            <p:cNvSpPr/>
            <p:nvPr/>
          </p:nvSpPr>
          <p:spPr>
            <a:xfrm>
              <a:off x="5580112" y="553244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L2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346453BE-9CD8-B944-9029-70D3FBCA3434}"/>
              </a:ext>
            </a:extLst>
          </p:cNvPr>
          <p:cNvGrpSpPr/>
          <p:nvPr/>
        </p:nvGrpSpPr>
        <p:grpSpPr>
          <a:xfrm>
            <a:off x="7668344" y="2637283"/>
            <a:ext cx="503999" cy="432048"/>
            <a:chOff x="5580112" y="409228"/>
            <a:chExt cx="648072" cy="432048"/>
          </a:xfrm>
        </p:grpSpPr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C9B96FDB-4A59-6B40-8A4B-8A97D06358E9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5F065175-EEAE-2848-98DD-C7C4F40428F7}"/>
                </a:ext>
              </a:extLst>
            </p:cNvPr>
            <p:cNvSpPr/>
            <p:nvPr/>
          </p:nvSpPr>
          <p:spPr>
            <a:xfrm>
              <a:off x="5580112" y="625252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L3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cxnSp>
        <p:nvCxnSpPr>
          <p:cNvPr id="120" name="肘形连接符 119">
            <a:extLst>
              <a:ext uri="{FF2B5EF4-FFF2-40B4-BE49-F238E27FC236}">
                <a16:creationId xmlns:a16="http://schemas.microsoft.com/office/drawing/2014/main" id="{C3D41355-BF3C-6045-8D4E-8FC1B9416D7E}"/>
              </a:ext>
            </a:extLst>
          </p:cNvPr>
          <p:cNvCxnSpPr>
            <a:cxnSpLocks/>
            <a:endCxn id="110" idx="1"/>
          </p:cNvCxnSpPr>
          <p:nvPr/>
        </p:nvCxnSpPr>
        <p:spPr>
          <a:xfrm rot="16200000" flipH="1">
            <a:off x="4965948" y="2603375"/>
            <a:ext cx="436240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肘形连接符 120">
            <a:extLst>
              <a:ext uri="{FF2B5EF4-FFF2-40B4-BE49-F238E27FC236}">
                <a16:creationId xmlns:a16="http://schemas.microsoft.com/office/drawing/2014/main" id="{457C9C9B-DF21-E642-AA4B-D02DC3106305}"/>
              </a:ext>
            </a:extLst>
          </p:cNvPr>
          <p:cNvCxnSpPr>
            <a:cxnSpLocks/>
            <a:endCxn id="113" idx="1"/>
          </p:cNvCxnSpPr>
          <p:nvPr/>
        </p:nvCxnSpPr>
        <p:spPr>
          <a:xfrm rot="16200000" flipH="1">
            <a:off x="5830044" y="2531367"/>
            <a:ext cx="292224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肘形连接符 121">
            <a:extLst>
              <a:ext uri="{FF2B5EF4-FFF2-40B4-BE49-F238E27FC236}">
                <a16:creationId xmlns:a16="http://schemas.microsoft.com/office/drawing/2014/main" id="{FB06C312-54EC-0F4F-B419-C201D0322A80}"/>
              </a:ext>
            </a:extLst>
          </p:cNvPr>
          <p:cNvCxnSpPr>
            <a:cxnSpLocks/>
            <a:endCxn id="116" idx="1"/>
          </p:cNvCxnSpPr>
          <p:nvPr/>
        </p:nvCxnSpPr>
        <p:spPr>
          <a:xfrm rot="16200000" flipH="1">
            <a:off x="6586128" y="2567371"/>
            <a:ext cx="364232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肘形连接符 122">
            <a:extLst>
              <a:ext uri="{FF2B5EF4-FFF2-40B4-BE49-F238E27FC236}">
                <a16:creationId xmlns:a16="http://schemas.microsoft.com/office/drawing/2014/main" id="{CE370C52-3458-1945-8947-E75A45CDD2FE}"/>
              </a:ext>
            </a:extLst>
          </p:cNvPr>
          <p:cNvCxnSpPr>
            <a:cxnSpLocks/>
            <a:endCxn id="119" idx="1"/>
          </p:cNvCxnSpPr>
          <p:nvPr/>
        </p:nvCxnSpPr>
        <p:spPr>
          <a:xfrm rot="16200000" flipH="1">
            <a:off x="7342212" y="2603375"/>
            <a:ext cx="436240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肘形连接符 123">
            <a:extLst>
              <a:ext uri="{FF2B5EF4-FFF2-40B4-BE49-F238E27FC236}">
                <a16:creationId xmlns:a16="http://schemas.microsoft.com/office/drawing/2014/main" id="{5CCD7560-A368-AA48-9EC0-49F05AD2AF24}"/>
              </a:ext>
            </a:extLst>
          </p:cNvPr>
          <p:cNvCxnSpPr>
            <a:cxnSpLocks/>
            <a:stCxn id="109" idx="3"/>
          </p:cNvCxnSpPr>
          <p:nvPr/>
        </p:nvCxnSpPr>
        <p:spPr>
          <a:xfrm flipV="1">
            <a:off x="5796079" y="2637283"/>
            <a:ext cx="288089" cy="288000"/>
          </a:xfrm>
          <a:prstGeom prst="bentConnector3">
            <a:avLst>
              <a:gd name="adj1" fmla="val 37877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肘形连接符 124">
            <a:extLst>
              <a:ext uri="{FF2B5EF4-FFF2-40B4-BE49-F238E27FC236}">
                <a16:creationId xmlns:a16="http://schemas.microsoft.com/office/drawing/2014/main" id="{1EDA5255-2AEF-C745-A3F6-CEC8B073B421}"/>
              </a:ext>
            </a:extLst>
          </p:cNvPr>
          <p:cNvCxnSpPr>
            <a:cxnSpLocks/>
          </p:cNvCxnSpPr>
          <p:nvPr/>
        </p:nvCxnSpPr>
        <p:spPr>
          <a:xfrm flipV="1">
            <a:off x="6588224" y="2637283"/>
            <a:ext cx="288032" cy="14398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肘形连接符 125">
            <a:extLst>
              <a:ext uri="{FF2B5EF4-FFF2-40B4-BE49-F238E27FC236}">
                <a16:creationId xmlns:a16="http://schemas.microsoft.com/office/drawing/2014/main" id="{89A3DC53-5B28-5541-B345-747E48B76C86}"/>
              </a:ext>
            </a:extLst>
          </p:cNvPr>
          <p:cNvCxnSpPr>
            <a:cxnSpLocks/>
          </p:cNvCxnSpPr>
          <p:nvPr/>
        </p:nvCxnSpPr>
        <p:spPr>
          <a:xfrm flipV="1">
            <a:off x="7380312" y="2637283"/>
            <a:ext cx="288032" cy="21599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肘形连接符 126">
            <a:extLst>
              <a:ext uri="{FF2B5EF4-FFF2-40B4-BE49-F238E27FC236}">
                <a16:creationId xmlns:a16="http://schemas.microsoft.com/office/drawing/2014/main" id="{D0A0E896-6B2B-544E-B204-158B6FC2A713}"/>
              </a:ext>
            </a:extLst>
          </p:cNvPr>
          <p:cNvCxnSpPr>
            <a:stCxn id="119" idx="3"/>
          </p:cNvCxnSpPr>
          <p:nvPr/>
        </p:nvCxnSpPr>
        <p:spPr>
          <a:xfrm flipH="1">
            <a:off x="4211960" y="2929508"/>
            <a:ext cx="3960383" cy="288000"/>
          </a:xfrm>
          <a:prstGeom prst="bentConnector5">
            <a:avLst>
              <a:gd name="adj1" fmla="val -5772"/>
              <a:gd name="adj2" fmla="val 72933"/>
              <a:gd name="adj3" fmla="val 105772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肘形连接符 127">
            <a:extLst>
              <a:ext uri="{FF2B5EF4-FFF2-40B4-BE49-F238E27FC236}">
                <a16:creationId xmlns:a16="http://schemas.microsoft.com/office/drawing/2014/main" id="{A5EA51CD-8850-3F4F-BCA2-00411BB17449}"/>
              </a:ext>
            </a:extLst>
          </p:cNvPr>
          <p:cNvCxnSpPr>
            <a:cxnSpLocks/>
          </p:cNvCxnSpPr>
          <p:nvPr/>
        </p:nvCxnSpPr>
        <p:spPr>
          <a:xfrm flipV="1">
            <a:off x="4788024" y="2641476"/>
            <a:ext cx="504056" cy="215992"/>
          </a:xfrm>
          <a:prstGeom prst="bentConnector3">
            <a:avLst>
              <a:gd name="adj1" fmla="val 19211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组合 128">
            <a:extLst>
              <a:ext uri="{FF2B5EF4-FFF2-40B4-BE49-F238E27FC236}">
                <a16:creationId xmlns:a16="http://schemas.microsoft.com/office/drawing/2014/main" id="{E698BCBD-8429-C74A-902F-DE80854F4F4B}"/>
              </a:ext>
            </a:extLst>
          </p:cNvPr>
          <p:cNvGrpSpPr/>
          <p:nvPr/>
        </p:nvGrpSpPr>
        <p:grpSpPr>
          <a:xfrm>
            <a:off x="4211960" y="3217540"/>
            <a:ext cx="503999" cy="432048"/>
            <a:chOff x="5580112" y="409228"/>
            <a:chExt cx="648072" cy="432048"/>
          </a:xfrm>
        </p:grpSpPr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ED09480E-19C9-0D4D-A999-105F40FBDD5A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31" name="矩形 130">
              <a:extLst>
                <a:ext uri="{FF2B5EF4-FFF2-40B4-BE49-F238E27FC236}">
                  <a16:creationId xmlns:a16="http://schemas.microsoft.com/office/drawing/2014/main" id="{36FB11A4-4328-964D-A9E2-30FEC1D1AA7A}"/>
                </a:ext>
              </a:extLst>
            </p:cNvPr>
            <p:cNvSpPr/>
            <p:nvPr/>
          </p:nvSpPr>
          <p:spPr>
            <a:xfrm>
              <a:off x="5580112" y="553244"/>
              <a:ext cx="648072" cy="1524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L2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sp>
        <p:nvSpPr>
          <p:cNvPr id="132" name="矩形 131">
            <a:extLst>
              <a:ext uri="{FF2B5EF4-FFF2-40B4-BE49-F238E27FC236}">
                <a16:creationId xmlns:a16="http://schemas.microsoft.com/office/drawing/2014/main" id="{BE82C75B-2239-C841-BB5A-42E7E234E4AA}"/>
              </a:ext>
            </a:extLst>
          </p:cNvPr>
          <p:cNvSpPr/>
          <p:nvPr/>
        </p:nvSpPr>
        <p:spPr>
          <a:xfrm>
            <a:off x="4211960" y="3721596"/>
            <a:ext cx="576064" cy="216024"/>
          </a:xfrm>
          <a:prstGeom prst="rect">
            <a:avLst/>
          </a:prstGeom>
          <a:solidFill>
            <a:srgbClr val="BE38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VTTBR0_EL2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FBF57BF0-17A1-F949-BCD3-43F773607F98}"/>
              </a:ext>
            </a:extLst>
          </p:cNvPr>
          <p:cNvSpPr/>
          <p:nvPr/>
        </p:nvSpPr>
        <p:spPr>
          <a:xfrm>
            <a:off x="5004048" y="3357363"/>
            <a:ext cx="3168352" cy="14401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L3</a:t>
            </a:r>
            <a:r>
              <a: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rPr>
              <a:t>页表页</a:t>
            </a:r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GPA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cxnSp>
        <p:nvCxnSpPr>
          <p:cNvPr id="134" name="直线箭头连接符 133">
            <a:extLst>
              <a:ext uri="{FF2B5EF4-FFF2-40B4-BE49-F238E27FC236}">
                <a16:creationId xmlns:a16="http://schemas.microsoft.com/office/drawing/2014/main" id="{DD4A4E2C-CE54-1843-B8A9-8558A99E2824}"/>
              </a:ext>
            </a:extLst>
          </p:cNvPr>
          <p:cNvCxnSpPr>
            <a:cxnSpLocks/>
            <a:stCxn id="130" idx="3"/>
            <a:endCxn id="133" idx="1"/>
          </p:cNvCxnSpPr>
          <p:nvPr/>
        </p:nvCxnSpPr>
        <p:spPr>
          <a:xfrm flipV="1">
            <a:off x="4715959" y="3429371"/>
            <a:ext cx="288089" cy="4193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E4A232DA-A9A5-8148-8B67-7CA2577D7180}"/>
              </a:ext>
            </a:extLst>
          </p:cNvPr>
          <p:cNvGrpSpPr/>
          <p:nvPr/>
        </p:nvGrpSpPr>
        <p:grpSpPr>
          <a:xfrm>
            <a:off x="5292080" y="3645395"/>
            <a:ext cx="503999" cy="432048"/>
            <a:chOff x="5580112" y="409228"/>
            <a:chExt cx="648072" cy="432048"/>
          </a:xfrm>
        </p:grpSpPr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DDF21E66-9CB5-8A45-BDF1-CBF46628F8B4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A67AB0C4-CE81-0F43-9D55-9A01F8F18959}"/>
                </a:ext>
              </a:extLst>
            </p:cNvPr>
            <p:cNvSpPr/>
            <p:nvPr/>
          </p:nvSpPr>
          <p:spPr>
            <a:xfrm>
              <a:off x="5580112" y="625252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L0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9E64945B-17EA-FA4A-8634-BD4EF0239DAD}"/>
              </a:ext>
            </a:extLst>
          </p:cNvPr>
          <p:cNvGrpSpPr/>
          <p:nvPr/>
        </p:nvGrpSpPr>
        <p:grpSpPr>
          <a:xfrm>
            <a:off x="6084168" y="3645395"/>
            <a:ext cx="503999" cy="432048"/>
            <a:chOff x="5580112" y="409228"/>
            <a:chExt cx="648072" cy="432048"/>
          </a:xfrm>
        </p:grpSpPr>
        <p:sp>
          <p:nvSpPr>
            <p:cNvPr id="139" name="矩形 138">
              <a:extLst>
                <a:ext uri="{FF2B5EF4-FFF2-40B4-BE49-F238E27FC236}">
                  <a16:creationId xmlns:a16="http://schemas.microsoft.com/office/drawing/2014/main" id="{CBB5A2C9-39A9-6C48-9E54-A6A17A62A707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DAB2A1A5-AB67-0B4F-9144-BDCBC81ECC53}"/>
                </a:ext>
              </a:extLst>
            </p:cNvPr>
            <p:cNvSpPr/>
            <p:nvPr/>
          </p:nvSpPr>
          <p:spPr>
            <a:xfrm>
              <a:off x="5580112" y="481236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L1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734FC5F7-5BB3-2846-9719-433A54748DDE}"/>
              </a:ext>
            </a:extLst>
          </p:cNvPr>
          <p:cNvGrpSpPr/>
          <p:nvPr/>
        </p:nvGrpSpPr>
        <p:grpSpPr>
          <a:xfrm>
            <a:off x="6876256" y="3645395"/>
            <a:ext cx="503999" cy="432048"/>
            <a:chOff x="5580112" y="409228"/>
            <a:chExt cx="648072" cy="432048"/>
          </a:xfrm>
        </p:grpSpPr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74490E8C-B29F-2043-A4CE-7341CE692EE8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43" name="矩形 142">
              <a:extLst>
                <a:ext uri="{FF2B5EF4-FFF2-40B4-BE49-F238E27FC236}">
                  <a16:creationId xmlns:a16="http://schemas.microsoft.com/office/drawing/2014/main" id="{20F60CDF-8F5B-3345-960B-C64C85B54764}"/>
                </a:ext>
              </a:extLst>
            </p:cNvPr>
            <p:cNvSpPr/>
            <p:nvPr/>
          </p:nvSpPr>
          <p:spPr>
            <a:xfrm>
              <a:off x="5580112" y="553244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L2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4426A1B2-BEBE-8340-8756-967B8C9C0A1A}"/>
              </a:ext>
            </a:extLst>
          </p:cNvPr>
          <p:cNvGrpSpPr/>
          <p:nvPr/>
        </p:nvGrpSpPr>
        <p:grpSpPr>
          <a:xfrm>
            <a:off x="7668344" y="3645395"/>
            <a:ext cx="503999" cy="432048"/>
            <a:chOff x="5580112" y="409228"/>
            <a:chExt cx="648072" cy="432048"/>
          </a:xfrm>
        </p:grpSpPr>
        <p:sp>
          <p:nvSpPr>
            <p:cNvPr id="145" name="矩形 144">
              <a:extLst>
                <a:ext uri="{FF2B5EF4-FFF2-40B4-BE49-F238E27FC236}">
                  <a16:creationId xmlns:a16="http://schemas.microsoft.com/office/drawing/2014/main" id="{24344AA8-7547-F645-80CA-E1F41E2C9CE5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7085CA1B-EB43-FB4B-B466-0CA6DBE0FEE8}"/>
                </a:ext>
              </a:extLst>
            </p:cNvPr>
            <p:cNvSpPr/>
            <p:nvPr/>
          </p:nvSpPr>
          <p:spPr>
            <a:xfrm>
              <a:off x="5580112" y="625252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L3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cxnSp>
        <p:nvCxnSpPr>
          <p:cNvPr id="147" name="肘形连接符 146">
            <a:extLst>
              <a:ext uri="{FF2B5EF4-FFF2-40B4-BE49-F238E27FC236}">
                <a16:creationId xmlns:a16="http://schemas.microsoft.com/office/drawing/2014/main" id="{F7D31755-4DB0-2E45-AA73-B49C992FE287}"/>
              </a:ext>
            </a:extLst>
          </p:cNvPr>
          <p:cNvCxnSpPr>
            <a:cxnSpLocks/>
            <a:endCxn id="137" idx="1"/>
          </p:cNvCxnSpPr>
          <p:nvPr/>
        </p:nvCxnSpPr>
        <p:spPr>
          <a:xfrm rot="16200000" flipH="1">
            <a:off x="4965948" y="3611487"/>
            <a:ext cx="436240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肘形连接符 147">
            <a:extLst>
              <a:ext uri="{FF2B5EF4-FFF2-40B4-BE49-F238E27FC236}">
                <a16:creationId xmlns:a16="http://schemas.microsoft.com/office/drawing/2014/main" id="{83245416-6CED-0B44-8512-DF5FC94DB929}"/>
              </a:ext>
            </a:extLst>
          </p:cNvPr>
          <p:cNvCxnSpPr>
            <a:cxnSpLocks/>
            <a:endCxn id="140" idx="1"/>
          </p:cNvCxnSpPr>
          <p:nvPr/>
        </p:nvCxnSpPr>
        <p:spPr>
          <a:xfrm rot="16200000" flipH="1">
            <a:off x="5830044" y="3539479"/>
            <a:ext cx="292224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肘形连接符 148">
            <a:extLst>
              <a:ext uri="{FF2B5EF4-FFF2-40B4-BE49-F238E27FC236}">
                <a16:creationId xmlns:a16="http://schemas.microsoft.com/office/drawing/2014/main" id="{B161E253-50E7-3D45-B3AE-C08E7D4E9B4C}"/>
              </a:ext>
            </a:extLst>
          </p:cNvPr>
          <p:cNvCxnSpPr>
            <a:cxnSpLocks/>
            <a:endCxn id="143" idx="1"/>
          </p:cNvCxnSpPr>
          <p:nvPr/>
        </p:nvCxnSpPr>
        <p:spPr>
          <a:xfrm rot="16200000" flipH="1">
            <a:off x="6586128" y="3575483"/>
            <a:ext cx="364232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肘形连接符 149">
            <a:extLst>
              <a:ext uri="{FF2B5EF4-FFF2-40B4-BE49-F238E27FC236}">
                <a16:creationId xmlns:a16="http://schemas.microsoft.com/office/drawing/2014/main" id="{DC2BFEB8-29CC-0D43-9210-2D9F5B7F18D1}"/>
              </a:ext>
            </a:extLst>
          </p:cNvPr>
          <p:cNvCxnSpPr>
            <a:cxnSpLocks/>
            <a:endCxn id="146" idx="1"/>
          </p:cNvCxnSpPr>
          <p:nvPr/>
        </p:nvCxnSpPr>
        <p:spPr>
          <a:xfrm rot="16200000" flipH="1">
            <a:off x="7342212" y="3611487"/>
            <a:ext cx="436240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肘形连接符 150">
            <a:extLst>
              <a:ext uri="{FF2B5EF4-FFF2-40B4-BE49-F238E27FC236}">
                <a16:creationId xmlns:a16="http://schemas.microsoft.com/office/drawing/2014/main" id="{20F276FB-5371-454D-B48A-58F2DBBAAFD1}"/>
              </a:ext>
            </a:extLst>
          </p:cNvPr>
          <p:cNvCxnSpPr>
            <a:cxnSpLocks/>
            <a:stCxn id="136" idx="3"/>
          </p:cNvCxnSpPr>
          <p:nvPr/>
        </p:nvCxnSpPr>
        <p:spPr>
          <a:xfrm flipV="1">
            <a:off x="5796079" y="3645395"/>
            <a:ext cx="288089" cy="288000"/>
          </a:xfrm>
          <a:prstGeom prst="bentConnector3">
            <a:avLst>
              <a:gd name="adj1" fmla="val 37877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肘形连接符 151">
            <a:extLst>
              <a:ext uri="{FF2B5EF4-FFF2-40B4-BE49-F238E27FC236}">
                <a16:creationId xmlns:a16="http://schemas.microsoft.com/office/drawing/2014/main" id="{C497133D-147B-A746-9BD1-1CD6A05423B5}"/>
              </a:ext>
            </a:extLst>
          </p:cNvPr>
          <p:cNvCxnSpPr>
            <a:cxnSpLocks/>
          </p:cNvCxnSpPr>
          <p:nvPr/>
        </p:nvCxnSpPr>
        <p:spPr>
          <a:xfrm flipV="1">
            <a:off x="6588224" y="3645395"/>
            <a:ext cx="288032" cy="14398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肘形连接符 152">
            <a:extLst>
              <a:ext uri="{FF2B5EF4-FFF2-40B4-BE49-F238E27FC236}">
                <a16:creationId xmlns:a16="http://schemas.microsoft.com/office/drawing/2014/main" id="{12C1C0A1-84EA-1643-AD58-35EEBCF5067F}"/>
              </a:ext>
            </a:extLst>
          </p:cNvPr>
          <p:cNvCxnSpPr>
            <a:cxnSpLocks/>
          </p:cNvCxnSpPr>
          <p:nvPr/>
        </p:nvCxnSpPr>
        <p:spPr>
          <a:xfrm flipV="1">
            <a:off x="7380312" y="3645395"/>
            <a:ext cx="288032" cy="21599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肘形连接符 153">
            <a:extLst>
              <a:ext uri="{FF2B5EF4-FFF2-40B4-BE49-F238E27FC236}">
                <a16:creationId xmlns:a16="http://schemas.microsoft.com/office/drawing/2014/main" id="{07E659C3-906F-1448-A854-F140CEBF1970}"/>
              </a:ext>
            </a:extLst>
          </p:cNvPr>
          <p:cNvCxnSpPr>
            <a:stCxn id="146" idx="3"/>
          </p:cNvCxnSpPr>
          <p:nvPr/>
        </p:nvCxnSpPr>
        <p:spPr>
          <a:xfrm flipH="1">
            <a:off x="4211960" y="3937620"/>
            <a:ext cx="3960383" cy="288000"/>
          </a:xfrm>
          <a:prstGeom prst="bentConnector5">
            <a:avLst>
              <a:gd name="adj1" fmla="val -5772"/>
              <a:gd name="adj2" fmla="val 72933"/>
              <a:gd name="adj3" fmla="val 105772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肘形连接符 154">
            <a:extLst>
              <a:ext uri="{FF2B5EF4-FFF2-40B4-BE49-F238E27FC236}">
                <a16:creationId xmlns:a16="http://schemas.microsoft.com/office/drawing/2014/main" id="{B2394541-6375-1A44-A2A2-31EF13631CCE}"/>
              </a:ext>
            </a:extLst>
          </p:cNvPr>
          <p:cNvCxnSpPr>
            <a:cxnSpLocks/>
          </p:cNvCxnSpPr>
          <p:nvPr/>
        </p:nvCxnSpPr>
        <p:spPr>
          <a:xfrm flipV="1">
            <a:off x="4788024" y="3649588"/>
            <a:ext cx="504056" cy="215992"/>
          </a:xfrm>
          <a:prstGeom prst="bentConnector3">
            <a:avLst>
              <a:gd name="adj1" fmla="val 19211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38341CB9-D1CB-EE4E-9AB6-E2784127836A}"/>
              </a:ext>
            </a:extLst>
          </p:cNvPr>
          <p:cNvGrpSpPr/>
          <p:nvPr/>
        </p:nvGrpSpPr>
        <p:grpSpPr>
          <a:xfrm>
            <a:off x="4211960" y="4225652"/>
            <a:ext cx="503999" cy="432048"/>
            <a:chOff x="5580112" y="409228"/>
            <a:chExt cx="648072" cy="432048"/>
          </a:xfrm>
        </p:grpSpPr>
        <p:sp>
          <p:nvSpPr>
            <p:cNvPr id="157" name="矩形 156">
              <a:extLst>
                <a:ext uri="{FF2B5EF4-FFF2-40B4-BE49-F238E27FC236}">
                  <a16:creationId xmlns:a16="http://schemas.microsoft.com/office/drawing/2014/main" id="{8BFD436F-6125-FB45-BB5F-F90D57E192B9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58" name="矩形 157">
              <a:extLst>
                <a:ext uri="{FF2B5EF4-FFF2-40B4-BE49-F238E27FC236}">
                  <a16:creationId xmlns:a16="http://schemas.microsoft.com/office/drawing/2014/main" id="{04D69E17-A97C-884B-A33D-D9D77125D914}"/>
                </a:ext>
              </a:extLst>
            </p:cNvPr>
            <p:cNvSpPr/>
            <p:nvPr/>
          </p:nvSpPr>
          <p:spPr>
            <a:xfrm>
              <a:off x="5580112" y="553244"/>
              <a:ext cx="648072" cy="1524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L3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sp>
        <p:nvSpPr>
          <p:cNvPr id="159" name="矩形 158">
            <a:extLst>
              <a:ext uri="{FF2B5EF4-FFF2-40B4-BE49-F238E27FC236}">
                <a16:creationId xmlns:a16="http://schemas.microsoft.com/office/drawing/2014/main" id="{6A0E0AC5-EFBF-404E-8634-754C12F3ECA6}"/>
              </a:ext>
            </a:extLst>
          </p:cNvPr>
          <p:cNvSpPr/>
          <p:nvPr/>
        </p:nvSpPr>
        <p:spPr>
          <a:xfrm>
            <a:off x="4211960" y="4729708"/>
            <a:ext cx="576064" cy="216024"/>
          </a:xfrm>
          <a:prstGeom prst="rect">
            <a:avLst/>
          </a:prstGeom>
          <a:solidFill>
            <a:srgbClr val="BE38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VTTBR0_EL2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F26DE898-6A43-BA4A-9DA7-B94B4415AEBE}"/>
              </a:ext>
            </a:extLst>
          </p:cNvPr>
          <p:cNvSpPr/>
          <p:nvPr/>
        </p:nvSpPr>
        <p:spPr>
          <a:xfrm>
            <a:off x="5004048" y="4365475"/>
            <a:ext cx="3168352" cy="14401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rPr>
              <a:t>数据页</a:t>
            </a:r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GPA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cxnSp>
        <p:nvCxnSpPr>
          <p:cNvPr id="161" name="直线箭头连接符 160">
            <a:extLst>
              <a:ext uri="{FF2B5EF4-FFF2-40B4-BE49-F238E27FC236}">
                <a16:creationId xmlns:a16="http://schemas.microsoft.com/office/drawing/2014/main" id="{80274396-B4C8-4948-8A96-B897908B5388}"/>
              </a:ext>
            </a:extLst>
          </p:cNvPr>
          <p:cNvCxnSpPr>
            <a:cxnSpLocks/>
            <a:stCxn id="157" idx="3"/>
            <a:endCxn id="160" idx="1"/>
          </p:cNvCxnSpPr>
          <p:nvPr/>
        </p:nvCxnSpPr>
        <p:spPr>
          <a:xfrm flipV="1">
            <a:off x="4715959" y="4437483"/>
            <a:ext cx="288089" cy="4193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2" name="组合 161">
            <a:extLst>
              <a:ext uri="{FF2B5EF4-FFF2-40B4-BE49-F238E27FC236}">
                <a16:creationId xmlns:a16="http://schemas.microsoft.com/office/drawing/2014/main" id="{2E2EB646-7586-7F4A-9465-7A499C443A0D}"/>
              </a:ext>
            </a:extLst>
          </p:cNvPr>
          <p:cNvGrpSpPr/>
          <p:nvPr/>
        </p:nvGrpSpPr>
        <p:grpSpPr>
          <a:xfrm>
            <a:off x="5292080" y="4653507"/>
            <a:ext cx="503999" cy="432048"/>
            <a:chOff x="5580112" y="409228"/>
            <a:chExt cx="648072" cy="432048"/>
          </a:xfrm>
        </p:grpSpPr>
        <p:sp>
          <p:nvSpPr>
            <p:cNvPr id="163" name="矩形 162">
              <a:extLst>
                <a:ext uri="{FF2B5EF4-FFF2-40B4-BE49-F238E27FC236}">
                  <a16:creationId xmlns:a16="http://schemas.microsoft.com/office/drawing/2014/main" id="{0C7F45F2-BAE1-EF43-BE21-DCB1DF1EB622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64" name="矩形 163">
              <a:extLst>
                <a:ext uri="{FF2B5EF4-FFF2-40B4-BE49-F238E27FC236}">
                  <a16:creationId xmlns:a16="http://schemas.microsoft.com/office/drawing/2014/main" id="{4ADB499A-84B2-CF4F-A35B-2014DBB84F57}"/>
                </a:ext>
              </a:extLst>
            </p:cNvPr>
            <p:cNvSpPr/>
            <p:nvPr/>
          </p:nvSpPr>
          <p:spPr>
            <a:xfrm>
              <a:off x="5580112" y="625252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L0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165" name="组合 164">
            <a:extLst>
              <a:ext uri="{FF2B5EF4-FFF2-40B4-BE49-F238E27FC236}">
                <a16:creationId xmlns:a16="http://schemas.microsoft.com/office/drawing/2014/main" id="{BAC380F1-334E-2D42-BFE1-E004C84A5F19}"/>
              </a:ext>
            </a:extLst>
          </p:cNvPr>
          <p:cNvGrpSpPr/>
          <p:nvPr/>
        </p:nvGrpSpPr>
        <p:grpSpPr>
          <a:xfrm>
            <a:off x="6084168" y="4653507"/>
            <a:ext cx="503999" cy="432048"/>
            <a:chOff x="5580112" y="409228"/>
            <a:chExt cx="648072" cy="432048"/>
          </a:xfrm>
        </p:grpSpPr>
        <p:sp>
          <p:nvSpPr>
            <p:cNvPr id="166" name="矩形 165">
              <a:extLst>
                <a:ext uri="{FF2B5EF4-FFF2-40B4-BE49-F238E27FC236}">
                  <a16:creationId xmlns:a16="http://schemas.microsoft.com/office/drawing/2014/main" id="{10975294-7469-0141-9639-CD805BC8026F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67" name="矩形 166">
              <a:extLst>
                <a:ext uri="{FF2B5EF4-FFF2-40B4-BE49-F238E27FC236}">
                  <a16:creationId xmlns:a16="http://schemas.microsoft.com/office/drawing/2014/main" id="{70E41D0D-B414-9A46-9ADE-03046AB547BC}"/>
                </a:ext>
              </a:extLst>
            </p:cNvPr>
            <p:cNvSpPr/>
            <p:nvPr/>
          </p:nvSpPr>
          <p:spPr>
            <a:xfrm>
              <a:off x="5580112" y="481236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L1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168" name="组合 167">
            <a:extLst>
              <a:ext uri="{FF2B5EF4-FFF2-40B4-BE49-F238E27FC236}">
                <a16:creationId xmlns:a16="http://schemas.microsoft.com/office/drawing/2014/main" id="{06E93EB1-9E4C-9146-B54C-2CD745639A1E}"/>
              </a:ext>
            </a:extLst>
          </p:cNvPr>
          <p:cNvGrpSpPr/>
          <p:nvPr/>
        </p:nvGrpSpPr>
        <p:grpSpPr>
          <a:xfrm>
            <a:off x="6876256" y="4653507"/>
            <a:ext cx="503999" cy="432048"/>
            <a:chOff x="5580112" y="409228"/>
            <a:chExt cx="648072" cy="432048"/>
          </a:xfrm>
        </p:grpSpPr>
        <p:sp>
          <p:nvSpPr>
            <p:cNvPr id="169" name="矩形 168">
              <a:extLst>
                <a:ext uri="{FF2B5EF4-FFF2-40B4-BE49-F238E27FC236}">
                  <a16:creationId xmlns:a16="http://schemas.microsoft.com/office/drawing/2014/main" id="{1D5573BE-DE55-A444-A1B6-ED3DF474032A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70" name="矩形 169">
              <a:extLst>
                <a:ext uri="{FF2B5EF4-FFF2-40B4-BE49-F238E27FC236}">
                  <a16:creationId xmlns:a16="http://schemas.microsoft.com/office/drawing/2014/main" id="{C2E79947-591B-7742-A0D9-84D4336FC176}"/>
                </a:ext>
              </a:extLst>
            </p:cNvPr>
            <p:cNvSpPr/>
            <p:nvPr/>
          </p:nvSpPr>
          <p:spPr>
            <a:xfrm>
              <a:off x="5580112" y="553244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L2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171" name="组合 170">
            <a:extLst>
              <a:ext uri="{FF2B5EF4-FFF2-40B4-BE49-F238E27FC236}">
                <a16:creationId xmlns:a16="http://schemas.microsoft.com/office/drawing/2014/main" id="{302926A4-1AC2-A742-9D72-6292E298A646}"/>
              </a:ext>
            </a:extLst>
          </p:cNvPr>
          <p:cNvGrpSpPr/>
          <p:nvPr/>
        </p:nvGrpSpPr>
        <p:grpSpPr>
          <a:xfrm>
            <a:off x="7668344" y="4653507"/>
            <a:ext cx="503999" cy="432048"/>
            <a:chOff x="5580112" y="409228"/>
            <a:chExt cx="648072" cy="432048"/>
          </a:xfrm>
        </p:grpSpPr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03059BE9-469B-AC43-A8D8-6A06E2DC83E4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73" name="矩形 172">
              <a:extLst>
                <a:ext uri="{FF2B5EF4-FFF2-40B4-BE49-F238E27FC236}">
                  <a16:creationId xmlns:a16="http://schemas.microsoft.com/office/drawing/2014/main" id="{98091BBA-B622-9446-9BD1-55E4DEEECBD1}"/>
                </a:ext>
              </a:extLst>
            </p:cNvPr>
            <p:cNvSpPr/>
            <p:nvPr/>
          </p:nvSpPr>
          <p:spPr>
            <a:xfrm>
              <a:off x="5580112" y="625252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L3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cxnSp>
        <p:nvCxnSpPr>
          <p:cNvPr id="174" name="肘形连接符 173">
            <a:extLst>
              <a:ext uri="{FF2B5EF4-FFF2-40B4-BE49-F238E27FC236}">
                <a16:creationId xmlns:a16="http://schemas.microsoft.com/office/drawing/2014/main" id="{24C47902-7E5E-9849-8D94-934DF4757EAD}"/>
              </a:ext>
            </a:extLst>
          </p:cNvPr>
          <p:cNvCxnSpPr>
            <a:cxnSpLocks/>
            <a:endCxn id="164" idx="1"/>
          </p:cNvCxnSpPr>
          <p:nvPr/>
        </p:nvCxnSpPr>
        <p:spPr>
          <a:xfrm rot="16200000" flipH="1">
            <a:off x="4965948" y="4619599"/>
            <a:ext cx="436240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肘形连接符 174">
            <a:extLst>
              <a:ext uri="{FF2B5EF4-FFF2-40B4-BE49-F238E27FC236}">
                <a16:creationId xmlns:a16="http://schemas.microsoft.com/office/drawing/2014/main" id="{8645E530-8822-1140-BFAF-66028C8940E6}"/>
              </a:ext>
            </a:extLst>
          </p:cNvPr>
          <p:cNvCxnSpPr>
            <a:cxnSpLocks/>
            <a:endCxn id="167" idx="1"/>
          </p:cNvCxnSpPr>
          <p:nvPr/>
        </p:nvCxnSpPr>
        <p:spPr>
          <a:xfrm rot="16200000" flipH="1">
            <a:off x="5830044" y="4547591"/>
            <a:ext cx="292224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肘形连接符 175">
            <a:extLst>
              <a:ext uri="{FF2B5EF4-FFF2-40B4-BE49-F238E27FC236}">
                <a16:creationId xmlns:a16="http://schemas.microsoft.com/office/drawing/2014/main" id="{38BFB85B-841D-6C49-AB03-ACE466560A10}"/>
              </a:ext>
            </a:extLst>
          </p:cNvPr>
          <p:cNvCxnSpPr>
            <a:cxnSpLocks/>
            <a:endCxn id="170" idx="1"/>
          </p:cNvCxnSpPr>
          <p:nvPr/>
        </p:nvCxnSpPr>
        <p:spPr>
          <a:xfrm rot="16200000" flipH="1">
            <a:off x="6586128" y="4583595"/>
            <a:ext cx="364232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肘形连接符 176">
            <a:extLst>
              <a:ext uri="{FF2B5EF4-FFF2-40B4-BE49-F238E27FC236}">
                <a16:creationId xmlns:a16="http://schemas.microsoft.com/office/drawing/2014/main" id="{6E4E20B5-A9E6-F24A-88A9-2D63E7620F43}"/>
              </a:ext>
            </a:extLst>
          </p:cNvPr>
          <p:cNvCxnSpPr>
            <a:cxnSpLocks/>
            <a:endCxn id="173" idx="1"/>
          </p:cNvCxnSpPr>
          <p:nvPr/>
        </p:nvCxnSpPr>
        <p:spPr>
          <a:xfrm rot="16200000" flipH="1">
            <a:off x="7342212" y="4619599"/>
            <a:ext cx="436240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肘形连接符 177">
            <a:extLst>
              <a:ext uri="{FF2B5EF4-FFF2-40B4-BE49-F238E27FC236}">
                <a16:creationId xmlns:a16="http://schemas.microsoft.com/office/drawing/2014/main" id="{3ACD8DBA-EB98-B44F-82E8-9EC3D793568F}"/>
              </a:ext>
            </a:extLst>
          </p:cNvPr>
          <p:cNvCxnSpPr>
            <a:cxnSpLocks/>
            <a:stCxn id="163" idx="3"/>
          </p:cNvCxnSpPr>
          <p:nvPr/>
        </p:nvCxnSpPr>
        <p:spPr>
          <a:xfrm flipV="1">
            <a:off x="5796079" y="4653507"/>
            <a:ext cx="288089" cy="288000"/>
          </a:xfrm>
          <a:prstGeom prst="bentConnector3">
            <a:avLst>
              <a:gd name="adj1" fmla="val 37877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肘形连接符 178">
            <a:extLst>
              <a:ext uri="{FF2B5EF4-FFF2-40B4-BE49-F238E27FC236}">
                <a16:creationId xmlns:a16="http://schemas.microsoft.com/office/drawing/2014/main" id="{F9F1B051-2EE4-A94C-8C64-D669EB52268A}"/>
              </a:ext>
            </a:extLst>
          </p:cNvPr>
          <p:cNvCxnSpPr>
            <a:cxnSpLocks/>
          </p:cNvCxnSpPr>
          <p:nvPr/>
        </p:nvCxnSpPr>
        <p:spPr>
          <a:xfrm flipV="1">
            <a:off x="6588224" y="4653507"/>
            <a:ext cx="288032" cy="14398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肘形连接符 179">
            <a:extLst>
              <a:ext uri="{FF2B5EF4-FFF2-40B4-BE49-F238E27FC236}">
                <a16:creationId xmlns:a16="http://schemas.microsoft.com/office/drawing/2014/main" id="{6CFC5AC6-ECAA-B84B-A7D5-A1A61F511746}"/>
              </a:ext>
            </a:extLst>
          </p:cNvPr>
          <p:cNvCxnSpPr>
            <a:cxnSpLocks/>
          </p:cNvCxnSpPr>
          <p:nvPr/>
        </p:nvCxnSpPr>
        <p:spPr>
          <a:xfrm flipV="1">
            <a:off x="7380312" y="4653507"/>
            <a:ext cx="288032" cy="21599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肘形连接符 181">
            <a:extLst>
              <a:ext uri="{FF2B5EF4-FFF2-40B4-BE49-F238E27FC236}">
                <a16:creationId xmlns:a16="http://schemas.microsoft.com/office/drawing/2014/main" id="{D2D70B21-48CE-B84A-8E56-899262CBA03C}"/>
              </a:ext>
            </a:extLst>
          </p:cNvPr>
          <p:cNvCxnSpPr>
            <a:cxnSpLocks/>
          </p:cNvCxnSpPr>
          <p:nvPr/>
        </p:nvCxnSpPr>
        <p:spPr>
          <a:xfrm flipV="1">
            <a:off x="4788024" y="4657700"/>
            <a:ext cx="504056" cy="215992"/>
          </a:xfrm>
          <a:prstGeom prst="bentConnector3">
            <a:avLst>
              <a:gd name="adj1" fmla="val 19211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矩形 182">
            <a:extLst>
              <a:ext uri="{FF2B5EF4-FFF2-40B4-BE49-F238E27FC236}">
                <a16:creationId xmlns:a16="http://schemas.microsoft.com/office/drawing/2014/main" id="{E8C3F35D-DB43-2C40-95FA-FAFA0A9E74EC}"/>
              </a:ext>
            </a:extLst>
          </p:cNvPr>
          <p:cNvSpPr/>
          <p:nvPr/>
        </p:nvSpPr>
        <p:spPr>
          <a:xfrm>
            <a:off x="3563888" y="625252"/>
            <a:ext cx="288032" cy="453650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GVA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5B111A41-82B5-3E48-B260-BE2D30BB070D}"/>
              </a:ext>
            </a:extLst>
          </p:cNvPr>
          <p:cNvSpPr/>
          <p:nvPr/>
        </p:nvSpPr>
        <p:spPr>
          <a:xfrm>
            <a:off x="8567936" y="625252"/>
            <a:ext cx="288032" cy="4536504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HPA</a:t>
            </a:r>
            <a:endParaRPr kumimoji="1" lang="zh-CN" altLang="en-US" dirty="0"/>
          </a:p>
        </p:txBody>
      </p:sp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D0B9773E-8F56-0049-BCEC-871E93DB644D}"/>
              </a:ext>
            </a:extLst>
          </p:cNvPr>
          <p:cNvCxnSpPr>
            <a:cxnSpLocks/>
            <a:stCxn id="173" idx="3"/>
          </p:cNvCxnSpPr>
          <p:nvPr/>
        </p:nvCxnSpPr>
        <p:spPr>
          <a:xfrm>
            <a:off x="8172343" y="4945731"/>
            <a:ext cx="395593" cy="0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线箭头连接符 187">
            <a:extLst>
              <a:ext uri="{FF2B5EF4-FFF2-40B4-BE49-F238E27FC236}">
                <a16:creationId xmlns:a16="http://schemas.microsoft.com/office/drawing/2014/main" id="{DF507471-2C7F-CF4E-9DB3-D0FE56A844C3}"/>
              </a:ext>
            </a:extLst>
          </p:cNvPr>
          <p:cNvCxnSpPr>
            <a:cxnSpLocks/>
          </p:cNvCxnSpPr>
          <p:nvPr/>
        </p:nvCxnSpPr>
        <p:spPr>
          <a:xfrm>
            <a:off x="3851920" y="1417340"/>
            <a:ext cx="395593" cy="0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线箭头连接符 188">
            <a:extLst>
              <a:ext uri="{FF2B5EF4-FFF2-40B4-BE49-F238E27FC236}">
                <a16:creationId xmlns:a16="http://schemas.microsoft.com/office/drawing/2014/main" id="{D2BF518F-587D-D24C-9924-3D4F33095793}"/>
              </a:ext>
            </a:extLst>
          </p:cNvPr>
          <p:cNvCxnSpPr>
            <a:cxnSpLocks/>
          </p:cNvCxnSpPr>
          <p:nvPr/>
        </p:nvCxnSpPr>
        <p:spPr>
          <a:xfrm>
            <a:off x="3851920" y="2425452"/>
            <a:ext cx="395593" cy="0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线箭头连接符 189">
            <a:extLst>
              <a:ext uri="{FF2B5EF4-FFF2-40B4-BE49-F238E27FC236}">
                <a16:creationId xmlns:a16="http://schemas.microsoft.com/office/drawing/2014/main" id="{436DC736-9149-8A4E-BC14-2CC08BFAE040}"/>
              </a:ext>
            </a:extLst>
          </p:cNvPr>
          <p:cNvCxnSpPr>
            <a:cxnSpLocks/>
          </p:cNvCxnSpPr>
          <p:nvPr/>
        </p:nvCxnSpPr>
        <p:spPr>
          <a:xfrm>
            <a:off x="3851920" y="3433564"/>
            <a:ext cx="395593" cy="0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线箭头连接符 190">
            <a:extLst>
              <a:ext uri="{FF2B5EF4-FFF2-40B4-BE49-F238E27FC236}">
                <a16:creationId xmlns:a16="http://schemas.microsoft.com/office/drawing/2014/main" id="{15A4EF0E-68C3-0044-832A-3FF9695E59E9}"/>
              </a:ext>
            </a:extLst>
          </p:cNvPr>
          <p:cNvCxnSpPr>
            <a:cxnSpLocks/>
          </p:cNvCxnSpPr>
          <p:nvPr/>
        </p:nvCxnSpPr>
        <p:spPr>
          <a:xfrm>
            <a:off x="3851920" y="4441676"/>
            <a:ext cx="395593" cy="0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文本框 191">
            <a:extLst>
              <a:ext uri="{FF2B5EF4-FFF2-40B4-BE49-F238E27FC236}">
                <a16:creationId xmlns:a16="http://schemas.microsoft.com/office/drawing/2014/main" id="{EE0BFC17-4D9C-BF4C-87FA-4D7DC39BF9EA}"/>
              </a:ext>
            </a:extLst>
          </p:cNvPr>
          <p:cNvSpPr txBox="1"/>
          <p:nvPr/>
        </p:nvSpPr>
        <p:spPr>
          <a:xfrm>
            <a:off x="8100392" y="769268"/>
            <a:ext cx="4320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dirty="0">
                <a:cs typeface="Times New Roman" panose="02020603050405020304" pitchFamily="18" charset="0"/>
              </a:rPr>
              <a:t>HPA</a:t>
            </a:r>
            <a:endParaRPr kumimoji="1" lang="zh-CN" altLang="en-US" sz="800" b="1" dirty="0">
              <a:cs typeface="Times New Roman" panose="02020603050405020304" pitchFamily="18" charset="0"/>
            </a:endParaRPr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5DD79C28-EE45-924F-84C6-658BFCD4AD77}"/>
              </a:ext>
            </a:extLst>
          </p:cNvPr>
          <p:cNvSpPr txBox="1"/>
          <p:nvPr/>
        </p:nvSpPr>
        <p:spPr>
          <a:xfrm>
            <a:off x="8100392" y="1777380"/>
            <a:ext cx="4320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dirty="0">
                <a:cs typeface="Times New Roman" panose="02020603050405020304" pitchFamily="18" charset="0"/>
              </a:rPr>
              <a:t>HPA</a:t>
            </a:r>
            <a:endParaRPr kumimoji="1" lang="zh-CN" altLang="en-US" sz="800" b="1" dirty="0">
              <a:cs typeface="Times New Roman" panose="02020603050405020304" pitchFamily="18" charset="0"/>
            </a:endParaRPr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230B8F70-2360-5D4D-8269-5BC956353A02}"/>
              </a:ext>
            </a:extLst>
          </p:cNvPr>
          <p:cNvSpPr txBox="1"/>
          <p:nvPr/>
        </p:nvSpPr>
        <p:spPr>
          <a:xfrm>
            <a:off x="8100392" y="2785492"/>
            <a:ext cx="4320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dirty="0">
                <a:cs typeface="Times New Roman" panose="02020603050405020304" pitchFamily="18" charset="0"/>
              </a:rPr>
              <a:t>HPA</a:t>
            </a:r>
            <a:endParaRPr kumimoji="1" lang="zh-CN" altLang="en-US" sz="800" b="1" dirty="0">
              <a:cs typeface="Times New Roman" panose="02020603050405020304" pitchFamily="18" charset="0"/>
            </a:endParaRPr>
          </a:p>
        </p:txBody>
      </p:sp>
      <p:sp>
        <p:nvSpPr>
          <p:cNvPr id="195" name="文本框 194">
            <a:extLst>
              <a:ext uri="{FF2B5EF4-FFF2-40B4-BE49-F238E27FC236}">
                <a16:creationId xmlns:a16="http://schemas.microsoft.com/office/drawing/2014/main" id="{8FEA0FE5-7311-D040-92B0-A2C67EDD084E}"/>
              </a:ext>
            </a:extLst>
          </p:cNvPr>
          <p:cNvSpPr txBox="1"/>
          <p:nvPr/>
        </p:nvSpPr>
        <p:spPr>
          <a:xfrm>
            <a:off x="8100392" y="3793604"/>
            <a:ext cx="4320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dirty="0">
                <a:cs typeface="Times New Roman" panose="02020603050405020304" pitchFamily="18" charset="0"/>
              </a:rPr>
              <a:t>HPA</a:t>
            </a:r>
            <a:endParaRPr kumimoji="1" lang="zh-CN" altLang="en-US" sz="800" b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752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 animBg="1"/>
      <p:bldP spid="72" grpId="0" animBg="1"/>
      <p:bldP spid="73" grpId="0" animBg="1"/>
      <p:bldP spid="105" grpId="0" animBg="1"/>
      <p:bldP spid="106" grpId="0" animBg="1"/>
      <p:bldP spid="132" grpId="0" animBg="1"/>
      <p:bldP spid="133" grpId="0" animBg="1"/>
      <p:bldP spid="159" grpId="0" animBg="1"/>
      <p:bldP spid="160" grpId="0" animBg="1"/>
      <p:bldP spid="184" grpId="0" animBg="1"/>
      <p:bldP spid="192" grpId="0"/>
      <p:bldP spid="193" grpId="0"/>
      <p:bldP spid="194" grpId="0"/>
      <p:bldP spid="19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B63EDD-EC1E-C149-B481-084EAB3D3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TLB</a:t>
            </a:r>
            <a:r>
              <a:rPr kumimoji="1" lang="zh-CN" altLang="en-US" dirty="0"/>
              <a:t>：缓存地址翻译结果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2B4507-14FD-AB45-9F17-D0C687C14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回顾：</a:t>
            </a:r>
            <a:r>
              <a:rPr kumimoji="1" lang="en-US" altLang="zh-CN" dirty="0"/>
              <a:t>TLB</a:t>
            </a:r>
            <a:r>
              <a:rPr kumimoji="1" lang="zh-CN" altLang="en-US" dirty="0"/>
              <a:t>不仅可以缓存第一阶段地址翻译结果</a:t>
            </a:r>
            <a:endParaRPr kumimoji="1" lang="en-US" altLang="zh-CN" dirty="0"/>
          </a:p>
          <a:p>
            <a:r>
              <a:rPr kumimoji="1" lang="en-US" altLang="zh-CN" dirty="0"/>
              <a:t>TLB</a:t>
            </a:r>
            <a:r>
              <a:rPr kumimoji="1" lang="zh-CN" altLang="en-US" dirty="0"/>
              <a:t>也可以第二阶段地址翻译后的结果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包括第一阶段的翻译结果</a:t>
            </a:r>
            <a:r>
              <a:rPr kumimoji="1" lang="en-US" altLang="zh-CN" dirty="0"/>
              <a:t>(GVA-&gt;GPA)</a:t>
            </a:r>
          </a:p>
          <a:p>
            <a:pPr lvl="1"/>
            <a:r>
              <a:rPr kumimoji="1" lang="zh-CN" altLang="en-US" dirty="0"/>
              <a:t>包括第二阶段的翻译结果</a:t>
            </a:r>
            <a:r>
              <a:rPr kumimoji="1" lang="en-US" altLang="zh-CN" dirty="0"/>
              <a:t>(GPA-&gt;HPA)</a:t>
            </a:r>
          </a:p>
          <a:p>
            <a:pPr lvl="1"/>
            <a:r>
              <a:rPr kumimoji="1" lang="zh-CN" altLang="en-US" dirty="0"/>
              <a:t>大大提升</a:t>
            </a:r>
            <a:r>
              <a:rPr kumimoji="1" lang="en-US" altLang="zh-CN" dirty="0"/>
              <a:t>GVA-&gt;HPA</a:t>
            </a:r>
            <a:r>
              <a:rPr kumimoji="1" lang="zh-CN" altLang="en-US" dirty="0"/>
              <a:t>的翻译性能：</a:t>
            </a:r>
            <a:r>
              <a:rPr kumimoji="1" lang="zh-CN" altLang="en-US" dirty="0">
                <a:solidFill>
                  <a:srgbClr val="BE384B"/>
                </a:solidFill>
              </a:rPr>
              <a:t>不需要</a:t>
            </a:r>
            <a:r>
              <a:rPr kumimoji="1" lang="en-US" altLang="zh-CN" dirty="0">
                <a:solidFill>
                  <a:srgbClr val="BE384B"/>
                </a:solidFill>
              </a:rPr>
              <a:t>24</a:t>
            </a:r>
            <a:r>
              <a:rPr kumimoji="1" lang="zh-CN" altLang="en-US" dirty="0">
                <a:solidFill>
                  <a:srgbClr val="BE384B"/>
                </a:solidFill>
              </a:rPr>
              <a:t>次内存访问</a:t>
            </a:r>
            <a:endParaRPr kumimoji="1" lang="en-US" altLang="zh-CN" dirty="0">
              <a:solidFill>
                <a:srgbClr val="BE384B"/>
              </a:solidFill>
            </a:endParaRPr>
          </a:p>
          <a:p>
            <a:r>
              <a:rPr kumimoji="1" lang="zh-CN" altLang="en-US" dirty="0"/>
              <a:t>切换</a:t>
            </a:r>
            <a:r>
              <a:rPr kumimoji="1" lang="en-US" altLang="zh-CN" dirty="0"/>
              <a:t>VTTBR_EL2</a:t>
            </a:r>
            <a:r>
              <a:rPr kumimoji="1" lang="zh-CN" altLang="en-US" dirty="0"/>
              <a:t>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理论上应将前一个</a:t>
            </a:r>
            <a:r>
              <a:rPr kumimoji="1" lang="en-US" altLang="zh-CN" dirty="0"/>
              <a:t>VM</a:t>
            </a:r>
            <a:r>
              <a:rPr kumimoji="1" lang="zh-CN" altLang="en-US" dirty="0"/>
              <a:t>的</a:t>
            </a:r>
            <a:r>
              <a:rPr kumimoji="1" lang="en-US" altLang="zh-CN" dirty="0"/>
              <a:t>TLB</a:t>
            </a:r>
            <a:r>
              <a:rPr kumimoji="1" lang="zh-CN" altLang="en-US" dirty="0"/>
              <a:t>项全部刷掉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201C48-0A26-3546-B99D-EA7674CEF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04C4E0-786E-B140-94CF-60282F844F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9603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9F05C5-8076-CB4C-A0A9-0EF93FC56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TLB</a:t>
            </a:r>
            <a:r>
              <a:rPr kumimoji="1" lang="zh-CN" altLang="en-US" dirty="0"/>
              <a:t>刷新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C9475E-86D1-BD4A-9134-3B75424FF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sz="2200" dirty="0"/>
              <a:t>刷</a:t>
            </a:r>
            <a:r>
              <a:rPr kumimoji="1" lang="en-US" altLang="zh-CN" sz="2200" dirty="0"/>
              <a:t>TLB</a:t>
            </a:r>
            <a:r>
              <a:rPr kumimoji="1" lang="zh-CN" altLang="en-US" sz="2200" dirty="0"/>
              <a:t>相关指令</a:t>
            </a:r>
            <a:endParaRPr kumimoji="1" lang="en-US" altLang="zh-CN" sz="2200" dirty="0"/>
          </a:p>
          <a:p>
            <a:pPr lvl="1"/>
            <a:r>
              <a:rPr kumimoji="1" lang="zh-CN" altLang="en-US" sz="1600" dirty="0"/>
              <a:t>清空全部</a:t>
            </a:r>
            <a:endParaRPr kumimoji="1" lang="en-US" altLang="zh-CN" sz="1600" dirty="0"/>
          </a:p>
          <a:p>
            <a:pPr lvl="2"/>
            <a:r>
              <a:rPr kumimoji="1" lang="en-US" altLang="zh-CN" sz="1600" dirty="0"/>
              <a:t>TLBI VMALLS12E1IS </a:t>
            </a:r>
          </a:p>
          <a:p>
            <a:pPr lvl="1"/>
            <a:r>
              <a:rPr kumimoji="1" lang="zh-CN" altLang="en-US" sz="1600" dirty="0"/>
              <a:t>清空指定</a:t>
            </a:r>
            <a:r>
              <a:rPr kumimoji="1" lang="en-US" altLang="zh-CN" sz="1600" dirty="0"/>
              <a:t>GVA</a:t>
            </a:r>
          </a:p>
          <a:p>
            <a:pPr lvl="2"/>
            <a:r>
              <a:rPr lang="en-US" altLang="zh-CN" sz="1600" dirty="0"/>
              <a:t>TLBI VAE1IS</a:t>
            </a:r>
          </a:p>
          <a:p>
            <a:pPr lvl="1"/>
            <a:r>
              <a:rPr kumimoji="1" lang="zh-CN" altLang="en-US" sz="1600" dirty="0"/>
              <a:t>清空指定</a:t>
            </a:r>
            <a:r>
              <a:rPr kumimoji="1" lang="en-US" altLang="zh-CN" sz="1600" dirty="0"/>
              <a:t>GPA</a:t>
            </a:r>
          </a:p>
          <a:p>
            <a:pPr lvl="2"/>
            <a:r>
              <a:rPr kumimoji="1" lang="en-US" altLang="zh-CN" sz="1600" dirty="0"/>
              <a:t>TLBI IPAS2E1IS </a:t>
            </a:r>
          </a:p>
          <a:p>
            <a:r>
              <a:rPr kumimoji="1" lang="en-US" altLang="zh-CN" dirty="0"/>
              <a:t>VMID</a:t>
            </a:r>
            <a:r>
              <a:rPr kumimoji="1" lang="zh-CN" altLang="en-US" dirty="0"/>
              <a:t> </a:t>
            </a:r>
            <a:r>
              <a:rPr kumimoji="1" lang="en-US" altLang="zh-CN" dirty="0"/>
              <a:t>(Virtual Machine </a:t>
            </a:r>
            <a:r>
              <a:rPr kumimoji="1" lang="en-US" altLang="zh-CN" dirty="0" err="1"/>
              <a:t>IDentifier</a:t>
            </a:r>
            <a:r>
              <a:rPr kumimoji="1" lang="en-US" altLang="zh-CN" dirty="0"/>
              <a:t>)</a:t>
            </a:r>
          </a:p>
          <a:p>
            <a:pPr lvl="1"/>
            <a:r>
              <a:rPr lang="en-US" altLang="zh-CN" sz="1600" dirty="0"/>
              <a:t>VMM</a:t>
            </a:r>
            <a:r>
              <a:rPr lang="zh-CN" altLang="en-US" sz="1600" dirty="0"/>
              <a:t>为不同进程分配</a:t>
            </a:r>
            <a:r>
              <a:rPr lang="en-US" altLang="zh-CN" sz="1600" dirty="0"/>
              <a:t>8/16</a:t>
            </a:r>
            <a:r>
              <a:rPr lang="zh-CN" altLang="en-US" sz="1600" dirty="0"/>
              <a:t> </a:t>
            </a:r>
            <a:r>
              <a:rPr lang="en-US" altLang="zh-CN" sz="1600" dirty="0"/>
              <a:t>VMID</a:t>
            </a:r>
            <a:r>
              <a:rPr lang="zh-CN" altLang="en-US" sz="1600" dirty="0"/>
              <a:t>，将</a:t>
            </a:r>
            <a:r>
              <a:rPr lang="en-US" altLang="zh-CN" sz="1600" dirty="0"/>
              <a:t>VMID</a:t>
            </a:r>
            <a:r>
              <a:rPr lang="zh-CN" altLang="en-US" sz="1600" dirty="0"/>
              <a:t>填写在</a:t>
            </a:r>
            <a:r>
              <a:rPr lang="en-US" altLang="zh-CN" sz="1600" dirty="0"/>
              <a:t>VTTBR_EL2</a:t>
            </a:r>
            <a:r>
              <a:rPr lang="zh-CN" altLang="en-US" sz="1600" dirty="0"/>
              <a:t>的高</a:t>
            </a:r>
            <a:r>
              <a:rPr lang="en-US" altLang="zh-CN" sz="1600" dirty="0"/>
              <a:t>8/16</a:t>
            </a:r>
            <a:r>
              <a:rPr lang="zh-CN" altLang="en-US" sz="1600" dirty="0"/>
              <a:t>位</a:t>
            </a:r>
            <a:endParaRPr lang="en-US" altLang="zh-CN" sz="1600" dirty="0"/>
          </a:p>
          <a:p>
            <a:pPr lvl="1"/>
            <a:r>
              <a:rPr lang="en-US" altLang="zh-CN" sz="1600" dirty="0"/>
              <a:t>VMID</a:t>
            </a:r>
            <a:r>
              <a:rPr lang="zh-CN" altLang="en-US" sz="1600" dirty="0"/>
              <a:t>位数由</a:t>
            </a:r>
            <a:r>
              <a:rPr lang="en-US" altLang="zh-CN" sz="1600" dirty="0"/>
              <a:t>VTCR_EL2</a:t>
            </a:r>
            <a:r>
              <a:rPr lang="zh-CN" altLang="en-US" sz="1600" dirty="0"/>
              <a:t>的第</a:t>
            </a:r>
            <a:r>
              <a:rPr lang="en-US" altLang="zh-CN" sz="1600" dirty="0"/>
              <a:t>19</a:t>
            </a:r>
            <a:r>
              <a:rPr lang="zh-CN" altLang="en-US" sz="1600" dirty="0"/>
              <a:t>位（</a:t>
            </a:r>
            <a:r>
              <a:rPr lang="en-US" altLang="zh-CN" sz="1600" dirty="0"/>
              <a:t>VS</a:t>
            </a:r>
            <a:r>
              <a:rPr lang="zh-CN" altLang="en-US" sz="1600" dirty="0"/>
              <a:t>位）决定</a:t>
            </a:r>
            <a:endParaRPr lang="en-US" altLang="zh-CN" sz="1600" dirty="0"/>
          </a:p>
          <a:p>
            <a:pPr lvl="1"/>
            <a:r>
              <a:rPr kumimoji="1" lang="zh-CN" altLang="en-US" sz="1600" dirty="0"/>
              <a:t>避免刷新上个</a:t>
            </a:r>
            <a:r>
              <a:rPr kumimoji="1" lang="en-US" altLang="zh-CN" sz="1600" dirty="0"/>
              <a:t>VM</a:t>
            </a:r>
            <a:r>
              <a:rPr kumimoji="1" lang="zh-CN" altLang="en-US" sz="1600" dirty="0"/>
              <a:t>的</a:t>
            </a:r>
            <a:r>
              <a:rPr kumimoji="1" lang="en-US" altLang="zh-CN" sz="1600" dirty="0"/>
              <a:t>TLB</a:t>
            </a:r>
          </a:p>
          <a:p>
            <a:endParaRPr kumimoji="1" lang="en-US" altLang="zh-CN" sz="2000" dirty="0"/>
          </a:p>
          <a:p>
            <a:pPr lvl="2"/>
            <a:endParaRPr kumimoji="1" lang="zh-CN" altLang="en-US" sz="1600" dirty="0"/>
          </a:p>
          <a:p>
            <a:pPr lvl="1"/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7483A1-3DE0-284A-9B38-FBAB2E6FE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B536FF-5903-E341-8BB0-3D5CE42BD3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55965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24F8D4-8711-6B43-BF91-40B457348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如何处理缺页异常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5BC811-725B-064B-A9CC-B30CB5CBD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两阶段翻译的缺页异常分开处理</a:t>
            </a:r>
            <a:endParaRPr kumimoji="1" lang="en-US" altLang="zh-CN" dirty="0"/>
          </a:p>
          <a:p>
            <a:r>
              <a:rPr kumimoji="1" lang="zh-CN" altLang="en-US" dirty="0"/>
              <a:t>第一阶段缺页异常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直接调用</a:t>
            </a:r>
            <a:r>
              <a:rPr kumimoji="1" lang="en-US" altLang="zh-CN" dirty="0"/>
              <a:t>VM</a:t>
            </a:r>
            <a:r>
              <a:rPr kumimoji="1" lang="zh-CN" altLang="en-US" dirty="0"/>
              <a:t>的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fault</a:t>
            </a:r>
            <a:r>
              <a:rPr kumimoji="1" lang="zh-CN" altLang="en-US" dirty="0"/>
              <a:t> </a:t>
            </a:r>
            <a:r>
              <a:rPr kumimoji="1" lang="en-US" altLang="zh-CN" dirty="0"/>
              <a:t>handler</a:t>
            </a:r>
          </a:p>
          <a:p>
            <a:pPr lvl="1"/>
            <a:r>
              <a:rPr kumimoji="1" lang="zh-CN" altLang="en-US" dirty="0"/>
              <a:t>修改第一阶段页表</a:t>
            </a:r>
            <a:r>
              <a:rPr kumimoji="1" lang="zh-CN" altLang="en-US" b="1" dirty="0"/>
              <a:t>不会</a:t>
            </a:r>
            <a:r>
              <a:rPr kumimoji="1" lang="zh-CN" altLang="en-US" dirty="0"/>
              <a:t>引起任何虚拟机下陷</a:t>
            </a:r>
            <a:endParaRPr kumimoji="1" lang="en-US" altLang="zh-CN" dirty="0"/>
          </a:p>
          <a:p>
            <a:r>
              <a:rPr kumimoji="1" lang="zh-CN" altLang="en-US" dirty="0"/>
              <a:t>第二阶段缺页异常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虚拟机下陷，直接调用</a:t>
            </a:r>
            <a:r>
              <a:rPr kumimoji="1" lang="en-US" altLang="zh-CN" dirty="0"/>
              <a:t>VMM</a:t>
            </a:r>
            <a:r>
              <a:rPr kumimoji="1" lang="zh-CN" altLang="en-US" dirty="0"/>
              <a:t>的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fault</a:t>
            </a:r>
            <a:r>
              <a:rPr kumimoji="1" lang="zh-CN" altLang="en-US" dirty="0"/>
              <a:t> </a:t>
            </a:r>
            <a:r>
              <a:rPr kumimoji="1" lang="en-US" altLang="zh-CN" dirty="0"/>
              <a:t>handler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21C75E-2103-2A41-870F-2B2CA44CE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FD3F8-82EF-6E42-8180-29008FFA15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64600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C4E4BE-10A2-3D45-8612-52EC9C342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第二阶段页表的优缺点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9D1032-3FBE-9A42-AD7F-0BCF5E893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优点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VMM</a:t>
            </a:r>
            <a:r>
              <a:rPr kumimoji="1" lang="zh-CN" altLang="en-US" dirty="0"/>
              <a:t>实现简单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不需要捕捉</a:t>
            </a:r>
            <a:r>
              <a:rPr kumimoji="1" lang="en-US" altLang="zh-CN" dirty="0"/>
              <a:t>Guest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  <a:r>
              <a:rPr kumimoji="1" lang="zh-CN" altLang="en-US" dirty="0"/>
              <a:t>的更新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减少内存开销：每个</a:t>
            </a:r>
            <a:r>
              <a:rPr kumimoji="1" lang="en-US" altLang="zh-CN" dirty="0"/>
              <a:t>VM</a:t>
            </a:r>
            <a:r>
              <a:rPr kumimoji="1" lang="zh-CN" altLang="en-US" dirty="0"/>
              <a:t>对应一个页表</a:t>
            </a:r>
            <a:endParaRPr kumimoji="1" lang="en-US" altLang="zh-CN" dirty="0"/>
          </a:p>
          <a:p>
            <a:r>
              <a:rPr kumimoji="1" lang="zh-CN" altLang="en-US" dirty="0"/>
              <a:t>缺点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TLB</a:t>
            </a:r>
            <a:r>
              <a:rPr kumimoji="1" lang="zh-CN" altLang="en-US" dirty="0"/>
              <a:t> </a:t>
            </a:r>
            <a:r>
              <a:rPr kumimoji="1" lang="en-US" altLang="zh-CN" dirty="0"/>
              <a:t>miss</a:t>
            </a:r>
            <a:r>
              <a:rPr kumimoji="1" lang="zh-CN" altLang="en-US" dirty="0"/>
              <a:t>时性能开销较大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CB7686-39A1-1548-A418-0F36305FB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8AD5E6-F88A-5F43-8860-BCF2AA8785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2792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51687</TotalTime>
  <Words>3522</Words>
  <Application>Microsoft Macintosh PowerPoint</Application>
  <PresentationFormat>On-screen Show (16:10)</PresentationFormat>
  <Paragraphs>724</Paragraphs>
  <Slides>49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DengXian</vt:lpstr>
      <vt:lpstr>DengXian</vt:lpstr>
      <vt:lpstr>微软雅黑</vt:lpstr>
      <vt:lpstr>Arial</vt:lpstr>
      <vt:lpstr>Calibri</vt:lpstr>
      <vt:lpstr>Courier</vt:lpstr>
      <vt:lpstr>Courier New</vt:lpstr>
      <vt:lpstr>Office 主题​​</vt:lpstr>
      <vt:lpstr>系统虚拟化</vt:lpstr>
      <vt:lpstr>版权声明</vt:lpstr>
      <vt:lpstr>CPU虚拟化功能：迭代演进、分步理解</vt:lpstr>
      <vt:lpstr>第一版：虚拟机只在内核态运行简单代码</vt:lpstr>
      <vt:lpstr>第二版：虚拟机内部支持时钟中断</vt:lpstr>
      <vt:lpstr>第三版：虚拟机内支持运行单一用户态线程</vt:lpstr>
      <vt:lpstr>第四版：虚拟机内部支持多个用户态线程</vt:lpstr>
      <vt:lpstr>第五版：支持多个虚拟机间的分时复用</vt:lpstr>
      <vt:lpstr>第六版：VMM支持多个物理CPU</vt:lpstr>
      <vt:lpstr>第七版：虚拟机支持多个虚拟CPU</vt:lpstr>
      <vt:lpstr>Review: ARM不是严格的可虚拟化架构</vt:lpstr>
      <vt:lpstr>Review: Intel VT-x的处理器虚拟化</vt:lpstr>
      <vt:lpstr>Review: x86中的VM Entry和VM Exit</vt:lpstr>
      <vt:lpstr>Review: ARM的处理器虚拟化</vt:lpstr>
      <vt:lpstr>Review: ARMv8.1中的Type-2 VMM架构</vt:lpstr>
      <vt:lpstr>案例：QEMU/KVM</vt:lpstr>
      <vt:lpstr>QEMU发展历史</vt:lpstr>
      <vt:lpstr>QEMU发展历史</vt:lpstr>
      <vt:lpstr>KVM发展历史</vt:lpstr>
      <vt:lpstr>QEMU/KVM架构</vt:lpstr>
      <vt:lpstr>QEMU使用KVM的用户态接口</vt:lpstr>
      <vt:lpstr>ioctl(KVM_RUN)时发生了什么</vt:lpstr>
      <vt:lpstr>QEMU/KVM的流程</vt:lpstr>
      <vt:lpstr>例：WFI指令VM Exit的处理流程</vt:lpstr>
      <vt:lpstr>例：I/O指令VM Exit的处理流程</vt:lpstr>
      <vt:lpstr>内存虚拟化</vt:lpstr>
      <vt:lpstr>为什么需要内存虚拟化?</vt:lpstr>
      <vt:lpstr>内存虚拟化的目标</vt:lpstr>
      <vt:lpstr>三种地址</vt:lpstr>
      <vt:lpstr>怎么实现内存虚拟化?</vt:lpstr>
      <vt:lpstr>1、影子页表</vt:lpstr>
      <vt:lpstr>2个页表 -&gt; 1个页表</vt:lpstr>
      <vt:lpstr>Shadow Page Table 设置</vt:lpstr>
      <vt:lpstr>Guest OS修改页表，如何生效？</vt:lpstr>
      <vt:lpstr>Guest内核如何与Guest应用隔离？</vt:lpstr>
      <vt:lpstr>构建2个不同的Guest Pages</vt:lpstr>
      <vt:lpstr>Two Memory Views of Guest VM</vt:lpstr>
      <vt:lpstr>2、Direct Paging (Para-virtualization)</vt:lpstr>
      <vt:lpstr>2、Direct Paging (Para-virtualization)</vt:lpstr>
      <vt:lpstr>3、硬件虚拟化对内存翻译的支持</vt:lpstr>
      <vt:lpstr>第二阶段页表</vt:lpstr>
      <vt:lpstr>第二阶段4级页表</vt:lpstr>
      <vt:lpstr>VTTBR_EL2</vt:lpstr>
      <vt:lpstr>第二阶段页表项</vt:lpstr>
      <vt:lpstr>翻译过程</vt:lpstr>
      <vt:lpstr>TLB：缓存地址翻译结果</vt:lpstr>
      <vt:lpstr>TLB刷新</vt:lpstr>
      <vt:lpstr>如何处理缺页异常</vt:lpstr>
      <vt:lpstr>第二阶段页表的优缺点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Mi Nil</cp:lastModifiedBy>
  <cp:revision>5146</cp:revision>
  <cp:lastPrinted>2016-06-13T07:55:34Z</cp:lastPrinted>
  <dcterms:created xsi:type="dcterms:W3CDTF">2017-11-24T09:35:45Z</dcterms:created>
  <dcterms:modified xsi:type="dcterms:W3CDTF">2022-05-05T07:42:43Z</dcterms:modified>
</cp:coreProperties>
</file>