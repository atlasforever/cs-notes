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1306" r:id="rId2"/>
    <p:sldId id="1359" r:id="rId3"/>
    <p:sldId id="1362" r:id="rId4"/>
    <p:sldId id="1360" r:id="rId5"/>
    <p:sldId id="2277" r:id="rId6"/>
    <p:sldId id="2278" r:id="rId7"/>
    <p:sldId id="2290" r:id="rId8"/>
    <p:sldId id="2279" r:id="rId9"/>
    <p:sldId id="2228" r:id="rId10"/>
    <p:sldId id="2340" r:id="rId11"/>
    <p:sldId id="1371" r:id="rId12"/>
    <p:sldId id="2294" r:id="rId13"/>
    <p:sldId id="2295" r:id="rId14"/>
    <p:sldId id="2245" r:id="rId15"/>
    <p:sldId id="2274" r:id="rId16"/>
    <p:sldId id="2275" r:id="rId17"/>
    <p:sldId id="2293" r:id="rId18"/>
    <p:sldId id="2341" r:id="rId19"/>
    <p:sldId id="2336" r:id="rId20"/>
    <p:sldId id="2230" r:id="rId21"/>
    <p:sldId id="2282" r:id="rId22"/>
    <p:sldId id="2318" r:id="rId23"/>
    <p:sldId id="2322" r:id="rId24"/>
    <p:sldId id="2323" r:id="rId25"/>
    <p:sldId id="2283" r:id="rId26"/>
    <p:sldId id="2337" r:id="rId27"/>
    <p:sldId id="2284" r:id="rId28"/>
    <p:sldId id="2237" r:id="rId29"/>
    <p:sldId id="2239" r:id="rId30"/>
    <p:sldId id="2324" r:id="rId31"/>
    <p:sldId id="2286" r:id="rId32"/>
    <p:sldId id="2240" r:id="rId33"/>
    <p:sldId id="2241" r:id="rId34"/>
    <p:sldId id="2325" r:id="rId35"/>
    <p:sldId id="2287" r:id="rId36"/>
    <p:sldId id="2242" r:id="rId37"/>
    <p:sldId id="2288" r:id="rId38"/>
    <p:sldId id="2243" r:id="rId39"/>
    <p:sldId id="2297" r:id="rId40"/>
    <p:sldId id="2328" r:id="rId41"/>
    <p:sldId id="2289" r:id="rId42"/>
    <p:sldId id="2244" r:id="rId43"/>
    <p:sldId id="2334" r:id="rId44"/>
    <p:sldId id="2335" r:id="rId45"/>
    <p:sldId id="2338" r:id="rId46"/>
    <p:sldId id="2339" r:id="rId47"/>
    <p:sldId id="2296" r:id="rId48"/>
    <p:sldId id="2333" r:id="rId49"/>
    <p:sldId id="2313" r:id="rId50"/>
    <p:sldId id="2298" r:id="rId51"/>
    <p:sldId id="2292" r:id="rId52"/>
    <p:sldId id="2299" r:id="rId53"/>
    <p:sldId id="2301" r:id="rId54"/>
    <p:sldId id="2302" r:id="rId55"/>
    <p:sldId id="2303" r:id="rId56"/>
    <p:sldId id="2304" r:id="rId57"/>
    <p:sldId id="2305" r:id="rId58"/>
    <p:sldId id="2268" r:id="rId59"/>
    <p:sldId id="2320" r:id="rId60"/>
    <p:sldId id="2269" r:id="rId61"/>
    <p:sldId id="2332" r:id="rId62"/>
    <p:sldId id="2271" r:id="rId63"/>
    <p:sldId id="2315" r:id="rId64"/>
    <p:sldId id="2317" r:id="rId65"/>
    <p:sldId id="2316" r:id="rId66"/>
    <p:sldId id="1361" r:id="rId67"/>
    <p:sldId id="2326" r:id="rId68"/>
    <p:sldId id="2327" r:id="rId69"/>
    <p:sldId id="2331" r:id="rId7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17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941100"/>
    <a:srgbClr val="212121"/>
    <a:srgbClr val="005493"/>
    <a:srgbClr val="FF2F92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2" autoAdjust="0"/>
    <p:restoredTop sz="87190" autoAdjust="0"/>
  </p:normalViewPr>
  <p:slideViewPr>
    <p:cSldViewPr>
      <p:cViewPr varScale="1">
        <p:scale>
          <a:sx n="126" d="100"/>
          <a:sy n="126" d="100"/>
        </p:scale>
        <p:origin x="1248" y="184"/>
      </p:cViewPr>
      <p:guideLst>
        <p:guide orient="horz" pos="2480"/>
        <p:guide pos="295"/>
        <p:guide pos="1791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2022/3/15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106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3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87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逻辑冗余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190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开发人员自己实现所有的功能很难保证所有组件的高效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4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缺少信息共享，会导致大量的重复计算等。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00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590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这里是一个基本的结构图。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可以不经过内核（通过共享内存的方式</a:t>
            </a:r>
            <a:r>
              <a:rPr kumimoji="1" lang="en-US" altLang="zh-CN" dirty="0"/>
              <a:t>)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交互的双方有多重称呼，一般来说，从数据交互角度来看会被叫做发送者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接收者、从</a:t>
            </a:r>
            <a:r>
              <a:rPr kumimoji="1" lang="en-US" altLang="zh-CN" dirty="0"/>
              <a:t>C-S</a:t>
            </a:r>
            <a:r>
              <a:rPr kumimoji="1" lang="zh-CN" altLang="en-US" dirty="0"/>
              <a:t>角度来看是客户端</a:t>
            </a:r>
            <a:r>
              <a:rPr kumimoji="1" lang="en-US" altLang="zh-CN" dirty="0"/>
              <a:t>/</a:t>
            </a:r>
            <a:r>
              <a:rPr kumimoji="1" lang="zh-CN" altLang="en-US" dirty="0"/>
              <a:t>服务端、从控制流交互的角度来看是调用者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被调用者。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127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599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Shell</a:t>
            </a:r>
            <a:r>
              <a:rPr kumimoji="1" lang="zh-CN" altLang="en-US" dirty="0"/>
              <a:t>中的管道机制并不完全等于内核中的管道机制。</a:t>
            </a:r>
            <a:endParaRPr kumimoji="1" lang="en-US" altLang="zh-CN" dirty="0"/>
          </a:p>
          <a:p>
            <a:r>
              <a:rPr kumimoji="1" lang="zh-CN" altLang="en-US" dirty="0"/>
              <a:t>有些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会选择用中间文件等来实现</a:t>
            </a:r>
            <a:r>
              <a:rPr kumimoji="1" lang="en-US" altLang="zh-CN" dirty="0"/>
              <a:t>pipe</a:t>
            </a:r>
            <a:r>
              <a:rPr kumimoji="1" lang="zh-CN" altLang="en-US" dirty="0"/>
              <a:t>（不过比较少）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5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28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88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sleep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wakeup</a:t>
            </a:r>
            <a:r>
              <a:rPr kumimoji="1" lang="zh-CN" altLang="en-US" dirty="0"/>
              <a:t>直接用的</a:t>
            </a:r>
            <a:r>
              <a:rPr kumimoji="1" lang="en-US" altLang="zh-CN" dirty="0" err="1"/>
              <a:t>nread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nwrite</a:t>
            </a:r>
            <a:r>
              <a:rPr kumimoji="1" lang="zh-CN" altLang="en-US" dirty="0"/>
              <a:t>的地址。</a:t>
            </a:r>
            <a:endParaRPr kumimoji="1" lang="en-US" altLang="zh-CN" dirty="0"/>
          </a:p>
          <a:p>
            <a:r>
              <a:rPr kumimoji="1" lang="zh-CN" altLang="en-US" dirty="0"/>
              <a:t>然后</a:t>
            </a:r>
            <a:r>
              <a:rPr kumimoji="1" lang="en-US" altLang="zh-CN" dirty="0"/>
              <a:t>sleep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wakeup</a:t>
            </a:r>
            <a:r>
              <a:rPr kumimoji="1" lang="zh-CN" altLang="en-US" dirty="0"/>
              <a:t>的时候会根据传入的指针去查找和等待在对应的</a:t>
            </a:r>
            <a:r>
              <a:rPr kumimoji="1" lang="en-US" altLang="zh-CN" dirty="0" err="1"/>
              <a:t>chan</a:t>
            </a:r>
            <a:r>
              <a:rPr kumimoji="1" lang="zh-CN" altLang="en-US" dirty="0"/>
              <a:t>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860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645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35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40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Unbounded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：无界缓冲区</a:t>
            </a:r>
            <a:endParaRPr kumimoji="1" lang="en-US" altLang="zh-CN" dirty="0"/>
          </a:p>
          <a:p>
            <a:r>
              <a:rPr kumimoji="1" lang="en-US" altLang="zh-CN" dirty="0"/>
              <a:t>Bounded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：有界缓冲</a:t>
            </a:r>
            <a:r>
              <a:rPr kumimoji="1" lang="en-US" altLang="zh-CN" dirty="0"/>
              <a:t>=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不考虑无界的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6466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625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551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72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08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(CPU</a:t>
            </a:r>
            <a:r>
              <a:rPr kumimoji="1" lang="zh-CN" altLang="en-US" dirty="0"/>
              <a:t>轮询资源浪费</a:t>
            </a:r>
            <a:r>
              <a:rPr kumimoji="1"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868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1342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049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679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62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这里小明已经不需要盲等了。但是注意到，在快递员没有空间的时候，仍然需要阻塞在这里</a:t>
            </a:r>
            <a:r>
              <a:rPr kumimoji="1" lang="en-US" altLang="zh-CN" dirty="0"/>
              <a:t>busy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，后面的连接缓冲区会讨论到这个问题。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9304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9507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3985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049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Recv</a:t>
            </a:r>
            <a:r>
              <a:rPr kumimoji="1" lang="zh-CN" altLang="en-US" dirty="0"/>
              <a:t>的第一个参数不是具体的人，而是一个聊天群，代表着一个</a:t>
            </a:r>
            <a:r>
              <a:rPr kumimoji="1" lang="en-US" altLang="zh-CN" dirty="0"/>
              <a:t>mailbox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706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5235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6703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9294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7083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Recv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的超时机制类似。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9125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Send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recv</a:t>
            </a:r>
            <a:r>
              <a:rPr kumimoji="1" lang="zh-CN" altLang="en-US" dirty="0"/>
              <a:t>的接口都增加了</a:t>
            </a:r>
            <a:r>
              <a:rPr kumimoji="1" lang="en-US" altLang="zh-CN" dirty="0"/>
              <a:t>time-out</a:t>
            </a:r>
            <a:r>
              <a:rPr kumimoji="1" lang="zh-CN" altLang="en-US" dirty="0"/>
              <a:t>项。</a:t>
            </a:r>
            <a:endParaRPr kumimoji="1" lang="en-US" altLang="zh-CN" dirty="0"/>
          </a:p>
          <a:p>
            <a:r>
              <a:rPr kumimoji="1" lang="zh-CN" altLang="en-US" dirty="0"/>
              <a:t>比如快递员决定</a:t>
            </a:r>
            <a:r>
              <a:rPr kumimoji="1" lang="en-US" altLang="zh-CN" dirty="0"/>
              <a:t>15</a:t>
            </a:r>
            <a:r>
              <a:rPr kumimoji="1" lang="zh-CN" altLang="en-US" dirty="0"/>
              <a:t>分钟作为一个超时机制。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105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是数快递桌从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数据” 变成了连接里的一个缓冲区域了，其实没有快递桌也是可以完成通信的，只是需要阻塞等待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6868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快递桌的作用是个缓冲。</a:t>
            </a:r>
            <a:endParaRPr kumimoji="1" lang="en-US" altLang="zh-CN" dirty="0"/>
          </a:p>
          <a:p>
            <a:r>
              <a:rPr kumimoji="1" lang="zh-CN" altLang="en-US" dirty="0"/>
              <a:t>有容量是当然是可以优化带宽的，没有容量的话也可以支持通信（但是需要阻塞）</a:t>
            </a:r>
            <a:endParaRPr kumimoji="1" lang="en-US" altLang="zh-CN" dirty="0"/>
          </a:p>
          <a:p>
            <a:r>
              <a:rPr kumimoji="1" lang="zh-CN" altLang="en-US" dirty="0"/>
              <a:t>无界容量下除非系统资源耗尽，不然发送者不需要等待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5345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此外</a:t>
            </a:r>
            <a:r>
              <a:rPr lang="zh-CN" altLang="en-US" dirty="0"/>
              <a:t>：在多方通信时， 在多个进程间共享内存区域是复杂且不安全的，而消息传递（有内核支持的）可以避免此问题 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362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10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0146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671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我们结合前面的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基础内容，来分别分析消息队列和管道的两个方案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755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5661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6665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这里的调用者进程对应前面的客户端进程、被调用者进程对应服务端进程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498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2373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权限表对应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这里的迁移线程方案主要用作不同进程之间的线程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293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共享内存虽然可以避免拷贝，但是也存在很多其他问题：包括</a:t>
            </a:r>
            <a:r>
              <a:rPr kumimoji="1" lang="en-US" altLang="zh-CN" dirty="0"/>
              <a:t>TOCTTOU</a:t>
            </a:r>
            <a:r>
              <a:rPr kumimoji="1" lang="zh-CN" altLang="en-US" dirty="0"/>
              <a:t>问题，临时动态映射问题，重映射会有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shootdown</a:t>
            </a:r>
            <a:r>
              <a:rPr kumimoji="1" lang="zh-CN" altLang="en-US" dirty="0"/>
              <a:t>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拷贝还可以通过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实现。不过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只对于大数据的拷贝有加速，而小数据会更慢。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554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共享寄存器主要是针对于通用寄存器，用作参数传递。</a:t>
            </a:r>
            <a:endParaRPr kumimoji="1" lang="en-US" altLang="zh-CN" dirty="0"/>
          </a:p>
          <a:p>
            <a:r>
              <a:rPr kumimoji="1" lang="zh-CN" altLang="en-US" dirty="0"/>
              <a:t>其他的如栈寄存器</a:t>
            </a:r>
            <a:r>
              <a:rPr kumimoji="1" lang="en-US" altLang="zh-CN" dirty="0" err="1"/>
              <a:t>sp</a:t>
            </a:r>
            <a:r>
              <a:rPr kumimoji="1" lang="zh-CN" altLang="en-US" dirty="0"/>
              <a:t>等，还是要变化的。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019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A-stack</a:t>
            </a:r>
            <a:r>
              <a:rPr lang="zh-CN" altLang="en-US" sz="1200" dirty="0"/>
              <a:t>在两个进程上的映射代表了一个通信连接的建立。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080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655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运行栈地址是在被调用者进程自己的地址空间中的栈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841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参数主要放在通用寄存器上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297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sz="1200" dirty="0"/>
              <a:t>参数栈是为了共享传递参数，而执行栈是为了执行代码已经处理局部变量等使用的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地址空间的切换（来自硬件限制）是最主要的性能开销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lang="zh-CN" altLang="en-US" sz="1200" dirty="0"/>
              <a:t>安全的。因为是同步</a:t>
            </a:r>
            <a:r>
              <a:rPr lang="en-US" altLang="zh-CN" sz="1200" dirty="0"/>
              <a:t>IPC</a:t>
            </a:r>
            <a:r>
              <a:rPr lang="zh-CN" altLang="en-US" sz="1200" dirty="0"/>
              <a:t>，所以在被调用者上下文执行的时候，其实没有其他人可以去读写</a:t>
            </a:r>
            <a:r>
              <a:rPr lang="en-US" altLang="zh-CN" sz="1200" dirty="0"/>
              <a:t>A-stack</a:t>
            </a:r>
            <a:r>
              <a:rPr lang="zh-CN" altLang="en-US" sz="12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55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80218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867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2783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2884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99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19732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85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legalco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进程间通信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3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  <a:r>
              <a:rPr kumimoji="1" lang="en-US" altLang="zh-CN" dirty="0"/>
              <a:t>:</a:t>
            </a:r>
            <a:r>
              <a:rPr kumimoji="1" lang="zh-CN" altLang="en-US" dirty="0"/>
              <a:t> 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进程是计算机程序运行时的抽象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静态部分</a:t>
            </a:r>
            <a:r>
              <a:rPr kumimoji="1" lang="en-US" altLang="zh-CN" sz="1800" dirty="0"/>
              <a:t>:</a:t>
            </a:r>
            <a:r>
              <a:rPr kumimoji="1" lang="zh-CN" altLang="en-US" sz="1800" dirty="0"/>
              <a:t> 程序运行需要的代码和数据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动态部分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 程序运行期间的</a:t>
            </a:r>
            <a:r>
              <a:rPr kumimoji="1" lang="zh-CN" altLang="en-US" sz="2000" dirty="0">
                <a:solidFill>
                  <a:srgbClr val="C00000"/>
                </a:solidFill>
              </a:rPr>
              <a:t>状态</a:t>
            </a:r>
            <a:br>
              <a:rPr kumimoji="1" lang="en-US" altLang="zh-CN" sz="2000" dirty="0">
                <a:solidFill>
                  <a:srgbClr val="C00000"/>
                </a:solidFill>
              </a:rPr>
            </a:br>
            <a:r>
              <a:rPr kumimoji="1" lang="en-US" altLang="zh-CN" sz="2000" dirty="0"/>
              <a:t>(</a:t>
            </a:r>
            <a:r>
              <a:rPr kumimoji="1" lang="zh-CN" altLang="en-US" sz="2000" dirty="0"/>
              <a:t>程序计数器、堆、栈</a:t>
            </a:r>
            <a:r>
              <a:rPr kumimoji="1" lang="en-US" altLang="zh-CN" sz="2000" dirty="0"/>
              <a:t>……</a:t>
            </a:r>
            <a:r>
              <a:rPr kumimoji="1" lang="en-US" altLang="zh-CN" dirty="0"/>
              <a:t>)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进程具有独立的虚拟地址空间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每个进程都具有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独占全部内存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的假象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内核中同样包含内核栈和内核代码、数据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346339"/>
            <a:ext cx="2018144" cy="3537757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715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应用程序的功能非常复杂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独立进程</a:t>
            </a:r>
            <a:r>
              <a:rPr kumimoji="1" lang="en-US" altLang="zh-CN" dirty="0"/>
              <a:t>:</a:t>
            </a:r>
            <a:r>
              <a:rPr kumimoji="1" lang="zh-CN" altLang="en-US" dirty="0"/>
              <a:t> 一个进程就是一个应用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不会去影响其他进程的执行，也不会被其他进程影响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FCCF86-E7D2-4D4B-B2CB-3C384142B123}"/>
              </a:ext>
            </a:extLst>
          </p:cNvPr>
          <p:cNvSpPr/>
          <p:nvPr/>
        </p:nvSpPr>
        <p:spPr>
          <a:xfrm>
            <a:off x="3045776" y="2984449"/>
            <a:ext cx="3631094" cy="38759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邮件任务逻辑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BCAEAE-E206-7140-9024-80769AF41594}"/>
              </a:ext>
            </a:extLst>
          </p:cNvPr>
          <p:cNvSpPr/>
          <p:nvPr/>
        </p:nvSpPr>
        <p:spPr>
          <a:xfrm>
            <a:off x="3121217" y="3502564"/>
            <a:ext cx="900091" cy="4853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附件管理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267A9D-F975-3A4D-A069-CBD9E2F6FF55}"/>
              </a:ext>
            </a:extLst>
          </p:cNvPr>
          <p:cNvSpPr/>
          <p:nvPr/>
        </p:nvSpPr>
        <p:spPr>
          <a:xfrm>
            <a:off x="3037413" y="2425452"/>
            <a:ext cx="3639457" cy="4887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图形化界面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9C2568-58F1-504E-9D32-98C84FEEA0C0}"/>
              </a:ext>
            </a:extLst>
          </p:cNvPr>
          <p:cNvSpPr/>
          <p:nvPr/>
        </p:nvSpPr>
        <p:spPr>
          <a:xfrm>
            <a:off x="3037415" y="4110728"/>
            <a:ext cx="2377824" cy="459286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数据库服务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58688D-B33A-454D-9AC4-DB7FE8754CED}"/>
              </a:ext>
            </a:extLst>
          </p:cNvPr>
          <p:cNvSpPr/>
          <p:nvPr/>
        </p:nvSpPr>
        <p:spPr>
          <a:xfrm>
            <a:off x="3037415" y="4706092"/>
            <a:ext cx="2369186" cy="45587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400" dirty="0"/>
              <a:t>文件</a:t>
            </a:r>
            <a:r>
              <a:rPr kumimoji="1" lang="en-US" altLang="zh-CN" sz="1400" dirty="0"/>
              <a:t>I/O</a:t>
            </a:r>
            <a:r>
              <a:rPr kumimoji="1" lang="zh-CN" altLang="en-US" sz="1400" dirty="0"/>
              <a:t>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F6FAFF-6A1E-164E-BF4F-BD024FA252CF}"/>
              </a:ext>
            </a:extLst>
          </p:cNvPr>
          <p:cNvSpPr/>
          <p:nvPr/>
        </p:nvSpPr>
        <p:spPr>
          <a:xfrm>
            <a:off x="4222008" y="3502564"/>
            <a:ext cx="900092" cy="4853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日历管理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348470-77F3-3545-975D-A17A9A2B5DE7}"/>
              </a:ext>
            </a:extLst>
          </p:cNvPr>
          <p:cNvSpPr/>
          <p:nvPr/>
        </p:nvSpPr>
        <p:spPr>
          <a:xfrm>
            <a:off x="5842773" y="3502564"/>
            <a:ext cx="834097" cy="4853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通讯录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6B53D9-77DC-2745-832C-C75B7657A9C6}"/>
              </a:ext>
            </a:extLst>
          </p:cNvPr>
          <p:cNvSpPr/>
          <p:nvPr/>
        </p:nvSpPr>
        <p:spPr>
          <a:xfrm>
            <a:off x="5580113" y="4706093"/>
            <a:ext cx="1096760" cy="45587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400" dirty="0"/>
              <a:t>网络接口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FF4C96-05AA-EB48-A332-EC9DE41F8459}"/>
              </a:ext>
            </a:extLst>
          </p:cNvPr>
          <p:cNvSpPr/>
          <p:nvPr/>
        </p:nvSpPr>
        <p:spPr>
          <a:xfrm>
            <a:off x="5580112" y="4110728"/>
            <a:ext cx="1096759" cy="485310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系统资源监控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6C52BF-6033-924A-8A0A-559F21DE819A}"/>
              </a:ext>
            </a:extLst>
          </p:cNvPr>
          <p:cNvSpPr txBox="1"/>
          <p:nvPr/>
        </p:nvSpPr>
        <p:spPr>
          <a:xfrm>
            <a:off x="5240550" y="35025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51D796-38CB-EA47-B405-9F884AB191CD}"/>
              </a:ext>
            </a:extLst>
          </p:cNvPr>
          <p:cNvSpPr/>
          <p:nvPr/>
        </p:nvSpPr>
        <p:spPr>
          <a:xfrm>
            <a:off x="2913857" y="2309701"/>
            <a:ext cx="3890391" cy="29623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7EBC1D-0E97-034C-97CC-F824D77CF379}"/>
              </a:ext>
            </a:extLst>
          </p:cNvPr>
          <p:cNvSpPr txBox="1"/>
          <p:nvPr/>
        </p:nvSpPr>
        <p:spPr>
          <a:xfrm>
            <a:off x="143597" y="322112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单个应用的功能非常复杂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75AE318-1D3A-CA4F-A457-11F1C2183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229" y="4789036"/>
            <a:ext cx="632202" cy="63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9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独立进程的问题</a:t>
            </a:r>
            <a:r>
              <a:rPr kumimoji="1" lang="en-US" altLang="zh-CN" dirty="0"/>
              <a:t>-1:</a:t>
            </a:r>
            <a:r>
              <a:rPr kumimoji="1" lang="zh-CN" altLang="en-US" dirty="0"/>
              <a:t> 大量重复实现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例如：聊天软件和邮件软件都依赖数据库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于是在自己的进程中各自实现一份数据库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7BCD85-7AD2-DE4B-BD19-8F6D59971687}"/>
              </a:ext>
            </a:extLst>
          </p:cNvPr>
          <p:cNvSpPr/>
          <p:nvPr/>
        </p:nvSpPr>
        <p:spPr>
          <a:xfrm>
            <a:off x="1103518" y="3316223"/>
            <a:ext cx="2377824" cy="387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邮件任务逻辑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18FB47-2C91-6C41-8949-85B8486E9C6F}"/>
              </a:ext>
            </a:extLst>
          </p:cNvPr>
          <p:cNvSpPr/>
          <p:nvPr/>
        </p:nvSpPr>
        <p:spPr>
          <a:xfrm>
            <a:off x="1095155" y="2757226"/>
            <a:ext cx="2377825" cy="4887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图形化界面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95736-22E6-4E44-9A3D-2CF35968266A}"/>
              </a:ext>
            </a:extLst>
          </p:cNvPr>
          <p:cNvSpPr/>
          <p:nvPr/>
        </p:nvSpPr>
        <p:spPr>
          <a:xfrm>
            <a:off x="1103518" y="4085434"/>
            <a:ext cx="2377824" cy="459286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数据库实现</a:t>
            </a:r>
            <a:r>
              <a:rPr kumimoji="1" lang="en-US" altLang="zh-CN" sz="1400" dirty="0"/>
              <a:t>A</a:t>
            </a: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0B2D22-7C23-A74C-9E14-6D42E9225524}"/>
              </a:ext>
            </a:extLst>
          </p:cNvPr>
          <p:cNvSpPr txBox="1"/>
          <p:nvPr/>
        </p:nvSpPr>
        <p:spPr>
          <a:xfrm>
            <a:off x="2084681" y="36548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5CA67F-18EB-6B40-8163-1D16EEC87AB2}"/>
              </a:ext>
            </a:extLst>
          </p:cNvPr>
          <p:cNvSpPr/>
          <p:nvPr/>
        </p:nvSpPr>
        <p:spPr>
          <a:xfrm>
            <a:off x="971600" y="2641476"/>
            <a:ext cx="2685726" cy="2005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764A15-95F7-6241-85BF-9498CC90E063}"/>
              </a:ext>
            </a:extLst>
          </p:cNvPr>
          <p:cNvSpPr/>
          <p:nvPr/>
        </p:nvSpPr>
        <p:spPr>
          <a:xfrm>
            <a:off x="5868143" y="3316223"/>
            <a:ext cx="2377824" cy="387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聊天通讯逻辑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B9748C-803F-5D40-A9AF-E50A15967CD9}"/>
              </a:ext>
            </a:extLst>
          </p:cNvPr>
          <p:cNvSpPr/>
          <p:nvPr/>
        </p:nvSpPr>
        <p:spPr>
          <a:xfrm>
            <a:off x="5859780" y="2757226"/>
            <a:ext cx="2377825" cy="4887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图形化界面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1E3045-4DE9-1F40-A40E-2B71352F3016}"/>
              </a:ext>
            </a:extLst>
          </p:cNvPr>
          <p:cNvSpPr/>
          <p:nvPr/>
        </p:nvSpPr>
        <p:spPr>
          <a:xfrm>
            <a:off x="5868143" y="4085434"/>
            <a:ext cx="2377824" cy="459286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数据库实现</a:t>
            </a:r>
            <a:r>
              <a:rPr kumimoji="1" lang="en-US" altLang="zh-CN" sz="1400" dirty="0"/>
              <a:t>B</a:t>
            </a:r>
            <a:endParaRPr kumimoji="1"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9E33D7-E2EF-7A4E-8A62-FCD6445A331D}"/>
              </a:ext>
            </a:extLst>
          </p:cNvPr>
          <p:cNvSpPr txBox="1"/>
          <p:nvPr/>
        </p:nvSpPr>
        <p:spPr>
          <a:xfrm>
            <a:off x="6849306" y="36548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B426D4-8DE0-B44A-BE98-D6D92F0D810E}"/>
              </a:ext>
            </a:extLst>
          </p:cNvPr>
          <p:cNvSpPr/>
          <p:nvPr/>
        </p:nvSpPr>
        <p:spPr>
          <a:xfrm>
            <a:off x="5736225" y="2641476"/>
            <a:ext cx="2685726" cy="2005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D46D08C-5AAA-4645-9628-CABCDBE35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29" y="4510019"/>
            <a:ext cx="632202" cy="63220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2FC47FD-55D5-C046-B865-EE20691C2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00" y="4417008"/>
            <a:ext cx="801318" cy="6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5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独立进程的问题</a:t>
            </a:r>
            <a:r>
              <a:rPr kumimoji="1" lang="en-US" altLang="zh-CN" dirty="0"/>
              <a:t>-2:</a:t>
            </a:r>
            <a:r>
              <a:rPr kumimoji="1" lang="zh-CN" altLang="en-US" dirty="0"/>
              <a:t> 低效实现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例如，邮件软件团队的开发重心在其他组件上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所以只能借用低效的某数据库开源实现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E1DEAE-3FA3-9548-B20B-B78B5B805A60}"/>
              </a:ext>
            </a:extLst>
          </p:cNvPr>
          <p:cNvSpPr/>
          <p:nvPr/>
        </p:nvSpPr>
        <p:spPr>
          <a:xfrm>
            <a:off x="3263758" y="3532247"/>
            <a:ext cx="2377824" cy="387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邮件任务逻辑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7AD121-F26E-884D-88CD-E3F224F32027}"/>
              </a:ext>
            </a:extLst>
          </p:cNvPr>
          <p:cNvSpPr/>
          <p:nvPr/>
        </p:nvSpPr>
        <p:spPr>
          <a:xfrm>
            <a:off x="3255395" y="2973250"/>
            <a:ext cx="2377825" cy="4887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图形化界面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0D91DD-BC96-3E41-8546-BDFB5A0A4AB9}"/>
              </a:ext>
            </a:extLst>
          </p:cNvPr>
          <p:cNvSpPr/>
          <p:nvPr/>
        </p:nvSpPr>
        <p:spPr>
          <a:xfrm>
            <a:off x="3263758" y="4301458"/>
            <a:ext cx="2377824" cy="459286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数据库实现</a:t>
            </a:r>
            <a:r>
              <a:rPr kumimoji="1" lang="en-US" altLang="zh-CN" sz="1400" dirty="0"/>
              <a:t>A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CF7F6C-72A6-614F-ABB1-39902ACDE3D2}"/>
              </a:ext>
            </a:extLst>
          </p:cNvPr>
          <p:cNvSpPr txBox="1"/>
          <p:nvPr/>
        </p:nvSpPr>
        <p:spPr>
          <a:xfrm>
            <a:off x="4244921" y="38708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29453B-B27F-EE46-A9DC-6AB6AB651ED0}"/>
              </a:ext>
            </a:extLst>
          </p:cNvPr>
          <p:cNvSpPr/>
          <p:nvPr/>
        </p:nvSpPr>
        <p:spPr>
          <a:xfrm>
            <a:off x="3131840" y="2857500"/>
            <a:ext cx="2685726" cy="2005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894EC1-2F4D-8942-9876-398C0297E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069" y="4726043"/>
            <a:ext cx="632202" cy="6322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55B9705-5F8B-014C-AB3F-797BB14ED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330" y="4127183"/>
            <a:ext cx="544236" cy="5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9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独立进程的问题</a:t>
            </a:r>
            <a:r>
              <a:rPr kumimoji="1" lang="en-US" altLang="zh-CN" dirty="0"/>
              <a:t>-3:</a:t>
            </a:r>
            <a:r>
              <a:rPr kumimoji="1" lang="zh-CN" altLang="en-US" dirty="0"/>
              <a:t> 没有信息共享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邮件和聊天软件都需要监控系统资源信息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没有信息共享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即使邮件软件已经完成了计算，聊天软件也要重新计算一遍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06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如果不同进程之间可以协作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2089120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协作进程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和独立进程相反，可以影响其他进程执行或者被影响</a:t>
            </a:r>
            <a:endParaRPr kumimoji="1" lang="en-US" altLang="zh-CN" dirty="0"/>
          </a:p>
          <a:p>
            <a:r>
              <a:rPr kumimoji="1" lang="zh-CN" altLang="en-US" dirty="0"/>
              <a:t>好处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模块化：数据库单独在一个进程中，可以被复用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加速计算：不同进程专注于特定的计算任务，以获得更好性能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信息共享：直接共享已经计算好的数据，避免重复计算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B93856-67BA-2B4D-BD35-290EB27285D3}"/>
              </a:ext>
            </a:extLst>
          </p:cNvPr>
          <p:cNvSpPr/>
          <p:nvPr/>
        </p:nvSpPr>
        <p:spPr>
          <a:xfrm>
            <a:off x="1172467" y="4324335"/>
            <a:ext cx="1535688" cy="387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邮件任务逻辑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43D1D2-417E-A549-A08A-B5D653E371D7}"/>
              </a:ext>
            </a:extLst>
          </p:cNvPr>
          <p:cNvSpPr/>
          <p:nvPr/>
        </p:nvSpPr>
        <p:spPr>
          <a:xfrm>
            <a:off x="1164105" y="3765338"/>
            <a:ext cx="1535688" cy="4887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图形化界面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60DD0-A3F4-2242-9C17-3A21B9568D4F}"/>
              </a:ext>
            </a:extLst>
          </p:cNvPr>
          <p:cNvSpPr/>
          <p:nvPr/>
        </p:nvSpPr>
        <p:spPr>
          <a:xfrm>
            <a:off x="1040549" y="3649588"/>
            <a:ext cx="1803259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BC59C6-0DE4-F74E-9866-411CCD3544AD}"/>
              </a:ext>
            </a:extLst>
          </p:cNvPr>
          <p:cNvSpPr/>
          <p:nvPr/>
        </p:nvSpPr>
        <p:spPr>
          <a:xfrm>
            <a:off x="6804248" y="4324335"/>
            <a:ext cx="1432045" cy="387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聊天通讯逻辑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325B76-0369-E342-93CF-243EC8B97D0D}"/>
              </a:ext>
            </a:extLst>
          </p:cNvPr>
          <p:cNvSpPr/>
          <p:nvPr/>
        </p:nvSpPr>
        <p:spPr>
          <a:xfrm>
            <a:off x="6804248" y="3765338"/>
            <a:ext cx="1423684" cy="4887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图形化界面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4B019-CDD0-1A4E-99EA-42419B93F0CB}"/>
              </a:ext>
            </a:extLst>
          </p:cNvPr>
          <p:cNvSpPr/>
          <p:nvPr/>
        </p:nvSpPr>
        <p:spPr>
          <a:xfrm>
            <a:off x="6609018" y="3649588"/>
            <a:ext cx="1803259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548C3C5-506B-D94D-AC07-AADE2C7FE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29" y="4510019"/>
            <a:ext cx="632202" cy="63220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838C7E2-1520-204E-BAF6-E9B953432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30" y="4451430"/>
            <a:ext cx="801318" cy="69079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CC349BA-B06D-5D4B-9BB0-2C32E37FEA2B}"/>
              </a:ext>
            </a:extLst>
          </p:cNvPr>
          <p:cNvSpPr/>
          <p:nvPr/>
        </p:nvSpPr>
        <p:spPr>
          <a:xfrm>
            <a:off x="3923685" y="4324335"/>
            <a:ext cx="1535688" cy="387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数据库实现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D91C31-C3A2-5043-96E3-59ADC924E4E1}"/>
              </a:ext>
            </a:extLst>
          </p:cNvPr>
          <p:cNvSpPr/>
          <p:nvPr/>
        </p:nvSpPr>
        <p:spPr>
          <a:xfrm>
            <a:off x="3791767" y="4199118"/>
            <a:ext cx="1803259" cy="6025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D47BBDB-3644-DA46-A497-BCCFB46824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559" y="4573434"/>
            <a:ext cx="505371" cy="505371"/>
          </a:xfrm>
          <a:prstGeom prst="rect">
            <a:avLst/>
          </a:prstGeom>
        </p:spPr>
      </p:pic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7021B194-5FD6-7240-A3E4-6CFF1906AB98}"/>
              </a:ext>
            </a:extLst>
          </p:cNvPr>
          <p:cNvCxnSpPr>
            <a:stCxn id="10" idx="3"/>
            <a:endCxn id="20" idx="1"/>
          </p:cNvCxnSpPr>
          <p:nvPr/>
        </p:nvCxnSpPr>
        <p:spPr>
          <a:xfrm>
            <a:off x="2843808" y="4225652"/>
            <a:ext cx="947959" cy="274765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6B92325-6384-874F-A9D7-9F171338ED92}"/>
              </a:ext>
            </a:extLst>
          </p:cNvPr>
          <p:cNvCxnSpPr>
            <a:cxnSpLocks/>
            <a:stCxn id="15" idx="1"/>
            <a:endCxn id="20" idx="3"/>
          </p:cNvCxnSpPr>
          <p:nvPr/>
        </p:nvCxnSpPr>
        <p:spPr>
          <a:xfrm flipH="1">
            <a:off x="5595026" y="4225652"/>
            <a:ext cx="1013992" cy="274765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DFC6E4A7-7F10-6F47-B025-D4105567E7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6944">
            <a:off x="4922161" y="3800999"/>
            <a:ext cx="698847" cy="69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2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939336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进程间通信（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进程协作依赖于进程间通信</a:t>
            </a:r>
            <a:endParaRPr kumimoji="1" lang="en-US" altLang="zh-CN" dirty="0"/>
          </a:p>
          <a:p>
            <a:r>
              <a:rPr kumimoji="1" lang="zh-CN" altLang="en-US" dirty="0"/>
              <a:t>进程间通信</a:t>
            </a:r>
            <a:r>
              <a:rPr kumimoji="1" lang="en-US" altLang="zh-CN" dirty="0"/>
              <a:t>:</a:t>
            </a:r>
            <a:r>
              <a:rPr kumimoji="1" lang="zh-CN" altLang="en-US" dirty="0"/>
              <a:t> 两个</a:t>
            </a:r>
            <a:r>
              <a:rPr kumimoji="1" lang="en-US" altLang="zh-CN" dirty="0"/>
              <a:t>(</a:t>
            </a:r>
            <a:r>
              <a:rPr kumimoji="1" lang="zh-CN" altLang="en-US" dirty="0"/>
              <a:t>或多个</a:t>
            </a:r>
            <a:r>
              <a:rPr kumimoji="1" lang="en-US" altLang="zh-CN" dirty="0"/>
              <a:t>)</a:t>
            </a:r>
            <a:r>
              <a:rPr kumimoji="1" lang="zh-CN" altLang="en-US" dirty="0"/>
              <a:t>不同的进程，通过内核或其他共享资源进行通信，来传递控制信息或数据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交互的双方</a:t>
            </a:r>
            <a:r>
              <a:rPr kumimoji="1" lang="en-US" altLang="zh-CN" dirty="0"/>
              <a:t>:</a:t>
            </a:r>
            <a:r>
              <a:rPr kumimoji="1" lang="zh-CN" altLang="en-US" dirty="0"/>
              <a:t> 发送者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接收者、客户端</a:t>
            </a:r>
            <a:r>
              <a:rPr kumimoji="1" lang="en-US" altLang="zh-CN" dirty="0"/>
              <a:t>/</a:t>
            </a:r>
            <a:r>
              <a:rPr kumimoji="1" lang="zh-CN" altLang="en-US" dirty="0"/>
              <a:t>服务端、调用者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被调用者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通信的内容一般叫做</a:t>
            </a:r>
            <a:r>
              <a:rPr kumimoji="1" lang="en-US" altLang="zh-CN" dirty="0"/>
              <a:t>“</a:t>
            </a:r>
            <a:r>
              <a:rPr kumimoji="1" lang="zh-CN" altLang="en-US" dirty="0"/>
              <a:t>消息</a:t>
            </a:r>
            <a:r>
              <a:rPr kumimoji="1" lang="en-US" altLang="zh-CN" dirty="0"/>
              <a:t>”</a:t>
            </a:r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16D833-C24E-3349-B05F-7B4A9FCCC9B4}"/>
              </a:ext>
            </a:extLst>
          </p:cNvPr>
          <p:cNvSpPr/>
          <p:nvPr/>
        </p:nvSpPr>
        <p:spPr>
          <a:xfrm>
            <a:off x="5364088" y="4048652"/>
            <a:ext cx="3122971" cy="1056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内核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704EED-1640-EB4B-8E2F-8B8828DCAA83}"/>
              </a:ext>
            </a:extLst>
          </p:cNvPr>
          <p:cNvSpPr/>
          <p:nvPr/>
        </p:nvSpPr>
        <p:spPr>
          <a:xfrm>
            <a:off x="5347704" y="3448229"/>
            <a:ext cx="1368152" cy="448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发送者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0E98DB-C67F-E24F-8A81-2C303637150B}"/>
              </a:ext>
            </a:extLst>
          </p:cNvPr>
          <p:cNvSpPr/>
          <p:nvPr/>
        </p:nvSpPr>
        <p:spPr>
          <a:xfrm>
            <a:off x="6931879" y="3448229"/>
            <a:ext cx="1538795" cy="448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接收者</a:t>
            </a:r>
          </a:p>
        </p:txBody>
      </p:sp>
      <p:cxnSp>
        <p:nvCxnSpPr>
          <p:cNvPr id="9" name="肘形连接符 8">
            <a:extLst>
              <a:ext uri="{FF2B5EF4-FFF2-40B4-BE49-F238E27FC236}">
                <a16:creationId xmlns:a16="http://schemas.microsoft.com/office/drawing/2014/main" id="{0AAB5C5C-EE78-CC47-8BD6-D6329F30EE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66528" y="3197477"/>
            <a:ext cx="12700" cy="1379750"/>
          </a:xfrm>
          <a:prstGeom prst="bentConnector3">
            <a:avLst>
              <a:gd name="adj1" fmla="val 38819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>
            <a:extLst>
              <a:ext uri="{FF2B5EF4-FFF2-40B4-BE49-F238E27FC236}">
                <a16:creationId xmlns:a16="http://schemas.microsoft.com/office/drawing/2014/main" id="{86922D4D-AEF6-AA41-B955-1CAC47A94F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66528" y="3062354"/>
            <a:ext cx="12700" cy="1669497"/>
          </a:xfrm>
          <a:prstGeom prst="bentConnector3">
            <a:avLst>
              <a:gd name="adj1" fmla="val 457590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D8D268A-EEF0-C640-ABD9-B0E58FDBF89C}"/>
              </a:ext>
            </a:extLst>
          </p:cNvPr>
          <p:cNvSpPr txBox="1"/>
          <p:nvPr/>
        </p:nvSpPr>
        <p:spPr>
          <a:xfrm>
            <a:off x="6380350" y="4099755"/>
            <a:ext cx="985056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b="1" i="1" dirty="0">
                <a:solidFill>
                  <a:srgbClr val="BE384B"/>
                </a:solidFill>
              </a:rPr>
              <a:t>IPC</a:t>
            </a:r>
            <a:r>
              <a:rPr kumimoji="1" lang="zh-CN" altLang="en-US" sz="1600" b="1" i="1" dirty="0">
                <a:solidFill>
                  <a:srgbClr val="BE384B"/>
                </a:solidFill>
              </a:rPr>
              <a:t> </a:t>
            </a:r>
            <a:r>
              <a:rPr kumimoji="1" lang="en-US" altLang="zh-CN" sz="1600" b="1" i="1" dirty="0">
                <a:solidFill>
                  <a:srgbClr val="BE384B"/>
                </a:solidFill>
              </a:rPr>
              <a:t>call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DD4D11-4DAC-9340-A46E-E2BB46D0F535}"/>
              </a:ext>
            </a:extLst>
          </p:cNvPr>
          <p:cNvSpPr txBox="1"/>
          <p:nvPr/>
        </p:nvSpPr>
        <p:spPr>
          <a:xfrm>
            <a:off x="6433045" y="4529074"/>
            <a:ext cx="985056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b="1" i="1" dirty="0">
                <a:solidFill>
                  <a:srgbClr val="BE384B"/>
                </a:solidFill>
              </a:rPr>
              <a:t>IPC</a:t>
            </a:r>
            <a:r>
              <a:rPr kumimoji="1" lang="zh-CN" altLang="en-US" sz="1600" b="1" i="1" dirty="0">
                <a:solidFill>
                  <a:srgbClr val="BE384B"/>
                </a:solidFill>
              </a:rPr>
              <a:t> </a:t>
            </a:r>
            <a:r>
              <a:rPr kumimoji="1" lang="en-US" altLang="zh-CN" sz="1600" b="1" i="1" dirty="0">
                <a:solidFill>
                  <a:srgbClr val="BE384B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67377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1F028-D02A-F849-96D0-41D07497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33C9C2-E706-7740-9B0B-B04961C4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6BE5-8E89-404B-99DB-DAFC08BF6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BDB7F4A-0E32-C74A-8DEC-58B688539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599608"/>
              </p:ext>
            </p:extLst>
          </p:nvPr>
        </p:nvGraphicFramePr>
        <p:xfrm>
          <a:off x="719956" y="1335968"/>
          <a:ext cx="7704088" cy="3385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6022">
                  <a:extLst>
                    <a:ext uri="{9D8B030D-6E8A-4147-A177-3AD203B41FA5}">
                      <a16:colId xmlns:a16="http://schemas.microsoft.com/office/drawing/2014/main" val="1585941552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435578935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516145049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4068793969"/>
                    </a:ext>
                  </a:extLst>
                </a:gridCol>
              </a:tblGrid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IPC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机制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数据抽象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参与者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方向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477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管道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字节流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8242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共享内存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内存区间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17736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消息队列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消息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41857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信号量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计数器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24734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事件编号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767635"/>
                  </a:ext>
                </a:extLst>
              </a:tr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套接字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数据报文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045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62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管道：文件接口的</a:t>
            </a:r>
            <a:r>
              <a:rPr kumimoji="1" lang="en-US" altLang="zh-CN" dirty="0"/>
              <a:t>IPC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30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管道是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等系统中常见的进程间通信机制</a:t>
            </a:r>
            <a:endParaRPr kumimoji="1" lang="en-US" altLang="zh-CN" dirty="0"/>
          </a:p>
          <a:p>
            <a:r>
              <a:rPr kumimoji="1" lang="zh-CN" altLang="en-US" dirty="0"/>
              <a:t>管道</a:t>
            </a:r>
            <a:r>
              <a:rPr kumimoji="1" lang="en-US" altLang="zh-CN" dirty="0"/>
              <a:t>(Pipe):</a:t>
            </a:r>
            <a:r>
              <a:rPr kumimoji="1" lang="zh-CN" altLang="en-US" dirty="0"/>
              <a:t> 两个进程间的一根通信通道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一端向里投递，另一端接收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管道是间接消息传递方式，通过共享一个管道来建立连接</a:t>
            </a:r>
            <a:endParaRPr kumimoji="1" lang="en-US" altLang="zh-CN" dirty="0"/>
          </a:p>
          <a:p>
            <a:r>
              <a:rPr kumimoji="1" lang="zh-CN" altLang="en-US" dirty="0"/>
              <a:t>例子</a:t>
            </a:r>
            <a:r>
              <a:rPr kumimoji="1" lang="en-US" altLang="zh-CN" dirty="0"/>
              <a:t>:</a:t>
            </a:r>
            <a:r>
              <a:rPr kumimoji="1" lang="zh-CN" altLang="en-US" dirty="0"/>
              <a:t> 我们常见的命令</a:t>
            </a:r>
            <a:r>
              <a:rPr kumimoji="1" lang="en-US" altLang="zh-CN" dirty="0"/>
              <a:t>  ls | grep 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2A7AAB-04E9-A245-80D5-50BBCC64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65" y="4373984"/>
            <a:ext cx="7027501" cy="71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6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管道的特点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单向通信，当缓冲区满时阻塞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一个管道有且只能有两个端口</a:t>
            </a:r>
            <a:r>
              <a:rPr kumimoji="1" lang="en-US" altLang="zh-CN" dirty="0"/>
              <a:t>:</a:t>
            </a:r>
            <a:r>
              <a:rPr kumimoji="1" lang="zh-CN" altLang="en-US" dirty="0"/>
              <a:t> 一个负责输入 </a:t>
            </a:r>
            <a:r>
              <a:rPr kumimoji="1" lang="en-US" altLang="zh-CN" dirty="0"/>
              <a:t>(</a:t>
            </a:r>
            <a:r>
              <a:rPr kumimoji="1" lang="zh-CN" altLang="en-US" dirty="0"/>
              <a:t>发送数据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，一个负责输出 </a:t>
            </a:r>
            <a:r>
              <a:rPr kumimoji="1" lang="en-US" altLang="zh-CN" dirty="0"/>
              <a:t>(</a:t>
            </a:r>
            <a:r>
              <a:rPr kumimoji="1" lang="zh-CN" altLang="en-US" dirty="0"/>
              <a:t>接收数据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数据不带类型，即字节流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的文件描述符使用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9D2479-D23C-9444-9F24-F7F27FDD5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616" y="3937000"/>
            <a:ext cx="4114800" cy="1422400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B8C4071C-0268-5749-A2CB-CA914D9813C8}"/>
              </a:ext>
            </a:extLst>
          </p:cNvPr>
          <p:cNvSpPr/>
          <p:nvPr/>
        </p:nvSpPr>
        <p:spPr>
          <a:xfrm>
            <a:off x="6156176" y="228866"/>
            <a:ext cx="2746648" cy="169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fd</a:t>
            </a:r>
            <a:r>
              <a:rPr lang="en-US" altLang="zh-CN" sz="2400" dirty="0"/>
              <a:t>[2]; </a:t>
            </a:r>
          </a:p>
          <a:p>
            <a:r>
              <a:rPr lang="en-US" altLang="zh-CN" sz="2400" dirty="0"/>
              <a:t>pipe(</a:t>
            </a:r>
            <a:r>
              <a:rPr lang="en-US" altLang="zh-CN" sz="2400" dirty="0" err="1"/>
              <a:t>fd</a:t>
            </a:r>
            <a:r>
              <a:rPr lang="en-US" altLang="zh-CN" sz="2400" dirty="0"/>
              <a:t>); </a:t>
            </a:r>
          </a:p>
          <a:p>
            <a:r>
              <a:rPr lang="en-US" altLang="zh-CN" sz="2400" dirty="0" err="1"/>
              <a:t>fd</a:t>
            </a:r>
            <a:r>
              <a:rPr lang="en-US" altLang="zh-CN" sz="2400" dirty="0"/>
              <a:t>[0]; </a:t>
            </a:r>
            <a:r>
              <a:rPr lang="en-US" altLang="zh-CN" sz="2400" i="1" dirty="0"/>
              <a:t>// read side</a:t>
            </a:r>
            <a:endParaRPr lang="en-US" altLang="zh-CN" sz="2400" dirty="0"/>
          </a:p>
          <a:p>
            <a:r>
              <a:rPr lang="en-US" altLang="zh-CN" sz="2400" dirty="0" err="1"/>
              <a:t>fd</a:t>
            </a:r>
            <a:r>
              <a:rPr lang="en-US" altLang="zh-CN" sz="2400" dirty="0"/>
              <a:t>[1]; </a:t>
            </a:r>
            <a:r>
              <a:rPr lang="en-US" altLang="zh-CN" sz="2400" i="1" dirty="0"/>
              <a:t>// write side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1754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管道数据结构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677B71-E4AF-FF4A-B33E-B18737AD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034" y="2425452"/>
            <a:ext cx="7055768" cy="184339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D3F0756-BEC4-B747-97FD-0AB372447A98}"/>
              </a:ext>
            </a:extLst>
          </p:cNvPr>
          <p:cNvSpPr/>
          <p:nvPr/>
        </p:nvSpPr>
        <p:spPr>
          <a:xfrm>
            <a:off x="2267744" y="2929508"/>
            <a:ext cx="266429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587100-E4DE-0046-960F-DBB3DD8247E5}"/>
              </a:ext>
            </a:extLst>
          </p:cNvPr>
          <p:cNvSpPr txBox="1"/>
          <p:nvPr/>
        </p:nvSpPr>
        <p:spPr>
          <a:xfrm>
            <a:off x="-54692" y="264137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连接缓冲区域，定长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BDFD06-FBAA-A04F-AE77-4953448FD3BD}"/>
              </a:ext>
            </a:extLst>
          </p:cNvPr>
          <p:cNvSpPr/>
          <p:nvPr/>
        </p:nvSpPr>
        <p:spPr>
          <a:xfrm>
            <a:off x="2267744" y="3145532"/>
            <a:ext cx="1872208" cy="7780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96743B-5FDC-CA43-9FC4-64415A94CE75}"/>
              </a:ext>
            </a:extLst>
          </p:cNvPr>
          <p:cNvSpPr txBox="1"/>
          <p:nvPr/>
        </p:nvSpPr>
        <p:spPr>
          <a:xfrm>
            <a:off x="291557" y="332068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一个连接对应</a:t>
            </a:r>
            <a:endParaRPr kumimoji="1" lang="en-US" altLang="zh-CN" dirty="0"/>
          </a:p>
          <a:p>
            <a:r>
              <a:rPr kumimoji="1" lang="zh-CN" altLang="en-US" dirty="0"/>
              <a:t>最多两个进程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D1777D4-A0CD-7242-92A9-7CBE7BFA6D16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861217" y="2953707"/>
            <a:ext cx="406527" cy="83813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1952037-DC34-BB4C-8246-D83AC1A2423F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1861217" y="3534577"/>
            <a:ext cx="406527" cy="109277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61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管道写操作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6C8EE8-D155-644A-AA29-8AA62B0FA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1892925"/>
            <a:ext cx="5310242" cy="341284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229EF9-82F7-C24A-8DEC-A509F20A08A9}"/>
              </a:ext>
            </a:extLst>
          </p:cNvPr>
          <p:cNvSpPr/>
          <p:nvPr/>
        </p:nvSpPr>
        <p:spPr>
          <a:xfrm>
            <a:off x="3059832" y="2992910"/>
            <a:ext cx="4248472" cy="296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F7A076-89C2-6C4F-998B-5DC76023E2D8}"/>
              </a:ext>
            </a:extLst>
          </p:cNvPr>
          <p:cNvSpPr txBox="1"/>
          <p:nvPr/>
        </p:nvSpPr>
        <p:spPr>
          <a:xfrm>
            <a:off x="414580" y="267260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检查缓冲区域是否满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8DEF45E-E665-C24F-B9D7-CD0ABCDE384B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676738" y="2857270"/>
            <a:ext cx="383094" cy="283959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7567AF3-9E3C-3F46-94E6-799CB13CBF58}"/>
              </a:ext>
            </a:extLst>
          </p:cNvPr>
          <p:cNvSpPr/>
          <p:nvPr/>
        </p:nvSpPr>
        <p:spPr>
          <a:xfrm>
            <a:off x="3275856" y="3295120"/>
            <a:ext cx="3600400" cy="5538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8AF06A-4ACF-484E-955B-377F36D20792}"/>
              </a:ext>
            </a:extLst>
          </p:cNvPr>
          <p:cNvSpPr txBox="1"/>
          <p:nvPr/>
        </p:nvSpPr>
        <p:spPr>
          <a:xfrm>
            <a:off x="631483" y="314646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如果读者不存在，</a:t>
            </a:r>
            <a:endParaRPr kumimoji="1" lang="en-US" altLang="zh-CN" dirty="0"/>
          </a:p>
          <a:p>
            <a:pPr algn="r"/>
            <a:r>
              <a:rPr kumimoji="1" lang="zh-CN" altLang="en-US" dirty="0"/>
              <a:t>那么返回错误信息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B658365-A9AB-AC41-B9F7-29BF3D7E2878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2662808" y="3469629"/>
            <a:ext cx="613048" cy="102417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01C6744-A0CC-734E-A60F-AF006B4CEDBF}"/>
              </a:ext>
            </a:extLst>
          </p:cNvPr>
          <p:cNvSpPr/>
          <p:nvPr/>
        </p:nvSpPr>
        <p:spPr>
          <a:xfrm>
            <a:off x="3275856" y="3846321"/>
            <a:ext cx="2736304" cy="3672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37EA86-2575-464D-A3AA-6D354D4D4A5F}"/>
              </a:ext>
            </a:extLst>
          </p:cNvPr>
          <p:cNvSpPr txBox="1"/>
          <p:nvPr/>
        </p:nvSpPr>
        <p:spPr>
          <a:xfrm>
            <a:off x="-42764" y="3894741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尝试唤醒读者去读消息，</a:t>
            </a:r>
            <a:endParaRPr kumimoji="1" lang="en-US" altLang="zh-CN" dirty="0"/>
          </a:p>
          <a:p>
            <a:pPr algn="r"/>
            <a:r>
              <a:rPr kumimoji="1" lang="zh-CN" altLang="en-US" dirty="0"/>
              <a:t>并将自己阻塞住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F8FF0CB-37FC-AF40-AA72-899CFAD0A2E2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 flipV="1">
            <a:off x="2681059" y="4029927"/>
            <a:ext cx="594797" cy="18798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D5E552E-196F-9548-956D-4C864F36AAEB}"/>
              </a:ext>
            </a:extLst>
          </p:cNvPr>
          <p:cNvSpPr txBox="1"/>
          <p:nvPr/>
        </p:nvSpPr>
        <p:spPr>
          <a:xfrm>
            <a:off x="169819" y="476817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往缓冲区域上放置消息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25DAB-FD32-0E40-BBA5-25D72EA65AF1}"/>
              </a:ext>
            </a:extLst>
          </p:cNvPr>
          <p:cNvSpPr/>
          <p:nvPr/>
        </p:nvSpPr>
        <p:spPr>
          <a:xfrm>
            <a:off x="3166864" y="4283914"/>
            <a:ext cx="3853408" cy="2038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300CC78-28CA-874D-8A50-305AC233F5E4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2662809" y="4385861"/>
            <a:ext cx="504055" cy="56698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77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管道读操作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243424D-C0A0-B54D-8D87-A5D816394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808" y="1849388"/>
            <a:ext cx="5174314" cy="349397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4B388FA-D96D-D747-B59C-4C33A43A8D23}"/>
              </a:ext>
            </a:extLst>
          </p:cNvPr>
          <p:cNvSpPr/>
          <p:nvPr/>
        </p:nvSpPr>
        <p:spPr>
          <a:xfrm>
            <a:off x="2915816" y="2785492"/>
            <a:ext cx="4608512" cy="296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3276087-30C3-8E4A-BE81-B00A5D4C785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195736" y="2933811"/>
            <a:ext cx="72008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452F364-C422-EA4C-866A-FB49E87F8FF9}"/>
              </a:ext>
            </a:extLst>
          </p:cNvPr>
          <p:cNvSpPr/>
          <p:nvPr/>
        </p:nvSpPr>
        <p:spPr>
          <a:xfrm>
            <a:off x="3195807" y="3585273"/>
            <a:ext cx="4184505" cy="280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AAFF9C7-911D-6B45-8692-D0879D67E09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283808" y="3566400"/>
            <a:ext cx="911999" cy="184666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C142D4E-92B0-A74A-854D-DBCBD4C7A35F}"/>
              </a:ext>
            </a:extLst>
          </p:cNvPr>
          <p:cNvSpPr/>
          <p:nvPr/>
        </p:nvSpPr>
        <p:spPr>
          <a:xfrm>
            <a:off x="2987824" y="3926077"/>
            <a:ext cx="4184505" cy="681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5530D17-74B6-FD4E-8360-5F21FD6F5849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2283808" y="4091870"/>
            <a:ext cx="704016" cy="19276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51589C9-0029-FD49-9BB0-186E4761D646}"/>
              </a:ext>
            </a:extLst>
          </p:cNvPr>
          <p:cNvSpPr txBox="1"/>
          <p:nvPr/>
        </p:nvSpPr>
        <p:spPr>
          <a:xfrm>
            <a:off x="483315" y="271856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检查是否有消息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006BF7-1BDF-3F4A-9270-739EDEC6527A}"/>
              </a:ext>
            </a:extLst>
          </p:cNvPr>
          <p:cNvSpPr txBox="1"/>
          <p:nvPr/>
        </p:nvSpPr>
        <p:spPr>
          <a:xfrm>
            <a:off x="252483" y="338173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阻塞等待消息到来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90216A-C3CF-364C-821E-E2A462786A96}"/>
              </a:ext>
            </a:extLst>
          </p:cNvPr>
          <p:cNvSpPr txBox="1"/>
          <p:nvPr/>
        </p:nvSpPr>
        <p:spPr>
          <a:xfrm>
            <a:off x="1175812" y="40999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/>
              <a:t>读取消息</a:t>
            </a:r>
          </a:p>
        </p:txBody>
      </p:sp>
    </p:spTree>
    <p:extLst>
      <p:ext uri="{BB962C8B-B14F-4D97-AF65-F5344CB8AC3E}">
        <p14:creationId xmlns:p14="http://schemas.microsoft.com/office/powerpoint/2010/main" val="365160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管道的优点与问题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优点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设计和实现简单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针对简单通信场景十分有效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问题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缺少消息的类型，接收者需要对消息内容进行解析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缓冲区大小预先分配且固定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只能支持单向通信（为什么？）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只能支持最多两个进程间通信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57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E4CFA-5E6B-2C4D-985A-A7C1B8E0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命名管道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051CA-8E53-0E4C-A934-8D0F83C0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管道缺乏名字，只能在有亲缘关系的进程间使用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也称为“匿名管道”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通常通过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，在父子进程间传递</a:t>
            </a:r>
            <a:r>
              <a:rPr kumimoji="1" lang="en-US" altLang="zh-CN" dirty="0" err="1"/>
              <a:t>fd</a:t>
            </a:r>
            <a:endParaRPr kumimoji="1" lang="en-US" altLang="zh-CN" dirty="0"/>
          </a:p>
          <a:p>
            <a:r>
              <a:rPr kumimoji="1" lang="zh-CN" altLang="en-US" dirty="0"/>
              <a:t>“命名管道”则具有文件名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中也称为</a:t>
            </a:r>
            <a:r>
              <a:rPr kumimoji="1" lang="en-US" altLang="zh-CN" dirty="0" err="1"/>
              <a:t>fifo</a:t>
            </a:r>
            <a:r>
              <a:rPr kumimoji="1" lang="zh-CN" altLang="en-US" dirty="0"/>
              <a:t>，可通过</a:t>
            </a:r>
            <a:r>
              <a:rPr kumimoji="1" lang="en-US" altLang="zh-CN" dirty="0" err="1"/>
              <a:t>mkfifo</a:t>
            </a:r>
            <a:r>
              <a:rPr kumimoji="1" lang="en-US" altLang="zh-CN" dirty="0"/>
              <a:t>()</a:t>
            </a:r>
            <a:r>
              <a:rPr kumimoji="1" lang="zh-CN" altLang="en-US" dirty="0"/>
              <a:t>来创建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可以在没有亲缘关系的进程之间实现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zh-CN" altLang="en-US" dirty="0"/>
              <a:t>允许一个写端，多个读端；或多个写端，一个读端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963E97-A941-3740-BC79-BB4BD6BF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45AEE-64F7-F840-8F80-1AB93303E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14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共享内存（内存接口的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6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小区门口的桌子上允许临时放置快递</a:t>
            </a:r>
            <a:endParaRPr kumimoji="1" lang="en-US" altLang="zh-CN" dirty="0"/>
          </a:p>
          <a:p>
            <a:r>
              <a:rPr kumimoji="1" lang="zh-CN" altLang="en-US" dirty="0"/>
              <a:t>快递员在桌上放置快递，小明从桌上取快递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57BAAE-5DF5-7745-BC3A-07D687F53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045094"/>
            <a:ext cx="720321" cy="7203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E1172D-B47B-6C43-A165-B9004AEB7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164" y="3405255"/>
            <a:ext cx="1800200" cy="1800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23FC9D-8385-1B4A-A192-AB28C180D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3209301"/>
            <a:ext cx="547797" cy="5477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3253B8-796C-E445-B74C-427C93EC75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27" y="3209301"/>
            <a:ext cx="547797" cy="5477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7AF1CE-CB17-004E-8BE8-30A4673A21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26" y="3131355"/>
            <a:ext cx="547797" cy="547797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8AC81F-D339-9049-BDE0-E046515986A7}"/>
              </a:ext>
            </a:extLst>
          </p:cNvPr>
          <p:cNvGrpSpPr/>
          <p:nvPr/>
        </p:nvGrpSpPr>
        <p:grpSpPr>
          <a:xfrm>
            <a:off x="6588224" y="2948053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C81C4905-641A-A54B-903E-F4424239C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A24B7B0-F0D4-D847-876F-3CE650E04378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9A1D9E95-83DD-DE4D-A092-5CC05D340005}"/>
              </a:ext>
            </a:extLst>
          </p:cNvPr>
          <p:cNvSpPr/>
          <p:nvPr/>
        </p:nvSpPr>
        <p:spPr>
          <a:xfrm>
            <a:off x="2236054" y="3104346"/>
            <a:ext cx="1467650" cy="522518"/>
          </a:xfrm>
          <a:custGeom>
            <a:avLst/>
            <a:gdLst>
              <a:gd name="connsiteX0" fmla="*/ 0 w 1467650"/>
              <a:gd name="connsiteY0" fmla="*/ 522518 h 522518"/>
              <a:gd name="connsiteX1" fmla="*/ 860612 w 1467650"/>
              <a:gd name="connsiteY1" fmla="*/ 4 h 522518"/>
              <a:gd name="connsiteX2" fmla="*/ 1467650 w 1467650"/>
              <a:gd name="connsiteY2" fmla="*/ 514834 h 52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7650" h="522518">
                <a:moveTo>
                  <a:pt x="0" y="522518"/>
                </a:moveTo>
                <a:cubicBezTo>
                  <a:pt x="308002" y="261901"/>
                  <a:pt x="616004" y="1285"/>
                  <a:pt x="860612" y="4"/>
                </a:cubicBezTo>
                <a:cubicBezTo>
                  <a:pt x="1105220" y="-1277"/>
                  <a:pt x="1286435" y="256778"/>
                  <a:pt x="1467650" y="51483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任意形状 19">
            <a:extLst>
              <a:ext uri="{FF2B5EF4-FFF2-40B4-BE49-F238E27FC236}">
                <a16:creationId xmlns:a16="http://schemas.microsoft.com/office/drawing/2014/main" id="{C259636B-136F-1E41-BC0F-426118C529E4}"/>
              </a:ext>
            </a:extLst>
          </p:cNvPr>
          <p:cNvSpPr/>
          <p:nvPr/>
        </p:nvSpPr>
        <p:spPr>
          <a:xfrm>
            <a:off x="4649279" y="3150822"/>
            <a:ext cx="2049006" cy="522518"/>
          </a:xfrm>
          <a:custGeom>
            <a:avLst/>
            <a:gdLst>
              <a:gd name="connsiteX0" fmla="*/ 0 w 1467650"/>
              <a:gd name="connsiteY0" fmla="*/ 522518 h 522518"/>
              <a:gd name="connsiteX1" fmla="*/ 860612 w 1467650"/>
              <a:gd name="connsiteY1" fmla="*/ 4 h 522518"/>
              <a:gd name="connsiteX2" fmla="*/ 1467650 w 1467650"/>
              <a:gd name="connsiteY2" fmla="*/ 514834 h 52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7650" h="522518">
                <a:moveTo>
                  <a:pt x="0" y="522518"/>
                </a:moveTo>
                <a:cubicBezTo>
                  <a:pt x="308002" y="261901"/>
                  <a:pt x="616004" y="1285"/>
                  <a:pt x="860612" y="4"/>
                </a:cubicBezTo>
                <a:cubicBezTo>
                  <a:pt x="1105220" y="-1277"/>
                  <a:pt x="1286435" y="256778"/>
                  <a:pt x="1467650" y="51483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DEA3D9-A4EC-CE40-8B20-A2F13665BA20}"/>
              </a:ext>
            </a:extLst>
          </p:cNvPr>
          <p:cNvSpPr txBox="1"/>
          <p:nvPr/>
        </p:nvSpPr>
        <p:spPr>
          <a:xfrm>
            <a:off x="3558878" y="49364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共享的快递桌</a:t>
            </a:r>
          </a:p>
        </p:txBody>
      </p:sp>
    </p:spTree>
    <p:extLst>
      <p:ext uri="{BB962C8B-B14F-4D97-AF65-F5344CB8AC3E}">
        <p14:creationId xmlns:p14="http://schemas.microsoft.com/office/powerpoint/2010/main" val="2686592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系统内核为两个进程映射共同的内存区域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挑战</a:t>
            </a:r>
            <a:r>
              <a:rPr kumimoji="1" lang="en-US" altLang="zh-CN" dirty="0"/>
              <a:t>:</a:t>
            </a:r>
            <a:r>
              <a:rPr kumimoji="1" lang="zh-CN" altLang="en-US" dirty="0"/>
              <a:t> 做好同步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发送者不能覆盖掉未读取的数据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接收者不能读取别的数据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2750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共享区域</a:t>
            </a:r>
            <a:endParaRPr kumimoji="1" lang="en-US" altLang="zh-CN" dirty="0"/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#define BUFFER_SIZE 10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typedef struct {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	. . .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} item;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item buffer[BUFFER_SIZE];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int in = 0;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int out = 0;</a:t>
            </a:r>
            <a:endParaRPr kumimoji="1" lang="en-US" altLang="zh-CN" sz="19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040FA2-C351-BE42-9C2F-2C0C583107B3}"/>
              </a:ext>
            </a:extLst>
          </p:cNvPr>
          <p:cNvSpPr/>
          <p:nvPr/>
        </p:nvSpPr>
        <p:spPr>
          <a:xfrm>
            <a:off x="1763688" y="3433565"/>
            <a:ext cx="316835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D47D1-84DB-A742-8829-A7617DC0C925}"/>
              </a:ext>
            </a:extLst>
          </p:cNvPr>
          <p:cNvSpPr txBox="1"/>
          <p:nvPr/>
        </p:nvSpPr>
        <p:spPr>
          <a:xfrm>
            <a:off x="5868144" y="3003258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共享数据区域，容量为</a:t>
            </a:r>
            <a:r>
              <a:rPr kumimoji="1" lang="en-US" altLang="zh-CN" dirty="0"/>
              <a:t>10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AC5B214-F07D-4C46-9C7D-27E1486CA2DD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4932040" y="3187924"/>
            <a:ext cx="936104" cy="46166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DA3CCFA-3C0F-B743-9FE2-B8084EABB79A}"/>
              </a:ext>
            </a:extLst>
          </p:cNvPr>
          <p:cNvSpPr/>
          <p:nvPr/>
        </p:nvSpPr>
        <p:spPr>
          <a:xfrm>
            <a:off x="1763688" y="3885224"/>
            <a:ext cx="1512168" cy="7724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DF6C0F-B9B0-8746-95A5-2B5C493B11ED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>
          <a:xfrm flipH="1">
            <a:off x="3275856" y="4250914"/>
            <a:ext cx="2312564" cy="2054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252410A-E45C-2543-96DC-4AE7678DFEE3}"/>
              </a:ext>
            </a:extLst>
          </p:cNvPr>
          <p:cNvSpPr txBox="1"/>
          <p:nvPr/>
        </p:nvSpPr>
        <p:spPr>
          <a:xfrm>
            <a:off x="5588420" y="40662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共享状态</a:t>
            </a:r>
          </a:p>
        </p:txBody>
      </p:sp>
    </p:spTree>
    <p:extLst>
      <p:ext uri="{BB962C8B-B14F-4D97-AF65-F5344CB8AC3E}">
        <p14:creationId xmlns:p14="http://schemas.microsoft.com/office/powerpoint/2010/main" val="2795528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发送者</a:t>
            </a:r>
            <a:endParaRPr kumimoji="1" lang="en-US" altLang="zh-CN" dirty="0"/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  /* Produce an item */</a:t>
            </a:r>
          </a:p>
          <a:p>
            <a:pPr lvl="3">
              <a:buNone/>
            </a:pPr>
            <a:r>
              <a:rPr kumimoji="1" lang="en-US" altLang="zh-CN" dirty="0"/>
              <a:t>        while (((in + 1) % BUFFER_SIZE)   </a:t>
            </a:r>
          </a:p>
          <a:p>
            <a:pPr lvl="3">
              <a:buNone/>
            </a:pPr>
            <a:r>
              <a:rPr kumimoji="1" lang="en-US" altLang="zh-CN" dirty="0"/>
              <a:t>                == out)</a:t>
            </a:r>
          </a:p>
          <a:p>
            <a:pPr lvl="3">
              <a:buNone/>
            </a:pPr>
            <a:r>
              <a:rPr kumimoji="1" lang="en-US" altLang="zh-CN" dirty="0"/>
              <a:t>	        ;   /* do nothing -- no free buffers */</a:t>
            </a:r>
          </a:p>
          <a:p>
            <a:pPr lvl="3">
              <a:buNone/>
            </a:pPr>
            <a:r>
              <a:rPr kumimoji="1" lang="en-US" altLang="zh-CN" dirty="0"/>
              <a:t>	    buffer[in] = item;</a:t>
            </a:r>
          </a:p>
          <a:p>
            <a:pPr lvl="3">
              <a:buNone/>
            </a:pPr>
            <a:r>
              <a:rPr kumimoji="1" lang="en-US" altLang="zh-CN" dirty="0"/>
              <a:t>	    in = (in + 1) % BUFFER_SIZE;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72CC52-460D-FB44-B2EF-5C82DB00BC31}"/>
              </a:ext>
            </a:extLst>
          </p:cNvPr>
          <p:cNvSpPr/>
          <p:nvPr/>
        </p:nvSpPr>
        <p:spPr>
          <a:xfrm>
            <a:off x="2334856" y="2569468"/>
            <a:ext cx="4181360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67AC24-726E-7A4E-BAA2-DE756BE22FF0}"/>
              </a:ext>
            </a:extLst>
          </p:cNvPr>
          <p:cNvSpPr txBox="1"/>
          <p:nvPr/>
        </p:nvSpPr>
        <p:spPr>
          <a:xfrm>
            <a:off x="5364088" y="164750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当没有空间时，发送者盲等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9F354EE-B0D7-3F4B-B99C-F1B6156D0126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425536" y="1832170"/>
            <a:ext cx="938552" cy="73729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74C04AB-5BD9-204C-A5CD-5E8DCA333BB9}"/>
              </a:ext>
            </a:extLst>
          </p:cNvPr>
          <p:cNvSpPr txBox="1"/>
          <p:nvPr/>
        </p:nvSpPr>
        <p:spPr>
          <a:xfrm>
            <a:off x="5594630" y="4408476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发送者放置消息 </a:t>
            </a:r>
            <a:endParaRPr kumimoji="1"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E25EE5-3857-0E4C-ABC3-04963F438C30}"/>
              </a:ext>
            </a:extLst>
          </p:cNvPr>
          <p:cNvSpPr/>
          <p:nvPr/>
        </p:nvSpPr>
        <p:spPr>
          <a:xfrm>
            <a:off x="2334856" y="3639965"/>
            <a:ext cx="2090680" cy="441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EA61726-1396-7743-B16A-89A924CDB460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425536" y="3937000"/>
            <a:ext cx="2101401" cy="471476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273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接收者</a:t>
            </a:r>
            <a:endParaRPr kumimoji="1" lang="en-US" altLang="zh-CN" dirty="0"/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wait_package</a:t>
            </a:r>
            <a:r>
              <a:rPr kumimoji="1" lang="en-US" altLang="zh-CN" dirty="0"/>
              <a:t>) {</a:t>
            </a:r>
          </a:p>
          <a:p>
            <a:pPr lvl="3">
              <a:buNone/>
            </a:pPr>
            <a:r>
              <a:rPr kumimoji="1" lang="en-US" altLang="zh-CN" dirty="0"/>
              <a:t>          while (in == out)</a:t>
            </a:r>
          </a:p>
          <a:p>
            <a:pPr lvl="3">
              <a:buNone/>
            </a:pPr>
            <a:r>
              <a:rPr kumimoji="1" lang="en-US" altLang="zh-CN" dirty="0"/>
              <a:t>                 ; // do nothing -- nothing to consume</a:t>
            </a:r>
          </a:p>
          <a:p>
            <a:pPr lvl="3">
              <a:buNone/>
            </a:pPr>
            <a:r>
              <a:rPr kumimoji="1" lang="en-US" altLang="zh-CN" dirty="0"/>
              <a:t>	     // remove an item from the buffer</a:t>
            </a:r>
          </a:p>
          <a:p>
            <a:pPr lvl="3">
              <a:buNone/>
            </a:pPr>
            <a:r>
              <a:rPr kumimoji="1" lang="en-US" altLang="zh-CN" dirty="0"/>
              <a:t>	     item = buffer[out];</a:t>
            </a:r>
          </a:p>
          <a:p>
            <a:pPr lvl="3">
              <a:buNone/>
            </a:pPr>
            <a:r>
              <a:rPr kumimoji="1" lang="en-US" altLang="zh-CN" dirty="0"/>
              <a:t>	     out = (out + 1) % BUFFER SIZE;</a:t>
            </a:r>
          </a:p>
          <a:p>
            <a:pPr lvl="3">
              <a:buNone/>
            </a:pPr>
            <a:r>
              <a:rPr kumimoji="1" lang="en-US" altLang="zh-CN" dirty="0"/>
              <a:t>	     return item;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B67AC-28B4-894D-B1B1-C14ED8412112}"/>
              </a:ext>
            </a:extLst>
          </p:cNvPr>
          <p:cNvSpPr/>
          <p:nvPr/>
        </p:nvSpPr>
        <p:spPr>
          <a:xfrm>
            <a:off x="2481320" y="2244131"/>
            <a:ext cx="4181360" cy="757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A1677D-7417-834D-A5B6-1292721243FC}"/>
              </a:ext>
            </a:extLst>
          </p:cNvPr>
          <p:cNvSpPr txBox="1"/>
          <p:nvPr/>
        </p:nvSpPr>
        <p:spPr>
          <a:xfrm>
            <a:off x="5039648" y="132994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当没有新消息时，接收者盲目等待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B92E0A4-DAAF-B841-BF95-1FE30D83C19E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572000" y="1514609"/>
            <a:ext cx="467648" cy="7295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02A4091-E042-8144-8BF8-0EB736FF0D14}"/>
              </a:ext>
            </a:extLst>
          </p:cNvPr>
          <p:cNvSpPr txBox="1"/>
          <p:nvPr/>
        </p:nvSpPr>
        <p:spPr>
          <a:xfrm>
            <a:off x="5550023" y="421690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接收者获取消息 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4F162-DC84-0345-93E7-B7EFA65342DC}"/>
              </a:ext>
            </a:extLst>
          </p:cNvPr>
          <p:cNvSpPr/>
          <p:nvPr/>
        </p:nvSpPr>
        <p:spPr>
          <a:xfrm>
            <a:off x="2411760" y="3345905"/>
            <a:ext cx="2090680" cy="441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BD3E06A-DFA6-2D41-BD82-B367E9490F0D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4380944" y="3745433"/>
            <a:ext cx="2101386" cy="471476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482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共享内存的问题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缺少通知机制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若轮询检查，则导致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资源浪费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若周期性检查，则可能导致较长的等待时延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根本原因：</a:t>
            </a:r>
            <a:r>
              <a:rPr kumimoji="1" lang="zh-CN" altLang="en-US" dirty="0"/>
              <a:t>共享内存的抽象过于底层；缺少</a:t>
            </a:r>
            <a:r>
              <a:rPr kumimoji="1" lang="en-US" altLang="zh-CN" dirty="0"/>
              <a:t>OS</a:t>
            </a:r>
            <a:r>
              <a:rPr kumimoji="1" lang="zh-CN" altLang="en-US" dirty="0"/>
              <a:t>更多支持</a:t>
            </a:r>
            <a:endParaRPr kumimoji="1" lang="en-US" altLang="zh-CN" dirty="0"/>
          </a:p>
          <a:p>
            <a:r>
              <a:rPr kumimoji="1" lang="en-US" altLang="zh-CN" dirty="0"/>
              <a:t>TOCTTOU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Time-of-check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Time-of-use</a:t>
            </a:r>
            <a:r>
              <a:rPr kumimoji="1" lang="zh-CN" altLang="en-US" dirty="0"/>
              <a:t>）问题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当接收者直接用共享内存上的数据时，可能存在被发送者恶意篡改的情况（发生在接收者检查完数据之后，使用数据之前）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这可能导致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等问题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01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消息传递（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677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33501"/>
            <a:ext cx="828092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消息系统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通过中间层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如内核</a:t>
            </a:r>
            <a:r>
              <a:rPr kumimoji="1" lang="en-US" altLang="zh-CN" dirty="0"/>
              <a:t>)</a:t>
            </a:r>
            <a:r>
              <a:rPr kumimoji="1" lang="zh-CN" altLang="en-US" dirty="0"/>
              <a:t>保证通信时延，仍可以利用共享内存传递数据</a:t>
            </a:r>
            <a:endParaRPr kumimoji="1" lang="en-US" altLang="zh-CN" dirty="0"/>
          </a:p>
          <a:p>
            <a:endParaRPr kumimoji="1" lang="en-US" altLang="zh-CN" i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A09A81-5038-6249-80AD-B7120AFE4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80" y="3315699"/>
            <a:ext cx="720321" cy="72032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21809351-4BF7-CD47-B9F3-46682F533BA4}"/>
              </a:ext>
            </a:extLst>
          </p:cNvPr>
          <p:cNvGrpSpPr/>
          <p:nvPr/>
        </p:nvGrpSpPr>
        <p:grpSpPr>
          <a:xfrm>
            <a:off x="6500304" y="3121620"/>
            <a:ext cx="914400" cy="914400"/>
            <a:chOff x="2942911" y="3835579"/>
            <a:chExt cx="914400" cy="914400"/>
          </a:xfrm>
        </p:grpSpPr>
        <p:pic>
          <p:nvPicPr>
            <p:cNvPr id="11" name="图形 10" descr="用户">
              <a:extLst>
                <a:ext uri="{FF2B5EF4-FFF2-40B4-BE49-F238E27FC236}">
                  <a16:creationId xmlns:a16="http://schemas.microsoft.com/office/drawing/2014/main" id="{03F5BE0D-25ED-9E40-A2EF-1443C7D81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31339AC-E712-5243-897B-CC6B0136D9DB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ACC52BD0-A8F1-0D43-A74C-3CD607B16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968" y="2905596"/>
            <a:ext cx="1392064" cy="1392064"/>
          </a:xfrm>
          <a:prstGeom prst="rect">
            <a:avLst/>
          </a:prstGeom>
        </p:spPr>
      </p:pic>
      <p:sp>
        <p:nvSpPr>
          <p:cNvPr id="17" name="右箭头 16">
            <a:extLst>
              <a:ext uri="{FF2B5EF4-FFF2-40B4-BE49-F238E27FC236}">
                <a16:creationId xmlns:a16="http://schemas.microsoft.com/office/drawing/2014/main" id="{79D026BD-6DAD-3F42-86AE-B399EB3C79E6}"/>
              </a:ext>
            </a:extLst>
          </p:cNvPr>
          <p:cNvSpPr/>
          <p:nvPr/>
        </p:nvSpPr>
        <p:spPr>
          <a:xfrm>
            <a:off x="3035784" y="3509600"/>
            <a:ext cx="936104" cy="196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326FDE88-CF27-1749-96FE-0111EBC744D6}"/>
              </a:ext>
            </a:extLst>
          </p:cNvPr>
          <p:cNvSpPr/>
          <p:nvPr/>
        </p:nvSpPr>
        <p:spPr>
          <a:xfrm>
            <a:off x="5351984" y="3507570"/>
            <a:ext cx="936104" cy="196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226C1B-39F7-C048-B85D-40A3061B5AC9}"/>
              </a:ext>
            </a:extLst>
          </p:cNvPr>
          <p:cNvSpPr txBox="1"/>
          <p:nvPr/>
        </p:nvSpPr>
        <p:spPr>
          <a:xfrm>
            <a:off x="3132711" y="32094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AE4663-633C-CA42-96FB-FC1F4E9C1012}"/>
              </a:ext>
            </a:extLst>
          </p:cNvPr>
          <p:cNvSpPr txBox="1"/>
          <p:nvPr/>
        </p:nvSpPr>
        <p:spPr>
          <a:xfrm>
            <a:off x="5453939" y="32006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B92A3A81-A7C6-B84B-8791-848FFDC1E07F}"/>
              </a:ext>
            </a:extLst>
          </p:cNvPr>
          <p:cNvSpPr txBox="1">
            <a:spLocks/>
          </p:cNvSpPr>
          <p:nvPr/>
        </p:nvSpPr>
        <p:spPr>
          <a:xfrm>
            <a:off x="4572000" y="4236655"/>
            <a:ext cx="4300738" cy="10258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/>
              <a:t>好处</a:t>
            </a:r>
            <a:r>
              <a:rPr kumimoji="1" lang="en-US" altLang="zh-CN" dirty="0"/>
              <a:t>:</a:t>
            </a:r>
            <a:r>
              <a:rPr kumimoji="1" lang="zh-CN" altLang="en-US" dirty="0"/>
              <a:t>   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）低时延 </a:t>
            </a:r>
            <a:r>
              <a:rPr kumimoji="1" lang="en-US" altLang="zh-CN" dirty="0"/>
              <a:t>(</a:t>
            </a:r>
            <a:r>
              <a:rPr kumimoji="1" lang="zh-CN" altLang="en-US" dirty="0"/>
              <a:t>消息立即转发）</a:t>
            </a:r>
            <a:endParaRPr kumimoji="1" lang="en-US" altLang="zh-CN" dirty="0"/>
          </a:p>
          <a:p>
            <a:pPr marL="0" indent="0">
              <a:buFont typeface="Arial" pitchFamily="34" charset="0"/>
              <a:buNone/>
            </a:pPr>
            <a:r>
              <a:rPr kumimoji="1" lang="zh-CN" altLang="en-US" dirty="0"/>
              <a:t>            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）不浪费计算资源</a:t>
            </a:r>
          </a:p>
        </p:txBody>
      </p:sp>
    </p:spTree>
    <p:extLst>
      <p:ext uri="{BB962C8B-B14F-4D97-AF65-F5344CB8AC3E}">
        <p14:creationId xmlns:p14="http://schemas.microsoft.com/office/powerpoint/2010/main" val="833757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基本操作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发送消息</a:t>
            </a:r>
            <a:r>
              <a:rPr kumimoji="1" lang="en-US" altLang="zh-CN" i="1" dirty="0"/>
              <a:t>Send(message)</a:t>
            </a:r>
          </a:p>
          <a:p>
            <a:pPr lvl="1"/>
            <a:r>
              <a:rPr kumimoji="1" lang="zh-CN" altLang="en-US" dirty="0"/>
              <a:t>接收消息</a:t>
            </a:r>
            <a:r>
              <a:rPr kumimoji="1" lang="en-US" altLang="zh-CN" i="1" dirty="0" err="1"/>
              <a:t>Recv</a:t>
            </a:r>
            <a:r>
              <a:rPr kumimoji="1" lang="en-US" altLang="zh-CN" i="1" dirty="0"/>
              <a:t>(message)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如果两个进程</a:t>
            </a:r>
            <a:r>
              <a:rPr kumimoji="1" lang="en-US" altLang="zh-CN" i="1" dirty="0"/>
              <a:t>P</a:t>
            </a:r>
            <a:r>
              <a:rPr kumimoji="1" lang="zh-CN" altLang="en-US" dirty="0"/>
              <a:t>和</a:t>
            </a:r>
            <a:r>
              <a:rPr kumimoji="1" lang="en-US" altLang="zh-CN" i="1" dirty="0"/>
              <a:t>Q</a:t>
            </a:r>
            <a:r>
              <a:rPr kumimoji="1" lang="zh-CN" altLang="en-US" dirty="0"/>
              <a:t>希望通过消息传递进行通信，需要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建立一个通信连接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Send/</a:t>
            </a:r>
            <a:r>
              <a:rPr kumimoji="1" lang="en-US" altLang="zh-CN" dirty="0" err="1"/>
              <a:t>Recv</a:t>
            </a:r>
            <a:r>
              <a:rPr kumimoji="1" lang="zh-CN" altLang="en-US" dirty="0"/>
              <a:t>接口进行消息传递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092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直接通信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直接通信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进程拥有一个唯一标识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Send(</a:t>
            </a:r>
            <a:r>
              <a:rPr kumimoji="1" lang="en-US" altLang="zh-CN" b="1" dirty="0"/>
              <a:t>P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message):</a:t>
            </a:r>
            <a:r>
              <a:rPr kumimoji="1" lang="zh-CN" altLang="en-US" dirty="0"/>
              <a:t> 给</a:t>
            </a:r>
            <a:r>
              <a:rPr kumimoji="1" lang="en-US" altLang="zh-CN" dirty="0"/>
              <a:t>P</a:t>
            </a:r>
            <a:r>
              <a:rPr kumimoji="1" lang="zh-CN" altLang="en-US" dirty="0"/>
              <a:t>进程发送一个消息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Recv</a:t>
            </a:r>
            <a:r>
              <a:rPr kumimoji="1" lang="en-US" altLang="zh-CN" dirty="0"/>
              <a:t>(</a:t>
            </a:r>
            <a:r>
              <a:rPr kumimoji="1" lang="en-US" altLang="zh-CN" b="1" dirty="0"/>
              <a:t>Q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message):</a:t>
            </a:r>
            <a:r>
              <a:rPr kumimoji="1" lang="zh-CN" altLang="en-US" dirty="0"/>
              <a:t> 从</a:t>
            </a:r>
            <a:r>
              <a:rPr kumimoji="1" lang="en-US" altLang="zh-CN" dirty="0"/>
              <a:t>Q</a:t>
            </a:r>
            <a:r>
              <a:rPr kumimoji="1" lang="zh-CN" altLang="en-US" dirty="0"/>
              <a:t>进程接收一个消息</a:t>
            </a:r>
            <a:endParaRPr kumimoji="1" lang="en-US" altLang="zh-CN" dirty="0"/>
          </a:p>
          <a:p>
            <a:r>
              <a:rPr kumimoji="1" lang="zh-CN" altLang="en-US" dirty="0"/>
              <a:t>直接通信下的连接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连接的建立是自动的 </a:t>
            </a:r>
            <a:r>
              <a:rPr kumimoji="1" lang="en-US" altLang="zh-CN" dirty="0"/>
              <a:t>(</a:t>
            </a:r>
            <a:r>
              <a:rPr kumimoji="1" lang="zh-CN" altLang="en-US" dirty="0"/>
              <a:t>通过标识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一个连接唯一地对应一对进程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一对进程之间也只会存在一个连接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连接可以是单向的，但是在大部分情况下是双向的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2889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直接通信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00383"/>
            <a:ext cx="4608512" cy="3771636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发送者</a:t>
            </a:r>
            <a:endParaRPr kumimoji="1" lang="en-US" altLang="zh-CN" dirty="0"/>
          </a:p>
          <a:p>
            <a:pPr lvl="1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/* Produce an item */</a:t>
            </a:r>
          </a:p>
          <a:p>
            <a:pPr lvl="1">
              <a:buNone/>
            </a:pPr>
            <a:r>
              <a:rPr kumimoji="1" lang="en-US" altLang="zh-CN" dirty="0"/>
              <a:t>    while ((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 + 1) % BUFFER_SIZE)   </a:t>
            </a:r>
          </a:p>
          <a:p>
            <a:pPr lvl="1">
              <a:buNone/>
            </a:pPr>
            <a:r>
              <a:rPr kumimoji="1" lang="en-US" altLang="zh-CN" dirty="0"/>
              <a:t>                == out)</a:t>
            </a:r>
          </a:p>
          <a:p>
            <a:pPr lvl="1">
              <a:buNone/>
            </a:pPr>
            <a:r>
              <a:rPr kumimoji="1" lang="en-US" altLang="zh-CN" dirty="0"/>
              <a:t>	        ;   /* nothing,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no free buffers */</a:t>
            </a:r>
          </a:p>
          <a:p>
            <a:pPr lvl="1">
              <a:buNone/>
            </a:pPr>
            <a:r>
              <a:rPr kumimoji="1" lang="en-US" altLang="zh-CN" dirty="0"/>
              <a:t>	  buffer[in] = item;</a:t>
            </a:r>
          </a:p>
          <a:p>
            <a:pPr lvl="1">
              <a:buNone/>
            </a:pPr>
            <a:r>
              <a:rPr kumimoji="1" lang="en-US" altLang="zh-CN" dirty="0"/>
              <a:t>	  in = (in + 1) % BUFFER_SIZE;</a:t>
            </a:r>
          </a:p>
          <a:p>
            <a:pPr lvl="1">
              <a:buNone/>
            </a:pPr>
            <a:r>
              <a:rPr kumimoji="1" lang="en-US" altLang="zh-CN" dirty="0"/>
              <a:t>		</a:t>
            </a:r>
            <a:r>
              <a:rPr kumimoji="1" lang="en-US" altLang="zh-CN" b="1" dirty="0">
                <a:solidFill>
                  <a:schemeClr val="accent1"/>
                </a:solidFill>
              </a:rPr>
              <a:t>Send(</a:t>
            </a:r>
            <a:r>
              <a:rPr kumimoji="1" lang="en-US" altLang="zh-CN" b="1" dirty="0" err="1">
                <a:solidFill>
                  <a:schemeClr val="accent1"/>
                </a:solidFill>
              </a:rPr>
              <a:t>XiaoMing</a:t>
            </a:r>
            <a:r>
              <a:rPr kumimoji="1" lang="en-US" altLang="zh-CN" b="1" dirty="0">
                <a:solidFill>
                  <a:schemeClr val="accent1"/>
                </a:solidFill>
              </a:rPr>
              <a:t>,</a:t>
            </a:r>
            <a:r>
              <a:rPr kumimoji="1" lang="zh-CN" altLang="en-US" b="1" dirty="0">
                <a:solidFill>
                  <a:schemeClr val="accent1"/>
                </a:solidFill>
              </a:rPr>
              <a:t> </a:t>
            </a:r>
            <a:r>
              <a:rPr kumimoji="1" lang="en-US" altLang="zh-CN" b="1" dirty="0">
                <a:solidFill>
                  <a:schemeClr val="accent1"/>
                </a:solidFill>
              </a:rPr>
              <a:t>“Package”);</a:t>
            </a:r>
          </a:p>
          <a:p>
            <a:pPr lvl="1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569C42-6958-0644-B8B3-BF83A86DC708}"/>
              </a:ext>
            </a:extLst>
          </p:cNvPr>
          <p:cNvSpPr txBox="1">
            <a:spLocks/>
          </p:cNvSpPr>
          <p:nvPr/>
        </p:nvSpPr>
        <p:spPr>
          <a:xfrm>
            <a:off x="4355976" y="1333501"/>
            <a:ext cx="453650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接收者</a:t>
            </a:r>
            <a:endParaRPr kumimoji="1" lang="en-US" altLang="zh-CN" sz="2000" dirty="0"/>
          </a:p>
          <a:p>
            <a:pPr lvl="1">
              <a:buNone/>
            </a:pPr>
            <a:r>
              <a:rPr kumimoji="1" lang="en-US" altLang="zh-CN" sz="1800" dirty="0"/>
              <a:t>while (</a:t>
            </a:r>
            <a:r>
              <a:rPr kumimoji="1" lang="en-US" altLang="zh-CN" sz="1800" dirty="0" err="1"/>
              <a:t>wait_package</a:t>
            </a:r>
            <a:r>
              <a:rPr kumimoji="1" lang="en-US" altLang="zh-CN" sz="1800" dirty="0"/>
              <a:t>) {</a:t>
            </a:r>
          </a:p>
          <a:p>
            <a:pPr lvl="1">
              <a:buNone/>
            </a:pPr>
            <a:r>
              <a:rPr kumimoji="1" lang="zh-CN" altLang="en-US" sz="1800" dirty="0"/>
              <a:t>         </a:t>
            </a:r>
            <a:r>
              <a:rPr kumimoji="1" lang="en-US" altLang="zh-CN" sz="1800" b="1" dirty="0" err="1">
                <a:solidFill>
                  <a:schemeClr val="accent1"/>
                </a:solidFill>
              </a:rPr>
              <a:t>Recv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(Expressman,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Msg);</a:t>
            </a:r>
          </a:p>
          <a:p>
            <a:pPr lvl="1">
              <a:buNone/>
            </a:pPr>
            <a:r>
              <a:rPr kumimoji="1" lang="en-US" altLang="zh-CN" sz="1800" dirty="0"/>
              <a:t>	     item = buffer[out];</a:t>
            </a:r>
          </a:p>
          <a:p>
            <a:pPr lvl="1">
              <a:buNone/>
            </a:pPr>
            <a:r>
              <a:rPr kumimoji="1" lang="en-US" altLang="zh-CN" sz="1800" dirty="0"/>
              <a:t>	     out = (out + 1) % BUFFER SIZE;</a:t>
            </a:r>
          </a:p>
          <a:p>
            <a:pPr lvl="1">
              <a:buNone/>
            </a:pPr>
            <a:r>
              <a:rPr kumimoji="1" lang="en-US" altLang="zh-CN" sz="1800" dirty="0"/>
              <a:t>	     return item;</a:t>
            </a:r>
          </a:p>
          <a:p>
            <a:pPr lvl="1">
              <a:buNone/>
            </a:pPr>
            <a:r>
              <a:rPr kumimoji="1" lang="en-US" altLang="zh-CN" sz="1800" dirty="0"/>
              <a:t>     }</a:t>
            </a:r>
          </a:p>
          <a:p>
            <a:pPr lvl="3">
              <a:buFont typeface="Arial" pitchFamily="34" charset="0"/>
              <a:buNone/>
            </a:pPr>
            <a:endParaRPr kumimoji="1" lang="en-US" altLang="zh-CN" sz="16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E933CF6-D861-894D-A4B5-51DEF14BA765}"/>
              </a:ext>
            </a:extLst>
          </p:cNvPr>
          <p:cNvCxnSpPr>
            <a:cxnSpLocks/>
          </p:cNvCxnSpPr>
          <p:nvPr/>
        </p:nvCxnSpPr>
        <p:spPr>
          <a:xfrm flipV="1">
            <a:off x="4139952" y="2497460"/>
            <a:ext cx="1296144" cy="15121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00D962D7-D2B7-2045-AD20-0DC97559586D}"/>
              </a:ext>
            </a:extLst>
          </p:cNvPr>
          <p:cNvSpPr txBox="1">
            <a:spLocks/>
          </p:cNvSpPr>
          <p:nvPr/>
        </p:nvSpPr>
        <p:spPr>
          <a:xfrm>
            <a:off x="864346" y="4678148"/>
            <a:ext cx="7415308" cy="532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zh-CN" sz="2000" dirty="0" err="1"/>
              <a:t>Recv</a:t>
            </a:r>
            <a:r>
              <a:rPr kumimoji="1" lang="zh-CN" altLang="en-US" sz="2000" dirty="0"/>
              <a:t>会阻塞，直到</a:t>
            </a:r>
            <a:r>
              <a:rPr kumimoji="1" lang="en-US" altLang="zh-CN" sz="2000" dirty="0"/>
              <a:t>Send</a:t>
            </a:r>
            <a:r>
              <a:rPr kumimoji="1" lang="zh-CN" altLang="en-US" sz="2000" dirty="0"/>
              <a:t>发送消息过来</a:t>
            </a:r>
          </a:p>
        </p:txBody>
      </p:sp>
    </p:spTree>
    <p:extLst>
      <p:ext uri="{BB962C8B-B14F-4D97-AF65-F5344CB8AC3E}">
        <p14:creationId xmlns:p14="http://schemas.microsoft.com/office/powerpoint/2010/main" val="2730687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快递员有好多苦恼 </a:t>
            </a:r>
            <a:r>
              <a:rPr kumimoji="1" lang="en-US" altLang="zh-CN" dirty="0"/>
              <a:t>(1)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33023"/>
            <a:ext cx="8229600" cy="1272114"/>
          </a:xfrm>
        </p:spPr>
        <p:txBody>
          <a:bodyPr>
            <a:normAutofit fontScale="70000" lnSpcReduction="20000"/>
          </a:bodyPr>
          <a:lstStyle/>
          <a:p>
            <a:r>
              <a:rPr kumimoji="1" lang="zh-CN" altLang="en-US" dirty="0"/>
              <a:t>快递员执行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的时候，小明还没有</a:t>
            </a:r>
            <a:r>
              <a:rPr kumimoji="1" lang="en-US" altLang="zh-CN" dirty="0" err="1"/>
              <a:t>Recv</a:t>
            </a:r>
            <a:endParaRPr kumimoji="1" lang="en-US" altLang="zh-CN" dirty="0"/>
          </a:p>
          <a:p>
            <a:r>
              <a:rPr kumimoji="1" lang="zh-CN" altLang="en-US" dirty="0"/>
              <a:t>快递员知道小明妈妈经常在家，希望建立一个聊天群，在群里发布快递信息</a:t>
            </a:r>
            <a:endParaRPr kumimoji="1" lang="en-US" altLang="zh-CN" dirty="0"/>
          </a:p>
          <a:p>
            <a:r>
              <a:rPr kumimoji="1" lang="zh-CN" altLang="en-US" dirty="0"/>
              <a:t>小明不接听时可以拜托妈妈下来拿快递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8B124B-E63A-964B-817F-C2EB2E5D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656" y="2527491"/>
            <a:ext cx="720321" cy="7203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1D788F-75B1-4241-878D-341956EC8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4811">
            <a:off x="2698246" y="2218528"/>
            <a:ext cx="779016" cy="77901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033F98C7-EA7B-8D41-BA40-16C5CF007580}"/>
              </a:ext>
            </a:extLst>
          </p:cNvPr>
          <p:cNvSpPr/>
          <p:nvPr/>
        </p:nvSpPr>
        <p:spPr>
          <a:xfrm>
            <a:off x="3363197" y="1399591"/>
            <a:ext cx="4900353" cy="216314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F5D68DA-F87B-8E4E-B306-3FC5D666EBD2}"/>
              </a:ext>
            </a:extLst>
          </p:cNvPr>
          <p:cNvSpPr txBox="1">
            <a:spLocks/>
          </p:cNvSpPr>
          <p:nvPr/>
        </p:nvSpPr>
        <p:spPr>
          <a:xfrm>
            <a:off x="3658406" y="2141299"/>
            <a:ext cx="4221832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/>
              <a:t>小明经常不接听电话，怎么办？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8033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间接通信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用聊天群发布快递信息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消息的发送和接收需要经过一个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信箱</a:t>
            </a:r>
            <a:r>
              <a:rPr kumimoji="1" lang="en-US" altLang="zh-CN" dirty="0"/>
              <a:t>”</a:t>
            </a:r>
          </a:p>
          <a:p>
            <a:pPr lvl="1"/>
            <a:r>
              <a:rPr kumimoji="1" lang="zh-CN" altLang="en-US" dirty="0"/>
              <a:t>聊天群 </a:t>
            </a:r>
            <a:r>
              <a:rPr kumimoji="1" lang="en-US" altLang="zh-CN" dirty="0"/>
              <a:t>(</a:t>
            </a:r>
            <a:r>
              <a:rPr kumimoji="1" lang="zh-CN" altLang="en-US" dirty="0"/>
              <a:t>所有在群内的人都可以接收消息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每个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信箱</a:t>
            </a:r>
            <a:r>
              <a:rPr kumimoji="1" lang="en-US" altLang="zh-CN" dirty="0"/>
              <a:t>”</a:t>
            </a:r>
            <a:r>
              <a:rPr kumimoji="1" lang="zh-CN" altLang="en-US" dirty="0"/>
              <a:t>有自己唯一的标识符 </a:t>
            </a:r>
            <a:r>
              <a:rPr kumimoji="1" lang="en-US" altLang="zh-CN" dirty="0"/>
              <a:t>(</a:t>
            </a:r>
            <a:r>
              <a:rPr kumimoji="1" lang="zh-CN" altLang="en-US" dirty="0"/>
              <a:t>这里的群号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发送者往 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信箱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发送消息，接收者从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信箱</a:t>
            </a:r>
            <a:r>
              <a:rPr kumimoji="1" lang="en-US" altLang="zh-CN" dirty="0"/>
              <a:t>”</a:t>
            </a:r>
            <a:r>
              <a:rPr kumimoji="1" lang="zh-CN" altLang="en-US" dirty="0"/>
              <a:t>读取消息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5DAC46-942B-F94E-8714-9ED7C6D05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80" y="3651071"/>
            <a:ext cx="720321" cy="720321"/>
          </a:xfrm>
          <a:prstGeom prst="rect">
            <a:avLst/>
          </a:prstGeom>
        </p:spPr>
      </p:pic>
      <p:pic>
        <p:nvPicPr>
          <p:cNvPr id="8" name="图形 7" descr="用户">
            <a:extLst>
              <a:ext uri="{FF2B5EF4-FFF2-40B4-BE49-F238E27FC236}">
                <a16:creationId xmlns:a16="http://schemas.microsoft.com/office/drawing/2014/main" id="{89E29E1D-26BA-B74D-A30D-EDDA0017B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4575" y="3286325"/>
            <a:ext cx="733745" cy="733745"/>
          </a:xfrm>
          <a:prstGeom prst="rect">
            <a:avLst/>
          </a:prstGeom>
        </p:spPr>
      </p:pic>
      <p:sp>
        <p:nvSpPr>
          <p:cNvPr id="11" name="右箭头 10">
            <a:extLst>
              <a:ext uri="{FF2B5EF4-FFF2-40B4-BE49-F238E27FC236}">
                <a16:creationId xmlns:a16="http://schemas.microsoft.com/office/drawing/2014/main" id="{9340C5BD-20F3-8A4D-B782-B8370910D024}"/>
              </a:ext>
            </a:extLst>
          </p:cNvPr>
          <p:cNvSpPr/>
          <p:nvPr/>
        </p:nvSpPr>
        <p:spPr>
          <a:xfrm>
            <a:off x="3035784" y="3844972"/>
            <a:ext cx="936104" cy="196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9B424148-A5C9-CC4B-BA54-97E1E5064E80}"/>
              </a:ext>
            </a:extLst>
          </p:cNvPr>
          <p:cNvSpPr/>
          <p:nvPr/>
        </p:nvSpPr>
        <p:spPr>
          <a:xfrm rot="21194354">
            <a:off x="5351984" y="3842942"/>
            <a:ext cx="1201216" cy="196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2AFB27-71C0-F647-B6BB-FCEB7A05B2EA}"/>
              </a:ext>
            </a:extLst>
          </p:cNvPr>
          <p:cNvSpPr txBox="1"/>
          <p:nvPr/>
        </p:nvSpPr>
        <p:spPr>
          <a:xfrm>
            <a:off x="3132711" y="35448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8E92D7-334C-1440-B07E-B3D1A77BE7AE}"/>
              </a:ext>
            </a:extLst>
          </p:cNvPr>
          <p:cNvSpPr txBox="1"/>
          <p:nvPr/>
        </p:nvSpPr>
        <p:spPr>
          <a:xfrm rot="21120285">
            <a:off x="5558976" y="34861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B9E09C-DC3C-114D-91A6-AFDF38CAAF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096" y="3314944"/>
            <a:ext cx="1270000" cy="127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DEF5106-E0FA-7C45-92B9-82F0988BF4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887" y="4226366"/>
            <a:ext cx="371321" cy="37132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491616F-3256-654E-94AB-757EA12D96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262" y="4606341"/>
            <a:ext cx="733745" cy="733745"/>
          </a:xfrm>
          <a:prstGeom prst="rect">
            <a:avLst/>
          </a:prstGeom>
        </p:spPr>
      </p:pic>
      <p:sp>
        <p:nvSpPr>
          <p:cNvPr id="23" name="右箭头 22">
            <a:extLst>
              <a:ext uri="{FF2B5EF4-FFF2-40B4-BE49-F238E27FC236}">
                <a16:creationId xmlns:a16="http://schemas.microsoft.com/office/drawing/2014/main" id="{DCA4BBB9-60CE-1C4B-BCC0-CCE2985FAAE0}"/>
              </a:ext>
            </a:extLst>
          </p:cNvPr>
          <p:cNvSpPr/>
          <p:nvPr/>
        </p:nvSpPr>
        <p:spPr>
          <a:xfrm rot="1464183">
            <a:off x="5250902" y="4599418"/>
            <a:ext cx="1355783" cy="196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324B43-7A08-434A-B9BF-D6E65D796C43}"/>
              </a:ext>
            </a:extLst>
          </p:cNvPr>
          <p:cNvSpPr txBox="1"/>
          <p:nvPr/>
        </p:nvSpPr>
        <p:spPr>
          <a:xfrm rot="1501957">
            <a:off x="5688078" y="429322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</a:t>
            </a:r>
          </a:p>
        </p:txBody>
      </p:sp>
    </p:spTree>
    <p:extLst>
      <p:ext uri="{BB962C8B-B14F-4D97-AF65-F5344CB8AC3E}">
        <p14:creationId xmlns:p14="http://schemas.microsoft.com/office/powerpoint/2010/main" val="1353781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间接通信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316"/>
            <a:ext cx="8229600" cy="3903821"/>
          </a:xfrm>
        </p:spPr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间接通信下的连接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进程间连接的建立发生在共享一个信箱时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每对进程可以有多个连接 </a:t>
            </a:r>
            <a:r>
              <a:rPr kumimoji="1" lang="en-US" altLang="zh-CN" dirty="0"/>
              <a:t>(</a:t>
            </a:r>
            <a:r>
              <a:rPr kumimoji="1" lang="zh-CN" altLang="en-US" dirty="0"/>
              <a:t>共享多个信箱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连接同样可以是单向或双向的</a:t>
            </a:r>
            <a:endParaRPr kumimoji="1" lang="en-US" altLang="zh-CN" dirty="0"/>
          </a:p>
          <a:p>
            <a:r>
              <a:rPr kumimoji="1" lang="zh-CN" altLang="en-US" dirty="0"/>
              <a:t>间接进程间通信的操作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创建一个新的信箱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通过信箱发送和接收消息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销毁一个信箱</a:t>
            </a:r>
            <a:endParaRPr kumimoji="1" lang="en-US" altLang="zh-CN" dirty="0"/>
          </a:p>
          <a:p>
            <a:r>
              <a:rPr kumimoji="1" lang="zh-CN" altLang="en-US" dirty="0"/>
              <a:t>原语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Send(</a:t>
            </a:r>
            <a:r>
              <a:rPr kumimoji="1" lang="en-US" altLang="zh-CN" b="1" dirty="0"/>
              <a:t>M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message):</a:t>
            </a:r>
            <a:r>
              <a:rPr kumimoji="1" lang="zh-CN" altLang="en-US" dirty="0"/>
              <a:t> 给信箱</a:t>
            </a:r>
            <a:r>
              <a:rPr kumimoji="1" lang="en-US" altLang="zh-CN" dirty="0"/>
              <a:t>M</a:t>
            </a:r>
            <a:r>
              <a:rPr kumimoji="1" lang="zh-CN" altLang="en-US" dirty="0"/>
              <a:t>发送一个消息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Recv</a:t>
            </a:r>
            <a:r>
              <a:rPr kumimoji="1" lang="en-US" altLang="zh-CN" dirty="0"/>
              <a:t>(</a:t>
            </a:r>
            <a:r>
              <a:rPr kumimoji="1" lang="en-US" altLang="zh-CN" b="1" dirty="0"/>
              <a:t>M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message):</a:t>
            </a:r>
            <a:r>
              <a:rPr kumimoji="1" lang="zh-CN" altLang="en-US" dirty="0"/>
              <a:t> 从信箱</a:t>
            </a:r>
            <a:r>
              <a:rPr kumimoji="1" lang="en-US" altLang="zh-CN" dirty="0"/>
              <a:t>M</a:t>
            </a:r>
            <a:r>
              <a:rPr kumimoji="1" lang="zh-CN" altLang="en-US" dirty="0"/>
              <a:t>接收一个消息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995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间接通信：用聊天群发布快递信息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0383"/>
            <a:ext cx="4330824" cy="3771636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发送者</a:t>
            </a:r>
            <a:r>
              <a:rPr kumimoji="1" lang="en-US" altLang="zh-CN" dirty="0"/>
              <a:t>(</a:t>
            </a:r>
            <a:r>
              <a:rPr kumimoji="1" lang="zh-CN" altLang="en-US" dirty="0"/>
              <a:t>快递员</a:t>
            </a:r>
            <a:r>
              <a:rPr kumimoji="1" lang="en-US" altLang="zh-CN" dirty="0"/>
              <a:t>)</a:t>
            </a:r>
          </a:p>
          <a:p>
            <a:pPr lvl="1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/* Produce an item */</a:t>
            </a:r>
          </a:p>
          <a:p>
            <a:pPr lvl="1">
              <a:buNone/>
            </a:pPr>
            <a:r>
              <a:rPr kumimoji="1" lang="en-US" altLang="zh-CN" dirty="0"/>
              <a:t>    while ((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 + 1) % BUFFER_SIZE)   </a:t>
            </a:r>
          </a:p>
          <a:p>
            <a:pPr lvl="1">
              <a:buNone/>
            </a:pPr>
            <a:r>
              <a:rPr kumimoji="1" lang="en-US" altLang="zh-CN" dirty="0"/>
              <a:t>                == out)</a:t>
            </a:r>
          </a:p>
          <a:p>
            <a:pPr lvl="1">
              <a:buNone/>
            </a:pPr>
            <a:r>
              <a:rPr kumimoji="1" lang="en-US" altLang="zh-CN" dirty="0"/>
              <a:t>	        ;   /* nothing,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no free buffers */</a:t>
            </a:r>
          </a:p>
          <a:p>
            <a:pPr lvl="1">
              <a:buNone/>
            </a:pPr>
            <a:r>
              <a:rPr kumimoji="1" lang="en-US" altLang="zh-CN" dirty="0"/>
              <a:t>	  buffer[in] = item;</a:t>
            </a:r>
          </a:p>
          <a:p>
            <a:pPr lvl="1">
              <a:buNone/>
            </a:pPr>
            <a:r>
              <a:rPr kumimoji="1" lang="en-US" altLang="zh-CN" dirty="0"/>
              <a:t>	  in = (in + 1) % BUFFER_SIZE;</a:t>
            </a:r>
          </a:p>
          <a:p>
            <a:pPr lvl="1">
              <a:buNone/>
            </a:pPr>
            <a:r>
              <a:rPr kumimoji="1" lang="en-US" altLang="zh-CN" dirty="0"/>
              <a:t>		</a:t>
            </a:r>
            <a:r>
              <a:rPr kumimoji="1" lang="en-US" altLang="zh-CN" b="1" dirty="0">
                <a:solidFill>
                  <a:schemeClr val="accent1"/>
                </a:solidFill>
              </a:rPr>
              <a:t>Send(Mailbox,</a:t>
            </a:r>
            <a:r>
              <a:rPr kumimoji="1" lang="zh-CN" altLang="en-US" b="1" dirty="0">
                <a:solidFill>
                  <a:schemeClr val="accent1"/>
                </a:solidFill>
              </a:rPr>
              <a:t> </a:t>
            </a:r>
            <a:r>
              <a:rPr kumimoji="1" lang="en-US" altLang="zh-CN" b="1" dirty="0">
                <a:solidFill>
                  <a:schemeClr val="accent1"/>
                </a:solidFill>
              </a:rPr>
              <a:t>“Package”);</a:t>
            </a:r>
          </a:p>
          <a:p>
            <a:pPr lvl="1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569C42-6958-0644-B8B3-BF83A86DC708}"/>
              </a:ext>
            </a:extLst>
          </p:cNvPr>
          <p:cNvSpPr txBox="1">
            <a:spLocks/>
          </p:cNvSpPr>
          <p:nvPr/>
        </p:nvSpPr>
        <p:spPr>
          <a:xfrm>
            <a:off x="5076056" y="1333501"/>
            <a:ext cx="3610744" cy="2944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接收者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小明</a:t>
            </a:r>
            <a:r>
              <a:rPr kumimoji="1" lang="en-US" altLang="zh-CN" sz="2000" dirty="0"/>
              <a:t>)</a:t>
            </a:r>
          </a:p>
          <a:p>
            <a:pPr lvl="1">
              <a:buNone/>
            </a:pPr>
            <a:r>
              <a:rPr kumimoji="1" lang="en-US" altLang="zh-CN" sz="1800" b="1" dirty="0" err="1">
                <a:solidFill>
                  <a:schemeClr val="accent1"/>
                </a:solidFill>
              </a:rPr>
              <a:t>Recv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(Mailbox,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Msg);</a:t>
            </a: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sz="1600" dirty="0"/>
          </a:p>
          <a:p>
            <a:r>
              <a:rPr kumimoji="1" lang="zh-CN" altLang="en-US" sz="2000" dirty="0"/>
              <a:t>接收者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小明妈妈</a:t>
            </a:r>
            <a:r>
              <a:rPr kumimoji="1" lang="en-US" altLang="zh-CN" sz="2000" dirty="0"/>
              <a:t>)</a:t>
            </a:r>
          </a:p>
          <a:p>
            <a:pPr lvl="1">
              <a:buNone/>
            </a:pPr>
            <a:r>
              <a:rPr kumimoji="1" lang="en-US" altLang="zh-CN" sz="1800" b="1" dirty="0" err="1">
                <a:solidFill>
                  <a:schemeClr val="accent1"/>
                </a:solidFill>
              </a:rPr>
              <a:t>Recv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(Mailbox,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Msg);</a:t>
            </a: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sz="16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E933CF6-D861-894D-A4B5-51DEF14BA765}"/>
              </a:ext>
            </a:extLst>
          </p:cNvPr>
          <p:cNvCxnSpPr>
            <a:cxnSpLocks/>
          </p:cNvCxnSpPr>
          <p:nvPr/>
        </p:nvCxnSpPr>
        <p:spPr>
          <a:xfrm flipV="1">
            <a:off x="4355976" y="1993404"/>
            <a:ext cx="1152128" cy="19532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00D962D7-D2B7-2045-AD20-0DC97559586D}"/>
              </a:ext>
            </a:extLst>
          </p:cNvPr>
          <p:cNvSpPr txBox="1">
            <a:spLocks/>
          </p:cNvSpPr>
          <p:nvPr/>
        </p:nvSpPr>
        <p:spPr>
          <a:xfrm>
            <a:off x="864346" y="4711651"/>
            <a:ext cx="7415308" cy="5328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/>
              <a:t>小明或者妈妈任何一个人只要上聊天群，就能看到快递信息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77F33B87-B8D1-784A-A3C0-E270FDADCCE7}"/>
              </a:ext>
            </a:extLst>
          </p:cNvPr>
          <p:cNvCxnSpPr>
            <a:cxnSpLocks/>
          </p:cNvCxnSpPr>
          <p:nvPr/>
        </p:nvCxnSpPr>
        <p:spPr>
          <a:xfrm flipV="1">
            <a:off x="4355976" y="3217540"/>
            <a:ext cx="1224136" cy="7291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531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快递员有好多苦恼 </a:t>
            </a:r>
            <a:r>
              <a:rPr kumimoji="1"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86763"/>
            <a:ext cx="8229600" cy="101837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怎么解决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信箱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共享带来的多接收者的问题呢？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8B124B-E63A-964B-817F-C2EB2E5D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656" y="2527491"/>
            <a:ext cx="720321" cy="7203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1D788F-75B1-4241-878D-341956EC8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4811">
            <a:off x="2698246" y="2218528"/>
            <a:ext cx="779016" cy="77901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033F98C7-EA7B-8D41-BA40-16C5CF007580}"/>
              </a:ext>
            </a:extLst>
          </p:cNvPr>
          <p:cNvSpPr/>
          <p:nvPr/>
        </p:nvSpPr>
        <p:spPr>
          <a:xfrm>
            <a:off x="3363197" y="1399591"/>
            <a:ext cx="5457275" cy="2322005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F5D68DA-F87B-8E4E-B306-3FC5D666EBD2}"/>
              </a:ext>
            </a:extLst>
          </p:cNvPr>
          <p:cNvSpPr txBox="1">
            <a:spLocks/>
          </p:cNvSpPr>
          <p:nvPr/>
        </p:nvSpPr>
        <p:spPr>
          <a:xfrm>
            <a:off x="3851920" y="1905101"/>
            <a:ext cx="4221832" cy="1152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b="0" dirty="0"/>
              <a:t>快递信息发布到群里，经常是小明和妈妈一起下来了。我都被投诉好几次了，这可怎么办好？</a:t>
            </a:r>
            <a:endParaRPr kumimoji="1"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722132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信箱共享的挑战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信箱的共享问题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2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3</a:t>
            </a:r>
            <a:r>
              <a:rPr kumimoji="1" lang="zh-CN" altLang="en-US" dirty="0"/>
              <a:t>共享一个信箱</a:t>
            </a:r>
            <a:r>
              <a:rPr kumimoji="1" lang="en-US" altLang="zh-CN" dirty="0"/>
              <a:t>M</a:t>
            </a:r>
            <a:r>
              <a:rPr kumimoji="1" lang="zh-CN" altLang="en-US" dirty="0"/>
              <a:t>；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负责发送，</a:t>
            </a:r>
            <a:r>
              <a:rPr kumimoji="1" lang="en-US" altLang="zh-CN" dirty="0"/>
              <a:t> P</a:t>
            </a:r>
            <a:r>
              <a:rPr kumimoji="1" lang="en-US" altLang="zh-CN" baseline="-25000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3</a:t>
            </a:r>
            <a:r>
              <a:rPr kumimoji="1" lang="zh-CN" altLang="en-US" dirty="0"/>
              <a:t>负责接收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当一个消息发出的时候，谁会接收到最新的消息呢？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可能的解决方案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让一个连接</a:t>
            </a:r>
            <a:r>
              <a:rPr kumimoji="1" lang="en-US" altLang="zh-CN" dirty="0"/>
              <a:t>(</a:t>
            </a:r>
            <a:r>
              <a:rPr kumimoji="1" lang="zh-CN" altLang="en-US" dirty="0"/>
              <a:t>信箱</a:t>
            </a:r>
            <a:r>
              <a:rPr kumimoji="1" lang="en-US" altLang="zh-CN" dirty="0"/>
              <a:t>)</a:t>
            </a:r>
            <a:r>
              <a:rPr kumimoji="1" lang="zh-CN" altLang="en-US" dirty="0"/>
              <a:t>只能被最多两个进程共享，避免该问题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同一时间，只允许最多一个进程在执行接收信息的操作（如加锁）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让消息系统（如信箱）任意选择一个接收者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可以设置不同的策略：随机、</a:t>
            </a:r>
            <a:r>
              <a:rPr kumimoji="1" lang="en-US" altLang="zh-CN" sz="1800" dirty="0"/>
              <a:t>Round-Robin</a:t>
            </a:r>
            <a:r>
              <a:rPr kumimoji="1" lang="zh-CN" altLang="en-US" sz="1800" dirty="0"/>
              <a:t>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选择后，需要通知发送者谁是最终接收者（如</a:t>
            </a:r>
            <a:r>
              <a:rPr kumimoji="1" lang="en-US" altLang="zh-CN" sz="1800" dirty="0"/>
              <a:t>signal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183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快递员有好多苦恼 </a:t>
            </a:r>
            <a:r>
              <a:rPr kumimoji="1" lang="en-US" altLang="zh-CN" dirty="0"/>
              <a:t>(3)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86763"/>
            <a:ext cx="8229600" cy="101837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快递员应该等待消息被确认呢</a:t>
            </a:r>
            <a:r>
              <a:rPr kumimoji="1" lang="en-US" altLang="zh-CN" dirty="0"/>
              <a:t>(</a:t>
            </a:r>
            <a:r>
              <a:rPr kumimoji="1" lang="zh-CN" altLang="en-US" dirty="0"/>
              <a:t>阻塞</a:t>
            </a:r>
            <a:r>
              <a:rPr kumimoji="1" lang="en-US" altLang="zh-CN" dirty="0"/>
              <a:t>)</a:t>
            </a:r>
            <a:r>
              <a:rPr kumimoji="1" lang="zh-CN" altLang="en-US" dirty="0"/>
              <a:t> ，还是发送完消息就去送下一个快递呢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非阻塞</a:t>
            </a:r>
            <a:r>
              <a:rPr kumimoji="1" lang="en-US" altLang="zh-CN" dirty="0"/>
              <a:t>)</a:t>
            </a:r>
            <a:r>
              <a:rPr kumimoji="1" lang="zh-CN" altLang="en-US" dirty="0"/>
              <a:t>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8B124B-E63A-964B-817F-C2EB2E5D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656" y="2527491"/>
            <a:ext cx="720321" cy="7203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1D788F-75B1-4241-878D-341956EC8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4811">
            <a:off x="2698246" y="2218528"/>
            <a:ext cx="779016" cy="77901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033F98C7-EA7B-8D41-BA40-16C5CF007580}"/>
              </a:ext>
            </a:extLst>
          </p:cNvPr>
          <p:cNvSpPr/>
          <p:nvPr/>
        </p:nvSpPr>
        <p:spPr>
          <a:xfrm>
            <a:off x="3363197" y="1201317"/>
            <a:ext cx="5457275" cy="252028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F5D68DA-F87B-8E4E-B306-3FC5D666EBD2}"/>
              </a:ext>
            </a:extLst>
          </p:cNvPr>
          <p:cNvSpPr txBox="1">
            <a:spLocks/>
          </p:cNvSpPr>
          <p:nvPr/>
        </p:nvSpPr>
        <p:spPr>
          <a:xfrm>
            <a:off x="3851920" y="1721667"/>
            <a:ext cx="4221832" cy="14958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000" b="0" dirty="0"/>
              <a:t>小明和妈妈回复消息很慢，如果我发完消息等待回复可能要等很久；如果我放下快递直接走的话事后又可能被投诉，怎么办呢？</a:t>
            </a:r>
            <a:endParaRPr kumimoji="1"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1142393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2F7E490-7842-6A4A-9710-CF601CB2C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09228"/>
            <a:ext cx="2232248" cy="17911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消息传递的同步与异步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消息的传递可以是阻塞的或非阻塞的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阻塞通常被认为是同步通信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阻塞的发送</a:t>
            </a:r>
            <a:r>
              <a:rPr kumimoji="1" lang="en-US" altLang="zh-CN" dirty="0"/>
              <a:t>/</a:t>
            </a:r>
            <a:r>
              <a:rPr kumimoji="1" lang="zh-CN" altLang="en-US" dirty="0"/>
              <a:t>接收</a:t>
            </a:r>
            <a:r>
              <a:rPr kumimoji="1" lang="en-US" altLang="zh-CN" dirty="0"/>
              <a:t>:</a:t>
            </a:r>
            <a:r>
              <a:rPr kumimoji="1" lang="zh-CN" altLang="en-US" dirty="0"/>
              <a:t> 发送者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接收者处于阻塞状态，直到消息发出</a:t>
            </a:r>
            <a:r>
              <a:rPr kumimoji="1" lang="en-US" altLang="zh-CN" dirty="0"/>
              <a:t>/</a:t>
            </a:r>
            <a:r>
              <a:rPr kumimoji="1" lang="zh-CN" altLang="en-US" dirty="0"/>
              <a:t>到来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同步通信通常有着更低时延和易用的编程模型（通常来说）</a:t>
            </a:r>
            <a:endParaRPr kumimoji="1" lang="en-US" altLang="zh-CN" dirty="0"/>
          </a:p>
          <a:p>
            <a:r>
              <a:rPr kumimoji="1" lang="zh-CN" altLang="en-US" dirty="0"/>
              <a:t>非阻塞通常被认为是异步通信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发送者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接收者不等待操作结果，直接返回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异步通信的带宽一般更高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2964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超时机制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为了好评，快递员选择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尽可能等待 </a:t>
            </a:r>
            <a:r>
              <a:rPr kumimoji="1" lang="en-US" altLang="zh-CN" dirty="0"/>
              <a:t>(</a:t>
            </a:r>
            <a:r>
              <a:rPr kumimoji="1" lang="zh-CN" altLang="en-US" dirty="0"/>
              <a:t>同步的通信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但是一旦超过一个值 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</a:t>
            </a:r>
            <a:r>
              <a:rPr kumimoji="1" lang="en-US" altLang="zh-CN" dirty="0"/>
              <a:t>15</a:t>
            </a:r>
            <a:r>
              <a:rPr kumimoji="1" lang="zh-CN" altLang="en-US" dirty="0"/>
              <a:t>分钟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，就先带走快递，等下再配送</a:t>
            </a:r>
            <a:endParaRPr kumimoji="1" lang="en-US" altLang="zh-CN" dirty="0"/>
          </a:p>
          <a:p>
            <a:r>
              <a:rPr kumimoji="1" lang="zh-CN" altLang="en-US" dirty="0"/>
              <a:t>超时机制的引入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Send(A,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message,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chemeClr val="accent1"/>
                </a:solidFill>
              </a:rPr>
              <a:t>Time-out</a:t>
            </a:r>
            <a:r>
              <a:rPr kumimoji="1" lang="en-US" altLang="zh-CN" dirty="0"/>
              <a:t>)</a:t>
            </a:r>
          </a:p>
          <a:p>
            <a:pPr lvl="2"/>
            <a:r>
              <a:rPr kumimoji="1" lang="zh-CN" altLang="en-US" dirty="0"/>
              <a:t>超过</a:t>
            </a:r>
            <a:r>
              <a:rPr kumimoji="1" lang="en-US" altLang="zh-CN" dirty="0"/>
              <a:t>Time-out</a:t>
            </a:r>
            <a:r>
              <a:rPr kumimoji="1" lang="zh-CN" altLang="en-US" dirty="0"/>
              <a:t>限定的时间就返回错误信息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两个特殊的超时选项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①</a:t>
            </a:r>
            <a:r>
              <a:rPr kumimoji="1" lang="zh-CN" altLang="en-US" dirty="0"/>
              <a:t> 一直等待（阻塞）；</a:t>
            </a:r>
            <a:r>
              <a:rPr kumimoji="1" lang="en-US" altLang="zh-CN" dirty="0"/>
              <a:t>②</a:t>
            </a:r>
            <a:r>
              <a:rPr kumimoji="1" lang="zh-CN" altLang="en-US" dirty="0"/>
              <a:t>不等待（非阻塞）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避免由通信造成的拒接服务攻击等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B77F6E-0BAF-8D4A-9244-FA3B7D883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235191"/>
            <a:ext cx="720321" cy="720321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F4E9D236-F356-3D49-ABE3-C5509DB7B689}"/>
              </a:ext>
            </a:extLst>
          </p:cNvPr>
          <p:cNvSpPr/>
          <p:nvPr/>
        </p:nvSpPr>
        <p:spPr>
          <a:xfrm>
            <a:off x="6629520" y="1516410"/>
            <a:ext cx="936104" cy="196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7AAA3D-4EB6-C849-B079-D52231E50285}"/>
              </a:ext>
            </a:extLst>
          </p:cNvPr>
          <p:cNvSpPr txBox="1"/>
          <p:nvPr/>
        </p:nvSpPr>
        <p:spPr>
          <a:xfrm>
            <a:off x="6757159" y="11289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E5103B-2B25-A84A-915D-5C1865F05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685" y="1043647"/>
            <a:ext cx="463583" cy="46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907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同步通信和超时机制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0383"/>
            <a:ext cx="4330824" cy="3771636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发送者</a:t>
            </a:r>
            <a:r>
              <a:rPr kumimoji="1" lang="en-US" altLang="zh-CN" dirty="0"/>
              <a:t>(</a:t>
            </a:r>
            <a:r>
              <a:rPr kumimoji="1" lang="zh-CN" altLang="en-US" dirty="0"/>
              <a:t>快递员</a:t>
            </a:r>
            <a:r>
              <a:rPr kumimoji="1" lang="en-US" altLang="zh-CN" dirty="0"/>
              <a:t>)</a:t>
            </a:r>
          </a:p>
          <a:p>
            <a:pPr lvl="1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/* Produce an item */</a:t>
            </a:r>
          </a:p>
          <a:p>
            <a:pPr lvl="1">
              <a:buNone/>
            </a:pPr>
            <a:r>
              <a:rPr kumimoji="1" lang="en-US" altLang="zh-CN" dirty="0"/>
              <a:t>    while (((in = (in + 1) % BUFFER_SIZE)   </a:t>
            </a:r>
          </a:p>
          <a:p>
            <a:pPr lvl="1">
              <a:buNone/>
            </a:pPr>
            <a:r>
              <a:rPr kumimoji="1" lang="en-US" altLang="zh-CN" dirty="0"/>
              <a:t>                == out)</a:t>
            </a:r>
          </a:p>
          <a:p>
            <a:pPr lvl="1">
              <a:buNone/>
            </a:pPr>
            <a:r>
              <a:rPr kumimoji="1" lang="en-US" altLang="zh-CN" dirty="0"/>
              <a:t>	        ;   /* nothing,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no free buffers */</a:t>
            </a:r>
          </a:p>
          <a:p>
            <a:pPr lvl="1">
              <a:buNone/>
            </a:pPr>
            <a:r>
              <a:rPr kumimoji="1" lang="zh-CN" altLang="en-US" dirty="0"/>
              <a:t>    </a:t>
            </a:r>
            <a:r>
              <a:rPr kumimoji="1" lang="en-US" altLang="zh-CN" dirty="0"/>
              <a:t>buffer[in] = item;</a:t>
            </a:r>
          </a:p>
          <a:p>
            <a:pPr lvl="1">
              <a:buNone/>
            </a:pPr>
            <a:r>
              <a:rPr kumimoji="1" lang="zh-CN" altLang="en-US" dirty="0"/>
              <a:t>    </a:t>
            </a:r>
            <a:r>
              <a:rPr kumimoji="1" lang="en-US" altLang="zh-CN" dirty="0"/>
              <a:t>in = (in + 1) % BUFFER_SIZE;</a:t>
            </a:r>
          </a:p>
          <a:p>
            <a:pPr lvl="1">
              <a:buNone/>
            </a:pPr>
            <a:r>
              <a:rPr kumimoji="1" lang="zh-CN" altLang="en-US" dirty="0"/>
              <a:t>   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b="1" dirty="0">
                <a:solidFill>
                  <a:schemeClr val="accent1"/>
                </a:solidFill>
              </a:rPr>
              <a:t>Send(Mailbox,</a:t>
            </a:r>
            <a:r>
              <a:rPr kumimoji="1" lang="zh-CN" altLang="en-US" b="1" dirty="0">
                <a:solidFill>
                  <a:schemeClr val="accent1"/>
                </a:solidFill>
              </a:rPr>
              <a:t> </a:t>
            </a:r>
            <a:r>
              <a:rPr kumimoji="1" lang="en-US" altLang="zh-CN" b="1" dirty="0">
                <a:solidFill>
                  <a:schemeClr val="accent1"/>
                </a:solidFill>
              </a:rPr>
              <a:t>“Package”,</a:t>
            </a:r>
            <a:r>
              <a:rPr kumimoji="1" lang="zh-CN" altLang="en-US" b="1" dirty="0">
                <a:solidFill>
                  <a:schemeClr val="accent1"/>
                </a:solidFill>
              </a:rPr>
              <a:t> </a:t>
            </a:r>
            <a:r>
              <a:rPr kumimoji="1" lang="en-US" altLang="zh-CN" b="1" dirty="0">
                <a:solidFill>
                  <a:schemeClr val="accent1"/>
                </a:solidFill>
              </a:rPr>
              <a:t>“15min”)</a:t>
            </a:r>
            <a:r>
              <a:rPr kumimoji="1" lang="zh-CN" altLang="en-US" b="1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==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error)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>
              <a:buNone/>
            </a:pPr>
            <a:r>
              <a:rPr kumimoji="1" lang="zh-CN" altLang="en-US" b="1" dirty="0">
                <a:solidFill>
                  <a:schemeClr val="accent1"/>
                </a:solidFill>
              </a:rPr>
              <a:t>            </a:t>
            </a:r>
            <a:r>
              <a:rPr kumimoji="1" lang="en-US" altLang="zh-CN" dirty="0" err="1"/>
              <a:t>goto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retry;</a:t>
            </a:r>
            <a:endParaRPr kumimoji="1" lang="en-US" altLang="zh-CN" b="1" dirty="0">
              <a:solidFill>
                <a:schemeClr val="accent1"/>
              </a:solidFill>
            </a:endParaRPr>
          </a:p>
          <a:p>
            <a:pPr lvl="1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569C42-6958-0644-B8B3-BF83A86DC708}"/>
              </a:ext>
            </a:extLst>
          </p:cNvPr>
          <p:cNvSpPr txBox="1">
            <a:spLocks/>
          </p:cNvSpPr>
          <p:nvPr/>
        </p:nvSpPr>
        <p:spPr>
          <a:xfrm>
            <a:off x="5076055" y="1333501"/>
            <a:ext cx="3795233" cy="2944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接收者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小明</a:t>
            </a:r>
            <a:r>
              <a:rPr kumimoji="1" lang="en-US" altLang="zh-CN" sz="2000" dirty="0"/>
              <a:t>)</a:t>
            </a:r>
          </a:p>
          <a:p>
            <a:pPr lvl="1">
              <a:buNone/>
            </a:pPr>
            <a:r>
              <a:rPr kumimoji="1" lang="en-US" altLang="zh-CN" sz="1800" dirty="0" err="1">
                <a:solidFill>
                  <a:schemeClr val="accent1"/>
                </a:solidFill>
              </a:rPr>
              <a:t>Recv</a:t>
            </a:r>
            <a:r>
              <a:rPr kumimoji="1" lang="en-US" altLang="zh-CN" sz="1800" dirty="0">
                <a:solidFill>
                  <a:schemeClr val="accent1"/>
                </a:solidFill>
              </a:rPr>
              <a:t>(Mailbox,</a:t>
            </a:r>
            <a:r>
              <a:rPr kumimoji="1" lang="zh-CN" altLang="en-US" sz="1800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dirty="0">
                <a:solidFill>
                  <a:schemeClr val="accent1"/>
                </a:solidFill>
              </a:rPr>
              <a:t>Msg,</a:t>
            </a:r>
            <a:r>
              <a:rPr kumimoji="1" lang="zh-CN" altLang="en-US" sz="1800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dirty="0">
                <a:solidFill>
                  <a:schemeClr val="accent1"/>
                </a:solidFill>
              </a:rPr>
              <a:t>Time-out);</a:t>
            </a: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sz="1600" dirty="0"/>
          </a:p>
          <a:p>
            <a:r>
              <a:rPr kumimoji="1" lang="zh-CN" altLang="en-US" sz="2000" dirty="0"/>
              <a:t>接收者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小明妈妈</a:t>
            </a:r>
            <a:r>
              <a:rPr kumimoji="1" lang="en-US" altLang="zh-CN" sz="2000" dirty="0"/>
              <a:t>)</a:t>
            </a:r>
          </a:p>
          <a:p>
            <a:pPr lvl="1">
              <a:buNone/>
            </a:pPr>
            <a:r>
              <a:rPr kumimoji="1" lang="en-US" altLang="zh-CN" sz="1800" dirty="0" err="1">
                <a:solidFill>
                  <a:schemeClr val="accent1"/>
                </a:solidFill>
              </a:rPr>
              <a:t>Recv</a:t>
            </a:r>
            <a:r>
              <a:rPr kumimoji="1" lang="en-US" altLang="zh-CN" sz="1800" dirty="0">
                <a:solidFill>
                  <a:schemeClr val="accent1"/>
                </a:solidFill>
              </a:rPr>
              <a:t>(Mailbox,</a:t>
            </a:r>
            <a:r>
              <a:rPr kumimoji="1" lang="zh-CN" altLang="en-US" sz="1800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dirty="0">
                <a:solidFill>
                  <a:schemeClr val="accent1"/>
                </a:solidFill>
              </a:rPr>
              <a:t>Msg,</a:t>
            </a:r>
            <a:r>
              <a:rPr kumimoji="1" lang="zh-CN" altLang="en-US" sz="1800" dirty="0">
                <a:solidFill>
                  <a:schemeClr val="accent1"/>
                </a:solidFill>
              </a:rPr>
              <a:t> </a:t>
            </a:r>
            <a:r>
              <a:rPr kumimoji="1" lang="en-US" altLang="zh-CN" sz="1800" dirty="0">
                <a:solidFill>
                  <a:schemeClr val="accent1"/>
                </a:solidFill>
              </a:rPr>
              <a:t>Time-out);</a:t>
            </a: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sz="16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E933CF6-D861-894D-A4B5-51DEF14BA765}"/>
              </a:ext>
            </a:extLst>
          </p:cNvPr>
          <p:cNvCxnSpPr>
            <a:cxnSpLocks/>
          </p:cNvCxnSpPr>
          <p:nvPr/>
        </p:nvCxnSpPr>
        <p:spPr>
          <a:xfrm flipV="1">
            <a:off x="4788024" y="1993404"/>
            <a:ext cx="720080" cy="15841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00D962D7-D2B7-2045-AD20-0DC97559586D}"/>
              </a:ext>
            </a:extLst>
          </p:cNvPr>
          <p:cNvSpPr txBox="1">
            <a:spLocks/>
          </p:cNvSpPr>
          <p:nvPr/>
        </p:nvSpPr>
        <p:spPr>
          <a:xfrm>
            <a:off x="956590" y="4596644"/>
            <a:ext cx="7415308" cy="532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zh-CN" altLang="en-US" sz="2000" dirty="0"/>
              <a:t>快递员决定等待最多</a:t>
            </a:r>
            <a:r>
              <a:rPr kumimoji="1" lang="en-US" altLang="zh-CN" sz="2000" dirty="0"/>
              <a:t>15</a:t>
            </a:r>
            <a:r>
              <a:rPr kumimoji="1" lang="zh-CN" altLang="en-US" sz="2000" dirty="0"/>
              <a:t>分钟，一旦超时就放弃这一次派送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77F33B87-B8D1-784A-A3C0-E270FDADCCE7}"/>
              </a:ext>
            </a:extLst>
          </p:cNvPr>
          <p:cNvCxnSpPr>
            <a:cxnSpLocks/>
          </p:cNvCxnSpPr>
          <p:nvPr/>
        </p:nvCxnSpPr>
        <p:spPr>
          <a:xfrm flipV="1">
            <a:off x="4788024" y="3217540"/>
            <a:ext cx="792088" cy="3600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8DD4140-1271-F045-BA35-6E98ED3E0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461" y="3196431"/>
            <a:ext cx="319567" cy="31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83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快递员有好多苦恼 </a:t>
            </a:r>
            <a:r>
              <a:rPr kumimoji="1" lang="en-US" altLang="zh-CN" dirty="0"/>
              <a:t>(4)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8B124B-E63A-964B-817F-C2EB2E5D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656" y="2527491"/>
            <a:ext cx="720321" cy="7203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1D788F-75B1-4241-878D-341956EC8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4811">
            <a:off x="2698246" y="2218528"/>
            <a:ext cx="779016" cy="77901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033F98C7-EA7B-8D41-BA40-16C5CF007580}"/>
              </a:ext>
            </a:extLst>
          </p:cNvPr>
          <p:cNvSpPr/>
          <p:nvPr/>
        </p:nvSpPr>
        <p:spPr>
          <a:xfrm>
            <a:off x="3363197" y="1201317"/>
            <a:ext cx="5457275" cy="252028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F5D68DA-F87B-8E4E-B306-3FC5D666EBD2}"/>
              </a:ext>
            </a:extLst>
          </p:cNvPr>
          <p:cNvSpPr txBox="1">
            <a:spLocks/>
          </p:cNvSpPr>
          <p:nvPr/>
        </p:nvSpPr>
        <p:spPr>
          <a:xfrm>
            <a:off x="4139952" y="1721667"/>
            <a:ext cx="3933800" cy="14958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000" b="0" dirty="0"/>
              <a:t>新冠疫情缓解后，为了避免快递丢失，小区保安不允许快递员将快递放在快递桌上。快递员不能放下快递就走了。</a:t>
            </a:r>
            <a:endParaRPr kumimoji="1" lang="en-US" altLang="zh-CN" sz="2000" b="0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5797580F-8EAA-C743-8122-84D77832BB93}"/>
              </a:ext>
            </a:extLst>
          </p:cNvPr>
          <p:cNvSpPr txBox="1">
            <a:spLocks/>
          </p:cNvSpPr>
          <p:nvPr/>
        </p:nvSpPr>
        <p:spPr>
          <a:xfrm>
            <a:off x="457200" y="4086763"/>
            <a:ext cx="8229600" cy="1018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有手机后，快递桌的作用有什么变化吗？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816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通信连接的缓冲</a:t>
            </a:r>
            <a:r>
              <a:rPr kumimoji="1" lang="en-US" altLang="zh-CN" dirty="0"/>
              <a:t>:</a:t>
            </a:r>
            <a:r>
              <a:rPr kumimoji="1" lang="zh-CN" altLang="en-US" dirty="0"/>
              <a:t> 快递桌的作用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缓冲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通信连接可以选择保留住还没有处理的消息</a:t>
            </a:r>
            <a:endParaRPr kumimoji="1" lang="en-US" altLang="zh-CN" dirty="0"/>
          </a:p>
          <a:p>
            <a:r>
              <a:rPr kumimoji="1" lang="zh-CN" altLang="en-US" dirty="0"/>
              <a:t>常见的三种设计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零容量：</a:t>
            </a:r>
            <a:r>
              <a:rPr kumimoji="1" lang="zh-CN" altLang="en-US" dirty="0"/>
              <a:t>通信连接本身不缓冲消息，发送者只能阻塞等待接收者接收消息 </a:t>
            </a:r>
            <a:r>
              <a:rPr kumimoji="1" lang="en-US" altLang="zh-CN" dirty="0"/>
              <a:t>(</a:t>
            </a:r>
            <a:r>
              <a:rPr kumimoji="1" lang="zh-CN" altLang="en-US" dirty="0"/>
              <a:t>保安不提供快递桌</a:t>
            </a:r>
            <a:r>
              <a:rPr kumimoji="1" lang="en-US" altLang="zh-CN" dirty="0"/>
              <a:t>)——</a:t>
            </a:r>
            <a:r>
              <a:rPr kumimoji="1" lang="zh-CN" altLang="en-US" dirty="0"/>
              <a:t>微内核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有限容量：</a:t>
            </a:r>
            <a:r>
              <a:rPr kumimoji="1" lang="zh-CN" altLang="en-US" dirty="0"/>
              <a:t>连接可以缓冲最多</a:t>
            </a:r>
            <a:r>
              <a:rPr kumimoji="1" lang="en-US" altLang="zh-CN" dirty="0"/>
              <a:t>N</a:t>
            </a:r>
            <a:r>
              <a:rPr kumimoji="1" lang="zh-CN" altLang="en-US" dirty="0"/>
              <a:t>个消息，当缓冲区满之后发送者只能阻塞等待 </a:t>
            </a:r>
            <a:r>
              <a:rPr kumimoji="1" lang="en-US" altLang="zh-CN" dirty="0"/>
              <a:t>(</a:t>
            </a:r>
            <a:r>
              <a:rPr kumimoji="1" lang="zh-CN" altLang="en-US" dirty="0"/>
              <a:t>快递只能放在桌上，但是空间有限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b="1" dirty="0"/>
              <a:t>无限容量：</a:t>
            </a:r>
            <a:r>
              <a:rPr kumimoji="1" lang="zh-CN" altLang="en-US" dirty="0"/>
              <a:t>连接可以缓冲系统资源允许下的任意数量的消息，发送者几乎不需要等待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410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A2AC4-73C4-894B-99A8-5FEEEB93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有缓存和没缓存的区别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EF3D8C-AC11-3842-9C4A-A59BA45C4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有缓存（相比没缓存）的优点：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可以支持多个并发消息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可以支持非阻塞（异步的通信），发送者不需要等待消息传递到接收者就可以返回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接收者可以批量处理多个消息，提高吞吐率</a:t>
            </a:r>
            <a:endParaRPr kumimoji="1" lang="en-US" altLang="zh-CN" dirty="0"/>
          </a:p>
          <a:p>
            <a:r>
              <a:rPr kumimoji="1" lang="zh-CN" altLang="en-US" dirty="0"/>
              <a:t>有缓存（相比没缓存）的缺点：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占用更多的系统资源（通常是内存资源）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系统软件（如内核）很难确定应该预留多少缓存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74AD1E-76A2-EB44-9B2A-8BEDEC9A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29EE47-8A34-C645-8660-5F02F5C23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967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7C27A-111E-004F-9D4C-5DE6E9B5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共享内存和消息传递的对比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8BFD8-33B3-5C41-92C6-A36325350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共享内存的优势：理论上可以实现</a:t>
            </a:r>
            <a:r>
              <a:rPr kumimoji="1"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零内存拷贝</a:t>
            </a:r>
            <a:r>
              <a:rPr kumimoji="1" lang="zh-CN" altLang="en-US" dirty="0"/>
              <a:t>的数据传输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消息传递的方式通常：发送者用户态内存拷贝到内核内存，再拷贝到接收者用户态内存（</a:t>
            </a:r>
            <a:r>
              <a:rPr kumimoji="1"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两次拷贝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</a:p>
          <a:p>
            <a:r>
              <a:rPr kumimoji="1" lang="zh-CN" altLang="en-US" dirty="0"/>
              <a:t>消息传递的优势：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抽象更简单，</a:t>
            </a:r>
            <a:r>
              <a:rPr lang="zh-CN" altLang="en-US" dirty="0"/>
              <a:t>并且能够较好支持变长的消息（共享内存往往需要用户态软件封装来实现这一点）</a:t>
            </a:r>
            <a:endParaRPr lang="en-US" altLang="zh-CN" dirty="0"/>
          </a:p>
          <a:p>
            <a:pPr lvl="1"/>
            <a:r>
              <a:rPr lang="zh-CN" altLang="en-US" dirty="0"/>
              <a:t>不需要轮询，通常包含内核支持的通知机制</a:t>
            </a:r>
            <a:endParaRPr lang="en-US" altLang="zh-CN" dirty="0"/>
          </a:p>
          <a:p>
            <a:pPr lvl="1"/>
            <a:r>
              <a:rPr lang="zh-CN" altLang="en-US" dirty="0"/>
              <a:t>安全性保证通常更强（有内核等保证），并且不会破坏发送者和接收者进程的内存隔离性</a:t>
            </a:r>
            <a:endParaRPr lang="en-US" altLang="zh-CN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0B1731-F123-B747-8BC1-D96CD205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681A9-BDE7-8542-A234-E58225528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0010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087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4861-FD70-2B42-B101-96230FB9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CN" dirty="0"/>
              <a:t>消息</a:t>
            </a:r>
            <a:r>
              <a:rPr kumimoji="1" lang="zh-CN" altLang="en-US" dirty="0"/>
              <a:t>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6F44C-A3B0-3A4E-9145-338C415F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一种消息传递机制</a:t>
            </a:r>
            <a:endParaRPr kumimoji="1" lang="en-US" altLang="zh-CN" dirty="0"/>
          </a:p>
          <a:p>
            <a:r>
              <a:rPr kumimoji="1" lang="zh-CN" altLang="en-US" dirty="0"/>
              <a:t>设计选择：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间接通信方式，信箱为内核中维护的消息队列结构体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有（有限的）缓存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没有超时机制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支持多个（大于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）的参与者进行通信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通常是非阻塞的（不考虑如内核缓存区满等异常情况）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04572B-E1C7-3D49-86F0-E20258A8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F6D54-FE07-CC45-B8BA-B27A5D89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3496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180183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以链表的方式组织消息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任何有权限的进程都可以访问队列，写入或者读取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支持异步通信 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非阻塞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消息的格式</a:t>
            </a:r>
            <a:r>
              <a:rPr kumimoji="1" lang="en-US" altLang="zh-CN" dirty="0"/>
              <a:t>:</a:t>
            </a:r>
            <a:r>
              <a:rPr kumimoji="1" lang="zh-CN" altLang="en-US" dirty="0"/>
              <a:t> 类型 </a:t>
            </a:r>
            <a:r>
              <a:rPr kumimoji="1" lang="en-US" altLang="zh-CN" dirty="0"/>
              <a:t>+</a:t>
            </a:r>
            <a:r>
              <a:rPr kumimoji="1" lang="zh-CN" altLang="en-US" dirty="0"/>
              <a:t> 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类型：由一个整型表示，具体的意义由用户决定</a:t>
            </a:r>
            <a:endParaRPr kumimoji="1" lang="en-US" altLang="zh-CN" dirty="0"/>
          </a:p>
          <a:p>
            <a:r>
              <a:rPr kumimoji="1" lang="zh-CN" altLang="en-US" dirty="0"/>
              <a:t>消息队列是间接消息传递方式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通过共享一个队列来建立连接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E66142-933E-B841-9748-0FA84AB1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506269"/>
            <a:ext cx="3962400" cy="1559119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C25EB64A-EEEC-F747-80DA-ECE9398925B5}"/>
              </a:ext>
            </a:extLst>
          </p:cNvPr>
          <p:cNvSpPr/>
          <p:nvPr/>
        </p:nvSpPr>
        <p:spPr>
          <a:xfrm>
            <a:off x="7236296" y="337220"/>
            <a:ext cx="1728192" cy="18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err="1"/>
              <a:t>Ftok</a:t>
            </a:r>
            <a:r>
              <a:rPr lang="en-US" altLang="zh-CN" sz="2000" b="1" dirty="0"/>
              <a:t>();</a:t>
            </a:r>
            <a:endParaRPr kumimoji="1" lang="en-US" altLang="zh-CN" sz="2000" b="1" dirty="0"/>
          </a:p>
          <a:p>
            <a:r>
              <a:rPr kumimoji="1" lang="en-US" altLang="zh-CN" sz="2000" b="1" dirty="0" err="1"/>
              <a:t>Msgget</a:t>
            </a:r>
            <a:r>
              <a:rPr kumimoji="1" lang="en-US" altLang="zh-CN" sz="2000" b="1" dirty="0"/>
              <a:t>();</a:t>
            </a:r>
          </a:p>
          <a:p>
            <a:r>
              <a:rPr kumimoji="1" lang="en-US" altLang="zh-CN" sz="2000" b="1" dirty="0" err="1"/>
              <a:t>Msgsnd</a:t>
            </a:r>
            <a:r>
              <a:rPr kumimoji="1" lang="en-US" altLang="zh-CN" sz="2000" b="1" dirty="0"/>
              <a:t>();</a:t>
            </a:r>
          </a:p>
          <a:p>
            <a:r>
              <a:rPr lang="en-US" altLang="zh-CN" sz="2000" b="1" dirty="0" err="1"/>
              <a:t>Msgrcv</a:t>
            </a:r>
            <a:r>
              <a:rPr lang="en-US" altLang="zh-CN" sz="2000" b="1" dirty="0"/>
              <a:t>();</a:t>
            </a:r>
          </a:p>
          <a:p>
            <a:r>
              <a:rPr lang="en-US" altLang="zh-CN" sz="2000" b="1" dirty="0" err="1"/>
              <a:t>Msgctl</a:t>
            </a:r>
            <a:r>
              <a:rPr lang="en-US" altLang="zh-CN" sz="2000" b="1" dirty="0"/>
              <a:t>();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997316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93B57-2A0E-FF4D-B905-DF3B8CCF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消息队列的例子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4255B-79EE-C442-B34F-BB07303F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6505B-E43A-4A42-A21C-A541EC634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E022B5F-83CC-C24E-BDE5-BAEF1C06F17A}"/>
              </a:ext>
            </a:extLst>
          </p:cNvPr>
          <p:cNvSpPr/>
          <p:nvPr/>
        </p:nvSpPr>
        <p:spPr>
          <a:xfrm>
            <a:off x="251520" y="1807342"/>
            <a:ext cx="4104456" cy="2809636"/>
          </a:xfrm>
          <a:prstGeom prst="roundRect">
            <a:avLst>
              <a:gd name="adj" fmla="val 54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message.mesg_type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msgsnd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0); 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063AE72-46E1-754F-90C6-3489D0CD7B9C}"/>
              </a:ext>
            </a:extLst>
          </p:cNvPr>
          <p:cNvSpPr/>
          <p:nvPr/>
        </p:nvSpPr>
        <p:spPr>
          <a:xfrm>
            <a:off x="4716016" y="1807342"/>
            <a:ext cx="4258815" cy="2820396"/>
          </a:xfrm>
          <a:prstGeom prst="roundRect">
            <a:avLst>
              <a:gd name="adj" fmla="val 514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msgrcv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1, 0);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msgctl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IPC_RMID, NULL);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1E0154-BA90-984C-85CB-3F087A46D3FF}"/>
              </a:ext>
            </a:extLst>
          </p:cNvPr>
          <p:cNvSpPr txBox="1"/>
          <p:nvPr/>
        </p:nvSpPr>
        <p:spPr>
          <a:xfrm>
            <a:off x="1686509" y="128365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发送者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2013B6-3CBF-4044-992C-75D137F331A7}"/>
              </a:ext>
            </a:extLst>
          </p:cNvPr>
          <p:cNvSpPr txBox="1"/>
          <p:nvPr/>
        </p:nvSpPr>
        <p:spPr>
          <a:xfrm>
            <a:off x="6233355" y="12880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接收者</a:t>
            </a:r>
          </a:p>
        </p:txBody>
      </p:sp>
    </p:spTree>
    <p:extLst>
      <p:ext uri="{BB962C8B-B14F-4D97-AF65-F5344CB8AC3E}">
        <p14:creationId xmlns:p14="http://schemas.microsoft.com/office/powerpoint/2010/main" val="1332378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消息队列：带类型的消息传递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54022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消息队列的组织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基本遵循</a:t>
            </a:r>
            <a:r>
              <a:rPr kumimoji="1" lang="en-US" altLang="zh-CN" dirty="0"/>
              <a:t>FIFO</a:t>
            </a:r>
            <a:r>
              <a:rPr kumimoji="1" lang="zh-CN" altLang="en-US" dirty="0"/>
              <a:t> </a:t>
            </a:r>
            <a:r>
              <a:rPr kumimoji="1" lang="en-US" altLang="zh-CN" dirty="0"/>
              <a:t>(First-In-First-Out)</a:t>
            </a:r>
            <a:r>
              <a:rPr kumimoji="1" lang="zh-CN" altLang="en-US" dirty="0"/>
              <a:t>先进先出原则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消息队列的写入：增加在队列尾部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消息队列的读取：默认从队首获取消息</a:t>
            </a:r>
            <a:endParaRPr kumimoji="1" lang="en-US" altLang="zh-CN" dirty="0"/>
          </a:p>
          <a:p>
            <a:r>
              <a:rPr kumimoji="1" lang="zh-CN" altLang="en-US" dirty="0"/>
              <a:t>允许按照类型查询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Recv</a:t>
            </a:r>
            <a:r>
              <a:rPr kumimoji="1" lang="en-US" altLang="zh-CN" dirty="0"/>
              <a:t>(A,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type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</a:t>
            </a:r>
          </a:p>
          <a:p>
            <a:pPr lvl="1"/>
            <a:r>
              <a:rPr kumimoji="1" lang="zh-CN" altLang="en-US" dirty="0"/>
              <a:t>类型为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时返回第一个消息 </a:t>
            </a:r>
            <a:r>
              <a:rPr kumimoji="1" lang="en-US" altLang="zh-CN" dirty="0"/>
              <a:t>(FIFO)</a:t>
            </a:r>
          </a:p>
          <a:p>
            <a:pPr lvl="1"/>
            <a:r>
              <a:rPr kumimoji="1" lang="zh-CN" altLang="en-US" dirty="0"/>
              <a:t>类型有值时按照类型查询消息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为正数，则返回第一个类型为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的消息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2404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76464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1800" dirty="0"/>
              <a:t>缓存区设计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链表的组织方式，动态分配资源，可以设置很大的上限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固定的缓冲区间，分配过大资源容易造成浪费</a:t>
            </a:r>
            <a:endParaRPr kumimoji="1" lang="en-US" altLang="zh-CN" sz="1600" dirty="0"/>
          </a:p>
          <a:p>
            <a:r>
              <a:rPr kumimoji="1" lang="zh-CN" altLang="en-US" sz="1800" dirty="0"/>
              <a:t>消息格式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带类型的数据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数据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字节流</a:t>
            </a:r>
            <a:r>
              <a:rPr kumimoji="1" lang="en-US" altLang="zh-CN" sz="1600" dirty="0"/>
              <a:t>)</a:t>
            </a:r>
          </a:p>
          <a:p>
            <a:r>
              <a:rPr kumimoji="1" lang="zh-CN" altLang="en-US" sz="1800" dirty="0"/>
              <a:t>连接上的通信进程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可以有多个发送者和接收者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两个端口，最多对应两个进程</a:t>
            </a:r>
            <a:endParaRPr kumimoji="1" lang="en-US" altLang="zh-CN" sz="1600" dirty="0"/>
          </a:p>
          <a:p>
            <a:r>
              <a:rPr kumimoji="1" lang="zh-CN" altLang="en-US" sz="1800" dirty="0"/>
              <a:t>消息的管理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FIFO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+</a:t>
            </a:r>
            <a:r>
              <a:rPr kumimoji="1" lang="zh-CN" altLang="en-US" sz="1600" dirty="0"/>
              <a:t> 基于类型的查询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FIFO</a:t>
            </a:r>
          </a:p>
          <a:p>
            <a:pPr marL="0" indent="0">
              <a:buNone/>
            </a:pP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088224-478A-9041-9297-ABF96973F35F}"/>
              </a:ext>
            </a:extLst>
          </p:cNvPr>
          <p:cNvSpPr txBox="1"/>
          <p:nvPr/>
        </p:nvSpPr>
        <p:spPr>
          <a:xfrm>
            <a:off x="5508104" y="3001516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消息队列更加灵活易用，</a:t>
            </a:r>
            <a:endParaRPr kumimoji="1" lang="en-US" altLang="zh-CN" dirty="0"/>
          </a:p>
          <a:p>
            <a:r>
              <a:rPr kumimoji="1" lang="zh-CN" altLang="en-US" dirty="0"/>
              <a:t>但是实现也更加复杂</a:t>
            </a:r>
          </a:p>
        </p:txBody>
      </p:sp>
    </p:spTree>
    <p:extLst>
      <p:ext uri="{BB962C8B-B14F-4D97-AF65-F5344CB8AC3E}">
        <p14:creationId xmlns:p14="http://schemas.microsoft.com/office/powerpoint/2010/main" val="41156486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轻量级远程方法调用 </a:t>
            </a:r>
            <a:r>
              <a:rPr kumimoji="1" lang="en-US" altLang="zh-CN" dirty="0"/>
              <a:t>(LRPC)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69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通常会带来较大的性能损失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40"/>
            <a:ext cx="8229600" cy="3879622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传统的进程间通信机制通常会结合以下机制：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通知：告诉目标进程事件的发生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调度：修改进程的运行状态以及系统的调度队列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传输：传输一个消息的数据过去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缺少一个轻量的远程调用机制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客户端进程切换到服务端进程，执行特定的函数 </a:t>
            </a:r>
            <a:r>
              <a:rPr kumimoji="1" lang="en-US" altLang="zh-CN" dirty="0"/>
              <a:t>(Handler)</a:t>
            </a:r>
          </a:p>
          <a:p>
            <a:pPr lvl="1"/>
            <a:r>
              <a:rPr kumimoji="1" lang="zh-CN" altLang="en-US" dirty="0"/>
              <a:t>参数的传递和结果的返回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48368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轻量级远程调用 </a:t>
            </a:r>
            <a:r>
              <a:rPr kumimoji="1" lang="en-US" altLang="zh-CN" dirty="0"/>
              <a:t>(LRPC)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zh-CN" altLang="en-US" dirty="0"/>
              <a:t>解决两个主要问题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进程快速通知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将栈和寄存器参数传递给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C2250FF-027C-5F45-B464-3FA3A75ACB8C}"/>
              </a:ext>
            </a:extLst>
          </p:cNvPr>
          <p:cNvSpPr/>
          <p:nvPr/>
        </p:nvSpPr>
        <p:spPr>
          <a:xfrm>
            <a:off x="2915816" y="4162454"/>
            <a:ext cx="2996737" cy="99930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3611D95-DCC0-C243-AF43-856E7B6C9858}"/>
              </a:ext>
            </a:extLst>
          </p:cNvPr>
          <p:cNvSpPr/>
          <p:nvPr/>
        </p:nvSpPr>
        <p:spPr>
          <a:xfrm>
            <a:off x="2915816" y="346180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Client</a:t>
            </a:r>
            <a:r>
              <a:rPr kumimoji="1" lang="zh-CN" altLang="en-US" sz="1600" dirty="0"/>
              <a:t> 进程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FAE270E-B02B-CB44-AC7C-D50B3C077186}"/>
              </a:ext>
            </a:extLst>
          </p:cNvPr>
          <p:cNvSpPr/>
          <p:nvPr/>
        </p:nvSpPr>
        <p:spPr>
          <a:xfrm>
            <a:off x="5145765" y="4405959"/>
            <a:ext cx="26334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BD82B40-F150-634F-AB01-A44CF6719B03}"/>
              </a:ext>
            </a:extLst>
          </p:cNvPr>
          <p:cNvSpPr/>
          <p:nvPr/>
        </p:nvSpPr>
        <p:spPr>
          <a:xfrm>
            <a:off x="3419264" y="4405960"/>
            <a:ext cx="263342" cy="176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000389E-46BC-8A4C-B08B-EED99D645131}"/>
              </a:ext>
            </a:extLst>
          </p:cNvPr>
          <p:cNvSpPr/>
          <p:nvPr/>
        </p:nvSpPr>
        <p:spPr>
          <a:xfrm>
            <a:off x="4642316" y="3470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Server</a:t>
            </a:r>
            <a:r>
              <a:rPr kumimoji="1" lang="zh-CN" altLang="en-US" sz="1600" dirty="0"/>
              <a:t> 进程</a:t>
            </a: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8A256BAA-38BB-F947-B969-7A4EAD545306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flipH="1">
            <a:off x="3550935" y="4009796"/>
            <a:ext cx="1" cy="39616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D283A515-75B0-5642-9FC7-A6A1A61FA88E}"/>
              </a:ext>
            </a:extLst>
          </p:cNvPr>
          <p:cNvCxnSpPr>
            <a:cxnSpLocks/>
            <a:stCxn id="87" idx="3"/>
            <a:endCxn id="80" idx="1"/>
          </p:cNvCxnSpPr>
          <p:nvPr/>
        </p:nvCxnSpPr>
        <p:spPr>
          <a:xfrm>
            <a:off x="5006038" y="4494361"/>
            <a:ext cx="139727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67785673-7DB8-7A4D-A5F9-2AA7FDDD676D}"/>
              </a:ext>
            </a:extLst>
          </p:cNvPr>
          <p:cNvCxnSpPr>
            <a:cxnSpLocks/>
            <a:stCxn id="80" idx="0"/>
            <a:endCxn id="82" idx="2"/>
          </p:cNvCxnSpPr>
          <p:nvPr/>
        </p:nvCxnSpPr>
        <p:spPr>
          <a:xfrm flipV="1">
            <a:off x="5277436" y="4018438"/>
            <a:ext cx="0" cy="38752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6D3D6FF6-E850-7546-878A-5FDB91EC0731}"/>
              </a:ext>
            </a:extLst>
          </p:cNvPr>
          <p:cNvSpPr/>
          <p:nvPr/>
        </p:nvSpPr>
        <p:spPr>
          <a:xfrm>
            <a:off x="3948618" y="4403600"/>
            <a:ext cx="450538" cy="18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0459D7C-BDC5-0342-9E9D-F9248CD2B4A3}"/>
              </a:ext>
            </a:extLst>
          </p:cNvPr>
          <p:cNvSpPr/>
          <p:nvPr/>
        </p:nvSpPr>
        <p:spPr>
          <a:xfrm>
            <a:off x="4579736" y="4405959"/>
            <a:ext cx="42630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36E17071-2E07-B34A-82DD-473D1C9CB13A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4399156" y="4494361"/>
            <a:ext cx="180580" cy="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1B2F4CD3-277A-6E48-99F3-79A29310D86C}"/>
              </a:ext>
            </a:extLst>
          </p:cNvPr>
          <p:cNvCxnSpPr>
            <a:cxnSpLocks/>
            <a:stCxn id="81" idx="3"/>
            <a:endCxn id="86" idx="1"/>
          </p:cNvCxnSpPr>
          <p:nvPr/>
        </p:nvCxnSpPr>
        <p:spPr>
          <a:xfrm>
            <a:off x="3682606" y="4494362"/>
            <a:ext cx="266012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827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调度导致不确定时延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控制流转换需要下陷到内核</a:t>
            </a:r>
            <a:endParaRPr kumimoji="1" lang="en-US" altLang="zh-CN" dirty="0"/>
          </a:p>
          <a:p>
            <a:r>
              <a:rPr kumimoji="1" lang="zh-CN" altLang="en-US" dirty="0"/>
              <a:t>内核系统为了保证公平等，会在内核中根据情况进行调度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之间可能会执行多个不相关进程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913969" y="3137795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2731982" y="3140039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6732240" y="3137795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002221" y="3411790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864717" y="3411790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192595" y="322712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用户期望的控制流转换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9CD0CD-8B35-3146-8058-6797B0BF8486}"/>
              </a:ext>
            </a:extLst>
          </p:cNvPr>
          <p:cNvSpPr txBox="1"/>
          <p:nvPr/>
        </p:nvSpPr>
        <p:spPr>
          <a:xfrm>
            <a:off x="186352" y="447385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实际的控制流转换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C27595-8AB2-0D49-B213-F43DBA2859C3}"/>
              </a:ext>
            </a:extLst>
          </p:cNvPr>
          <p:cNvSpPr/>
          <p:nvPr/>
        </p:nvSpPr>
        <p:spPr>
          <a:xfrm>
            <a:off x="4262434" y="4294072"/>
            <a:ext cx="670535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58BB48-0CBD-6D4E-A2D4-9885BDA0DCAF}"/>
              </a:ext>
            </a:extLst>
          </p:cNvPr>
          <p:cNvSpPr/>
          <p:nvPr/>
        </p:nvSpPr>
        <p:spPr>
          <a:xfrm>
            <a:off x="2727590" y="429407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590692-AC73-4840-9155-638F04371313}"/>
              </a:ext>
            </a:extLst>
          </p:cNvPr>
          <p:cNvSpPr/>
          <p:nvPr/>
        </p:nvSpPr>
        <p:spPr>
          <a:xfrm>
            <a:off x="7712742" y="429407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7099BA9-657E-C248-B58D-5E865A55717A}"/>
              </a:ext>
            </a:extLst>
          </p:cNvPr>
          <p:cNvCxnSpPr>
            <a:cxnSpLocks/>
          </p:cNvCxnSpPr>
          <p:nvPr/>
        </p:nvCxnSpPr>
        <p:spPr>
          <a:xfrm>
            <a:off x="3997829" y="4568067"/>
            <a:ext cx="26460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25CF86C-6FD4-B44E-87AD-7E43E3B42FD3}"/>
              </a:ext>
            </a:extLst>
          </p:cNvPr>
          <p:cNvCxnSpPr>
            <a:cxnSpLocks/>
          </p:cNvCxnSpPr>
          <p:nvPr/>
        </p:nvCxnSpPr>
        <p:spPr>
          <a:xfrm>
            <a:off x="7236296" y="4567506"/>
            <a:ext cx="476446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3D09AC47-B701-7E40-A1D0-B14ACF1162C0}"/>
              </a:ext>
            </a:extLst>
          </p:cNvPr>
          <p:cNvSpPr/>
          <p:nvPr/>
        </p:nvSpPr>
        <p:spPr>
          <a:xfrm>
            <a:off x="6501314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4A073A2-B69A-3446-8209-42C7A2263A96}"/>
              </a:ext>
            </a:extLst>
          </p:cNvPr>
          <p:cNvSpPr/>
          <p:nvPr/>
        </p:nvSpPr>
        <p:spPr>
          <a:xfrm>
            <a:off x="6014285" y="4293511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33910BB-12AA-B84C-A4B1-04E0B6B5DE43}"/>
              </a:ext>
            </a:extLst>
          </p:cNvPr>
          <p:cNvSpPr/>
          <p:nvPr/>
        </p:nvSpPr>
        <p:spPr>
          <a:xfrm>
            <a:off x="7017018" y="4294072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DC01EDE1-459C-B445-836D-F4AFAED39B9D}"/>
              </a:ext>
            </a:extLst>
          </p:cNvPr>
          <p:cNvCxnSpPr>
            <a:cxnSpLocks/>
          </p:cNvCxnSpPr>
          <p:nvPr/>
        </p:nvCxnSpPr>
        <p:spPr>
          <a:xfrm flipV="1">
            <a:off x="4932969" y="4567506"/>
            <a:ext cx="563447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CE1B94B4-D628-0145-B2EC-8511035A4118}"/>
              </a:ext>
            </a:extLst>
          </p:cNvPr>
          <p:cNvSpPr/>
          <p:nvPr/>
        </p:nvSpPr>
        <p:spPr>
          <a:xfrm>
            <a:off x="5496416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C4426A1-DA86-8746-AB02-421659FDA9B1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 flipV="1">
            <a:off x="5684422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C1EE5C9-8C85-6A41-844B-2F23C9701914}"/>
              </a:ext>
            </a:extLst>
          </p:cNvPr>
          <p:cNvCxnSpPr>
            <a:cxnSpLocks/>
            <a:stCxn id="42" idx="3"/>
            <a:endCxn id="41" idx="1"/>
          </p:cNvCxnSpPr>
          <p:nvPr/>
        </p:nvCxnSpPr>
        <p:spPr>
          <a:xfrm>
            <a:off x="6171451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31F9F8B-0E94-7B41-9E6C-DCFA726C7B4F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6689320" y="4568067"/>
            <a:ext cx="327698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DBC15BB-835E-B747-B086-D5228C2AE40C}"/>
              </a:ext>
            </a:extLst>
          </p:cNvPr>
          <p:cNvSpPr txBox="1"/>
          <p:nvPr/>
        </p:nvSpPr>
        <p:spPr>
          <a:xfrm>
            <a:off x="5864717" y="50804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不相关进程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8E5D7CB-67BE-9E47-8E2C-EA0D16B84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645" y="4090574"/>
            <a:ext cx="329863" cy="32986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6E52A435-E174-4C42-863A-8EF8F0B5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090" y="4101842"/>
            <a:ext cx="329863" cy="329863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A2CA1ECF-EE40-6C48-B5C6-54E78CEB6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169" y="4100828"/>
            <a:ext cx="329863" cy="329863"/>
          </a:xfrm>
          <a:prstGeom prst="rect">
            <a:avLst/>
          </a:prstGeom>
        </p:spPr>
      </p:pic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F584828-5402-E649-BE01-A567B0453DD3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5590419" y="4842062"/>
            <a:ext cx="405226" cy="282544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B7B6BB69-9246-1440-800D-5728561C14BD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6403355" y="4842062"/>
            <a:ext cx="191962" cy="31226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6920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迁移线程</a:t>
            </a:r>
            <a:r>
              <a:rPr kumimoji="1" lang="en-US" altLang="zh-CN" sz="3200" dirty="0"/>
              <a:t>:</a:t>
            </a:r>
            <a:r>
              <a:rPr kumimoji="1" lang="zh-CN" altLang="en-US" sz="3200" dirty="0"/>
              <a:t> 将</a:t>
            </a:r>
            <a:r>
              <a:rPr kumimoji="1" lang="en-US" altLang="zh-CN" sz="3200" dirty="0"/>
              <a:t>Client</a:t>
            </a:r>
            <a:r>
              <a:rPr kumimoji="1" lang="zh-CN" altLang="en-US" sz="3200" dirty="0"/>
              <a:t>运行在</a:t>
            </a:r>
            <a:r>
              <a:rPr kumimoji="1" lang="en-US" altLang="zh-CN" sz="3200" dirty="0"/>
              <a:t>Server</a:t>
            </a:r>
            <a:r>
              <a:rPr kumimoji="1" lang="zh-CN" altLang="en-US" sz="3200" dirty="0"/>
              <a:t>的上下文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为什么需要做控制流转换</a:t>
            </a:r>
            <a:r>
              <a:rPr kumimoji="1" lang="en-US" altLang="zh-CN" dirty="0"/>
              <a:t>?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的权限 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如访问某些系统资源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只切换地址空间、权限表等状态，不做调度和线程切换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062825" y="4225652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880838" y="422789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881096" y="422565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3151077" y="4499647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013573" y="4499647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3711271" y="3530164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</a:t>
            </a:r>
            <a:r>
              <a:rPr kumimoji="1" lang="zh-CN" altLang="en-US" dirty="0"/>
              <a:t>线程获得了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线程的上下文</a:t>
            </a: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3DA7CF9F-A131-C348-9FEA-3AF4BA131919}"/>
              </a:ext>
            </a:extLst>
          </p:cNvPr>
          <p:cNvCxnSpPr>
            <a:cxnSpLocks/>
          </p:cNvCxnSpPr>
          <p:nvPr/>
        </p:nvCxnSpPr>
        <p:spPr>
          <a:xfrm flipH="1" flipV="1">
            <a:off x="5655548" y="3790400"/>
            <a:ext cx="644644" cy="4352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34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数据拷贝的性能损失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大部分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类系统，经过内核的传输有</a:t>
            </a:r>
            <a:r>
              <a:rPr kumimoji="1" lang="en-US" altLang="zh-CN" dirty="0"/>
              <a:t>(</a:t>
            </a:r>
            <a:r>
              <a:rPr kumimoji="1" lang="zh-CN" altLang="en-US" dirty="0"/>
              <a:t>至少</a:t>
            </a:r>
            <a:r>
              <a:rPr kumimoji="1" lang="en-US" altLang="zh-CN" dirty="0"/>
              <a:t>)</a:t>
            </a:r>
            <a:r>
              <a:rPr kumimoji="1" lang="zh-CN" altLang="en-US" dirty="0"/>
              <a:t>两次拷贝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Client→</a:t>
            </a:r>
            <a:r>
              <a:rPr kumimoji="1" lang="zh-CN" altLang="en-US" dirty="0"/>
              <a:t>内核</a:t>
            </a:r>
            <a:r>
              <a:rPr kumimoji="1" lang="en-US" altLang="zh-CN" dirty="0"/>
              <a:t>→ Server</a:t>
            </a:r>
          </a:p>
          <a:p>
            <a:r>
              <a:rPr kumimoji="1" lang="zh-CN" altLang="en-US" dirty="0"/>
              <a:t>数据拷贝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慢</a:t>
            </a:r>
            <a:r>
              <a:rPr kumimoji="1" lang="en-US" altLang="zh-CN" dirty="0"/>
              <a:t>:</a:t>
            </a:r>
            <a:r>
              <a:rPr kumimoji="1" lang="zh-CN" altLang="en-US" dirty="0"/>
              <a:t> 拷贝本身的性能就不快 </a:t>
            </a:r>
            <a:r>
              <a:rPr kumimoji="1" lang="en-US" altLang="zh-CN" dirty="0"/>
              <a:t>(</a:t>
            </a:r>
            <a:r>
              <a:rPr kumimoji="1" lang="zh-CN" altLang="en-US" dirty="0"/>
              <a:t>内存指令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不可扩展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数据量增大</a:t>
            </a:r>
            <a:r>
              <a:rPr kumimoji="1" lang="en-US" altLang="zh-CN" dirty="0"/>
              <a:t>10x</a:t>
            </a:r>
            <a:r>
              <a:rPr kumimoji="1" lang="zh-CN" altLang="en-US" dirty="0"/>
              <a:t>，时延增大</a:t>
            </a:r>
            <a:r>
              <a:rPr kumimoji="1" lang="en-US" altLang="zh-CN" dirty="0"/>
              <a:t>10x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100684" y="4583448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918697" y="458569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918955" y="4583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3B55A939-E21A-4240-9844-581FE4227C0F}"/>
              </a:ext>
            </a:extLst>
          </p:cNvPr>
          <p:cNvSpPr/>
          <p:nvPr/>
        </p:nvSpPr>
        <p:spPr>
          <a:xfrm>
            <a:off x="2609633" y="4279626"/>
            <a:ext cx="1740568" cy="305150"/>
          </a:xfrm>
          <a:custGeom>
            <a:avLst/>
            <a:gdLst>
              <a:gd name="connsiteX0" fmla="*/ 0 w 1740568"/>
              <a:gd name="connsiteY0" fmla="*/ 537454 h 561518"/>
              <a:gd name="connsiteX1" fmla="*/ 858252 w 1740568"/>
              <a:gd name="connsiteY1" fmla="*/ 44 h 561518"/>
              <a:gd name="connsiteX2" fmla="*/ 1740568 w 1740568"/>
              <a:gd name="connsiteY2" fmla="*/ 561518 h 56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0568" h="561518">
                <a:moveTo>
                  <a:pt x="0" y="537454"/>
                </a:moveTo>
                <a:cubicBezTo>
                  <a:pt x="284078" y="266743"/>
                  <a:pt x="568157" y="-3967"/>
                  <a:pt x="858252" y="44"/>
                </a:cubicBezTo>
                <a:cubicBezTo>
                  <a:pt x="1148347" y="4055"/>
                  <a:pt x="1444457" y="282786"/>
                  <a:pt x="1740568" y="5615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04554BE3-034F-3149-9831-CBA29DB7CB8F}"/>
              </a:ext>
            </a:extLst>
          </p:cNvPr>
          <p:cNvSpPr/>
          <p:nvPr/>
        </p:nvSpPr>
        <p:spPr>
          <a:xfrm>
            <a:off x="4743233" y="4263581"/>
            <a:ext cx="1451810" cy="305151"/>
          </a:xfrm>
          <a:custGeom>
            <a:avLst/>
            <a:gdLst>
              <a:gd name="connsiteX0" fmla="*/ 0 w 1451810"/>
              <a:gd name="connsiteY0" fmla="*/ 665747 h 665747"/>
              <a:gd name="connsiteX1" fmla="*/ 737936 w 1451810"/>
              <a:gd name="connsiteY1" fmla="*/ 0 h 665747"/>
              <a:gd name="connsiteX2" fmla="*/ 1451810 w 1451810"/>
              <a:gd name="connsiteY2" fmla="*/ 665747 h 66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1810" h="665747">
                <a:moveTo>
                  <a:pt x="0" y="665747"/>
                </a:moveTo>
                <a:cubicBezTo>
                  <a:pt x="247984" y="332873"/>
                  <a:pt x="495968" y="0"/>
                  <a:pt x="737936" y="0"/>
                </a:cubicBezTo>
                <a:cubicBezTo>
                  <a:pt x="979904" y="0"/>
                  <a:pt x="1215857" y="332873"/>
                  <a:pt x="1451810" y="665747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29A6C9-BF67-C749-B829-BFBF9517E01C}"/>
              </a:ext>
            </a:extLst>
          </p:cNvPr>
          <p:cNvSpPr txBox="1"/>
          <p:nvPr/>
        </p:nvSpPr>
        <p:spPr>
          <a:xfrm>
            <a:off x="2456467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用户态拷贝到内核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6473F1C-47C3-5F47-8DCC-97F6ADA47ED0}"/>
              </a:ext>
            </a:extLst>
          </p:cNvPr>
          <p:cNvSpPr txBox="1"/>
          <p:nvPr/>
        </p:nvSpPr>
        <p:spPr>
          <a:xfrm>
            <a:off x="4684308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内核拷贝到用户态</a:t>
            </a:r>
          </a:p>
        </p:txBody>
      </p:sp>
    </p:spTree>
    <p:extLst>
      <p:ext uri="{BB962C8B-B14F-4D97-AF65-F5344CB8AC3E}">
        <p14:creationId xmlns:p14="http://schemas.microsoft.com/office/powerpoint/2010/main" val="40970609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共享参数栈和寄存器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参数栈 </a:t>
            </a:r>
            <a:r>
              <a:rPr kumimoji="1" lang="en-US" altLang="zh-CN" dirty="0"/>
              <a:t>(Argument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系统内核为每一对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连接预先分配好一个</a:t>
            </a:r>
            <a:r>
              <a:rPr kumimoji="1" lang="en-US" altLang="zh-CN" dirty="0"/>
              <a:t>A-stack</a:t>
            </a:r>
          </a:p>
          <a:p>
            <a:pPr lvl="1"/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被同时映射在</a:t>
            </a:r>
            <a:r>
              <a:rPr kumimoji="1" lang="en-US" altLang="zh-CN" dirty="0">
                <a:solidFill>
                  <a:schemeClr val="accent1"/>
                </a:solidFill>
              </a:rPr>
              <a:t>Client</a:t>
            </a:r>
            <a:r>
              <a:rPr kumimoji="1" lang="zh-CN" altLang="en-US" dirty="0">
                <a:solidFill>
                  <a:schemeClr val="accent1"/>
                </a:solidFill>
              </a:rPr>
              <a:t>进程和</a:t>
            </a:r>
            <a:r>
              <a:rPr kumimoji="1" lang="en-US" altLang="zh-CN" dirty="0">
                <a:solidFill>
                  <a:schemeClr val="accent1"/>
                </a:solidFill>
              </a:rPr>
              <a:t>Server</a:t>
            </a:r>
            <a:r>
              <a:rPr kumimoji="1" lang="zh-CN" altLang="en-US" dirty="0">
                <a:solidFill>
                  <a:schemeClr val="accent1"/>
                </a:solidFill>
              </a:rPr>
              <a:t>进程地址空间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进程只需要将参数准备到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即可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不需要内核额外拷贝</a:t>
            </a:r>
            <a:endParaRPr kumimoji="1" lang="en-US" altLang="zh-CN" dirty="0"/>
          </a:p>
          <a:p>
            <a:r>
              <a:rPr kumimoji="1" lang="zh-CN" altLang="en-US" dirty="0"/>
              <a:t>执行栈（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E-stack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普通的上下文切换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保存当前寄存器状态 </a:t>
            </a:r>
            <a:r>
              <a:rPr kumimoji="1" lang="en-US" altLang="zh-CN" dirty="0"/>
              <a:t>→</a:t>
            </a:r>
            <a:r>
              <a:rPr kumimoji="1" lang="zh-CN" altLang="en-US" dirty="0"/>
              <a:t> 恢复切换到的进程寄存器状态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LRPC</a:t>
            </a:r>
            <a:r>
              <a:rPr kumimoji="1" lang="zh-CN" altLang="en-US" dirty="0"/>
              <a:t>迁移进程</a:t>
            </a:r>
            <a:r>
              <a:rPr kumimoji="1" lang="en-US" altLang="zh-CN" dirty="0"/>
              <a:t>:</a:t>
            </a:r>
            <a:r>
              <a:rPr kumimoji="1" lang="zh-CN" altLang="en-US" dirty="0"/>
              <a:t> 直接使用当前的通用寄存器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类似函数调用中用寄存器传递参数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6681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轻量远程调用：通信连接建立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Server</a:t>
            </a:r>
            <a:r>
              <a:rPr kumimoji="1" lang="zh-CN" altLang="en-US" dirty="0"/>
              <a:t>进程通过内核注册一个服务描述符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对应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进程内部的一个处理函数</a:t>
            </a:r>
            <a:r>
              <a:rPr kumimoji="1" lang="en-US" altLang="zh-CN" dirty="0"/>
              <a:t>(Handler)</a:t>
            </a:r>
          </a:p>
          <a:p>
            <a:r>
              <a:rPr kumimoji="1" lang="zh-CN" altLang="en-US" dirty="0"/>
              <a:t>内核为服务描述符预先分配好参数栈</a:t>
            </a:r>
            <a:endParaRPr kumimoji="1" lang="en-US" altLang="zh-CN" dirty="0"/>
          </a:p>
          <a:p>
            <a:r>
              <a:rPr kumimoji="1" lang="zh-CN" altLang="en-US" dirty="0"/>
              <a:t>内核为服务描述符分配好调用记录 </a:t>
            </a:r>
            <a:r>
              <a:rPr kumimoji="1" lang="en-US" altLang="zh-CN" dirty="0"/>
              <a:t>(Linkage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record)</a:t>
            </a:r>
          </a:p>
          <a:p>
            <a:pPr lvl="1"/>
            <a:r>
              <a:rPr kumimoji="1" lang="zh-CN" altLang="en-US" dirty="0"/>
              <a:t>用于从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进程处返回（类似栈）</a:t>
            </a:r>
            <a:endParaRPr kumimoji="1" lang="en-US" altLang="zh-CN" dirty="0"/>
          </a:p>
          <a:p>
            <a:r>
              <a:rPr kumimoji="1" lang="zh-CN" altLang="en-US" dirty="0"/>
              <a:t>内核将参数栈交给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进程，作为一个绑定成功的标志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在通信过程中，通过检查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来判断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是否正确发起通信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9319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轻量远程调用：基本用户接口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4330824" cy="4385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Server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register_service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handler_func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&amp;E-stack);</a:t>
            </a:r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void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handler_func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{</a:t>
            </a:r>
            <a:br>
              <a:rPr kumimoji="1" lang="en-US" altLang="zh-CN" sz="1800" dirty="0"/>
            </a:br>
            <a:r>
              <a:rPr kumimoji="1" lang="en-US" altLang="zh-CN" sz="1800" dirty="0"/>
              <a:t>u64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ret;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从寄存器和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中获取参数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 使用</a:t>
            </a:r>
            <a:r>
              <a:rPr kumimoji="1" lang="en-US" altLang="zh-CN" sz="1800" dirty="0"/>
              <a:t>E-stack(</a:t>
            </a:r>
            <a:r>
              <a:rPr kumimoji="1" lang="zh-CN" altLang="en-US" sz="1800" dirty="0"/>
              <a:t>运行栈</a:t>
            </a:r>
            <a:r>
              <a:rPr kumimoji="1" lang="en-US" altLang="zh-CN" sz="1800" dirty="0"/>
              <a:t>)</a:t>
            </a:r>
            <a:r>
              <a:rPr kumimoji="1" lang="zh-CN" altLang="en-US" sz="1800" dirty="0"/>
              <a:t>来处理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返回结果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ipc_return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}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DC7A370-6245-E140-B14C-625CA6568733}"/>
              </a:ext>
            </a:extLst>
          </p:cNvPr>
          <p:cNvSpPr txBox="1">
            <a:spLocks/>
          </p:cNvSpPr>
          <p:nvPr/>
        </p:nvSpPr>
        <p:spPr>
          <a:xfrm>
            <a:off x="4499992" y="1129308"/>
            <a:ext cx="4425217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Client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service_connect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service_name</a:t>
            </a:r>
            <a:r>
              <a:rPr kumimoji="1" lang="en-US" altLang="zh-CN" sz="1800" dirty="0"/>
              <a:t>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/</a:t>
            </a:r>
            <a:r>
              <a:rPr kumimoji="1" lang="zh-CN" altLang="en-US" sz="1800" dirty="0"/>
              <a:t>* 准备数据到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*</a:t>
            </a:r>
            <a:r>
              <a:rPr kumimoji="1" lang="en-US" altLang="zh-CN" sz="1800" dirty="0"/>
              <a:t>arg0—7</a:t>
            </a:r>
            <a:r>
              <a:rPr kumimoji="1" lang="zh-CN" altLang="en-US" sz="1800" dirty="0"/>
              <a:t> 为寄存器数据*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7984A7-FD36-0D40-BCC0-F19512243FB2}"/>
              </a:ext>
            </a:extLst>
          </p:cNvPr>
          <p:cNvSpPr/>
          <p:nvPr/>
        </p:nvSpPr>
        <p:spPr>
          <a:xfrm>
            <a:off x="577162" y="1435513"/>
            <a:ext cx="3994838" cy="9004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BFB11-D407-6F40-8345-E01EB940A90B}"/>
              </a:ext>
            </a:extLst>
          </p:cNvPr>
          <p:cNvSpPr txBox="1"/>
          <p:nvPr/>
        </p:nvSpPr>
        <p:spPr>
          <a:xfrm>
            <a:off x="2507871" y="1071364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r>
              <a:rPr kumimoji="1" lang="zh-CN" altLang="en-US" dirty="0">
                <a:solidFill>
                  <a:schemeClr val="accent1"/>
                </a:solidFill>
              </a:rPr>
              <a:t> 注册服务描述符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C16469-B40F-9543-9290-6C03BEAE03BF}"/>
              </a:ext>
            </a:extLst>
          </p:cNvPr>
          <p:cNvSpPr/>
          <p:nvPr/>
        </p:nvSpPr>
        <p:spPr>
          <a:xfrm>
            <a:off x="4907986" y="1579528"/>
            <a:ext cx="3994838" cy="2357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582D92-7F58-2343-94C5-5CC0EED96B98}"/>
              </a:ext>
            </a:extLst>
          </p:cNvPr>
          <p:cNvSpPr txBox="1"/>
          <p:nvPr/>
        </p:nvSpPr>
        <p:spPr>
          <a:xfrm>
            <a:off x="6851597" y="118351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r>
              <a:rPr kumimoji="1" lang="zh-CN" altLang="en-US" dirty="0">
                <a:solidFill>
                  <a:schemeClr val="accent1"/>
                </a:solidFill>
              </a:rPr>
              <a:t> 连接服务并调用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0ADD43-4B06-6849-BD49-691179C81147}"/>
              </a:ext>
            </a:extLst>
          </p:cNvPr>
          <p:cNvSpPr/>
          <p:nvPr/>
        </p:nvSpPr>
        <p:spPr>
          <a:xfrm>
            <a:off x="577162" y="2564904"/>
            <a:ext cx="3994838" cy="27320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753523-173D-9845-B3E1-D3804AFA1276}"/>
              </a:ext>
            </a:extLst>
          </p:cNvPr>
          <p:cNvSpPr txBox="1"/>
          <p:nvPr/>
        </p:nvSpPr>
        <p:spPr>
          <a:xfrm>
            <a:off x="4543008" y="4646087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③</a:t>
            </a:r>
            <a:r>
              <a:rPr kumimoji="1" lang="zh-CN" altLang="en-US" dirty="0">
                <a:solidFill>
                  <a:schemeClr val="accent1"/>
                </a:solidFill>
              </a:rPr>
              <a:t> 用</a:t>
            </a:r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和寄存器获取参数，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r>
              <a:rPr kumimoji="1" lang="zh-CN" altLang="en-US" dirty="0">
                <a:solidFill>
                  <a:schemeClr val="accent1"/>
                </a:solidFill>
              </a:rPr>
              <a:t>用运行栈来执行逻辑</a:t>
            </a:r>
          </a:p>
        </p:txBody>
      </p:sp>
    </p:spTree>
    <p:extLst>
      <p:ext uri="{BB962C8B-B14F-4D97-AF65-F5344CB8AC3E}">
        <p14:creationId xmlns:p14="http://schemas.microsoft.com/office/powerpoint/2010/main" val="631754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轻量远程调用：一次调用过程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内核验证绑定对象的正确性，并找到正确的服务描述符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内核验证参数栈和连接记录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检查是否有并发调用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可能导致</a:t>
            </a:r>
            <a:r>
              <a:rPr kumimoji="1" lang="en-US" altLang="zh-CN" b="0" dirty="0"/>
              <a:t>A-stack</a:t>
            </a:r>
            <a:r>
              <a:rPr kumimoji="1" lang="zh-CN" altLang="en-US" b="0" dirty="0"/>
              <a:t>等异常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</a:t>
            </a:r>
            <a:r>
              <a:rPr kumimoji="1" lang="en-US" altLang="zh-CN" b="0" dirty="0"/>
              <a:t>Client</a:t>
            </a:r>
            <a:r>
              <a:rPr kumimoji="1" lang="zh-CN" altLang="en-US" b="0" dirty="0"/>
              <a:t>的返回地址和栈指针放到连接记录中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将连接记录放到线程控制结构体中的栈上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支持嵌套</a:t>
            </a:r>
            <a:r>
              <a:rPr kumimoji="1" lang="en-US" altLang="zh-CN" b="0" dirty="0"/>
              <a:t>LRPC</a:t>
            </a:r>
            <a:r>
              <a:rPr kumimoji="1" lang="zh-CN" altLang="en-US" b="0" dirty="0"/>
              <a:t>调用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找到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</a:t>
            </a:r>
            <a:r>
              <a:rPr kumimoji="1" lang="en-US" altLang="zh-CN" b="0" i="1" dirty="0"/>
              <a:t>E-stack</a:t>
            </a:r>
            <a:r>
              <a:rPr kumimoji="1" lang="zh-CN" altLang="en-US" b="0" i="1" dirty="0"/>
              <a:t> </a:t>
            </a:r>
            <a:r>
              <a:rPr kumimoji="1" lang="en-US" altLang="zh-CN" b="0" i="1" dirty="0"/>
              <a:t>(</a:t>
            </a:r>
            <a:r>
              <a:rPr kumimoji="1" lang="zh-CN" altLang="en-US" b="0" dirty="0"/>
              <a:t>执行代码所使用的栈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将当前线程的栈指针设置为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进程的运行栈地址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将地址空间切换到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执行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地址空间中的处理函数</a:t>
            </a:r>
            <a:endParaRPr kumimoji="1"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61489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轻量远程调用：通信调用实现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8363272" cy="4277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内核中的代码</a:t>
            </a:r>
            <a:endParaRPr kumimoji="1" lang="en-US" altLang="zh-CN" sz="1800" dirty="0"/>
          </a:p>
          <a:p>
            <a:pPr lvl="1">
              <a:buNone/>
            </a:pP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arg7):</a:t>
            </a: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verify_binding</a:t>
            </a:r>
            <a:r>
              <a:rPr kumimoji="1" lang="en-US" altLang="zh-CN" sz="1800" dirty="0"/>
              <a:t>(A-stack);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验证</a:t>
            </a:r>
            <a:r>
              <a:rPr kumimoji="1" lang="en-US" altLang="zh-CN" sz="1800" dirty="0">
                <a:solidFill>
                  <a:schemeClr val="accent5"/>
                </a:solidFill>
              </a:rPr>
              <a:t>A-stack</a:t>
            </a:r>
            <a:r>
              <a:rPr kumimoji="1" lang="zh-CN" altLang="en-US" sz="1800" dirty="0">
                <a:solidFill>
                  <a:schemeClr val="accent5"/>
                </a:solidFill>
              </a:rPr>
              <a:t>正确性 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get_desc_from_A</a:t>
            </a:r>
            <a:r>
              <a:rPr kumimoji="1" lang="en-US" altLang="zh-CN" sz="1800" dirty="0"/>
              <a:t>(A-stack);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*其他安全检查</a:t>
            </a:r>
            <a:r>
              <a:rPr kumimoji="1" lang="en-US" altLang="zh-CN" sz="1800" dirty="0">
                <a:solidFill>
                  <a:schemeClr val="accent5"/>
                </a:solidFill>
              </a:rPr>
              <a:t>:</a:t>
            </a:r>
            <a:r>
              <a:rPr kumimoji="1" lang="zh-CN" altLang="en-US" sz="1800" dirty="0">
                <a:solidFill>
                  <a:schemeClr val="accent5"/>
                </a:solidFill>
              </a:rPr>
              <a:t> 是否存在并发调用？*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save_ctx_to_linkage_record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保存调用信息到连接记录上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save_linkage_record</a:t>
            </a:r>
            <a:r>
              <a:rPr kumimoji="1" lang="en-US" altLang="zh-CN" sz="1800" dirty="0"/>
              <a:t>();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 切换运行状态 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switch_PT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修改页表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switch_cap_table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修改权限表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switch_sp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修改栈地址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….</a:t>
            </a:r>
            <a:r>
              <a:rPr kumimoji="1" lang="zh-CN" altLang="en-US" sz="1800" dirty="0"/>
              <a:t>   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返回到用户态</a:t>
            </a:r>
            <a:r>
              <a:rPr kumimoji="1" lang="en-US" altLang="zh-CN" sz="1800" dirty="0">
                <a:solidFill>
                  <a:schemeClr val="accent5"/>
                </a:solidFill>
              </a:rPr>
              <a:t>(</a:t>
            </a:r>
            <a:r>
              <a:rPr kumimoji="1" lang="zh-CN" altLang="en-US" sz="1800" dirty="0">
                <a:solidFill>
                  <a:schemeClr val="accent5"/>
                </a:solidFill>
              </a:rPr>
              <a:t>服务端进程</a:t>
            </a:r>
            <a:r>
              <a:rPr kumimoji="1" lang="en-US" altLang="zh-CN" sz="1800" dirty="0">
                <a:solidFill>
                  <a:schemeClr val="accent5"/>
                </a:solidFill>
              </a:rPr>
              <a:t>)</a:t>
            </a:r>
            <a:r>
              <a:rPr kumimoji="1" lang="zh-CN" altLang="en-US" sz="1800" dirty="0">
                <a:solidFill>
                  <a:schemeClr val="accent5"/>
                </a:solidFill>
              </a:rPr>
              <a:t>，不修改参数寄存器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ctx_restore_with_args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4501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为什么需要将栈分成参数栈和运行栈？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LRPC</a:t>
            </a:r>
            <a:r>
              <a:rPr kumimoji="1" lang="zh-CN" altLang="en-US" dirty="0"/>
              <a:t>中控制流转换的主要开销是什么？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在不考虑多线程的情况下，共享参数栈是否安全？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7440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303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通信进程直接切换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启发自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L4</a:t>
            </a:r>
            <a:r>
              <a:rPr kumimoji="1" lang="zh-CN" altLang="en-US" dirty="0"/>
              <a:t>直接切换技术</a:t>
            </a:r>
            <a:endParaRPr kumimoji="1" lang="en-US" altLang="zh-CN" dirty="0"/>
          </a:p>
          <a:p>
            <a:r>
              <a:rPr kumimoji="1" lang="zh-CN" altLang="en-US" dirty="0"/>
              <a:t>同步的通信</a:t>
            </a:r>
            <a:endParaRPr kumimoji="1" lang="en-US" altLang="zh-CN" dirty="0"/>
          </a:p>
          <a:p>
            <a:r>
              <a:rPr kumimoji="1" lang="zh-CN" altLang="en-US" dirty="0"/>
              <a:t>通过共享内存传输大数据</a:t>
            </a:r>
            <a:endParaRPr kumimoji="1" lang="en-US" altLang="zh-CN" dirty="0"/>
          </a:p>
          <a:p>
            <a:r>
              <a:rPr kumimoji="1" lang="zh-CN" altLang="en-US" dirty="0"/>
              <a:t>基于</a:t>
            </a:r>
            <a:r>
              <a:rPr kumimoji="1" lang="en" altLang="zh-CN" dirty="0"/>
              <a:t>Capability</a:t>
            </a:r>
            <a:r>
              <a:rPr kumimoji="1" lang="zh-CN" altLang="en-US" dirty="0"/>
              <a:t>的权限控制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文件描述符的权限机制，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表示一个线程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进程对于系统资源的具体权限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6204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建立通信连接</a:t>
            </a:r>
            <a:endParaRPr kumimoji="1"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服务端进程在内核中注册服务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客户端进程向内核申请连接目标服务端进程的服务</a:t>
            </a:r>
            <a:endParaRPr kumimoji="1" lang="en-US" altLang="zh-CN" dirty="0"/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内核将客户端请求请求转发给服务端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服务端告诉内核同意连接 </a:t>
            </a:r>
            <a:r>
              <a:rPr kumimoji="1" lang="en-US" altLang="zh-CN" dirty="0"/>
              <a:t>(</a:t>
            </a:r>
            <a:r>
              <a:rPr kumimoji="1" lang="zh-CN" altLang="en-US" dirty="0"/>
              <a:t>或拒绝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内核建立连接，并把连接的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返回给客户端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或</a:t>
            </a:r>
            <a:r>
              <a:rPr kumimoji="1" lang="zh-CN" altLang="en-US"/>
              <a:t>返回拒绝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8812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通信过程 </a:t>
            </a:r>
            <a:r>
              <a:rPr kumimoji="1" lang="en-US" altLang="zh-CN" dirty="0"/>
              <a:t>(</a:t>
            </a:r>
            <a:r>
              <a:rPr kumimoji="1" lang="zh-CN" altLang="en-US" dirty="0"/>
              <a:t>发起通信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客户端进程通过连接的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发起进程间通信请求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内核检查权限，若通过则继续步骤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，否则返回错误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内核直接切换到服务端进程执行 </a:t>
            </a:r>
            <a:r>
              <a:rPr kumimoji="1" lang="en-US" altLang="zh-CN" dirty="0"/>
              <a:t>(</a:t>
            </a:r>
            <a:r>
              <a:rPr kumimoji="1" lang="zh-CN" altLang="en-US" dirty="0"/>
              <a:t>不经过调度器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将通信请求的参数设置给服务端进程的寄存器中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服务端处理完毕后，通过与步骤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相反的过程将返回值传回客户端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7794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用户态通信调用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F537623-9C52-114E-87C6-1371C8417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9" y="1582398"/>
            <a:ext cx="3621923" cy="3273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4DED60-715B-BD4B-B02D-7CDF08FFF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46" y="2165101"/>
            <a:ext cx="4842383" cy="22461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CE11971-6977-C645-93DC-AE86D5E41068}"/>
              </a:ext>
            </a:extLst>
          </p:cNvPr>
          <p:cNvCxnSpPr>
            <a:cxnSpLocks/>
          </p:cNvCxnSpPr>
          <p:nvPr/>
        </p:nvCxnSpPr>
        <p:spPr>
          <a:xfrm flipH="1" flipV="1">
            <a:off x="3563888" y="2281436"/>
            <a:ext cx="3816424" cy="15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D26973A-0786-F84C-900B-68F0478A0159}"/>
              </a:ext>
            </a:extLst>
          </p:cNvPr>
          <p:cNvCxnSpPr>
            <a:cxnSpLocks/>
          </p:cNvCxnSpPr>
          <p:nvPr/>
        </p:nvCxnSpPr>
        <p:spPr>
          <a:xfrm>
            <a:off x="1763688" y="3037520"/>
            <a:ext cx="2981740" cy="762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167796D-C3AE-904E-8A3C-626081DB1D32}"/>
              </a:ext>
            </a:extLst>
          </p:cNvPr>
          <p:cNvSpPr txBox="1"/>
          <p:nvPr/>
        </p:nvSpPr>
        <p:spPr>
          <a:xfrm>
            <a:off x="6308467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8F8E74-9708-2841-B87E-029D939F8DE7}"/>
              </a:ext>
            </a:extLst>
          </p:cNvPr>
          <p:cNvSpPr txBox="1"/>
          <p:nvPr/>
        </p:nvSpPr>
        <p:spPr>
          <a:xfrm>
            <a:off x="3046809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4865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1B1EF17-7581-AD4C-9C05-B932B8E6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52078"/>
            <a:ext cx="5646937" cy="33211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27B58-6C28-5D46-9AB7-20D91BDCFE94}"/>
              </a:ext>
            </a:extLst>
          </p:cNvPr>
          <p:cNvSpPr/>
          <p:nvPr/>
        </p:nvSpPr>
        <p:spPr>
          <a:xfrm>
            <a:off x="755575" y="3041895"/>
            <a:ext cx="5430913" cy="3042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1D76FA0-35C7-374B-B512-1653B6E3FB0A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flipH="1">
            <a:off x="3471032" y="1407467"/>
            <a:ext cx="1821048" cy="163442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4152864-7DCC-2D4A-88B3-D6AB9CF3933B}"/>
              </a:ext>
            </a:extLst>
          </p:cNvPr>
          <p:cNvSpPr txBox="1"/>
          <p:nvPr/>
        </p:nvSpPr>
        <p:spPr>
          <a:xfrm>
            <a:off x="5292080" y="1222801"/>
            <a:ext cx="385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获取内核的连接对象，检查</a:t>
            </a:r>
            <a:r>
              <a:rPr kumimoji="1" lang="en-US" altLang="zh-CN" dirty="0"/>
              <a:t>cap</a:t>
            </a:r>
            <a:r>
              <a:rPr kumimoji="1" lang="zh-CN" altLang="en-US" dirty="0"/>
              <a:t>权限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D3A125-A940-8842-8146-EA181E57A522}"/>
              </a:ext>
            </a:extLst>
          </p:cNvPr>
          <p:cNvSpPr txBox="1"/>
          <p:nvPr/>
        </p:nvSpPr>
        <p:spPr>
          <a:xfrm>
            <a:off x="6268840" y="3463806"/>
            <a:ext cx="2417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在传递之前需要将</a:t>
            </a:r>
            <a:r>
              <a:rPr lang="en" altLang="zh-CN" dirty="0" err="1"/>
              <a:t>ipc_msg</a:t>
            </a:r>
            <a:r>
              <a:rPr lang="zh-CN" altLang="en-US" dirty="0"/>
              <a:t>在客户进程的虚拟地址转换到服务进程中的虚拟地址 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2AFC3ED-71CC-3148-ADE5-F9543F053993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63020" y="4063971"/>
            <a:ext cx="2905820" cy="11120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B4AC79E-09A5-5D4C-AA44-88F8B3546EF2}"/>
              </a:ext>
            </a:extLst>
          </p:cNvPr>
          <p:cNvSpPr/>
          <p:nvPr/>
        </p:nvSpPr>
        <p:spPr>
          <a:xfrm>
            <a:off x="755575" y="4066247"/>
            <a:ext cx="2592289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EE7562-529F-0D49-A492-45C28F704B4D}"/>
              </a:ext>
            </a:extLst>
          </p:cNvPr>
          <p:cNvSpPr/>
          <p:nvPr/>
        </p:nvSpPr>
        <p:spPr>
          <a:xfrm>
            <a:off x="755574" y="4290825"/>
            <a:ext cx="3096347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0361F4-DCD3-3042-B817-84390F0B2F85}"/>
              </a:ext>
            </a:extLst>
          </p:cNvPr>
          <p:cNvSpPr txBox="1"/>
          <p:nvPr/>
        </p:nvSpPr>
        <p:spPr>
          <a:xfrm>
            <a:off x="3553024" y="489596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将控制流移交给服务进程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EEEB9CE9-CE48-D74D-B39E-0870A6553E96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3851921" y="4399758"/>
            <a:ext cx="1182700" cy="4882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30">
            <a:extLst>
              <a:ext uri="{FF2B5EF4-FFF2-40B4-BE49-F238E27FC236}">
                <a16:creationId xmlns:a16="http://schemas.microsoft.com/office/drawing/2014/main" id="{5F332FC4-2D26-2143-A30D-4F94C022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IPC_call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0322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F124B9-2ADF-0F44-8698-FCAF3A764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36168"/>
            <a:ext cx="5587082" cy="1642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AE657DD-0282-BC4B-8433-2CFC8D5937C1}"/>
              </a:ext>
            </a:extLst>
          </p:cNvPr>
          <p:cNvSpPr txBox="1"/>
          <p:nvPr/>
        </p:nvSpPr>
        <p:spPr>
          <a:xfrm>
            <a:off x="4067944" y="393700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将控制流移交给客户进程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EB2103D-6C46-864D-9F26-0B59E2C4422A}"/>
              </a:ext>
            </a:extLst>
          </p:cNvPr>
          <p:cNvCxnSpPr>
            <a:cxnSpLocks/>
          </p:cNvCxnSpPr>
          <p:nvPr/>
        </p:nvCxnSpPr>
        <p:spPr>
          <a:xfrm flipH="1" flipV="1">
            <a:off x="4139952" y="2857500"/>
            <a:ext cx="1409589" cy="107152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1A3C94F-5A6E-C04C-80C4-372ED76AB111}"/>
              </a:ext>
            </a:extLst>
          </p:cNvPr>
          <p:cNvSpPr/>
          <p:nvPr/>
        </p:nvSpPr>
        <p:spPr>
          <a:xfrm>
            <a:off x="899592" y="2713485"/>
            <a:ext cx="3240360" cy="2606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E8874DC-E350-CB40-838C-3CD3A50A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en-US" altLang="zh-CN" dirty="0" err="1"/>
              <a:t>IPC_return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25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47649</TotalTime>
  <Words>6176</Words>
  <Application>Microsoft Macintosh PowerPoint</Application>
  <PresentationFormat>全屏显示(16:10)</PresentationFormat>
  <Paragraphs>836</Paragraphs>
  <Slides>69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5" baseType="lpstr">
      <vt:lpstr>DengXian</vt:lpstr>
      <vt:lpstr>微软雅黑</vt:lpstr>
      <vt:lpstr>Arial</vt:lpstr>
      <vt:lpstr>Calibri</vt:lpstr>
      <vt:lpstr>Consolas</vt:lpstr>
      <vt:lpstr>Office 主题​​</vt:lpstr>
      <vt:lpstr>进程间通信</vt:lpstr>
      <vt:lpstr>版权声明</vt:lpstr>
      <vt:lpstr>回顾: 进程</vt:lpstr>
      <vt:lpstr>应用程序的功能非常复杂</vt:lpstr>
      <vt:lpstr>独立进程的问题-1: 大量重复实现</vt:lpstr>
      <vt:lpstr>独立进程的问题-2: 低效实现</vt:lpstr>
      <vt:lpstr>独立进程的问题-3: 没有信息共享</vt:lpstr>
      <vt:lpstr>如果不同进程之间可以协作</vt:lpstr>
      <vt:lpstr>进程间通信（IPC）</vt:lpstr>
      <vt:lpstr>常见IPC的类型</vt:lpstr>
      <vt:lpstr>管道：文件接口的IPC</vt:lpstr>
      <vt:lpstr>Unix 管道</vt:lpstr>
      <vt:lpstr>Unix 管道</vt:lpstr>
      <vt:lpstr>Unix 管道</vt:lpstr>
      <vt:lpstr>Unix 管道</vt:lpstr>
      <vt:lpstr>Unix 管道</vt:lpstr>
      <vt:lpstr>管道的优点与问题</vt:lpstr>
      <vt:lpstr>命名管道</vt:lpstr>
      <vt:lpstr>共享内存（内存接口的IPC）</vt:lpstr>
      <vt:lpstr>共享内存</vt:lpstr>
      <vt:lpstr>共享内存</vt:lpstr>
      <vt:lpstr>共享内存</vt:lpstr>
      <vt:lpstr>共享内存</vt:lpstr>
      <vt:lpstr>共享内存</vt:lpstr>
      <vt:lpstr>共享内存的问题</vt:lpstr>
      <vt:lpstr>消息传递（Message Passing）</vt:lpstr>
      <vt:lpstr>消息传递</vt:lpstr>
      <vt:lpstr>消息传递</vt:lpstr>
      <vt:lpstr>直接通信</vt:lpstr>
      <vt:lpstr>直接通信</vt:lpstr>
      <vt:lpstr>快递员有好多苦恼 (1)</vt:lpstr>
      <vt:lpstr>间接通信: 用聊天群发布快递信息</vt:lpstr>
      <vt:lpstr>间接通信</vt:lpstr>
      <vt:lpstr>间接通信：用聊天群发布快递信息</vt:lpstr>
      <vt:lpstr>快递员有好多苦恼 (2)</vt:lpstr>
      <vt:lpstr>信箱共享的挑战</vt:lpstr>
      <vt:lpstr>快递员有好多苦恼 (3)</vt:lpstr>
      <vt:lpstr>消息传递的同步与异步</vt:lpstr>
      <vt:lpstr>超时机制</vt:lpstr>
      <vt:lpstr>同步通信和超时机制</vt:lpstr>
      <vt:lpstr>快递员有好多苦恼 (4)</vt:lpstr>
      <vt:lpstr>通信连接的缓冲: 快递桌的作用</vt:lpstr>
      <vt:lpstr>有缓存和没缓存的区别</vt:lpstr>
      <vt:lpstr>共享内存和消息传递的对比</vt:lpstr>
      <vt:lpstr>消息队列</vt:lpstr>
      <vt:lpstr>消息队列</vt:lpstr>
      <vt:lpstr>消息队列: 带类型的消息传递</vt:lpstr>
      <vt:lpstr>消息队列的例子</vt:lpstr>
      <vt:lpstr>消息队列：带类型的消息传递</vt:lpstr>
      <vt:lpstr>消息队列 VS. 管道</vt:lpstr>
      <vt:lpstr>轻量级远程方法调用 (LRPC)</vt:lpstr>
      <vt:lpstr>IPC通常会带来较大的性能损失</vt:lpstr>
      <vt:lpstr>轻量级远程调用 (LRPC)</vt:lpstr>
      <vt:lpstr>控制流转换: 调度导致不确定时延</vt:lpstr>
      <vt:lpstr>迁移线程: 将Client运行在Server的上下文</vt:lpstr>
      <vt:lpstr>数据传输: 数据拷贝的性能损失</vt:lpstr>
      <vt:lpstr>共享参数栈和寄存器</vt:lpstr>
      <vt:lpstr>轻量远程调用：通信连接建立</vt:lpstr>
      <vt:lpstr>轻量远程调用：基本用户接口</vt:lpstr>
      <vt:lpstr>轻量远程调用：一次调用过程</vt:lpstr>
      <vt:lpstr>轻量远程调用：通信调用实现</vt:lpstr>
      <vt:lpstr>轻量远程调用：讨论</vt:lpstr>
      <vt:lpstr>ChCORE进程间通信</vt:lpstr>
      <vt:lpstr>ChCore进程间通信</vt:lpstr>
      <vt:lpstr>建立通信连接</vt:lpstr>
      <vt:lpstr>通信过程 (发起通信)</vt:lpstr>
      <vt:lpstr>实现: 用户态通信调用</vt:lpstr>
      <vt:lpstr>实现: 通信系统调用</vt:lpstr>
      <vt:lpstr>实现: 通信系统调用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2810</cp:revision>
  <cp:lastPrinted>2020-04-06T15:15:51Z</cp:lastPrinted>
  <dcterms:created xsi:type="dcterms:W3CDTF">2017-11-24T09:35:45Z</dcterms:created>
  <dcterms:modified xsi:type="dcterms:W3CDTF">2022-03-15T01:53:46Z</dcterms:modified>
</cp:coreProperties>
</file>