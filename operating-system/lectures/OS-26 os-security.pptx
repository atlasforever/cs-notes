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1306" r:id="rId2"/>
    <p:sldId id="1359" r:id="rId3"/>
    <p:sldId id="2943" r:id="rId4"/>
    <p:sldId id="2286" r:id="rId5"/>
    <p:sldId id="2245" r:id="rId6"/>
    <p:sldId id="2258" r:id="rId7"/>
    <p:sldId id="2262" r:id="rId8"/>
    <p:sldId id="2270" r:id="rId9"/>
    <p:sldId id="2914" r:id="rId10"/>
    <p:sldId id="2830" r:id="rId11"/>
    <p:sldId id="2798" r:id="rId12"/>
    <p:sldId id="2799" r:id="rId13"/>
    <p:sldId id="2800" r:id="rId14"/>
    <p:sldId id="2801" r:id="rId15"/>
    <p:sldId id="2802" r:id="rId16"/>
    <p:sldId id="2803" r:id="rId17"/>
    <p:sldId id="2805" r:id="rId18"/>
    <p:sldId id="2806" r:id="rId19"/>
    <p:sldId id="2807" r:id="rId20"/>
    <p:sldId id="2808" r:id="rId21"/>
    <p:sldId id="2795" r:id="rId22"/>
    <p:sldId id="2857" r:id="rId23"/>
    <p:sldId id="2824" r:id="rId24"/>
    <p:sldId id="2825" r:id="rId25"/>
    <p:sldId id="2822" r:id="rId26"/>
    <p:sldId id="2942" r:id="rId27"/>
    <p:sldId id="2229" r:id="rId28"/>
    <p:sldId id="2230" r:id="rId29"/>
    <p:sldId id="2228" r:id="rId30"/>
    <p:sldId id="2231" r:id="rId31"/>
    <p:sldId id="2232" r:id="rId32"/>
    <p:sldId id="2233" r:id="rId33"/>
    <p:sldId id="2234" r:id="rId34"/>
    <p:sldId id="2235" r:id="rId35"/>
    <p:sldId id="2236" r:id="rId36"/>
    <p:sldId id="2237" r:id="rId37"/>
    <p:sldId id="2238" r:id="rId38"/>
    <p:sldId id="2284" r:id="rId39"/>
    <p:sldId id="2239" r:id="rId40"/>
    <p:sldId id="2240" r:id="rId41"/>
    <p:sldId id="2283" r:id="rId42"/>
    <p:sldId id="2243" r:id="rId43"/>
    <p:sldId id="2241" r:id="rId44"/>
    <p:sldId id="2944" r:id="rId45"/>
    <p:sldId id="2285" r:id="rId46"/>
    <p:sldId id="2946" r:id="rId47"/>
    <p:sldId id="2945" r:id="rId48"/>
    <p:sldId id="2947" r:id="rId49"/>
    <p:sldId id="2242" r:id="rId50"/>
    <p:sldId id="2244" r:id="rId51"/>
    <p:sldId id="2246" r:id="rId52"/>
    <p:sldId id="2247" r:id="rId53"/>
    <p:sldId id="2248" r:id="rId54"/>
    <p:sldId id="2249" r:id="rId55"/>
    <p:sldId id="2281" r:id="rId56"/>
    <p:sldId id="2282" r:id="rId57"/>
    <p:sldId id="2250" r:id="rId58"/>
    <p:sldId id="2251" r:id="rId5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558ED6"/>
    <a:srgbClr val="9BBC59"/>
    <a:srgbClr val="404040"/>
    <a:srgbClr val="FFFF99"/>
    <a:srgbClr val="D5C88B"/>
    <a:srgbClr val="385D8A"/>
    <a:srgbClr val="72893E"/>
    <a:srgbClr val="515151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5" autoAdjust="0"/>
    <p:restoredTop sz="75497" autoAdjust="0"/>
  </p:normalViewPr>
  <p:slideViewPr>
    <p:cSldViewPr>
      <p:cViewPr varScale="1">
        <p:scale>
          <a:sx n="76" d="100"/>
          <a:sy n="76" d="100"/>
        </p:scale>
        <p:origin x="200" y="1288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-4452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2022/5/10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7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小明抢不过小红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635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21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703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314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420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416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说明一下有很多子系统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701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29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于是给他们每个人都设置了</a:t>
            </a:r>
            <a:r>
              <a:rPr kumimoji="1" lang="en-US" altLang="zh-CN" dirty="0"/>
              <a:t>250MB/s</a:t>
            </a:r>
            <a:r>
              <a:rPr kumimoji="1" lang="ja-JP" altLang="en-US"/>
              <a:t>的最大值</a:t>
            </a:r>
            <a:endParaRPr kumimoji="1" lang="en-US" altLang="ja-JP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932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200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于是给他们每个人都设置了</a:t>
            </a:r>
            <a:r>
              <a:rPr kumimoji="1" lang="en-US" altLang="zh-CN" dirty="0"/>
              <a:t>250MB/s</a:t>
            </a:r>
            <a:r>
              <a:rPr kumimoji="1" lang="ja-JP" altLang="en-US"/>
              <a:t>的最大值</a:t>
            </a:r>
            <a:endParaRPr kumimoji="1" lang="en-US" altLang="ja-JP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824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15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934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00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5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094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222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所以，进程必须存在层次结构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708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691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操作系统安全机制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B6C06-CE60-3F40-AFF5-82EFAC00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：轻量级隔离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D72D13-C552-D843-8787-459E9654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Chroot</a:t>
            </a:r>
          </a:p>
          <a:p>
            <a:r>
              <a:rPr kumimoji="1" lang="zh-CN" altLang="en-US" dirty="0"/>
              <a:t>容器的</a:t>
            </a:r>
            <a:r>
              <a:rPr kumimoji="1" lang="en-US" altLang="zh-CN" dirty="0"/>
              <a:t>Namespace</a:t>
            </a:r>
          </a:p>
          <a:p>
            <a:r>
              <a:rPr kumimoji="1" lang="en-US" altLang="zh-CN" dirty="0"/>
              <a:t>SFI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CFI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XFI</a:t>
            </a:r>
          </a:p>
          <a:p>
            <a:r>
              <a:rPr kumimoji="1" lang="en-US" altLang="zh-CN" dirty="0"/>
              <a:t>NaCl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SFI</a:t>
            </a:r>
            <a:r>
              <a:rPr kumimoji="1" lang="zh-CN" altLang="en-US" dirty="0"/>
              <a:t>的一种实现）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1ABDBC-B48B-8E45-AB31-FADF8323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37A039-2F28-7F40-8F30-A074CBC55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44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60B59D8-F699-0449-91D8-2050F4E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基于硬件的进程内隔离：</a:t>
            </a:r>
            <a:r>
              <a:rPr kumimoji="1" lang="en-US" altLang="zh-CN" dirty="0"/>
              <a:t>Enclave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424B2-B4C6-5E40-B258-2C2E17AE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DE351-8C4F-1549-BF37-66DF01F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CFC59-3E2B-1846-8EB2-7A50DE080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56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6632CB8-7350-FC47-8EB7-D0020D01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Enclave</a:t>
            </a:r>
            <a:r>
              <a:rPr kumimoji="1" lang="zh-CN" altLang="en-US" dirty="0"/>
              <a:t>：以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SGX</a:t>
            </a:r>
            <a:r>
              <a:rPr kumimoji="1" lang="zh-CN" altLang="en-US" dirty="0"/>
              <a:t>为例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315016D-FB47-FF45-A25C-B1347908F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SGX:</a:t>
            </a:r>
            <a:r>
              <a:rPr kumimoji="1" lang="zh-CN" altLang="en-US" dirty="0"/>
              <a:t> </a:t>
            </a:r>
            <a:r>
              <a:rPr kumimoji="1" lang="en-US" altLang="zh-CN" dirty="0"/>
              <a:t>Software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eXtension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2015</a:t>
            </a:r>
            <a:r>
              <a:rPr kumimoji="1" lang="zh-CN" altLang="en-US" dirty="0"/>
              <a:t>年首次引入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Skylake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保护程序和代码在运行时的安全（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in-run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其他安全包括：存储时安全和传输时安全</a:t>
            </a:r>
            <a:endParaRPr kumimoji="1" lang="en-US" altLang="zh-CN" dirty="0"/>
          </a:p>
          <a:p>
            <a:r>
              <a:rPr kumimoji="1" lang="zh-CN" altLang="en-US" dirty="0"/>
              <a:t>关键技术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Enclave</a:t>
            </a:r>
            <a:r>
              <a:rPr kumimoji="1" lang="zh-CN" altLang="en-US" dirty="0"/>
              <a:t>内部与外部的隔离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内存加密与完整性保护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远程验证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E3206-C50E-2846-B816-6B2F0E23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12BA8D-37AF-DF48-B3FC-7F142CF88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21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111E-4ECD-DE4B-80B5-4E520ADF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硬件内存加密与保护机制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325AF-1AA6-304A-A8B3-21670F1B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硬件加密保护隐私性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外皆为密文，包括内存、存储、网络等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内部为明文，包括各级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与寄存器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数据进出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时，由进行加密和解密操作</a:t>
            </a:r>
            <a:endParaRPr kumimoji="1" lang="en-US" altLang="zh-CN" dirty="0"/>
          </a:p>
          <a:p>
            <a:r>
              <a:rPr kumimoji="1" lang="zh-CN" altLang="en-US" dirty="0"/>
              <a:t>硬件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保护完整性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对内存中数据计算一级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，对一级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计算二级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，形成树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内部仅保存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，其它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保存在不可信的内存中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当内存中的数据被修改时，更新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EB3EF0-B8FB-1346-B5E1-A660F16E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5ABBF-D54D-564F-8AA6-1F00114E2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71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4DE-BDEA-054F-9223-9E9DB14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EPC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308D2-CD3D-3442-9AC5-69551A17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预留一部分内存，仅允许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连续的</a:t>
            </a:r>
            <a:r>
              <a:rPr kumimoji="1" lang="en-US" altLang="zh-CN" dirty="0"/>
              <a:t>128MB/256MB</a:t>
            </a:r>
            <a:r>
              <a:rPr kumimoji="1" lang="zh-CN" altLang="en-US" dirty="0"/>
              <a:t>，这部分不会暴露给软件操作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全部加密，并保证数据的完整性（即无法篡改）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可能的篡改方法：通过总线直接修改</a:t>
            </a:r>
            <a:endParaRPr kumimoji="1" lang="en-US" altLang="zh-CN" dirty="0"/>
          </a:p>
          <a:p>
            <a:r>
              <a:rPr kumimoji="1" lang="zh-CN" altLang="en-US" dirty="0"/>
              <a:t>操作系统负责将</a:t>
            </a:r>
            <a:r>
              <a:rPr kumimoji="1" lang="en-US" altLang="zh-CN" dirty="0"/>
              <a:t>EPC</a:t>
            </a:r>
            <a:r>
              <a:rPr kumimoji="1" lang="zh-CN" altLang="en-US" dirty="0"/>
              <a:t>添加并映射至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操作系统也可以触发</a:t>
            </a:r>
            <a:r>
              <a:rPr kumimoji="1" lang="en-US" altLang="zh-CN" dirty="0"/>
              <a:t>swap</a:t>
            </a:r>
            <a:r>
              <a:rPr kumimoji="1" lang="zh-CN" altLang="en-US" dirty="0"/>
              <a:t>，将数据从</a:t>
            </a:r>
            <a:r>
              <a:rPr kumimoji="1" lang="en-US" altLang="zh-CN" dirty="0"/>
              <a:t>EPC</a:t>
            </a:r>
            <a:r>
              <a:rPr kumimoji="1" lang="zh-CN" altLang="en-US" dirty="0"/>
              <a:t>交换到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由专门的硬件指令来进行</a:t>
            </a:r>
            <a:r>
              <a:rPr kumimoji="1" lang="en-US" altLang="zh-CN" dirty="0"/>
              <a:t>swap</a:t>
            </a:r>
            <a:r>
              <a:rPr kumimoji="1" lang="zh-CN" altLang="en-US" dirty="0"/>
              <a:t>，粒度为一个内存页（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注意：页表依然由不可信的操作系统控制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BD862-F832-A749-9EBF-BE37422F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15C11-1E75-2443-A8DE-29F1B69D5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545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8C0CD-6BEC-8046-8F10-1D9D9EAF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Enclave</a:t>
            </a:r>
            <a:r>
              <a:rPr kumimoji="1" lang="zh-CN" altLang="en-US" dirty="0"/>
              <a:t>与进程的关系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980B2-5917-654B-88C3-93D7BB7B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4906888" cy="3900263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1800" dirty="0"/>
              <a:t>Enclave</a:t>
            </a:r>
            <a:r>
              <a:rPr kumimoji="1" lang="zh-CN" altLang="en-US" sz="1800" dirty="0"/>
              <a:t>是进程的一部分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内外共享一个虚拟地址空间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内部可以访问外部的内存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反之则不行</a:t>
            </a:r>
            <a:endParaRPr kumimoji="1" lang="en-US" altLang="zh-CN" sz="1600" dirty="0"/>
          </a:p>
          <a:p>
            <a:r>
              <a:rPr kumimoji="1" lang="zh-CN" altLang="en-US" sz="1800" dirty="0"/>
              <a:t>创建</a:t>
            </a:r>
            <a:r>
              <a:rPr kumimoji="1" lang="en-US" altLang="zh-CN" sz="1800" dirty="0"/>
              <a:t>Enclave</a:t>
            </a:r>
            <a:r>
              <a:rPr kumimoji="1" lang="zh-CN" altLang="en-US" sz="1800" dirty="0"/>
              <a:t>的过程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创建进程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分配虚拟地址空间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将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中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并将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映射到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的虚拟地址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循环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，完成所有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加载和映射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600" dirty="0"/>
              <a:t>完成进程创建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422488-341A-D843-BD34-B06E1FC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B2AFA-D19E-2B4C-8C76-638937421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11999-B79E-9F4B-A1C0-240E64DA5B9B}"/>
              </a:ext>
            </a:extLst>
          </p:cNvPr>
          <p:cNvSpPr/>
          <p:nvPr/>
        </p:nvSpPr>
        <p:spPr>
          <a:xfrm>
            <a:off x="5652120" y="1489347"/>
            <a:ext cx="1584176" cy="3456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656B9F-0A90-4047-8585-3519B8B9C637}"/>
              </a:ext>
            </a:extLst>
          </p:cNvPr>
          <p:cNvSpPr/>
          <p:nvPr/>
        </p:nvSpPr>
        <p:spPr>
          <a:xfrm>
            <a:off x="5796136" y="1641747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OS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C0718-3FE0-394A-AF61-F7631F7B5918}"/>
              </a:ext>
            </a:extLst>
          </p:cNvPr>
          <p:cNvSpPr/>
          <p:nvPr/>
        </p:nvSpPr>
        <p:spPr>
          <a:xfrm>
            <a:off x="5796136" y="3158558"/>
            <a:ext cx="1296144" cy="5554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Enclave</a:t>
            </a:r>
            <a:endParaRPr kumimoji="1"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EBD464-F7CC-E34A-B258-DC24203B254F}"/>
              </a:ext>
            </a:extLst>
          </p:cNvPr>
          <p:cNvSpPr/>
          <p:nvPr/>
        </p:nvSpPr>
        <p:spPr>
          <a:xfrm>
            <a:off x="5796136" y="3712275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2C5E04-58F7-9C4B-81AB-BB946BC3F979}"/>
              </a:ext>
            </a:extLst>
          </p:cNvPr>
          <p:cNvSpPr/>
          <p:nvPr/>
        </p:nvSpPr>
        <p:spPr>
          <a:xfrm>
            <a:off x="5796136" y="4267724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6D55C4-8BB8-4541-93BF-5F5EE18115DC}"/>
              </a:ext>
            </a:extLst>
          </p:cNvPr>
          <p:cNvSpPr/>
          <p:nvPr/>
        </p:nvSpPr>
        <p:spPr>
          <a:xfrm>
            <a:off x="7620000" y="2379961"/>
            <a:ext cx="1296144" cy="244321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44A0CE2-1DAE-1645-9863-514C980BBBCB}"/>
              </a:ext>
            </a:extLst>
          </p:cNvPr>
          <p:cNvCxnSpPr/>
          <p:nvPr/>
        </p:nvCxnSpPr>
        <p:spPr>
          <a:xfrm flipV="1">
            <a:off x="7092280" y="2379961"/>
            <a:ext cx="527720" cy="77859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F729EC0-E1DC-5843-978E-2BD82756A839}"/>
              </a:ext>
            </a:extLst>
          </p:cNvPr>
          <p:cNvCxnSpPr/>
          <p:nvPr/>
        </p:nvCxnSpPr>
        <p:spPr>
          <a:xfrm>
            <a:off x="7092280" y="3712275"/>
            <a:ext cx="527720" cy="110916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535EDA3-C9BB-FA43-8EC1-0B289DC99E7A}"/>
              </a:ext>
            </a:extLst>
          </p:cNvPr>
          <p:cNvSpPr/>
          <p:nvPr/>
        </p:nvSpPr>
        <p:spPr>
          <a:xfrm>
            <a:off x="7739980" y="254686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A9F651-BEB2-8048-8241-DD8BBFE1A03B}"/>
              </a:ext>
            </a:extLst>
          </p:cNvPr>
          <p:cNvSpPr/>
          <p:nvPr/>
        </p:nvSpPr>
        <p:spPr>
          <a:xfrm>
            <a:off x="7739980" y="3094139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CC464F-67CC-0246-8D5C-66492D910CC9}"/>
              </a:ext>
            </a:extLst>
          </p:cNvPr>
          <p:cNvSpPr/>
          <p:nvPr/>
        </p:nvSpPr>
        <p:spPr>
          <a:xfrm>
            <a:off x="7727826" y="411870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Metadata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49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性能</a:t>
            </a:r>
            <a:r>
              <a:rPr kumimoji="1" lang="ja-JP" altLang="en-US" dirty="0"/>
              <a:t>隔离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0612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资源竞争问题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27640D2A-F83C-7146-9142-2776594E2816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-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8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0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是什么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Linux</a:t>
            </a:r>
            <a:r>
              <a:rPr kumimoji="1" lang="ja-JP" altLang="en-US"/>
              <a:t>内核</a:t>
            </a:r>
            <a:r>
              <a:rPr kumimoji="1" lang="zh-CN" altLang="en-US" dirty="0"/>
              <a:t>（</a:t>
            </a:r>
            <a:r>
              <a:rPr kumimoji="1" lang="ja-JP" altLang="en-US"/>
              <a:t>从</a:t>
            </a:r>
            <a:r>
              <a:rPr kumimoji="1" lang="en-US" altLang="ja-JP" dirty="0"/>
              <a:t>Linux</a:t>
            </a:r>
            <a:r>
              <a:rPr kumimoji="1" lang="en-US" altLang="zh-CN" dirty="0"/>
              <a:t>2.6.24</a:t>
            </a:r>
            <a:r>
              <a:rPr kumimoji="1" lang="ja-JP" altLang="en-US"/>
              <a:t>开始</a:t>
            </a:r>
            <a:r>
              <a:rPr kumimoji="1" lang="zh-CN" altLang="en-US" dirty="0"/>
              <a:t>）</a:t>
            </a:r>
            <a:r>
              <a:rPr kumimoji="1" lang="ja-JP" altLang="en-US"/>
              <a:t>提供的一种资源隔离的功能</a:t>
            </a:r>
            <a:endParaRPr kumimoji="1" lang="en-US" altLang="ja-JP" dirty="0"/>
          </a:p>
          <a:p>
            <a:r>
              <a:rPr kumimoji="1" lang="en-US" altLang="ja-JP" dirty="0" err="1"/>
              <a:t>Cgroups</a:t>
            </a:r>
            <a:r>
              <a:rPr kumimoji="1" lang="ja-JP" altLang="en-US"/>
              <a:t>可以做什么</a:t>
            </a:r>
            <a:endParaRPr kumimoji="1" lang="en-US" altLang="ja-JP" dirty="0"/>
          </a:p>
          <a:p>
            <a:pPr lvl="1"/>
            <a:r>
              <a:rPr kumimoji="1" lang="ja-JP" altLang="en-US"/>
              <a:t>将线程分组</a:t>
            </a:r>
            <a:endParaRPr kumimoji="1" lang="en-US" altLang="ja-JP" dirty="0"/>
          </a:p>
          <a:p>
            <a:pPr lvl="1"/>
            <a:r>
              <a:rPr kumimoji="1" lang="ja-JP" altLang="en-US"/>
              <a:t>对每组线程使用的多种物理资源进行限制和监控</a:t>
            </a:r>
            <a:endParaRPr kumimoji="1" lang="en-US" altLang="ja-JP" dirty="0"/>
          </a:p>
          <a:p>
            <a:r>
              <a:rPr kumimoji="1" lang="ja-JP" altLang="en-US"/>
              <a:t>怎么用</a:t>
            </a:r>
            <a:r>
              <a:rPr kumimoji="1" lang="en-US" altLang="ja-JP" dirty="0" err="1"/>
              <a:t>Cgroups</a:t>
            </a:r>
            <a:endParaRPr kumimoji="1" lang="en-US" altLang="ja-JP" dirty="0"/>
          </a:p>
          <a:p>
            <a:pPr lvl="1"/>
            <a:r>
              <a:rPr kumimoji="1" lang="ja-JP" altLang="en-US"/>
              <a:t>名为</a:t>
            </a:r>
            <a:r>
              <a:rPr kumimoji="1" lang="en-US" altLang="ja-JP" dirty="0" err="1"/>
              <a:t>cgroupfs</a:t>
            </a:r>
            <a:r>
              <a:rPr kumimoji="1" lang="ja-JP" altLang="en-US"/>
              <a:t>的伪文件系统提供了用户接口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/>
              <a:t>Control </a:t>
            </a:r>
            <a:r>
              <a:rPr kumimoji="1" lang="en-US" altLang="ja-JP" dirty="0" err="1"/>
              <a:t>Cgroups</a:t>
            </a:r>
            <a:r>
              <a:rPr kumimoji="1" lang="en-US" altLang="ja-JP" dirty="0"/>
              <a:t> (</a:t>
            </a:r>
            <a:r>
              <a:rPr kumimoji="1" lang="en-US" altLang="ja-JP" dirty="0" err="1"/>
              <a:t>Cgroups</a:t>
            </a:r>
            <a:r>
              <a:rPr kumimoji="1" lang="en-US" altLang="ja-JP" dirty="0"/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334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任务</a:t>
            </a:r>
            <a:r>
              <a:rPr kumimoji="1" lang="zh-CN" altLang="en-US" dirty="0"/>
              <a:t>（</a:t>
            </a:r>
            <a:r>
              <a:rPr kumimoji="1" lang="en-US" altLang="ja-JP" dirty="0"/>
              <a:t>task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控制组</a:t>
            </a:r>
            <a:r>
              <a:rPr kumimoji="1" lang="zh-CN" altLang="en-US" dirty="0"/>
              <a:t>（</a:t>
            </a:r>
            <a:r>
              <a:rPr kumimoji="1" lang="en-US" altLang="ja-JP" dirty="0" err="1"/>
              <a:t>cgroup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子系统</a:t>
            </a:r>
            <a:r>
              <a:rPr kumimoji="1" lang="zh-CN" altLang="en-US" dirty="0"/>
              <a:t>（</a:t>
            </a:r>
            <a:r>
              <a:rPr kumimoji="1" lang="en-US" altLang="ja-JP" dirty="0"/>
              <a:t>subsystem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层级</a:t>
            </a:r>
            <a:r>
              <a:rPr kumimoji="1" lang="zh-CN" altLang="en-US" dirty="0"/>
              <a:t> （</a:t>
            </a:r>
            <a:r>
              <a:rPr kumimoji="1" lang="en-US" altLang="ja-JP" dirty="0"/>
              <a:t>hierarchy</a:t>
            </a:r>
            <a:r>
              <a:rPr kumimoji="1" lang="zh-CN" altLang="en-US" dirty="0"/>
              <a:t>）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的常用术语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20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任务</a:t>
            </a:r>
            <a:r>
              <a:rPr kumimoji="1" lang="zh-CN" altLang="en-US" dirty="0"/>
              <a:t>（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A5BB05-0287-3642-B6D2-1AC69D10DEEA}"/>
              </a:ext>
            </a:extLst>
          </p:cNvPr>
          <p:cNvSpPr/>
          <p:nvPr/>
        </p:nvSpPr>
        <p:spPr>
          <a:xfrm>
            <a:off x="3275856" y="2832310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713847-F7ED-1E4A-B486-21C6F8554057}"/>
              </a:ext>
            </a:extLst>
          </p:cNvPr>
          <p:cNvSpPr/>
          <p:nvPr/>
        </p:nvSpPr>
        <p:spPr>
          <a:xfrm>
            <a:off x="5674223" y="2831775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任务就是系统中的一个线程</a:t>
            </a:r>
            <a:endParaRPr kumimoji="1" lang="en-US" altLang="ja-JP" dirty="0"/>
          </a:p>
          <a:p>
            <a:r>
              <a:rPr kumimoji="1" lang="ja-JP" altLang="en-US"/>
              <a:t>例如</a:t>
            </a:r>
            <a:r>
              <a:rPr kumimoji="1" lang="zh-CN" altLang="en-US" dirty="0"/>
              <a:t>：有</a:t>
            </a:r>
            <a:r>
              <a:rPr kumimoji="1" lang="ja-JP" altLang="en-US"/>
              <a:t>两个任务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task1</a:t>
            </a:r>
            <a:r>
              <a:rPr kumimoji="1" lang="ja-JP" altLang="en-US"/>
              <a:t>和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44106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5E105E87-5F03-2D48-A1AF-0E17F47D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进行资源监控和限制的单位</a:t>
            </a:r>
            <a:endParaRPr kumimoji="1" lang="en-US" altLang="ja-JP" dirty="0"/>
          </a:p>
          <a:p>
            <a:r>
              <a:rPr kumimoji="1" lang="ja-JP" altLang="en-US"/>
              <a:t>任务的集合</a:t>
            </a:r>
            <a:endParaRPr kumimoji="1" lang="en-US" altLang="ja-JP" dirty="0"/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cgroup1</a:t>
            </a:r>
            <a:r>
              <a:rPr kumimoji="1" lang="ja-JP" altLang="en-US"/>
              <a:t>包含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1</a:t>
            </a:r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</a:t>
            </a:r>
            <a:r>
              <a:rPr kumimoji="1" lang="en-US" altLang="zh-CN" dirty="0"/>
              <a:t>2</a:t>
            </a:r>
            <a:r>
              <a:rPr kumimoji="1" lang="ja-JP" altLang="en-US"/>
              <a:t>包含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</a:t>
            </a:r>
            <a:r>
              <a:rPr kumimoji="1" lang="en-US" altLang="zh-CN" dirty="0"/>
              <a:t>3</a:t>
            </a:r>
            <a:r>
              <a:rPr kumimoji="1" lang="ja-JP" altLang="en-US"/>
              <a:t>由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1</a:t>
            </a:r>
            <a:r>
              <a:rPr kumimoji="1" lang="ja-JP" altLang="en-US"/>
              <a:t>和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  <a:r>
              <a:rPr kumimoji="1" lang="ja-JP" altLang="en-US"/>
              <a:t>组成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控制组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Group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A5BB05-0287-3642-B6D2-1AC69D10DEEA}"/>
              </a:ext>
            </a:extLst>
          </p:cNvPr>
          <p:cNvSpPr/>
          <p:nvPr/>
        </p:nvSpPr>
        <p:spPr>
          <a:xfrm>
            <a:off x="2114327" y="4750910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713847-F7ED-1E4A-B486-21C6F8554057}"/>
              </a:ext>
            </a:extLst>
          </p:cNvPr>
          <p:cNvSpPr/>
          <p:nvPr/>
        </p:nvSpPr>
        <p:spPr>
          <a:xfrm>
            <a:off x="3942466" y="4755314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DECCA4F-3066-7C47-841E-EE1345ADA4B4}"/>
              </a:ext>
            </a:extLst>
          </p:cNvPr>
          <p:cNvSpPr/>
          <p:nvPr/>
        </p:nvSpPr>
        <p:spPr>
          <a:xfrm>
            <a:off x="5506494" y="4774212"/>
            <a:ext cx="878977" cy="387544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33D21B1-D906-054C-A7EF-62287A7BDCF7}"/>
              </a:ext>
            </a:extLst>
          </p:cNvPr>
          <p:cNvSpPr/>
          <p:nvPr/>
        </p:nvSpPr>
        <p:spPr>
          <a:xfrm>
            <a:off x="6723702" y="4774212"/>
            <a:ext cx="878977" cy="387544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2A4861B-4D6F-AD4E-BF19-6CDDE5643AE3}"/>
              </a:ext>
            </a:extLst>
          </p:cNvPr>
          <p:cNvCxnSpPr>
            <a:cxnSpLocks/>
            <a:stCxn id="40" idx="2"/>
            <a:endCxn id="32" idx="0"/>
          </p:cNvCxnSpPr>
          <p:nvPr/>
        </p:nvCxnSpPr>
        <p:spPr>
          <a:xfrm flipH="1">
            <a:off x="2553816" y="4283869"/>
            <a:ext cx="1" cy="4670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F943EE3-0647-C140-B991-3BA6213A31A1}"/>
              </a:ext>
            </a:extLst>
          </p:cNvPr>
          <p:cNvCxnSpPr>
            <a:cxnSpLocks/>
            <a:stCxn id="43" idx="2"/>
            <a:endCxn id="33" idx="0"/>
          </p:cNvCxnSpPr>
          <p:nvPr/>
        </p:nvCxnSpPr>
        <p:spPr>
          <a:xfrm flipH="1">
            <a:off x="4381955" y="4283869"/>
            <a:ext cx="1" cy="4714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0521F85-8AC2-EB4C-B2A6-D0895E0B84A2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 flipH="1">
            <a:off x="5945983" y="4298115"/>
            <a:ext cx="592376" cy="476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EA3BDE9-2632-1A45-A036-92843E97F9E3}"/>
              </a:ext>
            </a:extLst>
          </p:cNvPr>
          <p:cNvCxnSpPr>
            <a:cxnSpLocks/>
            <a:stCxn id="49" idx="2"/>
            <a:endCxn id="45" idx="0"/>
          </p:cNvCxnSpPr>
          <p:nvPr/>
        </p:nvCxnSpPr>
        <p:spPr>
          <a:xfrm>
            <a:off x="6538359" y="4298115"/>
            <a:ext cx="624832" cy="476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6B4B82D-5B17-BE4F-BF04-376AF28E3819}"/>
              </a:ext>
            </a:extLst>
          </p:cNvPr>
          <p:cNvSpPr/>
          <p:nvPr/>
        </p:nvSpPr>
        <p:spPr>
          <a:xfrm>
            <a:off x="1983074" y="3788623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0801641-0105-7641-A2FE-B4351626D357}"/>
              </a:ext>
            </a:extLst>
          </p:cNvPr>
          <p:cNvSpPr/>
          <p:nvPr/>
        </p:nvSpPr>
        <p:spPr>
          <a:xfrm>
            <a:off x="3811213" y="3788623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7AAB561-FB79-E749-BDAF-66E75CB7B700}"/>
              </a:ext>
            </a:extLst>
          </p:cNvPr>
          <p:cNvSpPr/>
          <p:nvPr/>
        </p:nvSpPr>
        <p:spPr>
          <a:xfrm>
            <a:off x="5967616" y="3802869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cgroup3</a:t>
            </a:r>
          </a:p>
        </p:txBody>
      </p:sp>
    </p:spTree>
    <p:extLst>
      <p:ext uri="{BB962C8B-B14F-4D97-AF65-F5344CB8AC3E}">
        <p14:creationId xmlns:p14="http://schemas.microsoft.com/office/powerpoint/2010/main" val="241955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44" grpId="0" animBg="1"/>
      <p:bldP spid="45" grpId="0" animBg="1"/>
      <p:bldP spid="40" grpId="0" animBg="1"/>
      <p:bldP spid="43" grpId="0" animBg="1"/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0C9BCC96-D963-3C4E-B618-0CCE27687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可以跟踪或限制控制组使用该类型物理资源的内核组件</a:t>
            </a:r>
            <a:endParaRPr kumimoji="1" lang="en-US" altLang="ja-JP" dirty="0"/>
          </a:p>
          <a:p>
            <a:r>
              <a:rPr kumimoji="1" lang="ja-JP" altLang="en-US"/>
              <a:t>也被称为资源控制器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子系统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Sub-system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DE4CA31-5EC7-1242-A57F-D39FE04F77E5}"/>
              </a:ext>
            </a:extLst>
          </p:cNvPr>
          <p:cNvSpPr/>
          <p:nvPr/>
        </p:nvSpPr>
        <p:spPr>
          <a:xfrm>
            <a:off x="1763688" y="3577580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cpu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6553DF8-4BCF-7E41-AA57-ADDE886D2730}"/>
              </a:ext>
            </a:extLst>
          </p:cNvPr>
          <p:cNvSpPr/>
          <p:nvPr/>
        </p:nvSpPr>
        <p:spPr>
          <a:xfrm>
            <a:off x="4150295" y="3577580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cpuacct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46B25EB-526B-2F40-A8DF-7E75E326FB20}"/>
              </a:ext>
            </a:extLst>
          </p:cNvPr>
          <p:cNvSpPr/>
          <p:nvPr/>
        </p:nvSpPr>
        <p:spPr>
          <a:xfrm>
            <a:off x="6732240" y="3576766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11760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层级</a:t>
            </a:r>
            <a:r>
              <a:rPr kumimoji="1" lang="zh-CN" altLang="en-US" dirty="0"/>
              <a:t>（</a:t>
            </a:r>
            <a:r>
              <a:rPr kumimoji="1" lang="en-US" altLang="zh-CN" dirty="0"/>
              <a:t>H</a:t>
            </a:r>
            <a:r>
              <a:rPr kumimoji="1" lang="en-US" altLang="ja-JP" dirty="0"/>
              <a:t>ierarchy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由控制组组成的树状结构</a:t>
            </a:r>
            <a:endParaRPr kumimoji="1" lang="en-US" altLang="ja-JP" dirty="0"/>
          </a:p>
          <a:p>
            <a:r>
              <a:rPr kumimoji="1" lang="ja-JP" altLang="en-US"/>
              <a:t>通过被挂载到文件系统中形成</a:t>
            </a:r>
            <a:endParaRPr kumimoji="1" lang="en-US" altLang="ja-JP" dirty="0"/>
          </a:p>
          <a:p>
            <a:r>
              <a:rPr kumimoji="1" lang="ja-JP" altLang="en-US"/>
              <a:t>一个任务在每个层级结构中只能属于一个控制组</a:t>
            </a:r>
            <a:endParaRPr kumimoji="1" lang="en-US" altLang="ja-JP" dirty="0"/>
          </a:p>
          <a:p>
            <a:r>
              <a:rPr kumimoji="1" lang="ja-JP" altLang="en-US"/>
              <a:t>一个子系统只能附加于一个层级结构</a:t>
            </a:r>
            <a:endParaRPr kumimoji="1" lang="en-US" altLang="ja-JP" dirty="0"/>
          </a:p>
          <a:p>
            <a:r>
              <a:rPr kumimoji="1" lang="ja-JP" altLang="en-US"/>
              <a:t>一个层级结构可以附加多个子系统</a:t>
            </a:r>
            <a:endParaRPr kumimoji="1" lang="en-US" altLang="ja-JP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5B4F7D9-C20B-114B-97E1-2A4F2735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5452"/>
            <a:ext cx="9144000" cy="252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31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最大值</a:t>
            </a:r>
            <a:endParaRPr kumimoji="1" lang="en-US" altLang="ja-JP" dirty="0"/>
          </a:p>
          <a:p>
            <a:pPr lvl="1"/>
            <a:r>
              <a:rPr kumimoji="1" lang="ja-JP" altLang="en-US"/>
              <a:t>直接设置一个控制组所能使用的物理资源的最大值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ja-JP" dirty="0"/>
          </a:p>
          <a:p>
            <a:pPr lvl="2"/>
            <a:r>
              <a:rPr kumimoji="1" lang="ja-JP" altLang="en-US"/>
              <a:t>内存子系统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最多能使用</a:t>
            </a:r>
            <a:r>
              <a:rPr kumimoji="1" lang="en-US" altLang="zh-CN" dirty="0"/>
              <a:t>1GB</a:t>
            </a:r>
            <a:r>
              <a:rPr kumimoji="1" lang="ja-JP" altLang="en-US"/>
              <a:t>内存</a:t>
            </a:r>
            <a:endParaRPr kumimoji="1" lang="en-US" altLang="ja-JP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最大能使用</a:t>
            </a:r>
            <a:r>
              <a:rPr kumimoji="1" lang="en-US" altLang="ja-JP" dirty="0"/>
              <a:t>100</a:t>
            </a:r>
            <a:r>
              <a:rPr kumimoji="1" lang="en-US" altLang="zh-CN" dirty="0"/>
              <a:t>MB/s</a:t>
            </a:r>
            <a:r>
              <a:rPr kumimoji="1" lang="ja-JP" altLang="en-US"/>
              <a:t>的磁盘</a:t>
            </a:r>
            <a:r>
              <a:rPr kumimoji="1" lang="en-US" altLang="ja-JP"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174007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A9887D-AD32-F540-8012-567F76318CF6}"/>
              </a:ext>
            </a:extLst>
          </p:cNvPr>
          <p:cNvSpPr txBox="1"/>
          <p:nvPr/>
        </p:nvSpPr>
        <p:spPr>
          <a:xfrm>
            <a:off x="568627" y="315561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250MB/s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1AC65-625A-5046-8997-13F062EC730A}"/>
              </a:ext>
            </a:extLst>
          </p:cNvPr>
          <p:cNvSpPr txBox="1"/>
          <p:nvPr/>
        </p:nvSpPr>
        <p:spPr>
          <a:xfrm>
            <a:off x="568626" y="429301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250MB/s</a:t>
            </a:r>
          </a:p>
        </p:txBody>
      </p:sp>
      <p:sp>
        <p:nvSpPr>
          <p:cNvPr id="23" name="Cloud Callout 22">
            <a:extLst>
              <a:ext uri="{FF2B5EF4-FFF2-40B4-BE49-F238E27FC236}">
                <a16:creationId xmlns:a16="http://schemas.microsoft.com/office/drawing/2014/main" id="{666D1562-2CE9-EB44-98B0-58584BE8FADC}"/>
              </a:ext>
            </a:extLst>
          </p:cNvPr>
          <p:cNvSpPr/>
          <p:nvPr/>
        </p:nvSpPr>
        <p:spPr>
          <a:xfrm>
            <a:off x="3866582" y="1808577"/>
            <a:ext cx="2808312" cy="1320602"/>
          </a:xfrm>
          <a:prstGeom prst="cloudCallout">
            <a:avLst>
              <a:gd name="adj1" fmla="val -60053"/>
              <a:gd name="adj2" fmla="val 42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没有其他人用</a:t>
            </a:r>
            <a:r>
              <a:rPr lang="zh-CN" altLang="en-US" dirty="0"/>
              <a:t>，</a:t>
            </a:r>
            <a:r>
              <a:rPr lang="ja-JP" altLang="en-US"/>
              <a:t>为什么我不能用</a:t>
            </a:r>
            <a:r>
              <a:rPr lang="en-US" altLang="zh-CN" dirty="0"/>
              <a:t>500MB/s</a:t>
            </a:r>
            <a:endParaRPr lang="en-US" dirty="0"/>
          </a:p>
        </p:txBody>
      </p:sp>
      <p:sp>
        <p:nvSpPr>
          <p:cNvPr id="28" name="Smiley Face 27">
            <a:extLst>
              <a:ext uri="{FF2B5EF4-FFF2-40B4-BE49-F238E27FC236}">
                <a16:creationId xmlns:a16="http://schemas.microsoft.com/office/drawing/2014/main" id="{AF6B5E59-D4E1-D84E-A370-42C861C29D39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-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0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3" grpId="1"/>
      <p:bldP spid="20" grpId="0"/>
      <p:bldP spid="21" grpId="0"/>
      <p:bldP spid="24" grpId="0"/>
      <p:bldP spid="23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最大值</a:t>
            </a:r>
            <a:endParaRPr kumimoji="1" lang="en-US" altLang="ja-JP" dirty="0"/>
          </a:p>
          <a:p>
            <a:pPr lvl="1"/>
            <a:r>
              <a:rPr kumimoji="1" lang="ja-JP" altLang="en-US"/>
              <a:t>直接设置一个控制组所能使用的物理资源的最大值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ja-JP" dirty="0"/>
          </a:p>
          <a:p>
            <a:pPr lvl="2"/>
            <a:r>
              <a:rPr kumimoji="1" lang="ja-JP" altLang="en-US"/>
              <a:t>内存子系统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最多能使用</a:t>
            </a:r>
            <a:r>
              <a:rPr kumimoji="1" lang="en-US" altLang="zh-CN" dirty="0"/>
              <a:t>1GB</a:t>
            </a:r>
            <a:r>
              <a:rPr kumimoji="1" lang="ja-JP" altLang="en-US"/>
              <a:t>内存</a:t>
            </a:r>
            <a:endParaRPr kumimoji="1" lang="en-US" altLang="ja-JP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最大能使用</a:t>
            </a:r>
            <a:r>
              <a:rPr kumimoji="1" lang="en-US" altLang="ja-JP" dirty="0"/>
              <a:t>100</a:t>
            </a:r>
            <a:r>
              <a:rPr kumimoji="1" lang="en-US" altLang="zh-CN" dirty="0"/>
              <a:t>MB/s</a:t>
            </a:r>
            <a:r>
              <a:rPr kumimoji="1" lang="ja-JP" altLang="en-US"/>
              <a:t>的磁盘</a:t>
            </a:r>
            <a:r>
              <a:rPr kumimoji="1" lang="en-US" altLang="ja-JP" dirty="0"/>
              <a:t>IO</a:t>
            </a:r>
          </a:p>
          <a:p>
            <a:r>
              <a:rPr kumimoji="1" lang="ja-JP" altLang="en-US"/>
              <a:t>比例</a:t>
            </a:r>
            <a:endParaRPr kumimoji="1" lang="en-US" altLang="ja-JP" dirty="0"/>
          </a:p>
          <a:p>
            <a:pPr lvl="1"/>
            <a:r>
              <a:rPr kumimoji="1" lang="ja-JP" altLang="en-US"/>
              <a:t>设置不同控制组使用同一物理资源时的资源分配比例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两个控制组按照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ja-JP" altLang="en-US"/>
              <a:t>的比例使用磁盘</a:t>
            </a:r>
            <a:r>
              <a:rPr kumimoji="1" lang="en-US" altLang="ja-JP" dirty="0"/>
              <a:t>IO</a:t>
            </a:r>
            <a:r>
              <a:rPr kumimoji="1" lang="ja-JP" altLang="en-US"/>
              <a:t>资源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CPU</a:t>
            </a:r>
            <a:r>
              <a:rPr kumimoji="1" lang="ja-JP" altLang="en-US"/>
              <a:t>子系统</a:t>
            </a:r>
            <a:r>
              <a:rPr kumimoji="1" lang="zh-CN" altLang="en-US" dirty="0"/>
              <a:t>：</a:t>
            </a:r>
            <a:r>
              <a:rPr kumimoji="1" lang="ja-JP" altLang="en-US"/>
              <a:t>两个控制组按照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ja-JP" altLang="en-US"/>
              <a:t>的比例使用</a:t>
            </a:r>
            <a:r>
              <a:rPr kumimoji="1" lang="en-US" altLang="ja-JP" dirty="0"/>
              <a:t>CPU</a:t>
            </a:r>
            <a:r>
              <a:rPr kumimoji="1" lang="ja-JP" altLang="en-US"/>
              <a:t>时间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408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A9887D-AD32-F540-8012-567F76318CF6}"/>
              </a:ext>
            </a:extLst>
          </p:cNvPr>
          <p:cNvSpPr txBox="1"/>
          <p:nvPr/>
        </p:nvSpPr>
        <p:spPr>
          <a:xfrm>
            <a:off x="568627" y="3155615"/>
            <a:ext cx="14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Weight: 500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1AC65-625A-5046-8997-13F062EC730A}"/>
              </a:ext>
            </a:extLst>
          </p:cNvPr>
          <p:cNvSpPr txBox="1"/>
          <p:nvPr/>
        </p:nvSpPr>
        <p:spPr>
          <a:xfrm>
            <a:off x="568626" y="4293014"/>
            <a:ext cx="14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Weight: 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834B2-201D-AA47-AA50-5D3AB8D517DF}"/>
              </a:ext>
            </a:extLst>
          </p:cNvPr>
          <p:cNvSpPr txBox="1"/>
          <p:nvPr/>
        </p:nvSpPr>
        <p:spPr>
          <a:xfrm>
            <a:off x="3832651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500MB/s</a:t>
            </a:r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6538F19-7F9D-9B46-9BE5-EF1E2EB7B489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4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20" grpId="0"/>
      <p:bldP spid="21" grpId="0"/>
      <p:bldP spid="24" grpId="0"/>
      <p:bldP spid="3" grpId="0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如何对任务使用资源进行监控和限制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进行监控和限制的单位是什么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ja-JP" altLang="en-US"/>
              <a:t>控制组</a:t>
            </a:r>
            <a:endParaRPr kumimoji="1" lang="en-US" altLang="ja-JP" dirty="0"/>
          </a:p>
          <a:p>
            <a:r>
              <a:rPr kumimoji="1" lang="ja-JP" altLang="en-US"/>
              <a:t>如何知道一个控制组使用了多少物理资源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ja-JP" altLang="en-US"/>
              <a:t>计算该控制组所有任务使用的该物理资源的总和</a:t>
            </a:r>
            <a:endParaRPr kumimoji="1" lang="en-US" altLang="ja-JP" dirty="0"/>
          </a:p>
          <a:p>
            <a:r>
              <a:rPr kumimoji="1" lang="ja-JP" altLang="en-US"/>
              <a:t>如何限制一个控制组</a:t>
            </a:r>
            <a:endParaRPr kumimoji="1" lang="en-US" altLang="ja-JP" dirty="0"/>
          </a:p>
          <a:p>
            <a:pPr lvl="1"/>
            <a:r>
              <a:rPr kumimoji="1" lang="ja-JP" altLang="en-US"/>
              <a:t>使该控制组的所有任务使用的物理资源不超过这个限制</a:t>
            </a:r>
            <a:endParaRPr kumimoji="1" lang="en-US" altLang="ja-JP" dirty="0"/>
          </a:p>
          <a:p>
            <a:pPr lvl="1"/>
            <a:r>
              <a:rPr kumimoji="1" lang="ja-JP" altLang="en-US"/>
              <a:t>在每个任务使用物理资源时</a:t>
            </a:r>
            <a:r>
              <a:rPr kumimoji="1" lang="zh-CN" altLang="en-US" dirty="0"/>
              <a:t>，</a:t>
            </a:r>
            <a:r>
              <a:rPr kumimoji="1" lang="ja-JP" altLang="en-US"/>
              <a:t>需要保证不违反该控制组的限制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19152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/>
              <a:t>CPU</a:t>
            </a:r>
            <a:r>
              <a:rPr kumimoji="1" lang="ja-JP" altLang="en-US"/>
              <a:t>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回顾</a:t>
            </a:r>
            <a:r>
              <a:rPr kumimoji="1" lang="en-US" altLang="ja-JP" dirty="0"/>
              <a:t>CFS</a:t>
            </a:r>
            <a:r>
              <a:rPr kumimoji="1" lang="zh-CN" altLang="en-US" dirty="0"/>
              <a:t>（</a:t>
            </a:r>
            <a:r>
              <a:rPr kumimoji="1" lang="ja-JP" altLang="en-US"/>
              <a:t>完全公平调度器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/>
              <a:t>可以为每个任务设定一个</a:t>
            </a:r>
            <a:r>
              <a:rPr kumimoji="1" lang="zh-CN" altLang="en-US" dirty="0"/>
              <a:t>“</a:t>
            </a:r>
            <a:r>
              <a:rPr kumimoji="1" lang="ja-JP" altLang="en-US"/>
              <a:t>权重值</a:t>
            </a:r>
            <a:r>
              <a:rPr kumimoji="1" lang="zh-CN" altLang="en-US" dirty="0"/>
              <a:t>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“</a:t>
            </a:r>
            <a:r>
              <a:rPr kumimoji="1" lang="ja-JP" altLang="en-US"/>
              <a:t>权重值</a:t>
            </a:r>
            <a:r>
              <a:rPr kumimoji="1" lang="zh-CN" altLang="en-US" dirty="0"/>
              <a:t>”</a:t>
            </a:r>
            <a:r>
              <a:rPr kumimoji="1" lang="ja-JP" altLang="en-US"/>
              <a:t>确定了不同任务占用资源的比例</a:t>
            </a:r>
            <a:endParaRPr kumimoji="1" lang="en-US" altLang="ja-JP" dirty="0"/>
          </a:p>
          <a:p>
            <a:r>
              <a:rPr kumimoji="1" lang="en-US" altLang="zh-CN" dirty="0"/>
              <a:t>CPU</a:t>
            </a:r>
            <a:r>
              <a:rPr kumimoji="1" lang="ja-JP" altLang="en-US"/>
              <a:t>子系统允许为不同的控制组设定</a:t>
            </a:r>
            <a:r>
              <a:rPr kumimoji="1" lang="en-US" altLang="ja-JP" dirty="0"/>
              <a:t>CPU</a:t>
            </a:r>
            <a:r>
              <a:rPr kumimoji="1" lang="ja-JP" altLang="en-US"/>
              <a:t>时间的比例</a:t>
            </a:r>
            <a:endParaRPr kumimoji="1" lang="en-US" altLang="ja-JP" dirty="0"/>
          </a:p>
          <a:p>
            <a:pPr lvl="1"/>
            <a:r>
              <a:rPr kumimoji="1" lang="ja-JP" altLang="en-US"/>
              <a:t>直接利用</a:t>
            </a:r>
            <a:r>
              <a:rPr kumimoji="1" lang="en-US" altLang="ja-JP" dirty="0"/>
              <a:t>CFS</a:t>
            </a:r>
            <a:r>
              <a:rPr kumimoji="1" lang="ja-JP" altLang="en-US"/>
              <a:t>来实现按比例分配的资源控制模型</a:t>
            </a:r>
            <a:endParaRPr kumimoji="1" lang="en-US" altLang="ja-JP" dirty="0"/>
          </a:p>
          <a:p>
            <a:pPr lvl="1"/>
            <a:r>
              <a:rPr kumimoji="1" lang="ja-JP" altLang="en-US"/>
              <a:t>为控制组设定权重</a:t>
            </a:r>
            <a:r>
              <a:rPr kumimoji="1" lang="zh-CN" altLang="en-US" dirty="0"/>
              <a:t>：</a:t>
            </a:r>
            <a:r>
              <a:rPr kumimoji="1" lang="ja-JP" altLang="en-US"/>
              <a:t>向</a:t>
            </a:r>
            <a:r>
              <a:rPr kumimoji="1" lang="en-US" altLang="ja-JP" dirty="0" err="1"/>
              <a:t>cpu.shares</a:t>
            </a:r>
            <a:r>
              <a:rPr kumimoji="1" lang="ja-JP" altLang="en-US"/>
              <a:t>文件中写入权重值</a:t>
            </a:r>
            <a:r>
              <a:rPr kumimoji="1" lang="zh-CN" altLang="en-US" dirty="0"/>
              <a:t>（</a:t>
            </a:r>
            <a:r>
              <a:rPr kumimoji="1" lang="ja-JP" altLang="en-US"/>
              <a:t>默认</a:t>
            </a:r>
            <a:r>
              <a:rPr kumimoji="1" lang="en-US" altLang="zh-CN" dirty="0"/>
              <a:t>1024</a:t>
            </a:r>
            <a:r>
              <a:rPr kumimoji="1" lang="zh-CN" altLang="en-US" dirty="0"/>
              <a:t>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4057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内存子系统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监控控制组使用的内存</a:t>
            </a:r>
            <a:endParaRPr kumimoji="1" lang="en-US" altLang="ja-JP" dirty="0"/>
          </a:p>
          <a:p>
            <a:pPr lvl="1"/>
            <a:r>
              <a:rPr kumimoji="1" lang="ja-JP" altLang="en-US"/>
              <a:t>利用</a:t>
            </a:r>
            <a:r>
              <a:rPr kumimoji="1" lang="en-US" altLang="ja-JP" dirty="0" err="1"/>
              <a:t>page_counter</a:t>
            </a:r>
            <a:r>
              <a:rPr kumimoji="1" lang="ja-JP" altLang="en-US"/>
              <a:t>监控每个控制组使用了多少内存</a:t>
            </a:r>
            <a:endParaRPr kumimoji="1" lang="en-US" altLang="ja-JP" dirty="0"/>
          </a:p>
          <a:p>
            <a:r>
              <a:rPr kumimoji="1" lang="ja-JP" altLang="en-US"/>
              <a:t>限制控制组使用的内存</a:t>
            </a:r>
            <a:endParaRPr kumimoji="1" lang="en-US" altLang="ja-JP" dirty="0"/>
          </a:p>
          <a:p>
            <a:pPr lvl="1"/>
            <a:r>
              <a:rPr kumimoji="1" lang="ja-JP" altLang="en-US"/>
              <a:t>通过修改</a:t>
            </a:r>
            <a:r>
              <a:rPr kumimoji="1" lang="en-US" altLang="zh-CN" dirty="0" err="1"/>
              <a:t>memory.limit_in_bytes</a:t>
            </a:r>
            <a:r>
              <a:rPr kumimoji="1" lang="ja-JP" altLang="en-US"/>
              <a:t>文件设定控制组最大内存使用量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16202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内存子系统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7227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Linux</a:t>
            </a:r>
            <a:r>
              <a:rPr kumimoji="1" lang="ja-JP" altLang="en-US"/>
              <a:t>分配内存首先需要</a:t>
            </a:r>
            <a:r>
              <a:rPr kumimoji="1" lang="en-US" altLang="ja-JP" dirty="0"/>
              <a:t>charge</a:t>
            </a:r>
            <a:r>
              <a:rPr kumimoji="1" lang="ja-JP" altLang="en-US"/>
              <a:t>同等大小的内存</a:t>
            </a:r>
            <a:endParaRPr kumimoji="1" lang="en-US" altLang="ja-JP" dirty="0"/>
          </a:p>
          <a:p>
            <a:pPr lvl="1"/>
            <a:r>
              <a:rPr kumimoji="1" lang="ja-JP" altLang="en-US"/>
              <a:t>只有</a:t>
            </a:r>
            <a:r>
              <a:rPr kumimoji="1" lang="en-US" altLang="ja-JP" dirty="0"/>
              <a:t>charge</a:t>
            </a:r>
            <a:r>
              <a:rPr kumimoji="1" lang="ja-JP" altLang="en-US"/>
              <a:t>成功</a:t>
            </a:r>
            <a:r>
              <a:rPr kumimoji="1" lang="zh-CN" altLang="en-US" dirty="0"/>
              <a:t>，</a:t>
            </a:r>
            <a:r>
              <a:rPr kumimoji="1" lang="ja-JP" altLang="en-US"/>
              <a:t>才能分配内存</a:t>
            </a:r>
            <a:endParaRPr kumimoji="1" lang="en-US" altLang="ja-JP" dirty="0"/>
          </a:p>
          <a:p>
            <a:r>
              <a:rPr kumimoji="1" lang="en-US" altLang="zh-CN" dirty="0"/>
              <a:t>Charge</a:t>
            </a:r>
            <a:r>
              <a:rPr kumimoji="1" lang="ja-JP" altLang="en-US"/>
              <a:t>内存的简化代码</a:t>
            </a:r>
            <a:r>
              <a:rPr kumimoji="1" lang="zh-CN" altLang="en-US" dirty="0"/>
              <a:t>（</a:t>
            </a:r>
            <a:r>
              <a:rPr kumimoji="1" lang="ja-JP" altLang="en-US"/>
              <a:t>大小为</a:t>
            </a:r>
            <a:r>
              <a:rPr kumimoji="1" lang="en-US" altLang="ja-JP" dirty="0" err="1"/>
              <a:t>nr_pages</a:t>
            </a:r>
            <a:r>
              <a:rPr kumimoji="1" lang="zh-CN" altLang="en-US" dirty="0"/>
              <a:t>）：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ja-JP" altLang="en-US"/>
              <a:t>释放内存时会执行相反的</a:t>
            </a:r>
            <a:r>
              <a:rPr kumimoji="1" lang="en-US" altLang="ja-JP" dirty="0" err="1"/>
              <a:t>uncharge</a:t>
            </a:r>
            <a:r>
              <a:rPr kumimoji="1" lang="ja-JP" altLang="en-US"/>
              <a:t>操作</a:t>
            </a:r>
            <a:endParaRPr kumimoji="1" lang="en-US" altLang="ja-JP" dirty="0"/>
          </a:p>
          <a:p>
            <a:endParaRPr kumimoji="1" lang="en-US" altLang="zh-CN" dirty="0"/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D5CF8123-3DDE-DC4B-9759-41483B4BFC1D}"/>
              </a:ext>
            </a:extLst>
          </p:cNvPr>
          <p:cNvSpPr/>
          <p:nvPr/>
        </p:nvSpPr>
        <p:spPr>
          <a:xfrm>
            <a:off x="827584" y="2799784"/>
            <a:ext cx="77048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new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atomic_long_add_return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nr_pages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-&gt;usage);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 &gt;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-&gt;max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atomic_long_sub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nr_pages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-&gt;usage);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failed;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27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存储子系统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blkio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827AA00-68DB-7A4D-BB9F-F03B3D55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限制最大</a:t>
            </a:r>
            <a:r>
              <a:rPr kumimoji="1" lang="en-US" altLang="ja-JP" dirty="0"/>
              <a:t>IOPS/BPS</a:t>
            </a:r>
          </a:p>
          <a:p>
            <a:pPr lvl="1"/>
            <a:r>
              <a:rPr kumimoji="1" lang="en-US" altLang="zh-CN" dirty="0" err="1"/>
              <a:t>blkio.throttle.read_bps_device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限制对某块设备的读带宽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blkio.throttle.read_iops_device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限制对某块设备的每秒读次数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blkio.throttle.write_bps_device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限制对某块设备的写带宽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blkio.throttle.write_iops_device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限制对某块设备的每秒写次数</a:t>
            </a:r>
            <a:endParaRPr kumimoji="1" lang="en-US" altLang="zh-CN" dirty="0"/>
          </a:p>
          <a:p>
            <a:r>
              <a:rPr kumimoji="1" lang="ja-JP" altLang="en-US"/>
              <a:t>设定权重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weight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blkio.weight</a:t>
            </a:r>
            <a:r>
              <a:rPr kumimoji="1" lang="en-US" altLang="ja-JP" dirty="0"/>
              <a:t> </a:t>
            </a:r>
            <a:r>
              <a:rPr kumimoji="1" lang="ja-JP" altLang="en-US"/>
              <a:t>该控制组的权重值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blkio.weight_device</a:t>
            </a:r>
            <a:r>
              <a:rPr kumimoji="1" lang="en-US" altLang="ja-JP" dirty="0"/>
              <a:t> </a:t>
            </a:r>
            <a:r>
              <a:rPr kumimoji="1" lang="ja-JP" altLang="en-US"/>
              <a:t>对某块设备单独的权重值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60638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3FF13-61C8-8541-B296-BD742B37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小结：隔离的不同方式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15A22-05E6-A949-B4C2-E44AD8375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2000" dirty="0"/>
              <a:t>物理机隔离</a:t>
            </a:r>
            <a:endParaRPr kumimoji="1" lang="en-US" altLang="zh-CN" sz="200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虚拟机隔离</a:t>
            </a:r>
            <a:endParaRPr kumimoji="1" lang="en-US" altLang="zh-CN" sz="200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文件系统隔离：</a:t>
            </a:r>
            <a:r>
              <a:rPr kumimoji="1" lang="en-US" altLang="zh-CN" sz="2000" b="0" dirty="0"/>
              <a:t>Chroot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容器隔离：</a:t>
            </a:r>
            <a:r>
              <a:rPr kumimoji="1" lang="en-US" altLang="zh-CN" sz="2000" b="0" dirty="0"/>
              <a:t>Name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Space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进程隔离：</a:t>
            </a:r>
            <a:r>
              <a:rPr kumimoji="1" lang="zh-CN" altLang="en-US" sz="2000" b="0" dirty="0"/>
              <a:t>传统方式</a:t>
            </a:r>
            <a:endParaRPr kumimoji="1" lang="en-US" altLang="zh-CN" sz="2000" b="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进程内隔离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软件方法：</a:t>
            </a:r>
            <a:r>
              <a:rPr kumimoji="1" lang="en-US" altLang="zh-CN" sz="2000" b="0" dirty="0"/>
              <a:t>SFI/CFI/XFI/NaCl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进程内隔离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硬件方法：</a:t>
            </a:r>
            <a:r>
              <a:rPr kumimoji="1" lang="en-US" altLang="zh-CN" sz="2000" b="0" dirty="0"/>
              <a:t>Enclave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（性能隔离）：</a:t>
            </a:r>
            <a:r>
              <a:rPr kumimoji="1" lang="en-US" altLang="zh-CN" sz="2000" b="0" dirty="0" err="1"/>
              <a:t>Cgroup</a:t>
            </a:r>
            <a:endParaRPr kumimoji="1" lang="zh-CN" altLang="en-US" sz="20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3A500-587D-BC41-A15C-51912091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C5F1E-49D7-6D4D-BC87-13B4E883C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2266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C95B5372-0BEE-DF45-B67A-7324312AE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操作系统的安全服务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9E78D34-F895-2141-9942-7A5960FB8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EE6EBC-E59B-BB43-B512-9EC19D27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BD1EF-C711-514E-8833-D6FF048F7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82503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FF191-D46D-5849-A0D8-E0D1293A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安全是操作系统的重要功能和服务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688C4-AA74-5340-AE5B-77F8B4443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系统中有许多需要保护的数据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如账号密码、信用卡号、地理位置、照片视频等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操作系统需要允许这些数据被合法访问，但不允许被非法访问</a:t>
            </a:r>
            <a:endParaRPr kumimoji="1" lang="en-US" altLang="zh-CN" dirty="0"/>
          </a:p>
          <a:p>
            <a:r>
              <a:rPr kumimoji="1" lang="zh-CN" altLang="en-US" dirty="0"/>
              <a:t>系统中可能存在许多恶意应用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操作系统需要与这些恶意应用作斗争，保护自己，限制对方</a:t>
            </a:r>
            <a:endParaRPr kumimoji="1" lang="en-US" altLang="zh-CN" dirty="0"/>
          </a:p>
          <a:p>
            <a:r>
              <a:rPr kumimoji="1" lang="zh-CN" altLang="en-US" dirty="0"/>
              <a:t>操作系统不可避免的存在漏洞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操作系统需要考虑自己被完全攻破的情况下依然提供一定的保护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3D4C60-E4BD-8147-BA4B-7556C6E6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056F9-7E10-F64E-882B-E7EF6935D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46618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BB5C5-9E14-C244-80D5-D5CA3BA8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操作系统安全的三个层次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640712-EE6C-AA4A-9BCA-F2302411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9B8A0F-E89F-CA49-BED7-8ABC751B9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E51989-D468-E841-BD82-47E5579B544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417340"/>
            <a:ext cx="829018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471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D7008-0E7E-D246-8283-159CD59B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层次一：基于</a:t>
            </a:r>
            <a:r>
              <a:rPr kumimoji="1" lang="en-US" altLang="zh-CN" dirty="0"/>
              <a:t>OS</a:t>
            </a:r>
            <a:r>
              <a:rPr kumimoji="1" lang="zh-CN" altLang="en-US" dirty="0"/>
              <a:t>的应用隔离与访问控制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86C994-2554-1F40-96D4-975F3B10F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威胁模型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操作系统是可信的，能够正常执行且不受攻击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应用程序可能是恶意的，会窃取其他应用数据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应用程序可能存在</a:t>
            </a:r>
            <a:r>
              <a:rPr kumimoji="1" lang="en-US" altLang="zh-CN" sz="1800" dirty="0"/>
              <a:t>bug</a:t>
            </a:r>
            <a:r>
              <a:rPr kumimoji="1" lang="zh-CN" altLang="en-US" sz="1800" dirty="0"/>
              <a:t>，导致访问其他应用数据</a:t>
            </a:r>
            <a:endParaRPr kumimoji="1" lang="en-US" altLang="zh-CN" sz="1800" dirty="0"/>
          </a:p>
          <a:p>
            <a:r>
              <a:rPr kumimoji="1" lang="zh-CN" altLang="en-US" sz="2000" dirty="0"/>
              <a:t>应用隔离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内存数据隔离：依赖进程间不同虚拟地址空间的隔离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文件系统隔离：文件系统是全局的，需限制哪些应用不能访问哪些文件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操作系统提供对文件系统的</a:t>
            </a:r>
            <a:r>
              <a:rPr kumimoji="1" lang="zh-CN" altLang="en-US" sz="1800" b="1" dirty="0"/>
              <a:t>访问控制</a:t>
            </a:r>
            <a:r>
              <a:rPr kumimoji="1" lang="zh-CN" altLang="en-US" sz="1800" dirty="0"/>
              <a:t>机制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A26A1B-EB74-9E49-97F2-5F2B70A4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2F4891-6B7C-E841-AD3B-853EE3317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6DC5DE-F2CD-F442-BAAA-12A789F8530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240" y="1201316"/>
            <a:ext cx="2079398" cy="202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59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084DD-BEC9-EB48-B64C-20ED3721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层次二：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对恶意应用的隔离与防御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EA5C6E-876D-4D4E-99C1-BF351F28F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威胁模型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操作系统存在</a:t>
            </a:r>
            <a:r>
              <a:rPr kumimoji="1" lang="en-US" altLang="zh-CN" dirty="0"/>
              <a:t>bug</a:t>
            </a:r>
            <a:r>
              <a:rPr kumimoji="1" lang="zh-CN" altLang="en-US" dirty="0"/>
              <a:t>和安全漏洞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操作系统的运行过程依然可信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恶意应用利用操作系统漏洞攻击，获取</a:t>
            </a:r>
            <a:br>
              <a:rPr kumimoji="1" lang="en-US" altLang="zh-CN" dirty="0"/>
            </a:br>
            <a:r>
              <a:rPr kumimoji="1" lang="zh-CN" altLang="en-US" dirty="0"/>
              <a:t>更高权限或直接窃取其他应用的数据</a:t>
            </a:r>
            <a:endParaRPr kumimoji="1" lang="en-US" altLang="zh-CN" dirty="0"/>
          </a:p>
          <a:p>
            <a:r>
              <a:rPr kumimoji="1" lang="zh-CN" altLang="en-US" dirty="0"/>
              <a:t>操作系统防御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防御常见的操作系统</a:t>
            </a:r>
            <a:r>
              <a:rPr kumimoji="1" lang="en-US" altLang="zh-CN" dirty="0"/>
              <a:t>bug/</a:t>
            </a:r>
            <a:r>
              <a:rPr kumimoji="1" lang="zh-CN" altLang="en-US" dirty="0"/>
              <a:t>漏洞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沙盒机制限制应用的运行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9FA86-D422-FC4F-BD51-BAED6624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1F0DFB-4B4C-FC47-A023-70E8D0FF7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53D363-D254-AA47-9C21-95A9A0603CE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4248" y="1157337"/>
            <a:ext cx="1951732" cy="231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00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6D1E7-5E90-9544-B774-DF08161C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层次三：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不可信时对应用的保护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E5E1E1-9578-3A44-838C-E2BE027A7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威胁模型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操作系统不可信，有可能被攻击者完全控制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恶意应用可能与操作系统串通发起攻击</a:t>
            </a:r>
            <a:endParaRPr kumimoji="1" lang="en-US" altLang="zh-CN" dirty="0"/>
          </a:p>
          <a:p>
            <a:r>
              <a:rPr kumimoji="1" lang="zh-CN" altLang="en-US" dirty="0"/>
              <a:t>基于更底层的应用保护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的保护：可信基更小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基于硬件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的保护：硬件通常更可信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5D442-46E9-A145-B6AC-746FC55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448FB-0CE8-764C-8FDA-ECBFF8A93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3F8146-E313-C547-9FF5-420A9990EC6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1141676"/>
            <a:ext cx="1941863" cy="228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7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11A97-D58D-AC48-9560-E73BFE3E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操作系统安全的三个概念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C7D72-42F1-1045-96A3-668FF2D45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可信计算基（</a:t>
            </a:r>
            <a:r>
              <a:rPr kumimoji="1" lang="en-US" altLang="zh-CN" sz="2000" dirty="0"/>
              <a:t>Trusted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Computing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Base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为实现计算机系统安全保护的所有安全保护机制的集合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包括软件、硬件和固件（硬件上的软件）</a:t>
            </a:r>
            <a:endParaRPr kumimoji="1" lang="en-US" altLang="zh-CN" sz="1800" dirty="0"/>
          </a:p>
          <a:p>
            <a:r>
              <a:rPr kumimoji="1" lang="zh-CN" altLang="en-US" sz="2000" dirty="0"/>
              <a:t>攻击面（</a:t>
            </a:r>
            <a:r>
              <a:rPr kumimoji="1" lang="en-US" altLang="zh-CN" sz="2000" dirty="0"/>
              <a:t>Attacking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Surface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一个组件被其他组件攻击的所有方法的集合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可能来自上层、同层和底层</a:t>
            </a:r>
            <a:endParaRPr kumimoji="1" lang="en-US" altLang="zh-CN" sz="1800" dirty="0"/>
          </a:p>
          <a:p>
            <a:r>
              <a:rPr kumimoji="1" lang="zh-CN" altLang="en-US" sz="2000" dirty="0"/>
              <a:t>防御纵深（</a:t>
            </a:r>
            <a:r>
              <a:rPr kumimoji="1" lang="en-US" altLang="zh-CN" sz="2000" dirty="0"/>
              <a:t>Defense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in-depth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为系统设置多道防线，为防御增加冗余，以进一步提高攻击难度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91F0AB-04F8-FF49-98CC-96D149DC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D6193D-AA97-CD4B-8F17-A44B5F49E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07657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CE7FAB4-DA84-734B-A24A-D02B6F89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访问控制（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）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7F82E0B-45A2-0146-9325-37BD1077E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9BE0D7-70A9-BD41-AAE7-1780F634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EED971-95E2-EC46-86B2-CF56D485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623973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83921-8571-2641-B59F-C79197BF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访问控制与引用监视器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AD7F17-49B6-414F-8BEC-375BFF97B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访问控制（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按照访问实体的身份来限制其访问对象的一种机制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为了实现对不同应用访问不同数据的权限控制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包含</a:t>
            </a:r>
            <a:r>
              <a:rPr kumimoji="1" lang="en-US" altLang="zh-CN" dirty="0"/>
              <a:t>"</a:t>
            </a:r>
            <a:r>
              <a:rPr kumimoji="1" lang="zh-CN" altLang="en-US" dirty="0"/>
              <a:t>认证</a:t>
            </a:r>
            <a:r>
              <a:rPr kumimoji="1" lang="en-US" altLang="zh-CN" dirty="0"/>
              <a:t>"</a:t>
            </a:r>
            <a:r>
              <a:rPr kumimoji="1" lang="zh-CN" altLang="en-US" dirty="0"/>
              <a:t>和</a:t>
            </a:r>
            <a:r>
              <a:rPr kumimoji="1" lang="en-US" altLang="zh-CN" dirty="0"/>
              <a:t>"</a:t>
            </a:r>
            <a:r>
              <a:rPr kumimoji="1" lang="zh-CN" altLang="en-US" dirty="0"/>
              <a:t>授权</a:t>
            </a:r>
            <a:r>
              <a:rPr kumimoji="1" lang="en-US" altLang="zh-CN" dirty="0"/>
              <a:t>"</a:t>
            </a:r>
            <a:r>
              <a:rPr kumimoji="1" lang="zh-CN" altLang="en-US" dirty="0"/>
              <a:t>两个重要步骤</a:t>
            </a:r>
            <a:endParaRPr kumimoji="1" lang="en-US" altLang="zh-CN" dirty="0"/>
          </a:p>
          <a:p>
            <a:r>
              <a:rPr kumimoji="1" lang="zh-CN" altLang="en-US" dirty="0"/>
              <a:t>引用监视器（</a:t>
            </a:r>
            <a:r>
              <a:rPr kumimoji="1" lang="en" altLang="zh-CN" dirty="0"/>
              <a:t>Reference Monitor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是实现访问控制的一种方式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主体必须通过引用（</a:t>
            </a:r>
            <a:r>
              <a:rPr kumimoji="1" lang="en" altLang="zh-CN" dirty="0"/>
              <a:t>reference</a:t>
            </a:r>
            <a:r>
              <a:rPr kumimoji="1" lang="zh-CN" altLang="en-US" dirty="0"/>
              <a:t>）的方式间接访问对象</a:t>
            </a:r>
            <a:endParaRPr kumimoji="1" lang="en-US" altLang="zh-CN" dirty="0"/>
          </a:p>
          <a:p>
            <a:pPr lvl="1"/>
            <a:r>
              <a:rPr kumimoji="1" lang="en" altLang="zh-CN" dirty="0"/>
              <a:t>Reference monitor </a:t>
            </a:r>
            <a:r>
              <a:rPr kumimoji="1" lang="zh-CN" altLang="en-US" dirty="0"/>
              <a:t>位于主体和对象之间，进行检查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8D507-BD5A-1746-9862-1E55AC6E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DF6D3-5978-A14F-9A8D-B80E7C918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66168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E5440-DDDD-634F-8212-1E4C4C6E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引用监视器（</a:t>
            </a:r>
            <a:r>
              <a:rPr kumimoji="1" lang="en-US" altLang="zh-CN" dirty="0"/>
              <a:t>Reference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</a:t>
            </a:r>
            <a:r>
              <a:rPr kumimoji="1" lang="zh-CN" altLang="en-US" dirty="0"/>
              <a:t>）机制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1E506-F13C-C04D-927B-25EE79E1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33663F-2290-FF49-BE85-C05669FD9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D2CAA0-AC03-794D-B2A8-D0B658B89A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2349" y="1273324"/>
            <a:ext cx="6059301" cy="266652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D56DD85-A01D-C743-A29B-25B2BB9D7F31}"/>
              </a:ext>
            </a:extLst>
          </p:cNvPr>
          <p:cNvSpPr/>
          <p:nvPr/>
        </p:nvSpPr>
        <p:spPr>
          <a:xfrm>
            <a:off x="1179164" y="3734102"/>
            <a:ext cx="7137252" cy="157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Reference</a:t>
            </a:r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kumimoji="1"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Monitor</a:t>
            </a:r>
            <a:r>
              <a:rPr kumimoji="1"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负责两件事：</a:t>
            </a:r>
            <a:endParaRPr kumimoji="1"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Authentication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：确定发起请求实体的</a:t>
            </a:r>
            <a:r>
              <a:rPr kumimoji="1"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身份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，即</a:t>
            </a:r>
            <a:r>
              <a:rPr kumimoji="1" lang="zh-CN" altLang="en-US" sz="1600" b="1" dirty="0">
                <a:solidFill>
                  <a:schemeClr val="accent1"/>
                </a:solidFill>
              </a:rPr>
              <a:t>认证</a:t>
            </a:r>
            <a:endParaRPr kumimoji="1" lang="en-US" altLang="zh-CN" sz="1600" b="1" dirty="0">
              <a:solidFill>
                <a:schemeClr val="accent1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Authorization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：确定实体确实拥有访问资源的</a:t>
            </a:r>
            <a:r>
              <a:rPr kumimoji="1"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权限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，包含</a:t>
            </a:r>
            <a:r>
              <a:rPr kumimoji="1" lang="zh-CN" altLang="en-US" sz="1600" b="1" dirty="0">
                <a:solidFill>
                  <a:schemeClr val="accent1"/>
                </a:solidFill>
              </a:rPr>
              <a:t>授权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和</a:t>
            </a:r>
            <a:r>
              <a:rPr kumimoji="1" lang="zh-CN" altLang="en-US" sz="1600" b="1" dirty="0">
                <a:solidFill>
                  <a:schemeClr val="accent1"/>
                </a:solidFill>
              </a:rPr>
              <a:t>鉴权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56A626-C18E-0641-A766-0095725C4D37}"/>
              </a:ext>
            </a:extLst>
          </p:cNvPr>
          <p:cNvSpPr/>
          <p:nvPr/>
        </p:nvSpPr>
        <p:spPr>
          <a:xfrm>
            <a:off x="5652120" y="2307874"/>
            <a:ext cx="492443" cy="276999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鉴权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38565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7F496-178F-C546-AA83-EA93011A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认证机制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733B9A-2E40-3442-BF8B-B1437A0CD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108175"/>
          </a:xfrm>
        </p:spPr>
        <p:txBody>
          <a:bodyPr>
            <a:normAutofit/>
          </a:bodyPr>
          <a:lstStyle/>
          <a:p>
            <a:r>
              <a:rPr lang="zh-CN" altLang="en-US" dirty="0"/>
              <a:t>知道什么 （</a:t>
            </a:r>
            <a:r>
              <a:rPr lang="en" altLang="zh-CN" dirty="0"/>
              <a:t>Something you know</a:t>
            </a:r>
            <a:r>
              <a:rPr lang="zh-CN" altLang="en" dirty="0"/>
              <a:t>）</a:t>
            </a:r>
            <a:endParaRPr lang="en" altLang="zh-CN" dirty="0"/>
          </a:p>
          <a:p>
            <a:pPr lvl="1"/>
            <a:r>
              <a:rPr lang="zh-CN" altLang="en-US" dirty="0"/>
              <a:t>例如密码</a:t>
            </a:r>
            <a:r>
              <a:rPr lang="en-US" altLang="zh-CN" dirty="0"/>
              <a:t>/</a:t>
            </a:r>
            <a:r>
              <a:rPr lang="zh-CN" altLang="en-US" dirty="0"/>
              <a:t>口令、手势密码、某个问题的答案等</a:t>
            </a:r>
            <a:endParaRPr lang="en-US" altLang="zh-CN" dirty="0"/>
          </a:p>
          <a:p>
            <a:r>
              <a:rPr lang="zh-CN" altLang="en-US" dirty="0"/>
              <a:t>有什么 （</a:t>
            </a:r>
            <a:r>
              <a:rPr lang="en" altLang="zh-CN" dirty="0"/>
              <a:t>Something you have</a:t>
            </a:r>
            <a:r>
              <a:rPr lang="zh-CN" altLang="en" dirty="0"/>
              <a:t>）</a:t>
            </a:r>
            <a:endParaRPr lang="en" altLang="zh-CN" dirty="0"/>
          </a:p>
          <a:p>
            <a:pPr lvl="1"/>
            <a:r>
              <a:rPr lang="zh-CN" altLang="en-US" dirty="0"/>
              <a:t>例如 </a:t>
            </a:r>
            <a:r>
              <a:rPr lang="en" altLang="zh-CN" dirty="0"/>
              <a:t>USB-key</a:t>
            </a:r>
            <a:r>
              <a:rPr lang="zh-CN" altLang="en" dirty="0"/>
              <a:t>、</a:t>
            </a:r>
            <a:r>
              <a:rPr lang="zh-CN" altLang="en-US" dirty="0"/>
              <a:t>密码器等实物</a:t>
            </a:r>
            <a:endParaRPr lang="en-US" altLang="zh-CN" dirty="0"/>
          </a:p>
          <a:p>
            <a:r>
              <a:rPr lang="zh-CN" altLang="en-US" dirty="0"/>
              <a:t>是什么 （</a:t>
            </a:r>
            <a:r>
              <a:rPr lang="en" altLang="zh-CN" dirty="0"/>
              <a:t>Something you are</a:t>
            </a:r>
            <a:r>
              <a:rPr lang="zh-CN" altLang="en" dirty="0"/>
              <a:t>）</a:t>
            </a:r>
            <a:endParaRPr lang="en" altLang="zh-CN" dirty="0"/>
          </a:p>
          <a:p>
            <a:pPr lvl="1"/>
            <a:r>
              <a:rPr lang="zh-CN" altLang="en-US" dirty="0"/>
              <a:t>如指纹、虹膜、步态、键盘输入习惯等属于人的一部分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F5D3DD-7FDC-3444-8F6E-251E1CCF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A5D4CD-5405-FA43-BF7F-2B550E6AE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06146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24ACE-BCEA-B74B-B3FE-FF02E2EB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认证：从用户到进程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256C3-B3D4-694D-AA00-8606466F9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进程与用户之间如何绑定？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每个进程的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中均包含了</a:t>
            </a:r>
            <a:r>
              <a:rPr kumimoji="1" lang="en-US" altLang="zh-CN" dirty="0"/>
              <a:t>user</a:t>
            </a:r>
            <a:r>
              <a:rPr kumimoji="1" lang="zh-CN" altLang="en-US" dirty="0"/>
              <a:t>字段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每个进程都来自于父进程，继承了父进程的</a:t>
            </a:r>
            <a:r>
              <a:rPr kumimoji="1" lang="en-US" altLang="zh-CN" dirty="0"/>
              <a:t>user</a:t>
            </a:r>
          </a:p>
          <a:p>
            <a:pPr lvl="1"/>
            <a:r>
              <a:rPr kumimoji="1" lang="zh-CN" altLang="en-US" dirty="0"/>
              <a:t>用户在登录后运行的第一个进程（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），初始化</a:t>
            </a:r>
            <a:r>
              <a:rPr kumimoji="1" lang="en-US" altLang="zh-CN" dirty="0"/>
              <a:t>user</a:t>
            </a:r>
            <a:r>
              <a:rPr kumimoji="1" lang="zh-CN" altLang="en-US" dirty="0"/>
              <a:t>字段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下，窗口管理器会扮演类似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的角色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782630-B954-9B46-A16E-E19EFBCD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60B409-270E-7F4C-95CD-4D1033AC3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0541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79CBB-A535-9A41-AA6C-CE8F5838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访问控制列表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6D867-0C50-9041-A9D9-F95769A34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权限矩阵</a:t>
            </a:r>
            <a:endParaRPr kumimoji="1" lang="en-US" altLang="zh-CN" sz="2000" dirty="0"/>
          </a:p>
          <a:p>
            <a:pPr lvl="1"/>
            <a:r>
              <a:rPr lang="zh-CN" altLang="en-US" sz="1800" dirty="0"/>
              <a:t>对象与实体的关系</a:t>
            </a:r>
            <a:endParaRPr lang="en-US" altLang="zh-CN" sz="1800" dirty="0"/>
          </a:p>
          <a:p>
            <a:r>
              <a:rPr lang="zh-CN" altLang="en-US" sz="2000" dirty="0"/>
              <a:t>矩阵有多大？</a:t>
            </a:r>
            <a:endParaRPr lang="en-US" altLang="zh-CN" sz="2000" dirty="0"/>
          </a:p>
          <a:p>
            <a:pPr lvl="1"/>
            <a:r>
              <a:rPr lang="zh-CN" altLang="en-US" sz="1800" dirty="0"/>
              <a:t>假如系统中有 </a:t>
            </a:r>
            <a:r>
              <a:rPr lang="en-US" altLang="zh-CN" sz="1800" dirty="0"/>
              <a:t>100 </a:t>
            </a:r>
            <a:r>
              <a:rPr lang="zh-CN" altLang="en-US" sz="1800" dirty="0"/>
              <a:t>个用户，每种权限用 </a:t>
            </a:r>
            <a:r>
              <a:rPr lang="en-US" altLang="zh-CN" sz="1800" dirty="0"/>
              <a:t>1 </a:t>
            </a:r>
            <a:r>
              <a:rPr lang="zh-CN" altLang="en-US" sz="1800" dirty="0"/>
              <a:t>个 </a:t>
            </a:r>
            <a:r>
              <a:rPr lang="en" altLang="zh-CN" sz="1800" dirty="0"/>
              <a:t>bit </a:t>
            </a:r>
            <a:r>
              <a:rPr lang="zh-CN" altLang="en-US" sz="1800" dirty="0"/>
              <a:t>来表示，那么每个文件都至少需要 </a:t>
            </a:r>
            <a:r>
              <a:rPr lang="en-US" altLang="zh-CN" sz="1800" dirty="0"/>
              <a:t>300 </a:t>
            </a:r>
            <a:r>
              <a:rPr lang="zh-CN" altLang="en-US" sz="1800" dirty="0"/>
              <a:t>个 </a:t>
            </a:r>
            <a:r>
              <a:rPr lang="en" altLang="zh-CN" sz="1800" dirty="0"/>
              <a:t>bit </a:t>
            </a:r>
            <a:r>
              <a:rPr lang="zh-CN" altLang="en-US" sz="1800" dirty="0"/>
              <a:t>来表示 </a:t>
            </a:r>
            <a:r>
              <a:rPr lang="en-US" altLang="zh-CN" sz="1800" dirty="0"/>
              <a:t>100 </a:t>
            </a:r>
            <a:r>
              <a:rPr lang="zh-CN" altLang="en-US" sz="1800" dirty="0"/>
              <a:t>个用户 的 </a:t>
            </a:r>
            <a:r>
              <a:rPr lang="en-US" altLang="zh-CN" sz="1800" dirty="0"/>
              <a:t>3 </a:t>
            </a:r>
            <a:r>
              <a:rPr lang="zh-CN" altLang="en-US" sz="1800" dirty="0"/>
              <a:t>种权限</a:t>
            </a:r>
            <a:endParaRPr lang="en-US" altLang="zh-CN" sz="1800" dirty="0"/>
          </a:p>
          <a:p>
            <a:pPr lvl="1"/>
            <a:r>
              <a:rPr lang="zh-CN" altLang="en-US" sz="1800" dirty="0"/>
              <a:t>假设这些 </a:t>
            </a:r>
            <a:r>
              <a:rPr lang="en" altLang="zh-CN" sz="1800" dirty="0"/>
              <a:t>bit </a:t>
            </a:r>
            <a:r>
              <a:rPr lang="zh-CN" altLang="en-US" sz="1800" dirty="0"/>
              <a:t>都保存在 </a:t>
            </a:r>
            <a:r>
              <a:rPr lang="en" altLang="zh-CN" sz="1800" dirty="0" err="1"/>
              <a:t>inode</a:t>
            </a:r>
            <a:r>
              <a:rPr lang="en" altLang="zh-CN" sz="1800" dirty="0"/>
              <a:t> </a:t>
            </a:r>
            <a:r>
              <a:rPr lang="zh-CN" altLang="en-US" sz="1800" dirty="0"/>
              <a:t>中，通常 </a:t>
            </a:r>
            <a:r>
              <a:rPr lang="en" altLang="zh-CN" sz="1800" dirty="0" err="1"/>
              <a:t>inode</a:t>
            </a:r>
            <a:r>
              <a:rPr lang="en" altLang="zh-CN" sz="1800" dirty="0"/>
              <a:t> </a:t>
            </a:r>
            <a:r>
              <a:rPr lang="zh-CN" altLang="en-US" sz="1800" dirty="0"/>
              <a:t>的大小为 </a:t>
            </a:r>
            <a:r>
              <a:rPr lang="en-US" altLang="zh-CN" sz="1800" dirty="0"/>
              <a:t>128-</a:t>
            </a:r>
            <a:r>
              <a:rPr lang="en" altLang="zh-CN" sz="1800" dirty="0"/>
              <a:t>Byte </a:t>
            </a:r>
            <a:r>
              <a:rPr lang="zh-CN" altLang="en-US" sz="1800" dirty="0"/>
              <a:t>或 </a:t>
            </a:r>
            <a:r>
              <a:rPr lang="en-US" altLang="zh-CN" sz="1800" dirty="0"/>
              <a:t>256-</a:t>
            </a:r>
            <a:r>
              <a:rPr lang="en" altLang="zh-CN" sz="1800" dirty="0"/>
              <a:t>Byte</a:t>
            </a:r>
            <a:r>
              <a:rPr lang="zh-CN" altLang="en" sz="1800" dirty="0"/>
              <a:t>，</a:t>
            </a:r>
            <a:r>
              <a:rPr lang="en" altLang="zh-CN" sz="1800" dirty="0"/>
              <a:t>300 </a:t>
            </a:r>
            <a:r>
              <a:rPr lang="zh-CN" altLang="en-US" sz="1800" dirty="0"/>
              <a:t>个 </a:t>
            </a:r>
            <a:r>
              <a:rPr lang="en" altLang="zh-CN" sz="1800" dirty="0"/>
              <a:t>bit </a:t>
            </a:r>
            <a:r>
              <a:rPr lang="zh-CN" altLang="en-US" sz="1800" dirty="0"/>
              <a:t>相当于一个 </a:t>
            </a:r>
            <a:r>
              <a:rPr lang="en" altLang="zh-CN" sz="1800" dirty="0" err="1"/>
              <a:t>inode</a:t>
            </a:r>
            <a:r>
              <a:rPr lang="en" altLang="zh-CN" sz="1800" dirty="0"/>
              <a:t> </a:t>
            </a:r>
            <a:r>
              <a:rPr lang="zh-CN" altLang="en-US" sz="1800" dirty="0"/>
              <a:t>的 </a:t>
            </a:r>
            <a:r>
              <a:rPr lang="en-US" altLang="zh-CN" sz="1800" dirty="0"/>
              <a:t>15% </a:t>
            </a:r>
            <a:r>
              <a:rPr lang="zh-CN" altLang="en-US" sz="1800" dirty="0"/>
              <a:t>至 </a:t>
            </a:r>
            <a:r>
              <a:rPr lang="en-US" altLang="zh-CN" sz="1800" dirty="0"/>
              <a:t>30%</a:t>
            </a:r>
          </a:p>
          <a:p>
            <a:pPr lvl="1"/>
            <a:r>
              <a:rPr lang="zh-CN" altLang="en-US" sz="1800" dirty="0"/>
              <a:t>每当新建一个用户的时候，都必须要更新所有 </a:t>
            </a:r>
            <a:r>
              <a:rPr lang="en" altLang="zh-CN" sz="1800" dirty="0" err="1"/>
              <a:t>inode</a:t>
            </a:r>
            <a:r>
              <a:rPr lang="en" altLang="zh-CN" sz="1800" dirty="0"/>
              <a:t> </a:t>
            </a:r>
            <a:r>
              <a:rPr lang="zh-CN" altLang="en-US" sz="1800" dirty="0"/>
              <a:t>中的权限 </a:t>
            </a:r>
            <a:r>
              <a:rPr lang="en" altLang="zh-CN" sz="1800" dirty="0"/>
              <a:t>bit</a:t>
            </a:r>
            <a:r>
              <a:rPr lang="zh-CN" altLang="en-US" sz="1800" dirty="0"/>
              <a:t>，不现实</a:t>
            </a:r>
            <a:endParaRPr lang="en-US" altLang="zh-CN" sz="18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1BA968-90D4-EC4E-B361-A09C8DE9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83610-7FD9-384E-BBDF-D3E6E8342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C43831-CCB0-9E4B-B553-884ED9B28C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0145" y="701416"/>
            <a:ext cx="3386655" cy="165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38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DF079-A339-0941-9EF4-59D8655C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授权机制：</a:t>
            </a:r>
            <a:r>
              <a:rPr kumimoji="1" lang="en-US" altLang="zh-CN" dirty="0"/>
              <a:t>POSIX</a:t>
            </a:r>
            <a:r>
              <a:rPr kumimoji="1" lang="zh-CN" altLang="en-US" dirty="0"/>
              <a:t>的文件权限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EEE221-811D-C04B-808D-B1BA0872D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lang="zh-CN" altLang="en-US" dirty="0"/>
              <a:t>将用户分为三类</a:t>
            </a:r>
            <a:endParaRPr lang="en-US" altLang="zh-CN" dirty="0"/>
          </a:p>
          <a:p>
            <a:pPr lvl="1"/>
            <a:r>
              <a:rPr lang="zh-CN" altLang="en-US" dirty="0"/>
              <a:t>文件拥有者、文件拥有组、其他用户组</a:t>
            </a:r>
            <a:endParaRPr lang="en-US" altLang="zh-CN" dirty="0"/>
          </a:p>
          <a:p>
            <a:pPr lvl="1"/>
            <a:r>
              <a:rPr lang="zh-CN" altLang="en-US" dirty="0"/>
              <a:t>每个文件只需要用</a:t>
            </a:r>
            <a:r>
              <a:rPr lang="en-US" altLang="zh-CN" dirty="0"/>
              <a:t>9</a:t>
            </a:r>
            <a:r>
              <a:rPr lang="zh-CN" altLang="en-US" dirty="0"/>
              <a:t>个</a:t>
            </a:r>
            <a:r>
              <a:rPr lang="en" altLang="zh-CN" dirty="0"/>
              <a:t>bit</a:t>
            </a:r>
            <a:r>
              <a:rPr lang="zh-CN" altLang="en-US" dirty="0"/>
              <a:t>即可：</a:t>
            </a:r>
            <a:r>
              <a:rPr lang="en-US" altLang="zh-CN" dirty="0"/>
              <a:t>3</a:t>
            </a:r>
            <a:r>
              <a:rPr lang="zh-CN" altLang="en-US" dirty="0"/>
              <a:t>种权限（读</a:t>
            </a:r>
            <a:r>
              <a:rPr lang="en-US" altLang="zh-CN" dirty="0"/>
              <a:t>-</a:t>
            </a:r>
            <a:r>
              <a:rPr lang="zh-CN" altLang="en-US" dirty="0"/>
              <a:t>写</a:t>
            </a:r>
            <a:r>
              <a:rPr lang="en-US" altLang="zh-CN" dirty="0"/>
              <a:t>-</a:t>
            </a:r>
            <a:r>
              <a:rPr lang="zh-CN" altLang="en-US" dirty="0"/>
              <a:t>执行） </a:t>
            </a:r>
            <a:r>
              <a:rPr lang="en" altLang="zh-CN" dirty="0"/>
              <a:t>x</a:t>
            </a:r>
            <a:r>
              <a:rPr lang="zh-CN" altLang="en-US" dirty="0"/>
              <a:t> </a:t>
            </a:r>
            <a:r>
              <a:rPr lang="en" altLang="zh-CN" dirty="0"/>
              <a:t>3 </a:t>
            </a:r>
            <a:r>
              <a:rPr lang="zh-CN" altLang="en-US" dirty="0"/>
              <a:t>类用户</a:t>
            </a:r>
            <a:endParaRPr lang="en-US" altLang="zh-CN" dirty="0"/>
          </a:p>
          <a:p>
            <a:r>
              <a:rPr lang="zh-CN" altLang="en-US" dirty="0"/>
              <a:t>何时检查用户权限？</a:t>
            </a:r>
            <a:endParaRPr lang="en-US" altLang="zh-CN" dirty="0"/>
          </a:p>
          <a:p>
            <a:pPr lvl="1"/>
            <a:r>
              <a:rPr lang="zh-CN" altLang="en-US" dirty="0"/>
              <a:t>每次打开文件时，进行鉴权和授权</a:t>
            </a:r>
            <a:endParaRPr lang="en-US" altLang="zh-CN" dirty="0"/>
          </a:p>
          <a:p>
            <a:pPr lvl="2"/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open()</a:t>
            </a:r>
            <a:r>
              <a:rPr lang="zh-CN" altLang="en-US" dirty="0"/>
              <a:t>包含可读</a:t>
            </a:r>
            <a:r>
              <a:rPr lang="en-US" altLang="zh-CN" dirty="0"/>
              <a:t>/</a:t>
            </a:r>
            <a:r>
              <a:rPr lang="zh-CN" altLang="en-US" dirty="0"/>
              <a:t>可写的参数，</a:t>
            </a:r>
            <a:r>
              <a:rPr lang="en-US" altLang="zh-CN" dirty="0"/>
              <a:t>OS</a:t>
            </a:r>
            <a:r>
              <a:rPr lang="zh-CN" altLang="en-US" dirty="0"/>
              <a:t>根据用户组进行检查（鉴权）</a:t>
            </a:r>
            <a:endParaRPr lang="en-US" altLang="zh-CN" dirty="0"/>
          </a:p>
          <a:p>
            <a:pPr lvl="2"/>
            <a:r>
              <a:rPr lang="zh-CN" altLang="en-US" dirty="0"/>
              <a:t>引入</a:t>
            </a:r>
            <a:r>
              <a:rPr lang="en-US" altLang="zh-CN" dirty="0" err="1"/>
              <a:t>fd</a:t>
            </a:r>
            <a:r>
              <a:rPr lang="zh-CN" altLang="en-US" dirty="0"/>
              <a:t>，记录本次打开权限（授权），作为后续操作的参数</a:t>
            </a:r>
            <a:endParaRPr lang="en-US" altLang="zh-CN" dirty="0"/>
          </a:p>
          <a:p>
            <a:pPr lvl="1"/>
            <a:r>
              <a:rPr lang="zh-CN" altLang="en-US" dirty="0"/>
              <a:t>每次操作文件时，根据</a:t>
            </a:r>
            <a:r>
              <a:rPr lang="en-US" altLang="zh-CN" dirty="0" err="1"/>
              <a:t>fd</a:t>
            </a:r>
            <a:r>
              <a:rPr lang="zh-CN" altLang="en-US" dirty="0"/>
              <a:t>信息进行检查（鉴权）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09EB52-B739-FE4D-B6A8-3AFCDF0E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2D249-72AF-344A-BB61-F50F9090C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56796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86904-F105-C94E-B81A-3256A6A4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ACL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C3912-6F13-824D-8E04-73B27C33B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Windows</a:t>
            </a:r>
            <a:r>
              <a:rPr kumimoji="1" lang="zh-CN" altLang="en-US" sz="2000" dirty="0"/>
              <a:t>使用不同于</a:t>
            </a:r>
            <a:r>
              <a:rPr kumimoji="1" lang="en-US" altLang="zh-CN" sz="2000" dirty="0"/>
              <a:t>POSIX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ACL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以文件和目录为粒度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为多个用户和用户组</a:t>
            </a:r>
            <a:br>
              <a:rPr kumimoji="1" lang="en-US" altLang="zh-CN" sz="1800" dirty="0"/>
            </a:br>
            <a:r>
              <a:rPr kumimoji="1" lang="zh-CN" altLang="en-US" sz="1800" dirty="0"/>
              <a:t>设置不同的权限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对比</a:t>
            </a:r>
            <a:r>
              <a:rPr kumimoji="1" lang="en-US" altLang="zh-CN" sz="2000" dirty="0"/>
              <a:t>POSIX</a:t>
            </a:r>
          </a:p>
          <a:p>
            <a:pPr lvl="1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类用户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A424FC-6CD2-F047-BC3F-12D161EB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7CF91-F7AA-E948-9769-4A2AAB5A6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026" name="Picture 2" descr="How to Use Windows ACL to Manage User Permissions on the QNAP NAS | Qnap  Advanced Support">
            <a:extLst>
              <a:ext uri="{FF2B5EF4-FFF2-40B4-BE49-F238E27FC236}">
                <a16:creationId xmlns:a16="http://schemas.microsoft.com/office/drawing/2014/main" id="{88EC14DC-B884-7946-BFA7-37EC8AD4B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832" y="2077816"/>
            <a:ext cx="4640736" cy="302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73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12BB7-AA27-AC47-914F-AFB9C306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基于角色的访问控制（</a:t>
            </a:r>
            <a:r>
              <a:rPr kumimoji="1" lang="en-US" altLang="zh-CN" dirty="0"/>
              <a:t>RBAC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120C6-2F7F-344A-996A-E5605F947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1800" dirty="0"/>
              <a:t>RBAC</a:t>
            </a:r>
            <a:r>
              <a:rPr kumimoji="1" lang="zh-CN" altLang="en-US" sz="1800" dirty="0"/>
              <a:t>：</a:t>
            </a:r>
            <a:r>
              <a:rPr lang="zh-CN" altLang="en-US" sz="1800" dirty="0"/>
              <a:t>将用户（人）与角色解耦的访问控制方法</a:t>
            </a:r>
          </a:p>
          <a:p>
            <a:pPr lvl="1"/>
            <a:r>
              <a:rPr lang="en-US" altLang="zh-CN" sz="1600" dirty="0"/>
              <a:t>Role-Based</a:t>
            </a:r>
            <a:r>
              <a:rPr lang="zh-CN" altLang="en-US" sz="1600" dirty="0"/>
              <a:t> </a:t>
            </a:r>
            <a:r>
              <a:rPr lang="en-US" altLang="zh-CN" sz="1600" dirty="0"/>
              <a:t>Access</a:t>
            </a:r>
            <a:r>
              <a:rPr lang="zh-CN" altLang="en-US" sz="1600" dirty="0"/>
              <a:t> </a:t>
            </a:r>
            <a:r>
              <a:rPr lang="en-US" altLang="zh-CN" sz="1600" dirty="0"/>
              <a:t>Control</a:t>
            </a:r>
          </a:p>
          <a:p>
            <a:pPr lvl="1"/>
            <a:r>
              <a:rPr lang="zh-CN" altLang="en-US" sz="1600" dirty="0"/>
              <a:t>提出了角色的概念，与权限直接相关</a:t>
            </a:r>
            <a:endParaRPr lang="en-US" altLang="zh-CN" sz="1600" dirty="0"/>
          </a:p>
          <a:p>
            <a:pPr lvl="1"/>
            <a:r>
              <a:rPr lang="zh-CN" altLang="en-US" sz="1600" dirty="0"/>
              <a:t>用户通过拥有一个或多个角色，间接地拥有权限</a:t>
            </a:r>
            <a:endParaRPr lang="en-US" altLang="zh-CN" sz="1600" dirty="0"/>
          </a:p>
          <a:p>
            <a:pPr lvl="1"/>
            <a:r>
              <a:rPr lang="en-US" altLang="zh-CN" sz="1600" dirty="0"/>
              <a:t>"</a:t>
            </a:r>
            <a:r>
              <a:rPr lang="zh-CN" altLang="en-US" sz="1600" dirty="0"/>
              <a:t>用户</a:t>
            </a:r>
            <a:r>
              <a:rPr lang="en-US" altLang="zh-CN" sz="1600" dirty="0"/>
              <a:t>-</a:t>
            </a:r>
            <a:r>
              <a:rPr lang="zh-CN" altLang="en-US" sz="1600" dirty="0"/>
              <a:t>角色</a:t>
            </a:r>
            <a:r>
              <a:rPr lang="en-US" altLang="zh-CN" sz="1600" dirty="0"/>
              <a:t>"</a:t>
            </a:r>
            <a:r>
              <a:rPr lang="zh-CN" altLang="en-US" sz="1600" dirty="0"/>
              <a:t>，以及</a:t>
            </a:r>
            <a:r>
              <a:rPr lang="en-US" altLang="zh-CN" sz="1600" dirty="0"/>
              <a:t>"</a:t>
            </a:r>
            <a:r>
              <a:rPr lang="zh-CN" altLang="en-US" sz="1600" dirty="0"/>
              <a:t>角色</a:t>
            </a:r>
            <a:r>
              <a:rPr lang="en-US" altLang="zh-CN" sz="1600" dirty="0"/>
              <a:t>-</a:t>
            </a:r>
            <a:r>
              <a:rPr lang="zh-CN" altLang="en-US" sz="1600" dirty="0"/>
              <a:t>权限</a:t>
            </a:r>
            <a:r>
              <a:rPr lang="en-US" altLang="zh-CN" sz="1600" dirty="0"/>
              <a:t>"</a:t>
            </a:r>
            <a:r>
              <a:rPr lang="zh-CN" altLang="en-US" sz="1600" dirty="0"/>
              <a:t>，一般都是多对多的关系</a:t>
            </a:r>
            <a:endParaRPr lang="en-US" altLang="zh-CN" sz="1600" dirty="0"/>
          </a:p>
          <a:p>
            <a:r>
              <a:rPr kumimoji="1" lang="en-US" altLang="zh-CN" sz="1800" dirty="0"/>
              <a:t>RBAC</a:t>
            </a:r>
            <a:r>
              <a:rPr kumimoji="1" lang="zh-CN" altLang="en-US" sz="1800" dirty="0"/>
              <a:t>的优势</a:t>
            </a:r>
            <a:endParaRPr kumimoji="1" lang="en-US" altLang="zh-CN" sz="1800" dirty="0"/>
          </a:p>
          <a:p>
            <a:pPr lvl="1"/>
            <a:r>
              <a:rPr lang="zh-CN" altLang="en-US" sz="1600" dirty="0"/>
              <a:t>设定角色与权限之间的关系比设定用户与权限之间的关系更直观</a:t>
            </a:r>
            <a:endParaRPr lang="en-US" altLang="zh-CN" sz="1600" dirty="0"/>
          </a:p>
          <a:p>
            <a:pPr lvl="1"/>
            <a:r>
              <a:rPr lang="zh-CN" altLang="en-US" sz="1600" dirty="0"/>
              <a:t>可一次性地更新所有拥有该角色用户的权限，提高了权限更新的效率</a:t>
            </a:r>
            <a:endParaRPr lang="en-US" altLang="zh-CN" sz="1600" dirty="0"/>
          </a:p>
          <a:p>
            <a:pPr lvl="1"/>
            <a:r>
              <a:rPr lang="zh-CN" altLang="en-US" sz="1600" dirty="0"/>
              <a:t>角色与权限之间的关系比较稳定，而用户和角色之间的关系变化相对频繁</a:t>
            </a:r>
            <a:endParaRPr lang="en-US" altLang="zh-CN" sz="1600" dirty="0"/>
          </a:p>
          <a:p>
            <a:pPr lvl="2"/>
            <a:r>
              <a:rPr lang="zh-CN" altLang="en-US" sz="1600" dirty="0"/>
              <a:t>设计者负责设定权限与角色的关系（机制）</a:t>
            </a:r>
            <a:endParaRPr lang="en-US" altLang="zh-CN" sz="1600" dirty="0"/>
          </a:p>
          <a:p>
            <a:pPr lvl="2"/>
            <a:r>
              <a:rPr lang="zh-CN" altLang="en-US" sz="1600" dirty="0"/>
              <a:t>管理者只需要配置用户属于哪些角色（策略）</a:t>
            </a:r>
          </a:p>
          <a:p>
            <a:pPr lvl="1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026381-3DA5-5140-8F8B-356BB52B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36570B-F146-DC42-A743-AB3414D69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49721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3FE30-21BA-9F41-98C8-0FD887E1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最小特权级原则：</a:t>
            </a:r>
            <a:r>
              <a:rPr kumimoji="1" lang="en-US" altLang="zh-CN" dirty="0" err="1"/>
              <a:t>setuid</a:t>
            </a:r>
            <a:r>
              <a:rPr kumimoji="1" lang="en" altLang="zh-CN" dirty="0"/>
              <a:t> </a:t>
            </a:r>
            <a:r>
              <a:rPr kumimoji="1" lang="zh-CN" altLang="en-US" dirty="0"/>
              <a:t>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F2EB8-0FEA-B842-8BA0-D2672625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问题：</a:t>
            </a:r>
            <a:r>
              <a:rPr kumimoji="1" lang="en-US" altLang="zh-CN" sz="2000" dirty="0"/>
              <a:t>passwd</a:t>
            </a:r>
            <a:r>
              <a:rPr kumimoji="1" lang="zh-CN" altLang="en-US" sz="2000" dirty="0"/>
              <a:t> 命令如何工作？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用户有权限使用 </a:t>
            </a:r>
            <a:r>
              <a:rPr kumimoji="1" lang="en-US" altLang="zh-CN" sz="1800" dirty="0"/>
              <a:t>passwd</a:t>
            </a:r>
            <a:r>
              <a:rPr kumimoji="1" lang="zh-CN" altLang="en-US" sz="1800" dirty="0"/>
              <a:t> 命令修改自己的密码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用户的密码保存在 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etc</a:t>
            </a:r>
            <a:r>
              <a:rPr kumimoji="1" lang="en-US" altLang="zh-CN" sz="1800" dirty="0"/>
              <a:t>/shadow</a:t>
            </a:r>
            <a:r>
              <a:rPr kumimoji="1" lang="zh-CN" altLang="en-US" sz="1800" dirty="0"/>
              <a:t> 中，用户无权访问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本质上是以文件为单位的权限管理粒度过粗</a:t>
            </a:r>
            <a:r>
              <a:rPr kumimoji="1" lang="en-US" altLang="zh-CN" sz="1800" dirty="0"/>
              <a:t>——</a:t>
            </a:r>
            <a:r>
              <a:rPr kumimoji="1" lang="zh-CN" altLang="en-US" sz="1800" dirty="0"/>
              <a:t>怎么解决？</a:t>
            </a:r>
            <a:endParaRPr kumimoji="1" lang="en-US" altLang="zh-CN" sz="1800" dirty="0"/>
          </a:p>
          <a:p>
            <a:r>
              <a:rPr kumimoji="1" lang="zh-CN" altLang="en-US" sz="2000" dirty="0"/>
              <a:t>解决方法：运行 </a:t>
            </a:r>
            <a:r>
              <a:rPr kumimoji="1" lang="en-US" altLang="zh-CN" sz="2000" dirty="0"/>
              <a:t>passwd</a:t>
            </a:r>
            <a:r>
              <a:rPr kumimoji="1" lang="zh-CN" altLang="en-US" sz="2000" dirty="0"/>
              <a:t> 时使用 </a:t>
            </a:r>
            <a:r>
              <a:rPr kumimoji="1" lang="en-US" altLang="zh-CN" sz="2000" dirty="0"/>
              <a:t>root</a:t>
            </a:r>
            <a:r>
              <a:rPr kumimoji="1" lang="zh-CN" altLang="en-US" sz="2000" dirty="0"/>
              <a:t> 身份（</a:t>
            </a:r>
            <a:r>
              <a:rPr kumimoji="1" lang="en-US" altLang="zh-CN" sz="2000" dirty="0"/>
              <a:t>RBAC</a:t>
            </a:r>
            <a:r>
              <a:rPr kumimoji="1" lang="zh-CN" altLang="en-US" sz="2000" dirty="0"/>
              <a:t>的思想）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如何保证用户提权为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后只能运行</a:t>
            </a:r>
            <a:r>
              <a:rPr kumimoji="1" lang="en-US" altLang="zh-CN" sz="1800" dirty="0"/>
              <a:t>passwd</a:t>
            </a:r>
            <a:r>
              <a:rPr kumimoji="1" lang="zh-CN" altLang="en-US" sz="1800" dirty="0"/>
              <a:t>？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在</a:t>
            </a:r>
            <a:r>
              <a:rPr kumimoji="1" lang="en-US" altLang="zh-CN" sz="1600" dirty="0"/>
              <a:t>passwd</a:t>
            </a:r>
            <a:r>
              <a:rPr kumimoji="1" lang="zh-CN" altLang="en-US" sz="1600" dirty="0"/>
              <a:t>的</a:t>
            </a:r>
            <a:r>
              <a:rPr kumimoji="1" lang="en-US" altLang="zh-CN" sz="1600" dirty="0" err="1"/>
              <a:t>inode</a:t>
            </a:r>
            <a:r>
              <a:rPr kumimoji="1" lang="zh-CN" altLang="en-US" sz="1600" dirty="0"/>
              <a:t>中增加一个</a:t>
            </a:r>
            <a:r>
              <a:rPr kumimoji="1" lang="en-US" altLang="zh-CN" sz="1600" dirty="0"/>
              <a:t>SUID</a:t>
            </a:r>
            <a:r>
              <a:rPr kumimoji="1" lang="zh-CN" altLang="en-US" sz="1600" dirty="0"/>
              <a:t>位，使得用户仅在执行该程序时才会被</a:t>
            </a:r>
            <a:br>
              <a:rPr kumimoji="1" lang="en-US" altLang="zh-CN" sz="1600" dirty="0"/>
            </a:br>
            <a:r>
              <a:rPr kumimoji="1" lang="zh-CN" altLang="en-US" sz="1600" dirty="0"/>
              <a:t>提权，执行完后恢复，从而将进程提权的时间降至最小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passwd</a:t>
            </a:r>
            <a:r>
              <a:rPr kumimoji="1" lang="zh-CN" altLang="en-US" sz="1800" dirty="0"/>
              <a:t>程序本身的逻辑会保证某一个用户只能修改其自身的密码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1CDE73-7EE8-104D-8959-9612E83C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C511AB-AD7B-4746-A906-7FDE0427C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A53320-9582-794E-A5EF-7DBD9D6B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165" y="4990836"/>
            <a:ext cx="5006995" cy="242927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FA8F7CC-2156-CC46-9742-A336E87A3A5C}"/>
              </a:ext>
            </a:extLst>
          </p:cNvPr>
          <p:cNvCxnSpPr>
            <a:cxnSpLocks/>
          </p:cNvCxnSpPr>
          <p:nvPr/>
        </p:nvCxnSpPr>
        <p:spPr>
          <a:xfrm flipV="1">
            <a:off x="2555776" y="5233764"/>
            <a:ext cx="0" cy="22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231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7676E-FBD3-3046-A978-25FA56F1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setuid</a:t>
            </a:r>
            <a:r>
              <a:rPr kumimoji="1" lang="zh-CN" altLang="en-US" dirty="0"/>
              <a:t>的安全风险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C16A06-871B-144D-A188-ACB687F62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 err="1"/>
              <a:t>setuid</a:t>
            </a:r>
            <a:r>
              <a:rPr kumimoji="1" lang="zh-CN" altLang="en-US" sz="2000" dirty="0"/>
              <a:t> 不同于</a:t>
            </a:r>
            <a:r>
              <a:rPr kumimoji="1" lang="en-US" altLang="zh-CN" sz="2000" dirty="0"/>
              <a:t>RBAC</a:t>
            </a:r>
          </a:p>
          <a:p>
            <a:pPr lvl="1"/>
            <a:r>
              <a:rPr kumimoji="1" lang="en-US" altLang="zh-CN" sz="1800" dirty="0" err="1"/>
              <a:t>setuid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下通常用于以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身份运行，拥有的权限，远超过必要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必要权限：用户能够读写 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etc</a:t>
            </a:r>
            <a:r>
              <a:rPr kumimoji="1" lang="en-US" altLang="zh-CN" sz="1800" dirty="0"/>
              <a:t>/passwd</a:t>
            </a:r>
            <a:r>
              <a:rPr kumimoji="1" lang="zh-CN" altLang="en-US" sz="1800" dirty="0"/>
              <a:t> 文件中的某一行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实际权限：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用户能够访问整个 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etc</a:t>
            </a:r>
            <a:r>
              <a:rPr kumimoji="1" lang="en-US" altLang="zh-CN" sz="1800" dirty="0"/>
              <a:t>/passwd</a:t>
            </a:r>
            <a:r>
              <a:rPr kumimoji="1" lang="zh-CN" altLang="en-US" sz="1800" dirty="0"/>
              <a:t> 文件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用户（短暂地）拥有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用户的权限</a:t>
            </a:r>
            <a:endParaRPr kumimoji="1" lang="en-US" altLang="zh-CN" sz="1800" dirty="0"/>
          </a:p>
          <a:p>
            <a:r>
              <a:rPr kumimoji="1" lang="en-US" altLang="zh-CN" sz="2200" dirty="0" err="1"/>
              <a:t>setuid</a:t>
            </a:r>
            <a:r>
              <a:rPr kumimoji="1" lang="zh-CN" altLang="en-US" sz="2200" dirty="0"/>
              <a:t>的安全隐患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一旦 </a:t>
            </a:r>
            <a:r>
              <a:rPr kumimoji="1" lang="en-US" altLang="zh-CN" sz="1800" dirty="0"/>
              <a:t>passwd</a:t>
            </a:r>
            <a:r>
              <a:rPr kumimoji="1" lang="zh-CN" altLang="en-US" sz="1800" dirty="0"/>
              <a:t> 程序存在漏洞，如 </a:t>
            </a:r>
            <a:r>
              <a:rPr kumimoji="1" lang="en-US" altLang="zh-CN" sz="1800" dirty="0"/>
              <a:t>buffer-overflow</a:t>
            </a:r>
            <a:r>
              <a:rPr kumimoji="1" lang="zh-CN" altLang="en-US" sz="1800" dirty="0"/>
              <a:t> 导致的返回地址修改，则攻击者很容易以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身份通过</a:t>
            </a:r>
            <a:r>
              <a:rPr kumimoji="1" lang="en-US" altLang="zh-CN" sz="1800" dirty="0"/>
              <a:t>ROP</a:t>
            </a:r>
            <a:r>
              <a:rPr kumimoji="1" lang="zh-CN" altLang="en-US" sz="1800" dirty="0"/>
              <a:t>运行 </a:t>
            </a:r>
            <a:r>
              <a:rPr kumimoji="1" lang="en-US" altLang="zh-CN" sz="1800" dirty="0"/>
              <a:t>execv("/bin/</a:t>
            </a:r>
            <a:r>
              <a:rPr kumimoji="1" lang="en-US" altLang="zh-CN" sz="1800" dirty="0" err="1"/>
              <a:t>sh</a:t>
            </a:r>
            <a:r>
              <a:rPr kumimoji="1" lang="en-US" altLang="zh-CN" sz="1800" dirty="0"/>
              <a:t>")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381CB4-9A4E-9A4D-A7F7-8AE18866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01D7F-0263-FE4B-BE85-0E96A5E66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4791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B62CA-85A1-9B44-B3AB-7B9930CE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权限控制的另一种思路：</a:t>
            </a:r>
            <a:r>
              <a:rPr kumimoji="1" lang="en-US" altLang="zh-CN" dirty="0"/>
              <a:t>Capability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AC2917-0856-824F-BE35-9012FE855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Capability</a:t>
            </a:r>
            <a:r>
              <a:rPr kumimoji="1" lang="zh-CN" altLang="en-US" sz="2000" dirty="0"/>
              <a:t>表示一种能力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例如：读取</a:t>
            </a:r>
            <a:r>
              <a:rPr kumimoji="1" lang="en-US" altLang="zh-CN" sz="1800" dirty="0"/>
              <a:t>/foo</a:t>
            </a:r>
            <a:r>
              <a:rPr kumimoji="1" lang="zh-CN" altLang="en-US" sz="1800" dirty="0"/>
              <a:t>文件，写入</a:t>
            </a:r>
            <a:r>
              <a:rPr kumimoji="1" lang="en-US" altLang="zh-CN" sz="1800" dirty="0"/>
              <a:t>/foo</a:t>
            </a:r>
            <a:r>
              <a:rPr kumimoji="1" lang="zh-CN" altLang="en-US" sz="1800" dirty="0"/>
              <a:t>文件，等等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有点像钥匙，能打开某一把锁的话就能进行某个操作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每个进程可以拥有一组能力</a:t>
            </a:r>
            <a:endParaRPr kumimoji="1" lang="en-US" altLang="zh-CN" sz="1800" dirty="0"/>
          </a:p>
          <a:p>
            <a:r>
              <a:rPr kumimoji="1" lang="en-US" altLang="zh-CN" sz="2000" dirty="0"/>
              <a:t>Capability</a:t>
            </a:r>
            <a:r>
              <a:rPr kumimoji="1" lang="zh-CN" altLang="en-US" sz="2000" dirty="0"/>
              <a:t>怎么实现？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仅仅是一串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，但必须保存在内核中，否则进程就可以任意伪造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通常保存在进程的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中，在进程进行某个操作的时候内核检查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可以把不同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的组合对应为</a:t>
            </a:r>
            <a:r>
              <a:rPr kumimoji="1" lang="en-US" altLang="zh-CN" sz="1800" dirty="0"/>
              <a:t>ACL</a:t>
            </a:r>
            <a:r>
              <a:rPr kumimoji="1" lang="zh-CN" altLang="en-US" sz="1800" dirty="0"/>
              <a:t>中的不同组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因此使用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的控制粒度可以很细，而且不需要建立大量的组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9C01D0-3AF0-0646-800C-2D9052AE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7AA55C-4518-EE4D-9586-03729F809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169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09DBA-6934-F54C-8819-E730B7D2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Capability</a:t>
            </a:r>
            <a:r>
              <a:rPr kumimoji="1" lang="zh-CN" altLang="en-US" dirty="0"/>
              <a:t>的典型操作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AEB2A9-9553-3548-AF62-F2EBAF90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sz="2000" b="0" dirty="0"/>
              <a:t>服务端通过系统调用创建一个 </a:t>
            </a:r>
            <a:r>
              <a:rPr kumimoji="1" lang="en" altLang="zh-CN" sz="2000" b="0" dirty="0"/>
              <a:t>Capability</a:t>
            </a:r>
            <a:r>
              <a:rPr kumimoji="1" lang="zh-CN" altLang="en" sz="2000" b="0" dirty="0"/>
              <a:t>，</a:t>
            </a:r>
            <a:r>
              <a:rPr kumimoji="1" lang="zh-CN" altLang="en-US" sz="2000" b="0" dirty="0"/>
              <a:t>获得相应的 </a:t>
            </a:r>
            <a:r>
              <a:rPr kumimoji="1" lang="en" altLang="zh-CN" sz="2000" b="0" dirty="0"/>
              <a:t>ID</a:t>
            </a:r>
            <a:r>
              <a:rPr kumimoji="1" lang="zh-CN" altLang="en" sz="2000" b="0" dirty="0"/>
              <a:t>；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2000" b="0" dirty="0"/>
              <a:t>服务端通过系统调用，将此 </a:t>
            </a:r>
            <a:r>
              <a:rPr kumimoji="1" lang="en" altLang="zh-CN" sz="2000" b="0" dirty="0"/>
              <a:t>Capability ID </a:t>
            </a:r>
            <a:r>
              <a:rPr kumimoji="1" lang="zh-CN" altLang="en-US" sz="2000" b="0" dirty="0"/>
              <a:t>传递给某个客户端；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2000" b="0" dirty="0"/>
              <a:t>客户端通过 </a:t>
            </a:r>
            <a:r>
              <a:rPr kumimoji="1" lang="en" altLang="zh-CN" sz="2000" b="0" dirty="0"/>
              <a:t>IPC </a:t>
            </a:r>
            <a:r>
              <a:rPr kumimoji="1" lang="zh-CN" altLang="en-US" sz="2000" b="0" dirty="0"/>
              <a:t>调用服务端的某个服务函数，以 </a:t>
            </a:r>
            <a:r>
              <a:rPr kumimoji="1" lang="en" altLang="zh-CN" sz="2000" b="0" dirty="0"/>
              <a:t>Capability ID </a:t>
            </a:r>
            <a:r>
              <a:rPr kumimoji="1" lang="zh-CN" altLang="en-US" sz="2000" b="0" dirty="0"/>
              <a:t>作为参数；</a:t>
            </a:r>
            <a:endParaRPr kumimoji="1" lang="en-US" altLang="zh-CN" sz="2000" b="0" dirty="0"/>
          </a:p>
          <a:p>
            <a:pPr marL="457200" indent="-457200">
              <a:buFont typeface="+mj-lt"/>
              <a:buAutoNum type="arabicPeriod"/>
            </a:pPr>
            <a:r>
              <a:rPr kumimoji="1" lang="en" altLang="zh-CN" sz="2000" b="0" dirty="0"/>
              <a:t>IPC </a:t>
            </a:r>
            <a:r>
              <a:rPr kumimoji="1" lang="zh-CN" altLang="en-US" sz="2000" b="0" dirty="0"/>
              <a:t>调用过程中，操作系统根据该 </a:t>
            </a:r>
            <a:r>
              <a:rPr kumimoji="1" lang="en" altLang="zh-CN" sz="2000" b="0" dirty="0"/>
              <a:t>Capability ID </a:t>
            </a:r>
            <a:r>
              <a:rPr kumimoji="1" lang="zh-CN" altLang="en-US" sz="2000" b="0" dirty="0"/>
              <a:t>检查该客户端是否有权限调用服务端函数，检查通过则切换至服务端继续运行；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2000" b="0" dirty="0"/>
              <a:t>服务端执行函数，并将结果返回给客户端。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5DC81F-8ED4-5347-9562-8201562D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A75CD-738F-5840-8353-70A0DABB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46743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6D4FB-47E4-F44C-8447-7D32E4C4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fd</a:t>
            </a:r>
            <a:r>
              <a:rPr kumimoji="1" lang="zh-CN" altLang="en-US" dirty="0"/>
              <a:t>与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的类似之处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3A31B4-6B6A-8A49-ADC1-58CD8D2E4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/>
          <a:lstStyle/>
          <a:p>
            <a:r>
              <a:rPr kumimoji="1" lang="zh-CN" altLang="en-US" dirty="0"/>
              <a:t>文件描述符 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 可以看做是一类 </a:t>
            </a:r>
            <a:r>
              <a:rPr kumimoji="1" lang="en-US" altLang="zh-CN" dirty="0"/>
              <a:t>Capability</a:t>
            </a:r>
          </a:p>
          <a:p>
            <a:pPr lvl="1"/>
            <a:r>
              <a:rPr kumimoji="1" lang="zh-CN" altLang="en-US" dirty="0"/>
              <a:t>用户不能伪造 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，必须通过内核打开文件（回顾 </a:t>
            </a:r>
            <a:r>
              <a:rPr kumimoji="1" lang="en-US" altLang="zh-CN" dirty="0" err="1"/>
              <a:t>file_table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fd_table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fd</a:t>
            </a:r>
            <a:r>
              <a:rPr kumimoji="1" lang="zh-CN" altLang="en-US" dirty="0"/>
              <a:t> 只是一个指向保存在内核中数据结构的</a:t>
            </a:r>
            <a:r>
              <a:rPr kumimoji="1" lang="en-US" altLang="zh-CN" dirty="0"/>
              <a:t>"</a:t>
            </a:r>
            <a:r>
              <a:rPr kumimoji="1" lang="zh-CN" altLang="en-US" dirty="0"/>
              <a:t>指针</a:t>
            </a:r>
            <a:r>
              <a:rPr kumimoji="1" lang="en-US" altLang="zh-CN" dirty="0"/>
              <a:t>"</a:t>
            </a:r>
          </a:p>
          <a:p>
            <a:pPr lvl="1"/>
            <a:r>
              <a:rPr kumimoji="1" lang="zh-CN" altLang="en-US" dirty="0"/>
              <a:t>拥有 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 就拥有了访问对应文件的权限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一个文件可以对应不同 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，相应的权限可以不同</a:t>
            </a:r>
            <a:endParaRPr kumimoji="1" lang="en-US" altLang="zh-CN" dirty="0"/>
          </a:p>
          <a:p>
            <a:r>
              <a:rPr kumimoji="1" lang="en-US" altLang="zh-CN" dirty="0" err="1"/>
              <a:t>fd</a:t>
            </a:r>
            <a:r>
              <a:rPr kumimoji="1" lang="zh-CN" altLang="en-US" dirty="0"/>
              <a:t> 也可以在不同进程之间传递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父进程可以传递给子进程（回顾</a:t>
            </a:r>
            <a:r>
              <a:rPr kumimoji="1" lang="en-US" altLang="zh-CN" dirty="0"/>
              <a:t>pipe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非父子进程之间可以通过 </a:t>
            </a:r>
            <a:r>
              <a:rPr kumimoji="1" lang="en-US" altLang="zh-CN" dirty="0" err="1"/>
              <a:t>sendmsg</a:t>
            </a:r>
            <a:r>
              <a:rPr kumimoji="1" lang="zh-CN" altLang="en-US" dirty="0"/>
              <a:t> 传递 </a:t>
            </a:r>
            <a:r>
              <a:rPr kumimoji="1" lang="en-US" altLang="zh-CN" dirty="0" err="1"/>
              <a:t>fd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DF0934-03B6-9542-9BCB-F814CAB9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EBC0B9-8F0E-0845-9931-6CA9BBE22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1428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B07DC-24AA-3041-9BE0-050DB7A3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Capability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03BF80-42AB-EC4D-884A-1375337D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提供细粒度控制进程的权限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初衷：解决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用户权限过高的问题</a:t>
            </a:r>
            <a:endParaRPr kumimoji="1" lang="en-US" altLang="zh-CN" sz="1800" dirty="0"/>
          </a:p>
          <a:p>
            <a:r>
              <a:rPr kumimoji="1" lang="zh-CN" altLang="en-US" sz="2000" dirty="0"/>
              <a:t>与前面说的</a:t>
            </a:r>
            <a:r>
              <a:rPr kumimoji="1" lang="en-US" altLang="zh-CN" sz="2000" dirty="0"/>
              <a:t>Capability</a:t>
            </a:r>
            <a:r>
              <a:rPr kumimoji="1" lang="zh-CN" altLang="en-US" sz="2000" dirty="0"/>
              <a:t>的不同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语义都是预先由内核定义，而不允许用户进程自定义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不允许传递，而是在创建进程的时候，与该进程相绑定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没有提供 </a:t>
            </a:r>
            <a:r>
              <a:rPr kumimoji="1" lang="en" altLang="zh-CN" sz="1800" dirty="0"/>
              <a:t>Capability ID</a:t>
            </a:r>
            <a:r>
              <a:rPr kumimoji="1" lang="zh-CN" altLang="en" sz="1800" dirty="0"/>
              <a:t>，</a:t>
            </a:r>
            <a:r>
              <a:rPr kumimoji="1" lang="zh-CN" altLang="en-US" sz="1800" dirty="0"/>
              <a:t>无法通过 </a:t>
            </a:r>
            <a:r>
              <a:rPr kumimoji="1" lang="en" altLang="zh-CN" sz="1800" dirty="0"/>
              <a:t>ID </a:t>
            </a:r>
            <a:r>
              <a:rPr kumimoji="1" lang="zh-CN" altLang="en-US" sz="1800" dirty="0"/>
              <a:t>索引内核资源进行操作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9BE89A-B7C4-1B4D-9FB3-62F4C418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133D4F-05D6-8B4A-B9CA-98BA2D1E2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450ABA-7EDD-C24E-81F6-4218B9E6C0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63529"/>
          <a:stretch/>
        </p:blipFill>
        <p:spPr>
          <a:xfrm>
            <a:off x="559983" y="3953613"/>
            <a:ext cx="8024033" cy="115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331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0ED14-404E-6646-9DB6-A2866BE0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DAC</a:t>
            </a:r>
            <a:r>
              <a:rPr kumimoji="1" lang="zh-CN" altLang="en-US" dirty="0"/>
              <a:t>与</a:t>
            </a:r>
            <a:r>
              <a:rPr kumimoji="1" lang="en-US" altLang="zh-CN" dirty="0"/>
              <a:t>MAC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8AEB37-A88E-3941-84CE-7D5229787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自主访问控制（</a:t>
            </a:r>
            <a:r>
              <a:rPr lang="en" altLang="zh-CN" sz="2000" dirty="0"/>
              <a:t>DAC:</a:t>
            </a:r>
            <a:r>
              <a:rPr lang="zh-CN" altLang="en-US" sz="2000" dirty="0"/>
              <a:t> </a:t>
            </a:r>
            <a:r>
              <a:rPr lang="en" altLang="zh-CN" sz="2000" dirty="0"/>
              <a:t>Discretionary Access Control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1800" dirty="0"/>
              <a:t>指一个对象的拥有者有权限决定该对象是否可以被其他人访问</a:t>
            </a:r>
            <a:endParaRPr lang="en-US" altLang="zh-CN" sz="1800" dirty="0"/>
          </a:p>
          <a:p>
            <a:pPr lvl="2"/>
            <a:r>
              <a:rPr lang="zh-CN" altLang="en-US" sz="1600" dirty="0"/>
              <a:t>例如，文件系统就是一类典型的 </a:t>
            </a:r>
            <a:r>
              <a:rPr lang="en" altLang="zh-CN" sz="1600" dirty="0"/>
              <a:t>DAC</a:t>
            </a:r>
            <a:endParaRPr lang="en-US" altLang="zh-CN" sz="1800" dirty="0"/>
          </a:p>
          <a:p>
            <a:pPr lvl="1"/>
            <a:r>
              <a:rPr lang="zh-CN" altLang="en-US" sz="1800" dirty="0"/>
              <a:t>但是对部分场景（如军队）来说，</a:t>
            </a:r>
            <a:r>
              <a:rPr lang="en-US" altLang="zh-CN" sz="1800" dirty="0"/>
              <a:t>DAC</a:t>
            </a:r>
            <a:r>
              <a:rPr lang="zh-CN" altLang="en-US" sz="1800" dirty="0"/>
              <a:t>过于灵活</a:t>
            </a:r>
            <a:endParaRPr lang="en-US" altLang="zh-CN" sz="1800" dirty="0"/>
          </a:p>
          <a:p>
            <a:pPr lvl="2"/>
            <a:r>
              <a:rPr lang="zh-CN" altLang="en-US" sz="1600" dirty="0"/>
              <a:t>例如，文件拥有者是否真的有权可随意设置文件权限？</a:t>
            </a:r>
            <a:endParaRPr lang="en-US" altLang="zh-CN" sz="1600" dirty="0"/>
          </a:p>
          <a:p>
            <a:r>
              <a:rPr lang="zh-CN" altLang="en-US" sz="2000" dirty="0"/>
              <a:t>强制访问控制（</a:t>
            </a:r>
            <a:r>
              <a:rPr lang="en" altLang="zh-CN" sz="2000" dirty="0"/>
              <a:t>MAC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" altLang="zh-CN" sz="2000" dirty="0"/>
              <a:t>Mandatory Access Control</a:t>
            </a:r>
            <a:r>
              <a:rPr lang="zh-CN" altLang="en-US" sz="2000" dirty="0"/>
              <a:t>）</a:t>
            </a:r>
            <a:endParaRPr lang="en" altLang="zh-CN" sz="2000" dirty="0"/>
          </a:p>
          <a:p>
            <a:pPr lvl="1"/>
            <a:r>
              <a:rPr lang="zh-CN" altLang="en-US" sz="1800" dirty="0"/>
              <a:t>由</a:t>
            </a:r>
            <a:r>
              <a:rPr lang="en-US" altLang="zh-CN" sz="1800" dirty="0"/>
              <a:t>"</a:t>
            </a:r>
            <a:r>
              <a:rPr lang="zh-CN" altLang="en-US" sz="1800" dirty="0"/>
              <a:t>系统</a:t>
            </a:r>
            <a:r>
              <a:rPr lang="en-US" altLang="zh-CN" sz="1800" dirty="0"/>
              <a:t>"</a:t>
            </a:r>
            <a:r>
              <a:rPr lang="zh-CN" altLang="en-US" sz="1800" dirty="0"/>
              <a:t>增加一些强制的、不可改变的规则</a:t>
            </a:r>
            <a:endParaRPr lang="en-US" altLang="zh-CN" sz="1800" dirty="0"/>
          </a:p>
          <a:p>
            <a:pPr lvl="2"/>
            <a:r>
              <a:rPr lang="zh-CN" altLang="en-US" sz="1600" dirty="0"/>
              <a:t>例如，在军队中，如果某个文件设置为机密，那么就算是指挥官也不能把这个文件给没有权限的人看</a:t>
            </a:r>
            <a:r>
              <a:rPr lang="en-US" altLang="zh-CN" sz="1600" dirty="0"/>
              <a:t>——</a:t>
            </a:r>
            <a:r>
              <a:rPr lang="zh-CN" altLang="en-US" sz="1600" dirty="0"/>
              <a:t>这个规则是由军法（系统）规定的</a:t>
            </a:r>
            <a:endParaRPr lang="zh-CN" altLang="en-US" sz="1800" dirty="0"/>
          </a:p>
          <a:p>
            <a:pPr lvl="1"/>
            <a:r>
              <a:rPr kumimoji="1" lang="en-US" altLang="zh-CN" sz="1800" dirty="0"/>
              <a:t>MAC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DAC</a:t>
            </a:r>
            <a:r>
              <a:rPr kumimoji="1" lang="zh-CN" altLang="en-US" sz="1800" dirty="0"/>
              <a:t>可以结合，此时</a:t>
            </a:r>
            <a:r>
              <a:rPr kumimoji="1" lang="en-US" altLang="zh-CN" sz="1800" dirty="0"/>
              <a:t>MAC</a:t>
            </a:r>
            <a:r>
              <a:rPr kumimoji="1" lang="zh-CN" altLang="en-US" sz="1800" dirty="0"/>
              <a:t>的优先级更高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60D9A-167B-DA44-A3D4-FFF0B81F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A3436-5686-4441-B629-1EE84B063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090802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23657-F308-B642-83DC-6ED9FB8A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Bell-</a:t>
            </a:r>
            <a:r>
              <a:rPr kumimoji="1" lang="en-US" altLang="zh-CN" dirty="0" err="1"/>
              <a:t>LaPadula</a:t>
            </a:r>
            <a:r>
              <a:rPr kumimoji="1" lang="zh-CN" altLang="en-US" dirty="0"/>
              <a:t> 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7CAF7-A578-5949-B812-E6F079F7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dirty="0"/>
              <a:t>BLP</a:t>
            </a:r>
            <a:r>
              <a:rPr lang="zh-CN" altLang="en-US" dirty="0"/>
              <a:t>属于强制访问控制（</a:t>
            </a:r>
            <a:r>
              <a:rPr lang="en-US" altLang="zh-CN" dirty="0"/>
              <a:t>MAC</a:t>
            </a:r>
            <a:r>
              <a:rPr lang="zh-CN" altLang="en-US" dirty="0"/>
              <a:t>）模型</a:t>
            </a:r>
            <a:endParaRPr lang="en" altLang="zh-CN" dirty="0"/>
          </a:p>
          <a:p>
            <a:pPr lvl="1"/>
            <a:r>
              <a:rPr lang="zh-CN" altLang="en-US" dirty="0"/>
              <a:t>一个用于访问控制的状态机模型</a:t>
            </a:r>
            <a:endParaRPr lang="en-US" altLang="zh-CN" dirty="0"/>
          </a:p>
          <a:p>
            <a:pPr lvl="1"/>
            <a:r>
              <a:rPr lang="zh-CN" altLang="en-US" dirty="0"/>
              <a:t>目的是为了用于政府、军队等具有严格安全等级的场景</a:t>
            </a:r>
          </a:p>
          <a:p>
            <a:r>
              <a:rPr lang="en" altLang="zh-CN" dirty="0"/>
              <a:t>BLP </a:t>
            </a:r>
            <a:r>
              <a:rPr lang="zh-CN" altLang="en-US" dirty="0"/>
              <a:t>规定了两条 </a:t>
            </a:r>
            <a:r>
              <a:rPr lang="en" altLang="zh-CN" dirty="0"/>
              <a:t>MAC </a:t>
            </a:r>
            <a:r>
              <a:rPr lang="zh-CN" altLang="en-US" dirty="0"/>
              <a:t>规则和一条 </a:t>
            </a:r>
            <a:r>
              <a:rPr lang="en" altLang="zh-CN" dirty="0"/>
              <a:t>DAC </a:t>
            </a:r>
            <a:r>
              <a:rPr lang="zh-CN" altLang="en-US" dirty="0"/>
              <a:t>规则：</a:t>
            </a:r>
            <a:endParaRPr lang="en-US" altLang="zh-CN" dirty="0"/>
          </a:p>
          <a:p>
            <a:pPr lvl="1"/>
            <a:r>
              <a:rPr lang="zh-CN" altLang="en-US" sz="1800" dirty="0"/>
              <a:t>简单安全属性：某个安全级别的主体无法读取更高安全级别的对象</a:t>
            </a:r>
            <a:endParaRPr lang="en-US" altLang="zh-CN" sz="1800" dirty="0"/>
          </a:p>
          <a:p>
            <a:pPr lvl="1"/>
            <a:r>
              <a:rPr lang="en-US" altLang="zh-CN" sz="1800" dirty="0"/>
              <a:t>* </a:t>
            </a:r>
            <a:r>
              <a:rPr lang="zh-CN" altLang="en-US" sz="1800" dirty="0"/>
              <a:t>属性（星属性）</a:t>
            </a:r>
            <a:r>
              <a:rPr lang="en-US" altLang="zh-CN" sz="1800" dirty="0"/>
              <a:t>:</a:t>
            </a:r>
            <a:r>
              <a:rPr lang="zh-CN" altLang="en-US" sz="1800" dirty="0"/>
              <a:t>某一安全级别的主体无法写入任何更低安全级别的对象</a:t>
            </a:r>
            <a:endParaRPr lang="en-US" altLang="zh-CN" sz="1800" dirty="0"/>
          </a:p>
          <a:p>
            <a:pPr lvl="1"/>
            <a:r>
              <a:rPr lang="zh-CN" altLang="en-US" sz="1800" dirty="0"/>
              <a:t>自主安全属性：使用访问矩阵来规定自主访问控制（</a:t>
            </a:r>
            <a:r>
              <a:rPr lang="en" altLang="zh-CN" sz="1800" dirty="0"/>
              <a:t>DAC</a:t>
            </a:r>
            <a:r>
              <a:rPr lang="zh-CN" altLang="en" sz="1800" dirty="0"/>
              <a:t>）</a:t>
            </a:r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AF470B-EBD1-FB46-A8C9-33855A58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813EF9-8066-304C-A642-C5173B302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953880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60C1158-6BF1-D14D-9A95-D59DFBA0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</a:t>
            </a:r>
            <a:r>
              <a:rPr lang="en-US" altLang="zh-CN" dirty="0" err="1"/>
              <a:t>SELinux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9FD3E04-4760-C442-B374-F40C203C4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8322AA-4C2A-384C-8264-324C3289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8C2DE-BBB8-494E-A530-09A2DE106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368042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B3FE9-E924-7848-BC00-03BC66D4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SELinux</a:t>
            </a:r>
            <a:r>
              <a:rPr kumimoji="1" lang="zh-CN" altLang="en-US" dirty="0"/>
              <a:t>的历史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418211-043E-814B-A7A1-738D23B0A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SELinux</a:t>
            </a:r>
            <a:r>
              <a:rPr lang="zh-CN" altLang="en-US" dirty="0"/>
              <a:t>，由</a:t>
            </a:r>
            <a:r>
              <a:rPr lang="en-US" altLang="zh-CN" dirty="0"/>
              <a:t>NSA</a:t>
            </a:r>
            <a:r>
              <a:rPr lang="zh-CN" altLang="en-US" dirty="0"/>
              <a:t>发起，</a:t>
            </a:r>
            <a:r>
              <a:rPr lang="en-US" altLang="zh-CN" dirty="0"/>
              <a:t>2003</a:t>
            </a:r>
            <a:r>
              <a:rPr lang="zh-CN" altLang="en-US" dirty="0"/>
              <a:t>年并入</a:t>
            </a:r>
            <a:r>
              <a:rPr lang="en-US" altLang="zh-CN" dirty="0"/>
              <a:t>Linux</a:t>
            </a:r>
          </a:p>
          <a:p>
            <a:pPr lvl="1"/>
            <a:r>
              <a:rPr lang="zh-CN" altLang="en-US" dirty="0"/>
              <a:t>是 </a:t>
            </a:r>
            <a:r>
              <a:rPr lang="en" altLang="zh-CN" dirty="0"/>
              <a:t>Flask </a:t>
            </a:r>
            <a:r>
              <a:rPr lang="zh-CN" altLang="en-US" dirty="0"/>
              <a:t>安全架构在 </a:t>
            </a:r>
            <a:r>
              <a:rPr lang="en" altLang="zh-CN" dirty="0"/>
              <a:t>Linux </a:t>
            </a:r>
            <a:r>
              <a:rPr lang="zh-CN" altLang="en-US" dirty="0"/>
              <a:t>上的实现</a:t>
            </a:r>
            <a:endParaRPr lang="en-US" altLang="zh-CN" dirty="0"/>
          </a:p>
          <a:p>
            <a:pPr lvl="2"/>
            <a:r>
              <a:rPr lang="en" altLang="zh-CN" dirty="0"/>
              <a:t>Flask </a:t>
            </a:r>
            <a:r>
              <a:rPr lang="zh-CN" altLang="en-US" dirty="0"/>
              <a:t>是一个 </a:t>
            </a:r>
            <a:r>
              <a:rPr lang="en" altLang="zh-CN" dirty="0"/>
              <a:t>OS </a:t>
            </a:r>
            <a:r>
              <a:rPr lang="zh-CN" altLang="en-US" dirty="0"/>
              <a:t>的安全架构，可灵活提供不同的安全策略</a:t>
            </a:r>
            <a:endParaRPr lang="en-US" altLang="zh-CN" dirty="0"/>
          </a:p>
          <a:p>
            <a:pPr lvl="1"/>
            <a:r>
              <a:rPr lang="zh-CN" altLang="en-US" dirty="0"/>
              <a:t>是一个 </a:t>
            </a:r>
            <a:r>
              <a:rPr lang="en" altLang="zh-CN" dirty="0"/>
              <a:t>Linux </a:t>
            </a:r>
            <a:r>
              <a:rPr lang="zh-CN" altLang="en-US" dirty="0"/>
              <a:t>内核的安全模块（</a:t>
            </a:r>
            <a:r>
              <a:rPr lang="en-US" altLang="zh-CN" dirty="0"/>
              <a:t>LSM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Linux</a:t>
            </a:r>
            <a:r>
              <a:rPr lang="zh-CN" altLang="en-US" dirty="0"/>
              <a:t>内核的关键代码区域插入了许多 </a:t>
            </a:r>
            <a:r>
              <a:rPr lang="en" altLang="zh-CN" dirty="0"/>
              <a:t>hook</a:t>
            </a:r>
            <a:r>
              <a:rPr lang="zh-CN" altLang="en-US" dirty="0"/>
              <a:t>进行安全检查</a:t>
            </a:r>
            <a:endParaRPr lang="en-US" altLang="zh-CN" dirty="0"/>
          </a:p>
          <a:p>
            <a:r>
              <a:rPr lang="en-US" altLang="zh-CN" dirty="0" err="1"/>
              <a:t>SELinux</a:t>
            </a:r>
            <a:r>
              <a:rPr lang="zh-CN" altLang="en-US" dirty="0"/>
              <a:t> 提供一套访问控制的框架</a:t>
            </a:r>
            <a:endParaRPr lang="en-US" altLang="zh-CN" dirty="0"/>
          </a:p>
          <a:p>
            <a:pPr lvl="1"/>
            <a:r>
              <a:rPr lang="zh-CN" altLang="en-US" dirty="0"/>
              <a:t>支持不同的安全策略，包括强制类型访问（</a:t>
            </a:r>
            <a:r>
              <a:rPr lang="en" altLang="zh-CN" dirty="0"/>
              <a:t>MAC</a:t>
            </a:r>
            <a:r>
              <a:rPr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CC80B3-07C8-5C44-AEEB-9FCF228A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37D3C3-E63E-BB44-81AE-DC59218FD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524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AB47F-AD06-2044-9129-C62F43A2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SELinux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Flask</a:t>
            </a:r>
            <a:r>
              <a:rPr kumimoji="1" lang="zh-CN" altLang="en-US" dirty="0"/>
              <a:t>与</a:t>
            </a:r>
            <a:r>
              <a:rPr kumimoji="1" lang="en-US" altLang="zh-CN" dirty="0"/>
              <a:t>LSM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42D0D-5FD0-954A-9C24-377BACD0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FDF9B-2C06-0744-87DD-CDA9DE3C5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045B30-E529-B64F-8343-B7BDDF0135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7876" y="1279510"/>
            <a:ext cx="5788248" cy="387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924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FA048-BF7C-3544-BAEF-6AB0F911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SELinux</a:t>
            </a:r>
            <a:r>
              <a:rPr kumimoji="1" lang="zh-CN" altLang="en-US" dirty="0"/>
              <a:t>引入的概念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BAC9B-48E6-EF48-A2CB-111AB9B9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用户（</a:t>
            </a:r>
            <a:r>
              <a:rPr lang="en" altLang="zh-CN" sz="1800" dirty="0"/>
              <a:t>User</a:t>
            </a:r>
            <a:r>
              <a:rPr lang="zh-CN" altLang="en" sz="1800" dirty="0"/>
              <a:t>）</a:t>
            </a:r>
            <a:r>
              <a:rPr lang="zh-CN" altLang="en-US" sz="1800" dirty="0"/>
              <a:t>：指系统中的用户</a:t>
            </a:r>
            <a:endParaRPr lang="en-US" altLang="zh-CN" sz="1800" dirty="0"/>
          </a:p>
          <a:p>
            <a:pPr lvl="1"/>
            <a:r>
              <a:rPr lang="zh-CN" altLang="en-US" sz="1600" dirty="0"/>
              <a:t>与 </a:t>
            </a:r>
            <a:r>
              <a:rPr lang="en" altLang="zh-CN" sz="1600" dirty="0"/>
              <a:t>Linux </a:t>
            </a:r>
            <a:r>
              <a:rPr lang="zh-CN" altLang="en-US" sz="1600" dirty="0"/>
              <a:t>系统用户并没有关系</a:t>
            </a:r>
            <a:endParaRPr lang="en-US" altLang="zh-CN" sz="1600" dirty="0"/>
          </a:p>
          <a:p>
            <a:r>
              <a:rPr lang="zh-CN" altLang="en-US" sz="1800" dirty="0"/>
              <a:t>策略（</a:t>
            </a:r>
            <a:r>
              <a:rPr lang="en" altLang="zh-CN" sz="1800" dirty="0"/>
              <a:t>Policy</a:t>
            </a:r>
            <a:r>
              <a:rPr lang="zh-CN" altLang="en" sz="1800" dirty="0"/>
              <a:t>）</a:t>
            </a:r>
            <a:r>
              <a:rPr lang="zh-CN" altLang="en-US" sz="1800" dirty="0"/>
              <a:t>：一组规则（</a:t>
            </a:r>
            <a:r>
              <a:rPr lang="en" altLang="zh-CN" sz="1800" dirty="0"/>
              <a:t>Rule</a:t>
            </a:r>
            <a:r>
              <a:rPr lang="zh-CN" altLang="en" sz="1800" dirty="0"/>
              <a:t>）</a:t>
            </a:r>
            <a:r>
              <a:rPr lang="zh-CN" altLang="en-US" sz="1800" dirty="0"/>
              <a:t>的集合</a:t>
            </a:r>
            <a:endParaRPr lang="en-US" altLang="zh-CN" sz="1800" dirty="0"/>
          </a:p>
          <a:p>
            <a:pPr lvl="1"/>
            <a:r>
              <a:rPr lang="zh-CN" altLang="en-US" sz="1600" dirty="0"/>
              <a:t>默认是</a:t>
            </a:r>
            <a:r>
              <a:rPr lang="en-US" altLang="zh-CN" sz="1600" dirty="0"/>
              <a:t>"</a:t>
            </a:r>
            <a:r>
              <a:rPr lang="en" altLang="zh-CN" sz="1600" dirty="0"/>
              <a:t>Targeted"</a:t>
            </a:r>
            <a:r>
              <a:rPr lang="zh-CN" altLang="en-US" sz="1600" dirty="0"/>
              <a:t>策略，主要对服务进程进行访问控制</a:t>
            </a:r>
            <a:endParaRPr lang="en-US" altLang="zh-CN" sz="1600" dirty="0"/>
          </a:p>
          <a:p>
            <a:pPr lvl="1"/>
            <a:r>
              <a:rPr lang="en" altLang="zh-CN" sz="1600" dirty="0"/>
              <a:t>MLS </a:t>
            </a:r>
            <a:r>
              <a:rPr lang="zh-CN" altLang="en" sz="1600" dirty="0"/>
              <a:t>（</a:t>
            </a:r>
            <a:r>
              <a:rPr lang="en" altLang="zh-CN" sz="1600" dirty="0"/>
              <a:t>Multi-Level Security</a:t>
            </a:r>
            <a:r>
              <a:rPr lang="zh-CN" altLang="en" sz="1600" dirty="0"/>
              <a:t>），</a:t>
            </a:r>
            <a:r>
              <a:rPr lang="zh-CN" altLang="en-US" sz="1600" dirty="0"/>
              <a:t>实现了 </a:t>
            </a:r>
            <a:r>
              <a:rPr lang="en" altLang="zh-CN" sz="1600" dirty="0"/>
              <a:t>Bell-</a:t>
            </a:r>
            <a:r>
              <a:rPr lang="en" altLang="zh-CN" sz="1600" dirty="0" err="1"/>
              <a:t>LaPadula</a:t>
            </a:r>
            <a:r>
              <a:rPr lang="zh-CN" altLang="en-US" sz="1600" dirty="0"/>
              <a:t> </a:t>
            </a:r>
            <a:r>
              <a:rPr lang="zh-CN" altLang="en" sz="1600" dirty="0"/>
              <a:t>模型</a:t>
            </a:r>
            <a:endParaRPr lang="en-US" altLang="zh-CN" sz="1600" dirty="0"/>
          </a:p>
          <a:p>
            <a:pPr lvl="1"/>
            <a:r>
              <a:rPr lang="en" altLang="zh-CN" sz="1600" dirty="0"/>
              <a:t>Minimum</a:t>
            </a:r>
            <a:r>
              <a:rPr lang="zh-CN" altLang="en" sz="1600" dirty="0"/>
              <a:t>，</a:t>
            </a:r>
            <a:r>
              <a:rPr lang="zh-CN" altLang="en-US" sz="1600" dirty="0"/>
              <a:t>考虑资源消耗，仅应用了一些基础的策略规则，一般用于手机等平台</a:t>
            </a:r>
          </a:p>
          <a:p>
            <a:r>
              <a:rPr lang="zh-CN" altLang="en-US" sz="1800" dirty="0"/>
              <a:t>安全上下文：是主体和对象的标签（</a:t>
            </a:r>
            <a:r>
              <a:rPr lang="en" altLang="zh-CN" sz="1800" dirty="0"/>
              <a:t>Label</a:t>
            </a:r>
            <a:r>
              <a:rPr lang="zh-CN" altLang="en" sz="1800" dirty="0"/>
              <a:t>）</a:t>
            </a:r>
            <a:endParaRPr lang="en-US" altLang="zh-CN" sz="1800" dirty="0"/>
          </a:p>
          <a:p>
            <a:pPr lvl="1"/>
            <a:r>
              <a:rPr lang="zh-CN" altLang="en-US" sz="1600" dirty="0"/>
              <a:t>用于访问时的权限检查</a:t>
            </a:r>
            <a:endParaRPr lang="en-US" altLang="zh-CN" sz="1600" dirty="0"/>
          </a:p>
          <a:p>
            <a:pPr lvl="1"/>
            <a:r>
              <a:rPr lang="zh-CN" altLang="en-US" sz="1600" dirty="0"/>
              <a:t>可通过</a:t>
            </a:r>
            <a:r>
              <a:rPr lang="en-US" altLang="zh-CN" sz="1600" dirty="0"/>
              <a:t>"</a:t>
            </a:r>
            <a:r>
              <a:rPr lang="en" altLang="zh-CN" sz="1600" dirty="0"/>
              <a:t>ls -Z"</a:t>
            </a:r>
            <a:r>
              <a:rPr lang="zh-CN" altLang="en-US" sz="1600" dirty="0"/>
              <a:t>的命令来查看文件对应的安全上下文</a:t>
            </a:r>
          </a:p>
          <a:p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3CB3D-DFBE-2247-BC13-CA814E06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6382A-2AF2-AC40-AB9F-F98FD81C0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673925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0D87F-A3A6-854B-931D-93843E29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SELinux</a:t>
            </a:r>
            <a:r>
              <a:rPr kumimoji="1" lang="zh-CN" altLang="en-US" dirty="0"/>
              <a:t>的访问向量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B43B3A-A794-D74F-AE6E-C5286B4D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dirty="0" err="1"/>
              <a:t>SELinux</a:t>
            </a:r>
            <a:r>
              <a:rPr lang="en" altLang="zh-CN" dirty="0"/>
              <a:t> </a:t>
            </a:r>
            <a:r>
              <a:rPr lang="zh-CN" altLang="en-US" dirty="0"/>
              <a:t>将访问控制抽象为一个问题：</a:t>
            </a:r>
            <a:endParaRPr lang="en-US" altLang="zh-CN" dirty="0"/>
          </a:p>
          <a:p>
            <a:pPr lvl="1"/>
            <a:r>
              <a:rPr lang="zh-CN" altLang="en-US" dirty="0"/>
              <a:t>一个 </a:t>
            </a:r>
            <a:r>
              <a:rPr lang="en-US" altLang="zh-CN" dirty="0"/>
              <a:t>&lt; </a:t>
            </a:r>
            <a:r>
              <a:rPr lang="zh-CN" altLang="en-US" b="1" dirty="0">
                <a:solidFill>
                  <a:schemeClr val="accent1"/>
                </a:solidFill>
              </a:rPr>
              <a:t>主体</a:t>
            </a:r>
            <a:r>
              <a:rPr lang="zh-CN" altLang="en-US" dirty="0"/>
              <a:t> </a:t>
            </a:r>
            <a:r>
              <a:rPr lang="en-US" altLang="zh-CN" dirty="0"/>
              <a:t>&gt; </a:t>
            </a:r>
            <a:r>
              <a:rPr lang="zh-CN" altLang="en-US" dirty="0"/>
              <a:t>是否可以在一个 </a:t>
            </a:r>
            <a:r>
              <a:rPr lang="en-US" altLang="zh-CN" dirty="0"/>
              <a:t>&lt; </a:t>
            </a:r>
            <a:r>
              <a:rPr lang="zh-CN" altLang="en-US" b="1" dirty="0">
                <a:solidFill>
                  <a:schemeClr val="accent1"/>
                </a:solidFill>
              </a:rPr>
              <a:t>对象</a:t>
            </a:r>
            <a:r>
              <a:rPr lang="zh-CN" altLang="en-US" dirty="0"/>
              <a:t> </a:t>
            </a:r>
            <a:r>
              <a:rPr lang="en-US" altLang="zh-CN" dirty="0"/>
              <a:t>&gt; </a:t>
            </a:r>
            <a:r>
              <a:rPr lang="zh-CN" altLang="en-US" dirty="0"/>
              <a:t>上做一个 </a:t>
            </a:r>
            <a:r>
              <a:rPr lang="en-US" altLang="zh-CN" dirty="0"/>
              <a:t>&lt; </a:t>
            </a:r>
            <a:r>
              <a:rPr lang="zh-CN" altLang="en-US" b="1" dirty="0">
                <a:solidFill>
                  <a:schemeClr val="accent1"/>
                </a:solidFill>
              </a:rPr>
              <a:t>操作</a:t>
            </a:r>
            <a:r>
              <a:rPr lang="zh-CN" altLang="en-US" dirty="0"/>
              <a:t> </a:t>
            </a:r>
            <a:r>
              <a:rPr lang="en-US" altLang="zh-CN" dirty="0"/>
              <a:t>&gt;</a:t>
            </a:r>
          </a:p>
          <a:p>
            <a:pPr lvl="1"/>
            <a:r>
              <a:rPr lang="en-US" altLang="zh-CN" dirty="0"/>
              <a:t>3W: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W</a:t>
            </a:r>
            <a:r>
              <a:rPr lang="en-US" altLang="zh-CN" dirty="0"/>
              <a:t>ho,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W</a:t>
            </a:r>
            <a:r>
              <a:rPr lang="en-US" altLang="zh-CN" dirty="0"/>
              <a:t>hich</a:t>
            </a:r>
            <a:r>
              <a:rPr lang="zh-CN" altLang="en-US" dirty="0"/>
              <a:t> </a:t>
            </a:r>
            <a:r>
              <a:rPr lang="en-US" altLang="zh-CN" dirty="0"/>
              <a:t>(obj),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W</a:t>
            </a:r>
            <a:r>
              <a:rPr lang="en-US" altLang="zh-CN" dirty="0"/>
              <a:t>hat</a:t>
            </a:r>
            <a:r>
              <a:rPr lang="zh-CN" altLang="en-US" dirty="0"/>
              <a:t> </a:t>
            </a:r>
            <a:r>
              <a:rPr lang="en-US" altLang="zh-CN" dirty="0"/>
              <a:t>(operation)</a:t>
            </a:r>
          </a:p>
          <a:p>
            <a:r>
              <a:rPr lang="en" altLang="zh-CN" dirty="0"/>
              <a:t>AVC:</a:t>
            </a:r>
            <a:r>
              <a:rPr lang="zh-CN" altLang="en-US" dirty="0"/>
              <a:t> </a:t>
            </a:r>
            <a:r>
              <a:rPr lang="en" altLang="zh-CN" dirty="0"/>
              <a:t>Access Vector Cache</a:t>
            </a:r>
          </a:p>
          <a:p>
            <a:pPr lvl="1"/>
            <a:r>
              <a:rPr lang="en-US" altLang="zh-CN" dirty="0" err="1"/>
              <a:t>SELinux</a:t>
            </a:r>
            <a:r>
              <a:rPr lang="zh-CN" altLang="en-US" dirty="0"/>
              <a:t> 会先查询</a:t>
            </a:r>
            <a:r>
              <a:rPr lang="en-US" altLang="zh-CN" dirty="0"/>
              <a:t>AVC</a:t>
            </a:r>
            <a:r>
              <a:rPr lang="zh-CN" altLang="en-US" dirty="0"/>
              <a:t>，若查不到，则再查询安全服务器</a:t>
            </a:r>
            <a:endParaRPr lang="en-US" altLang="zh-CN" dirty="0"/>
          </a:p>
          <a:p>
            <a:pPr lvl="1"/>
            <a:r>
              <a:rPr lang="zh-CN" altLang="en-US" dirty="0"/>
              <a:t>安全服务器在策略数据库中查找相应的安全上下文进行判断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2D6D5-3510-6A46-8008-975C73EB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14D2EA-FB42-4C4E-BDE0-160AA05E3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189054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0AC6E-DB4A-9541-B1EB-B1446EDF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SELinux</a:t>
            </a:r>
            <a:r>
              <a:rPr kumimoji="1" lang="zh-CN" altLang="en-US" dirty="0"/>
              <a:t>的安全上下文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FDA17-0497-5241-A5F2-8DD0336EB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sz="2000" dirty="0" err="1"/>
              <a:t>SELinux</a:t>
            </a:r>
            <a:r>
              <a:rPr kumimoji="1" lang="zh-CN" altLang="en-US" sz="2000" dirty="0"/>
              <a:t>本质上是一个标签系统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所有的主体和对象都对应了各自的标签</a:t>
            </a:r>
            <a:endParaRPr kumimoji="1" lang="en-US" altLang="zh-CN" sz="1800" dirty="0"/>
          </a:p>
          <a:p>
            <a:r>
              <a:rPr kumimoji="1" lang="zh-CN" altLang="en-US" sz="2000" dirty="0"/>
              <a:t>标签的格式 </a:t>
            </a:r>
            <a:r>
              <a:rPr kumimoji="1" lang="en-US" altLang="zh-CN" sz="2000" dirty="0"/>
              <a:t>&lt;</a:t>
            </a:r>
            <a:r>
              <a:rPr kumimoji="1" lang="zh-CN" altLang="en-US" sz="2000" dirty="0"/>
              <a:t>用户</a:t>
            </a:r>
            <a:r>
              <a:rPr kumimoji="1" lang="en-US" altLang="zh-CN" sz="2000" dirty="0"/>
              <a:t>:</a:t>
            </a:r>
            <a:r>
              <a:rPr kumimoji="1" lang="zh-CN" altLang="en-US" sz="2000" dirty="0"/>
              <a:t>角色</a:t>
            </a:r>
            <a:r>
              <a:rPr kumimoji="1" lang="en-US" altLang="zh-CN" sz="2000" dirty="0"/>
              <a:t>:</a:t>
            </a:r>
            <a:r>
              <a:rPr kumimoji="1" lang="zh-CN" altLang="en-US" sz="2000" dirty="0"/>
              <a:t>类型</a:t>
            </a:r>
            <a:r>
              <a:rPr kumimoji="1" lang="en-US" altLang="zh-CN" sz="2000" dirty="0"/>
              <a:t>:MLS</a:t>
            </a:r>
            <a:r>
              <a:rPr kumimoji="1" lang="zh-CN" altLang="en-US" sz="2000" dirty="0"/>
              <a:t>层级</a:t>
            </a:r>
            <a:r>
              <a:rPr kumimoji="1" lang="en-US" altLang="zh-CN" sz="2000" dirty="0"/>
              <a:t>&gt;</a:t>
            </a:r>
          </a:p>
          <a:p>
            <a:pPr lvl="1"/>
            <a:r>
              <a:rPr kumimoji="1" lang="zh-CN" altLang="en-US" sz="1800" dirty="0"/>
              <a:t>用户登录后，系统根据角色分配给用户一个安全上下文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类型（</a:t>
            </a:r>
            <a:r>
              <a:rPr kumimoji="1" lang="en-US" altLang="zh-CN" sz="1800" dirty="0"/>
              <a:t>Type</a:t>
            </a:r>
            <a:r>
              <a:rPr kumimoji="1" lang="zh-CN" altLang="en-US" sz="1800" dirty="0"/>
              <a:t>）用于实现访问控制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每个对象都有一个 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type</a:t>
            </a:r>
          </a:p>
          <a:p>
            <a:pPr lvl="2"/>
            <a:r>
              <a:rPr kumimoji="1" lang="zh-CN" altLang="en-US" sz="1800" dirty="0"/>
              <a:t>每个进程的</a:t>
            </a:r>
            <a:r>
              <a:rPr kumimoji="1" lang="en-US" altLang="zh-CN" sz="1800" dirty="0"/>
              <a:t>type</a:t>
            </a:r>
            <a:r>
              <a:rPr kumimoji="1" lang="zh-CN" altLang="en-US" sz="1800" dirty="0"/>
              <a:t>称为 </a:t>
            </a:r>
            <a:r>
              <a:rPr kumimoji="1" lang="en-US" altLang="zh-CN" sz="1800" b="1" dirty="0">
                <a:solidFill>
                  <a:schemeClr val="accent1"/>
                </a:solidFill>
              </a:rPr>
              <a:t>domain</a:t>
            </a:r>
          </a:p>
          <a:p>
            <a:pPr lvl="3"/>
            <a:r>
              <a:rPr kumimoji="1" lang="zh-CN" altLang="en-US" sz="1600" dirty="0"/>
              <a:t>一个角色对应一个</a:t>
            </a:r>
            <a:r>
              <a:rPr kumimoji="1" lang="en-US" altLang="zh-CN" sz="1600" dirty="0"/>
              <a:t>domain</a:t>
            </a:r>
          </a:p>
          <a:p>
            <a:pPr lvl="3"/>
            <a:r>
              <a:rPr kumimoji="1" lang="zh-CN" altLang="en-US" sz="1600" dirty="0"/>
              <a:t>重要的服务进程被标记为特定的</a:t>
            </a:r>
            <a:r>
              <a:rPr kumimoji="1" lang="en-US" altLang="zh-CN" sz="1600" dirty="0"/>
              <a:t>domain</a:t>
            </a:r>
          </a:p>
          <a:p>
            <a:pPr lvl="3">
              <a:lnSpc>
                <a:spcPct val="130000"/>
              </a:lnSpc>
            </a:pPr>
            <a:r>
              <a:rPr kumimoji="1" lang="zh-CN" altLang="en-US" sz="1600" dirty="0"/>
              <a:t>例如：</a:t>
            </a:r>
            <a:r>
              <a:rPr kumimoji="1" lang="en" altLang="zh-CN" sz="1600" dirty="0"/>
              <a:t>/</a:t>
            </a:r>
            <a:r>
              <a:rPr kumimoji="1" lang="en" altLang="zh-CN" sz="1600" dirty="0" err="1"/>
              <a:t>usr</a:t>
            </a:r>
            <a:r>
              <a:rPr kumimoji="1" lang="en" altLang="zh-CN" sz="1600" dirty="0"/>
              <a:t>/</a:t>
            </a:r>
            <a:r>
              <a:rPr kumimoji="1" lang="en" altLang="zh-CN" sz="1600" dirty="0" err="1"/>
              <a:t>sbin</a:t>
            </a:r>
            <a:r>
              <a:rPr kumimoji="1" lang="en" altLang="zh-CN" sz="1600" dirty="0"/>
              <a:t>/</a:t>
            </a:r>
            <a:r>
              <a:rPr kumimoji="1" lang="en" altLang="zh-CN" sz="1600" dirty="0" err="1"/>
              <a:t>sshd</a:t>
            </a:r>
            <a:r>
              <a:rPr kumimoji="1" lang="en" altLang="zh-CN" sz="1600" dirty="0"/>
              <a:t> </a:t>
            </a:r>
            <a:r>
              <a:rPr kumimoji="1" lang="zh-CN" altLang="en-US" sz="1600" dirty="0"/>
              <a:t>的类型为 </a:t>
            </a:r>
            <a:r>
              <a:rPr kumimoji="1" lang="en" altLang="zh-CN" sz="1600" dirty="0" err="1"/>
              <a:t>sshd_exec_t</a:t>
            </a:r>
            <a:endParaRPr kumimoji="1" lang="en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69E274-FF27-EC4F-8836-7A79B9BC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79918-0FEA-E341-923C-B8E8FB62E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768507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8724B-AD74-A74D-B926-131815AE3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</a:t>
            </a:r>
            <a:r>
              <a:rPr kumimoji="1" lang="en-US" altLang="zh-CN" dirty="0"/>
              <a:t>domain</a:t>
            </a:r>
            <a:r>
              <a:rPr kumimoji="1" lang="zh-CN" altLang="en-US" dirty="0"/>
              <a:t>与对象的</a:t>
            </a:r>
            <a:r>
              <a:rPr kumimoji="1" lang="en-US" altLang="zh-CN" dirty="0"/>
              <a:t>type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F88968-2731-CD46-8EE6-B661C9D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AC837-0ADB-7F43-986A-F67F26714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46D5B5-8B85-9242-8D0D-424D2815FF0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5656" y="1306701"/>
            <a:ext cx="6567636" cy="38252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E7266C1-9F99-3743-A197-EC1594731432}"/>
              </a:ext>
            </a:extLst>
          </p:cNvPr>
          <p:cNvSpPr/>
          <p:nvPr/>
        </p:nvSpPr>
        <p:spPr>
          <a:xfrm>
            <a:off x="4230216" y="494185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1200" dirty="0">
                <a:solidFill>
                  <a:srgbClr val="000000"/>
                </a:solidFill>
              </a:rPr>
              <a:t>https://</a:t>
            </a:r>
            <a:r>
              <a:rPr lang="en" altLang="zh-CN" sz="1200" dirty="0" err="1">
                <a:solidFill>
                  <a:srgbClr val="000000"/>
                </a:solidFill>
              </a:rPr>
              <a:t>debian-handbook.info</a:t>
            </a:r>
            <a:r>
              <a:rPr lang="en" altLang="zh-CN" sz="1200" dirty="0">
                <a:solidFill>
                  <a:srgbClr val="000000"/>
                </a:solidFill>
              </a:rPr>
              <a:t>/browse/stable/</a:t>
            </a:r>
            <a:r>
              <a:rPr lang="en" altLang="zh-CN" sz="1200" dirty="0" err="1">
                <a:solidFill>
                  <a:srgbClr val="000000"/>
                </a:solidFill>
              </a:rPr>
              <a:t>sect.selinux.html</a:t>
            </a:r>
            <a:endParaRPr lang="en" altLang="zh-CN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9155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697FAF-3EFD-6146-8D1F-74050F26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0FAD1-73EE-9841-9B28-E3B8ED3B7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3F530DD-CEE2-6E4E-9FE4-679D2E08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D20B3AE-8E9E-BD42-90C2-3BCC0A9C2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763149"/>
            <a:ext cx="8229600" cy="288145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6C3EE11-2AAF-5545-AD76-E85F61BB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265708"/>
            <a:ext cx="5994400" cy="16966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EA320D-50EF-FB42-BBB5-21049D310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80" y="1962384"/>
            <a:ext cx="5994400" cy="111114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FB12507-6599-8C4A-9600-74D889A61A5A}"/>
              </a:ext>
            </a:extLst>
          </p:cNvPr>
          <p:cNvSpPr/>
          <p:nvPr/>
        </p:nvSpPr>
        <p:spPr>
          <a:xfrm>
            <a:off x="1621780" y="2857500"/>
            <a:ext cx="5686524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2DB97C-1E5D-444A-A83C-55A600B436D0}"/>
              </a:ext>
            </a:extLst>
          </p:cNvPr>
          <p:cNvSpPr txBox="1"/>
          <p:nvPr/>
        </p:nvSpPr>
        <p:spPr>
          <a:xfrm>
            <a:off x="0" y="3311034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+mn-ea"/>
              </a:rPr>
              <a:t>page-2.html</a:t>
            </a:r>
            <a:r>
              <a:rPr kumimoji="1" lang="zh-CN" altLang="en-US" sz="1600" dirty="0">
                <a:latin typeface="+mn-ea"/>
              </a:rPr>
              <a:t> 被标记为 </a:t>
            </a:r>
            <a:r>
              <a:rPr kumimoji="1" lang="en-US" altLang="zh-CN" sz="1600" dirty="0" err="1">
                <a:latin typeface="+mn-ea"/>
              </a:rPr>
              <a:t>admin_home_t</a:t>
            </a:r>
            <a:r>
              <a:rPr kumimoji="1" lang="zh-CN" altLang="en-US" sz="1600" dirty="0">
                <a:latin typeface="+mn-ea"/>
              </a:rPr>
              <a:t>，即使被错误放入网页目录，也无法被</a:t>
            </a:r>
            <a:r>
              <a:rPr kumimoji="1" lang="en-US" altLang="zh-CN" sz="1600" dirty="0">
                <a:latin typeface="+mn-ea"/>
              </a:rPr>
              <a:t>apache</a:t>
            </a:r>
            <a:r>
              <a:rPr kumimoji="1" lang="zh-CN" altLang="en-US" sz="1600" dirty="0">
                <a:latin typeface="+mn-ea"/>
              </a:rPr>
              <a:t>访问</a:t>
            </a:r>
          </a:p>
        </p:txBody>
      </p:sp>
    </p:spTree>
    <p:extLst>
      <p:ext uri="{BB962C8B-B14F-4D97-AF65-F5344CB8AC3E}">
        <p14:creationId xmlns:p14="http://schemas.microsoft.com/office/powerpoint/2010/main" val="104851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63456</TotalTime>
  <Words>4681</Words>
  <Application>Microsoft Macintosh PowerPoint</Application>
  <PresentationFormat>全屏显示(16:10)</PresentationFormat>
  <Paragraphs>550</Paragraphs>
  <Slides>58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5" baseType="lpstr">
      <vt:lpstr>DengXian</vt:lpstr>
      <vt:lpstr>微软雅黑</vt:lpstr>
      <vt:lpstr>Arial</vt:lpstr>
      <vt:lpstr>Calibri</vt:lpstr>
      <vt:lpstr>Consolas</vt:lpstr>
      <vt:lpstr>Courier New</vt:lpstr>
      <vt:lpstr>Office 主题​​</vt:lpstr>
      <vt:lpstr>操作系统安全机制</vt:lpstr>
      <vt:lpstr>版权声明</vt:lpstr>
      <vt:lpstr>Review：轻量级隔离</vt:lpstr>
      <vt:lpstr>基于硬件的进程内隔离：Enclave</vt:lpstr>
      <vt:lpstr>Enclave：以Intel SGX为例</vt:lpstr>
      <vt:lpstr>硬件内存加密与保护机制</vt:lpstr>
      <vt:lpstr>EPC（Enclave Page Cache）</vt:lpstr>
      <vt:lpstr>Enclave与进程的关系</vt:lpstr>
      <vt:lpstr>性能隔离</vt:lpstr>
      <vt:lpstr>资源竞争问题</vt:lpstr>
      <vt:lpstr>Control Cgroups (Cgroups)</vt:lpstr>
      <vt:lpstr>Cgroups的常用术语</vt:lpstr>
      <vt:lpstr>任务（Task）</vt:lpstr>
      <vt:lpstr>控制组（Control Group）</vt:lpstr>
      <vt:lpstr>子系统（Sub-system）</vt:lpstr>
      <vt:lpstr>层级（Hierarchy）</vt:lpstr>
      <vt:lpstr>资源控制模型</vt:lpstr>
      <vt:lpstr>资源控制模型</vt:lpstr>
      <vt:lpstr>资源控制模型</vt:lpstr>
      <vt:lpstr>资源控制模型</vt:lpstr>
      <vt:lpstr>如何对任务使用资源进行监控和限制</vt:lpstr>
      <vt:lpstr>CPU子系统</vt:lpstr>
      <vt:lpstr>内存子系统</vt:lpstr>
      <vt:lpstr>内存子系统</vt:lpstr>
      <vt:lpstr>存储子系统（blkio）</vt:lpstr>
      <vt:lpstr>小结：隔离的不同方式</vt:lpstr>
      <vt:lpstr>操作系统的安全服务</vt:lpstr>
      <vt:lpstr>安全是操作系统的重要功能和服务</vt:lpstr>
      <vt:lpstr>操作系统安全的三个层次</vt:lpstr>
      <vt:lpstr>层次一：基于OS的应用隔离与访问控制</vt:lpstr>
      <vt:lpstr>层次二：OS对恶意应用的隔离与防御</vt:lpstr>
      <vt:lpstr>层次三：OS不可信时对应用的保护</vt:lpstr>
      <vt:lpstr>操作系统安全的三个概念</vt:lpstr>
      <vt:lpstr>访问控制（Access Control）</vt:lpstr>
      <vt:lpstr>访问控制与引用监视器</vt:lpstr>
      <vt:lpstr>引用监视器（Reference Monitor）机制</vt:lpstr>
      <vt:lpstr>认证机制</vt:lpstr>
      <vt:lpstr>认证：从用户到进程</vt:lpstr>
      <vt:lpstr>访问控制列表</vt:lpstr>
      <vt:lpstr>授权机制：POSIX的文件权限</vt:lpstr>
      <vt:lpstr>例：Windows的ACL</vt:lpstr>
      <vt:lpstr>基于角色的访问控制（RBAC）</vt:lpstr>
      <vt:lpstr>最小特权级原则：setuid 机制</vt:lpstr>
      <vt:lpstr>setuid的安全风险</vt:lpstr>
      <vt:lpstr>权限控制的另一种思路：Capability</vt:lpstr>
      <vt:lpstr>Capability的典型操作</vt:lpstr>
      <vt:lpstr>fd与Capability的类似之处</vt:lpstr>
      <vt:lpstr>Linux的Capability</vt:lpstr>
      <vt:lpstr>DAC与MAC</vt:lpstr>
      <vt:lpstr>Bell-LaPadula 模型</vt:lpstr>
      <vt:lpstr>案例：SELinux</vt:lpstr>
      <vt:lpstr>SELinux的历史</vt:lpstr>
      <vt:lpstr>SELinux、Flask与LSM</vt:lpstr>
      <vt:lpstr>SELinux引入的概念</vt:lpstr>
      <vt:lpstr>SELinux的访问向量</vt:lpstr>
      <vt:lpstr>SELinux的安全上下文</vt:lpstr>
      <vt:lpstr>进程的domain与对象的type</vt:lpstr>
      <vt:lpstr>实例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5371</cp:revision>
  <cp:lastPrinted>2016-06-13T07:55:34Z</cp:lastPrinted>
  <dcterms:created xsi:type="dcterms:W3CDTF">2017-11-24T09:35:45Z</dcterms:created>
  <dcterms:modified xsi:type="dcterms:W3CDTF">2022-05-17T01:59:09Z</dcterms:modified>
</cp:coreProperties>
</file>