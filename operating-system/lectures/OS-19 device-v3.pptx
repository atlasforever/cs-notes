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1306" r:id="rId2"/>
    <p:sldId id="1359" r:id="rId3"/>
    <p:sldId id="2668" r:id="rId4"/>
    <p:sldId id="2236" r:id="rId5"/>
    <p:sldId id="2265" r:id="rId6"/>
    <p:sldId id="2264" r:id="rId7"/>
    <p:sldId id="3087" r:id="rId8"/>
    <p:sldId id="3046" r:id="rId9"/>
    <p:sldId id="3083" r:id="rId10"/>
    <p:sldId id="2386" r:id="rId11"/>
    <p:sldId id="2596" r:id="rId12"/>
    <p:sldId id="2597" r:id="rId13"/>
    <p:sldId id="2598" r:id="rId14"/>
    <p:sldId id="2600" r:id="rId15"/>
    <p:sldId id="2601" r:id="rId16"/>
    <p:sldId id="2352" r:id="rId17"/>
    <p:sldId id="2674" r:id="rId18"/>
    <p:sldId id="3036" r:id="rId19"/>
    <p:sldId id="3037" r:id="rId20"/>
    <p:sldId id="3040" r:id="rId21"/>
    <p:sldId id="3039" r:id="rId22"/>
    <p:sldId id="3038" r:id="rId23"/>
    <p:sldId id="3023" r:id="rId24"/>
    <p:sldId id="3058" r:id="rId25"/>
    <p:sldId id="3060" r:id="rId26"/>
    <p:sldId id="3059" r:id="rId27"/>
    <p:sldId id="3061" r:id="rId28"/>
    <p:sldId id="3062" r:id="rId29"/>
    <p:sldId id="2660" r:id="rId30"/>
    <p:sldId id="2610" r:id="rId31"/>
    <p:sldId id="3028" r:id="rId32"/>
    <p:sldId id="3029" r:id="rId33"/>
    <p:sldId id="3056" r:id="rId34"/>
    <p:sldId id="2240" r:id="rId35"/>
    <p:sldId id="2661" r:id="rId36"/>
    <p:sldId id="2249" r:id="rId37"/>
    <p:sldId id="2614" r:id="rId38"/>
    <p:sldId id="2293" r:id="rId39"/>
    <p:sldId id="2612" r:id="rId40"/>
    <p:sldId id="2663" r:id="rId41"/>
    <p:sldId id="2615" r:id="rId42"/>
    <p:sldId id="3084" r:id="rId43"/>
    <p:sldId id="2622" r:id="rId44"/>
    <p:sldId id="872" r:id="rId45"/>
    <p:sldId id="2343" r:id="rId46"/>
    <p:sldId id="2346" r:id="rId47"/>
    <p:sldId id="3063" r:id="rId48"/>
    <p:sldId id="3064" r:id="rId49"/>
    <p:sldId id="2675" r:id="rId50"/>
    <p:sldId id="3048" r:id="rId51"/>
    <p:sldId id="3049" r:id="rId52"/>
    <p:sldId id="3050" r:id="rId53"/>
    <p:sldId id="3027" r:id="rId54"/>
    <p:sldId id="3051" r:id="rId55"/>
    <p:sldId id="3052" r:id="rId56"/>
    <p:sldId id="3053" r:id="rId57"/>
    <p:sldId id="2608" r:id="rId58"/>
    <p:sldId id="2635" r:id="rId59"/>
    <p:sldId id="2676" r:id="rId60"/>
    <p:sldId id="3070" r:id="rId61"/>
    <p:sldId id="3071" r:id="rId62"/>
    <p:sldId id="3065" r:id="rId63"/>
    <p:sldId id="3067" r:id="rId64"/>
    <p:sldId id="3066" r:id="rId65"/>
    <p:sldId id="2353" r:id="rId66"/>
    <p:sldId id="2348" r:id="rId67"/>
    <p:sldId id="2349" r:id="rId68"/>
    <p:sldId id="3055" r:id="rId69"/>
    <p:sldId id="2351" r:id="rId70"/>
    <p:sldId id="3086" r:id="rId71"/>
    <p:sldId id="3073" r:id="rId72"/>
    <p:sldId id="3074" r:id="rId73"/>
    <p:sldId id="3075" r:id="rId74"/>
    <p:sldId id="3076" r:id="rId75"/>
    <p:sldId id="3077" r:id="rId76"/>
    <p:sldId id="3082" r:id="rId77"/>
    <p:sldId id="3045" r:id="rId78"/>
    <p:sldId id="3079" r:id="rId79"/>
    <p:sldId id="3081" r:id="rId80"/>
    <p:sldId id="3080" r:id="rId81"/>
    <p:sldId id="2329" r:id="rId82"/>
    <p:sldId id="2677" r:id="rId83"/>
    <p:sldId id="3078" r:id="rId84"/>
    <p:sldId id="3072" r:id="rId85"/>
    <p:sldId id="3033" r:id="rId8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24E705-0866-2041-AE78-1239F3A8A815}">
          <p14:sldIdLst>
            <p14:sldId id="1306"/>
            <p14:sldId id="1359"/>
          </p14:sldIdLst>
        </p14:section>
        <p14:section name="前序知识" id="{8F703E73-1F2C-BD40-B570-6409DBEA2FB2}">
          <p14:sldIdLst>
            <p14:sldId id="2668"/>
            <p14:sldId id="2236"/>
            <p14:sldId id="2265"/>
            <p14:sldId id="2264"/>
            <p14:sldId id="3087"/>
          </p14:sldIdLst>
        </p14:section>
        <p14:section name="设备I/O层次" id="{7CA1F15A-F288-0741-A368-FDA3F734CC59}">
          <p14:sldIdLst>
            <p14:sldId id="3046"/>
          </p14:sldIdLst>
        </p14:section>
        <p14:section name="硬件设备" id="{E8FF76F7-03C5-C142-BC43-5EBC1BF39BEB}">
          <p14:sldIdLst>
            <p14:sldId id="3083"/>
            <p14:sldId id="2386"/>
            <p14:sldId id="2596"/>
            <p14:sldId id="2597"/>
            <p14:sldId id="2598"/>
            <p14:sldId id="2600"/>
            <p14:sldId id="2601"/>
            <p14:sldId id="2352"/>
          </p14:sldIdLst>
        </p14:section>
        <p14:section name="设备与CPU连接" id="{93135646-7447-DE4C-84F1-33056E753ADF}">
          <p14:sldIdLst>
            <p14:sldId id="2674"/>
            <p14:sldId id="3036"/>
            <p14:sldId id="3037"/>
            <p14:sldId id="3040"/>
            <p14:sldId id="3039"/>
            <p14:sldId id="3038"/>
          </p14:sldIdLst>
        </p14:section>
        <p14:section name="设备与CPU交互" id="{2038523C-C1EC-6F4D-8A3E-36FB9B149D4C}">
          <p14:sldIdLst>
            <p14:sldId id="3023"/>
            <p14:sldId id="3058"/>
            <p14:sldId id="3060"/>
            <p14:sldId id="3059"/>
            <p14:sldId id="3061"/>
            <p14:sldId id="3062"/>
            <p14:sldId id="2660"/>
            <p14:sldId id="2610"/>
            <p14:sldId id="3028"/>
            <p14:sldId id="3029"/>
            <p14:sldId id="3056"/>
          </p14:sldIdLst>
        </p14:section>
        <p14:section name="中断管理" id="{E8C24E33-992F-FE44-BBC2-AF47E831AE58}">
          <p14:sldIdLst>
            <p14:sldId id="2240"/>
            <p14:sldId id="2661"/>
            <p14:sldId id="2249"/>
            <p14:sldId id="2614"/>
            <p14:sldId id="2293"/>
            <p14:sldId id="2612"/>
            <p14:sldId id="2663"/>
            <p14:sldId id="2615"/>
            <p14:sldId id="3084"/>
            <p14:sldId id="2622"/>
            <p14:sldId id="872"/>
            <p14:sldId id="2343"/>
            <p14:sldId id="2346"/>
            <p14:sldId id="3063"/>
            <p14:sldId id="3064"/>
          </p14:sldIdLst>
        </p14:section>
        <p14:section name="设备驱动" id="{ECCF2471-EC10-5642-83F6-4699ABD261EC}">
          <p14:sldIdLst>
            <p14:sldId id="2675"/>
            <p14:sldId id="3048"/>
            <p14:sldId id="3049"/>
            <p14:sldId id="3050"/>
            <p14:sldId id="3027"/>
            <p14:sldId id="3051"/>
            <p14:sldId id="3052"/>
            <p14:sldId id="3053"/>
            <p14:sldId id="2608"/>
            <p14:sldId id="2635"/>
          </p14:sldIdLst>
        </p14:section>
        <p14:section name="上下半部" id="{5BE4B577-0F87-DB4D-9E2E-469E0FA08EF8}">
          <p14:sldIdLst/>
        </p14:section>
        <p14:section name="IO子系统" id="{19F94618-9750-C94F-B59D-2A349818584A}">
          <p14:sldIdLst>
            <p14:sldId id="2676"/>
            <p14:sldId id="3070"/>
            <p14:sldId id="3071"/>
            <p14:sldId id="3065"/>
            <p14:sldId id="3067"/>
            <p14:sldId id="3066"/>
            <p14:sldId id="2353"/>
            <p14:sldId id="2348"/>
            <p14:sldId id="2349"/>
            <p14:sldId id="3055"/>
            <p14:sldId id="2351"/>
            <p14:sldId id="3086"/>
            <p14:sldId id="3073"/>
            <p14:sldId id="3074"/>
            <p14:sldId id="3075"/>
            <p14:sldId id="3076"/>
            <p14:sldId id="3077"/>
            <p14:sldId id="3082"/>
            <p14:sldId id="3045"/>
            <p14:sldId id="3079"/>
            <p14:sldId id="3081"/>
            <p14:sldId id="3080"/>
            <p14:sldId id="2329"/>
          </p14:sldIdLst>
        </p14:section>
        <p14:section name="I/O库" id="{C5C57BB0-007A-0341-A5B2-407EF8012751}">
          <p14:sldIdLst>
            <p14:sldId id="2677"/>
            <p14:sldId id="3078"/>
            <p14:sldId id="3072"/>
            <p14:sldId id="3033"/>
          </p14:sldIdLst>
        </p14:section>
        <p14:section name="设备发现" id="{8C140CC5-1F41-0446-86F1-2C8DFF98D4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432FF"/>
    <a:srgbClr val="FF9300"/>
    <a:srgbClr val="00FB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3" autoAdjust="0"/>
    <p:restoredTop sz="87672" autoAdjust="0"/>
  </p:normalViewPr>
  <p:slideViewPr>
    <p:cSldViewPr>
      <p:cViewPr varScale="1">
        <p:scale>
          <a:sx n="127" d="100"/>
          <a:sy n="127" d="100"/>
        </p:scale>
        <p:origin x="1088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5" d="100"/>
        <a:sy n="1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2022/4/21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text_switch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s/dui0677/latest/introduction/platform-overview/features-and-network-support-of-the-foundation-platform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758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注意，上面的横线不是用户态和内核态的划分，而操作系统和应用程序的分界线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065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AHB:</a:t>
            </a:r>
            <a:r>
              <a:rPr kumimoji="1" lang="zh-CN" altLang="en-US" dirty="0"/>
              <a:t> 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High-performance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APB: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Peripheral Bus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1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75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helps reduce interrupt latency as the interrupt service routine can be executed directly without determining the source of the interrupt. A context save is not required for servicing an FIQ since it has its own set of banked registers. This reduces the overhead of </a:t>
            </a:r>
            <a:r>
              <a:rPr lang="en-US" altLang="zh-CN" dirty="0">
                <a:hlinkClick r:id="rId3" tooltip="Context switch"/>
              </a:rPr>
              <a:t>context switching</a:t>
            </a:r>
            <a:r>
              <a:rPr lang="en-US" altLang="zh-CN" dirty="0"/>
              <a:t>. </a:t>
            </a:r>
            <a:endParaRPr lang="e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88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GIC(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 Interrupt Controllers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接受硬件中断信号，并进行简单处理，通过一定的设置策略，分给对应的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进行处理。</a:t>
            </a: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platform runs as fast as possible unless all the cores in the cluster are </a:t>
            </a:r>
            <a:r>
              <a:rPr lang="en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Interrupt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altLang="zh-CN" dirty="0"/>
              <a:t>WFI)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Exception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altLang="zh-CN" dirty="0"/>
              <a:t>WFE)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the case of </a:t>
            </a:r>
            <a:r>
              <a:rPr lang="en" altLang="zh-CN" dirty="0"/>
              <a:t>WFE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platform idles until an interrupt or external event occurs.</a:t>
            </a:r>
          </a:p>
          <a:p>
            <a:endParaRPr kumimoji="1" lang="en-US" altLang="zh-CN" dirty="0"/>
          </a:p>
          <a:p>
            <a:r>
              <a:rPr lang="en" altLang="zh-CN" dirty="0">
                <a:hlinkClick r:id="rId3"/>
              </a:rPr>
              <a:t>https://developer.arm.com/docs/dui0677/latest/introduction/platform-overview/features-and-network-support-of-the-foundation-platform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909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键盘、显示器、</a:t>
            </a:r>
            <a:r>
              <a:rPr lang="en-US" altLang="zh-CN" dirty="0"/>
              <a:t>U</a:t>
            </a:r>
            <a:r>
              <a:rPr lang="zh-CN" altLang="en-US" dirty="0"/>
              <a:t>盘为什么是文件？</a:t>
            </a:r>
            <a:endParaRPr lang="en-US" altLang="zh-CN" dirty="0"/>
          </a:p>
          <a:p>
            <a:r>
              <a:rPr lang="zh-CN" altLang="en-US" dirty="0"/>
              <a:t>游戏手柄？</a:t>
            </a:r>
            <a:endParaRPr lang="en-US" altLang="zh-CN" dirty="0"/>
          </a:p>
          <a:p>
            <a:r>
              <a:rPr lang="en-US" altLang="zh-CN" dirty="0"/>
              <a:t>Lidar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Socket</a:t>
            </a:r>
            <a:r>
              <a:rPr lang="zh-CN" altLang="en-US" dirty="0"/>
              <a:t>反例：</a:t>
            </a:r>
            <a:r>
              <a:rPr lang="en-US" altLang="zh-CN" dirty="0"/>
              <a:t>send/</a:t>
            </a:r>
            <a:r>
              <a:rPr lang="en-US" altLang="zh-CN" dirty="0" err="1"/>
              <a:t>recv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I/O device has its own CPU?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44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wiki.osdev.org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Double_Buffering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88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wiki.osdev.org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Double_Buffering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08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www.cs.toronto.edu</a:t>
            </a:r>
            <a:r>
              <a:rPr kumimoji="1" lang="en" altLang="zh-CN" dirty="0"/>
              <a:t>/~</a:t>
            </a:r>
            <a:r>
              <a:rPr kumimoji="1" lang="en" altLang="zh-CN" dirty="0" err="1"/>
              <a:t>krueger</a:t>
            </a:r>
            <a:r>
              <a:rPr kumimoji="1" lang="en" altLang="zh-CN" dirty="0"/>
              <a:t>/csc209h/f05/lectures/Week11-Select.pdf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3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iff"/><Relationship Id="rId4" Type="http://schemas.openxmlformats.org/officeDocument/2006/relationships/image" Target="../media/image34.tif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设备管理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9DB85-4962-BA49-91DC-7302C2CB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中断处理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33CB13-BE9B-A34D-A40F-5A601C3D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647A4-93B1-284E-8E2F-3468EF8CA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直接箭头连接符 4">
            <a:extLst>
              <a:ext uri="{FF2B5EF4-FFF2-40B4-BE49-F238E27FC236}">
                <a16:creationId xmlns:a16="http://schemas.microsoft.com/office/drawing/2014/main" id="{27270489-AFB8-E641-A1A3-EB4BC0E75DCE}"/>
              </a:ext>
            </a:extLst>
          </p:cNvPr>
          <p:cNvCxnSpPr>
            <a:cxnSpLocks/>
          </p:cNvCxnSpPr>
          <p:nvPr/>
        </p:nvCxnSpPr>
        <p:spPr>
          <a:xfrm>
            <a:off x="3851919" y="1120499"/>
            <a:ext cx="0" cy="1368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B6CD8F6-18AA-1A49-ABD0-1EF667BDEB3D}"/>
              </a:ext>
            </a:extLst>
          </p:cNvPr>
          <p:cNvSpPr txBox="1"/>
          <p:nvPr/>
        </p:nvSpPr>
        <p:spPr>
          <a:xfrm>
            <a:off x="2007268" y="1210925"/>
            <a:ext cx="1760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EL0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的正常执行流</a:t>
            </a:r>
          </a:p>
        </p:txBody>
      </p:sp>
      <p:cxnSp>
        <p:nvCxnSpPr>
          <p:cNvPr id="8" name="直接箭头连接符 6">
            <a:extLst>
              <a:ext uri="{FF2B5EF4-FFF2-40B4-BE49-F238E27FC236}">
                <a16:creationId xmlns:a16="http://schemas.microsoft.com/office/drawing/2014/main" id="{5616693F-2640-0148-9685-F9AA3F3CC112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3851920" y="1252233"/>
            <a:ext cx="2397355" cy="13084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F874EA4-06E2-5947-835C-BE7C1FBDB8B4}"/>
              </a:ext>
            </a:extLst>
          </p:cNvPr>
          <p:cNvSpPr txBox="1"/>
          <p:nvPr/>
        </p:nvSpPr>
        <p:spPr>
          <a:xfrm>
            <a:off x="1929810" y="2488651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CPU</a:t>
            </a:r>
            <a:r>
              <a:rPr lang="zh-CN" altLang="en-US" sz="1400" dirty="0"/>
              <a:t>发生中断或异常</a:t>
            </a:r>
            <a:endParaRPr lang="en-US" altLang="zh-CN" sz="14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1BA6DFC-0D00-824D-AE06-7CE80DDD876B}"/>
              </a:ext>
            </a:extLst>
          </p:cNvPr>
          <p:cNvSpPr/>
          <p:nvPr/>
        </p:nvSpPr>
        <p:spPr>
          <a:xfrm>
            <a:off x="3779912" y="2488651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C190E4-DE13-4444-9755-5C2187AAA4D6}"/>
              </a:ext>
            </a:extLst>
          </p:cNvPr>
          <p:cNvSpPr txBox="1"/>
          <p:nvPr/>
        </p:nvSpPr>
        <p:spPr>
          <a:xfrm rot="19911164">
            <a:off x="4016261" y="1373467"/>
            <a:ext cx="1831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保存处理器状态、错误信息至寄存器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rgbClr val="C00000"/>
                </a:solidFill>
              </a:rPr>
              <a:t>进入</a:t>
            </a:r>
            <a:r>
              <a:rPr lang="en-US" altLang="zh-CN" sz="1400" dirty="0">
                <a:solidFill>
                  <a:srgbClr val="C00000"/>
                </a:solidFill>
              </a:rPr>
              <a:t>EL1</a:t>
            </a:r>
          </a:p>
        </p:txBody>
      </p:sp>
      <p:cxnSp>
        <p:nvCxnSpPr>
          <p:cNvPr id="12" name="直接箭头连接符 10">
            <a:extLst>
              <a:ext uri="{FF2B5EF4-FFF2-40B4-BE49-F238E27FC236}">
                <a16:creationId xmlns:a16="http://schemas.microsoft.com/office/drawing/2014/main" id="{8D3C3A91-B823-C94E-B56B-96BE12022D2F}"/>
              </a:ext>
            </a:extLst>
          </p:cNvPr>
          <p:cNvCxnSpPr>
            <a:cxnSpLocks/>
          </p:cNvCxnSpPr>
          <p:nvPr/>
        </p:nvCxnSpPr>
        <p:spPr>
          <a:xfrm>
            <a:off x="6306815" y="1229866"/>
            <a:ext cx="36936" cy="32552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7AEB1-81D3-1D44-9AFB-9387DCF8625B}"/>
              </a:ext>
            </a:extLst>
          </p:cNvPr>
          <p:cNvSpPr txBox="1"/>
          <p:nvPr/>
        </p:nvSpPr>
        <p:spPr>
          <a:xfrm>
            <a:off x="6395812" y="261157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	</a:t>
            </a:r>
            <a:r>
              <a:rPr lang="en-US" altLang="zh-CN" sz="1400" dirty="0">
                <a:solidFill>
                  <a:srgbClr val="C00000"/>
                </a:solidFill>
              </a:rPr>
              <a:t>EL1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处理</a:t>
            </a:r>
          </a:p>
        </p:txBody>
      </p:sp>
      <p:cxnSp>
        <p:nvCxnSpPr>
          <p:cNvPr id="14" name="直接箭头连接符 12">
            <a:extLst>
              <a:ext uri="{FF2B5EF4-FFF2-40B4-BE49-F238E27FC236}">
                <a16:creationId xmlns:a16="http://schemas.microsoft.com/office/drawing/2014/main" id="{3D051AA5-42C2-F54E-A2B0-C556D8509141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3902836" y="2611575"/>
            <a:ext cx="2440914" cy="1873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D76FA10-83F1-9A4C-A05F-5D15F44F4EE8}"/>
              </a:ext>
            </a:extLst>
          </p:cNvPr>
          <p:cNvSpPr txBox="1"/>
          <p:nvPr/>
        </p:nvSpPr>
        <p:spPr>
          <a:xfrm rot="2330636">
            <a:off x="4198509" y="3518247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从</a:t>
            </a:r>
            <a:r>
              <a:rPr lang="en-US" altLang="zh-CN" sz="1400" dirty="0"/>
              <a:t>handler</a:t>
            </a:r>
            <a:r>
              <a:rPr lang="zh-CN" altLang="en-US" sz="1400" dirty="0"/>
              <a:t>中返回</a:t>
            </a:r>
          </a:p>
        </p:txBody>
      </p:sp>
      <p:cxnSp>
        <p:nvCxnSpPr>
          <p:cNvPr id="16" name="直接箭头连接符 14">
            <a:extLst>
              <a:ext uri="{FF2B5EF4-FFF2-40B4-BE49-F238E27FC236}">
                <a16:creationId xmlns:a16="http://schemas.microsoft.com/office/drawing/2014/main" id="{1FA057BB-D4EB-F241-9D6D-E58E18D08AFE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3851920" y="2632666"/>
            <a:ext cx="0" cy="24072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83B6ED27-D919-E74D-BC62-8183F7C435DA}"/>
              </a:ext>
            </a:extLst>
          </p:cNvPr>
          <p:cNvSpPr/>
          <p:nvPr/>
        </p:nvSpPr>
        <p:spPr>
          <a:xfrm>
            <a:off x="6228184" y="1129309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C2F8A0-F256-AE45-9FA0-A58EC2A42641}"/>
              </a:ext>
            </a:extLst>
          </p:cNvPr>
          <p:cNvSpPr txBox="1"/>
          <p:nvPr/>
        </p:nvSpPr>
        <p:spPr>
          <a:xfrm>
            <a:off x="5953194" y="556062"/>
            <a:ext cx="2393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查询</a:t>
            </a:r>
            <a:r>
              <a:rPr lang="zh-CN" altLang="en-US" sz="1400" dirty="0">
                <a:solidFill>
                  <a:srgbClr val="C00000"/>
                </a:solidFill>
              </a:rPr>
              <a:t>异常向量表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Exception Vector Table)</a:t>
            </a:r>
          </a:p>
          <a:p>
            <a:pPr algn="ctr"/>
            <a:r>
              <a:rPr lang="zh-CN" altLang="en-US" sz="1400" dirty="0"/>
              <a:t>选择</a:t>
            </a:r>
            <a:r>
              <a:rPr lang="en-US" altLang="zh-CN" sz="1400" dirty="0"/>
              <a:t>handler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E7CCF4-8BAA-664D-83A5-B989AC854A98}"/>
              </a:ext>
            </a:extLst>
          </p:cNvPr>
          <p:cNvSpPr txBox="1"/>
          <p:nvPr/>
        </p:nvSpPr>
        <p:spPr>
          <a:xfrm>
            <a:off x="6033214" y="453205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Consolas" panose="020B0609020204030204" pitchFamily="49" charset="0"/>
              </a:rPr>
              <a:t>eret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490599-17C3-3542-9E4C-EA7B36B5D559}"/>
              </a:ext>
            </a:extLst>
          </p:cNvPr>
          <p:cNvSpPr txBox="1"/>
          <p:nvPr/>
        </p:nvSpPr>
        <p:spPr>
          <a:xfrm>
            <a:off x="1860255" y="3687978"/>
            <a:ext cx="1939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继续</a:t>
            </a:r>
            <a:r>
              <a:rPr lang="en-US" altLang="zh-CN" sz="1400" dirty="0">
                <a:solidFill>
                  <a:srgbClr val="C00000"/>
                </a:solidFill>
              </a:rPr>
              <a:t>EL0</a:t>
            </a:r>
            <a:r>
              <a:rPr lang="zh-CN" altLang="en-US" sz="1400" dirty="0">
                <a:solidFill>
                  <a:srgbClr val="C00000"/>
                </a:solidFill>
              </a:rPr>
              <a:t>下</a:t>
            </a:r>
            <a:r>
              <a:rPr lang="zh-CN" altLang="en-US" sz="1400" dirty="0"/>
              <a:t>的正常执行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B62FBB-76C4-534C-BF86-3BC757C18B87}"/>
              </a:ext>
            </a:extLst>
          </p:cNvPr>
          <p:cNvSpPr/>
          <p:nvPr/>
        </p:nvSpPr>
        <p:spPr>
          <a:xfrm>
            <a:off x="565206" y="4816393"/>
            <a:ext cx="2884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* 以</a:t>
            </a:r>
            <a:r>
              <a:rPr lang="en-US" altLang="zh-CN" dirty="0"/>
              <a:t>EL0 -&gt; EL1</a:t>
            </a:r>
            <a:r>
              <a:rPr lang="zh-CN" altLang="en-US" dirty="0"/>
              <a:t>为例，后同</a:t>
            </a:r>
          </a:p>
        </p:txBody>
      </p:sp>
    </p:spTree>
    <p:extLst>
      <p:ext uri="{BB962C8B-B14F-4D97-AF65-F5344CB8AC3E}">
        <p14:creationId xmlns:p14="http://schemas.microsoft.com/office/powerpoint/2010/main" val="206394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异常向量表配置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A70AC9-1BBC-4C24-8EFC-DE5F8413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057300"/>
            <a:ext cx="2838095" cy="1209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055949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66550BD-54CD-4337-A634-72E5780B0365}"/>
              </a:ext>
            </a:extLst>
          </p:cNvPr>
          <p:cNvCxnSpPr>
            <a:cxnSpLocks/>
          </p:cNvCxnSpPr>
          <p:nvPr/>
        </p:nvCxnSpPr>
        <p:spPr>
          <a:xfrm flipH="1" flipV="1">
            <a:off x="2195736" y="1345332"/>
            <a:ext cx="4947440" cy="3167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702E75B4-5B5E-4564-A524-91D61FD11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857500"/>
            <a:ext cx="2828571" cy="9047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75FD646-9A66-49C6-B6CB-A51A435391C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195736" y="1718958"/>
            <a:ext cx="3528392" cy="1590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43B9C92-435A-4400-AD8A-AAE83E859896}"/>
              </a:ext>
            </a:extLst>
          </p:cNvPr>
          <p:cNvSpPr txBox="1"/>
          <p:nvPr/>
        </p:nvSpPr>
        <p:spPr>
          <a:xfrm>
            <a:off x="5314837" y="415944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每个异常向量均为简单的跳转指令</a:t>
            </a:r>
          </a:p>
        </p:txBody>
      </p:sp>
    </p:spTree>
    <p:extLst>
      <p:ext uri="{BB962C8B-B14F-4D97-AF65-F5344CB8AC3E}">
        <p14:creationId xmlns:p14="http://schemas.microsoft.com/office/powerpoint/2010/main" val="189602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4" y="1030825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E1A36C-C284-4846-8394-2F2C16AC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08" y="1327430"/>
            <a:ext cx="3152381" cy="5428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C4C377-7063-4E9D-92E8-CC5CB910AA10}"/>
              </a:ext>
            </a:extLst>
          </p:cNvPr>
          <p:cNvCxnSpPr>
            <a:cxnSpLocks/>
          </p:cNvCxnSpPr>
          <p:nvPr/>
        </p:nvCxnSpPr>
        <p:spPr>
          <a:xfrm flipV="1">
            <a:off x="2911005" y="1470427"/>
            <a:ext cx="2237059" cy="1032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ECA1A34E-FEB7-46C9-BC7D-C65A334B6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046" y="2857500"/>
            <a:ext cx="4851792" cy="1916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8C5B36-396B-4405-A48F-AD59766CA34A}"/>
              </a:ext>
            </a:extLst>
          </p:cNvPr>
          <p:cNvCxnSpPr>
            <a:cxnSpLocks/>
          </p:cNvCxnSpPr>
          <p:nvPr/>
        </p:nvCxnSpPr>
        <p:spPr>
          <a:xfrm flipH="1">
            <a:off x="5508104" y="1732289"/>
            <a:ext cx="864096" cy="1269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1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 err="1"/>
              <a:t>ChCore</a:t>
            </a:r>
            <a:r>
              <a:rPr lang="zh-CN" altLang="en-US" dirty="0"/>
              <a:t>异常处理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03EEED-F476-495C-96F0-1CCE33B3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01316"/>
            <a:ext cx="4608512" cy="18205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172688-0501-4BCD-9A4F-C328BC7543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91"/>
          <a:stretch/>
        </p:blipFill>
        <p:spPr>
          <a:xfrm>
            <a:off x="6227849" y="56883"/>
            <a:ext cx="2775186" cy="56012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73ECBB4-D028-4548-AA75-2738BDC2BCEE}"/>
              </a:ext>
            </a:extLst>
          </p:cNvPr>
          <p:cNvCxnSpPr>
            <a:cxnSpLocks/>
          </p:cNvCxnSpPr>
          <p:nvPr/>
        </p:nvCxnSpPr>
        <p:spPr>
          <a:xfrm flipV="1">
            <a:off x="3848403" y="787903"/>
            <a:ext cx="2595805" cy="5917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69303D-CB93-4CE8-8E96-9B1145047C14}"/>
              </a:ext>
            </a:extLst>
          </p:cNvPr>
          <p:cNvCxnSpPr>
            <a:cxnSpLocks/>
          </p:cNvCxnSpPr>
          <p:nvPr/>
        </p:nvCxnSpPr>
        <p:spPr>
          <a:xfrm>
            <a:off x="3954667" y="2792970"/>
            <a:ext cx="2489541" cy="15046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D13700BA-1069-4060-8DB8-9CC758C1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4" y="3303215"/>
            <a:ext cx="3913906" cy="21829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72622CE-C4E4-4622-BF82-377E8064B681}"/>
              </a:ext>
            </a:extLst>
          </p:cNvPr>
          <p:cNvCxnSpPr>
            <a:cxnSpLocks/>
          </p:cNvCxnSpPr>
          <p:nvPr/>
        </p:nvCxnSpPr>
        <p:spPr>
          <a:xfrm>
            <a:off x="1763688" y="2497460"/>
            <a:ext cx="0" cy="8057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2808B0C-501D-4D12-9707-74E6C253C343}"/>
              </a:ext>
            </a:extLst>
          </p:cNvPr>
          <p:cNvCxnSpPr>
            <a:cxnSpLocks/>
          </p:cNvCxnSpPr>
          <p:nvPr/>
        </p:nvCxnSpPr>
        <p:spPr>
          <a:xfrm>
            <a:off x="658094" y="2694434"/>
            <a:ext cx="3553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147EE25-F9EF-44AA-B76D-AEE2BBED44D2}"/>
              </a:ext>
            </a:extLst>
          </p:cNvPr>
          <p:cNvCxnSpPr>
            <a:cxnSpLocks/>
          </p:cNvCxnSpPr>
          <p:nvPr/>
        </p:nvCxnSpPr>
        <p:spPr>
          <a:xfrm>
            <a:off x="658094" y="1705372"/>
            <a:ext cx="35538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81A3A2-A889-452F-BA2F-D22492FBFB69}"/>
              </a:ext>
            </a:extLst>
          </p:cNvPr>
          <p:cNvCxnSpPr>
            <a:cxnSpLocks/>
          </p:cNvCxnSpPr>
          <p:nvPr/>
        </p:nvCxnSpPr>
        <p:spPr>
          <a:xfrm>
            <a:off x="899592" y="2497460"/>
            <a:ext cx="12856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57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8677C-2F05-4584-85F3-C13B1FB6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的中断处理与时钟响应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C2CDA-76D4-4147-96C6-303A9F0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A40510-D3F9-407D-BE56-C89BFE5C0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4" y="1030825"/>
            <a:ext cx="3493367" cy="44301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CA1A34E-FEB7-46C9-BC7D-C65A334B6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4553" y="1148179"/>
            <a:ext cx="2077927" cy="6769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3A5291-1130-E8B4-100A-A5E4C21DCE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185" y="1070070"/>
            <a:ext cx="2401784" cy="8513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70CEB7C-0AA5-7962-9B54-783F900F74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5053" y="2294151"/>
            <a:ext cx="3705379" cy="3013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7AC1BE-6206-0342-94AD-169392795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7664" y="4296501"/>
            <a:ext cx="2483566" cy="8481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C4C377-7063-4E9D-92E8-CC5CB910AA10}"/>
              </a:ext>
            </a:extLst>
          </p:cNvPr>
          <p:cNvCxnSpPr>
            <a:cxnSpLocks/>
          </p:cNvCxnSpPr>
          <p:nvPr/>
        </p:nvCxnSpPr>
        <p:spPr>
          <a:xfrm flipV="1">
            <a:off x="2915816" y="1561356"/>
            <a:ext cx="1800200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8C5B36-396B-4405-A48F-AD59766CA34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599345" y="1486630"/>
            <a:ext cx="1215208" cy="747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7">
            <a:extLst>
              <a:ext uri="{FF2B5EF4-FFF2-40B4-BE49-F238E27FC236}">
                <a16:creationId xmlns:a16="http://schemas.microsoft.com/office/drawing/2014/main" id="{7EA5EE43-AD1B-1D9A-E3E7-EAD55BECABF4}"/>
              </a:ext>
            </a:extLst>
          </p:cNvPr>
          <p:cNvCxnSpPr>
            <a:cxnSpLocks/>
          </p:cNvCxnSpPr>
          <p:nvPr/>
        </p:nvCxnSpPr>
        <p:spPr>
          <a:xfrm flipH="1">
            <a:off x="6012160" y="1647642"/>
            <a:ext cx="1750115" cy="612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7">
            <a:extLst>
              <a:ext uri="{FF2B5EF4-FFF2-40B4-BE49-F238E27FC236}">
                <a16:creationId xmlns:a16="http://schemas.microsoft.com/office/drawing/2014/main" id="{1AADF68A-383A-6B03-7AB1-05FDCEC75E09}"/>
              </a:ext>
            </a:extLst>
          </p:cNvPr>
          <p:cNvCxnSpPr>
            <a:cxnSpLocks/>
          </p:cNvCxnSpPr>
          <p:nvPr/>
        </p:nvCxnSpPr>
        <p:spPr>
          <a:xfrm flipH="1">
            <a:off x="4115762" y="4225652"/>
            <a:ext cx="1276315" cy="5096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38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E7DBA-BB6F-4B4E-BFF4-4CFF69F7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D8E82-53F8-464F-A8A4-DA1C4E36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180CC-1682-AC4F-A339-558100C1D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E5A118-CE80-8C47-831D-538E9C7408AA}"/>
              </a:ext>
            </a:extLst>
          </p:cNvPr>
          <p:cNvSpPr/>
          <p:nvPr/>
        </p:nvSpPr>
        <p:spPr>
          <a:xfrm>
            <a:off x="2534232" y="1417340"/>
            <a:ext cx="1656184" cy="558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70650B-4F6C-654D-BF4C-94AF1052ACD3}"/>
              </a:ext>
            </a:extLst>
          </p:cNvPr>
          <p:cNvSpPr/>
          <p:nvPr/>
        </p:nvSpPr>
        <p:spPr>
          <a:xfrm>
            <a:off x="4190416" y="1417340"/>
            <a:ext cx="1656184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5C70C4-2962-F44C-818F-A81BB62ECFF2}"/>
              </a:ext>
            </a:extLst>
          </p:cNvPr>
          <p:cNvSpPr/>
          <p:nvPr/>
        </p:nvSpPr>
        <p:spPr>
          <a:xfrm>
            <a:off x="2534232" y="2443117"/>
            <a:ext cx="3312368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C255F-7E8D-E04F-95CC-669A7305E80A}"/>
              </a:ext>
            </a:extLst>
          </p:cNvPr>
          <p:cNvSpPr/>
          <p:nvPr/>
        </p:nvSpPr>
        <p:spPr>
          <a:xfrm>
            <a:off x="2534165" y="3320907"/>
            <a:ext cx="3312368" cy="55839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969583-8889-0A40-9B51-4F220C0AE98D}"/>
              </a:ext>
            </a:extLst>
          </p:cNvPr>
          <p:cNvSpPr/>
          <p:nvPr/>
        </p:nvSpPr>
        <p:spPr>
          <a:xfrm>
            <a:off x="2534165" y="4369668"/>
            <a:ext cx="3312368" cy="5583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E79AE21E-5B3C-DE4C-9067-8A31D2EC43F9}"/>
              </a:ext>
            </a:extLst>
          </p:cNvPr>
          <p:cNvCxnSpPr>
            <a:cxnSpLocks/>
          </p:cNvCxnSpPr>
          <p:nvPr/>
        </p:nvCxnSpPr>
        <p:spPr>
          <a:xfrm>
            <a:off x="2051720" y="2219658"/>
            <a:ext cx="619268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73073B4-3CB3-3048-9C01-4EA69A85EB13}"/>
              </a:ext>
            </a:extLst>
          </p:cNvPr>
          <p:cNvSpPr txBox="1"/>
          <p:nvPr/>
        </p:nvSpPr>
        <p:spPr>
          <a:xfrm>
            <a:off x="5905308" y="247829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硬件设备无关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（接口抽象、资源管理等）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06056C-CED7-6348-9C50-A3F01A8AD8CE}"/>
              </a:ext>
            </a:extLst>
          </p:cNvPr>
          <p:cNvSpPr txBox="1"/>
          <p:nvPr/>
        </p:nvSpPr>
        <p:spPr>
          <a:xfrm>
            <a:off x="5905306" y="333849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硬件设备相关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（驱动编程、中断管理等）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5D99B0-0D85-9F47-9E8C-E83C2141F860}"/>
              </a:ext>
            </a:extLst>
          </p:cNvPr>
          <p:cNvSpPr txBox="1"/>
          <p:nvPr/>
        </p:nvSpPr>
        <p:spPr>
          <a:xfrm>
            <a:off x="572407" y="19580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软件提供的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设备抽象和接口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BC41AD-D69B-4E4A-8982-630FBE1219A3}"/>
              </a:ext>
            </a:extLst>
          </p:cNvPr>
          <p:cNvSpPr txBox="1"/>
          <p:nvPr/>
        </p:nvSpPr>
        <p:spPr>
          <a:xfrm>
            <a:off x="504341" y="384989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硬件提供的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设备抽象和接口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77F6781D-862A-E545-B42B-3312C1DAEB03}"/>
              </a:ext>
            </a:extLst>
          </p:cNvPr>
          <p:cNvCxnSpPr>
            <a:cxnSpLocks/>
          </p:cNvCxnSpPr>
          <p:nvPr/>
        </p:nvCxnSpPr>
        <p:spPr>
          <a:xfrm>
            <a:off x="2013827" y="4111505"/>
            <a:ext cx="62305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9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认知设备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763AA88-9892-3DB5-4EAF-589CE2F542A9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B5994A-1060-82F5-E591-57F5064342C9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637FF19-05CD-5D6D-54BB-02B7272932B5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3F6F626-D413-AF77-FF98-6528AEDC8AC1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D74B5F5-4417-23E9-60C0-BD4A73C7B7E9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F4F7051-5619-5D87-9E8B-5EF84BD9C239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0929B16-A5BA-3650-363A-D6667FF77F6C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D7DE1DDA-06F4-E53A-EDC9-0A77B24E47DB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517EC6DE-C2BF-DB64-E77E-E77F378E3ED6}"/>
              </a:ext>
            </a:extLst>
          </p:cNvPr>
          <p:cNvSpPr/>
          <p:nvPr/>
        </p:nvSpPr>
        <p:spPr>
          <a:xfrm flipH="1">
            <a:off x="7779036" y="402957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3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9A8DB-4923-DF45-9E62-AE13D61E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计算机系统上的硬件设备很多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2D051-4BA6-754E-B5DA-F9F75B149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816" y="1545967"/>
            <a:ext cx="3165648" cy="3471773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种类繁多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r>
              <a:rPr kumimoji="1" lang="zh-CN" altLang="en-US" sz="2000" dirty="0"/>
              <a:t>规范不同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r>
              <a:rPr kumimoji="1" lang="zh-CN" altLang="en-US" sz="2000" dirty="0"/>
              <a:t>接口不同 </a:t>
            </a:r>
            <a:r>
              <a:rPr kumimoji="1" lang="zh-CN" altLang="en-US" sz="2000" dirty="0">
                <a:sym typeface="Wingdings" pitchFamily="2" charset="2"/>
              </a:rPr>
              <a:t></a:t>
            </a:r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612D95-2666-0342-8CD3-C520C83E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A42123-0E4E-4140-99E8-6ED12F7CA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A66873-8B46-C245-813D-CE69A6F32C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545967"/>
            <a:ext cx="5315025" cy="30640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1915C5-5883-5543-8686-E1341B1D07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2816" y="3130144"/>
            <a:ext cx="3345160" cy="14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1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5D88D-2AA0-E649-A8AF-348974F3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GPIO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7BA9BC-F1D2-5E45-B042-C5228484B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有专门的“输入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输出”引脚</a:t>
            </a:r>
            <a:endParaRPr kumimoji="1" lang="en-US" altLang="zh-CN" dirty="0"/>
          </a:p>
          <a:p>
            <a:r>
              <a:rPr kumimoji="1" lang="zh-CN" altLang="en-US" dirty="0"/>
              <a:t>通过引脚控制</a:t>
            </a:r>
            <a:r>
              <a:rPr kumimoji="1" lang="en-US" altLang="zh-CN" dirty="0"/>
              <a:t>LED</a:t>
            </a:r>
            <a:r>
              <a:rPr kumimoji="1" lang="zh-CN" altLang="en-US" dirty="0"/>
              <a:t>状态</a:t>
            </a:r>
            <a:endParaRPr kumimoji="1" lang="en-US" altLang="zh-CN" dirty="0"/>
          </a:p>
          <a:p>
            <a:r>
              <a:rPr kumimoji="1" lang="zh-CN" altLang="en-US" dirty="0"/>
              <a:t>每种</a:t>
            </a:r>
            <a:r>
              <a:rPr kumimoji="1" lang="en-US" altLang="zh-CN" dirty="0"/>
              <a:t>01</a:t>
            </a:r>
            <a:r>
              <a:rPr kumimoji="1" lang="zh-CN" altLang="en-US" dirty="0"/>
              <a:t>组合只呈现一种发光状态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811A2-DB91-6441-A85E-EDB39257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E6954-E1DB-C04D-A52A-5C7B45A45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F94D56-CBC5-124C-A0A3-D4AF32A1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995182"/>
            <a:ext cx="3263200" cy="2734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66EF26-8818-4B48-A09A-BA5DE4287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448" y="3289548"/>
            <a:ext cx="1800200" cy="13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0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09964-6026-454C-B254-87568EDD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8042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PS/2</a:t>
            </a:r>
            <a:r>
              <a:rPr kumimoji="1" lang="zh-CN" altLang="en-US" dirty="0"/>
              <a:t> 键盘控制器）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BD1CB-D380-A841-A8FF-DACB298A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电信号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数字信号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编码（</a:t>
            </a:r>
            <a:r>
              <a:rPr kumimoji="1" lang="en-US" altLang="zh-CN" dirty="0"/>
              <a:t>Scan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每次只能键入一个字符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C74B7-B313-194A-AEC7-384C099F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0BC03-255D-E64F-9761-5EEC35BEB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17F99C-418A-7C41-B4EE-C374E37E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37" y="2641476"/>
            <a:ext cx="7151479" cy="2088232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D46C920B-A593-1949-9B9A-6084F2C9B699}"/>
              </a:ext>
            </a:extLst>
          </p:cNvPr>
          <p:cNvSpPr/>
          <p:nvPr/>
        </p:nvSpPr>
        <p:spPr>
          <a:xfrm>
            <a:off x="6084168" y="2149251"/>
            <a:ext cx="2664296" cy="5760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思考：如果长按呢？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75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9024F-7C74-8C41-878D-A00F91F1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UART</a:t>
            </a:r>
            <a:r>
              <a:rPr kumimoji="1" lang="zh-CN" altLang="en-US" dirty="0"/>
              <a:t>（串口）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ED1AA-F002-5A4F-9DEF-D7FA6766D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通用异步收发传输器</a:t>
            </a:r>
            <a:endParaRPr kumimoji="1" lang="en-US" altLang="zh-CN" dirty="0"/>
          </a:p>
          <a:p>
            <a:pPr lvl="1"/>
            <a:r>
              <a:rPr kumimoji="1" lang="en" altLang="zh-CN" dirty="0"/>
              <a:t>Universal Asynchronous Receiver/Transmitter</a:t>
            </a:r>
          </a:p>
          <a:p>
            <a:r>
              <a:rPr kumimoji="1" lang="zh-CN" altLang="en-US" dirty="0"/>
              <a:t>半双工</a:t>
            </a:r>
            <a:endParaRPr kumimoji="1" lang="en-US" altLang="zh-CN" dirty="0"/>
          </a:p>
          <a:p>
            <a:r>
              <a:rPr kumimoji="1" lang="zh-CN" altLang="en-US" dirty="0"/>
              <a:t>每次只能传输一个字符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C91B5-F339-B741-98B8-58E64EB8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B978A-3469-424A-9AAA-E34DBFAB9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999777-66C6-BC40-801A-A88AD01F115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0426" y="2602931"/>
            <a:ext cx="4545549" cy="21094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3DABFB-7A21-D041-862C-9729B01742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6201" y="3505572"/>
            <a:ext cx="2020962" cy="138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3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DBE4A-1661-9D4C-BDCA-A8603E4C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Flash</a:t>
            </a:r>
            <a:r>
              <a:rPr kumimoji="1" lang="zh-CN" altLang="en-US" dirty="0"/>
              <a:t> 闪存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0B0B3-ADCD-5D48-B80C-229DA39A0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按照页</a:t>
            </a:r>
            <a:r>
              <a:rPr kumimoji="1" lang="en-US" altLang="zh-CN" dirty="0"/>
              <a:t>/</a:t>
            </a:r>
            <a:r>
              <a:rPr kumimoji="1" lang="zh-CN" altLang="en-US" dirty="0"/>
              <a:t>块的粒度进行读写</a:t>
            </a:r>
            <a:r>
              <a:rPr kumimoji="1" lang="en-US" altLang="zh-CN" dirty="0"/>
              <a:t>/</a:t>
            </a:r>
            <a:r>
              <a:rPr kumimoji="1" lang="zh-CN" altLang="en-US" dirty="0"/>
              <a:t>擦除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支持页</a:t>
            </a:r>
            <a:r>
              <a:rPr kumimoji="1" lang="en-US" altLang="zh-CN" dirty="0"/>
              <a:t>/</a:t>
            </a:r>
            <a:r>
              <a:rPr kumimoji="1" lang="zh-CN" altLang="en-US" dirty="0"/>
              <a:t>块随机访问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3EB034-3546-9541-8446-36B1A766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12CA-1FE9-344F-8C6F-F585B74DE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AAC1B08-27D2-BC4D-9581-7C33317FE5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6136" y="2398422"/>
            <a:ext cx="2590800" cy="18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1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C445F-BC90-4B49-91A9-5A0539F4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Ethernet</a:t>
            </a:r>
            <a:r>
              <a:rPr kumimoji="1" lang="zh-CN" altLang="en-US" dirty="0"/>
              <a:t> 网卡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36991-D338-2C47-A8AA-6B8A93BDE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每次传输一帧数据（以太网帧）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 err="1"/>
              <a:t>Wifi</a:t>
            </a:r>
            <a:r>
              <a:rPr kumimoji="1" lang="zh-CN" altLang="en-US" dirty="0"/>
              <a:t>、蓝牙类似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E916AE-1CC6-8445-BC51-C2757AE2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C3290-4E57-FD45-B264-C1AA309F4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C42A58-D1ED-9A41-ACD0-0AAE62AFCB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353444"/>
            <a:ext cx="3085413" cy="167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41125-F898-664F-855F-22515C1E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7323A-5131-E745-B131-CC1331C9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树莓派上的这些设备可以和前面提到的哪些设备归为一类？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SD</a:t>
            </a:r>
            <a:r>
              <a:rPr kumimoji="1" lang="zh-CN" altLang="en-US" dirty="0"/>
              <a:t> 存储卡</a:t>
            </a:r>
            <a:endParaRPr kumimoji="1" lang="en-US" altLang="zh-CN" dirty="0"/>
          </a:p>
          <a:p>
            <a:pPr lvl="1"/>
            <a:r>
              <a:rPr kumimoji="1" lang="en" altLang="zh-CN" dirty="0"/>
              <a:t>RTC</a:t>
            </a:r>
            <a:r>
              <a:rPr kumimoji="1" lang="zh-CN" altLang="en-US" dirty="0"/>
              <a:t> 实时时钟</a:t>
            </a:r>
            <a:endParaRPr kumimoji="1" lang="en-US" altLang="zh-CN" dirty="0"/>
          </a:p>
          <a:p>
            <a:pPr lvl="1"/>
            <a:r>
              <a:rPr kumimoji="1" lang="en" altLang="zh-CN" dirty="0"/>
              <a:t>DS18B20</a:t>
            </a:r>
            <a:r>
              <a:rPr kumimoji="1" lang="zh-CN" altLang="en-US" dirty="0"/>
              <a:t> 温度传感器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CSI</a:t>
            </a:r>
            <a:r>
              <a:rPr kumimoji="1" lang="zh-CN" altLang="en-US" dirty="0"/>
              <a:t> 摄像头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板载无线蓝牙</a:t>
            </a: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B88DD-195E-E947-BDAE-F02A42C3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F6DB0A-5620-EF40-B32B-66A70127B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FED730-35A7-D547-97B9-55FD76E4B9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013" y="2281436"/>
            <a:ext cx="3415148" cy="22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的连接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硬件视角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D9CF64-FE57-8C1A-961D-0D1F8B291C2C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308A561-B079-3968-105E-EEBE09B7259E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AFB1AA9-9B08-87B9-9BA0-C9563ABE324C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D9A4AEC-0DCD-9415-7E2D-841F2FDEA96D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C7D690-E7E5-7412-EAA0-2E96E3595801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3D11C5-422A-9CDE-DCE4-60E5879A4BDC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1B5D9EC7-02D2-0303-22B1-E9624A7A6C8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777EA2F-20C5-69A0-07A5-8E0D9830D7BB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091A054D-162A-1C2E-D3F9-87797D640AB8}"/>
              </a:ext>
            </a:extLst>
          </p:cNvPr>
          <p:cNvSpPr/>
          <p:nvPr/>
        </p:nvSpPr>
        <p:spPr>
          <a:xfrm flipH="1">
            <a:off x="7779036" y="402957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131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16A4E-8683-A34C-861D-0697F49D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硬件总线：以</a:t>
            </a:r>
            <a:r>
              <a:rPr kumimoji="1" lang="en-US" altLang="zh-CN" dirty="0"/>
              <a:t>AMBA</a:t>
            </a:r>
            <a:r>
              <a:rPr kumimoji="1" lang="zh-CN" altLang="en-US" dirty="0"/>
              <a:t>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1EE90F-511D-FB45-872B-8DA8B33A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6AD7C-8655-0949-9185-616F66145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直接连接符 6">
            <a:extLst>
              <a:ext uri="{FF2B5EF4-FFF2-40B4-BE49-F238E27FC236}">
                <a16:creationId xmlns:a16="http://schemas.microsoft.com/office/drawing/2014/main" id="{5654C8B7-DD74-4D49-AE82-F9FB3EB521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8530" y="2527656"/>
            <a:ext cx="702579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E7D75F1-0AE7-A542-B08E-D5D110D047BC}"/>
              </a:ext>
            </a:extLst>
          </p:cNvPr>
          <p:cNvSpPr/>
          <p:nvPr/>
        </p:nvSpPr>
        <p:spPr bwMode="auto">
          <a:xfrm>
            <a:off x="635783" y="4171295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定时器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Timer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2E83A7-243D-F94C-AD1A-D9722BDDC6FD}"/>
              </a:ext>
            </a:extLst>
          </p:cNvPr>
          <p:cNvSpPr/>
          <p:nvPr/>
        </p:nvSpPr>
        <p:spPr bwMode="auto">
          <a:xfrm>
            <a:off x="2994873" y="4176489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串口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UART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10" name="直接箭头连接符 28">
            <a:extLst>
              <a:ext uri="{FF2B5EF4-FFF2-40B4-BE49-F238E27FC236}">
                <a16:creationId xmlns:a16="http://schemas.microsoft.com/office/drawing/2014/main" id="{34FED8FA-C440-E749-ADDA-45A8113BD1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60035" y="3795489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" name="直接箭头连接符 31">
            <a:extLst>
              <a:ext uri="{FF2B5EF4-FFF2-40B4-BE49-F238E27FC236}">
                <a16:creationId xmlns:a16="http://schemas.microsoft.com/office/drawing/2014/main" id="{2FF7377B-6389-1642-AEBC-213E55DAD442}"/>
              </a:ext>
            </a:extLst>
          </p:cNvPr>
          <p:cNvCxnSpPr>
            <a:cxnSpLocks noChangeShapeType="1"/>
            <a:endCxn id="7" idx="0"/>
          </p:cNvCxnSpPr>
          <p:nvPr/>
        </p:nvCxnSpPr>
        <p:spPr bwMode="auto">
          <a:xfrm flipH="1">
            <a:off x="1339840" y="3751020"/>
            <a:ext cx="793" cy="4202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2946B70-0CDD-7640-B2B8-B0078F460D8C}"/>
              </a:ext>
            </a:extLst>
          </p:cNvPr>
          <p:cNvSpPr/>
          <p:nvPr/>
        </p:nvSpPr>
        <p:spPr bwMode="auto">
          <a:xfrm>
            <a:off x="683568" y="1638656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内存控制器</a:t>
            </a:r>
          </a:p>
        </p:txBody>
      </p:sp>
      <p:cxnSp>
        <p:nvCxnSpPr>
          <p:cNvPr id="14" name="直接箭头连接符 28">
            <a:extLst>
              <a:ext uri="{FF2B5EF4-FFF2-40B4-BE49-F238E27FC236}">
                <a16:creationId xmlns:a16="http://schemas.microsoft.com/office/drawing/2014/main" id="{5D27AF1A-6971-1748-BB96-33E3C3971A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21768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" name="直接箭头连接符 28">
            <a:extLst>
              <a:ext uri="{FF2B5EF4-FFF2-40B4-BE49-F238E27FC236}">
                <a16:creationId xmlns:a16="http://schemas.microsoft.com/office/drawing/2014/main" id="{C398E10C-8E40-684C-93B0-7DA19DE798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98032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" name="TextBox 29">
            <a:extLst>
              <a:ext uri="{FF2B5EF4-FFF2-40B4-BE49-F238E27FC236}">
                <a16:creationId xmlns:a16="http://schemas.microsoft.com/office/drawing/2014/main" id="{881612B8-5675-2B43-98C6-610335EA4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739" y="2167879"/>
            <a:ext cx="13394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</a:rPr>
              <a:t>3072-4095</a:t>
            </a:r>
          </a:p>
        </p:txBody>
      </p:sp>
      <p:sp>
        <p:nvSpPr>
          <p:cNvPr id="17" name="TextBox 30">
            <a:extLst>
              <a:ext uri="{FF2B5EF4-FFF2-40B4-BE49-F238E27FC236}">
                <a16:creationId xmlns:a16="http://schemas.microsoft.com/office/drawing/2014/main" id="{F5E598DF-E000-CE44-8A81-727E027F7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023" y="3794485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252-255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2F17D20B-EB51-CB49-81BC-E568803BE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672" y="3795489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</a:rPr>
              <a:t>256-511</a:t>
            </a:r>
          </a:p>
        </p:txBody>
      </p:sp>
      <p:sp>
        <p:nvSpPr>
          <p:cNvPr id="24" name="TextBox 47">
            <a:extLst>
              <a:ext uri="{FF2B5EF4-FFF2-40B4-BE49-F238E27FC236}">
                <a16:creationId xmlns:a16="http://schemas.microsoft.com/office/drawing/2014/main" id="{EAC2CD3C-F1CA-3F43-BEB4-FECE459A4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1832" y="2146656"/>
            <a:ext cx="68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101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35812F-3651-A041-9D8B-1F29A1D10512}"/>
              </a:ext>
            </a:extLst>
          </p:cNvPr>
          <p:cNvSpPr/>
          <p:nvPr/>
        </p:nvSpPr>
        <p:spPr bwMode="auto">
          <a:xfrm>
            <a:off x="3059832" y="1633364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 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0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26" name="直接连接符 6">
            <a:extLst>
              <a:ext uri="{FF2B5EF4-FFF2-40B4-BE49-F238E27FC236}">
                <a16:creationId xmlns:a16="http://schemas.microsoft.com/office/drawing/2014/main" id="{2EAB1CDE-5F54-444D-A8FF-1B4151F0E4C2}"/>
              </a:ext>
            </a:extLst>
          </p:cNvPr>
          <p:cNvCxnSpPr>
            <a:cxnSpLocks noChangeShapeType="1"/>
            <a:endCxn id="28" idx="1"/>
          </p:cNvCxnSpPr>
          <p:nvPr/>
        </p:nvCxnSpPr>
        <p:spPr bwMode="auto">
          <a:xfrm>
            <a:off x="498530" y="3772752"/>
            <a:ext cx="706727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7" name="TextBox 32">
            <a:extLst>
              <a:ext uri="{FF2B5EF4-FFF2-40B4-BE49-F238E27FC236}">
                <a16:creationId xmlns:a16="http://schemas.microsoft.com/office/drawing/2014/main" id="{7C65FB5A-22D7-A948-988D-65DAB4914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810" y="2337156"/>
            <a:ext cx="14918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AHB</a:t>
            </a:r>
            <a:r>
              <a:rPr lang="zh-CN" altLang="en-US" sz="1600" b="0" dirty="0">
                <a:latin typeface="+mj-ea"/>
                <a:ea typeface="+mj-ea"/>
              </a:rPr>
              <a:t>系统总线</a:t>
            </a:r>
            <a:endParaRPr lang="en-US" altLang="zh-CN" sz="1600" b="0" dirty="0">
              <a:latin typeface="+mj-ea"/>
              <a:ea typeface="+mj-ea"/>
            </a:endParaRP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3EC0F0FF-DA95-2C49-AF55-2252159F0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809" y="3603475"/>
            <a:ext cx="15426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APB</a:t>
            </a:r>
            <a:r>
              <a:rPr lang="zh-CN" altLang="en-US" sz="1600" b="0" dirty="0">
                <a:latin typeface="+mj-ea"/>
                <a:ea typeface="+mj-ea"/>
              </a:rPr>
              <a:t>外设总线</a:t>
            </a:r>
            <a:endParaRPr lang="en-US" altLang="zh-CN" sz="1600" b="0" dirty="0">
              <a:latin typeface="+mj-ea"/>
              <a:ea typeface="+mj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3EE2DA-8F54-C044-884F-153D19F6D5FF}"/>
              </a:ext>
            </a:extLst>
          </p:cNvPr>
          <p:cNvSpPr/>
          <p:nvPr/>
        </p:nvSpPr>
        <p:spPr bwMode="auto">
          <a:xfrm>
            <a:off x="5097756" y="4187183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GPIO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34" name="直接箭头连接符 28">
            <a:extLst>
              <a:ext uri="{FF2B5EF4-FFF2-40B4-BE49-F238E27FC236}">
                <a16:creationId xmlns:a16="http://schemas.microsoft.com/office/drawing/2014/main" id="{33C07512-0039-344F-AFD4-4C12AA46E9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62918" y="3806183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" name="TextBox 32">
            <a:extLst>
              <a:ext uri="{FF2B5EF4-FFF2-40B4-BE49-F238E27FC236}">
                <a16:creationId xmlns:a16="http://schemas.microsoft.com/office/drawing/2014/main" id="{15639480-7538-9142-A724-3EDAB20C2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555" y="3806183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512-1023</a:t>
            </a:r>
          </a:p>
        </p:txBody>
      </p:sp>
      <p:cxnSp>
        <p:nvCxnSpPr>
          <p:cNvPr id="36" name="直接箭头连接符 28">
            <a:extLst>
              <a:ext uri="{FF2B5EF4-FFF2-40B4-BE49-F238E27FC236}">
                <a16:creationId xmlns:a16="http://schemas.microsoft.com/office/drawing/2014/main" id="{11E3CC6F-29BF-4C47-B7DF-98053DDB28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2200" y="2527656"/>
            <a:ext cx="0" cy="1223364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9" name="TextBox 32">
            <a:extLst>
              <a:ext uri="{FF2B5EF4-FFF2-40B4-BE49-F238E27FC236}">
                <a16:creationId xmlns:a16="http://schemas.microsoft.com/office/drawing/2014/main" id="{A912ADA1-64F9-E64B-91DE-CDE130A8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951" y="2980927"/>
            <a:ext cx="14918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AHB/APB</a:t>
            </a:r>
            <a:r>
              <a:rPr lang="zh-CN" altLang="en-US" sz="1600" b="0" dirty="0">
                <a:latin typeface="+mj-ea"/>
                <a:ea typeface="+mj-ea"/>
              </a:rPr>
              <a:t>桥</a:t>
            </a:r>
            <a:endParaRPr lang="en-US" altLang="zh-CN" sz="1600" b="0" dirty="0">
              <a:latin typeface="+mj-ea"/>
              <a:ea typeface="+mj-ea"/>
            </a:endParaRPr>
          </a:p>
        </p:txBody>
      </p:sp>
      <p:cxnSp>
        <p:nvCxnSpPr>
          <p:cNvPr id="40" name="直接箭头连接符 28">
            <a:extLst>
              <a:ext uri="{FF2B5EF4-FFF2-40B4-BE49-F238E27FC236}">
                <a16:creationId xmlns:a16="http://schemas.microsoft.com/office/drawing/2014/main" id="{6429CFCE-9E0B-614C-8F52-83188E74CB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0240" y="2146656"/>
            <a:ext cx="0" cy="38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Box 47">
            <a:extLst>
              <a:ext uri="{FF2B5EF4-FFF2-40B4-BE49-F238E27FC236}">
                <a16:creationId xmlns:a16="http://schemas.microsoft.com/office/drawing/2014/main" id="{76BEBBD5-D6AF-B648-A70E-06B31D31B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040" y="2146656"/>
            <a:ext cx="685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+mj-ea"/>
                <a:ea typeface="+mj-ea"/>
              </a:rPr>
              <a:t>102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FBE1FB-4ED6-5F40-AABB-123287B48240}"/>
              </a:ext>
            </a:extLst>
          </p:cNvPr>
          <p:cNvSpPr/>
          <p:nvPr/>
        </p:nvSpPr>
        <p:spPr bwMode="auto">
          <a:xfrm>
            <a:off x="4932040" y="1633364"/>
            <a:ext cx="1676400" cy="508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 </a:t>
            </a:r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37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F75EE-D382-BC4F-B3D2-E7F496C9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硬件总线的特点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94F53-4625-4F48-ADD5-12730967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一组电线</a:t>
            </a:r>
          </a:p>
          <a:p>
            <a:pPr lvl="1"/>
            <a:r>
              <a:rPr kumimoji="1" lang="zh-CN" altLang="en-US" dirty="0"/>
              <a:t>将各个</a:t>
            </a:r>
            <a:r>
              <a:rPr kumimoji="1" lang="en" altLang="zh-CN" dirty="0"/>
              <a:t>I/O</a:t>
            </a:r>
            <a:r>
              <a:rPr kumimoji="1" lang="zh-CN" altLang="en-US" dirty="0"/>
              <a:t>模块连接到一起，包含了地址总线、数据总线和控制总线</a:t>
            </a:r>
          </a:p>
          <a:p>
            <a:r>
              <a:rPr kumimoji="1" lang="zh-CN" altLang="en-US" dirty="0"/>
              <a:t>使用广播</a:t>
            </a:r>
          </a:p>
          <a:p>
            <a:pPr lvl="1"/>
            <a:r>
              <a:rPr kumimoji="1" lang="zh-CN" altLang="en-US" dirty="0"/>
              <a:t>每个模块都能收到消息</a:t>
            </a:r>
          </a:p>
          <a:p>
            <a:pPr lvl="1"/>
            <a:r>
              <a:rPr kumimoji="1" lang="zh-CN" altLang="en-US" dirty="0"/>
              <a:t>总线地址：标识了预期的接收方</a:t>
            </a:r>
          </a:p>
          <a:p>
            <a:r>
              <a:rPr kumimoji="1" lang="zh-CN" altLang="en-US" dirty="0"/>
              <a:t>仲裁协议</a:t>
            </a:r>
          </a:p>
          <a:p>
            <a:pPr lvl="1"/>
            <a:r>
              <a:rPr kumimoji="1" lang="zh-CN" altLang="en-US" dirty="0"/>
              <a:t>决定哪个模块可以在什么时间收发消息</a:t>
            </a:r>
          </a:p>
          <a:p>
            <a:pPr lvl="1"/>
            <a:r>
              <a:rPr kumimoji="1" lang="zh-CN" altLang="en-US" dirty="0"/>
              <a:t>总线仲裁器：用于选择哪些模块可以使用该总线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7FCBF4-ACE1-5B47-8C50-C5783E92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59218-9EC0-5A44-8800-0B6071617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423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6C416-1FF9-724D-9543-D48908F4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同步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177A5-7234-2A49-8676-E4691C916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同步数据传输</a:t>
            </a:r>
          </a:p>
          <a:p>
            <a:pPr lvl="1"/>
            <a:r>
              <a:rPr kumimoji="1" lang="zh-CN" altLang="en-US" dirty="0"/>
              <a:t>源（</a:t>
            </a:r>
            <a:r>
              <a:rPr kumimoji="1" lang="en" altLang="zh-CN" dirty="0"/>
              <a:t>Source</a:t>
            </a:r>
            <a:r>
              <a:rPr kumimoji="1" lang="zh-CN" altLang="en" dirty="0"/>
              <a:t>）</a:t>
            </a:r>
            <a:r>
              <a:rPr kumimoji="1" lang="zh-CN" altLang="en-US" dirty="0"/>
              <a:t>和目标（</a:t>
            </a:r>
            <a:r>
              <a:rPr kumimoji="1" lang="en" altLang="zh-CN" dirty="0"/>
              <a:t>destination</a:t>
            </a:r>
            <a:r>
              <a:rPr kumimoji="1" lang="zh-CN" altLang="en" dirty="0"/>
              <a:t>）</a:t>
            </a:r>
            <a:r>
              <a:rPr kumimoji="1" lang="zh-CN" altLang="en-US" dirty="0"/>
              <a:t>借助</a:t>
            </a:r>
            <a:r>
              <a:rPr kumimoji="1" lang="zh-CN" altLang="en-US" dirty="0">
                <a:solidFill>
                  <a:srgbClr val="C00000"/>
                </a:solidFill>
              </a:rPr>
              <a:t>共享时钟</a:t>
            </a:r>
            <a:r>
              <a:rPr kumimoji="1" lang="zh-CN" altLang="en-US" dirty="0"/>
              <a:t>进行协作</a:t>
            </a:r>
          </a:p>
          <a:p>
            <a:pPr lvl="1"/>
            <a:r>
              <a:rPr kumimoji="1" lang="zh-CN" altLang="en-US" dirty="0"/>
              <a:t>例子：</a:t>
            </a:r>
            <a:r>
              <a:rPr kumimoji="1" lang="en" altLang="zh-CN" dirty="0"/>
              <a:t>DDR</a:t>
            </a:r>
            <a:r>
              <a:rPr kumimoji="1" lang="zh-CN" altLang="en-US" dirty="0"/>
              <a:t>内存访问</a:t>
            </a:r>
          </a:p>
          <a:p>
            <a:endParaRPr kumimoji="1" lang="zh-CN" altLang="en-US" dirty="0"/>
          </a:p>
          <a:p>
            <a:r>
              <a:rPr kumimoji="1" lang="zh-CN" altLang="en-US" dirty="0"/>
              <a:t>异步数据传输</a:t>
            </a:r>
          </a:p>
          <a:p>
            <a:pPr lvl="1"/>
            <a:r>
              <a:rPr kumimoji="1" lang="zh-CN" altLang="en-US" dirty="0"/>
              <a:t>源（</a:t>
            </a:r>
            <a:r>
              <a:rPr kumimoji="1" lang="en" altLang="zh-CN" dirty="0"/>
              <a:t>Source</a:t>
            </a:r>
            <a:r>
              <a:rPr kumimoji="1" lang="zh-CN" altLang="en" dirty="0"/>
              <a:t>）</a:t>
            </a:r>
            <a:r>
              <a:rPr kumimoji="1" lang="zh-CN" altLang="en-US" dirty="0"/>
              <a:t>和目标（</a:t>
            </a:r>
            <a:r>
              <a:rPr kumimoji="1" lang="en" altLang="zh-CN" dirty="0"/>
              <a:t>destination</a:t>
            </a:r>
            <a:r>
              <a:rPr kumimoji="1" lang="zh-CN" altLang="en" dirty="0"/>
              <a:t>）</a:t>
            </a:r>
            <a:r>
              <a:rPr kumimoji="1" lang="zh-CN" altLang="en-US" dirty="0"/>
              <a:t>借助</a:t>
            </a:r>
            <a:r>
              <a:rPr kumimoji="1" lang="zh-CN" altLang="en-US" dirty="0">
                <a:solidFill>
                  <a:srgbClr val="C00000"/>
                </a:solidFill>
              </a:rPr>
              <a:t>显式信号</a:t>
            </a:r>
            <a:r>
              <a:rPr kumimoji="1" lang="zh-CN" altLang="en-US" dirty="0"/>
              <a:t>进行协作</a:t>
            </a:r>
          </a:p>
          <a:p>
            <a:pPr lvl="1"/>
            <a:r>
              <a:rPr kumimoji="1" lang="zh-CN" altLang="en-US" dirty="0"/>
              <a:t>例子：对信号的确认（</a:t>
            </a:r>
            <a:r>
              <a:rPr kumimoji="1" lang="en" altLang="zh-CN" dirty="0"/>
              <a:t>ack</a:t>
            </a:r>
            <a:r>
              <a:rPr kumimoji="1" lang="zh-CN" altLang="en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DD7EC-9D14-BD42-BAD0-8605092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3AFF9-DC24-C34C-B4BC-64D2D893C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077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93DF3-F988-484F-A2C4-D2E7DCB5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总线事务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437B3-5143-5746-835A-BF89BE424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源（发送方）获取总线的使用权（具有排他性）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源（发送方）将目标（接收方）的地址写到总线上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源（发送方）发出 </a:t>
            </a:r>
            <a:r>
              <a:rPr kumimoji="1" lang="en" altLang="zh-CN" dirty="0"/>
              <a:t>READY </a:t>
            </a:r>
            <a:r>
              <a:rPr kumimoji="1" lang="zh-CN" altLang="en-US" dirty="0"/>
              <a:t>信号，提醒其他模块（广播）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目标（接收方）在拷贝完数据后，发出 </a:t>
            </a:r>
            <a:r>
              <a:rPr kumimoji="1" lang="en" altLang="zh-CN" dirty="0"/>
              <a:t>ACKNOWLEDGE </a:t>
            </a:r>
            <a:r>
              <a:rPr kumimoji="1" lang="zh-CN" altLang="en-US" dirty="0"/>
              <a:t>信号</a:t>
            </a:r>
          </a:p>
          <a:p>
            <a:pPr marL="857250" lvl="1" indent="-457200">
              <a:buFont typeface="Wingdings" pitchFamily="2" charset="2"/>
              <a:buChar char="l"/>
            </a:pPr>
            <a:r>
              <a:rPr kumimoji="1" lang="zh-CN" altLang="en-US" dirty="0"/>
              <a:t>同步模式下，无需 </a:t>
            </a:r>
            <a:r>
              <a:rPr kumimoji="1" lang="en" altLang="zh-CN" dirty="0"/>
              <a:t>READY </a:t>
            </a:r>
            <a:r>
              <a:rPr kumimoji="1" lang="zh-CN" altLang="en-US" dirty="0"/>
              <a:t>和 </a:t>
            </a:r>
            <a:r>
              <a:rPr kumimoji="1" lang="en" altLang="zh-CN" dirty="0"/>
              <a:t>ACKNOWLEDGE</a:t>
            </a:r>
            <a:r>
              <a:rPr kumimoji="1" lang="zh-CN" altLang="en" dirty="0"/>
              <a:t>，</a:t>
            </a:r>
            <a:r>
              <a:rPr kumimoji="1" lang="zh-CN" altLang="en-US" dirty="0"/>
              <a:t>只要在每个时钟周期进行检查即可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dirty="0"/>
              <a:t>源（发送方）释放总线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596C3-CEB9-AF4E-9E47-43D24DCF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1E778-5C8A-8244-AB45-5F7DECD1D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17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C3685-3B36-F342-9F2C-D8D01DEC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E9C46-9A7E-2549-8B08-A71EFF49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56A4-0165-7646-8D6D-BFFFCA1E3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396B2D-B3FB-9A42-9D2F-D75A094CC3A3}"/>
              </a:ext>
            </a:extLst>
          </p:cNvPr>
          <p:cNvSpPr/>
          <p:nvPr/>
        </p:nvSpPr>
        <p:spPr bwMode="auto">
          <a:xfrm>
            <a:off x="878499" y="1777380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UART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CA2DE9-051F-184A-8885-5F2FC1DC8768}"/>
              </a:ext>
            </a:extLst>
          </p:cNvPr>
          <p:cNvSpPr/>
          <p:nvPr/>
        </p:nvSpPr>
        <p:spPr bwMode="auto">
          <a:xfrm>
            <a:off x="3847795" y="1941893"/>
            <a:ext cx="2376263" cy="24482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       中断控制器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6F08ED-D554-4B43-BB18-70E5D61C253E}"/>
              </a:ext>
            </a:extLst>
          </p:cNvPr>
          <p:cNvSpPr/>
          <p:nvPr/>
        </p:nvSpPr>
        <p:spPr bwMode="auto">
          <a:xfrm>
            <a:off x="6934855" y="1941893"/>
            <a:ext cx="1381561" cy="24482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CPU</a:t>
            </a:r>
          </a:p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处理器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720B0F-527C-FD4B-8E5D-4AF66687DAAB}"/>
              </a:ext>
            </a:extLst>
          </p:cNvPr>
          <p:cNvSpPr/>
          <p:nvPr/>
        </p:nvSpPr>
        <p:spPr bwMode="auto">
          <a:xfrm>
            <a:off x="878499" y="2518431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USB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7C88C1-F65D-C348-9585-50BCF5029F18}"/>
              </a:ext>
            </a:extLst>
          </p:cNvPr>
          <p:cNvSpPr/>
          <p:nvPr/>
        </p:nvSpPr>
        <p:spPr bwMode="auto">
          <a:xfrm>
            <a:off x="878499" y="3194445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I2C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AA9E0F-57FF-BC4C-99EB-C2C0FB35EF44}"/>
              </a:ext>
            </a:extLst>
          </p:cNvPr>
          <p:cNvSpPr/>
          <p:nvPr/>
        </p:nvSpPr>
        <p:spPr bwMode="auto">
          <a:xfrm>
            <a:off x="877574" y="3923311"/>
            <a:ext cx="1381560" cy="432044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宋体" charset="0"/>
              </a:rPr>
              <a:t>GPIO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宋体" charset="0"/>
            </a:endParaRPr>
          </a:p>
        </p:txBody>
      </p: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2D8FDB79-3786-6143-B7EA-C25A953CB151}"/>
              </a:ext>
            </a:extLst>
          </p:cNvPr>
          <p:cNvCxnSpPr>
            <a:cxnSpLocks/>
            <a:stCxn id="7" idx="3"/>
            <a:endCxn id="54" idx="1"/>
          </p:cNvCxnSpPr>
          <p:nvPr/>
        </p:nvCxnSpPr>
        <p:spPr>
          <a:xfrm>
            <a:off x="2260059" y="1993402"/>
            <a:ext cx="1587736" cy="40243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F0CE0EC2-D857-DC45-9273-F5AE49520C29}"/>
              </a:ext>
            </a:extLst>
          </p:cNvPr>
          <p:cNvCxnSpPr>
            <a:cxnSpLocks/>
            <a:stCxn id="17" idx="3"/>
            <a:endCxn id="55" idx="1"/>
          </p:cNvCxnSpPr>
          <p:nvPr/>
        </p:nvCxnSpPr>
        <p:spPr>
          <a:xfrm>
            <a:off x="2260059" y="2734453"/>
            <a:ext cx="1588662" cy="4441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3383B7A8-8F76-3440-88D6-32D06007591E}"/>
              </a:ext>
            </a:extLst>
          </p:cNvPr>
          <p:cNvCxnSpPr>
            <a:cxnSpLocks/>
            <a:stCxn id="18" idx="3"/>
            <a:endCxn id="64" idx="1"/>
          </p:cNvCxnSpPr>
          <p:nvPr/>
        </p:nvCxnSpPr>
        <p:spPr>
          <a:xfrm flipV="1">
            <a:off x="2260059" y="3179905"/>
            <a:ext cx="1588660" cy="23056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>
            <a:extLst>
              <a:ext uri="{FF2B5EF4-FFF2-40B4-BE49-F238E27FC236}">
                <a16:creationId xmlns:a16="http://schemas.microsoft.com/office/drawing/2014/main" id="{C7BBF6B9-8363-BE4A-A452-E99DFF8313F0}"/>
              </a:ext>
            </a:extLst>
          </p:cNvPr>
          <p:cNvCxnSpPr>
            <a:cxnSpLocks/>
            <a:stCxn id="19" idx="3"/>
            <a:endCxn id="65" idx="1"/>
          </p:cNvCxnSpPr>
          <p:nvPr/>
        </p:nvCxnSpPr>
        <p:spPr>
          <a:xfrm flipV="1">
            <a:off x="2259134" y="3566295"/>
            <a:ext cx="1588661" cy="57303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7E2141B-FD5F-AE41-B660-157AA1C604CA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6224058" y="3166030"/>
            <a:ext cx="7107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DC8E643-A3CF-0D4F-BFE2-E89ACC541C08}"/>
              </a:ext>
            </a:extLst>
          </p:cNvPr>
          <p:cNvSpPr/>
          <p:nvPr/>
        </p:nvSpPr>
        <p:spPr>
          <a:xfrm>
            <a:off x="3847795" y="2251825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IRQ0</a:t>
            </a:r>
            <a:endParaRPr kumimoji="1" lang="zh-CN" altLang="en-US" sz="16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818325A-3BEE-0D48-9A45-E98DB304FA49}"/>
              </a:ext>
            </a:extLst>
          </p:cNvPr>
          <p:cNvSpPr/>
          <p:nvPr/>
        </p:nvSpPr>
        <p:spPr>
          <a:xfrm>
            <a:off x="3848721" y="2634855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IRQ1</a:t>
            </a:r>
            <a:endParaRPr kumimoji="1" lang="zh-CN" altLang="en-US" sz="16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6C4CBD-6533-5643-BE1F-BB5FEEEAF2C9}"/>
              </a:ext>
            </a:extLst>
          </p:cNvPr>
          <p:cNvSpPr/>
          <p:nvPr/>
        </p:nvSpPr>
        <p:spPr>
          <a:xfrm>
            <a:off x="3848719" y="3035889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IRQ2</a:t>
            </a:r>
            <a:endParaRPr kumimoji="1" lang="zh-CN" altLang="en-US" sz="16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0092BEC-3900-E545-B1B5-6C9626E010D0}"/>
              </a:ext>
            </a:extLst>
          </p:cNvPr>
          <p:cNvSpPr/>
          <p:nvPr/>
        </p:nvSpPr>
        <p:spPr>
          <a:xfrm>
            <a:off x="3847795" y="3422279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IRQ3</a:t>
            </a:r>
            <a:endParaRPr kumimoji="1" lang="zh-CN" altLang="en-US" sz="16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DF7FBDC-879E-124D-B1E0-47C45B932BF0}"/>
              </a:ext>
            </a:extLst>
          </p:cNvPr>
          <p:cNvSpPr/>
          <p:nvPr/>
        </p:nvSpPr>
        <p:spPr>
          <a:xfrm>
            <a:off x="3847795" y="3937620"/>
            <a:ext cx="720080" cy="2880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IRQ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x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5416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的交互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驱动视角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E91FC3D-1F2D-E90E-6F5D-BB2DAC087791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4628F1-74EA-0E3A-792A-ED0AAB6CEC04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1C6774A-F29D-5072-AF1C-67A7FAD85327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B4DEC42-F93B-A7B7-0044-CE337A6C61E0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77C738-1649-2808-1F18-5F35FE23865A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92C6C31-D625-F1BD-7337-1800965D5985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F78FEA8-17E8-CFBD-1A75-68A476832090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6A04F98-F0A2-45EF-CB8B-565C4E7E9E48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0F1E3DFB-4D25-41C7-39E3-D6B15E6C2263}"/>
              </a:ext>
            </a:extLst>
          </p:cNvPr>
          <p:cNvSpPr/>
          <p:nvPr/>
        </p:nvSpPr>
        <p:spPr>
          <a:xfrm flipH="1">
            <a:off x="8063434" y="3752944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622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C3685-3B36-F342-9F2C-D8D01DEC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硬件设备的接口：设备寄存器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E9C46-9A7E-2549-8B08-A71EFF49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56A4-0165-7646-8D6D-BFFFCA1E3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535EC7-43C2-CF12-EC64-3955C03A480D}"/>
              </a:ext>
            </a:extLst>
          </p:cNvPr>
          <p:cNvSpPr/>
          <p:nvPr/>
        </p:nvSpPr>
        <p:spPr>
          <a:xfrm>
            <a:off x="1604510" y="1777380"/>
            <a:ext cx="6855922" cy="2462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24" name="直接连接符 6">
            <a:extLst>
              <a:ext uri="{FF2B5EF4-FFF2-40B4-BE49-F238E27FC236}">
                <a16:creationId xmlns:a16="http://schemas.microsoft.com/office/drawing/2014/main" id="{E319BFE0-A3D6-F208-782E-DF8B8BAD7094}"/>
              </a:ext>
            </a:extLst>
          </p:cNvPr>
          <p:cNvCxnSpPr/>
          <p:nvPr/>
        </p:nvCxnSpPr>
        <p:spPr>
          <a:xfrm>
            <a:off x="1619672" y="2799370"/>
            <a:ext cx="684076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6E510921-172C-CB1D-32AD-AACDF6202E44}"/>
              </a:ext>
            </a:extLst>
          </p:cNvPr>
          <p:cNvSpPr/>
          <p:nvPr/>
        </p:nvSpPr>
        <p:spPr>
          <a:xfrm>
            <a:off x="2987824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状态寄存器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4CCFAC-25AA-4D15-173D-5320F0CFE68A}"/>
              </a:ext>
            </a:extLst>
          </p:cNvPr>
          <p:cNvSpPr/>
          <p:nvPr/>
        </p:nvSpPr>
        <p:spPr>
          <a:xfrm>
            <a:off x="4355976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地址寄存器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88DFC5-B9E1-C772-CC60-63B615C435B3}"/>
              </a:ext>
            </a:extLst>
          </p:cNvPr>
          <p:cNvSpPr/>
          <p:nvPr/>
        </p:nvSpPr>
        <p:spPr>
          <a:xfrm>
            <a:off x="5714492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数据寄存器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25A2F7-BCAA-A414-3EA4-1E6F7A02D934}"/>
              </a:ext>
            </a:extLst>
          </p:cNvPr>
          <p:cNvSpPr/>
          <p:nvPr/>
        </p:nvSpPr>
        <p:spPr>
          <a:xfrm>
            <a:off x="7077826" y="2001268"/>
            <a:ext cx="1238590" cy="51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命令寄存器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661EBE-75B5-0F81-716F-4FDA57040C0E}"/>
              </a:ext>
            </a:extLst>
          </p:cNvPr>
          <p:cNvSpPr/>
          <p:nvPr/>
        </p:nvSpPr>
        <p:spPr>
          <a:xfrm>
            <a:off x="1619672" y="1991893"/>
            <a:ext cx="1368152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设备寄存器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9C1B1A-3898-5653-2E0C-79519C2847E1}"/>
              </a:ext>
            </a:extLst>
          </p:cNvPr>
          <p:cNvSpPr/>
          <p:nvPr/>
        </p:nvSpPr>
        <p:spPr>
          <a:xfrm>
            <a:off x="1691680" y="2906154"/>
            <a:ext cx="6624736" cy="1189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微控制器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(CPU/MCU)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内部存储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(DRAM/SRAM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或兼而有之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其他设备相关的硬件芯片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F75F0B-6AD3-F642-12C7-A985E742DBE4}"/>
              </a:ext>
            </a:extLst>
          </p:cNvPr>
          <p:cNvSpPr/>
          <p:nvPr/>
        </p:nvSpPr>
        <p:spPr>
          <a:xfrm>
            <a:off x="323528" y="1991893"/>
            <a:ext cx="1224136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对外接口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11330-9D3B-D3AB-8D21-FB74DEF9D855}"/>
              </a:ext>
            </a:extLst>
          </p:cNvPr>
          <p:cNvSpPr/>
          <p:nvPr/>
        </p:nvSpPr>
        <p:spPr>
          <a:xfrm>
            <a:off x="323528" y="3245799"/>
            <a:ext cx="1224136" cy="5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内部组成</a:t>
            </a:r>
          </a:p>
        </p:txBody>
      </p:sp>
    </p:spTree>
    <p:extLst>
      <p:ext uri="{BB962C8B-B14F-4D97-AF65-F5344CB8AC3E}">
        <p14:creationId xmlns:p14="http://schemas.microsoft.com/office/powerpoint/2010/main" val="104757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BC1D-2BCE-F808-E5BA-9DD05B77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内存映射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(MMIO)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FFF3E7-4E98-009D-3158-613EAB7C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D142B5-B42E-0211-AD88-B1188B27E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6C00C2-6CE0-3441-D9EE-FBB1F78F5F94}"/>
              </a:ext>
            </a:extLst>
          </p:cNvPr>
          <p:cNvSpPr/>
          <p:nvPr/>
        </p:nvSpPr>
        <p:spPr bwMode="auto">
          <a:xfrm>
            <a:off x="1743075" y="1479021"/>
            <a:ext cx="1752600" cy="5715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Processor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D5B388-B724-1A34-6BCC-E0B3BC5EB8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9200" y="3683000"/>
            <a:ext cx="6629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1934BB8-BEF8-0341-C593-72C49B606AEB}"/>
              </a:ext>
            </a:extLst>
          </p:cNvPr>
          <p:cNvSpPr/>
          <p:nvPr/>
        </p:nvSpPr>
        <p:spPr bwMode="auto">
          <a:xfrm>
            <a:off x="2087563" y="2667000"/>
            <a:ext cx="1066800" cy="381000"/>
          </a:xfrm>
          <a:prstGeom prst="rect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MMU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" name="直接箭头连接符 9">
            <a:extLst>
              <a:ext uri="{FF2B5EF4-FFF2-40B4-BE49-F238E27FC236}">
                <a16:creationId xmlns:a16="http://schemas.microsoft.com/office/drawing/2014/main" id="{73F031DC-BF71-4259-81F9-0CEF4DBF6587}"/>
              </a:ext>
            </a:extLst>
          </p:cNvPr>
          <p:cNvCxnSpPr>
            <a:cxnSpLocks noChangeShapeType="1"/>
            <a:stCxn id="6" idx="2"/>
            <a:endCxn id="8" idx="0"/>
          </p:cNvCxnSpPr>
          <p:nvPr/>
        </p:nvCxnSpPr>
        <p:spPr bwMode="auto">
          <a:xfrm>
            <a:off x="2619375" y="2050521"/>
            <a:ext cx="1588" cy="616479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11">
            <a:extLst>
              <a:ext uri="{FF2B5EF4-FFF2-40B4-BE49-F238E27FC236}">
                <a16:creationId xmlns:a16="http://schemas.microsoft.com/office/drawing/2014/main" id="{BF284E0E-09C1-ABF6-EFD0-B0D001EAC0D0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>
            <a:off x="2620963" y="3048000"/>
            <a:ext cx="0" cy="635000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4">
            <a:extLst>
              <a:ext uri="{FF2B5EF4-FFF2-40B4-BE49-F238E27FC236}">
                <a16:creationId xmlns:a16="http://schemas.microsoft.com/office/drawing/2014/main" id="{B1385619-E019-28E8-61B4-111EBF86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404" y="2189189"/>
            <a:ext cx="18911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虚拟地址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0A1EA388-68FB-0366-6923-D8A1015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788" y="3175000"/>
            <a:ext cx="444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物理地址（系统总线地址）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5AC6FC-5390-0F66-8989-0E0363B81EFA}"/>
              </a:ext>
            </a:extLst>
          </p:cNvPr>
          <p:cNvSpPr/>
          <p:nvPr/>
        </p:nvSpPr>
        <p:spPr bwMode="auto">
          <a:xfrm>
            <a:off x="1371601" y="4429125"/>
            <a:ext cx="1408113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Memory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D8D9EE-D87A-1893-B32A-2ABE57385E50}"/>
              </a:ext>
            </a:extLst>
          </p:cNvPr>
          <p:cNvSpPr/>
          <p:nvPr/>
        </p:nvSpPr>
        <p:spPr bwMode="auto">
          <a:xfrm>
            <a:off x="3713163" y="4429125"/>
            <a:ext cx="1408112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Disk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1B6A97-AF8A-EA43-5542-82C38453219D}"/>
              </a:ext>
            </a:extLst>
          </p:cNvPr>
          <p:cNvSpPr/>
          <p:nvPr/>
        </p:nvSpPr>
        <p:spPr bwMode="auto">
          <a:xfrm>
            <a:off x="6208713" y="4429125"/>
            <a:ext cx="1408112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Keyboard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直接箭头连接符 25">
            <a:extLst>
              <a:ext uri="{FF2B5EF4-FFF2-40B4-BE49-F238E27FC236}">
                <a16:creationId xmlns:a16="http://schemas.microsoft.com/office/drawing/2014/main" id="{643D9E99-F3D8-C45D-EDC7-31EA59CDB34A}"/>
              </a:ext>
            </a:extLst>
          </p:cNvPr>
          <p:cNvCxnSpPr>
            <a:cxnSpLocks noChangeShapeType="1"/>
            <a:endCxn id="14" idx="0"/>
          </p:cNvCxnSpPr>
          <p:nvPr/>
        </p:nvCxnSpPr>
        <p:spPr bwMode="auto">
          <a:xfrm flipH="1">
            <a:off x="4416426" y="3683000"/>
            <a:ext cx="4763" cy="746125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28">
            <a:extLst>
              <a:ext uri="{FF2B5EF4-FFF2-40B4-BE49-F238E27FC236}">
                <a16:creationId xmlns:a16="http://schemas.microsoft.com/office/drawing/2014/main" id="{9271C4FC-DE1F-AE7C-ABB7-DE4ED0C21468}"/>
              </a:ext>
            </a:extLst>
          </p:cNvPr>
          <p:cNvCxnSpPr>
            <a:cxnSpLocks noChangeShapeType="1"/>
            <a:endCxn id="15" idx="0"/>
          </p:cNvCxnSpPr>
          <p:nvPr/>
        </p:nvCxnSpPr>
        <p:spPr bwMode="auto">
          <a:xfrm>
            <a:off x="6913563" y="3683000"/>
            <a:ext cx="0" cy="7461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31">
            <a:extLst>
              <a:ext uri="{FF2B5EF4-FFF2-40B4-BE49-F238E27FC236}">
                <a16:creationId xmlns:a16="http://schemas.microsoft.com/office/drawing/2014/main" id="{C008DCFA-3285-36FB-13FE-F4CFCD3D9997}"/>
              </a:ext>
            </a:extLst>
          </p:cNvPr>
          <p:cNvCxnSpPr>
            <a:cxnSpLocks noChangeShapeType="1"/>
            <a:endCxn id="13" idx="0"/>
          </p:cNvCxnSpPr>
          <p:nvPr/>
        </p:nvCxnSpPr>
        <p:spPr bwMode="auto">
          <a:xfrm flipH="1">
            <a:off x="2076451" y="3683000"/>
            <a:ext cx="11113" cy="7461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" name="TextBox 35">
            <a:extLst>
              <a:ext uri="{FF2B5EF4-FFF2-40B4-BE49-F238E27FC236}">
                <a16:creationId xmlns:a16="http://schemas.microsoft.com/office/drawing/2014/main" id="{AF086A5F-F6DF-5E69-6438-DBE18057F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746500"/>
            <a:ext cx="2222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翻译为寄存器地址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4FF86A-94D4-C6CE-B182-6F4170664E5E}"/>
              </a:ext>
            </a:extLst>
          </p:cNvPr>
          <p:cNvSpPr/>
          <p:nvPr/>
        </p:nvSpPr>
        <p:spPr bwMode="auto">
          <a:xfrm>
            <a:off x="1524001" y="1333500"/>
            <a:ext cx="2189163" cy="18415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283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703CA-CD8D-0728-E8AC-0395E495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的</a:t>
            </a:r>
            <a:r>
              <a:rPr lang="en-US" altLang="zh-CN" dirty="0"/>
              <a:t>UART</a:t>
            </a:r>
            <a:r>
              <a:rPr lang="zh-CN" altLang="en-US" dirty="0"/>
              <a:t> </a:t>
            </a:r>
            <a:r>
              <a:rPr lang="en-US" altLang="zh-CN" dirty="0"/>
              <a:t>MMIO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AE845E-DF7D-15B7-8C80-DE578424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D703D-219F-13EE-9FA7-00382F9D3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51514A-4D13-FE3B-148B-2A08ADF687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0645" y="3863266"/>
            <a:ext cx="2047283" cy="11480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730CC1-585F-4D02-5A02-B2A52E2BEE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9066" y="737028"/>
            <a:ext cx="2019993" cy="11871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09AFBF-6995-2D67-4741-01DACA011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22" y="1561356"/>
            <a:ext cx="5206092" cy="331236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1507BE8-F86E-CB68-51A2-38DF8F749384}"/>
              </a:ext>
            </a:extLst>
          </p:cNvPr>
          <p:cNvSpPr/>
          <p:nvPr/>
        </p:nvSpPr>
        <p:spPr>
          <a:xfrm>
            <a:off x="1475656" y="2323145"/>
            <a:ext cx="313956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968249-DF27-F074-4916-E77E4B26C436}"/>
              </a:ext>
            </a:extLst>
          </p:cNvPr>
          <p:cNvSpPr/>
          <p:nvPr/>
        </p:nvSpPr>
        <p:spPr>
          <a:xfrm>
            <a:off x="611560" y="4369668"/>
            <a:ext cx="374441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5">
            <a:extLst>
              <a:ext uri="{FF2B5EF4-FFF2-40B4-BE49-F238E27FC236}">
                <a16:creationId xmlns:a16="http://schemas.microsoft.com/office/drawing/2014/main" id="{3D3A00F9-7108-7735-7D8F-8E821B151167}"/>
              </a:ext>
            </a:extLst>
          </p:cNvPr>
          <p:cNvCxnSpPr>
            <a:cxnSpLocks/>
          </p:cNvCxnSpPr>
          <p:nvPr/>
        </p:nvCxnSpPr>
        <p:spPr>
          <a:xfrm flipV="1">
            <a:off x="4615222" y="1380448"/>
            <a:ext cx="1828985" cy="9426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6">
            <a:extLst>
              <a:ext uri="{FF2B5EF4-FFF2-40B4-BE49-F238E27FC236}">
                <a16:creationId xmlns:a16="http://schemas.microsoft.com/office/drawing/2014/main" id="{1515A8CD-C516-D336-B629-E159420A85DD}"/>
              </a:ext>
            </a:extLst>
          </p:cNvPr>
          <p:cNvCxnSpPr>
            <a:cxnSpLocks/>
          </p:cNvCxnSpPr>
          <p:nvPr/>
        </p:nvCxnSpPr>
        <p:spPr>
          <a:xfrm flipV="1">
            <a:off x="4355975" y="4369668"/>
            <a:ext cx="2232249" cy="14401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BED0E93-166F-62FE-4D81-E9EC835094F1}"/>
              </a:ext>
            </a:extLst>
          </p:cNvPr>
          <p:cNvSpPr txBox="1">
            <a:spLocks/>
          </p:cNvSpPr>
          <p:nvPr/>
        </p:nvSpPr>
        <p:spPr>
          <a:xfrm>
            <a:off x="5436096" y="2497460"/>
            <a:ext cx="3763321" cy="1080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>
                <a:solidFill>
                  <a:srgbClr val="C00000"/>
                </a:solidFill>
              </a:rPr>
              <a:t>MMIO</a:t>
            </a:r>
            <a:r>
              <a:rPr kumimoji="1" lang="en-US" altLang="zh-CN"/>
              <a:t>:</a:t>
            </a:r>
            <a:r>
              <a:rPr kumimoji="1" lang="zh-CN" altLang="en-US"/>
              <a:t> 复用</a:t>
            </a:r>
            <a:r>
              <a:rPr kumimoji="1" lang="en-US" altLang="zh-CN"/>
              <a:t>ldr</a:t>
            </a:r>
            <a:r>
              <a:rPr kumimoji="1" lang="zh-CN" altLang="en-US"/>
              <a:t>和</a:t>
            </a:r>
            <a:r>
              <a:rPr kumimoji="1" lang="en-US" altLang="zh-CN"/>
              <a:t>str</a:t>
            </a:r>
            <a:r>
              <a:rPr kumimoji="1" lang="zh-CN" altLang="en-US"/>
              <a:t>指令</a:t>
            </a:r>
          </a:p>
          <a:p>
            <a:pPr lvl="1"/>
            <a:r>
              <a:rPr kumimoji="1" lang="zh-CN" altLang="en-US"/>
              <a:t>映射到物理内存的特殊地址段</a:t>
            </a:r>
          </a:p>
          <a:p>
            <a:endParaRPr kumimoji="1" lang="zh-CN" altLang="en-US"/>
          </a:p>
          <a:p>
            <a:endParaRPr kumimoji="1"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C9B441-F401-E1CC-196A-0ACD8B103326}"/>
              </a:ext>
            </a:extLst>
          </p:cNvPr>
          <p:cNvSpPr/>
          <p:nvPr/>
        </p:nvSpPr>
        <p:spPr>
          <a:xfrm>
            <a:off x="6444207" y="1085375"/>
            <a:ext cx="1440161" cy="293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60A1A4-C598-6A8A-64C1-6F6EC8FE2428}"/>
              </a:ext>
            </a:extLst>
          </p:cNvPr>
          <p:cNvSpPr/>
          <p:nvPr/>
        </p:nvSpPr>
        <p:spPr>
          <a:xfrm>
            <a:off x="6559128" y="4181856"/>
            <a:ext cx="1397248" cy="331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91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BF497-EB25-CB69-E11B-645604BC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MMIO</a:t>
            </a:r>
            <a:r>
              <a:rPr lang="zh-CN" altLang="en-US" dirty="0"/>
              <a:t>地址应使用</a:t>
            </a:r>
            <a:r>
              <a:rPr lang="en-US" altLang="zh-CN" dirty="0"/>
              <a:t>Volatile</a:t>
            </a:r>
            <a:r>
              <a:rPr lang="zh-CN" altLang="en-US" dirty="0"/>
              <a:t>关键字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EC355-D069-FCBD-2610-86CB6F4A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4BA2A-1519-7947-DAC2-777999BFF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1882DD-1570-09A6-2A26-0DBA770D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3324"/>
            <a:ext cx="8579296" cy="397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        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pdev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(void *) 0x40400000;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size = (1024*1024);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          *base;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int 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pdev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size, PROT_READ|PROT_WRITE,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MAP_ANONYMOUS|MAP_PRIVATE, -1, 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(base == MAP_FAILED)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errx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(1, 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failure");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(int *) (((void *) base) + 0xf0704);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%d\n",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%d\n",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munmap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(base, size);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CF26CF-2A51-E285-FC41-1C2502CBD8BB}"/>
              </a:ext>
            </a:extLst>
          </p:cNvPr>
          <p:cNvSpPr/>
          <p:nvPr/>
        </p:nvSpPr>
        <p:spPr>
          <a:xfrm>
            <a:off x="3995116" y="4279861"/>
            <a:ext cx="468052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若不加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volatile</a:t>
            </a:r>
            <a:r>
              <a:rPr lang="zh-CN" altLang="e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编译器会认为这两个</a:t>
            </a:r>
            <a:r>
              <a:rPr lang="en" altLang="zh-CN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printf</a:t>
            </a:r>
            <a:r>
              <a:rPr lang="en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多余，并消除第二个内存加载操作</a:t>
            </a:r>
          </a:p>
        </p:txBody>
      </p:sp>
    </p:spTree>
    <p:extLst>
      <p:ext uri="{BB962C8B-B14F-4D97-AF65-F5344CB8AC3E}">
        <p14:creationId xmlns:p14="http://schemas.microsoft.com/office/powerpoint/2010/main" val="253340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A3A6C-8E6D-9397-1B5C-7E8E48D8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可编程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Programmable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AB596-9956-D7C1-1C7C-77BDF9DA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" dirty="0"/>
              <a:t>形式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" altLang="zh-CN" dirty="0"/>
              <a:t>MMIO (Memory-mapped I</a:t>
            </a:r>
            <a:r>
              <a:rPr kumimoji="1" lang="en-US" altLang="zh-CN" dirty="0"/>
              <a:t>/</a:t>
            </a:r>
            <a:r>
              <a:rPr kumimoji="1" lang="en" altLang="zh-CN" dirty="0"/>
              <a:t>O)</a:t>
            </a:r>
          </a:p>
          <a:p>
            <a:pPr lvl="1"/>
            <a:r>
              <a:rPr kumimoji="1" lang="zh-CN" altLang="en-US" dirty="0"/>
              <a:t>将设备映射到连续物理内存中</a:t>
            </a:r>
          </a:p>
          <a:p>
            <a:pPr lvl="1"/>
            <a:r>
              <a:rPr kumimoji="1" lang="zh-CN" altLang="en-US" dirty="0"/>
              <a:t>使用内存访问指令（</a:t>
            </a:r>
            <a:r>
              <a:rPr kumimoji="1" lang="en-US" altLang="zh-CN" dirty="0"/>
              <a:t>load/store</a:t>
            </a:r>
            <a:r>
              <a:rPr kumimoji="1" lang="zh-CN" altLang="en-US" dirty="0"/>
              <a:t>）</a:t>
            </a:r>
          </a:p>
          <a:p>
            <a:pPr lvl="1"/>
            <a:r>
              <a:rPr kumimoji="1" lang="zh-CN" altLang="en-US" dirty="0"/>
              <a:t>行为与内存不完全一样，读写有</a:t>
            </a:r>
            <a:r>
              <a:rPr kumimoji="1" lang="zh-CN" altLang="en-US" dirty="0">
                <a:solidFill>
                  <a:srgbClr val="FF0000"/>
                </a:solidFill>
              </a:rPr>
              <a:t>副作用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lvl="1"/>
            <a:r>
              <a:rPr kumimoji="1" lang="zh-CN" altLang="en-US" sz="2100" dirty="0"/>
              <a:t>在</a:t>
            </a:r>
            <a:r>
              <a:rPr kumimoji="1" lang="en-US" altLang="zh-CN" sz="2100" dirty="0"/>
              <a:t>Arm</a:t>
            </a:r>
            <a:r>
              <a:rPr kumimoji="1" lang="zh-CN" altLang="en-US" sz="2100" dirty="0"/>
              <a:t>、</a:t>
            </a:r>
            <a:r>
              <a:rPr kumimoji="1" lang="en-US" altLang="zh-CN" sz="2100" dirty="0"/>
              <a:t>RISC-V</a:t>
            </a:r>
            <a:r>
              <a:rPr kumimoji="1" lang="zh-CN" altLang="en-US" sz="2100" dirty="0"/>
              <a:t>等架构中使用</a:t>
            </a:r>
            <a:endParaRPr kumimoji="1" lang="zh-CN" altLang="en-US" dirty="0"/>
          </a:p>
          <a:p>
            <a:r>
              <a:rPr kumimoji="1" lang="zh-CN" altLang="en" dirty="0"/>
              <a:t>形式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" altLang="zh-CN" dirty="0"/>
              <a:t>PIO (Port I</a:t>
            </a:r>
            <a:r>
              <a:rPr kumimoji="1" lang="en-US" altLang="zh-CN" dirty="0"/>
              <a:t>/</a:t>
            </a:r>
            <a:r>
              <a:rPr kumimoji="1" lang="en" altLang="zh-CN" dirty="0"/>
              <a:t>O)</a:t>
            </a:r>
          </a:p>
          <a:p>
            <a:pPr lvl="1"/>
            <a:r>
              <a:rPr kumimoji="1" lang="en" altLang="zh-CN" dirty="0"/>
              <a:t>IO</a:t>
            </a:r>
            <a:r>
              <a:rPr kumimoji="1" lang="zh-CN" altLang="en-US" dirty="0"/>
              <a:t>设备具有独立的地址空间</a:t>
            </a:r>
          </a:p>
          <a:p>
            <a:pPr lvl="1"/>
            <a:r>
              <a:rPr kumimoji="1" lang="zh-CN" altLang="en-US" dirty="0"/>
              <a:t>使用专门的</a:t>
            </a:r>
            <a:r>
              <a:rPr kumimoji="1" lang="en-US" altLang="zh-CN" dirty="0"/>
              <a:t>PIO</a:t>
            </a:r>
            <a:r>
              <a:rPr kumimoji="1" lang="zh-CN" altLang="en-US" dirty="0"/>
              <a:t>指令（</a:t>
            </a:r>
            <a:r>
              <a:rPr kumimoji="1" lang="en" altLang="zh-CN" dirty="0"/>
              <a:t> in/out 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x86</a:t>
            </a:r>
            <a:r>
              <a:rPr kumimoji="1" lang="zh-CN" altLang="en-US" dirty="0"/>
              <a:t>架构中使用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A8E8D-62E8-8937-83E4-31E62C41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CA310-028D-D5AC-FB4B-82283C32A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145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B1763-A498-1045-B409-98C301F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是否存在更高效的数据交互方式？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9F026-B15C-EA44-B20D-72605B964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可编程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Programmable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in/out</a:t>
            </a:r>
            <a:r>
              <a:rPr kumimoji="1" lang="zh-CN" altLang="en-US" dirty="0"/>
              <a:t> 或 </a:t>
            </a:r>
            <a:r>
              <a:rPr kumimoji="1" lang="en-US" altLang="zh-CN" dirty="0"/>
              <a:t>load/store</a:t>
            </a:r>
            <a:r>
              <a:rPr kumimoji="1" lang="zh-CN" altLang="en-US" dirty="0"/>
              <a:t> 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消耗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时钟周期和数据量成正比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适合于简单小型的设备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直接内存访问（</a:t>
            </a:r>
            <a:r>
              <a:rPr kumimoji="1" lang="en-US" altLang="zh-CN" dirty="0">
                <a:solidFill>
                  <a:srgbClr val="C00000"/>
                </a:solidFill>
              </a:rPr>
              <a:t>Direct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Memory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Access,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DMA</a:t>
            </a:r>
            <a:r>
              <a:rPr kumimoji="1" lang="zh-CN" altLang="en-US" dirty="0">
                <a:solidFill>
                  <a:srgbClr val="C00000"/>
                </a:solidFill>
              </a:rPr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设备可直接访问总线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DMA</a:t>
            </a:r>
            <a:r>
              <a:rPr kumimoji="1" lang="zh-CN" altLang="en-US" dirty="0"/>
              <a:t>与内存互相传输数据，传输不需要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参与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适合于高吞吐量</a:t>
            </a: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C5F70-5841-8F4E-B122-B3579A2D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83114-30ED-CD4E-A562-A64595D58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245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13C8B-9D58-AD4A-B2F1-BC5B4E1D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73E90-2464-5C46-B1DB-33EABB87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101EF4-C661-2D4E-8764-DDAEFB798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8FA626-7CA2-7A4A-B7CD-75718173BC3D}"/>
              </a:ext>
            </a:extLst>
          </p:cNvPr>
          <p:cNvSpPr/>
          <p:nvPr/>
        </p:nvSpPr>
        <p:spPr>
          <a:xfrm>
            <a:off x="5076056" y="1094873"/>
            <a:ext cx="1512168" cy="3379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CPU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C5A8FC-2CE0-9644-963C-FBF2DB989F13}"/>
              </a:ext>
            </a:extLst>
          </p:cNvPr>
          <p:cNvSpPr/>
          <p:nvPr/>
        </p:nvSpPr>
        <p:spPr>
          <a:xfrm>
            <a:off x="5076056" y="1708132"/>
            <a:ext cx="1512168" cy="3379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高速缓存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7E792A6-5D9E-2847-AA89-D6B9AD604516}"/>
              </a:ext>
            </a:extLst>
          </p:cNvPr>
          <p:cNvCxnSpPr>
            <a:cxnSpLocks/>
          </p:cNvCxnSpPr>
          <p:nvPr/>
        </p:nvCxnSpPr>
        <p:spPr>
          <a:xfrm>
            <a:off x="4716016" y="2497460"/>
            <a:ext cx="2232248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40D3A0A-DF77-0542-9AC4-B830B900DC5B}"/>
              </a:ext>
            </a:extLst>
          </p:cNvPr>
          <p:cNvCxnSpPr>
            <a:cxnSpLocks/>
          </p:cNvCxnSpPr>
          <p:nvPr/>
        </p:nvCxnSpPr>
        <p:spPr>
          <a:xfrm>
            <a:off x="899591" y="3649588"/>
            <a:ext cx="7200801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1AB08F2-0F7B-6848-87B1-6C742B0BC329}"/>
              </a:ext>
            </a:extLst>
          </p:cNvPr>
          <p:cNvSpPr/>
          <p:nvPr/>
        </p:nvSpPr>
        <p:spPr>
          <a:xfrm>
            <a:off x="6962351" y="2194479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内存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1C5E3A-E15A-BC4A-A901-D134CAF7A0D2}"/>
              </a:ext>
            </a:extLst>
          </p:cNvPr>
          <p:cNvSpPr/>
          <p:nvPr/>
        </p:nvSpPr>
        <p:spPr>
          <a:xfrm>
            <a:off x="3203848" y="2209426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DMA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控制器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9CAA88-0D07-084D-8DAE-71FEBCAEDE16}"/>
              </a:ext>
            </a:extLst>
          </p:cNvPr>
          <p:cNvSpPr txBox="1"/>
          <p:nvPr/>
        </p:nvSpPr>
        <p:spPr>
          <a:xfrm>
            <a:off x="5745244" y="2572229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b="1" dirty="0">
                <a:latin typeface="+mn-ea"/>
              </a:rPr>
              <a:t>系统总线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F6CAB7-6547-0544-A7BA-760AF1D0C6EC}"/>
              </a:ext>
            </a:extLst>
          </p:cNvPr>
          <p:cNvSpPr txBox="1"/>
          <p:nvPr/>
        </p:nvSpPr>
        <p:spPr>
          <a:xfrm>
            <a:off x="6796388" y="3741149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b="1" dirty="0">
                <a:latin typeface="+mn-ea"/>
              </a:rPr>
              <a:t>设备总线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2AA0C0-1733-A44A-B338-EB24087C552A}"/>
              </a:ext>
            </a:extLst>
          </p:cNvPr>
          <p:cNvSpPr/>
          <p:nvPr/>
        </p:nvSpPr>
        <p:spPr>
          <a:xfrm>
            <a:off x="2123728" y="4256615"/>
            <a:ext cx="1512168" cy="576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外设</a:t>
            </a: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9C47B0F-01A5-0D41-A864-0FC939748FA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32140" y="1432821"/>
            <a:ext cx="0" cy="27531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1E86EC6B-AE98-D14B-9E92-051D68BD296C}"/>
              </a:ext>
            </a:extLst>
          </p:cNvPr>
          <p:cNvCxnSpPr>
            <a:stCxn id="8" idx="2"/>
          </p:cNvCxnSpPr>
          <p:nvPr/>
        </p:nvCxnSpPr>
        <p:spPr>
          <a:xfrm>
            <a:off x="5832140" y="2046080"/>
            <a:ext cx="0" cy="4490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2A8155A-C70E-5749-B64F-E17E2995C6ED}"/>
              </a:ext>
            </a:extLst>
          </p:cNvPr>
          <p:cNvCxnSpPr>
            <a:stCxn id="16" idx="2"/>
          </p:cNvCxnSpPr>
          <p:nvPr/>
        </p:nvCxnSpPr>
        <p:spPr>
          <a:xfrm>
            <a:off x="3959932" y="2785491"/>
            <a:ext cx="0" cy="86639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9C685E16-1913-9743-9134-46F87F20B6AB}"/>
              </a:ext>
            </a:extLst>
          </p:cNvPr>
          <p:cNvCxnSpPr>
            <a:stCxn id="19" idx="0"/>
          </p:cNvCxnSpPr>
          <p:nvPr/>
        </p:nvCxnSpPr>
        <p:spPr>
          <a:xfrm flipV="1">
            <a:off x="2879812" y="3649588"/>
            <a:ext cx="0" cy="6070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DB06B5C1-7E62-AE47-A016-515EA4C5B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894" y="960700"/>
            <a:ext cx="2550859" cy="6301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1.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驱动发出请求</a:t>
            </a:r>
            <a:r>
              <a:rPr kumimoji="1" lang="zh-CN" altLang="en-US" sz="1600" dirty="0">
                <a:latin typeface="+mn-ea"/>
                <a:ea typeface="+mn-ea"/>
              </a:rPr>
              <a:t>：</a:t>
            </a:r>
            <a:r>
              <a:rPr kumimoji="1" lang="zh-CN" altLang="en-US" sz="1600" b="0" dirty="0">
                <a:latin typeface="+mn-ea"/>
                <a:ea typeface="+mn-ea"/>
              </a:rPr>
              <a:t>将外设数据读至内存地址</a:t>
            </a:r>
            <a:r>
              <a:rPr kumimoji="1" lang="en-US" altLang="zh-CN" sz="1600" b="0" dirty="0">
                <a:latin typeface="+mn-ea"/>
                <a:ea typeface="+mn-ea"/>
              </a:rPr>
              <a:t>X</a:t>
            </a:r>
          </a:p>
          <a:p>
            <a:pPr marL="0" indent="0">
              <a:buNone/>
            </a:pPr>
            <a:endParaRPr kumimoji="1" lang="en-US" altLang="zh-CN" sz="1600" b="0" dirty="0">
              <a:latin typeface="+mn-ea"/>
              <a:ea typeface="+mn-ea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A0D8DC22-C239-4348-B2D9-9C4103589A02}"/>
              </a:ext>
            </a:extLst>
          </p:cNvPr>
          <p:cNvSpPr txBox="1">
            <a:spLocks/>
          </p:cNvSpPr>
          <p:nvPr/>
        </p:nvSpPr>
        <p:spPr>
          <a:xfrm>
            <a:off x="3698429" y="4146642"/>
            <a:ext cx="3249825" cy="814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2.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外设初始化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传递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3.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外设传送数据到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控制器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B1A32ABF-964B-5C4A-A731-B688CE5E1679}"/>
              </a:ext>
            </a:extLst>
          </p:cNvPr>
          <p:cNvSpPr txBox="1">
            <a:spLocks/>
          </p:cNvSpPr>
          <p:nvPr/>
        </p:nvSpPr>
        <p:spPr>
          <a:xfrm>
            <a:off x="107511" y="2187715"/>
            <a:ext cx="3043003" cy="1101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4.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将数据传至内存地址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X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5.</a:t>
            </a:r>
            <a:r>
              <a:rPr kumimoji="1" lang="zh-CN" altLang="en-US" sz="1600" dirty="0"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控制器完成传输后，对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发出中断，通知传输完成</a:t>
            </a:r>
            <a:endParaRPr kumimoji="1"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947E6080-765E-2C46-B292-FD064FE3F43C}"/>
              </a:ext>
            </a:extLst>
          </p:cNvPr>
          <p:cNvSpPr txBox="1">
            <a:spLocks/>
          </p:cNvSpPr>
          <p:nvPr/>
        </p:nvSpPr>
        <p:spPr>
          <a:xfrm>
            <a:off x="6729526" y="963578"/>
            <a:ext cx="2306970" cy="1101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1600" dirty="0">
                <a:latin typeface="+mn-ea"/>
                <a:ea typeface="+mn-ea"/>
              </a:rPr>
              <a:t>6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.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  <a:ea typeface="+mn-ea"/>
              </a:rPr>
              <a:t>收到中断</a:t>
            </a:r>
            <a:r>
              <a:rPr kumimoji="1" lang="zh-CN" altLang="en-US" sz="1600" dirty="0">
                <a:latin typeface="+mn-ea"/>
                <a:ea typeface="+mn-ea"/>
              </a:rPr>
              <a:t>：</a:t>
            </a:r>
            <a:r>
              <a:rPr kumimoji="1" lang="zh-CN" altLang="en-US" sz="1600" b="0" dirty="0">
                <a:latin typeface="+mn-ea"/>
                <a:ea typeface="+mn-ea"/>
              </a:rPr>
              <a:t>调用驱动中断处理函数</a:t>
            </a:r>
            <a:endParaRPr kumimoji="1" lang="en-US" altLang="zh-CN" sz="16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22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8" grpId="0" build="p"/>
      <p:bldP spid="29" grpId="0" build="p"/>
      <p:bldP spid="30" grpId="0" build="p"/>
      <p:bldP spid="3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1C97-AEE2-B245-B6B4-4C54DBBE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CPU访问设备方式小结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6FC37-BC8D-7F41-AB33-9A5E4CD1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MMIO </a:t>
            </a:r>
          </a:p>
          <a:p>
            <a:pPr lvl="1"/>
            <a:r>
              <a:rPr lang="zh-CN" altLang="en-US" dirty="0"/>
              <a:t>将设备寄存器映射到物理地址空间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通过读写设备寄存器操作设备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DMA</a:t>
            </a:r>
          </a:p>
          <a:p>
            <a:pPr lvl="1"/>
            <a:r>
              <a:rPr lang="en-US" altLang="zh-CN" dirty="0" err="1"/>
              <a:t>设备使用物理地址访问内存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思考：如何保证设备访存的安全性？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EF2DAD-8803-DD4B-8653-2E618CEA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C0322-4639-9842-BD09-EF63D13B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36">
            <a:extLst>
              <a:ext uri="{FF2B5EF4-FFF2-40B4-BE49-F238E27FC236}">
                <a16:creationId xmlns:a16="http://schemas.microsoft.com/office/drawing/2014/main" id="{CE168B79-2F0B-CA43-950D-796E5A02BDE9}"/>
              </a:ext>
            </a:extLst>
          </p:cNvPr>
          <p:cNvSpPr/>
          <p:nvPr/>
        </p:nvSpPr>
        <p:spPr bwMode="auto">
          <a:xfrm>
            <a:off x="5868144" y="1921396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CPU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36">
            <a:extLst>
              <a:ext uri="{FF2B5EF4-FFF2-40B4-BE49-F238E27FC236}">
                <a16:creationId xmlns:a16="http://schemas.microsoft.com/office/drawing/2014/main" id="{C5577BF0-B7F9-3647-9EC3-B123FA88EEF1}"/>
              </a:ext>
            </a:extLst>
          </p:cNvPr>
          <p:cNvSpPr/>
          <p:nvPr/>
        </p:nvSpPr>
        <p:spPr bwMode="auto">
          <a:xfrm>
            <a:off x="4644008" y="3781602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内存</a:t>
            </a:r>
          </a:p>
        </p:txBody>
      </p:sp>
      <p:sp>
        <p:nvSpPr>
          <p:cNvPr id="8" name="矩形 36">
            <a:extLst>
              <a:ext uri="{FF2B5EF4-FFF2-40B4-BE49-F238E27FC236}">
                <a16:creationId xmlns:a16="http://schemas.microsoft.com/office/drawing/2014/main" id="{EE4CF984-D57B-634E-8663-817DBC6F476B}"/>
              </a:ext>
            </a:extLst>
          </p:cNvPr>
          <p:cNvSpPr/>
          <p:nvPr/>
        </p:nvSpPr>
        <p:spPr bwMode="auto">
          <a:xfrm>
            <a:off x="7092280" y="3781602"/>
            <a:ext cx="1368747" cy="660073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I/O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</a:t>
            </a:r>
          </a:p>
        </p:txBody>
      </p:sp>
      <p:cxnSp>
        <p:nvCxnSpPr>
          <p:cNvPr id="9" name="Straight Arrow Connector 9">
            <a:extLst>
              <a:ext uri="{FF2B5EF4-FFF2-40B4-BE49-F238E27FC236}">
                <a16:creationId xmlns:a16="http://schemas.microsoft.com/office/drawing/2014/main" id="{0C16D2A8-2A35-B04E-99FB-1506A8526688}"/>
              </a:ext>
            </a:extLst>
          </p:cNvPr>
          <p:cNvCxnSpPr>
            <a:stCxn id="7" idx="0"/>
          </p:cNvCxnSpPr>
          <p:nvPr/>
        </p:nvCxnSpPr>
        <p:spPr>
          <a:xfrm flipV="1">
            <a:off x="5328382" y="2581472"/>
            <a:ext cx="972107" cy="1200130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0">
            <a:extLst>
              <a:ext uri="{FF2B5EF4-FFF2-40B4-BE49-F238E27FC236}">
                <a16:creationId xmlns:a16="http://schemas.microsoft.com/office/drawing/2014/main" id="{57F59E8E-A548-2F4C-BE0C-7071EC1BF75C}"/>
              </a:ext>
            </a:extLst>
          </p:cNvPr>
          <p:cNvCxnSpPr>
            <a:endCxn id="8" idx="0"/>
          </p:cNvCxnSpPr>
          <p:nvPr/>
        </p:nvCxnSpPr>
        <p:spPr>
          <a:xfrm>
            <a:off x="6804545" y="2581470"/>
            <a:ext cx="972109" cy="1200132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D4AC6B8F-E33F-5F40-BF52-85B25846595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12755" y="4111639"/>
            <a:ext cx="1079525" cy="0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51">
            <a:extLst>
              <a:ext uri="{FF2B5EF4-FFF2-40B4-BE49-F238E27FC236}">
                <a16:creationId xmlns:a16="http://schemas.microsoft.com/office/drawing/2014/main" id="{3ADE9D5C-52E3-9941-8DD0-B139EBAAFD53}"/>
              </a:ext>
            </a:extLst>
          </p:cNvPr>
          <p:cNvSpPr/>
          <p:nvPr/>
        </p:nvSpPr>
        <p:spPr>
          <a:xfrm>
            <a:off x="4780987" y="2906025"/>
            <a:ext cx="10871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load/store</a:t>
            </a:r>
            <a:endParaRPr lang="en-US" sz="16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ectangle 52">
            <a:extLst>
              <a:ext uri="{FF2B5EF4-FFF2-40B4-BE49-F238E27FC236}">
                <a16:creationId xmlns:a16="http://schemas.microsoft.com/office/drawing/2014/main" id="{F84ABC21-52A1-6446-A4A3-2A2507BE7FC1}"/>
              </a:ext>
            </a:extLst>
          </p:cNvPr>
          <p:cNvSpPr/>
          <p:nvPr/>
        </p:nvSpPr>
        <p:spPr>
          <a:xfrm>
            <a:off x="7467451" y="2696836"/>
            <a:ext cx="156904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MMIO</a:t>
            </a:r>
            <a:r>
              <a:rPr lang="zh-CN" alt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(load/store) 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</a:p>
          <a:p>
            <a:r>
              <a:rPr 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PIO</a:t>
            </a:r>
            <a:r>
              <a:rPr lang="zh-CN" altLang="en-US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(in/out)</a:t>
            </a:r>
            <a:endParaRPr lang="zh-CN" altLang="en-US"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Rectangle 53">
            <a:extLst>
              <a:ext uri="{FF2B5EF4-FFF2-40B4-BE49-F238E27FC236}">
                <a16:creationId xmlns:a16="http://schemas.microsoft.com/office/drawing/2014/main" id="{6CD67D9A-FC2C-DD4A-9500-111F4E9E162A}"/>
              </a:ext>
            </a:extLst>
          </p:cNvPr>
          <p:cNvSpPr/>
          <p:nvPr/>
        </p:nvSpPr>
        <p:spPr>
          <a:xfrm>
            <a:off x="6218951" y="3781602"/>
            <a:ext cx="6399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DMA</a:t>
            </a:r>
          </a:p>
        </p:txBody>
      </p:sp>
    </p:spTree>
    <p:extLst>
      <p:ext uri="{BB962C8B-B14F-4D97-AF65-F5344CB8AC3E}">
        <p14:creationId xmlns:p14="http://schemas.microsoft.com/office/powerpoint/2010/main" val="410382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F75C2-7C6B-DF4C-8529-36D4EC12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IOMMU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0F282-4775-BA46-AE6E-F6024C5B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避免设备直接使用物理地址访问内存</a:t>
            </a:r>
          </a:p>
          <a:p>
            <a:pPr lvl="1"/>
            <a:r>
              <a:rPr kumimoji="1" lang="zh-CN" altLang="en-US" dirty="0"/>
              <a:t>设备所使用的地址，由</a:t>
            </a:r>
            <a:r>
              <a:rPr kumimoji="1" lang="en" altLang="zh-CN" dirty="0"/>
              <a:t>IOMMU</a:t>
            </a:r>
            <a:r>
              <a:rPr kumimoji="1" lang="zh-CN" altLang="en-US" dirty="0"/>
              <a:t>翻译为实际的物理地址</a:t>
            </a:r>
          </a:p>
          <a:p>
            <a:pPr lvl="1"/>
            <a:r>
              <a:rPr kumimoji="1" lang="zh-CN" altLang="en-US" dirty="0"/>
              <a:t>广泛应用于虚拟机场景中（允许虚拟机独占某个设备）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EFF887-1F1F-7740-9C7F-D098E0D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35EBA4-ACA2-254F-978C-25B710961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130FCB-F263-1A4D-8C89-D9B9E15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44" y="2766008"/>
            <a:ext cx="5814711" cy="24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49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66DB5-EEE3-7241-B74C-A9C3785E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的内存一致性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41EC9-00A6-A047-A0EC-103DCACF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现代处理器通常带有高速缓存（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当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发生时，</a:t>
            </a:r>
            <a:r>
              <a:rPr kumimoji="1" lang="en-US" altLang="zh-CN" dirty="0"/>
              <a:t>DMA</a:t>
            </a:r>
            <a:r>
              <a:rPr kumimoji="1" lang="zh-CN" altLang="en-US" dirty="0"/>
              <a:t>缓冲区的数据仍在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中怎么办？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解决方法：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方案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：将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区域映射为</a:t>
            </a:r>
            <a:r>
              <a:rPr kumimoji="1" lang="en-US" altLang="zh-CN" dirty="0"/>
              <a:t>non-cacheable</a:t>
            </a:r>
          </a:p>
          <a:p>
            <a:pPr lvl="1"/>
            <a:r>
              <a:rPr kumimoji="1" lang="zh-CN" altLang="en-US" dirty="0"/>
              <a:t>方案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：由软件负责维护一致性，软件主动刷缓存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部分架构在硬件上保证了</a:t>
            </a:r>
            <a:r>
              <a:rPr kumimoji="1" lang="en-US" altLang="zh-CN" dirty="0"/>
              <a:t>DMA</a:t>
            </a:r>
            <a:r>
              <a:rPr kumimoji="1" lang="zh-CN" altLang="en-US" dirty="0"/>
              <a:t>一致性，如总线监视技术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B40C6D-C981-754C-88A8-86EA7003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886A6-B924-B641-8DA4-E9DEA9598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28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中断与中断响应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设备通知</a:t>
            </a:r>
            <a:r>
              <a:rPr lang="en-US" altLang="zh-CN" dirty="0"/>
              <a:t>CPU</a:t>
            </a:r>
            <a:r>
              <a:rPr lang="zh-CN" altLang="en-US" dirty="0"/>
              <a:t>的方式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36DEED-77B5-9B83-E6A6-3815DBF672B9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47E1A52-E2DD-633B-24C5-4067AEB5A7D9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CA19FB-F69C-9654-1CC8-78E2295C12E4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7CAF353-689D-59DD-536D-F11810E5233B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3E86D93-D14E-3EF5-246E-424076418033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7BE40C-F948-D434-4D21-F4C7DB7F1652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4D7592C-2AD4-9618-AF68-45EAB9DE6492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9C637FB1-802E-85C9-78D6-19880E42CA53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A277FFBF-AE54-29F8-252C-F6E405C75068}"/>
              </a:ext>
            </a:extLst>
          </p:cNvPr>
          <p:cNvSpPr/>
          <p:nvPr/>
        </p:nvSpPr>
        <p:spPr>
          <a:xfrm flipH="1">
            <a:off x="8063434" y="3752944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45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CE296-7F0A-4549-8F30-6BD27DCE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中断处理流程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D0CB8-B963-6445-9FEC-C0110BA0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FBDB5-B6AF-F343-9FC8-F4254CEF0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20668B-EC4B-534F-9FE0-350249B1DA05}"/>
              </a:ext>
            </a:extLst>
          </p:cNvPr>
          <p:cNvSpPr/>
          <p:nvPr/>
        </p:nvSpPr>
        <p:spPr>
          <a:xfrm>
            <a:off x="1619671" y="1558897"/>
            <a:ext cx="2520280" cy="38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初始化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请求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B7AB47-0DEE-E844-BD32-93653A2301F7}"/>
              </a:ext>
            </a:extLst>
          </p:cNvPr>
          <p:cNvSpPr/>
          <p:nvPr/>
        </p:nvSpPr>
        <p:spPr>
          <a:xfrm>
            <a:off x="5364088" y="1921396"/>
            <a:ext cx="2592288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初始化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设备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A904B1-AC93-BC4B-8424-E999961D1FA0}"/>
              </a:ext>
            </a:extLst>
          </p:cNvPr>
          <p:cNvSpPr txBox="1"/>
          <p:nvPr/>
        </p:nvSpPr>
        <p:spPr>
          <a:xfrm>
            <a:off x="2515833" y="113823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345BA8-00ED-6A46-A46C-53E1F26C369E}"/>
              </a:ext>
            </a:extLst>
          </p:cNvPr>
          <p:cNvSpPr txBox="1"/>
          <p:nvPr/>
        </p:nvSpPr>
        <p:spPr>
          <a:xfrm>
            <a:off x="6006046" y="1138238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控制器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BE3494-D3B7-644D-928C-0B56B659EAC2}"/>
              </a:ext>
            </a:extLst>
          </p:cNvPr>
          <p:cNvSpPr/>
          <p:nvPr/>
        </p:nvSpPr>
        <p:spPr>
          <a:xfrm>
            <a:off x="5364087" y="2992705"/>
            <a:ext cx="2592288" cy="923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I/O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操作完成，或出错</a:t>
            </a:r>
            <a:endParaRPr kumimoji="1" lang="en-US" altLang="zh-CN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产生中断请求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D003AC-2336-604A-AFD3-910B7C73CCCB}"/>
              </a:ext>
            </a:extLst>
          </p:cNvPr>
          <p:cNvSpPr txBox="1"/>
          <p:nvPr/>
        </p:nvSpPr>
        <p:spPr>
          <a:xfrm>
            <a:off x="1619671" y="2262272"/>
            <a:ext cx="2520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400" dirty="0">
                <a:latin typeface="DengXian" panose="02010600030101010101" pitchFamily="2" charset="-122"/>
                <a:ea typeface="DengXian" panose="02010600030101010101" pitchFamily="2" charset="-122"/>
              </a:rPr>
              <a:t>在执行每条指令后都检查</a:t>
            </a:r>
            <a:endParaRPr kumimoji="1" lang="en-US" altLang="zh-CN" sz="1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400" dirty="0">
                <a:latin typeface="DengXian" panose="02010600030101010101" pitchFamily="2" charset="-122"/>
                <a:ea typeface="DengXian" panose="02010600030101010101" pitchFamily="2" charset="-122"/>
              </a:rPr>
              <a:t>中断请求是否到来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975335-D1EF-CB47-8FC4-AA0D89DE040F}"/>
              </a:ext>
            </a:extLst>
          </p:cNvPr>
          <p:cNvSpPr/>
          <p:nvPr/>
        </p:nvSpPr>
        <p:spPr>
          <a:xfrm>
            <a:off x="1619671" y="3135890"/>
            <a:ext cx="2520279" cy="585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收到中断</a:t>
            </a:r>
            <a:endParaRPr kumimoji="1" lang="en-US" altLang="zh-CN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调用对应</a:t>
            </a:r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ISR</a:t>
            </a:r>
            <a:endParaRPr kumimoji="1" lang="zh-CN" altLang="en-US" sz="1600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39EFC7-11E0-EC49-B60F-77F7E2DA06CF}"/>
              </a:ext>
            </a:extLst>
          </p:cNvPr>
          <p:cNvSpPr/>
          <p:nvPr/>
        </p:nvSpPr>
        <p:spPr>
          <a:xfrm>
            <a:off x="1619671" y="4009628"/>
            <a:ext cx="2520279" cy="366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ISR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完成中断处理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E3536E-CC1F-B447-A495-56B11A289435}"/>
              </a:ext>
            </a:extLst>
          </p:cNvPr>
          <p:cNvSpPr/>
          <p:nvPr/>
        </p:nvSpPr>
        <p:spPr>
          <a:xfrm>
            <a:off x="1619671" y="4618505"/>
            <a:ext cx="2520279" cy="366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kumimoji="1" lang="zh-CN" altLang="en-US" sz="1600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恢复被中断任务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C8D40F0A-0991-764C-A089-C51FF82F406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139951" y="1749473"/>
            <a:ext cx="1224136" cy="459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7AFED3B5-4F4A-D141-96A7-FAD57F6F8CC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6660231" y="2425452"/>
            <a:ext cx="1" cy="5672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32D7406-3B51-1C41-BD37-303262D8DC26}"/>
              </a:ext>
            </a:extLst>
          </p:cNvPr>
          <p:cNvCxnSpPr>
            <a:cxnSpLocks/>
            <a:stCxn id="10" idx="1"/>
            <a:endCxn id="13" idx="3"/>
          </p:cNvCxnSpPr>
          <p:nvPr/>
        </p:nvCxnSpPr>
        <p:spPr>
          <a:xfrm flipH="1" flipV="1">
            <a:off x="4139950" y="3428743"/>
            <a:ext cx="1224137" cy="255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E2069AA-DF62-C54B-AC36-577BD39F4AEA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2879811" y="1940048"/>
            <a:ext cx="0" cy="322224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7A2BB98E-D4CE-B341-8241-F0E2F4784736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879811" y="2785492"/>
            <a:ext cx="0" cy="350398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86AC20E8-56B9-6445-A88E-97C05812BBAF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2879811" y="3721596"/>
            <a:ext cx="0" cy="2880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76799C56-1DB0-1146-B63C-D01595160426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2879811" y="4376050"/>
            <a:ext cx="0" cy="242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7421E363-21D5-1946-A7A2-7C89918AAA22}"/>
              </a:ext>
            </a:extLst>
          </p:cNvPr>
          <p:cNvCxnSpPr>
            <a:stCxn id="15" idx="1"/>
            <a:endCxn id="6" idx="1"/>
          </p:cNvCxnSpPr>
          <p:nvPr/>
        </p:nvCxnSpPr>
        <p:spPr>
          <a:xfrm rot="10800000">
            <a:off x="1619671" y="1749474"/>
            <a:ext cx="12700" cy="3052243"/>
          </a:xfrm>
          <a:prstGeom prst="bentConnector3">
            <a:avLst>
              <a:gd name="adj1" fmla="val 533898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93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869EE-9459-4D83-A6DE-BBB90295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AArch64</a:t>
            </a:r>
            <a:r>
              <a:rPr lang="zh-CN" altLang="en-US" dirty="0"/>
              <a:t>的中断分类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77275-0F8C-438D-87E0-269911A24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IRQ</a:t>
            </a:r>
            <a:r>
              <a:rPr lang="zh-CN" altLang="en-US" dirty="0"/>
              <a:t>（</a:t>
            </a:r>
            <a:r>
              <a:rPr lang="en-US" altLang="zh-CN" dirty="0"/>
              <a:t>Interrupt Request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普通中断，优先级低，处理慢</a:t>
            </a:r>
            <a:endParaRPr lang="en-US" altLang="zh-CN" b="0" dirty="0"/>
          </a:p>
          <a:p>
            <a:r>
              <a:rPr lang="en-US" altLang="zh-CN" dirty="0"/>
              <a:t>FIQ</a:t>
            </a:r>
            <a:r>
              <a:rPr lang="zh-CN" altLang="en-US" dirty="0"/>
              <a:t>（</a:t>
            </a:r>
            <a:r>
              <a:rPr lang="en-US" altLang="zh-CN" dirty="0"/>
              <a:t>Fast Interrupt Request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一次只能有一个</a:t>
            </a:r>
            <a:r>
              <a:rPr lang="en-US" altLang="zh-CN" dirty="0"/>
              <a:t>FIQ</a:t>
            </a:r>
          </a:p>
          <a:p>
            <a:pPr lvl="1"/>
            <a:r>
              <a:rPr lang="zh-CN" altLang="en-US" dirty="0"/>
              <a:t>快速中断，优先级高，处理快</a:t>
            </a:r>
            <a:endParaRPr lang="en-US" altLang="zh-CN" dirty="0"/>
          </a:p>
          <a:p>
            <a:pPr lvl="1"/>
            <a:r>
              <a:rPr lang="zh-CN" altLang="en-US" dirty="0"/>
              <a:t>常为可信任的中断源预留</a:t>
            </a:r>
            <a:endParaRPr lang="en-US" altLang="zh-CN" b="0" dirty="0"/>
          </a:p>
          <a:p>
            <a:r>
              <a:rPr lang="en-US" altLang="zh-CN" dirty="0" err="1"/>
              <a:t>SError</a:t>
            </a:r>
            <a:r>
              <a:rPr lang="zh-CN" altLang="en-US" dirty="0"/>
              <a:t>（</a:t>
            </a:r>
            <a:r>
              <a:rPr lang="en-US" altLang="zh-CN" dirty="0"/>
              <a:t>System Error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原因难以定位、较难处理的异常，多由异步中止（</a:t>
            </a:r>
            <a:r>
              <a:rPr lang="en-US" altLang="zh-CN" dirty="0"/>
              <a:t>Abort</a:t>
            </a:r>
            <a:r>
              <a:rPr lang="zh-CN" altLang="en-US" dirty="0"/>
              <a:t>）导致</a:t>
            </a:r>
            <a:endParaRPr lang="en-US" altLang="zh-CN" dirty="0"/>
          </a:p>
          <a:p>
            <a:pPr lvl="1"/>
            <a:r>
              <a:rPr lang="zh-CN" altLang="en-US" dirty="0"/>
              <a:t>如从缓存行（</a:t>
            </a:r>
            <a:r>
              <a:rPr lang="en-US" altLang="zh-CN" dirty="0" err="1"/>
              <a:t>Cacheline</a:t>
            </a:r>
            <a:r>
              <a:rPr lang="zh-CN" altLang="en-US" dirty="0"/>
              <a:t>）写回至内存时发生的异常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F650D0-5DA8-4E2D-89E2-C540FB80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2EC64823-4216-48C5-AEA4-C04DA5A3B101}"/>
              </a:ext>
            </a:extLst>
          </p:cNvPr>
          <p:cNvSpPr/>
          <p:nvPr/>
        </p:nvSpPr>
        <p:spPr>
          <a:xfrm>
            <a:off x="4891275" y="1489348"/>
            <a:ext cx="297554" cy="2100063"/>
          </a:xfrm>
          <a:prstGeom prst="rightBrace">
            <a:avLst>
              <a:gd name="adj1" fmla="val 61801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8C3FBB-5C59-4C02-9B6E-35B61B09EB0C}"/>
              </a:ext>
            </a:extLst>
          </p:cNvPr>
          <p:cNvSpPr txBox="1"/>
          <p:nvPr/>
        </p:nvSpPr>
        <p:spPr>
          <a:xfrm>
            <a:off x="5425352" y="1786063"/>
            <a:ext cx="2987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连接</a:t>
            </a:r>
            <a:r>
              <a:rPr lang="en-US" altLang="zh-CN" dirty="0"/>
              <a:t>CPU</a:t>
            </a:r>
            <a:r>
              <a:rPr lang="zh-CN" altLang="en-US" dirty="0"/>
              <a:t>的不同针脚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可在</a:t>
            </a:r>
            <a:r>
              <a:rPr lang="zh-CN" altLang="en-US" dirty="0">
                <a:solidFill>
                  <a:srgbClr val="C00000"/>
                </a:solidFill>
              </a:rPr>
              <a:t>中断控制器</a:t>
            </a:r>
            <a:r>
              <a:rPr lang="zh-CN" altLang="en-US" dirty="0"/>
              <a:t>（</a:t>
            </a:r>
            <a:r>
              <a:rPr lang="en-US" altLang="zh-CN" dirty="0"/>
              <a:t>Interrupt Controller</a:t>
            </a:r>
            <a:r>
              <a:rPr lang="zh-CN" altLang="en-US" dirty="0"/>
              <a:t>）中配置</a:t>
            </a:r>
          </a:p>
        </p:txBody>
      </p:sp>
    </p:spTree>
    <p:extLst>
      <p:ext uri="{BB962C8B-B14F-4D97-AF65-F5344CB8AC3E}">
        <p14:creationId xmlns:p14="http://schemas.microsoft.com/office/powerpoint/2010/main" val="2537261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92804975-65D4-C24C-9ABA-12EF8E692C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8731" y="3588717"/>
            <a:ext cx="490833" cy="58158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06D7CA-D179-6B41-A063-5AB1B116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问题：多核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如何处理中断？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8E473-57A5-7246-A6D3-40430E3C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如何避免中断一次性打断所有核呢？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D7C84-EBD3-FB4A-8D3A-34A5FF87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60E12-3519-1942-9EF8-1C9FAB2EE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F04C7F-4C31-C848-93E8-A661D960CDAD}"/>
              </a:ext>
            </a:extLst>
          </p:cNvPr>
          <p:cNvSpPr/>
          <p:nvPr/>
        </p:nvSpPr>
        <p:spPr>
          <a:xfrm>
            <a:off x="1286111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0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1F4D7B-D968-5943-BA20-1DE997F5B68B}"/>
              </a:ext>
            </a:extLst>
          </p:cNvPr>
          <p:cNvSpPr/>
          <p:nvPr/>
        </p:nvSpPr>
        <p:spPr>
          <a:xfrm>
            <a:off x="3002043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1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89A204-D6DA-C149-A2D7-B55295DE142F}"/>
              </a:ext>
            </a:extLst>
          </p:cNvPr>
          <p:cNvSpPr/>
          <p:nvPr/>
        </p:nvSpPr>
        <p:spPr>
          <a:xfrm>
            <a:off x="4874251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2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8B136A-47AA-6A46-B3BE-18774C40578A}"/>
              </a:ext>
            </a:extLst>
          </p:cNvPr>
          <p:cNvSpPr/>
          <p:nvPr/>
        </p:nvSpPr>
        <p:spPr>
          <a:xfrm>
            <a:off x="6746459" y="2281436"/>
            <a:ext cx="1065901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Core</a:t>
            </a:r>
            <a:r>
              <a:rPr kumimoji="1" lang="zh-CN" altLang="en-US" sz="1620" dirty="0">
                <a:solidFill>
                  <a:schemeClr val="tx1"/>
                </a:solidFill>
              </a:rPr>
              <a:t> </a:t>
            </a:r>
            <a:r>
              <a:rPr kumimoji="1" lang="en-US" altLang="zh-CN" sz="1620" dirty="0">
                <a:solidFill>
                  <a:schemeClr val="tx1"/>
                </a:solidFill>
              </a:rPr>
              <a:t>3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43586768-A278-174C-B262-408C58FBA940}"/>
              </a:ext>
            </a:extLst>
          </p:cNvPr>
          <p:cNvCxnSpPr>
            <a:cxnSpLocks/>
          </p:cNvCxnSpPr>
          <p:nvPr/>
        </p:nvCxnSpPr>
        <p:spPr>
          <a:xfrm>
            <a:off x="755576" y="3568192"/>
            <a:ext cx="7632848" cy="0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300567F-7528-B244-BFFF-8FB651473992}"/>
              </a:ext>
            </a:extLst>
          </p:cNvPr>
          <p:cNvCxnSpPr>
            <a:cxnSpLocks/>
          </p:cNvCxnSpPr>
          <p:nvPr/>
        </p:nvCxnSpPr>
        <p:spPr>
          <a:xfrm>
            <a:off x="1835696" y="2622700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687BEA7-CBFA-DF40-A74E-FE12C38058CA}"/>
              </a:ext>
            </a:extLst>
          </p:cNvPr>
          <p:cNvCxnSpPr>
            <a:cxnSpLocks/>
          </p:cNvCxnSpPr>
          <p:nvPr/>
        </p:nvCxnSpPr>
        <p:spPr>
          <a:xfrm>
            <a:off x="3563888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09E6AC9-9B59-B64E-B3E2-057467114C73}"/>
              </a:ext>
            </a:extLst>
          </p:cNvPr>
          <p:cNvCxnSpPr>
            <a:cxnSpLocks/>
          </p:cNvCxnSpPr>
          <p:nvPr/>
        </p:nvCxnSpPr>
        <p:spPr>
          <a:xfrm>
            <a:off x="5436096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6E7264-A7C7-2C47-A1D9-DFD364A32E04}"/>
              </a:ext>
            </a:extLst>
          </p:cNvPr>
          <p:cNvCxnSpPr>
            <a:cxnSpLocks/>
          </p:cNvCxnSpPr>
          <p:nvPr/>
        </p:nvCxnSpPr>
        <p:spPr>
          <a:xfrm>
            <a:off x="7308304" y="2632088"/>
            <a:ext cx="0" cy="945492"/>
          </a:xfrm>
          <a:prstGeom prst="straightConnector1">
            <a:avLst/>
          </a:prstGeom>
          <a:ln w="889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A3C0964-325F-494F-91E5-D865DBDD5C74}"/>
              </a:ext>
            </a:extLst>
          </p:cNvPr>
          <p:cNvSpPr/>
          <p:nvPr/>
        </p:nvSpPr>
        <p:spPr>
          <a:xfrm>
            <a:off x="2888929" y="4585692"/>
            <a:ext cx="1224136" cy="393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Device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BE56626A-3087-C34D-814E-CDAD68F3FEC3}"/>
              </a:ext>
            </a:extLst>
          </p:cNvPr>
          <p:cNvCxnSpPr>
            <a:cxnSpLocks/>
            <a:stCxn id="16" idx="3"/>
            <a:endCxn id="28" idx="2"/>
          </p:cNvCxnSpPr>
          <p:nvPr/>
        </p:nvCxnSpPr>
        <p:spPr>
          <a:xfrm flipV="1">
            <a:off x="4113065" y="4389064"/>
            <a:ext cx="727924" cy="39360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19ED30E-5A22-8543-8B74-C8E7F4F8C992}"/>
              </a:ext>
            </a:extLst>
          </p:cNvPr>
          <p:cNvSpPr txBox="1"/>
          <p:nvPr/>
        </p:nvSpPr>
        <p:spPr>
          <a:xfrm>
            <a:off x="5015059" y="4389064"/>
            <a:ext cx="1850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应该交给</a:t>
            </a:r>
            <a:endParaRPr kumimoji="1" lang="en-US" altLang="zh-CN" sz="1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哪个</a:t>
            </a:r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Core</a:t>
            </a:r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执行呢？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C925F8-82A1-014A-A160-6D44BF1464B7}"/>
              </a:ext>
            </a:extLst>
          </p:cNvPr>
          <p:cNvSpPr/>
          <p:nvPr/>
        </p:nvSpPr>
        <p:spPr>
          <a:xfrm>
            <a:off x="4308038" y="4077746"/>
            <a:ext cx="1065901" cy="31131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20" dirty="0">
                <a:solidFill>
                  <a:schemeClr val="tx1"/>
                </a:solidFill>
              </a:rPr>
              <a:t>GIC</a:t>
            </a:r>
            <a:endParaRPr kumimoji="1" lang="zh-CN" altLang="en-US" sz="1620" dirty="0">
              <a:solidFill>
                <a:schemeClr val="tx1"/>
              </a:solidFill>
            </a:endParaRPr>
          </a:p>
        </p:txBody>
      </p: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BB11BC49-552A-514B-8D6A-1BBC9FE267F9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1835692" y="3568193"/>
            <a:ext cx="2472346" cy="66521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949711D-9F2B-2D42-B015-66347C14E98A}"/>
              </a:ext>
            </a:extLst>
          </p:cNvPr>
          <p:cNvSpPr txBox="1"/>
          <p:nvPr/>
        </p:nvSpPr>
        <p:spPr>
          <a:xfrm>
            <a:off x="4283535" y="4814031"/>
            <a:ext cx="527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IRQ</a:t>
            </a:r>
            <a:endParaRPr kumimoji="1" lang="zh-CN" altLang="en-US" sz="1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D4EF3A-5E33-7749-883F-82A752C4CBC2}"/>
              </a:ext>
            </a:extLst>
          </p:cNvPr>
          <p:cNvSpPr txBox="1"/>
          <p:nvPr/>
        </p:nvSpPr>
        <p:spPr>
          <a:xfrm>
            <a:off x="-354563" y="26219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BF684-0724-E44A-AA8C-F91C75B07261}"/>
              </a:ext>
            </a:extLst>
          </p:cNvPr>
          <p:cNvSpPr txBox="1"/>
          <p:nvPr/>
        </p:nvSpPr>
        <p:spPr>
          <a:xfrm>
            <a:off x="4239564" y="3687536"/>
            <a:ext cx="1365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交给 </a:t>
            </a:r>
            <a:r>
              <a:rPr kumimoji="1" lang="en-US" altLang="zh-CN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Core0</a:t>
            </a:r>
            <a:r>
              <a:rPr kumimoji="1" lang="zh-CN" altLang="en-US" sz="1600" b="1" dirty="0">
                <a:latin typeface="DengXian" panose="02010600030101010101" pitchFamily="2" charset="-122"/>
                <a:ea typeface="DengXian" panose="02010600030101010101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269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  <p:bldP spid="41" grpId="0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D8021C3-E4C1-6241-BA6D-F7FBD86447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624" y="1068117"/>
            <a:ext cx="6623414" cy="453311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E3977A5-276C-B042-80CF-C5726CCB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中断控制器</a:t>
            </a:r>
            <a:r>
              <a:rPr kumimoji="1" lang="en-US" altLang="zh-CN" dirty="0"/>
              <a:t>——GIC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8C4CCD-D04B-5E42-96B2-FE45A006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0D193A-E299-8543-A7CD-322B9DF0D6E9}"/>
              </a:ext>
            </a:extLst>
          </p:cNvPr>
          <p:cNvSpPr/>
          <p:nvPr/>
        </p:nvSpPr>
        <p:spPr>
          <a:xfrm>
            <a:off x="5436096" y="3452923"/>
            <a:ext cx="1440160" cy="93283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D6EA8D-3D08-1346-A4BF-EDFF43EA6AE4}"/>
              </a:ext>
            </a:extLst>
          </p:cNvPr>
          <p:cNvSpPr/>
          <p:nvPr/>
        </p:nvSpPr>
        <p:spPr>
          <a:xfrm>
            <a:off x="4067944" y="1068117"/>
            <a:ext cx="1656184" cy="1573359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759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F6597-E067-F44D-A540-678C6CC4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A6FDC-5E4F-2C4D-B233-CAD4AF69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dirty="0"/>
              <a:t>全写</a:t>
            </a:r>
            <a:r>
              <a:rPr kumimoji="1" lang="zh-CN" altLang="en-US" dirty="0"/>
              <a:t>：</a:t>
            </a:r>
            <a:r>
              <a:rPr kumimoji="1" lang="en" altLang="zh-CN" dirty="0"/>
              <a:t>Generic </a:t>
            </a:r>
            <a:r>
              <a:rPr kumimoji="1" lang="en-US" altLang="zh-CN" dirty="0"/>
              <a:t>I</a:t>
            </a:r>
            <a:r>
              <a:rPr kumimoji="1" lang="en" altLang="zh-CN" dirty="0" err="1"/>
              <a:t>nterrupt</a:t>
            </a:r>
            <a:r>
              <a:rPr kumimoji="1" lang="en" altLang="zh-CN" dirty="0"/>
              <a:t> </a:t>
            </a:r>
            <a:r>
              <a:rPr kumimoji="1" lang="en-US" altLang="zh-CN" dirty="0"/>
              <a:t>Controller</a:t>
            </a:r>
          </a:p>
          <a:p>
            <a:r>
              <a:rPr kumimoji="1" lang="zh-CN" altLang="en-US" dirty="0"/>
              <a:t>组件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Distributor</a:t>
            </a:r>
          </a:p>
          <a:p>
            <a:pPr lvl="1"/>
            <a:r>
              <a:rPr kumimoji="1" lang="zh-CN" altLang="en-US" dirty="0"/>
              <a:t>负责全局中断的分发和管理</a:t>
            </a:r>
            <a:endParaRPr kumimoji="1" lang="en-US" altLang="zh-CN" dirty="0"/>
          </a:p>
          <a:p>
            <a:r>
              <a:rPr kumimoji="1" lang="zh-CN" altLang="en-US" dirty="0"/>
              <a:t>组件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</a:p>
          <a:p>
            <a:pPr lvl="1"/>
            <a:r>
              <a:rPr kumimoji="1" lang="zh-CN" altLang="en-US" dirty="0"/>
              <a:t>类似“门卫”，判断中断是否要发给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处理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E886A5-D8E7-6D40-A5EF-36757A16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FD04E-397B-E04B-AF50-90406FFB7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734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D40CA-8594-C34C-8E45-AEF316D4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1DAA-8607-E34A-9CAA-CA795FB2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D239E7-B327-9F41-9D7A-F90EAA19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内容占位符 6">
            <a:extLst>
              <a:ext uri="{FF2B5EF4-FFF2-40B4-BE49-F238E27FC236}">
                <a16:creationId xmlns:a16="http://schemas.microsoft.com/office/drawing/2014/main" id="{2DCF0659-26CF-1041-A86B-ABD765AD05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503" y="620854"/>
            <a:ext cx="5964881" cy="44845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550F4AA-6148-6542-8903-B1DD1D448325}"/>
              </a:ext>
            </a:extLst>
          </p:cNvPr>
          <p:cNvSpPr/>
          <p:nvPr/>
        </p:nvSpPr>
        <p:spPr>
          <a:xfrm>
            <a:off x="3095836" y="620854"/>
            <a:ext cx="3492388" cy="900442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FA64F-884C-E143-98C1-638817EC8187}"/>
              </a:ext>
            </a:extLst>
          </p:cNvPr>
          <p:cNvSpPr/>
          <p:nvPr/>
        </p:nvSpPr>
        <p:spPr>
          <a:xfrm>
            <a:off x="3275856" y="2641476"/>
            <a:ext cx="3240360" cy="288032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301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B025E-B859-3B49-9F7D-3A82F4C1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Distributor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BE32D-3C45-6445-864C-4AFE49BB7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中断分发器：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将当前最高优先级中断转发给对应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</a:p>
          <a:p>
            <a:r>
              <a:rPr kumimoji="1" lang="zh-CN" altLang="en-US" dirty="0"/>
              <a:t>寄存器：</a:t>
            </a:r>
            <a:r>
              <a:rPr kumimoji="1" lang="en-US" altLang="zh-CN" dirty="0"/>
              <a:t>GIC</a:t>
            </a:r>
            <a:r>
              <a:rPr kumimoji="1" lang="en-US" altLang="zh-CN" u="sng" dirty="0"/>
              <a:t>D</a:t>
            </a:r>
          </a:p>
          <a:p>
            <a:r>
              <a:rPr kumimoji="1" lang="zh-CN" altLang="en-US" dirty="0"/>
              <a:t>作用：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中断使能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中断优先级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中断分组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中断触发方式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中断的目的</a:t>
            </a:r>
            <a:r>
              <a:rPr kumimoji="1" lang="en" altLang="zh-CN" dirty="0"/>
              <a:t>core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00234-F270-A049-8A5E-FDA87AEB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EC2A4-87E6-6343-8896-1D55803B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685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BC480-31BC-3608-B177-AE10D1D9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E3198-D128-F50E-B9E9-E3588937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接口：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" altLang="zh-CN" dirty="0"/>
              <a:t>GICD</a:t>
            </a:r>
            <a:r>
              <a:rPr kumimoji="1" lang="zh-CN" altLang="en-US" dirty="0"/>
              <a:t>发送的中断，通过</a:t>
            </a:r>
            <a:r>
              <a:rPr kumimoji="1" lang="en" altLang="zh-CN" dirty="0"/>
              <a:t>IRQ</a:t>
            </a:r>
            <a:r>
              <a:rPr kumimoji="1" lang="zh-CN" altLang="en-US" dirty="0"/>
              <a:t>中断线发给连接到 </a:t>
            </a:r>
            <a:r>
              <a:rPr kumimoji="1" lang="en-US" altLang="zh-CN" dirty="0"/>
              <a:t>interface</a:t>
            </a:r>
            <a:r>
              <a:rPr kumimoji="1" lang="zh-CN" altLang="en-US" dirty="0"/>
              <a:t> 的</a:t>
            </a:r>
            <a:r>
              <a:rPr kumimoji="1" lang="zh-CN" altLang="en" dirty="0"/>
              <a:t>核心</a:t>
            </a:r>
            <a:endParaRPr kumimoji="1" lang="en" altLang="zh-CN" dirty="0"/>
          </a:p>
          <a:p>
            <a:r>
              <a:rPr kumimoji="1" lang="zh-CN" altLang="en-US" dirty="0"/>
              <a:t>寄存器：</a:t>
            </a:r>
            <a:r>
              <a:rPr kumimoji="1" lang="en-US" altLang="zh-CN" dirty="0"/>
              <a:t>GIC</a:t>
            </a:r>
            <a:r>
              <a:rPr kumimoji="1" lang="en-US" altLang="zh-CN" u="sng" dirty="0"/>
              <a:t>C</a:t>
            </a:r>
            <a:endParaRPr kumimoji="1" lang="en" altLang="zh-CN" u="sng" dirty="0"/>
          </a:p>
          <a:p>
            <a:r>
              <a:rPr kumimoji="1" lang="zh-CN" altLang="en" dirty="0"/>
              <a:t>作用</a:t>
            </a:r>
            <a:r>
              <a:rPr kumimoji="1" lang="zh-CN" altLang="en-US" dirty="0"/>
              <a:t>：</a:t>
            </a:r>
            <a:endParaRPr kumimoji="1" lang="en" altLang="zh-CN" dirty="0"/>
          </a:p>
          <a:p>
            <a:pPr lvl="1"/>
            <a:r>
              <a:rPr kumimoji="1" lang="zh-CN" altLang="en-US" dirty="0"/>
              <a:t>将中断请求发给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配置中断屏蔽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中断确认（</a:t>
            </a:r>
            <a:r>
              <a:rPr kumimoji="1" lang="en" altLang="zh-CN" dirty="0"/>
              <a:t>acknowledging an interrupt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中断完成（</a:t>
            </a:r>
            <a:r>
              <a:rPr kumimoji="1" lang="en" altLang="zh-CN" dirty="0"/>
              <a:t>indicating completion of an interrupt</a:t>
            </a:r>
            <a:r>
              <a:rPr kumimoji="1" lang="zh-CN" altLang="en-US" dirty="0"/>
              <a:t>）</a:t>
            </a:r>
            <a:endParaRPr kumimoji="1" lang="en" altLang="zh-CN" dirty="0"/>
          </a:p>
          <a:p>
            <a:pPr lvl="1"/>
            <a:r>
              <a:rPr kumimoji="1" lang="zh-CN" altLang="en-US" dirty="0"/>
              <a:t>核间中断（</a:t>
            </a:r>
            <a:r>
              <a:rPr kumimoji="1" lang="en-US" altLang="zh-CN" dirty="0"/>
              <a:t>Inter-Processor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Interrupt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IPI</a:t>
            </a:r>
            <a:r>
              <a:rPr kumimoji="1" lang="zh-CN" altLang="en-US" dirty="0"/>
              <a:t>），用于核间通信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39A3B-8DA9-7042-2D3A-A7160C22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531DE-0B07-2CE4-2BDD-28A1725B2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039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593F-CE97-4646-B318-568E3A2F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中断的生命周期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C6D6C-D5C8-3141-B03D-EB5491CC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Generate</a:t>
            </a:r>
            <a:r>
              <a:rPr kumimoji="1" lang="zh-CN" altLang="en" dirty="0"/>
              <a:t>：</a:t>
            </a:r>
            <a:r>
              <a:rPr kumimoji="1" lang="zh-CN" altLang="en-US" b="0" dirty="0"/>
              <a:t>外设发起一个中断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Distribute</a:t>
            </a:r>
            <a:r>
              <a:rPr kumimoji="1" lang="zh-CN" altLang="en" dirty="0"/>
              <a:t>：</a:t>
            </a:r>
            <a:r>
              <a:rPr kumimoji="1" lang="en-US" altLang="zh-CN" b="0" dirty="0"/>
              <a:t>D</a:t>
            </a:r>
            <a:r>
              <a:rPr kumimoji="1" lang="en" altLang="zh-CN" b="0" dirty="0" err="1"/>
              <a:t>istributor</a:t>
            </a:r>
            <a:r>
              <a:rPr kumimoji="1" lang="zh-CN" altLang="en-US" b="0" dirty="0"/>
              <a:t>对收到的中断源进行仲裁，然后发送给对应的</a:t>
            </a:r>
            <a:r>
              <a:rPr kumimoji="1" lang="en" altLang="zh-CN" b="0" dirty="0"/>
              <a:t>C</a:t>
            </a:r>
            <a:r>
              <a:rPr kumimoji="1" lang="en-US" altLang="zh-CN" b="0" dirty="0"/>
              <a:t>PU</a:t>
            </a:r>
            <a:r>
              <a:rPr kumimoji="1" lang="en" altLang="zh-CN" b="0" dirty="0"/>
              <a:t> </a:t>
            </a:r>
            <a:r>
              <a:rPr kumimoji="1" lang="en-US" altLang="zh-CN" b="0" dirty="0"/>
              <a:t>I</a:t>
            </a:r>
            <a:r>
              <a:rPr kumimoji="1" lang="en" altLang="zh-CN" b="0" dirty="0" err="1"/>
              <a:t>nterface</a:t>
            </a:r>
            <a:endParaRPr kumimoji="1" lang="en" altLang="zh-CN" b="0" dirty="0"/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Deliver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</a:t>
            </a:r>
            <a:r>
              <a:rPr kumimoji="1" lang="en-US" altLang="zh-CN" b="0" dirty="0"/>
              <a:t>PU</a:t>
            </a:r>
            <a:r>
              <a:rPr kumimoji="1" lang="en" altLang="zh-CN" b="0" dirty="0"/>
              <a:t> </a:t>
            </a:r>
            <a:r>
              <a:rPr kumimoji="1" lang="en-US" altLang="zh-CN" b="0" dirty="0"/>
              <a:t>I</a:t>
            </a:r>
            <a:r>
              <a:rPr kumimoji="1" lang="en" altLang="zh-CN" b="0" dirty="0" err="1"/>
              <a:t>nterface</a:t>
            </a:r>
            <a:r>
              <a:rPr kumimoji="1" lang="zh-CN" altLang="en-US" b="0" dirty="0"/>
              <a:t>将中断传给</a:t>
            </a:r>
            <a:r>
              <a:rPr kumimoji="1" lang="en" altLang="zh-CN" b="0" dirty="0"/>
              <a:t>core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Activate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读 </a:t>
            </a:r>
            <a:r>
              <a:rPr kumimoji="1" lang="en" altLang="zh-CN" b="0" dirty="0"/>
              <a:t>GICC_IAR </a:t>
            </a:r>
            <a:r>
              <a:rPr kumimoji="1" lang="zh-CN" altLang="en-US" b="0" dirty="0"/>
              <a:t>寄存器，对中断进行确认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Priority drop: 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写 </a:t>
            </a:r>
            <a:r>
              <a:rPr kumimoji="1" lang="en" altLang="zh-CN" b="0" dirty="0"/>
              <a:t>GICC_EOIR </a:t>
            </a:r>
            <a:r>
              <a:rPr kumimoji="1" lang="zh-CN" altLang="en-US" b="0" dirty="0"/>
              <a:t>寄存器，实现优先级重置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en" altLang="zh-CN" dirty="0"/>
              <a:t>Deactivate</a:t>
            </a:r>
            <a:r>
              <a:rPr kumimoji="1" lang="zh-CN" altLang="en" dirty="0"/>
              <a:t>：</a:t>
            </a:r>
            <a:r>
              <a:rPr kumimoji="1" lang="en" altLang="zh-CN" b="0" dirty="0"/>
              <a:t>core</a:t>
            </a:r>
            <a:r>
              <a:rPr kumimoji="1" lang="zh-CN" altLang="en-US" b="0" dirty="0"/>
              <a:t>写 </a:t>
            </a:r>
            <a:r>
              <a:rPr kumimoji="1" lang="en" altLang="zh-CN" b="0" dirty="0"/>
              <a:t>GICC_DIR </a:t>
            </a:r>
            <a:r>
              <a:rPr kumimoji="1" lang="zh-CN" altLang="en-US" b="0" dirty="0"/>
              <a:t>寄存器，来无效该中断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37C46-457F-5A4C-B46A-4E4BD5B5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9867F-17B8-6B4D-9806-09760B353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746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问题：多个中断同时发生怎么办？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中断优先级：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当多个中断同时发生时（</a:t>
            </a:r>
            <a:r>
              <a:rPr kumimoji="1" lang="en-US" altLang="zh-CN" sz="1600" dirty="0"/>
              <a:t>NMI</a:t>
            </a:r>
            <a:r>
              <a:rPr kumimoji="1" lang="zh-CN" altLang="en-US" sz="1600" dirty="0"/>
              <a:t>、软中断、异常），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首先响应高优先级的中断</a:t>
            </a:r>
            <a:endParaRPr kumimoji="1" lang="en-US" altLang="zh-CN" sz="1600" dirty="0"/>
          </a:p>
          <a:p>
            <a:r>
              <a:rPr kumimoji="1" lang="en-US" altLang="zh-CN" sz="2000" dirty="0"/>
              <a:t>ARM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Cortex-M</a:t>
            </a:r>
            <a:r>
              <a:rPr kumimoji="1" lang="zh-CN" altLang="en-US" sz="2000" dirty="0"/>
              <a:t> 处理器的中断优先级如下所示：</a:t>
            </a:r>
            <a:endParaRPr kumimoji="1" lang="en-US" altLang="zh-CN" sz="2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17D3A55-E8C8-4B4D-BCAB-FE64120E7A70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641476"/>
          <a:ext cx="6144344" cy="28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040">
                  <a:extLst>
                    <a:ext uri="{9D8B030D-6E8A-4147-A177-3AD203B41FA5}">
                      <a16:colId xmlns:a16="http://schemas.microsoft.com/office/drawing/2014/main" val="507705447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024654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优先级（值越低，优先级越高）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1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复位（</a:t>
                      </a:r>
                      <a:r>
                        <a:rPr lang="en-US" altLang="zh-CN" sz="1400" dirty="0"/>
                        <a:t>reset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-3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0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不可屏蔽中断（</a:t>
                      </a:r>
                      <a:r>
                        <a:rPr lang="en-US" altLang="zh-CN" sz="1400" dirty="0"/>
                        <a:t>NMI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-2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6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硬件故障（</a:t>
                      </a:r>
                      <a:r>
                        <a:rPr lang="en-US" altLang="zh-CN" sz="1400" dirty="0"/>
                        <a:t>Hard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Fault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-1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958523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系统服务调用（</a:t>
                      </a:r>
                      <a:r>
                        <a:rPr lang="en-US" altLang="zh-CN" sz="1400" dirty="0" err="1"/>
                        <a:t>SVcall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32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调试监控（</a:t>
                      </a:r>
                      <a:r>
                        <a:rPr lang="en-US" altLang="zh-CN" sz="1400" dirty="0"/>
                        <a:t>debug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monitor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627460"/>
                  </a:ext>
                </a:extLst>
              </a:tr>
              <a:tr h="282376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系统定时器（</a:t>
                      </a:r>
                      <a:r>
                        <a:rPr lang="en-US" altLang="zh-CN" sz="1400" dirty="0" err="1"/>
                        <a:t>SysTick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47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外部中断（</a:t>
                      </a:r>
                      <a:r>
                        <a:rPr lang="en" altLang="zh-CN" sz="1400" dirty="0"/>
                        <a:t>External Interrupt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可配置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93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841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FDAF5-C8EB-454B-AF54-7AE360F4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中断嵌套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4F4EA6-DDBC-1C4C-8BEF-44CF156A5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中断也能被“</a:t>
            </a:r>
            <a:r>
              <a:rPr kumimoji="1" lang="zh-CN" altLang="en-US" dirty="0">
                <a:solidFill>
                  <a:schemeClr val="accent1"/>
                </a:solidFill>
              </a:rPr>
              <a:t>中断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r>
              <a:rPr kumimoji="1" lang="zh-CN" altLang="en-US" dirty="0"/>
              <a:t>在处理当前中断（</a:t>
            </a:r>
            <a:r>
              <a:rPr kumimoji="1" lang="en-US" altLang="zh-CN" dirty="0"/>
              <a:t>ISR</a:t>
            </a:r>
            <a:r>
              <a:rPr kumimoji="1" lang="zh-CN" altLang="en-US" dirty="0"/>
              <a:t>）时：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更高优先级的中断产生；或者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相同优先级的中断产生</a:t>
            </a:r>
            <a:endParaRPr kumimoji="1" lang="en-US" altLang="zh-CN" dirty="0"/>
          </a:p>
          <a:p>
            <a:r>
              <a:rPr kumimoji="1" lang="zh-CN" altLang="en-US" dirty="0"/>
              <a:t>那么该如何响应？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允许高优先级抢占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同级中断无法抢占</a:t>
            </a:r>
            <a:endParaRPr kumimoji="1" lang="en-US" altLang="zh-CN" dirty="0"/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FIQ</a:t>
            </a:r>
            <a:r>
              <a:rPr kumimoji="1" lang="zh-CN" altLang="en-US" dirty="0"/>
              <a:t>能抢占任意</a:t>
            </a:r>
            <a:r>
              <a:rPr kumimoji="1" lang="en-US" altLang="zh-CN" dirty="0"/>
              <a:t>IRQ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FIQ</a:t>
            </a:r>
            <a:r>
              <a:rPr kumimoji="1" lang="zh-CN" altLang="en-US" dirty="0"/>
              <a:t>本身不可抢占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C042D-5887-7944-9B6D-ED286286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3F8AF0-E5D1-3F49-8E79-5609EDD3D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795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FB01D-D05D-584B-AC57-A5510147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如何禁止中断被抢占？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E3EB4-751E-F64F-B811-9269E2F8B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中断屏蔽：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屏蔽全局中断：不再响应任何外设请求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屏蔽对应中断：只停止对应</a:t>
            </a:r>
            <a:r>
              <a:rPr kumimoji="1" lang="en-US" altLang="zh-CN" dirty="0"/>
              <a:t>IRQ</a:t>
            </a:r>
            <a:r>
              <a:rPr kumimoji="1" lang="zh-CN" altLang="en-US" dirty="0"/>
              <a:t>的响应</a:t>
            </a:r>
            <a:endParaRPr kumimoji="1" lang="en-US" altLang="zh-CN" dirty="0"/>
          </a:p>
          <a:p>
            <a:r>
              <a:rPr kumimoji="1" lang="zh-CN" altLang="en-US" dirty="0"/>
              <a:t>屏蔽策略：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屏蔽全局中断：</a:t>
            </a:r>
            <a:endParaRPr kumimoji="1" lang="en-US" altLang="zh-CN" dirty="0"/>
          </a:p>
          <a:p>
            <a:pPr lvl="2"/>
            <a:r>
              <a:rPr kumimoji="1" lang="en-US" altLang="zh-CN" sz="1800" dirty="0"/>
              <a:t>1.</a:t>
            </a:r>
            <a:r>
              <a:rPr kumimoji="1" lang="zh-CN" altLang="en-US" sz="1800" dirty="0"/>
              <a:t> 系统关键步骤（原子性）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2.</a:t>
            </a:r>
            <a:r>
              <a:rPr kumimoji="1" lang="zh-CN" altLang="en-US" sz="1800" dirty="0"/>
              <a:t> 保证任务响应的实时性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屏蔽对应中断：通常都是这种情况，对系统的整体影响最小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E087A4-65CB-2B41-B222-DE91D69E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9D2C4-A11D-154C-9C89-02283FDA3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842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E358B-AEA1-171F-AE1F-543F4F22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高频中断的问题：活锁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F833E-791C-9A0A-74D4-5ADD6D80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网络场景下的中断使用（网卡设备）</a:t>
            </a:r>
            <a:endParaRPr lang="en-US" altLang="zh-CN" sz="2000" dirty="0"/>
          </a:p>
          <a:p>
            <a:pPr lvl="1"/>
            <a:r>
              <a:rPr lang="zh-CN" altLang="en-US" sz="1800" dirty="0"/>
              <a:t>当每个网络包到来时都发送中断请求时，</a:t>
            </a:r>
            <a:r>
              <a:rPr lang="en-US" altLang="zh-CN" sz="1800" dirty="0"/>
              <a:t>OS</a:t>
            </a:r>
            <a:r>
              <a:rPr lang="zh-CN" altLang="en-US" sz="1800" dirty="0"/>
              <a:t>可能进入活锁</a:t>
            </a:r>
            <a:endParaRPr lang="en-US" altLang="zh-CN" sz="1800" dirty="0"/>
          </a:p>
          <a:p>
            <a:pPr lvl="1"/>
            <a:r>
              <a:rPr lang="zh-CN" altLang="en-US" sz="1800" b="1" dirty="0">
                <a:solidFill>
                  <a:srgbClr val="C00000"/>
                </a:solidFill>
              </a:rPr>
              <a:t>活锁</a:t>
            </a:r>
            <a:r>
              <a:rPr lang="zh-CN" altLang="en-US" sz="1800" dirty="0"/>
              <a:t>：</a:t>
            </a:r>
            <a:r>
              <a:rPr lang="en-US" altLang="zh-CN" sz="1800" dirty="0"/>
              <a:t>CPU</a:t>
            </a:r>
            <a:r>
              <a:rPr lang="zh-CN" altLang="en-US" sz="1800" dirty="0"/>
              <a:t>只顾着响应中断，无法调度用户进程和处理中断发来的数据</a:t>
            </a:r>
            <a:endParaRPr lang="en-US" altLang="zh-CN" sz="1800" dirty="0"/>
          </a:p>
          <a:p>
            <a:r>
              <a:rPr lang="zh-CN" altLang="en-US" sz="2000" dirty="0">
                <a:solidFill>
                  <a:schemeClr val="accent1"/>
                </a:solidFill>
              </a:rPr>
              <a:t>解决方案：合二为一（中断</a:t>
            </a:r>
            <a:r>
              <a:rPr lang="en-US" altLang="zh-CN" sz="2000" dirty="0">
                <a:solidFill>
                  <a:schemeClr val="accent1"/>
                </a:solidFill>
              </a:rPr>
              <a:t>+</a:t>
            </a:r>
            <a:r>
              <a:rPr lang="zh-CN" altLang="en-US" sz="2000" dirty="0">
                <a:solidFill>
                  <a:schemeClr val="accent1"/>
                </a:solidFill>
              </a:rPr>
              <a:t>轮询），兼顾各方优势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lang="zh-CN" altLang="en-US" sz="1800" dirty="0"/>
              <a:t>默认使用中断</a:t>
            </a:r>
            <a:endParaRPr lang="en-US" altLang="zh-CN" sz="1800" dirty="0"/>
          </a:p>
          <a:p>
            <a:pPr lvl="1"/>
            <a:r>
              <a:rPr lang="zh-CN" altLang="en-US" sz="1800" dirty="0"/>
              <a:t>网络中断发生后，使用轮询处理后续达到的网络包</a:t>
            </a:r>
            <a:endParaRPr lang="en-US" altLang="zh-CN" sz="1800" dirty="0"/>
          </a:p>
          <a:p>
            <a:pPr lvl="1"/>
            <a:r>
              <a:rPr lang="zh-CN" altLang="en-US" sz="1800" dirty="0"/>
              <a:t>如果没有更多中断，或轮询中断超过时间限制，则回到中断模式</a:t>
            </a:r>
            <a:endParaRPr lang="en-US" altLang="zh-CN" sz="1800" dirty="0"/>
          </a:p>
          <a:p>
            <a:pPr lvl="1"/>
            <a:r>
              <a:rPr lang="zh-CN" altLang="en-US" sz="1800" dirty="0"/>
              <a:t>该方案在</a:t>
            </a:r>
            <a:r>
              <a:rPr lang="en-US" altLang="zh-CN" sz="1800" dirty="0"/>
              <a:t>Linux</a:t>
            </a:r>
            <a:r>
              <a:rPr lang="zh-CN" altLang="en-US" sz="1800" dirty="0"/>
              <a:t>网络驱动中称为 </a:t>
            </a:r>
            <a:r>
              <a:rPr lang="en-US" altLang="zh-CN" sz="1800" dirty="0">
                <a:solidFill>
                  <a:srgbClr val="C00000"/>
                </a:solidFill>
              </a:rPr>
              <a:t>NAPI (New API)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9A897-547E-47D8-8601-5D1285B2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F8432-8854-BEA3-4CBA-9B784E467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9790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C202A-68E6-6F90-6440-051A17AF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中断合并（</a:t>
            </a:r>
            <a:r>
              <a:rPr lang="en" altLang="zh-CN" dirty="0"/>
              <a:t>Interrupt Coalescing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A1864-C533-7DDF-5DAB-15EB7450F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中断合并：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设备在发送中断前，需要等待一小段时间</a:t>
            </a:r>
          </a:p>
          <a:p>
            <a:pPr lvl="1"/>
            <a:r>
              <a:rPr kumimoji="1" lang="zh-CN" altLang="en-US" dirty="0"/>
              <a:t>在等待期间，其他中断可能也会马上到来，因此将多个中断合并为同一个中断，进而降低频繁中断带来的开销</a:t>
            </a:r>
          </a:p>
          <a:p>
            <a:r>
              <a:rPr kumimoji="1" lang="zh-CN" altLang="en-US" dirty="0"/>
              <a:t>注意：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等待过长时间会导致中断响应时延增加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这是系统中常见的“折衷”（</a:t>
            </a:r>
            <a:r>
              <a:rPr kumimoji="1" lang="en" altLang="zh-CN" dirty="0"/>
              <a:t>trade-off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26FD04-0C4D-AC2C-8772-D3E2A4B3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4C4D8-6982-A1BC-E74B-4E4777C4D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199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设备相关的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软件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CEECCA3-57CE-2933-D529-C23C541152C7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A367A81-40CF-1406-B9F0-CA54DBEBF2BF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30821A-0ED9-76D4-7932-55F499B6D54B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4F508DA-89CD-281A-C930-0D543A773AE6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5F13F-05D9-FB4E-6F5E-406CE33E6579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D37390-E5E7-2E08-BFAD-67AAE0495F21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24E03B5A-9868-DC74-0793-E05629B58C50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A148B0C-965C-6862-FF48-7E39322F1155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右箭头 15">
            <a:extLst>
              <a:ext uri="{FF2B5EF4-FFF2-40B4-BE49-F238E27FC236}">
                <a16:creationId xmlns:a16="http://schemas.microsoft.com/office/drawing/2014/main" id="{FB53DD2D-E2AF-9D62-4589-8E821057071E}"/>
              </a:ext>
            </a:extLst>
          </p:cNvPr>
          <p:cNvSpPr/>
          <p:nvPr/>
        </p:nvSpPr>
        <p:spPr>
          <a:xfrm flipH="1">
            <a:off x="7812360" y="3501387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48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51ECD-9DF9-F64F-B6E3-DF3E9AB0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70CDCB-16AC-D54F-8D28-C4A62B03C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设备驱动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专门用于操作硬件设备的代码集合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通常由硬件制造商负责提供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驱动程序包含中断处理程序</a:t>
            </a:r>
            <a:endParaRPr kumimoji="1" lang="en-US" altLang="zh-CN" dirty="0"/>
          </a:p>
          <a:p>
            <a:r>
              <a:rPr kumimoji="1" lang="zh-CN" altLang="en-US" dirty="0"/>
              <a:t>驱动特点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和设备功能高度相关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不同设备间的驱动复杂度差异巨大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是操作系统 </a:t>
            </a:r>
            <a:r>
              <a:rPr kumimoji="1" lang="en-US" altLang="zh-CN" dirty="0"/>
              <a:t>bugs</a:t>
            </a:r>
            <a:r>
              <a:rPr kumimoji="1" lang="zh-CN" altLang="en-US" dirty="0"/>
              <a:t> 的主要来源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0669F-4CD5-0F44-B2B0-ED958964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91829-2B4F-9E44-8802-BC3637872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587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E0BFEE0-3944-D744-9F60-718A9A732D13}"/>
              </a:ext>
            </a:extLst>
          </p:cNvPr>
          <p:cNvSpPr/>
          <p:nvPr/>
        </p:nvSpPr>
        <p:spPr>
          <a:xfrm>
            <a:off x="4572000" y="2713282"/>
            <a:ext cx="4091487" cy="12454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CN" sz="2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+mn-ea"/>
              </a:rPr>
              <a:t>宏内核                     </a:t>
            </a:r>
            <a:r>
              <a:rPr kumimoji="1" lang="en-US" altLang="zh-CN" sz="2400" dirty="0">
                <a:solidFill>
                  <a:schemeClr val="tx1"/>
                </a:solidFill>
                <a:latin typeface="+mn-ea"/>
              </a:rPr>
              <a:t>x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48464F-45B7-CA44-9833-F1D7D046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宏内核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F8CE2-91E0-174C-B1F7-7B6564E2E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962399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宏内核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设备驱动在内核态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优势：通常性能更好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劣势：容错性差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中断形式为内核</a:t>
            </a:r>
            <a:r>
              <a:rPr kumimoji="1" lang="en-US" altLang="zh-CN" sz="1800" dirty="0"/>
              <a:t>ISR</a:t>
            </a:r>
            <a:endParaRPr kumimoji="1" lang="zh-CN" altLang="en-US" sz="1800" dirty="0"/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Linux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BSD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Windows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5370B0-0769-9846-99A6-57475777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45C46-9A05-AA47-8511-0A53AC062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A4D454-875F-AD49-8EE4-F77315E6DC67}"/>
              </a:ext>
            </a:extLst>
          </p:cNvPr>
          <p:cNvSpPr/>
          <p:nvPr/>
        </p:nvSpPr>
        <p:spPr>
          <a:xfrm>
            <a:off x="4701106" y="141734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EEE37A-6ECC-E645-B2B5-24A18CDA57C3}"/>
              </a:ext>
            </a:extLst>
          </p:cNvPr>
          <p:cNvSpPr/>
          <p:nvPr/>
        </p:nvSpPr>
        <p:spPr>
          <a:xfrm>
            <a:off x="4701106" y="1849388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DA5B3-2B58-8C46-8918-092F394CDA17}"/>
              </a:ext>
            </a:extLst>
          </p:cNvPr>
          <p:cNvSpPr/>
          <p:nvPr/>
        </p:nvSpPr>
        <p:spPr>
          <a:xfrm>
            <a:off x="6794632" y="141734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F965C-9434-734F-BB3D-22A7F39111EA}"/>
              </a:ext>
            </a:extLst>
          </p:cNvPr>
          <p:cNvSpPr/>
          <p:nvPr/>
        </p:nvSpPr>
        <p:spPr>
          <a:xfrm>
            <a:off x="6794632" y="1849388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EEF4C5-2444-304C-924D-CD80EEDA2D39}"/>
              </a:ext>
            </a:extLst>
          </p:cNvPr>
          <p:cNvSpPr/>
          <p:nvPr/>
        </p:nvSpPr>
        <p:spPr>
          <a:xfrm>
            <a:off x="6794632" y="2903979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CBFB28-B90E-E942-A9EE-0669B7252A82}"/>
              </a:ext>
            </a:extLst>
          </p:cNvPr>
          <p:cNvSpPr/>
          <p:nvPr/>
        </p:nvSpPr>
        <p:spPr>
          <a:xfrm>
            <a:off x="6794632" y="3336027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D6B64-8E8F-BB4F-81B6-B4623D0697B6}"/>
              </a:ext>
            </a:extLst>
          </p:cNvPr>
          <p:cNvSpPr/>
          <p:nvPr/>
        </p:nvSpPr>
        <p:spPr>
          <a:xfrm>
            <a:off x="6794632" y="4369668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8ECF029-96F4-7F4C-9C72-518F3630D24A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7622724" y="2281436"/>
            <a:ext cx="0" cy="6225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9AFFFB27-88C0-5C4E-8A58-24D10CABCDAE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16200000" flipH="1">
            <a:off x="5742632" y="2068002"/>
            <a:ext cx="838567" cy="126543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469033D-04E4-8646-9581-FA455D98BDB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7622724" y="3768075"/>
            <a:ext cx="0" cy="601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D0063E8-DBCD-594F-AF8E-6165D815AA01}"/>
              </a:ext>
            </a:extLst>
          </p:cNvPr>
          <p:cNvCxnSpPr/>
          <p:nvPr/>
        </p:nvCxnSpPr>
        <p:spPr>
          <a:xfrm>
            <a:off x="4499992" y="2497460"/>
            <a:ext cx="418680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500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ED1F9-BB2F-9B4C-9E1E-F3A3FAB9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微内核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98A29-C24E-8A4A-8D85-3D544449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042792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微内核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设备驱动主体在用户态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优势：可靠性和容错性更好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劣势：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性能开销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中断为用户态驱动线程</a:t>
            </a:r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谷歌</a:t>
            </a:r>
            <a:r>
              <a:rPr kumimoji="1" lang="en-US" altLang="zh-CN" sz="1800" dirty="0"/>
              <a:t>Fuchsia</a:t>
            </a:r>
            <a:r>
              <a:rPr kumimoji="1" lang="zh-CN" altLang="en-US" sz="1800" dirty="0"/>
              <a:t>手机系统</a:t>
            </a:r>
          </a:p>
          <a:p>
            <a:pPr lvl="1"/>
            <a:r>
              <a:rPr kumimoji="1" lang="en-US" altLang="zh-CN" sz="1800" dirty="0" err="1"/>
              <a:t>ChCore</a:t>
            </a:r>
            <a:r>
              <a:rPr kumimoji="1" lang="zh-CN" altLang="en-US" sz="1800" dirty="0"/>
              <a:t>微内核系统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E13431-1098-484E-9548-013F2E8C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B8689-D665-3E4C-B087-2305958B1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E40E24-D088-E340-AA54-033A98A714B8}"/>
              </a:ext>
            </a:extLst>
          </p:cNvPr>
          <p:cNvSpPr/>
          <p:nvPr/>
        </p:nvSpPr>
        <p:spPr>
          <a:xfrm>
            <a:off x="4572000" y="3264019"/>
            <a:ext cx="4091487" cy="6227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+mn-ea"/>
              </a:rPr>
              <a:t>微内核</a:t>
            </a:r>
            <a:endParaRPr kumimoji="1" lang="en-US" altLang="zh-CN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5260FD-58C7-264C-8938-67207E970761}"/>
              </a:ext>
            </a:extLst>
          </p:cNvPr>
          <p:cNvSpPr/>
          <p:nvPr/>
        </p:nvSpPr>
        <p:spPr>
          <a:xfrm>
            <a:off x="4644008" y="1470764"/>
            <a:ext cx="95101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1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FDE804-5D4E-7D4B-B3A7-911E4CD5274D}"/>
              </a:ext>
            </a:extLst>
          </p:cNvPr>
          <p:cNvSpPr/>
          <p:nvPr/>
        </p:nvSpPr>
        <p:spPr>
          <a:xfrm>
            <a:off x="5585406" y="1470764"/>
            <a:ext cx="95101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6CA90F-B8B8-AC48-BC0E-B7C6AF95955D}"/>
              </a:ext>
            </a:extLst>
          </p:cNvPr>
          <p:cNvSpPr/>
          <p:nvPr/>
        </p:nvSpPr>
        <p:spPr>
          <a:xfrm>
            <a:off x="6948264" y="1468051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563E10-D711-0943-B36C-DD1899A324F3}"/>
              </a:ext>
            </a:extLst>
          </p:cNvPr>
          <p:cNvSpPr/>
          <p:nvPr/>
        </p:nvSpPr>
        <p:spPr>
          <a:xfrm>
            <a:off x="6948264" y="2353444"/>
            <a:ext cx="165618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设备驱动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B44BAE-E360-2B4C-B952-5BA5B5C8ADC9}"/>
              </a:ext>
            </a:extLst>
          </p:cNvPr>
          <p:cNvSpPr/>
          <p:nvPr/>
        </p:nvSpPr>
        <p:spPr>
          <a:xfrm>
            <a:off x="6948264" y="4297660"/>
            <a:ext cx="165618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E408E54-0306-F148-81C0-509F8845922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7776356" y="2785492"/>
            <a:ext cx="0" cy="15121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3CB4480-BFB1-AE4B-A1A1-4F95691A2831}"/>
              </a:ext>
            </a:extLst>
          </p:cNvPr>
          <p:cNvSpPr/>
          <p:nvPr/>
        </p:nvSpPr>
        <p:spPr>
          <a:xfrm>
            <a:off x="4644008" y="2356156"/>
            <a:ext cx="95101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F0D5D8-FA83-1346-9455-2A5F921CBE13}"/>
              </a:ext>
            </a:extLst>
          </p:cNvPr>
          <p:cNvSpPr/>
          <p:nvPr/>
        </p:nvSpPr>
        <p:spPr>
          <a:xfrm>
            <a:off x="5585406" y="2356156"/>
            <a:ext cx="951014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2D75366-9F66-1C47-81B8-52FABDFAC38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776356" y="1900099"/>
            <a:ext cx="0" cy="4533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B7E7268-6CE1-DB43-A2B2-0253730580C1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6536420" y="1684075"/>
            <a:ext cx="411844" cy="27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A4390F20-5D66-8841-8D93-A3768B2B67C5}"/>
              </a:ext>
            </a:extLst>
          </p:cNvPr>
          <p:cNvCxnSpPr>
            <a:stCxn id="20" idx="3"/>
            <a:endCxn id="11" idx="1"/>
          </p:cNvCxnSpPr>
          <p:nvPr/>
        </p:nvCxnSpPr>
        <p:spPr>
          <a:xfrm flipV="1">
            <a:off x="6536420" y="1684075"/>
            <a:ext cx="411844" cy="888105"/>
          </a:xfrm>
          <a:prstGeom prst="bentConnector3">
            <a:avLst>
              <a:gd name="adj1" fmla="val 4295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0855748-68B8-B143-AE4B-CED3F226C14D}"/>
              </a:ext>
            </a:extLst>
          </p:cNvPr>
          <p:cNvCxnSpPr/>
          <p:nvPr/>
        </p:nvCxnSpPr>
        <p:spPr>
          <a:xfrm>
            <a:off x="4499992" y="3073524"/>
            <a:ext cx="418680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669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AD49C-4169-AD40-B5E7-38EC7EFE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混合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70194-0666-FA48-9ED0-698D37D5A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762872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混合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架构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设备驱动分解为用户态和内核态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：驱动开发和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内核解耦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优势</a:t>
            </a:r>
            <a:r>
              <a:rPr kumimoji="1" lang="en-US" altLang="zh-CN" sz="1800" dirty="0"/>
              <a:t>2</a:t>
            </a:r>
            <a:r>
              <a:rPr kumimoji="1" lang="zh-CN" altLang="en-US" sz="1800" dirty="0"/>
              <a:t>：允许驱动以闭源形式存在</a:t>
            </a:r>
            <a:endParaRPr kumimoji="1" lang="en-US" altLang="zh-CN" sz="1800" dirty="0"/>
          </a:p>
          <a:p>
            <a:pPr marL="914400" lvl="2" indent="0">
              <a:buNone/>
            </a:pPr>
            <a:r>
              <a:rPr kumimoji="1" lang="zh-CN" altLang="en-US" sz="1800" dirty="0"/>
              <a:t>         保护硬件厂商的知识产权</a:t>
            </a:r>
          </a:p>
          <a:p>
            <a:r>
              <a:rPr kumimoji="1" lang="zh-CN" altLang="en-US" sz="2000" dirty="0"/>
              <a:t>案例：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谷歌安卓系统：硬件抽象层（</a:t>
            </a:r>
            <a:r>
              <a:rPr kumimoji="1" lang="en-US" altLang="zh-CN" sz="1800" dirty="0"/>
              <a:t>HAL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华为鸿蒙系统：硬件驱动框架（</a:t>
            </a:r>
            <a:r>
              <a:rPr kumimoji="1" lang="en-US" altLang="zh-CN" sz="1800" dirty="0"/>
              <a:t>HDF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C1B8-B5D2-0E49-A678-A0A863A1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3DF91-F357-9A4B-BF07-78038472A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0E7ED4-8FE2-7948-B778-5F447B66F0E4}"/>
              </a:ext>
            </a:extLst>
          </p:cNvPr>
          <p:cNvSpPr/>
          <p:nvPr/>
        </p:nvSpPr>
        <p:spPr>
          <a:xfrm>
            <a:off x="5364087" y="3500145"/>
            <a:ext cx="3384377" cy="725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altLang="zh-CN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015234-9901-594E-84D2-761B8053F0F6}"/>
              </a:ext>
            </a:extLst>
          </p:cNvPr>
          <p:cNvSpPr/>
          <p:nvPr/>
        </p:nvSpPr>
        <p:spPr>
          <a:xfrm>
            <a:off x="7117642" y="3662075"/>
            <a:ext cx="1486805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内核态驱动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5A319D-433B-ED45-8221-DFBCDC8ABF5F}"/>
              </a:ext>
            </a:extLst>
          </p:cNvPr>
          <p:cNvSpPr/>
          <p:nvPr/>
        </p:nvSpPr>
        <p:spPr>
          <a:xfrm>
            <a:off x="7117640" y="4513684"/>
            <a:ext cx="1486807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硬件设备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705F5ED-9189-2D4C-8219-7BCDF4CE816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7861044" y="4094123"/>
            <a:ext cx="1" cy="4195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0672368C-5DF0-B843-86D5-B728B6F593FD}"/>
              </a:ext>
            </a:extLst>
          </p:cNvPr>
          <p:cNvSpPr/>
          <p:nvPr/>
        </p:nvSpPr>
        <p:spPr>
          <a:xfrm>
            <a:off x="7117641" y="2639654"/>
            <a:ext cx="14868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用户态驱动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217F8DB0-EFE7-E249-82CF-CB28FCBF4ECF}"/>
              </a:ext>
            </a:extLst>
          </p:cNvPr>
          <p:cNvCxnSpPr>
            <a:cxnSpLocks/>
          </p:cNvCxnSpPr>
          <p:nvPr/>
        </p:nvCxnSpPr>
        <p:spPr>
          <a:xfrm>
            <a:off x="5364087" y="3289548"/>
            <a:ext cx="33227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9E1BE7F-D9DD-A546-8C9D-F692B7CF55F7}"/>
              </a:ext>
            </a:extLst>
          </p:cNvPr>
          <p:cNvSpPr/>
          <p:nvPr/>
        </p:nvSpPr>
        <p:spPr>
          <a:xfrm>
            <a:off x="5508103" y="3662075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B638C5-5A28-B244-8FD8-927D27F52A61}"/>
              </a:ext>
            </a:extLst>
          </p:cNvPr>
          <p:cNvSpPr/>
          <p:nvPr/>
        </p:nvSpPr>
        <p:spPr>
          <a:xfrm>
            <a:off x="5489952" y="2641476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子系统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44B01F8-D93E-C046-8F22-0325646072B7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>
            <a:off x="7861042" y="3071702"/>
            <a:ext cx="3" cy="5903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0339E208-AF7E-EA48-BA79-5E00EDD1C147}"/>
              </a:ext>
            </a:extLst>
          </p:cNvPr>
          <p:cNvSpPr/>
          <p:nvPr/>
        </p:nvSpPr>
        <p:spPr>
          <a:xfrm>
            <a:off x="5489952" y="1345332"/>
            <a:ext cx="1357809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EEA786-C585-6844-91DC-6582895682DB}"/>
              </a:ext>
            </a:extLst>
          </p:cNvPr>
          <p:cNvSpPr/>
          <p:nvPr/>
        </p:nvSpPr>
        <p:spPr>
          <a:xfrm>
            <a:off x="5489952" y="1777380"/>
            <a:ext cx="1357809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7CE927-BC78-E341-8BB8-C9EE0403A5EB}"/>
              </a:ext>
            </a:extLst>
          </p:cNvPr>
          <p:cNvSpPr/>
          <p:nvPr/>
        </p:nvSpPr>
        <p:spPr>
          <a:xfrm>
            <a:off x="7164288" y="1345332"/>
            <a:ext cx="1368152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应用程序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DC5EAA-EB10-E042-9A1D-046EAFF95F33}"/>
              </a:ext>
            </a:extLst>
          </p:cNvPr>
          <p:cNvSpPr/>
          <p:nvPr/>
        </p:nvSpPr>
        <p:spPr>
          <a:xfrm>
            <a:off x="7164288" y="1777380"/>
            <a:ext cx="1368152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库</a:t>
            </a: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BC1EDDB7-8F8C-D140-BDAA-349ABB0414A1}"/>
              </a:ext>
            </a:extLst>
          </p:cNvPr>
          <p:cNvCxnSpPr>
            <a:stCxn id="32" idx="2"/>
            <a:endCxn id="23" idx="0"/>
          </p:cNvCxnSpPr>
          <p:nvPr/>
        </p:nvCxnSpPr>
        <p:spPr>
          <a:xfrm>
            <a:off x="6168857" y="2209428"/>
            <a:ext cx="0" cy="4320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1658E62E-931B-8D41-88A1-71DD39942E78}"/>
              </a:ext>
            </a:extLst>
          </p:cNvPr>
          <p:cNvCxnSpPr>
            <a:stCxn id="34" idx="2"/>
            <a:endCxn id="23" idx="0"/>
          </p:cNvCxnSpPr>
          <p:nvPr/>
        </p:nvCxnSpPr>
        <p:spPr>
          <a:xfrm rot="5400000">
            <a:off x="6792587" y="1585699"/>
            <a:ext cx="432048" cy="167950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9907014D-CD0C-9F4B-B15D-BBEF792D76A1}"/>
              </a:ext>
            </a:extLst>
          </p:cNvPr>
          <p:cNvCxnSpPr>
            <a:stCxn id="23" idx="3"/>
            <a:endCxn id="14" idx="1"/>
          </p:cNvCxnSpPr>
          <p:nvPr/>
        </p:nvCxnSpPr>
        <p:spPr>
          <a:xfrm flipV="1">
            <a:off x="6847761" y="2855678"/>
            <a:ext cx="269880" cy="18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C282EFF-2BEE-284E-A7CF-BC824923A4A1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>
            <a:off x="6865912" y="3878099"/>
            <a:ext cx="25173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66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E8F9C-073C-0245-B6C4-B041F973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案例：安卓的硬件抽象层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C31A3-4276-DA49-996B-EE87CA06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A48FB-593B-B040-B71B-0336001A3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026247C4-E4A9-434F-AE69-FCC2A0897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72" y="1333500"/>
            <a:ext cx="7304856" cy="3771900"/>
          </a:xfrm>
        </p:spPr>
      </p:pic>
    </p:spTree>
    <p:extLst>
      <p:ext uri="{BB962C8B-B14F-4D97-AF65-F5344CB8AC3E}">
        <p14:creationId xmlns:p14="http://schemas.microsoft.com/office/powerpoint/2010/main" val="4216575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18FE3-7A54-EB41-98A8-67A84D38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设备驱动的复杂性在提高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3C5A8-8203-0D46-914C-3DC105C0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设备的整体趋势：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数量和规模越来越大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更新速度越来越快：驱动代码量在快速增长，复杂度提高</a:t>
            </a:r>
            <a:endParaRPr kumimoji="1" lang="en-US" altLang="zh-CN" dirty="0"/>
          </a:p>
          <a:p>
            <a:r>
              <a:rPr kumimoji="1" lang="zh-CN" altLang="en-US" dirty="0"/>
              <a:t>驱动开发者的需求：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标准化的数据结构和接口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将驱动开发简化为对数据结构的填充和实现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2FB5C-4596-7346-BCB2-08F2586F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B59C2-6CAE-D04C-95A5-664366FA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8207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2ACB4-B57C-E746-9C08-7A0E2B6F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驱动模型的好处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6BF03-C96A-2A4B-AF5B-C7775643D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电源管理：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描述设备在系统中的拓扑结构（树形结构）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保证能正确控制设备的电源，先关闭设备和再关闭总线</a:t>
            </a:r>
            <a:endParaRPr kumimoji="1" lang="en-US" altLang="zh-CN" dirty="0"/>
          </a:p>
          <a:p>
            <a:r>
              <a:rPr kumimoji="1" lang="zh-CN" altLang="en-US" dirty="0"/>
              <a:t>驱动开发者：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允许同系列设备的驱动代码之间的复用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将设备和驱动联系起来，方便相互索引</a:t>
            </a:r>
            <a:endParaRPr kumimoji="1" lang="en-US" altLang="zh-CN" dirty="0"/>
          </a:p>
          <a:p>
            <a:r>
              <a:rPr kumimoji="1" lang="zh-CN" altLang="en-US" dirty="0"/>
              <a:t>系统管理员：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帮助用户枚举系统设备，观察设备间拓扑和设备的工作状态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40977-B6D0-FA49-BD89-26CAA1CF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FC161-8C90-CF43-AAE4-D32EF1917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63528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A3C1EF1-E3F6-F247-B41E-531B1DE7724B}"/>
              </a:ext>
            </a:extLst>
          </p:cNvPr>
          <p:cNvSpPr/>
          <p:nvPr/>
        </p:nvSpPr>
        <p:spPr>
          <a:xfrm>
            <a:off x="2051720" y="2511614"/>
            <a:ext cx="482453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操作系统</a:t>
            </a:r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zh-CN" altLang="en-US" sz="1600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BB532F4-27F3-864A-A6FA-EA5B6FE3A190}"/>
              </a:ext>
            </a:extLst>
          </p:cNvPr>
          <p:cNvSpPr/>
          <p:nvPr/>
        </p:nvSpPr>
        <p:spPr>
          <a:xfrm>
            <a:off x="2195736" y="2943662"/>
            <a:ext cx="4534696" cy="100811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驱动模型</a:t>
            </a:r>
            <a:endParaRPr kumimoji="1" lang="en-US" altLang="zh-CN" sz="1600" dirty="0"/>
          </a:p>
          <a:p>
            <a:pPr algn="ctr"/>
            <a:endParaRPr kumimoji="1" lang="en-US" altLang="zh-CN" sz="1600" dirty="0"/>
          </a:p>
          <a:p>
            <a:pPr algn="ctr"/>
            <a:endParaRPr kumimoji="1" lang="zh-CN" altLang="en-US" sz="16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1D4C3A-2BB9-1646-BF38-75D5B0E5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驱动模型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0BD2D5-F39A-B247-BB66-7BBBD41B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0944D-89FA-CF47-A5AA-7D53405F5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883DFC-AFAF-E340-800A-385E9C6EACFF}"/>
              </a:ext>
            </a:extLst>
          </p:cNvPr>
          <p:cNvSpPr/>
          <p:nvPr/>
        </p:nvSpPr>
        <p:spPr>
          <a:xfrm>
            <a:off x="2258266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40E1BC-FDAA-C541-B95E-67DEFE9302C9}"/>
              </a:ext>
            </a:extLst>
          </p:cNvPr>
          <p:cNvSpPr/>
          <p:nvPr/>
        </p:nvSpPr>
        <p:spPr>
          <a:xfrm>
            <a:off x="3436729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串口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D978CB-8A97-B749-AFC4-481E247CA97D}"/>
              </a:ext>
            </a:extLst>
          </p:cNvPr>
          <p:cNvSpPr/>
          <p:nvPr/>
        </p:nvSpPr>
        <p:spPr>
          <a:xfrm>
            <a:off x="4640060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LED</a:t>
            </a: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79AF52-2C3C-0E47-98F9-E1FDA2838BC3}"/>
              </a:ext>
            </a:extLst>
          </p:cNvPr>
          <p:cNvSpPr/>
          <p:nvPr/>
        </p:nvSpPr>
        <p:spPr>
          <a:xfrm>
            <a:off x="5837519" y="4283011"/>
            <a:ext cx="864096" cy="3168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闪存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9E7D64-3165-0048-BF56-1A016FD9D9AD}"/>
              </a:ext>
            </a:extLst>
          </p:cNvPr>
          <p:cNvSpPr/>
          <p:nvPr/>
        </p:nvSpPr>
        <p:spPr>
          <a:xfrm>
            <a:off x="2280347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A</a:t>
            </a:r>
            <a:endParaRPr kumimoji="1" lang="zh-CN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1C5300-64FE-9D42-A1CA-3F883348A572}"/>
              </a:ext>
            </a:extLst>
          </p:cNvPr>
          <p:cNvSpPr/>
          <p:nvPr/>
        </p:nvSpPr>
        <p:spPr>
          <a:xfrm>
            <a:off x="2045564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A5D898-2DC2-B943-8A15-B90779DAE7BF}"/>
              </a:ext>
            </a:extLst>
          </p:cNvPr>
          <p:cNvSpPr/>
          <p:nvPr/>
        </p:nvSpPr>
        <p:spPr>
          <a:xfrm>
            <a:off x="3746012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354E84-4F12-9A4A-B87B-8DA4FAF68645}"/>
              </a:ext>
            </a:extLst>
          </p:cNvPr>
          <p:cNvSpPr/>
          <p:nvPr/>
        </p:nvSpPr>
        <p:spPr>
          <a:xfrm>
            <a:off x="5504156" y="1489348"/>
            <a:ext cx="1365315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8C98C1-1F1E-D840-8A0E-C144D0278545}"/>
              </a:ext>
            </a:extLst>
          </p:cNvPr>
          <p:cNvSpPr/>
          <p:nvPr/>
        </p:nvSpPr>
        <p:spPr>
          <a:xfrm>
            <a:off x="2051720" y="2043562"/>
            <a:ext cx="4824535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系统接口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6B91DE-C78F-E848-9F9C-7F3D3CCBC6BE}"/>
              </a:ext>
            </a:extLst>
          </p:cNvPr>
          <p:cNvSpPr/>
          <p:nvPr/>
        </p:nvSpPr>
        <p:spPr>
          <a:xfrm>
            <a:off x="3440591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B</a:t>
            </a:r>
            <a:endParaRPr kumimoji="1" lang="zh-CN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66A5D4-0F26-8E41-A63F-096EDF421366}"/>
              </a:ext>
            </a:extLst>
          </p:cNvPr>
          <p:cNvSpPr/>
          <p:nvPr/>
        </p:nvSpPr>
        <p:spPr>
          <a:xfrm>
            <a:off x="4640060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C</a:t>
            </a:r>
            <a:endParaRPr kumimoji="1"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9A1C53-38F0-3D48-B40E-CB9C66D8CDC9}"/>
              </a:ext>
            </a:extLst>
          </p:cNvPr>
          <p:cNvSpPr/>
          <p:nvPr/>
        </p:nvSpPr>
        <p:spPr>
          <a:xfrm>
            <a:off x="5800304" y="3447718"/>
            <a:ext cx="864096" cy="38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驱动</a:t>
            </a:r>
            <a:r>
              <a:rPr kumimoji="1" lang="en-US" altLang="zh-CN" sz="1400" dirty="0"/>
              <a:t>D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977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2BEE8-7343-6241-B2DB-56AF982E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Driver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(LDDM)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0B33E-D6D5-2749-B269-6694E8FB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支持电源管理与设备的热拔插</a:t>
            </a:r>
            <a:endParaRPr kumimoji="1" lang="en-US" altLang="zh-CN" dirty="0"/>
          </a:p>
          <a:p>
            <a:r>
              <a:rPr kumimoji="1" lang="zh-CN" altLang="en-US" dirty="0"/>
              <a:t>利用</a:t>
            </a:r>
            <a:r>
              <a:rPr kumimoji="1" lang="en-US" altLang="zh-CN" dirty="0" err="1"/>
              <a:t>sysfs</a:t>
            </a:r>
            <a:r>
              <a:rPr kumimoji="1" lang="zh-CN" altLang="en-US" dirty="0"/>
              <a:t>向用户空间提供系统信息</a:t>
            </a:r>
            <a:endParaRPr kumimoji="1" lang="en-US" altLang="zh-CN" dirty="0"/>
          </a:p>
          <a:p>
            <a:r>
              <a:rPr kumimoji="1" lang="zh-CN" altLang="en-US" dirty="0"/>
              <a:t>维护内核对象的依赖关系与生命周期，简化开发工作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驱动人员只需告诉内核对象间的依赖关系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启动设备时会自动初始化依赖的对象，直到启动条件满足为止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6AB3CC-6320-404A-817A-2C1942F6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1504D-B8FE-D54E-8B38-2359DCB8E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819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子系统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设备无关的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软件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11AA66-B9DC-70B8-2BC8-8F42BD05AEE3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8D3321-4932-0665-5AED-BE59F0F6BAA5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235009-AAC2-ACC9-CAF9-AEB15D103487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317F106-4B73-8019-3809-2BB7630A3B04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391AF7-9CA2-D5EC-E033-8F03D8C28BF1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CAA9B21-4A22-C691-2B06-B74491364AE3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D52917F-B310-CF97-26B2-F0A92C92EBB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46BBFC29-6B17-0742-225B-53100F474937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3805EC08-2D02-89D0-12E0-7AA144A62419}"/>
              </a:ext>
            </a:extLst>
          </p:cNvPr>
          <p:cNvSpPr/>
          <p:nvPr/>
        </p:nvSpPr>
        <p:spPr>
          <a:xfrm flipH="1">
            <a:off x="7779036" y="3040218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338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A95C0-A6BC-EC78-2170-F79EB9F5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为什么需要</a:t>
            </a:r>
            <a:r>
              <a:rPr lang="en-US" altLang="zh-CN" dirty="0">
                <a:latin typeface="+mn-ea"/>
              </a:rPr>
              <a:t>I/O</a:t>
            </a:r>
            <a:r>
              <a:rPr lang="zh-CN" altLang="en-US" dirty="0">
                <a:latin typeface="+mn-ea"/>
              </a:rPr>
              <a:t>子系统？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334FF-9470-51E8-FE35-9C06CA501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根据不同需求和场景，出现了大量设备：</a:t>
            </a:r>
          </a:p>
          <a:p>
            <a:pPr lvl="1"/>
            <a:r>
              <a:rPr kumimoji="1" lang="zh-CN" altLang="en-US" dirty="0"/>
              <a:t>通信、存储、智能加速器、人机交互等</a:t>
            </a:r>
          </a:p>
          <a:p>
            <a:pPr lvl="1"/>
            <a:r>
              <a:rPr kumimoji="1" lang="zh-CN" altLang="en-US" dirty="0"/>
              <a:t>数以千计的设备类型，个性千差万别</a:t>
            </a:r>
          </a:p>
          <a:p>
            <a:r>
              <a:rPr kumimoji="1" lang="zh-CN" altLang="en-US" dirty="0"/>
              <a:t>每种设备有自己的协议、规范：</a:t>
            </a:r>
          </a:p>
          <a:p>
            <a:pPr lvl="1"/>
            <a:r>
              <a:rPr kumimoji="1" lang="zh-CN" altLang="en-US" dirty="0"/>
              <a:t>如何标准化设备接口？</a:t>
            </a:r>
          </a:p>
          <a:p>
            <a:r>
              <a:rPr kumimoji="1" lang="zh-CN" altLang="en-US" dirty="0"/>
              <a:t>设备的异步不可预测性和慢速性：</a:t>
            </a:r>
          </a:p>
          <a:p>
            <a:pPr lvl="1"/>
            <a:r>
              <a:rPr kumimoji="1" lang="zh-CN" altLang="en-US" dirty="0"/>
              <a:t>如何提高应用程序的设备读写效率？</a:t>
            </a:r>
          </a:p>
          <a:p>
            <a:r>
              <a:rPr kumimoji="1" lang="zh-CN" altLang="en-US" dirty="0"/>
              <a:t>设备的不可靠性（介质失效或传输错误）：</a:t>
            </a:r>
          </a:p>
          <a:p>
            <a:pPr lvl="1"/>
            <a:r>
              <a:rPr kumimoji="1" lang="zh-CN" altLang="en-US" dirty="0"/>
              <a:t>如何得知设备的状态并修复错误？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717F1A-E845-0366-AF1A-780EDA3A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51A9A-CDB5-66F0-D5FA-D1D3EF07B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5A1BB9-BC4C-0DB8-16BD-0EC57655E3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5162" y="1849388"/>
            <a:ext cx="1166401" cy="797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971DD9-5B81-9077-4A9E-A3876836C3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7321" y="3036011"/>
            <a:ext cx="808484" cy="8084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262CD7-73D0-66DA-91D6-FE40479615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6216" y="2628409"/>
            <a:ext cx="1074327" cy="5924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CFFA23-54B8-4352-D30D-2DB8AB90E9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5488" y="3425062"/>
            <a:ext cx="1083444" cy="64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52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8E70C-F6EE-C4A4-09E5-80F8238A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I/O </a:t>
            </a:r>
            <a:r>
              <a:rPr lang="zh-CN" altLang="en-US" dirty="0">
                <a:latin typeface="+mn-ea"/>
              </a:rPr>
              <a:t>子系统的目标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086A2-5025-6C0B-90E1-398395918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n-ea"/>
              </a:rPr>
              <a:t>提供统一接口，涵盖不同设备：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如下代码对各种设备通用：</a:t>
            </a:r>
            <a:endParaRPr lang="en-US" altLang="zh-CN" dirty="0">
              <a:latin typeface="+mn-ea"/>
            </a:endParaRPr>
          </a:p>
          <a:p>
            <a:pPr lvl="1">
              <a:buFont typeface="Wingdings" pitchFamily="2" charset="2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FILE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(“/dev/something”,“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”);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(int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10;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,“Count %d\n”,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b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close(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+mn-ea"/>
              </a:rPr>
              <a:t>满足</a:t>
            </a:r>
            <a:r>
              <a:rPr lang="en-US" altLang="zh-CN" dirty="0">
                <a:latin typeface="+mn-ea"/>
              </a:rPr>
              <a:t>I/O</a:t>
            </a:r>
            <a:r>
              <a:rPr lang="zh-CN" altLang="en-US" dirty="0">
                <a:latin typeface="+mn-ea"/>
              </a:rPr>
              <a:t>硬件管理的共同需求，提供统一抽象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管理硬件资源；隐藏硬件细节</a:t>
            </a:r>
            <a:endParaRPr lang="en-US" altLang="zh-CN" dirty="0">
              <a:latin typeface="+mn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50498-224F-4378-6040-6CE7CF12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CC333-D5EF-5B32-C558-F925580FA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9114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6E775-D862-D6AB-46EA-DC3AC442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统一抽象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设备文件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4B593-5742-0362-5D7A-4993FFC33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为应用程序提供的相同的设备抽象：设备文件</a:t>
            </a:r>
          </a:p>
          <a:p>
            <a:r>
              <a:rPr kumimoji="1" lang="zh-CN" altLang="en-US" sz="2000" dirty="0"/>
              <a:t>操作系统将外设细节和协议封装在文件接口的内部</a:t>
            </a:r>
            <a:endParaRPr kumimoji="1" lang="en-US" altLang="zh-CN" sz="2000" dirty="0"/>
          </a:p>
          <a:p>
            <a:r>
              <a:rPr kumimoji="1" lang="zh-CN" altLang="en-US" sz="2000" dirty="0"/>
              <a:t>复用文件系统接口：</a:t>
            </a:r>
            <a:r>
              <a:rPr kumimoji="1" lang="en-US" altLang="zh-CN" sz="2000" dirty="0"/>
              <a:t>open(),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read(),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write(),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close,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etc.</a:t>
            </a:r>
            <a:endParaRPr kumimoji="1" lang="zh-CN" altLang="en-US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9867D-4C05-9BE2-2AF1-F5A8CF54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0A96B-0911-4BBA-E47B-544CE665F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B7D942E-63BF-7974-FB34-371ED8BD1BFD}"/>
              </a:ext>
            </a:extLst>
          </p:cNvPr>
          <p:cNvSpPr txBox="1"/>
          <p:nvPr/>
        </p:nvSpPr>
        <p:spPr>
          <a:xfrm>
            <a:off x="700948" y="3120189"/>
            <a:ext cx="4850665" cy="16004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buffer[256];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read_num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-1;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("/dev/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some_device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"something to device", 19);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read_num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buffer, 256);</a:t>
            </a:r>
          </a:p>
          <a:p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BF27C2-699F-EFEF-8A8A-ACD51FE87119}"/>
              </a:ext>
            </a:extLst>
          </p:cNvPr>
          <p:cNvSpPr txBox="1"/>
          <p:nvPr/>
        </p:nvSpPr>
        <p:spPr>
          <a:xfrm>
            <a:off x="5689094" y="30015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9F8B6-6E0C-653A-7728-7202B022D531}"/>
              </a:ext>
            </a:extLst>
          </p:cNvPr>
          <p:cNvSpPr txBox="1"/>
          <p:nvPr/>
        </p:nvSpPr>
        <p:spPr>
          <a:xfrm>
            <a:off x="6706299" y="348330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tty</a:t>
            </a:r>
            <a:r>
              <a:rPr kumimoji="1" lang="zh-CN" altLang="en-US" dirty="0"/>
              <a:t>（终端）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B00AB1-2193-2707-DAFD-76B46EE1CDAE}"/>
              </a:ext>
            </a:extLst>
          </p:cNvPr>
          <p:cNvSpPr txBox="1"/>
          <p:nvPr/>
        </p:nvSpPr>
        <p:spPr>
          <a:xfrm>
            <a:off x="6706300" y="381311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hda</a:t>
            </a:r>
            <a:r>
              <a:rPr kumimoji="1" lang="zh-CN" altLang="en-US" dirty="0"/>
              <a:t>（磁盘）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FEB42A-05B4-3F5F-3153-9849BAA798CB}"/>
              </a:ext>
            </a:extLst>
          </p:cNvPr>
          <p:cNvSpPr txBox="1"/>
          <p:nvPr/>
        </p:nvSpPr>
        <p:spPr>
          <a:xfrm>
            <a:off x="6706299" y="4142918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rtc</a:t>
            </a:r>
            <a:r>
              <a:rPr kumimoji="1" lang="zh-CN" altLang="en-US" dirty="0"/>
              <a:t>（实时时钟）</a:t>
            </a:r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18D8E7F5-3624-A375-91A7-5803C98B9416}"/>
              </a:ext>
            </a:extLst>
          </p:cNvPr>
          <p:cNvCxnSpPr>
            <a:stCxn id="7" idx="2"/>
            <a:endCxn id="8" idx="1"/>
          </p:cNvCxnSpPr>
          <p:nvPr/>
        </p:nvCxnSpPr>
        <p:spPr>
          <a:xfrm rot="16200000" flipH="1">
            <a:off x="6204306" y="3165977"/>
            <a:ext cx="297122" cy="7068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2AD2866E-8448-5A32-3AA2-27E634AD9D81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6039404" y="3330880"/>
            <a:ext cx="626929" cy="7068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EC2A1A5E-34A4-7098-9528-9D236B069AFD}"/>
              </a:ext>
            </a:extLst>
          </p:cNvPr>
          <p:cNvCxnSpPr>
            <a:stCxn id="7" idx="2"/>
            <a:endCxn id="10" idx="1"/>
          </p:cNvCxnSpPr>
          <p:nvPr/>
        </p:nvCxnSpPr>
        <p:spPr>
          <a:xfrm rot="16200000" flipH="1">
            <a:off x="5874499" y="3495784"/>
            <a:ext cx="956736" cy="7068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62949D6-2B17-0B18-E7EF-F8046BD0FFDC}"/>
              </a:ext>
            </a:extLst>
          </p:cNvPr>
          <p:cNvSpPr txBox="1"/>
          <p:nvPr/>
        </p:nvSpPr>
        <p:spPr>
          <a:xfrm>
            <a:off x="6706300" y="44727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其他设备文件</a:t>
            </a:r>
          </a:p>
        </p:txBody>
      </p: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74F6B21E-BD35-1A52-8EEF-56A6A719C0B4}"/>
              </a:ext>
            </a:extLst>
          </p:cNvPr>
          <p:cNvCxnSpPr>
            <a:stCxn id="7" idx="2"/>
            <a:endCxn id="14" idx="1"/>
          </p:cNvCxnSpPr>
          <p:nvPr/>
        </p:nvCxnSpPr>
        <p:spPr>
          <a:xfrm rot="16200000" flipH="1">
            <a:off x="5709597" y="3660687"/>
            <a:ext cx="1286543" cy="7068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70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AB257-69D3-5CA9-1258-75C5D18B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设备操作的专用接口：</a:t>
            </a:r>
            <a:r>
              <a:rPr kumimoji="1" lang="en-US" altLang="zh-CN" dirty="0" err="1"/>
              <a:t>ioctl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3D39D-942D-85EC-ADEC-5D88A91F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1362"/>
            <a:ext cx="8229600" cy="4083775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应用程序和驱动程序事先协商好“操作码”和对应语义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33AC6-E755-6942-9BB7-AF64F4CB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441FE-5E8D-DD58-C11A-A48F849AB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FB5573C-F58A-26DC-B24F-979F1CBD171E}"/>
              </a:ext>
            </a:extLst>
          </p:cNvPr>
          <p:cNvSpPr txBox="1"/>
          <p:nvPr/>
        </p:nvSpPr>
        <p:spPr>
          <a:xfrm>
            <a:off x="467544" y="1586612"/>
            <a:ext cx="3713584" cy="3647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 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_IO('L',0x1234)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_IO('L',0x5678)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altLang="zh-CN" sz="11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",O_RDWR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while(1)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sleep(1);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sleep(1);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100" b="1" dirty="0"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38B31A3-0761-2839-322B-5B6B6E0E4324}"/>
              </a:ext>
            </a:extLst>
          </p:cNvPr>
          <p:cNvSpPr txBox="1"/>
          <p:nvPr/>
        </p:nvSpPr>
        <p:spPr>
          <a:xfrm>
            <a:off x="4408376" y="1586612"/>
            <a:ext cx="3990392" cy="3647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 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_IO('L',0x1234)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  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_IO('L',0x5678)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(..., unsigned int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...)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switch (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gpco_data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|= 0x3&lt;&lt;3;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case </a:t>
            </a:r>
            <a:r>
              <a:rPr lang="en-US" altLang="zh-CN" sz="11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LED_ALL_OFF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*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gpco_data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&amp;= ~(0x3&lt;&lt;3);</a:t>
            </a:r>
            <a:r>
              <a:rPr lang="zh-CN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default: break;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struct </a:t>
            </a:r>
            <a:r>
              <a:rPr lang="en-US" altLang="zh-CN" sz="11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file_operations</a:t>
            </a:r>
            <a:r>
              <a:rPr lang="en-US" altLang="zh-CN" sz="11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fops = {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led_open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.write = </a:t>
            </a:r>
            <a:r>
              <a:rPr lang="en-US" altLang="zh-CN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led_write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unlocked_ioctl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led_ioctl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altLang="zh-CN" sz="11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1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led_close</a:t>
            </a:r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9B4209E-23DF-7606-D08B-2BBC4716755E}"/>
              </a:ext>
            </a:extLst>
          </p:cNvPr>
          <p:cNvCxnSpPr>
            <a:cxnSpLocks/>
          </p:cNvCxnSpPr>
          <p:nvPr/>
        </p:nvCxnSpPr>
        <p:spPr>
          <a:xfrm>
            <a:off x="1668850" y="2983449"/>
            <a:ext cx="3191182" cy="142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CE17AB7-C4EC-7DB8-285E-7653F16E84E2}"/>
              </a:ext>
            </a:extLst>
          </p:cNvPr>
          <p:cNvCxnSpPr>
            <a:cxnSpLocks/>
          </p:cNvCxnSpPr>
          <p:nvPr/>
        </p:nvCxnSpPr>
        <p:spPr>
          <a:xfrm>
            <a:off x="1619672" y="3821848"/>
            <a:ext cx="3168352" cy="871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DDFD839-5793-5EE9-896E-442739A9BDD9}"/>
              </a:ext>
            </a:extLst>
          </p:cNvPr>
          <p:cNvCxnSpPr>
            <a:cxnSpLocks/>
          </p:cNvCxnSpPr>
          <p:nvPr/>
        </p:nvCxnSpPr>
        <p:spPr>
          <a:xfrm>
            <a:off x="1727684" y="4750257"/>
            <a:ext cx="306034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7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F591C-E599-B595-1923-73301B40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设备文件操作与设备驱动函数的对接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2AC43-53FA-4140-BEB8-EDB3F207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F55F2-DC8B-55C1-6F25-2C86043E1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asellaDiTesto 8">
            <a:extLst>
              <a:ext uri="{FF2B5EF4-FFF2-40B4-BE49-F238E27FC236}">
                <a16:creationId xmlns:a16="http://schemas.microsoft.com/office/drawing/2014/main" id="{8F27F701-DD59-21D5-C511-69C7BF6EACBD}"/>
              </a:ext>
            </a:extLst>
          </p:cNvPr>
          <p:cNvSpPr txBox="1"/>
          <p:nvPr/>
        </p:nvSpPr>
        <p:spPr>
          <a:xfrm>
            <a:off x="7578817" y="2090732"/>
            <a:ext cx="1241653" cy="86375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I/O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Device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A</a:t>
            </a:r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76442951-94BF-44E2-8EE0-24A4D9599984}"/>
              </a:ext>
            </a:extLst>
          </p:cNvPr>
          <p:cNvSpPr txBox="1"/>
          <p:nvPr/>
        </p:nvSpPr>
        <p:spPr>
          <a:xfrm>
            <a:off x="7578817" y="3553111"/>
            <a:ext cx="1241653" cy="86375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I/O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Device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Gill Sans MT" charset="0"/>
                <a:cs typeface="Gill Sans MT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BAB52-3C9A-6996-8473-A1CB87C6D9EA}"/>
              </a:ext>
            </a:extLst>
          </p:cNvPr>
          <p:cNvSpPr txBox="1"/>
          <p:nvPr/>
        </p:nvSpPr>
        <p:spPr>
          <a:xfrm>
            <a:off x="6248720" y="2065412"/>
            <a:ext cx="685800" cy="914400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 err="1">
                <a:latin typeface="Courier" charset="0"/>
                <a:cs typeface="Courier" charset="0"/>
              </a:rPr>
              <a:t>Open_A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Release_A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Read_A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Write_A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6B160-4683-63EA-FF21-0CDA055DF736}"/>
              </a:ext>
            </a:extLst>
          </p:cNvPr>
          <p:cNvSpPr txBox="1"/>
          <p:nvPr/>
        </p:nvSpPr>
        <p:spPr>
          <a:xfrm>
            <a:off x="6248720" y="3502470"/>
            <a:ext cx="685800" cy="914400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 err="1">
                <a:latin typeface="Courier" charset="0"/>
                <a:cs typeface="Courier" charset="0"/>
              </a:rPr>
              <a:t>Open_B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Release_B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Read_B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Write_B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1AB81E4-B962-E708-BF1F-918F06B026C8}"/>
              </a:ext>
            </a:extLst>
          </p:cNvPr>
          <p:cNvSpPr/>
          <p:nvPr/>
        </p:nvSpPr>
        <p:spPr>
          <a:xfrm flipH="1">
            <a:off x="7350217" y="2090732"/>
            <a:ext cx="171450" cy="8637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0DA96A7-23A3-7A7A-A027-1574557DFAB9}"/>
              </a:ext>
            </a:extLst>
          </p:cNvPr>
          <p:cNvSpPr/>
          <p:nvPr/>
        </p:nvSpPr>
        <p:spPr>
          <a:xfrm flipH="1">
            <a:off x="7350217" y="3572161"/>
            <a:ext cx="171450" cy="8637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12FD0-085D-D406-9189-F041AE027658}"/>
              </a:ext>
            </a:extLst>
          </p:cNvPr>
          <p:cNvSpPr txBox="1"/>
          <p:nvPr/>
        </p:nvSpPr>
        <p:spPr>
          <a:xfrm>
            <a:off x="5963177" y="4596725"/>
            <a:ext cx="1543093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设备驱动函数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EB08B-3D52-12E4-0678-4652794D564E}"/>
              </a:ext>
            </a:extLst>
          </p:cNvPr>
          <p:cNvSpPr txBox="1"/>
          <p:nvPr/>
        </p:nvSpPr>
        <p:spPr>
          <a:xfrm>
            <a:off x="4877077" y="2662233"/>
            <a:ext cx="1013053" cy="1261771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sz="1350" dirty="0">
                <a:latin typeface="Courier" charset="0"/>
                <a:cs typeface="Courier" charset="0"/>
              </a:rPr>
              <a:t>open()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release()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read()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write()</a:t>
            </a:r>
          </a:p>
          <a:p>
            <a:r>
              <a:rPr lang="en-US" sz="1350" dirty="0" err="1">
                <a:latin typeface="Courier" charset="0"/>
                <a:cs typeface="Courier" charset="0"/>
              </a:rPr>
              <a:t>ioct</a:t>
            </a:r>
            <a:r>
              <a:rPr lang="en-US" altLang="zh-CN" sz="1350" dirty="0" err="1">
                <a:latin typeface="Courier" charset="0"/>
                <a:cs typeface="Courier" charset="0"/>
              </a:rPr>
              <a:t>l</a:t>
            </a:r>
            <a:r>
              <a:rPr lang="en-US" sz="1350" dirty="0">
                <a:latin typeface="Courier" charset="0"/>
                <a:cs typeface="Courier" charset="0"/>
              </a:rPr>
              <a:t>()</a:t>
            </a:r>
          </a:p>
          <a:p>
            <a:r>
              <a:rPr lang="is-IS" sz="1350" dirty="0">
                <a:latin typeface="Courier" charset="0"/>
                <a:cs typeface="Courier" charset="0"/>
              </a:rPr>
              <a:t>…</a:t>
            </a:r>
            <a:endParaRPr lang="en-US" sz="1350" dirty="0">
              <a:latin typeface="Courier" charset="0"/>
              <a:cs typeface="Courier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E80599-483E-3FEF-0E49-796037E901BF}"/>
              </a:ext>
            </a:extLst>
          </p:cNvPr>
          <p:cNvSpPr txBox="1"/>
          <p:nvPr/>
        </p:nvSpPr>
        <p:spPr>
          <a:xfrm>
            <a:off x="4676657" y="4596725"/>
            <a:ext cx="1191487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VFS接口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70A68-9A7B-6559-F5A0-337B7C5081AD}"/>
              </a:ext>
            </a:extLst>
          </p:cNvPr>
          <p:cNvSpPr txBox="1"/>
          <p:nvPr/>
        </p:nvSpPr>
        <p:spPr>
          <a:xfrm>
            <a:off x="3414142" y="4596725"/>
            <a:ext cx="10858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+mn-ea"/>
              </a:rPr>
              <a:t>设备文件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457EF-1938-F691-8D20-7DD56ED0C8E9}"/>
              </a:ext>
            </a:extLst>
          </p:cNvPr>
          <p:cNvSpPr txBox="1"/>
          <p:nvPr/>
        </p:nvSpPr>
        <p:spPr>
          <a:xfrm>
            <a:off x="3349674" y="2137358"/>
            <a:ext cx="1185343" cy="770507"/>
          </a:xfrm>
          <a:prstGeom prst="can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norm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</a:t>
            </a:r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devA</a:t>
            </a:r>
            <a:endParaRPr lang="en-US" sz="1600" dirty="0">
              <a:solidFill>
                <a:schemeClr val="bg1"/>
              </a:solidFill>
              <a:latin typeface="Courier" charset="0"/>
              <a:cs typeface="Courier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29A5F-71A7-B70E-0D34-1F201A4EA6DE}"/>
              </a:ext>
            </a:extLst>
          </p:cNvPr>
          <p:cNvSpPr txBox="1"/>
          <p:nvPr/>
        </p:nvSpPr>
        <p:spPr>
          <a:xfrm>
            <a:off x="3349673" y="3599737"/>
            <a:ext cx="1185343" cy="770507"/>
          </a:xfrm>
          <a:prstGeom prst="can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norm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</a:t>
            </a:r>
            <a:r>
              <a:rPr lang="it-IT" sz="1600" dirty="0">
                <a:solidFill>
                  <a:schemeClr val="bg1"/>
                </a:solidFill>
                <a:latin typeface="Courier" charset="0"/>
                <a:cs typeface="Courier" charset="0"/>
              </a:rPr>
              <a:t>/</a:t>
            </a:r>
            <a:r>
              <a:rPr lang="it-IT" sz="1600" dirty="0" err="1">
                <a:solidFill>
                  <a:schemeClr val="bg1"/>
                </a:solidFill>
                <a:latin typeface="Courier" charset="0"/>
                <a:cs typeface="Courier" charset="0"/>
              </a:rPr>
              <a:t>devB</a:t>
            </a:r>
            <a:endParaRPr lang="en-US" sz="1600" dirty="0">
              <a:solidFill>
                <a:schemeClr val="bg1"/>
              </a:solidFill>
              <a:latin typeface="Courier" charset="0"/>
              <a:cs typeface="Courier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06615D-BAD3-3BFA-3370-3B3D07B42A87}"/>
              </a:ext>
            </a:extLst>
          </p:cNvPr>
          <p:cNvSpPr txBox="1"/>
          <p:nvPr/>
        </p:nvSpPr>
        <p:spPr>
          <a:xfrm>
            <a:off x="305078" y="2563924"/>
            <a:ext cx="2813271" cy="14542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350" dirty="0">
                <a:latin typeface="Courier" charset="0"/>
                <a:cs typeface="Courier" charset="0"/>
              </a:rPr>
              <a:t>f=open("/dev/</a:t>
            </a:r>
            <a:r>
              <a:rPr lang="en-US" sz="1350" dirty="0" err="1">
                <a:latin typeface="Courier" charset="0"/>
                <a:cs typeface="Courier" charset="0"/>
              </a:rPr>
              <a:t>devA</a:t>
            </a:r>
            <a:r>
              <a:rPr lang="en-US" sz="1350" dirty="0">
                <a:latin typeface="Courier" charset="0"/>
                <a:cs typeface="Courier" charset="0"/>
              </a:rPr>
              <a:t>",O_RDWR);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read(</a:t>
            </a:r>
            <a:r>
              <a:rPr lang="en-US" sz="1350" dirty="0" err="1">
                <a:latin typeface="Courier" charset="0"/>
                <a:cs typeface="Courier" charset="0"/>
              </a:rPr>
              <a:t>f,ibuff,ni</a:t>
            </a:r>
            <a:r>
              <a:rPr lang="en-US" sz="1350" dirty="0">
                <a:latin typeface="Courier" charset="0"/>
                <a:cs typeface="Courier" charset="0"/>
              </a:rPr>
              <a:t>);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…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write(</a:t>
            </a:r>
            <a:r>
              <a:rPr lang="en-US" sz="1350" dirty="0" err="1">
                <a:latin typeface="Courier" charset="0"/>
                <a:cs typeface="Courier" charset="0"/>
              </a:rPr>
              <a:t>f,obuf,no</a:t>
            </a:r>
            <a:r>
              <a:rPr lang="en-US" sz="1350" dirty="0">
                <a:latin typeface="Courier" charset="0"/>
                <a:cs typeface="Courier" charset="0"/>
              </a:rPr>
              <a:t>)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…</a:t>
            </a:r>
          </a:p>
          <a:p>
            <a:r>
              <a:rPr lang="en-US" sz="1350" dirty="0">
                <a:latin typeface="Courier" charset="0"/>
                <a:cs typeface="Courier" charset="0"/>
              </a:rPr>
              <a:t>close(f);</a:t>
            </a:r>
          </a:p>
          <a:p>
            <a:endParaRPr lang="en-US" sz="1350" dirty="0">
              <a:latin typeface="Courier" charset="0"/>
              <a:cs typeface="Courier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42102-0A33-6AD4-91EF-1996F8DBF546}"/>
              </a:ext>
            </a:extLst>
          </p:cNvPr>
          <p:cNvSpPr txBox="1"/>
          <p:nvPr/>
        </p:nvSpPr>
        <p:spPr>
          <a:xfrm>
            <a:off x="827584" y="1404830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 err="1">
                <a:latin typeface="+mn-ea"/>
              </a:rPr>
              <a:t>应用程序</a:t>
            </a:r>
            <a:endParaRPr lang="en-US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47DE4-0824-EF48-FA6E-E3E64414A6E3}"/>
              </a:ext>
            </a:extLst>
          </p:cNvPr>
          <p:cNvSpPr txBox="1"/>
          <p:nvPr/>
        </p:nvSpPr>
        <p:spPr>
          <a:xfrm>
            <a:off x="5868144" y="1413574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 err="1">
                <a:latin typeface="+mn-ea"/>
              </a:rPr>
              <a:t>设备驱动</a:t>
            </a:r>
            <a:endParaRPr lang="en-US" dirty="0">
              <a:latin typeface="+mn-ea"/>
            </a:endParaRP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0E82FFD-6D1E-3EC8-A8A2-5B52F36C67BA}"/>
              </a:ext>
            </a:extLst>
          </p:cNvPr>
          <p:cNvSpPr/>
          <p:nvPr/>
        </p:nvSpPr>
        <p:spPr>
          <a:xfrm rot="16200000">
            <a:off x="1606425" y="418995"/>
            <a:ext cx="188936" cy="279162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1D619D8-3C5E-7A92-0397-3A9F4269B80C}"/>
              </a:ext>
            </a:extLst>
          </p:cNvPr>
          <p:cNvSpPr/>
          <p:nvPr/>
        </p:nvSpPr>
        <p:spPr>
          <a:xfrm rot="16200000">
            <a:off x="6542124" y="1012634"/>
            <a:ext cx="216038" cy="1604354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DF66FA40-86B8-7CDD-DB93-521B74C403EE}"/>
              </a:ext>
            </a:extLst>
          </p:cNvPr>
          <p:cNvSpPr/>
          <p:nvPr/>
        </p:nvSpPr>
        <p:spPr>
          <a:xfrm rot="16200000">
            <a:off x="4432783" y="622036"/>
            <a:ext cx="201892" cy="23855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C8E339-DC96-ECAF-7FF1-AA19B70D9256}"/>
              </a:ext>
            </a:extLst>
          </p:cNvPr>
          <p:cNvSpPr txBox="1"/>
          <p:nvPr/>
        </p:nvSpPr>
        <p:spPr>
          <a:xfrm>
            <a:off x="3779912" y="1404830"/>
            <a:ext cx="1543050" cy="228600"/>
          </a:xfrm>
          <a:prstGeom prst="rect">
            <a:avLst/>
          </a:prstGeom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pPr algn="ctr"/>
            <a:r>
              <a:rPr lang="en-US" dirty="0">
                <a:latin typeface="+mn-ea"/>
              </a:rPr>
              <a:t>I/</a:t>
            </a:r>
            <a:r>
              <a:rPr lang="en-US" dirty="0" err="1">
                <a:latin typeface="+mn-ea"/>
              </a:rPr>
              <a:t>O子系统</a:t>
            </a:r>
            <a:endParaRPr lang="en-US" dirty="0">
              <a:latin typeface="+mn-ea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949C64C5-109A-0468-4688-52953055F9D7}"/>
              </a:ext>
            </a:extLst>
          </p:cNvPr>
          <p:cNvSpPr/>
          <p:nvPr/>
        </p:nvSpPr>
        <p:spPr>
          <a:xfrm rot="16200000">
            <a:off x="8089729" y="1185013"/>
            <a:ext cx="219833" cy="12416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BBA088-0688-730D-1889-57820384BCF0}"/>
              </a:ext>
            </a:extLst>
          </p:cNvPr>
          <p:cNvSpPr txBox="1"/>
          <p:nvPr/>
        </p:nvSpPr>
        <p:spPr>
          <a:xfrm>
            <a:off x="7724457" y="1399329"/>
            <a:ext cx="971507" cy="257090"/>
          </a:xfrm>
          <a:prstGeom prst="rect">
            <a:avLst/>
          </a:prstGeom>
        </p:spPr>
        <p:txBody>
          <a:bodyPr vert="horz" wrap="none" lIns="0" tIns="0" rIns="0" bIns="0" rtlCol="0" anchor="t">
            <a:normAutofit lnSpcReduction="10000"/>
          </a:bodyPr>
          <a:lstStyle/>
          <a:p>
            <a:pPr algn="ctr"/>
            <a:r>
              <a:rPr lang="en-US" dirty="0" err="1">
                <a:latin typeface="+mn-ea"/>
              </a:rPr>
              <a:t>硬件设备</a:t>
            </a:r>
            <a:endParaRPr 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5940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DAEC-AC5B-F14B-91E3-BDAB0E1D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设备的逻辑分类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4CE2E-F15E-B740-9ECE-D9E2D472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dirty="0"/>
              <a:t>Linux</a:t>
            </a:r>
            <a:r>
              <a:rPr kumimoji="1" lang="zh-CN" altLang="en-US" sz="2800" dirty="0"/>
              <a:t>设备分类</a:t>
            </a:r>
            <a:endParaRPr kumimoji="1" lang="en-US" altLang="zh-CN" sz="2800" dirty="0"/>
          </a:p>
          <a:p>
            <a:pPr lvl="1"/>
            <a:r>
              <a:rPr kumimoji="1" lang="zh-CN" altLang="en-US" sz="2400" dirty="0"/>
              <a:t>字符设备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块设备</a:t>
            </a:r>
            <a:endParaRPr kumimoji="1" lang="en-US" altLang="zh-CN" sz="2400" dirty="0"/>
          </a:p>
          <a:p>
            <a:pPr lvl="1"/>
            <a:r>
              <a:rPr kumimoji="1" lang="zh-CN" altLang="en-US" sz="2400" dirty="0"/>
              <a:t>网络设备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42102-B9D3-F346-B2E7-0C012D9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B24DD-3B15-7A43-88E4-0DF80FCB7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05C140-5DB7-3D4F-A1FA-5776155C76F4}"/>
              </a:ext>
            </a:extLst>
          </p:cNvPr>
          <p:cNvSpPr/>
          <p:nvPr/>
        </p:nvSpPr>
        <p:spPr>
          <a:xfrm>
            <a:off x="4006693" y="1273324"/>
            <a:ext cx="3775207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047EED-71E2-DD45-B5AC-C5560D001CA8}"/>
              </a:ext>
            </a:extLst>
          </p:cNvPr>
          <p:cNvSpPr/>
          <p:nvPr/>
        </p:nvSpPr>
        <p:spPr>
          <a:xfrm>
            <a:off x="4006693" y="1849388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系统接口（</a:t>
            </a:r>
            <a:r>
              <a:rPr kumimoji="1" lang="en-US" altLang="zh-CN" sz="1600" dirty="0" err="1"/>
              <a:t>syscall</a:t>
            </a:r>
            <a:r>
              <a:rPr kumimoji="1" lang="zh-CN" altLang="en-US" sz="1600" dirty="0"/>
              <a:t>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4B062-C007-9349-9604-F3A64EB721A8}"/>
              </a:ext>
            </a:extLst>
          </p:cNvPr>
          <p:cNvSpPr/>
          <p:nvPr/>
        </p:nvSpPr>
        <p:spPr>
          <a:xfrm>
            <a:off x="4021891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字符设备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5B9BFD-0092-7548-85DC-26900EC73BBA}"/>
              </a:ext>
            </a:extLst>
          </p:cNvPr>
          <p:cNvSpPr/>
          <p:nvPr/>
        </p:nvSpPr>
        <p:spPr>
          <a:xfrm>
            <a:off x="4006693" y="2362365"/>
            <a:ext cx="3775207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VFS</a:t>
            </a: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77B179-FAEA-D34D-9660-CEB079E2E6F3}"/>
              </a:ext>
            </a:extLst>
          </p:cNvPr>
          <p:cNvSpPr/>
          <p:nvPr/>
        </p:nvSpPr>
        <p:spPr>
          <a:xfrm>
            <a:off x="5295967" y="3434870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块设备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1BA30C-89DF-524C-9830-34D63C4E46F6}"/>
              </a:ext>
            </a:extLst>
          </p:cNvPr>
          <p:cNvSpPr/>
          <p:nvPr/>
        </p:nvSpPr>
        <p:spPr>
          <a:xfrm>
            <a:off x="6614179" y="3424974"/>
            <a:ext cx="1198181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网络设备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CDEE9B-16CA-3F40-9BCD-E974C8F14B5C}"/>
              </a:ext>
            </a:extLst>
          </p:cNvPr>
          <p:cNvSpPr/>
          <p:nvPr/>
        </p:nvSpPr>
        <p:spPr>
          <a:xfrm>
            <a:off x="5290034" y="2895898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块缓冲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807D56-961B-2844-9F3F-94BDCA97E18A}"/>
              </a:ext>
            </a:extLst>
          </p:cNvPr>
          <p:cNvSpPr/>
          <p:nvPr/>
        </p:nvSpPr>
        <p:spPr>
          <a:xfrm>
            <a:off x="6600590" y="2893601"/>
            <a:ext cx="1198181" cy="2880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协议栈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F6570-E843-0E49-996C-BC749AB87A1C}"/>
              </a:ext>
            </a:extLst>
          </p:cNvPr>
          <p:cNvSpPr/>
          <p:nvPr/>
        </p:nvSpPr>
        <p:spPr>
          <a:xfrm>
            <a:off x="4006693" y="3916600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设备接口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3FEF0-0AC2-714A-A9C7-777924380FC3}"/>
              </a:ext>
            </a:extLst>
          </p:cNvPr>
          <p:cNvSpPr/>
          <p:nvPr/>
        </p:nvSpPr>
        <p:spPr>
          <a:xfrm>
            <a:off x="4006693" y="4447836"/>
            <a:ext cx="3790404" cy="288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物理设备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0F28509-ACF0-DE4E-B445-3560CA6F8EA8}"/>
              </a:ext>
            </a:extLst>
          </p:cNvPr>
          <p:cNvCxnSpPr/>
          <p:nvPr/>
        </p:nvCxnSpPr>
        <p:spPr>
          <a:xfrm>
            <a:off x="5892639" y="2137420"/>
            <a:ext cx="0" cy="2249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9D80DC7-3B78-6C4B-8F3F-5C5B9D0F5F0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94297" y="1561356"/>
            <a:ext cx="0" cy="2880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5606D27-42DE-D642-A980-CDBEEA3C2D0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5889125" y="2650397"/>
            <a:ext cx="5172" cy="2455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5D51053-E200-BB4F-98BE-5E59EC184C73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>
            <a:off x="5889125" y="3183930"/>
            <a:ext cx="5933" cy="250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F42493A-B284-8C4F-B8D2-53C2C3BEC00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199681" y="2617972"/>
            <a:ext cx="0" cy="275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DE0A815-649E-7640-BF99-9A5E6A5A96E9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>
            <a:off x="7199681" y="3181633"/>
            <a:ext cx="13589" cy="243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3D1109F-C878-B74F-82D2-73CF02800AAF}"/>
              </a:ext>
            </a:extLst>
          </p:cNvPr>
          <p:cNvCxnSpPr>
            <a:cxnSpLocks/>
          </p:cNvCxnSpPr>
          <p:nvPr/>
        </p:nvCxnSpPr>
        <p:spPr>
          <a:xfrm flipV="1">
            <a:off x="4637024" y="2668469"/>
            <a:ext cx="0" cy="7650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0CCB3E9-2AE8-1E49-81B6-EB94A43EFFF6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895058" y="3722902"/>
            <a:ext cx="6837" cy="1936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FBCD1BFC-2A8D-1B4D-A988-B902CEA6113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5901895" y="4204632"/>
            <a:ext cx="0" cy="2432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951D664-9085-DD42-BF3C-C4E1344A08B5}"/>
              </a:ext>
            </a:extLst>
          </p:cNvPr>
          <p:cNvCxnSpPr>
            <a:stCxn id="9" idx="2"/>
          </p:cNvCxnSpPr>
          <p:nvPr/>
        </p:nvCxnSpPr>
        <p:spPr>
          <a:xfrm>
            <a:off x="4620982" y="3713006"/>
            <a:ext cx="0" cy="222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9E64A5C4-37E0-974F-8D93-27D28A865D6E}"/>
              </a:ext>
            </a:extLst>
          </p:cNvPr>
          <p:cNvCxnSpPr>
            <a:stCxn id="12" idx="2"/>
          </p:cNvCxnSpPr>
          <p:nvPr/>
        </p:nvCxnSpPr>
        <p:spPr>
          <a:xfrm>
            <a:off x="7213270" y="3713006"/>
            <a:ext cx="0" cy="2035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81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523DF-0BE4-E144-AB38-73AA093C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字符设备（</a:t>
            </a:r>
            <a:r>
              <a:rPr kumimoji="1" lang="en-US" altLang="zh-CN" dirty="0" err="1"/>
              <a:t>cdev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C8E40-B6FD-774C-9B88-9DFF27B7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键盘、鼠标、串口、打印机等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大多数伪设备：</a:t>
            </a:r>
            <a:r>
              <a:rPr kumimoji="1" lang="en-US" altLang="zh-CN" dirty="0"/>
              <a:t>/dev/null, /dev/zero, /dev/random</a:t>
            </a:r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chemeClr val="accent1"/>
                </a:solidFill>
              </a:rPr>
              <a:t>顺序访问</a:t>
            </a:r>
            <a:r>
              <a:rPr kumimoji="1" lang="zh-CN" altLang="en-US" dirty="0"/>
              <a:t>，每次读取一个字符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调用驱动程序和设备直接交互</a:t>
            </a:r>
            <a:endParaRPr kumimoji="1" lang="en-US" altLang="zh-CN" dirty="0"/>
          </a:p>
          <a:p>
            <a:r>
              <a:rPr kumimoji="1" lang="zh-CN" altLang="en-US" dirty="0"/>
              <a:t>文件抽象：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open(),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close()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0FB6EB-36AE-5A41-9E9E-CE7B2E8B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39F42-EF5E-F347-846B-47BB24867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9975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942A3-58FA-8540-BCAC-6F61F7FC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块设备（</a:t>
            </a:r>
            <a:r>
              <a:rPr kumimoji="1" lang="en-US" altLang="zh-CN" dirty="0" err="1"/>
              <a:t>blkdev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F1BE5-5EDC-3048-B404-10BD16E4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磁盘、</a:t>
            </a:r>
            <a:r>
              <a:rPr kumimoji="1" lang="en-US" altLang="zh-CN" dirty="0"/>
              <a:t>U</a:t>
            </a:r>
            <a:r>
              <a:rPr kumimoji="1" lang="zh-CN" altLang="en-US" dirty="0"/>
              <a:t>盘、闪存等（以存储设备为主）</a:t>
            </a:r>
            <a:endParaRPr kumimoji="1" lang="en-US" altLang="zh-CN" dirty="0"/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chemeClr val="accent1"/>
                </a:solidFill>
              </a:rPr>
              <a:t>随机访问</a:t>
            </a:r>
            <a:r>
              <a:rPr kumimoji="1" lang="zh-CN" altLang="en-US" dirty="0"/>
              <a:t>，以块为单位进行寻址（如</a:t>
            </a:r>
            <a:r>
              <a:rPr kumimoji="1" lang="en-US" altLang="zh-CN" dirty="0"/>
              <a:t>512</a:t>
            </a:r>
            <a:r>
              <a:rPr kumimoji="1" lang="en" altLang="zh-CN" dirty="0"/>
              <a:t>B</a:t>
            </a:r>
            <a:r>
              <a:rPr kumimoji="1" lang="zh-CN" altLang="en" dirty="0"/>
              <a:t>、</a:t>
            </a:r>
            <a:r>
              <a:rPr kumimoji="1" lang="en" altLang="zh-CN" dirty="0"/>
              <a:t>4KB</a:t>
            </a:r>
            <a:r>
              <a:rPr kumimoji="1" lang="zh-CN" altLang="en-US" dirty="0"/>
              <a:t>不等）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通常为块设备增加一层缓冲，避免频繁读写</a:t>
            </a:r>
            <a:r>
              <a:rPr kumimoji="1" lang="en" altLang="zh-CN" dirty="0"/>
              <a:t>I/O</a:t>
            </a:r>
            <a:r>
              <a:rPr kumimoji="1" lang="zh-CN" altLang="en-US" dirty="0"/>
              <a:t>导致的慢速</a:t>
            </a:r>
            <a:endParaRPr kumimoji="1" lang="en-US" altLang="zh-CN" dirty="0"/>
          </a:p>
          <a:p>
            <a:r>
              <a:rPr kumimoji="1" lang="zh-CN" altLang="en-US" dirty="0"/>
              <a:t>通常使用内存抽象：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内存映射文件</a:t>
            </a:r>
            <a:r>
              <a:rPr kumimoji="1" lang="en-US" altLang="zh-CN" dirty="0"/>
              <a:t>(Memory-Mapped File)</a:t>
            </a:r>
            <a:r>
              <a:rPr kumimoji="1" lang="zh-CN" altLang="en-US" dirty="0"/>
              <a:t>：</a:t>
            </a:r>
            <a:r>
              <a:rPr kumimoji="1" lang="en" altLang="zh-CN" dirty="0" err="1"/>
              <a:t>mmap</a:t>
            </a:r>
            <a:r>
              <a:rPr kumimoji="1" lang="en" altLang="zh-CN" dirty="0"/>
              <a:t>()</a:t>
            </a:r>
            <a:r>
              <a:rPr kumimoji="1" lang="zh-CN" altLang="en-US" dirty="0"/>
              <a:t>访问块设备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提供文件形式接口和原始</a:t>
            </a:r>
            <a:r>
              <a:rPr kumimoji="1" lang="en" altLang="zh-CN" dirty="0"/>
              <a:t>I/O</a:t>
            </a:r>
            <a:r>
              <a:rPr kumimoji="1" lang="zh-CN" altLang="en-US" dirty="0"/>
              <a:t>接口（</a:t>
            </a:r>
            <a:r>
              <a:rPr kumimoji="1" lang="zh-CN" altLang="en" dirty="0"/>
              <a:t>绕过</a:t>
            </a:r>
            <a:r>
              <a:rPr kumimoji="1" lang="zh-CN" altLang="en-US" dirty="0"/>
              <a:t>缓冲</a:t>
            </a:r>
            <a:r>
              <a:rPr kumimoji="1" lang="zh-CN" altLang="en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D4716-894E-BC42-BD51-C9BEEFF3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14F15-76E9-0A40-9278-6F93840D7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9869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5A5D9-6A49-C140-8AAF-F82E1CCC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内存映射文件：</a:t>
            </a:r>
            <a:r>
              <a:rPr kumimoji="1" lang="en-US" altLang="zh-CN" dirty="0" err="1"/>
              <a:t>mmap</a:t>
            </a:r>
            <a:r>
              <a:rPr kumimoji="1" lang="zh-CN" altLang="en-US" dirty="0"/>
              <a:t>访问磁盘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0D6D9-FF6E-D543-95A1-07EAC6C4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1067"/>
            <a:ext cx="8229600" cy="40240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1800" dirty="0"/>
              <a:t>可减少系统调用次数</a:t>
            </a:r>
            <a:endParaRPr kumimoji="1" lang="en-US" altLang="zh-CN" sz="1800" dirty="0"/>
          </a:p>
          <a:p>
            <a:pPr>
              <a:lnSpc>
                <a:spcPct val="100000"/>
              </a:lnSpc>
            </a:pPr>
            <a:r>
              <a:rPr kumimoji="1" lang="zh-CN" altLang="en-US" sz="1800" dirty="0"/>
              <a:t>可减少数据的拷贝次数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5349E-FD2F-3546-9B76-15129D0C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6CAC0-7EE5-1C41-BB59-958BB85C2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3533300-6FD2-8D03-6BCB-E39E53DFED00}"/>
              </a:ext>
            </a:extLst>
          </p:cNvPr>
          <p:cNvSpPr txBox="1"/>
          <p:nvPr/>
        </p:nvSpPr>
        <p:spPr>
          <a:xfrm>
            <a:off x="537831" y="2124646"/>
            <a:ext cx="3818145" cy="30162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char *message = "memory mapped file";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标准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I/O：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用</a:t>
            </a:r>
            <a:r>
              <a:rPr lang="en-US" altLang="zh-C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寻址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再用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写入数据</a:t>
            </a:r>
          </a:p>
          <a:p>
            <a:r>
              <a:rPr lang="zh-CN" alt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0x10, SEEK_SET);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write(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message,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(message));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close(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FED697D-3FBF-3FFF-F87D-132072E01558}"/>
              </a:ext>
            </a:extLst>
          </p:cNvPr>
          <p:cNvSpPr txBox="1"/>
          <p:nvPr/>
        </p:nvSpPr>
        <p:spPr>
          <a:xfrm>
            <a:off x="4572342" y="1201316"/>
            <a:ext cx="4176122" cy="39395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mman.h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stat.h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struct stat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sbuf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char *message = "memory mapped file";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mmap.c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O_RDWR);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sbuf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获取文件长度</a:t>
            </a:r>
          </a:p>
          <a:p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内存映射文件：用指针直接寻址，将数据写入内存</a:t>
            </a:r>
          </a:p>
          <a:p>
            <a:r>
              <a:rPr lang="zh-CN" alt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*data =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caddr_t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)0,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sbuf.st_size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PROT_READ | PROT_WRITE, MAP_SHARED,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</a:p>
          <a:p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(data+0x10, message, </a:t>
            </a:r>
            <a:r>
              <a:rPr lang="en-US" sz="1000" b="1" dirty="0" err="1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000" b="1" dirty="0">
                <a:solidFill>
                  <a:srgbClr val="FF2F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(message));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close(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02E36081-DFD4-07F9-D509-64436BABE37C}"/>
              </a:ext>
            </a:extLst>
          </p:cNvPr>
          <p:cNvSpPr/>
          <p:nvPr/>
        </p:nvSpPr>
        <p:spPr>
          <a:xfrm>
            <a:off x="3563888" y="1338506"/>
            <a:ext cx="864096" cy="3600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43987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6499B-7655-6443-A56A-45F6C321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网络设备（</a:t>
            </a:r>
            <a:r>
              <a:rPr kumimoji="1" lang="en-US" altLang="zh-CN" dirty="0" err="1"/>
              <a:t>netdev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2C368C-1452-5942-BA1E-93170B68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以太网、</a:t>
            </a:r>
            <a:r>
              <a:rPr kumimoji="1" lang="en-US" altLang="zh-CN" dirty="0" err="1"/>
              <a:t>WiFi</a:t>
            </a:r>
            <a:r>
              <a:rPr kumimoji="1" lang="zh-CN" altLang="en-US" dirty="0"/>
              <a:t>、蓝牙等（以通信设备为主）</a:t>
            </a:r>
            <a:endParaRPr kumimoji="1" lang="en-US" altLang="zh-CN" dirty="0"/>
          </a:p>
          <a:p>
            <a:r>
              <a:rPr kumimoji="1" lang="zh-CN" altLang="en-US" dirty="0"/>
              <a:t>访问模式：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面向</a:t>
            </a:r>
            <a:r>
              <a:rPr kumimoji="1" lang="zh-CN" altLang="en-US" b="1" dirty="0">
                <a:solidFill>
                  <a:schemeClr val="accent1"/>
                </a:solidFill>
              </a:rPr>
              <a:t>格式化报文</a:t>
            </a:r>
            <a:r>
              <a:rPr kumimoji="1" lang="zh-CN" altLang="en-US" dirty="0"/>
              <a:t>的收发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在驱动层之上维护多种协议，支持不同策略</a:t>
            </a:r>
            <a:endParaRPr kumimoji="1" lang="en-US" altLang="zh-CN" dirty="0"/>
          </a:p>
          <a:p>
            <a:r>
              <a:rPr kumimoji="1" lang="zh-CN" altLang="en-US" dirty="0"/>
              <a:t>套接字抽象：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socket(),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send(),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2A34AF-4714-B94C-9D3E-DB6D244D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9E0C3-EA2C-6E45-94D5-B5F535734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82037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FCDB0-35A7-D9B5-D1A6-71569DC2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设备逻辑分类小结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50243-2CB2-6C82-183E-A0B45D088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设备分类：</a:t>
            </a:r>
          </a:p>
          <a:p>
            <a:pPr lvl="1"/>
            <a:r>
              <a:rPr kumimoji="1" lang="zh-CN" altLang="en-US" dirty="0"/>
              <a:t>字符设备（</a:t>
            </a:r>
            <a:r>
              <a:rPr kumimoji="1" lang="en" altLang="zh-CN" dirty="0" err="1"/>
              <a:t>cdev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键盘、鼠标、串口、打印机等</a:t>
            </a:r>
          </a:p>
          <a:p>
            <a:pPr lvl="1"/>
            <a:r>
              <a:rPr kumimoji="1" lang="zh-CN" altLang="en-US" dirty="0"/>
              <a:t>块设备（</a:t>
            </a:r>
            <a:r>
              <a:rPr kumimoji="1" lang="en" altLang="zh-CN" dirty="0" err="1"/>
              <a:t>blkdev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磁盘、</a:t>
            </a:r>
            <a:r>
              <a:rPr kumimoji="1" lang="en" altLang="zh-CN" dirty="0"/>
              <a:t>U</a:t>
            </a:r>
            <a:r>
              <a:rPr kumimoji="1" lang="zh-CN" altLang="en-US" dirty="0"/>
              <a:t>盘、闪存等存储设备</a:t>
            </a:r>
          </a:p>
          <a:p>
            <a:pPr lvl="1"/>
            <a:r>
              <a:rPr kumimoji="1" lang="zh-CN" altLang="en-US" dirty="0"/>
              <a:t>网络设备（</a:t>
            </a:r>
            <a:r>
              <a:rPr kumimoji="1" lang="en" altLang="zh-CN" dirty="0" err="1"/>
              <a:t>netdev</a:t>
            </a:r>
            <a:r>
              <a:rPr kumimoji="1" lang="zh-CN" altLang="en" dirty="0"/>
              <a:t>）：</a:t>
            </a:r>
            <a:r>
              <a:rPr kumimoji="1" lang="zh-CN" altLang="en-US" dirty="0"/>
              <a:t>以太网、</a:t>
            </a:r>
            <a:r>
              <a:rPr kumimoji="1" lang="en" altLang="zh-CN" dirty="0" err="1"/>
              <a:t>WiFi</a:t>
            </a:r>
            <a:r>
              <a:rPr kumimoji="1" lang="zh-CN" altLang="en" dirty="0"/>
              <a:t>、</a:t>
            </a:r>
            <a:r>
              <a:rPr kumimoji="1" lang="zh-CN" altLang="en-US" dirty="0"/>
              <a:t>蓝牙等通信设备</a:t>
            </a:r>
            <a:endParaRPr kumimoji="1" lang="en" altLang="zh-CN" dirty="0"/>
          </a:p>
          <a:p>
            <a:r>
              <a:rPr kumimoji="1" lang="zh-CN" altLang="en-US" dirty="0"/>
              <a:t>设备接口：</a:t>
            </a:r>
          </a:p>
          <a:p>
            <a:pPr lvl="1"/>
            <a:r>
              <a:rPr kumimoji="1" lang="zh-CN" altLang="en-US" dirty="0"/>
              <a:t>字符设备： 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</a:t>
            </a:r>
          </a:p>
          <a:p>
            <a:pPr lvl="1"/>
            <a:r>
              <a:rPr kumimoji="1" lang="zh-CN" altLang="en-US" dirty="0"/>
              <a:t>块设备： 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write(), </a:t>
            </a:r>
            <a:r>
              <a:rPr kumimoji="1" lang="en" altLang="zh-CN" dirty="0" err="1"/>
              <a:t>lseek</a:t>
            </a:r>
            <a:r>
              <a:rPr kumimoji="1" lang="en" altLang="zh-CN" dirty="0"/>
              <a:t>(), </a:t>
            </a:r>
            <a:r>
              <a:rPr kumimoji="1" lang="en" altLang="zh-CN" dirty="0" err="1"/>
              <a:t>mmap</a:t>
            </a:r>
            <a:r>
              <a:rPr kumimoji="1" lang="en" altLang="zh-CN" dirty="0"/>
              <a:t>()</a:t>
            </a:r>
          </a:p>
          <a:p>
            <a:pPr lvl="1"/>
            <a:r>
              <a:rPr kumimoji="1" lang="zh-CN" altLang="en-US" dirty="0"/>
              <a:t>网络设备：</a:t>
            </a:r>
            <a:r>
              <a:rPr kumimoji="1" lang="en" altLang="zh-CN" dirty="0"/>
              <a:t>socket(), send(), </a:t>
            </a:r>
            <a:r>
              <a:rPr kumimoji="1" lang="en" altLang="zh-CN" dirty="0" err="1"/>
              <a:t>recv</a:t>
            </a:r>
            <a:r>
              <a:rPr kumimoji="1" lang="en" altLang="zh-CN" dirty="0"/>
              <a:t>()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同时兼容文件接口（也可以用</a:t>
            </a:r>
            <a:r>
              <a:rPr kumimoji="1" lang="en" altLang="zh-CN" dirty="0"/>
              <a:t>read()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" altLang="zh-CN" dirty="0"/>
              <a:t>write()</a:t>
            </a:r>
            <a:r>
              <a:rPr kumimoji="1" lang="zh-CN" altLang="en-US" dirty="0"/>
              <a:t>读写</a:t>
            </a:r>
            <a:r>
              <a:rPr kumimoji="1" lang="en" altLang="zh-CN" dirty="0"/>
              <a:t>socket</a:t>
            </a:r>
            <a:r>
              <a:rPr kumimoji="1" lang="zh-CN" altLang="en" dirty="0"/>
              <a:t>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0AA4D-0FF7-7690-A454-587E2F4A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83F69-B21F-06E9-1911-111CF7C46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2611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D469E-CC91-2B55-8EDF-860DF724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设备的缓冲管理：单缓冲区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D11D0-B93A-3A18-19BE-30EF44815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问题：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读写性能不匹配：慢速的存储设备 </a:t>
            </a:r>
            <a:r>
              <a:rPr kumimoji="1" lang="en-US" altLang="zh-CN" sz="1800" dirty="0"/>
              <a:t>vs.</a:t>
            </a:r>
            <a:r>
              <a:rPr kumimoji="1" lang="zh-CN" altLang="en-US" sz="1800" dirty="0"/>
              <a:t> 高速的</a:t>
            </a:r>
            <a:r>
              <a:rPr kumimoji="1" lang="en-US" altLang="zh-CN" sz="1800" dirty="0"/>
              <a:t>CPU</a:t>
            </a:r>
          </a:p>
          <a:p>
            <a:pPr lvl="1"/>
            <a:r>
              <a:rPr kumimoji="1" lang="zh-CN" altLang="en-US" sz="1800" dirty="0"/>
              <a:t>读写粒度不匹配：小数据的访问存在读写放大的问题</a:t>
            </a:r>
            <a:endParaRPr kumimoji="1" lang="en-US" altLang="zh-CN" sz="1800" dirty="0"/>
          </a:p>
          <a:p>
            <a:r>
              <a:rPr kumimoji="1" lang="zh-CN" altLang="en-US" sz="2000" dirty="0"/>
              <a:t>解决方法：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开辟内存缓冲区，避免频繁读写</a:t>
            </a:r>
            <a:r>
              <a:rPr kumimoji="1" lang="en-US" altLang="zh-CN" sz="1800" dirty="0"/>
              <a:t>I/O</a:t>
            </a:r>
          </a:p>
          <a:p>
            <a:r>
              <a:rPr kumimoji="1" lang="zh-CN" altLang="en-US" sz="2000" dirty="0"/>
              <a:t>单缓冲区例子：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cache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9CEE0-ACFE-5870-AABF-921923E6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25B058-5072-4AB7-59FF-8BB3CDB0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95CEB8-0107-7022-C7E2-938AF892789F}"/>
              </a:ext>
            </a:extLst>
          </p:cNvPr>
          <p:cNvSpPr/>
          <p:nvPr/>
        </p:nvSpPr>
        <p:spPr>
          <a:xfrm>
            <a:off x="1123999" y="4369668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磁盘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A69E30-20C2-DEC2-D768-1B30E94FCEFF}"/>
              </a:ext>
            </a:extLst>
          </p:cNvPr>
          <p:cNvSpPr/>
          <p:nvPr/>
        </p:nvSpPr>
        <p:spPr>
          <a:xfrm>
            <a:off x="6160367" y="4369668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用户进程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73F6BFAC-0098-15A6-EBF2-BF6371923D17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>
            <a:off x="5287887" y="4585692"/>
            <a:ext cx="87248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EFE5D6F2-D477-954F-99C6-6F385CEE4C45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2625825" y="4585692"/>
            <a:ext cx="93806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C95C7B9-3AD2-B276-FE34-2663FF631CF8}"/>
              </a:ext>
            </a:extLst>
          </p:cNvPr>
          <p:cNvSpPr/>
          <p:nvPr/>
        </p:nvSpPr>
        <p:spPr>
          <a:xfrm>
            <a:off x="3563886" y="4369668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Page</a:t>
            </a:r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Cache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81852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EB1F6-50E2-5930-41D6-D8900820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设备的缓冲管理：双缓冲区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5C7D3-25E6-DC3F-3F07-5EBC5FC1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维护两个缓冲区，轮流使用</a:t>
            </a:r>
            <a:endParaRPr kumimoji="1" lang="en-US" altLang="zh-CN" sz="2000" dirty="0"/>
          </a:p>
          <a:p>
            <a:r>
              <a:rPr kumimoji="1" lang="zh-CN" altLang="en-US" sz="2000" dirty="0"/>
              <a:t>第一个缓冲区被填满但没被读取前，使用第二个缓冲区填充数据</a:t>
            </a:r>
            <a:endParaRPr kumimoji="1" lang="en-US" altLang="zh-CN" sz="2000" dirty="0"/>
          </a:p>
          <a:p>
            <a:r>
              <a:rPr kumimoji="1" lang="zh-CN" altLang="en-US" sz="2000" dirty="0"/>
              <a:t>双缓冲区例子：显存刷新，防止屏幕内容出现闪烁或撕裂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前置缓冲区被读取后，通过“交换”（</a:t>
            </a:r>
            <a:r>
              <a:rPr kumimoji="1" lang="en-US" altLang="zh-CN" sz="1600" dirty="0"/>
              <a:t>swap</a:t>
            </a:r>
            <a:r>
              <a:rPr kumimoji="1" lang="zh-CN" altLang="en-US" sz="1600" dirty="0"/>
              <a:t>）将前置和后置身份互换</a:t>
            </a:r>
            <a:endParaRPr kumimoji="1" lang="en-US" altLang="zh-CN" sz="1600" dirty="0"/>
          </a:p>
          <a:p>
            <a:r>
              <a:rPr kumimoji="1" lang="zh-CN" altLang="en-US" sz="2000" dirty="0"/>
              <a:t>游戏中甚至启用三重缓冲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6FA35-4311-471D-F762-6E8CC5CE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88D90-A481-FE9F-BC90-DD20F5A78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9289F0-8BD1-8A6E-E598-845ED364275E}"/>
              </a:ext>
            </a:extLst>
          </p:cNvPr>
          <p:cNvSpPr/>
          <p:nvPr/>
        </p:nvSpPr>
        <p:spPr>
          <a:xfrm>
            <a:off x="1187623" y="4181954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GPU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825DF7-970C-77D4-C6DB-AD28EE6C69B3}"/>
              </a:ext>
            </a:extLst>
          </p:cNvPr>
          <p:cNvSpPr/>
          <p:nvPr/>
        </p:nvSpPr>
        <p:spPr>
          <a:xfrm>
            <a:off x="3491879" y="3749906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前置缓冲区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24F77C-94CF-2A9F-1A47-58680AB7786D}"/>
              </a:ext>
            </a:extLst>
          </p:cNvPr>
          <p:cNvSpPr/>
          <p:nvPr/>
        </p:nvSpPr>
        <p:spPr>
          <a:xfrm>
            <a:off x="6088359" y="4181954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游戏进程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8D27ECC-FD15-83E1-5B8B-8CD9117A068C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 flipV="1">
            <a:off x="5215879" y="4397978"/>
            <a:ext cx="872480" cy="2597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D0F84DD-448D-6E0D-052C-F05F47F99B4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689449" y="3965930"/>
            <a:ext cx="802430" cy="43204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E54C82F-DF66-3DD9-B40B-F4206F7BA8AE}"/>
              </a:ext>
            </a:extLst>
          </p:cNvPr>
          <p:cNvSpPr/>
          <p:nvPr/>
        </p:nvSpPr>
        <p:spPr>
          <a:xfrm>
            <a:off x="3491878" y="4441676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后置缓冲区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AB596F-843A-7983-5D3C-20E93F140742}"/>
              </a:ext>
            </a:extLst>
          </p:cNvPr>
          <p:cNvSpPr txBox="1"/>
          <p:nvPr/>
        </p:nvSpPr>
        <p:spPr>
          <a:xfrm>
            <a:off x="5483332" y="45252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F2E3A6-4DB9-DF81-AC2A-856D386E21CB}"/>
              </a:ext>
            </a:extLst>
          </p:cNvPr>
          <p:cNvSpPr txBox="1"/>
          <p:nvPr/>
        </p:nvSpPr>
        <p:spPr>
          <a:xfrm>
            <a:off x="2689449" y="37617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读取</a:t>
            </a:r>
          </a:p>
        </p:txBody>
      </p:sp>
    </p:spTree>
    <p:extLst>
      <p:ext uri="{BB962C8B-B14F-4D97-AF65-F5344CB8AC3E}">
        <p14:creationId xmlns:p14="http://schemas.microsoft.com/office/powerpoint/2010/main" val="641795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EB1F6-50E2-5930-41D6-D8900820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设备的缓冲管理：双缓冲区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5C7D3-25E6-DC3F-3F07-5EBC5FC10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维护两个缓冲区，轮流使用</a:t>
            </a:r>
            <a:endParaRPr kumimoji="1" lang="en-US" altLang="zh-CN" sz="2000" dirty="0"/>
          </a:p>
          <a:p>
            <a:r>
              <a:rPr kumimoji="1" lang="zh-CN" altLang="en-US" sz="2000" dirty="0"/>
              <a:t>第一个缓冲区被填满但没被读取前，使用第二个缓冲区填充数据</a:t>
            </a:r>
            <a:endParaRPr kumimoji="1" lang="en-US" altLang="zh-CN" sz="2000" dirty="0"/>
          </a:p>
          <a:p>
            <a:r>
              <a:rPr kumimoji="1" lang="zh-CN" altLang="en-US" sz="2000" dirty="0"/>
              <a:t>双缓冲区例子：显存刷新，防止屏幕内容出现闪烁或撕裂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前置缓冲区被读取后，通过“交换” 将前置和后置身份互换</a:t>
            </a:r>
            <a:endParaRPr kumimoji="1" lang="en-US" altLang="zh-CN" sz="1600" dirty="0"/>
          </a:p>
          <a:p>
            <a:r>
              <a:rPr kumimoji="1" lang="zh-CN" altLang="en-US" sz="2000" dirty="0"/>
              <a:t>游戏中甚至启用三重缓冲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6FA35-4311-471D-F762-6E8CC5CE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88D90-A481-FE9F-BC90-DD20F5A78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9289F0-8BD1-8A6E-E598-845ED364275E}"/>
              </a:ext>
            </a:extLst>
          </p:cNvPr>
          <p:cNvSpPr/>
          <p:nvPr/>
        </p:nvSpPr>
        <p:spPr>
          <a:xfrm>
            <a:off x="1187623" y="4181954"/>
            <a:ext cx="1501826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GPU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825DF7-970C-77D4-C6DB-AD28EE6C69B3}"/>
              </a:ext>
            </a:extLst>
          </p:cNvPr>
          <p:cNvSpPr/>
          <p:nvPr/>
        </p:nvSpPr>
        <p:spPr>
          <a:xfrm>
            <a:off x="3491879" y="3749906"/>
            <a:ext cx="1724001" cy="432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后置缓冲区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24F77C-94CF-2A9F-1A47-58680AB7786D}"/>
              </a:ext>
            </a:extLst>
          </p:cNvPr>
          <p:cNvSpPr/>
          <p:nvPr/>
        </p:nvSpPr>
        <p:spPr>
          <a:xfrm>
            <a:off x="6088359" y="4181954"/>
            <a:ext cx="1724001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游戏进程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8D27ECC-FD15-83E1-5B8B-8CD9117A068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215880" y="3965930"/>
            <a:ext cx="872479" cy="43204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D0F84DD-448D-6E0D-052C-F05F47F99B45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689449" y="4397978"/>
            <a:ext cx="802429" cy="25972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E54C82F-DF66-3DD9-B40B-F4206F7BA8AE}"/>
              </a:ext>
            </a:extLst>
          </p:cNvPr>
          <p:cNvSpPr/>
          <p:nvPr/>
        </p:nvSpPr>
        <p:spPr>
          <a:xfrm>
            <a:off x="3491878" y="4441676"/>
            <a:ext cx="1724001" cy="43204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前置缓冲区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AB596F-843A-7983-5D3C-20E93F140742}"/>
              </a:ext>
            </a:extLst>
          </p:cNvPr>
          <p:cNvSpPr txBox="1"/>
          <p:nvPr/>
        </p:nvSpPr>
        <p:spPr>
          <a:xfrm>
            <a:off x="5480029" y="38054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F2E3A6-4DB9-DF81-AC2A-856D386E21CB}"/>
              </a:ext>
            </a:extLst>
          </p:cNvPr>
          <p:cNvSpPr txBox="1"/>
          <p:nvPr/>
        </p:nvSpPr>
        <p:spPr>
          <a:xfrm>
            <a:off x="2711820" y="45689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读取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6101F5-858C-9456-CA45-0F315D3556F2}"/>
              </a:ext>
            </a:extLst>
          </p:cNvPr>
          <p:cNvSpPr txBox="1"/>
          <p:nvPr/>
        </p:nvSpPr>
        <p:spPr>
          <a:xfrm>
            <a:off x="3620344" y="495418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交换缓冲区</a:t>
            </a:r>
          </a:p>
        </p:txBody>
      </p:sp>
    </p:spTree>
    <p:extLst>
      <p:ext uri="{BB962C8B-B14F-4D97-AF65-F5344CB8AC3E}">
        <p14:creationId xmlns:p14="http://schemas.microsoft.com/office/powerpoint/2010/main" val="560591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DC26A-633B-1811-72F3-1ED7D9BA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设备的缓冲管理：环形缓冲区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31982-778E-05BA-EB4D-B5989694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容许更多缓冲区存在，提高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带宽</a:t>
            </a:r>
            <a:endParaRPr kumimoji="1" lang="en-US" altLang="zh-CN" sz="2000" dirty="0"/>
          </a:p>
          <a:p>
            <a:r>
              <a:rPr kumimoji="1" lang="zh-CN" altLang="en-US" sz="2000" dirty="0"/>
              <a:t>组成：一段连续内存区域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两个指针，读写时自动推进指针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读指针：指向有效数据区域的开始地址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写指针：指向下一个空闲区域的开始地址</a:t>
            </a:r>
            <a:endParaRPr kumimoji="1" lang="en-US" altLang="zh-CN" sz="1800" dirty="0"/>
          </a:p>
          <a:p>
            <a:r>
              <a:rPr kumimoji="1" lang="zh-CN" altLang="en-US" sz="2000" dirty="0"/>
              <a:t>环形缓冲区例子：网卡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缓冲区、</a:t>
            </a:r>
            <a:r>
              <a:rPr kumimoji="1" lang="en-US" altLang="zh-CN" sz="2000" dirty="0" err="1"/>
              <a:t>NVMe</a:t>
            </a:r>
            <a:r>
              <a:rPr kumimoji="1" lang="zh-CN" altLang="en-US" sz="2000" dirty="0"/>
              <a:t>存储的命令队列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CE99C-03B4-8970-199D-39AEC9B4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DC4C2-DCD4-46EA-6340-927C673F4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3710684-028F-1A1A-7C00-66B9A2DA6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49" y="3511600"/>
            <a:ext cx="3218636" cy="181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查看源图像">
            <a:extLst>
              <a:ext uri="{FF2B5EF4-FFF2-40B4-BE49-F238E27FC236}">
                <a16:creationId xmlns:a16="http://schemas.microsoft.com/office/drawing/2014/main" id="{371BCA58-4456-D06D-C459-D3042F198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15" y="3577580"/>
            <a:ext cx="3044935" cy="175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5357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10E0F-8365-63F8-CB18-06901295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设备的缓冲区管理小结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1E6E8-DB62-8828-D48F-13BCD8D1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多种缓冲区实现方式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单缓冲区：块设备的缓冲区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双缓冲区：常用于游戏或流媒体的显存同步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环形缓冲区：网卡的数据交互和</a:t>
            </a:r>
            <a:r>
              <a:rPr kumimoji="1" lang="en-US" altLang="zh-CN" dirty="0" err="1"/>
              <a:t>NVMe</a:t>
            </a:r>
            <a:r>
              <a:rPr kumimoji="1" lang="zh-CN" altLang="en-US" dirty="0"/>
              <a:t>存储的命令交互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思考题：缓冲区是否总能提高性能？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缓冲区意味着数据的多次拷贝，使用过多反而损伤性能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C7DE7-7493-77AC-AA55-E4D612DA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E654A-41AB-41C7-F721-B58F68B0D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4251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2E846-96AF-5A25-AEA4-92666791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问题：如何同时监听多个设备？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76D67-A834-136E-3616-034305E5F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如果要支持多个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怎么办？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：一旦一个阻塞，则其余无法响应</a:t>
            </a:r>
            <a:endParaRPr kumimoji="1" lang="en-US" altLang="zh-CN" dirty="0"/>
          </a:p>
          <a:p>
            <a:r>
              <a:rPr kumimoji="1" lang="zh-CN" altLang="en-US" dirty="0"/>
              <a:t>改成非阻塞可以么？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：需要程序不断轮询设备情况：浪费</a:t>
            </a:r>
            <a:r>
              <a:rPr kumimoji="1" lang="en-US" altLang="zh-CN" dirty="0"/>
              <a:t>CPU</a:t>
            </a:r>
            <a:endParaRPr kumimoji="1" lang="zh-CN" altLang="en-US" dirty="0"/>
          </a:p>
          <a:p>
            <a:r>
              <a:rPr kumimoji="1" lang="zh-CN" altLang="en-US" dirty="0"/>
              <a:t>能否采用异步通知机制？让内核主动来通知？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：允许程序先做其他事，等设备数据就绪再接收通知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多路复用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：仍为阻塞，但一旦设备数据就绪就收到通知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D85532-D91A-1A44-EE91-7ED122E9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C93FEC-6240-7ECB-6A7A-3E384C178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04896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6FE8E1-9372-968F-0AF9-4169464766B6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6B4240-85AF-ECCF-E0EF-4777F036592F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73F6F3-C38C-C0A6-55A6-F8143384D267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FC8C72-94F0-2B2C-64EE-08BF95A7C679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E7E48F-948A-FF94-EE78-AA125198F7CA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C56849-4DF3-47AF-E287-C7759E2CEB78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A5E9F7-02E0-6D9D-BFC5-B00FE4A24584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5C7969-F21D-E882-DBAB-417914763D05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5EE42CA1-3616-7FF2-2280-89C0502A282F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73194FB-4B9C-DEEA-8AFD-4483FBEBEFFA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07BA78-5D18-0C91-60AE-3ED8A7295E82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47EC50-59E7-3B11-BC5E-CBCCF25B50A5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CED68F-B800-6C1E-CCF1-27E753C542BC}"/>
              </a:ext>
            </a:extLst>
          </p:cNvPr>
          <p:cNvSpPr txBox="1"/>
          <p:nvPr/>
        </p:nvSpPr>
        <p:spPr>
          <a:xfrm>
            <a:off x="262363" y="294385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read()</a:t>
            </a:r>
            <a:r>
              <a:rPr kumimoji="1" lang="zh-CN" altLang="en-US" sz="1600" dirty="0"/>
              <a:t>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直到数据可用</a:t>
            </a:r>
            <a:endParaRPr kumimoji="1" lang="en-US" altLang="zh-CN" sz="16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CFED376C-DB50-E0B0-5A7E-3FB2A1B29573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5411068-12A4-FDDC-46BE-225C907CF23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440C474-DCC4-3D2E-3944-5315B36DFC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B6B5766-4038-0F58-902E-FB40BCC381CA}"/>
              </a:ext>
            </a:extLst>
          </p:cNvPr>
          <p:cNvCxnSpPr/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C9E673B4-C18C-B0CE-2335-21BBD708597C}"/>
              </a:ext>
            </a:extLst>
          </p:cNvPr>
          <p:cNvCxnSpPr/>
          <p:nvPr/>
        </p:nvCxnSpPr>
        <p:spPr>
          <a:xfrm>
            <a:off x="3851920" y="1993404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DBE0DB4-6976-E0CF-9530-58A954C3D1F7}"/>
              </a:ext>
            </a:extLst>
          </p:cNvPr>
          <p:cNvSpPr txBox="1"/>
          <p:nvPr/>
        </p:nvSpPr>
        <p:spPr>
          <a:xfrm>
            <a:off x="4058458" y="165044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0B26A28-5FF0-E979-9307-0B0320E6E29D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B36F399-9196-0C46-E9B0-89972730E9B4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19905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5" grpId="0"/>
      <p:bldP spid="2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7466DF-1A6C-311A-C2B4-5D5A8BF9DBF4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ABBF23-2A33-25F4-44E4-D74611410A9B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8FBB71-1DC0-2B90-FFD8-E93DB0ACCB0E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8E6E44-78B1-B8BB-F96E-34CF4EE5684D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8D0CD1-172E-4ECE-4B8D-F708605107D0}"/>
              </a:ext>
            </a:extLst>
          </p:cNvPr>
          <p:cNvSpPr/>
          <p:nvPr/>
        </p:nvSpPr>
        <p:spPr>
          <a:xfrm>
            <a:off x="5004048" y="2662819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3779EB-DC45-FFF2-0B34-14471A87DB97}"/>
              </a:ext>
            </a:extLst>
          </p:cNvPr>
          <p:cNvSpPr/>
          <p:nvPr/>
        </p:nvSpPr>
        <p:spPr>
          <a:xfrm>
            <a:off x="5004048" y="3505572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6D17B9-1C64-AE7E-A56F-5AB0056E0AAF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34629F-1716-8E92-5AB0-7F9A0D66DAB5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34EA4466-5B44-96CD-2AA3-806ADE70A049}"/>
              </a:ext>
            </a:extLst>
          </p:cNvPr>
          <p:cNvSpPr/>
          <p:nvPr/>
        </p:nvSpPr>
        <p:spPr>
          <a:xfrm>
            <a:off x="7020272" y="1921395"/>
            <a:ext cx="239688" cy="1800201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4D70E550-BD4E-123D-EF76-1AB1DE169E1E}"/>
              </a:ext>
            </a:extLst>
          </p:cNvPr>
          <p:cNvSpPr/>
          <p:nvPr/>
        </p:nvSpPr>
        <p:spPr>
          <a:xfrm>
            <a:off x="7035062" y="3793604"/>
            <a:ext cx="239688" cy="936104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621766-A456-AD94-0773-45A90D581759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6F5D06-B415-49C5-E519-51B5F25266D8}"/>
              </a:ext>
            </a:extLst>
          </p:cNvPr>
          <p:cNvSpPr txBox="1"/>
          <p:nvPr/>
        </p:nvSpPr>
        <p:spPr>
          <a:xfrm>
            <a:off x="398617" y="2943853"/>
            <a:ext cx="1143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进程不断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调用</a:t>
            </a:r>
            <a:r>
              <a:rPr kumimoji="1" lang="en-US" altLang="zh-CN" sz="1600" dirty="0"/>
              <a:t>read()</a:t>
            </a:r>
          </a:p>
          <a:p>
            <a:pPr algn="ctr"/>
            <a:r>
              <a:rPr kumimoji="1" lang="zh-CN" altLang="en-US" sz="1600" dirty="0"/>
              <a:t>但不阻塞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类似轮询</a:t>
            </a:r>
            <a:endParaRPr kumimoji="1" lang="en-US" altLang="zh-CN" sz="16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2B2C605C-4A08-D27E-A021-1043036FE2AF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99C4D7-B852-F305-0ABF-B5D57F814172}"/>
              </a:ext>
            </a:extLst>
          </p:cNvPr>
          <p:cNvSpPr/>
          <p:nvPr/>
        </p:nvSpPr>
        <p:spPr>
          <a:xfrm>
            <a:off x="1909302" y="2645762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78A51A6-7CE7-4D19-F0D9-F0785F58B63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940152" y="2209428"/>
            <a:ext cx="0" cy="4533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3A53C7D-41F7-D8F9-E8A9-31A063D2E53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5940152" y="3094867"/>
            <a:ext cx="0" cy="410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14FBF0C2-3039-DE0C-3AE2-A99B9F97C22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940152" y="3937620"/>
            <a:ext cx="0" cy="495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DBCC671-1C88-28B9-7DBC-5BF88E34C75D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DE9AB45-E4D8-8856-2B79-7942DA7B55E2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A07F173-C7BA-A3D0-526F-3BAAC0BA91B0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547A6E4-78AE-C700-C1D4-BD4F9C3BC54B}"/>
              </a:ext>
            </a:extLst>
          </p:cNvPr>
          <p:cNvCxnSpPr>
            <a:cxnSpLocks/>
          </p:cNvCxnSpPr>
          <p:nvPr/>
        </p:nvCxnSpPr>
        <p:spPr>
          <a:xfrm flipH="1">
            <a:off x="3851920" y="2065412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F78FDD3-8127-E77B-FCBB-AA0B9054F587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92EC90-236E-5258-8E91-2ABA3B1CF55A}"/>
              </a:ext>
            </a:extLst>
          </p:cNvPr>
          <p:cNvSpPr txBox="1"/>
          <p:nvPr/>
        </p:nvSpPr>
        <p:spPr>
          <a:xfrm>
            <a:off x="3853276" y="206541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立即返回</a:t>
            </a:r>
            <a:endParaRPr kumimoji="1" lang="en-US" altLang="zh-CN" sz="1600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6DA90285-862A-C81F-0F9C-DEA16B71B1B6}"/>
              </a:ext>
            </a:extLst>
          </p:cNvPr>
          <p:cNvCxnSpPr/>
          <p:nvPr/>
        </p:nvCxnSpPr>
        <p:spPr>
          <a:xfrm>
            <a:off x="3899248" y="2768411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28D92B1-3C68-395D-9025-0A09EEA11620}"/>
              </a:ext>
            </a:extLst>
          </p:cNvPr>
          <p:cNvCxnSpPr>
            <a:cxnSpLocks/>
          </p:cNvCxnSpPr>
          <p:nvPr/>
        </p:nvCxnSpPr>
        <p:spPr>
          <a:xfrm flipH="1">
            <a:off x="3899248" y="2984435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FE9CA71-5F8C-82BB-0551-E39D1582D121}"/>
              </a:ext>
            </a:extLst>
          </p:cNvPr>
          <p:cNvSpPr txBox="1"/>
          <p:nvPr/>
        </p:nvSpPr>
        <p:spPr>
          <a:xfrm>
            <a:off x="4105786" y="242545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8EED44-4DDF-1B0B-03C3-D92AD71A9B3D}"/>
              </a:ext>
            </a:extLst>
          </p:cNvPr>
          <p:cNvSpPr txBox="1"/>
          <p:nvPr/>
        </p:nvSpPr>
        <p:spPr>
          <a:xfrm>
            <a:off x="3890699" y="30458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立即返回</a:t>
            </a:r>
            <a:endParaRPr kumimoji="1" lang="en-US" altLang="zh-CN" sz="16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A11156-4B41-7DEC-D5EA-4297B2552EB4}"/>
              </a:ext>
            </a:extLst>
          </p:cNvPr>
          <p:cNvSpPr/>
          <p:nvPr/>
        </p:nvSpPr>
        <p:spPr>
          <a:xfrm>
            <a:off x="1909302" y="3509977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A72AE74D-5A59-C7C7-974A-A4ABC6E97CB3}"/>
              </a:ext>
            </a:extLst>
          </p:cNvPr>
          <p:cNvCxnSpPr/>
          <p:nvPr/>
        </p:nvCxnSpPr>
        <p:spPr>
          <a:xfrm>
            <a:off x="3888723" y="3776523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598F38C-FEAD-9F35-120C-CE8AF4412262}"/>
              </a:ext>
            </a:extLst>
          </p:cNvPr>
          <p:cNvSpPr txBox="1"/>
          <p:nvPr/>
        </p:nvSpPr>
        <p:spPr>
          <a:xfrm>
            <a:off x="4095261" y="343356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F811238-5DD1-66F1-2B92-EF94FDEFB6AA}"/>
              </a:ext>
            </a:extLst>
          </p:cNvPr>
          <p:cNvSpPr txBox="1"/>
          <p:nvPr/>
        </p:nvSpPr>
        <p:spPr>
          <a:xfrm>
            <a:off x="7300085" y="2488749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0232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5" grpId="0"/>
      <p:bldP spid="28" grpId="0"/>
      <p:bldP spid="29" grpId="0"/>
      <p:bldP spid="32" grpId="0"/>
      <p:bldP spid="33" grpId="0"/>
      <p:bldP spid="34" grpId="0" animBg="1"/>
      <p:bldP spid="36" grpId="0"/>
      <p:bldP spid="3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724C69-7E30-4956-FEBC-CE5B5E29A6C7}"/>
              </a:ext>
            </a:extLst>
          </p:cNvPr>
          <p:cNvSpPr/>
          <p:nvPr/>
        </p:nvSpPr>
        <p:spPr>
          <a:xfrm>
            <a:off x="1909302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+mn-ea"/>
              </a:rPr>
              <a:t>aio_read</a:t>
            </a:r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BC82E-7BDB-B958-40B1-5827C0E1AD79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2310F9-9623-B806-9D92-F394E647EFCB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E6DD4E-9666-74F5-12F1-044C416AB388}"/>
              </a:ext>
            </a:extLst>
          </p:cNvPr>
          <p:cNvSpPr txBox="1"/>
          <p:nvPr/>
        </p:nvSpPr>
        <p:spPr>
          <a:xfrm>
            <a:off x="262362" y="2943853"/>
            <a:ext cx="14157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 err="1"/>
              <a:t>aio_read</a:t>
            </a:r>
            <a:r>
              <a:rPr kumimoji="1" lang="en-US" altLang="zh-CN" sz="1600" dirty="0"/>
              <a:t>()</a:t>
            </a:r>
          </a:p>
          <a:p>
            <a:pPr algn="ctr"/>
            <a:r>
              <a:rPr kumimoji="1" lang="zh-CN" altLang="en-US" sz="1600" dirty="0"/>
              <a:t>后继续执行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直到收到通知</a:t>
            </a:r>
            <a:endParaRPr kumimoji="1" lang="en-US" altLang="zh-CN" sz="1600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4F1D2920-206F-B64D-8E54-259C44A4BCC4}"/>
              </a:ext>
            </a:extLst>
          </p:cNvPr>
          <p:cNvSpPr/>
          <p:nvPr/>
        </p:nvSpPr>
        <p:spPr>
          <a:xfrm flipH="1">
            <a:off x="1544955" y="1988999"/>
            <a:ext cx="239687" cy="2740709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6D0141-E3B6-6711-5AF2-494E65240685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62A349-A5DF-9DCA-D50F-4F90B097D8AF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C2AD8C-2A6A-8A62-1F90-F24DF1C2BDEB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EA3E58-0161-B68A-C437-A69291F6383B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B00835-8E9F-6AD4-90A7-61832E09258E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2C1AE631-E483-8802-7FD1-CE721D8FD337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45B9294C-7FD3-CD58-F9B1-7191BF00EC47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64E1CB9-56E0-2377-1F62-A405045EED72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8218988B-3B76-D20D-B6BE-AD9B2C146A05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A55BB869-2AD3-33F1-5F3D-CD247B523F84}"/>
              </a:ext>
            </a:extLst>
          </p:cNvPr>
          <p:cNvCxnSpPr>
            <a:cxnSpLocks/>
          </p:cNvCxnSpPr>
          <p:nvPr/>
        </p:nvCxnSpPr>
        <p:spPr>
          <a:xfrm flipH="1">
            <a:off x="3851920" y="2065412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1D9C222-3A40-48C4-0DF2-9D9D005CD75B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04670BB-85DD-45C1-AD23-2F11B317C227}"/>
              </a:ext>
            </a:extLst>
          </p:cNvPr>
          <p:cNvSpPr txBox="1"/>
          <p:nvPr/>
        </p:nvSpPr>
        <p:spPr>
          <a:xfrm>
            <a:off x="3853276" y="211215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立即返回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6104219-155E-AF6E-7618-E28365EF1DEC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6E116E3-C542-185B-B29C-323AC27163D4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C2B31F32-A134-3865-940B-A4B7477E0D11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771599D-25ED-4DEC-CA03-146C2C773A18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713D181-7B72-E4B9-3D6D-A49A3DEA364D}"/>
              </a:ext>
            </a:extLst>
          </p:cNvPr>
          <p:cNvSpPr txBox="1"/>
          <p:nvPr/>
        </p:nvSpPr>
        <p:spPr>
          <a:xfrm>
            <a:off x="3890705" y="430793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通知完成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60A05B-AF08-2280-2EB3-5808CE5E2060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67937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3" grpId="0" animBg="1"/>
      <p:bldP spid="18" grpId="0"/>
      <p:bldP spid="19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9" grpId="0"/>
      <p:bldP spid="35" grpId="0"/>
      <p:bldP spid="36" grpId="0"/>
      <p:bldP spid="45" grpId="0"/>
      <p:bldP spid="3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183FE-9986-164A-A6B8-4B6AF3F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模型：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多路复用模型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4D57F-5087-6A42-9894-6C74545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683B-FA5E-384B-9284-F7500FC2D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7A44B1-5FF0-CCB9-B62A-D0034A47D793}"/>
              </a:ext>
            </a:extLst>
          </p:cNvPr>
          <p:cNvSpPr/>
          <p:nvPr/>
        </p:nvSpPr>
        <p:spPr>
          <a:xfrm>
            <a:off x="1909302" y="1777379"/>
            <a:ext cx="1872208" cy="13681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select()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等待多个</a:t>
            </a:r>
            <a:r>
              <a:rPr kumimoji="1" lang="en-US" altLang="zh-CN" dirty="0" err="1">
                <a:solidFill>
                  <a:schemeClr val="tx1"/>
                </a:solidFill>
                <a:latin typeface="+mn-ea"/>
              </a:rPr>
              <a:t>fd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52BC2D-C2AF-78CC-1C79-2A0A46A53935}"/>
              </a:ext>
            </a:extLst>
          </p:cNvPr>
          <p:cNvSpPr txBox="1"/>
          <p:nvPr/>
        </p:nvSpPr>
        <p:spPr>
          <a:xfrm>
            <a:off x="2291408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31131A-CCA4-F96D-B2FE-3F397DF72289}"/>
              </a:ext>
            </a:extLst>
          </p:cNvPr>
          <p:cNvSpPr/>
          <p:nvPr/>
        </p:nvSpPr>
        <p:spPr>
          <a:xfrm>
            <a:off x="1909302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处理数据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B9A2A1-2F25-7EAC-89F3-09EC2F3C9FAA}"/>
              </a:ext>
            </a:extLst>
          </p:cNvPr>
          <p:cNvSpPr txBox="1"/>
          <p:nvPr/>
        </p:nvSpPr>
        <p:spPr>
          <a:xfrm>
            <a:off x="29411" y="2001833"/>
            <a:ext cx="1635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select()</a:t>
            </a:r>
            <a:r>
              <a:rPr kumimoji="1" lang="zh-CN" altLang="en-US" sz="1600" dirty="0"/>
              <a:t>被阻塞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直到某个</a:t>
            </a:r>
            <a:r>
              <a:rPr kumimoji="1" lang="en-US" altLang="zh-CN" sz="1600" dirty="0" err="1"/>
              <a:t>fd</a:t>
            </a:r>
            <a:r>
              <a:rPr kumimoji="1" lang="zh-CN" altLang="en-US" sz="1600" dirty="0"/>
              <a:t>就绪</a:t>
            </a:r>
            <a:endParaRPr kumimoji="1" lang="en-US" altLang="zh-CN" sz="1600" dirty="0"/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4FE97836-3A04-8914-9278-0DF165B6ECD0}"/>
              </a:ext>
            </a:extLst>
          </p:cNvPr>
          <p:cNvSpPr/>
          <p:nvPr/>
        </p:nvSpPr>
        <p:spPr>
          <a:xfrm flipH="1">
            <a:off x="1544952" y="1777379"/>
            <a:ext cx="239687" cy="1368141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F74358-E67A-E672-CD67-B881408BAC4F}"/>
              </a:ext>
            </a:extLst>
          </p:cNvPr>
          <p:cNvSpPr/>
          <p:nvPr/>
        </p:nvSpPr>
        <p:spPr>
          <a:xfrm>
            <a:off x="5004048" y="1777380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没有数据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2EE1D3-73D6-3B52-E49D-9B3D22C4A3AB}"/>
              </a:ext>
            </a:extLst>
          </p:cNvPr>
          <p:cNvSpPr txBox="1"/>
          <p:nvPr/>
        </p:nvSpPr>
        <p:spPr>
          <a:xfrm>
            <a:off x="5386154" y="12686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操作系统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9EBFD0-397B-7496-7ACB-C254E7CD8DDF}"/>
              </a:ext>
            </a:extLst>
          </p:cNvPr>
          <p:cNvSpPr/>
          <p:nvPr/>
        </p:nvSpPr>
        <p:spPr>
          <a:xfrm>
            <a:off x="5004048" y="271348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数据就绪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CD3D3E-B0C9-A562-55D2-800F2512AA9C}"/>
              </a:ext>
            </a:extLst>
          </p:cNvPr>
          <p:cNvSpPr/>
          <p:nvPr/>
        </p:nvSpPr>
        <p:spPr>
          <a:xfrm>
            <a:off x="5004048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5BA9E2-C583-0DE3-5218-C6A147E727DB}"/>
              </a:ext>
            </a:extLst>
          </p:cNvPr>
          <p:cNvSpPr/>
          <p:nvPr/>
        </p:nvSpPr>
        <p:spPr>
          <a:xfrm>
            <a:off x="5004048" y="4432866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拷贝完成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7D44D06-561D-970D-0B53-0812860E7FDC}"/>
              </a:ext>
            </a:extLst>
          </p:cNvPr>
          <p:cNvSpPr/>
          <p:nvPr/>
        </p:nvSpPr>
        <p:spPr>
          <a:xfrm>
            <a:off x="7020272" y="1921396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id="{F353F941-336C-B62B-B6A4-2972E9AD7FFC}"/>
              </a:ext>
            </a:extLst>
          </p:cNvPr>
          <p:cNvSpPr/>
          <p:nvPr/>
        </p:nvSpPr>
        <p:spPr>
          <a:xfrm>
            <a:off x="7035062" y="3505572"/>
            <a:ext cx="239688" cy="1224136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043B13-7530-B579-A31F-E51D3C1FBFA4}"/>
              </a:ext>
            </a:extLst>
          </p:cNvPr>
          <p:cNvSpPr txBox="1"/>
          <p:nvPr/>
        </p:nvSpPr>
        <p:spPr>
          <a:xfrm>
            <a:off x="7408423" y="393297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将数据拷贝到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应用缓冲区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FD13896-3BD5-1874-67C4-919FE29B4C80}"/>
              </a:ext>
            </a:extLst>
          </p:cNvPr>
          <p:cNvCxnSpPr/>
          <p:nvPr/>
        </p:nvCxnSpPr>
        <p:spPr>
          <a:xfrm>
            <a:off x="3851920" y="1849388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5D84F8-056F-EFB7-A184-1302233DE52B}"/>
              </a:ext>
            </a:extLst>
          </p:cNvPr>
          <p:cNvCxnSpPr>
            <a:cxnSpLocks/>
          </p:cNvCxnSpPr>
          <p:nvPr/>
        </p:nvCxnSpPr>
        <p:spPr>
          <a:xfrm flipH="1">
            <a:off x="3847473" y="3001516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E484AA-1B6D-2BCD-5A35-8D3D55EBD6F5}"/>
              </a:ext>
            </a:extLst>
          </p:cNvPr>
          <p:cNvSpPr txBox="1"/>
          <p:nvPr/>
        </p:nvSpPr>
        <p:spPr>
          <a:xfrm>
            <a:off x="4058458" y="150642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43D52B-D177-7430-A753-DB4582EC7B37}"/>
              </a:ext>
            </a:extLst>
          </p:cNvPr>
          <p:cNvSpPr txBox="1"/>
          <p:nvPr/>
        </p:nvSpPr>
        <p:spPr>
          <a:xfrm>
            <a:off x="3848827" y="26414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返回可读</a:t>
            </a:r>
            <a:endParaRPr kumimoji="1" lang="en-US" altLang="zh-CN" sz="1600" dirty="0">
              <a:solidFill>
                <a:srgbClr val="C00000"/>
              </a:solidFill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5CD0EA4-D7A4-CBF6-A4EF-3F72B1F64CC9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5940152" y="2209428"/>
            <a:ext cx="0" cy="5040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66A46E1-110C-E37A-7529-B6CC85B850A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5940152" y="3145532"/>
            <a:ext cx="0" cy="288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D1DE023-2CF1-6337-2E86-8E1B5F12B3B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940152" y="3865612"/>
            <a:ext cx="0" cy="56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9D057DE-AB2B-42D1-164D-790B62F1A648}"/>
              </a:ext>
            </a:extLst>
          </p:cNvPr>
          <p:cNvCxnSpPr>
            <a:cxnSpLocks/>
          </p:cNvCxnSpPr>
          <p:nvPr/>
        </p:nvCxnSpPr>
        <p:spPr>
          <a:xfrm flipH="1">
            <a:off x="3851920" y="4648890"/>
            <a:ext cx="10067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3356B61-DFD4-CC04-3C32-2CE93C7C46F5}"/>
              </a:ext>
            </a:extLst>
          </p:cNvPr>
          <p:cNvSpPr txBox="1"/>
          <p:nvPr/>
        </p:nvSpPr>
        <p:spPr>
          <a:xfrm>
            <a:off x="4095883" y="43079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返回</a:t>
            </a:r>
            <a:endParaRPr kumimoji="1" lang="en-US" altLang="zh-CN" sz="1600" dirty="0"/>
          </a:p>
        </p:txBody>
      </p: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686CA25F-BBEB-9F9D-78F0-57BAFF1E7156}"/>
              </a:ext>
            </a:extLst>
          </p:cNvPr>
          <p:cNvSpPr/>
          <p:nvPr/>
        </p:nvSpPr>
        <p:spPr>
          <a:xfrm flipH="1">
            <a:off x="1512428" y="3270248"/>
            <a:ext cx="239687" cy="1531468"/>
          </a:xfrm>
          <a:prstGeom prst="rightBrace">
            <a:avLst>
              <a:gd name="adj1" fmla="val 30610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8B2511-E300-AAA2-8D3B-C99E0E56A74A}"/>
              </a:ext>
            </a:extLst>
          </p:cNvPr>
          <p:cNvSpPr txBox="1"/>
          <p:nvPr/>
        </p:nvSpPr>
        <p:spPr>
          <a:xfrm>
            <a:off x="96498" y="362457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用户进程调用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read()</a:t>
            </a:r>
            <a:r>
              <a:rPr kumimoji="1" lang="zh-CN" altLang="en-US" sz="1600" dirty="0"/>
              <a:t>阻塞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直到数据可用</a:t>
            </a:r>
            <a:endParaRPr kumimoji="1" lang="en-US" altLang="zh-CN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3530244-4A8E-CB74-78E3-BBF64EFDD6EF}"/>
              </a:ext>
            </a:extLst>
          </p:cNvPr>
          <p:cNvSpPr/>
          <p:nvPr/>
        </p:nvSpPr>
        <p:spPr>
          <a:xfrm>
            <a:off x="1909302" y="3433564"/>
            <a:ext cx="1872208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+mn-ea"/>
              </a:rPr>
              <a:t>read()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FADE146-272E-30A0-0A0D-76B955EFE9A7}"/>
              </a:ext>
            </a:extLst>
          </p:cNvPr>
          <p:cNvCxnSpPr/>
          <p:nvPr/>
        </p:nvCxnSpPr>
        <p:spPr>
          <a:xfrm>
            <a:off x="3888723" y="3700110"/>
            <a:ext cx="1008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3F04B6E-EABD-8D39-4AED-024DEEBD6FFC}"/>
              </a:ext>
            </a:extLst>
          </p:cNvPr>
          <p:cNvSpPr txBox="1"/>
          <p:nvPr/>
        </p:nvSpPr>
        <p:spPr>
          <a:xfrm>
            <a:off x="4095261" y="335715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调用</a:t>
            </a:r>
            <a:endParaRPr kumimoji="1" lang="en-US" altLang="zh-CN" sz="16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F7E1C1D-AB61-5340-EB55-834E11B2F2FD}"/>
              </a:ext>
            </a:extLst>
          </p:cNvPr>
          <p:cNvSpPr txBox="1"/>
          <p:nvPr/>
        </p:nvSpPr>
        <p:spPr>
          <a:xfrm>
            <a:off x="7300085" y="220942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/>
              <a:t>不断等待，直到</a:t>
            </a:r>
            <a:endParaRPr kumimoji="1" lang="en-US" altLang="zh-CN" sz="1600" dirty="0"/>
          </a:p>
          <a:p>
            <a:pPr algn="ctr"/>
            <a:r>
              <a:rPr kumimoji="1" lang="zh-CN" altLang="en-US" sz="1600" dirty="0"/>
              <a:t>完成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操作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7088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2" grpId="0"/>
      <p:bldP spid="23" grpId="0"/>
      <p:bldP spid="28" grpId="0"/>
      <p:bldP spid="29" grpId="0" animBg="1"/>
      <p:bldP spid="30" grpId="0"/>
      <p:bldP spid="31" grpId="0" animBg="1"/>
      <p:bldP spid="33" grpId="0"/>
      <p:bldP spid="3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模型小节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：一直等待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进程请求</a:t>
            </a:r>
            <a:r>
              <a:rPr kumimoji="1" lang="zh-CN" altLang="en-US" u="sng" dirty="0"/>
              <a:t>读数据</a:t>
            </a:r>
            <a:r>
              <a:rPr kumimoji="1" lang="zh-CN" altLang="en-US" dirty="0"/>
              <a:t>不得，将其挂起，直到</a:t>
            </a:r>
            <a:r>
              <a:rPr kumimoji="1" lang="zh-CN" altLang="en-US" u="sng" dirty="0"/>
              <a:t>数据来了</a:t>
            </a:r>
            <a:r>
              <a:rPr kumimoji="1" lang="zh-CN" altLang="en-US" dirty="0"/>
              <a:t>再将其唤醒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进程请求</a:t>
            </a:r>
            <a:r>
              <a:rPr kumimoji="1" lang="zh-CN" altLang="en-US" u="sng" dirty="0"/>
              <a:t>写数据</a:t>
            </a:r>
            <a:r>
              <a:rPr kumimoji="1" lang="zh-CN" altLang="en-US" dirty="0"/>
              <a:t>不得，将其挂起，直到</a:t>
            </a:r>
            <a:r>
              <a:rPr kumimoji="1" lang="zh-CN" altLang="en-US" u="sng" dirty="0"/>
              <a:t>设备准备好了</a:t>
            </a:r>
            <a:r>
              <a:rPr kumimoji="1" lang="zh-CN" altLang="en-US" dirty="0"/>
              <a:t>再将其唤醒</a:t>
            </a:r>
            <a:endParaRPr kumimoji="1" lang="en-US" altLang="zh-CN" dirty="0"/>
          </a:p>
          <a:p>
            <a:r>
              <a:rPr kumimoji="1" lang="zh-CN" altLang="en-US" dirty="0"/>
              <a:t>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：不等待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读写请求后直接返回（可能读不到数据或者写失败）</a:t>
            </a:r>
            <a:endParaRPr kumimoji="1" lang="en-US" altLang="zh-CN" dirty="0"/>
          </a:p>
          <a:p>
            <a:r>
              <a:rPr kumimoji="1" lang="zh-CN" altLang="en-US" dirty="0"/>
              <a:t>异步</a:t>
            </a:r>
            <a:r>
              <a:rPr kumimoji="1" lang="en-US" altLang="zh-CN" dirty="0"/>
              <a:t>I/O</a:t>
            </a:r>
            <a:r>
              <a:rPr kumimoji="1" lang="zh-CN" altLang="en-US" dirty="0"/>
              <a:t>：稍后再来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等读写请求成功后再通知用户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用户执行并不停滞（类似</a:t>
            </a:r>
            <a:r>
              <a:rPr kumimoji="1" lang="en-US" altLang="zh-CN" dirty="0"/>
              <a:t>DMA</a:t>
            </a:r>
            <a:r>
              <a:rPr kumimoji="1" lang="zh-CN" altLang="en-US" dirty="0"/>
              <a:t>之于</a:t>
            </a:r>
            <a:r>
              <a:rPr kumimoji="1" lang="en-US" altLang="zh-CN" dirty="0"/>
              <a:t>CPU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I/O</a:t>
            </a:r>
            <a:r>
              <a:rPr kumimoji="1" lang="zh-CN" altLang="en-US" dirty="0"/>
              <a:t>多路复用：同时监听多个请求，只要有一个就绪就不再等待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3676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119A-24FC-D44E-A915-D143DD60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5AD2A-4EED-E841-A33E-F7AF5799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应用程序员视角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B7A79-381B-414E-A9E9-C2DCC323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7755A-4B18-794E-B7D1-D0815D289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D1E3E3E-A546-5F78-9AFA-B9116EB4652C}"/>
              </a:ext>
            </a:extLst>
          </p:cNvPr>
          <p:cNvGrpSpPr/>
          <p:nvPr/>
        </p:nvGrpSpPr>
        <p:grpSpPr>
          <a:xfrm>
            <a:off x="5724128" y="2499109"/>
            <a:ext cx="2234035" cy="1828940"/>
            <a:chOff x="2587932" y="887681"/>
            <a:chExt cx="4288324" cy="351072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F44BD95-D709-5AC7-0E9A-A89602AB0FB8}"/>
                </a:ext>
              </a:extLst>
            </p:cNvPr>
            <p:cNvSpPr/>
            <p:nvPr/>
          </p:nvSpPr>
          <p:spPr>
            <a:xfrm>
              <a:off x="3036329" y="887681"/>
              <a:ext cx="1656184" cy="5583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应用程序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39E6EEF-220A-59F3-CA27-8EAB18893914}"/>
                </a:ext>
              </a:extLst>
            </p:cNvPr>
            <p:cNvSpPr/>
            <p:nvPr/>
          </p:nvSpPr>
          <p:spPr>
            <a:xfrm>
              <a:off x="4692513" y="887681"/>
              <a:ext cx="1656184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02457FF-B1EC-A7F4-F264-E6807566D535}"/>
                </a:ext>
              </a:extLst>
            </p:cNvPr>
            <p:cNvSpPr/>
            <p:nvPr/>
          </p:nvSpPr>
          <p:spPr>
            <a:xfrm>
              <a:off x="3036329" y="191345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  <a:latin typeface="+mn-ea"/>
                </a:rPr>
                <a:t>I/O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 子系统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10DE95E-BA75-B940-31D5-3ACF4DF75ECD}"/>
                </a:ext>
              </a:extLst>
            </p:cNvPr>
            <p:cNvSpPr/>
            <p:nvPr/>
          </p:nvSpPr>
          <p:spPr>
            <a:xfrm>
              <a:off x="3036262" y="2791248"/>
              <a:ext cx="3312368" cy="55839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设备驱动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81F726-03B4-CDE2-AD0D-366FCA47D023}"/>
                </a:ext>
              </a:extLst>
            </p:cNvPr>
            <p:cNvSpPr/>
            <p:nvPr/>
          </p:nvSpPr>
          <p:spPr>
            <a:xfrm>
              <a:off x="3036262" y="3840009"/>
              <a:ext cx="3312368" cy="5583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1"/>
                  </a:solidFill>
                  <a:latin typeface="+mn-ea"/>
                </a:rPr>
                <a:t>硬件设备</a:t>
              </a: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C69EDC1C-F73B-61C4-5823-7489BDD5801D}"/>
                </a:ext>
              </a:extLst>
            </p:cNvPr>
            <p:cNvCxnSpPr>
              <a:cxnSpLocks/>
            </p:cNvCxnSpPr>
            <p:nvPr/>
          </p:nvCxnSpPr>
          <p:spPr>
            <a:xfrm>
              <a:off x="2625825" y="1689999"/>
              <a:ext cx="41784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636A879A-841F-8A93-CA03-BEBC1624D0AD}"/>
                </a:ext>
              </a:extLst>
            </p:cNvPr>
            <p:cNvCxnSpPr>
              <a:cxnSpLocks/>
            </p:cNvCxnSpPr>
            <p:nvPr/>
          </p:nvCxnSpPr>
          <p:spPr>
            <a:xfrm>
              <a:off x="2587932" y="3581846"/>
              <a:ext cx="428832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7C0B2357-01F7-28B9-8CB7-FF92D5DBD89F}"/>
              </a:ext>
            </a:extLst>
          </p:cNvPr>
          <p:cNvSpPr/>
          <p:nvPr/>
        </p:nvSpPr>
        <p:spPr>
          <a:xfrm flipH="1">
            <a:off x="7779036" y="2509906"/>
            <a:ext cx="358253" cy="29942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7412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FAD41-CD4F-0469-D48F-EBBF26EF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41AF2-84ED-94A3-B865-B55DE284B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以共享库的形式，和应用程序直接链接</a:t>
            </a:r>
            <a:endParaRPr kumimoji="1" lang="en-US" altLang="zh-CN" dirty="0"/>
          </a:p>
          <a:p>
            <a:r>
              <a:rPr kumimoji="1" lang="zh-CN" altLang="en-US" dirty="0"/>
              <a:t>简化应用程序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开发的复杂度</a:t>
            </a:r>
            <a:endParaRPr kumimoji="1" lang="en-US" altLang="zh-CN" dirty="0"/>
          </a:p>
          <a:p>
            <a:r>
              <a:rPr kumimoji="1" lang="zh-CN" altLang="en-US" dirty="0"/>
              <a:t>提供更好的性能和更灵活的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管理能力</a:t>
            </a:r>
            <a:endParaRPr kumimoji="1" lang="en-US" altLang="zh-CN" dirty="0"/>
          </a:p>
          <a:p>
            <a:r>
              <a:rPr kumimoji="1" lang="zh-CN" altLang="en-US" dirty="0"/>
              <a:t>例子：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glibc</a:t>
            </a:r>
            <a:r>
              <a:rPr kumimoji="1" lang="zh-CN" altLang="en-US" dirty="0"/>
              <a:t>：提供用户态</a:t>
            </a:r>
            <a:r>
              <a:rPr kumimoji="1" lang="en-US" altLang="zh-CN" dirty="0"/>
              <a:t>I/O</a:t>
            </a:r>
            <a:r>
              <a:rPr kumimoji="1" lang="zh-CN" altLang="en-US" dirty="0"/>
              <a:t>缓冲区管理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AIO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io_uring</a:t>
            </a:r>
            <a:r>
              <a:rPr kumimoji="1" lang="zh-CN" altLang="en-US" dirty="0"/>
              <a:t>：支持异步</a:t>
            </a:r>
            <a:r>
              <a:rPr kumimoji="1" lang="en-US" altLang="zh-CN" dirty="0"/>
              <a:t>I/O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9D69B9-63D3-98DC-4EE7-4070125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18999-9CBA-867C-6B8B-56F30EDA5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241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47E0A-617B-44AA-165D-9FCF0D93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 err="1"/>
              <a:t>glibc</a:t>
            </a:r>
            <a:r>
              <a:rPr kumimoji="1" lang="zh-CN" altLang="en-US" dirty="0"/>
              <a:t>的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BB34B-50AE-CEAC-B86C-E9BC4491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fread</a:t>
            </a:r>
            <a:r>
              <a:rPr kumimoji="1" lang="en-US" altLang="zh-CN" dirty="0"/>
              <a:t>()/</a:t>
            </a:r>
            <a:r>
              <a:rPr kumimoji="1" lang="en-US" altLang="zh-CN" dirty="0" err="1"/>
              <a:t>fwrite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read()/write()</a:t>
            </a:r>
            <a:r>
              <a:rPr kumimoji="1" lang="zh-CN" altLang="en-US" dirty="0"/>
              <a:t> 有何区别？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前者是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库接口（函数调用），后者是</a:t>
            </a:r>
            <a:r>
              <a:rPr kumimoji="1" lang="en-US" altLang="zh-CN" dirty="0"/>
              <a:t>VFS</a:t>
            </a:r>
            <a:r>
              <a:rPr kumimoji="1" lang="zh-CN" altLang="en-US" dirty="0"/>
              <a:t>接口（系统调用）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使用用户态缓冲区，减少模式切换次数</a:t>
            </a:r>
            <a:endParaRPr kumimoji="1" lang="en-US" altLang="zh-CN" dirty="0"/>
          </a:p>
          <a:p>
            <a:r>
              <a:rPr kumimoji="1" lang="zh-CN" altLang="en-US" dirty="0"/>
              <a:t>缓冲模式配置：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全缓冲（</a:t>
            </a:r>
            <a:r>
              <a:rPr kumimoji="1" lang="en" altLang="zh-CN" dirty="0"/>
              <a:t>_IOFBF</a:t>
            </a:r>
            <a:r>
              <a:rPr kumimoji="1" lang="zh-CN" altLang="en-US" dirty="0"/>
              <a:t>）：缓冲区满了才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行缓冲（</a:t>
            </a:r>
            <a:r>
              <a:rPr kumimoji="1" lang="en" altLang="zh-CN" dirty="0"/>
              <a:t>_IOLBF</a:t>
            </a:r>
            <a:r>
              <a:rPr kumimoji="1" lang="zh-CN" altLang="en-US" dirty="0"/>
              <a:t>）：遇到换行符就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缓冲区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无缓冲（</a:t>
            </a:r>
            <a:r>
              <a:rPr lang="en" altLang="zh-CN" dirty="0"/>
              <a:t>_IONBF</a:t>
            </a:r>
            <a:r>
              <a:rPr kumimoji="1" lang="zh-CN" altLang="en-US" dirty="0"/>
              <a:t>）：和直接调用</a:t>
            </a:r>
            <a:r>
              <a:rPr kumimoji="1" lang="en-US" altLang="zh-CN" dirty="0"/>
              <a:t>read()/write()</a:t>
            </a:r>
            <a:r>
              <a:rPr kumimoji="1" lang="zh-CN" altLang="en-US" dirty="0"/>
              <a:t>效果一样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42A38-5A67-C39E-58C5-C6A0F6E0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864B1-A451-246E-F28E-06C2D608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6807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40B85-43D0-9343-B033-18DB0FF6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案例：</a:t>
            </a:r>
            <a:r>
              <a:rPr kumimoji="1" lang="en-US" altLang="zh-CN" dirty="0" err="1"/>
              <a:t>io_uring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5.1)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61264-0C35-7E4C-A8A5-288FBB59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EABFA-BC92-C148-B6BA-B9B2DFB3A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74F0D-9190-C935-9D46-D2324D1F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问题：频繁的读写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请求导致高频模式切换开销</a:t>
            </a:r>
            <a:endParaRPr kumimoji="1" lang="en-US" altLang="zh-CN" sz="2000" dirty="0"/>
          </a:p>
          <a:p>
            <a:r>
              <a:rPr kumimoji="1" lang="zh-CN" altLang="en-US" sz="2000" dirty="0"/>
              <a:t>提供“提交队列”和“完成队列”两个环形缓冲区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用户程序和内核共享队列，减少拷贝；允许批量处理多个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请求，减少切换</a:t>
            </a:r>
            <a:endParaRPr kumimoji="1" lang="en-US" altLang="zh-CN" sz="2000" dirty="0"/>
          </a:p>
          <a:p>
            <a:r>
              <a:rPr kumimoji="1" lang="zh-CN" altLang="en-US" sz="2000" dirty="0"/>
              <a:t>支持轮询模式，相比于异步通知机制有</a:t>
            </a:r>
            <a:r>
              <a:rPr kumimoji="1" lang="zh-CN" altLang="en-US" sz="2000"/>
              <a:t>更低时延</a:t>
            </a:r>
            <a:endParaRPr kumimoji="1" lang="en-US" altLang="zh-CN" sz="20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240DFAC-7547-85B2-65F5-80FC5552A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780" y="3168451"/>
            <a:ext cx="4248472" cy="213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431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47523</TotalTime>
  <Words>6630</Words>
  <Application>Microsoft Macintosh PowerPoint</Application>
  <PresentationFormat>全屏显示(16:10)</PresentationFormat>
  <Paragraphs>1089</Paragraphs>
  <Slides>85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5" baseType="lpstr">
      <vt:lpstr>DengXian</vt:lpstr>
      <vt:lpstr>微软雅黑</vt:lpstr>
      <vt:lpstr>Arial</vt:lpstr>
      <vt:lpstr>Calibri</vt:lpstr>
      <vt:lpstr>Consolas</vt:lpstr>
      <vt:lpstr>Courier</vt:lpstr>
      <vt:lpstr>Courier New</vt:lpstr>
      <vt:lpstr>Gill Sans MT</vt:lpstr>
      <vt:lpstr>Wingdings</vt:lpstr>
      <vt:lpstr>Office 主题​​</vt:lpstr>
      <vt:lpstr>设备管理</vt:lpstr>
      <vt:lpstr>版权声明</vt:lpstr>
      <vt:lpstr>回顾：AArch64中断处理</vt:lpstr>
      <vt:lpstr>回顾：ChCore异常向量表配置</vt:lpstr>
      <vt:lpstr>回顾：ChCore异常处理</vt:lpstr>
      <vt:lpstr>回顾：ChCore异常处理</vt:lpstr>
      <vt:lpstr>ChCore的中断处理与时钟响应</vt:lpstr>
      <vt:lpstr>操作系统的I/O层次</vt:lpstr>
      <vt:lpstr>认知设备</vt:lpstr>
      <vt:lpstr>计算机系统上的硬件设备很多</vt:lpstr>
      <vt:lpstr>GPIO LED</vt:lpstr>
      <vt:lpstr>8042（PS/2 键盘控制器）</vt:lpstr>
      <vt:lpstr>UART（串口）</vt:lpstr>
      <vt:lpstr>Flash 闪存</vt:lpstr>
      <vt:lpstr>Ethernet 网卡</vt:lpstr>
      <vt:lpstr>思考题</vt:lpstr>
      <vt:lpstr>设备与CPU的连接</vt:lpstr>
      <vt:lpstr>硬件总线：以AMBA为例</vt:lpstr>
      <vt:lpstr>硬件总线的特点</vt:lpstr>
      <vt:lpstr>同步 VS. 异步</vt:lpstr>
      <vt:lpstr>总线事务</vt:lpstr>
      <vt:lpstr>中断线</vt:lpstr>
      <vt:lpstr>设备与CPU的交互</vt:lpstr>
      <vt:lpstr>硬件设备的接口：设备寄存器</vt:lpstr>
      <vt:lpstr>内存映射 I/O (MMIO)</vt:lpstr>
      <vt:lpstr>ChCore的UART MMIO</vt:lpstr>
      <vt:lpstr>MMIO地址应使用Volatile关键字</vt:lpstr>
      <vt:lpstr>可编程I/O（Programmable I/O）</vt:lpstr>
      <vt:lpstr>是否存在更高效的数据交互方式？</vt:lpstr>
      <vt:lpstr>DMA</vt:lpstr>
      <vt:lpstr>CPU访问设备方式小结</vt:lpstr>
      <vt:lpstr>IOMMU</vt:lpstr>
      <vt:lpstr>思考题：DMA的内存一致性</vt:lpstr>
      <vt:lpstr>中断与中断响应</vt:lpstr>
      <vt:lpstr>CPU中断处理流程</vt:lpstr>
      <vt:lpstr>AArch64的中断分类</vt:lpstr>
      <vt:lpstr>问题：多核CPU如何处理中断？</vt:lpstr>
      <vt:lpstr>ARM 中断控制器——GIC</vt:lpstr>
      <vt:lpstr>GIC</vt:lpstr>
      <vt:lpstr>GIC</vt:lpstr>
      <vt:lpstr>Distributor</vt:lpstr>
      <vt:lpstr>CPU Interface</vt:lpstr>
      <vt:lpstr>ARM中断的生命周期</vt:lpstr>
      <vt:lpstr>问题：多个中断同时发生怎么办？</vt:lpstr>
      <vt:lpstr>中断嵌套</vt:lpstr>
      <vt:lpstr>如何禁止中断被抢占？</vt:lpstr>
      <vt:lpstr>高频中断的问题：活锁</vt:lpstr>
      <vt:lpstr>中断合并（Interrupt Coalescing）</vt:lpstr>
      <vt:lpstr>设备驱动</vt:lpstr>
      <vt:lpstr>设备驱动</vt:lpstr>
      <vt:lpstr>宏内核I/O架构</vt:lpstr>
      <vt:lpstr>微内核I/O架构</vt:lpstr>
      <vt:lpstr>混合I/O架构</vt:lpstr>
      <vt:lpstr>案例：安卓的硬件抽象层</vt:lpstr>
      <vt:lpstr>设备驱动的复杂性在提高</vt:lpstr>
      <vt:lpstr>驱动模型的好处</vt:lpstr>
      <vt:lpstr>案例：Linux驱动模型</vt:lpstr>
      <vt:lpstr>Linux Device Driver Model (LDDM)</vt:lpstr>
      <vt:lpstr>I/O子系统</vt:lpstr>
      <vt:lpstr>为什么需要I/O子系统？</vt:lpstr>
      <vt:lpstr>I/O 子系统的目标</vt:lpstr>
      <vt:lpstr>统一抽象——设备文件</vt:lpstr>
      <vt:lpstr>设备操作的专用接口：ioctl</vt:lpstr>
      <vt:lpstr>设备文件操作与设备驱动函数的对接</vt:lpstr>
      <vt:lpstr>设备的逻辑分类</vt:lpstr>
      <vt:lpstr>字符设备（cdev）</vt:lpstr>
      <vt:lpstr>块设备（blkdev）</vt:lpstr>
      <vt:lpstr>内存映射文件：mmap访问磁盘</vt:lpstr>
      <vt:lpstr>网络设备（netdev）</vt:lpstr>
      <vt:lpstr>设备逻辑分类小结</vt:lpstr>
      <vt:lpstr>设备的缓冲管理：单缓冲区</vt:lpstr>
      <vt:lpstr>设备的缓冲管理：双缓冲区</vt:lpstr>
      <vt:lpstr>设备的缓冲管理：双缓冲区</vt:lpstr>
      <vt:lpstr>设备的缓冲管理：环形缓冲区</vt:lpstr>
      <vt:lpstr>设备的缓冲区管理小结</vt:lpstr>
      <vt:lpstr>问题：如何同时监听多个设备？</vt:lpstr>
      <vt:lpstr>I/O模型：阻塞I/O模型</vt:lpstr>
      <vt:lpstr>I/O模型：非阻塞I/O模型</vt:lpstr>
      <vt:lpstr>I/O模型：异步I/O模型</vt:lpstr>
      <vt:lpstr>I/O模型：I/O多路复用模型</vt:lpstr>
      <vt:lpstr>I/O模型小节</vt:lpstr>
      <vt:lpstr>I/O库</vt:lpstr>
      <vt:lpstr>I/O库</vt:lpstr>
      <vt:lpstr>案例：glibc的buffer I/O</vt:lpstr>
      <vt:lpstr>案例：io_uring (Linux 5.1)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6520</cp:revision>
  <cp:lastPrinted>2016-06-13T07:55:34Z</cp:lastPrinted>
  <dcterms:created xsi:type="dcterms:W3CDTF">2017-11-24T09:35:45Z</dcterms:created>
  <dcterms:modified xsi:type="dcterms:W3CDTF">2022-04-21T05:56:32Z</dcterms:modified>
</cp:coreProperties>
</file>