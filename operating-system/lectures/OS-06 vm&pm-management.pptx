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0"/>
  </p:notesMasterIdLst>
  <p:handoutMasterIdLst>
    <p:handoutMasterId r:id="rId81"/>
  </p:handoutMasterIdLst>
  <p:sldIdLst>
    <p:sldId id="2241" r:id="rId2"/>
    <p:sldId id="1420" r:id="rId3"/>
    <p:sldId id="2308" r:id="rId4"/>
    <p:sldId id="1378" r:id="rId5"/>
    <p:sldId id="2312" r:id="rId6"/>
    <p:sldId id="2313" r:id="rId7"/>
    <p:sldId id="1495" r:id="rId8"/>
    <p:sldId id="1407" r:id="rId9"/>
    <p:sldId id="1490" r:id="rId10"/>
    <p:sldId id="1426" r:id="rId11"/>
    <p:sldId id="1491" r:id="rId12"/>
    <p:sldId id="2245" r:id="rId13"/>
    <p:sldId id="2246" r:id="rId14"/>
    <p:sldId id="2247" r:id="rId15"/>
    <p:sldId id="2248" r:id="rId16"/>
    <p:sldId id="2249" r:id="rId17"/>
    <p:sldId id="2317" r:id="rId18"/>
    <p:sldId id="1459" r:id="rId19"/>
    <p:sldId id="1383" r:id="rId20"/>
    <p:sldId id="1406" r:id="rId21"/>
    <p:sldId id="1489" r:id="rId22"/>
    <p:sldId id="2260" r:id="rId23"/>
    <p:sldId id="1447" r:id="rId24"/>
    <p:sldId id="1449" r:id="rId25"/>
    <p:sldId id="1448" r:id="rId26"/>
    <p:sldId id="1450" r:id="rId27"/>
    <p:sldId id="1451" r:id="rId28"/>
    <p:sldId id="1452" r:id="rId29"/>
    <p:sldId id="1453" r:id="rId30"/>
    <p:sldId id="1455" r:id="rId31"/>
    <p:sldId id="1467" r:id="rId32"/>
    <p:sldId id="1457" r:id="rId33"/>
    <p:sldId id="1456" r:id="rId34"/>
    <p:sldId id="1428" r:id="rId35"/>
    <p:sldId id="2328" r:id="rId36"/>
    <p:sldId id="2271" r:id="rId37"/>
    <p:sldId id="2273" r:id="rId38"/>
    <p:sldId id="2274" r:id="rId39"/>
    <p:sldId id="2275" r:id="rId40"/>
    <p:sldId id="2276" r:id="rId41"/>
    <p:sldId id="2277" r:id="rId42"/>
    <p:sldId id="1418" r:id="rId43"/>
    <p:sldId id="2272" r:id="rId44"/>
    <p:sldId id="2278" r:id="rId45"/>
    <p:sldId id="1465" r:id="rId46"/>
    <p:sldId id="2329" r:id="rId47"/>
    <p:sldId id="2262" r:id="rId48"/>
    <p:sldId id="1466" r:id="rId49"/>
    <p:sldId id="1424" r:id="rId50"/>
    <p:sldId id="1435" r:id="rId51"/>
    <p:sldId id="2264" r:id="rId52"/>
    <p:sldId id="2269" r:id="rId53"/>
    <p:sldId id="2270" r:id="rId54"/>
    <p:sldId id="2266" r:id="rId55"/>
    <p:sldId id="1414" r:id="rId56"/>
    <p:sldId id="1438" r:id="rId57"/>
    <p:sldId id="1439" r:id="rId58"/>
    <p:sldId id="2253" r:id="rId59"/>
    <p:sldId id="2254" r:id="rId60"/>
    <p:sldId id="2255" r:id="rId61"/>
    <p:sldId id="2256" r:id="rId62"/>
    <p:sldId id="2257" r:id="rId63"/>
    <p:sldId id="2258" r:id="rId64"/>
    <p:sldId id="1440" r:id="rId65"/>
    <p:sldId id="2267" r:id="rId66"/>
    <p:sldId id="2243" r:id="rId67"/>
    <p:sldId id="2244" r:id="rId68"/>
    <p:sldId id="2330" r:id="rId69"/>
    <p:sldId id="2252" r:id="rId70"/>
    <p:sldId id="2331" r:id="rId71"/>
    <p:sldId id="2332" r:id="rId72"/>
    <p:sldId id="2279" r:id="rId73"/>
    <p:sldId id="2250" r:id="rId74"/>
    <p:sldId id="2242" r:id="rId75"/>
    <p:sldId id="1464" r:id="rId76"/>
    <p:sldId id="1461" r:id="rId77"/>
    <p:sldId id="1460" r:id="rId78"/>
    <p:sldId id="1462" r:id="rId79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374B"/>
    <a:srgbClr val="941100"/>
    <a:srgbClr val="212121"/>
    <a:srgbClr val="005493"/>
    <a:srgbClr val="FF2F92"/>
    <a:srgbClr val="9437FF"/>
    <a:srgbClr val="73FEFF"/>
    <a:srgbClr val="ED3C64"/>
    <a:srgbClr val="00FB92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38" autoAdjust="0"/>
    <p:restoredTop sz="86019" autoAdjust="0"/>
  </p:normalViewPr>
  <p:slideViewPr>
    <p:cSldViewPr>
      <p:cViewPr varScale="1">
        <p:scale>
          <a:sx n="101" d="100"/>
          <a:sy n="101" d="100"/>
        </p:scale>
        <p:origin x="1168" y="88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65" d="100"/>
        <a:sy n="6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2023/3/20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2023/3/20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7982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可以不用</a:t>
            </a:r>
            <a:r>
              <a:rPr kumimoji="1" lang="en-US" altLang="zh-CN" dirty="0"/>
              <a:t>VMA</a:t>
            </a:r>
            <a:r>
              <a:rPr kumimoji="1" lang="zh-CN" altLang="en-US" dirty="0"/>
              <a:t>，因为页表记录了完整的映射，没有页表则表示没有映射。但</a:t>
            </a:r>
            <a:r>
              <a:rPr kumimoji="1" lang="en-US" altLang="zh-CN" dirty="0"/>
              <a:t>VMA</a:t>
            </a:r>
            <a:r>
              <a:rPr kumimoji="1" lang="zh-CN" altLang="en-US" dirty="0"/>
              <a:t>还是可以提高速度，比遍历页表更快。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0132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用</a:t>
            </a:r>
            <a:r>
              <a:rPr kumimoji="1" lang="en-US" altLang="zh-CN" dirty="0"/>
              <a:t>VMA</a:t>
            </a:r>
            <a:r>
              <a:rPr kumimoji="1" lang="zh-CN" altLang="en-US" dirty="0"/>
              <a:t>来区分。第一种，不在</a:t>
            </a:r>
            <a:r>
              <a:rPr kumimoji="1" lang="en-US" altLang="zh-CN" dirty="0"/>
              <a:t>VMA</a:t>
            </a:r>
            <a:r>
              <a:rPr kumimoji="1" lang="zh-CN" altLang="en-US" dirty="0"/>
              <a:t>区域；第二种和第三种，在</a:t>
            </a:r>
            <a:r>
              <a:rPr kumimoji="1" lang="en-US" altLang="zh-CN" dirty="0"/>
              <a:t>VMA</a:t>
            </a:r>
            <a:r>
              <a:rPr kumimoji="1" lang="zh-CN" altLang="en-US" dirty="0"/>
              <a:t>区域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区分后两种的思路是：</a:t>
            </a:r>
            <a:endParaRPr kumimoji="1" lang="en-US" altLang="zh-CN" dirty="0"/>
          </a:p>
          <a:p>
            <a:r>
              <a:rPr kumimoji="1" lang="en-US" altLang="zh-CN" dirty="0"/>
              <a:t>1</a:t>
            </a:r>
            <a:r>
              <a:rPr kumimoji="1" lang="zh-CN" altLang="en-US" dirty="0"/>
              <a:t>、记住有哪些页被换出，比如</a:t>
            </a:r>
            <a:r>
              <a:rPr kumimoji="1" lang="en" altLang="zh-CN" dirty="0"/>
              <a:t>hash</a:t>
            </a:r>
            <a:r>
              <a:rPr kumimoji="1" lang="zh-CN" altLang="en-US" dirty="0"/>
              <a:t>表可以解决。</a:t>
            </a:r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、更简单的方法：通过页表项某些位是否为</a:t>
            </a:r>
            <a:r>
              <a:rPr kumimoji="1" lang="en" altLang="zh-CN" dirty="0"/>
              <a:t>NULL</a:t>
            </a:r>
            <a:r>
              <a:rPr kumimoji="1" lang="zh-CN" altLang="en-US" dirty="0"/>
              <a:t>进行区分。（</a:t>
            </a:r>
            <a:r>
              <a:rPr kumimoji="1" lang="en" altLang="zh-CN" dirty="0"/>
              <a:t>OS</a:t>
            </a:r>
            <a:r>
              <a:rPr kumimoji="1" lang="zh-CN" altLang="en-US" dirty="0"/>
              <a:t>自己定义规则：</a:t>
            </a:r>
            <a:r>
              <a:rPr kumimoji="1" lang="en" altLang="zh-CN" dirty="0"/>
              <a:t>NULL</a:t>
            </a:r>
            <a:r>
              <a:rPr kumimoji="1" lang="zh-CN" altLang="en-US" dirty="0"/>
              <a:t>代表非法，非</a:t>
            </a:r>
            <a:r>
              <a:rPr kumimoji="1" lang="en" altLang="zh-CN" dirty="0"/>
              <a:t>NULL</a:t>
            </a:r>
            <a:r>
              <a:rPr kumimoji="1" lang="zh-CN" altLang="en-US" dirty="0"/>
              <a:t>代表</a:t>
            </a:r>
            <a:r>
              <a:rPr kumimoji="1" lang="en" altLang="zh-CN" dirty="0"/>
              <a:t>swap</a:t>
            </a:r>
            <a:r>
              <a:rPr kumimoji="1" lang="zh-CN" altLang="en" dirty="0"/>
              <a:t>）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891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调用</a:t>
            </a:r>
            <a:r>
              <a:rPr lang="en-US" altLang="zh-CN" dirty="0" err="1"/>
              <a:t>mmap</a:t>
            </a:r>
            <a:r>
              <a:rPr lang="zh-CN" altLang="en-US" dirty="0"/>
              <a:t>映射文件时，内核中会为</a:t>
            </a:r>
            <a:r>
              <a:rPr lang="en-US" altLang="zh-CN" dirty="0" err="1"/>
              <a:t>mmap</a:t>
            </a:r>
            <a:r>
              <a:rPr lang="zh-CN" altLang="en-US" dirty="0"/>
              <a:t>的区域创建一个</a:t>
            </a:r>
            <a:r>
              <a:rPr lang="en-US" altLang="zh-CN" dirty="0" err="1"/>
              <a:t>vma</a:t>
            </a:r>
            <a:r>
              <a:rPr lang="zh-CN" altLang="en-US" dirty="0"/>
              <a:t>，并且将对应标识文件的内核对象</a:t>
            </a:r>
            <a:r>
              <a:rPr lang="en-US" altLang="zh-CN" dirty="0"/>
              <a:t>V-NODE</a:t>
            </a:r>
            <a:r>
              <a:rPr lang="zh-CN" altLang="en-US" dirty="0"/>
              <a:t>与这个</a:t>
            </a:r>
            <a:r>
              <a:rPr lang="en-US" altLang="zh-CN" dirty="0" err="1"/>
              <a:t>vma</a:t>
            </a:r>
            <a:r>
              <a:rPr lang="zh-CN" altLang="en-US" dirty="0"/>
              <a:t>绑定。此时这块区域的页表中并没有对应任何物理页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549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3000" dirty="0"/>
              <a:t>当访问这块内存时，会触发 </a:t>
            </a:r>
            <a:r>
              <a:rPr lang="en-US" altLang="zh-CN" sz="3000" dirty="0"/>
              <a:t>page fault</a:t>
            </a:r>
            <a:r>
              <a:rPr lang="zh-CN" altLang="en-US" sz="3000" dirty="0"/>
              <a:t>，内核会检查 </a:t>
            </a:r>
            <a:r>
              <a:rPr lang="en-US" altLang="zh-CN" sz="3000" dirty="0"/>
              <a:t>fault </a:t>
            </a:r>
            <a:r>
              <a:rPr lang="zh-CN" altLang="en-US" sz="3000" dirty="0"/>
              <a:t>地址，发现其对应的 </a:t>
            </a:r>
            <a:r>
              <a:rPr lang="en-US" altLang="zh-CN" sz="3000" dirty="0" err="1"/>
              <a:t>vma</a:t>
            </a:r>
            <a:r>
              <a:rPr lang="en-US" altLang="zh-CN" sz="3000" dirty="0"/>
              <a:t> </a:t>
            </a:r>
            <a:r>
              <a:rPr lang="zh-CN" altLang="en-US" sz="3000" dirty="0"/>
              <a:t>绑定了一个 </a:t>
            </a:r>
            <a:r>
              <a:rPr lang="en-US" altLang="zh-CN" sz="3000" dirty="0"/>
              <a:t>v-node</a:t>
            </a:r>
            <a:r>
              <a:rPr lang="zh-CN" altLang="en-US" sz="3000" dirty="0"/>
              <a:t>，就会从磁盘读取对应的页内容到页缓存，并将页缓存与用户地址空间的内容映射到同一个物理页。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22266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对于</a:t>
            </a:r>
            <a:r>
              <a:rPr lang="en-US" altLang="zh-CN" dirty="0" err="1"/>
              <a:t>mmap</a:t>
            </a:r>
            <a:r>
              <a:rPr lang="zh-CN" altLang="en-US" dirty="0"/>
              <a:t>内存区域的写会直接修改页缓存中的内容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292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当文件被关闭或调用</a:t>
            </a:r>
            <a:r>
              <a:rPr lang="en-US" altLang="zh-CN" dirty="0" err="1"/>
              <a:t>msync</a:t>
            </a:r>
            <a:r>
              <a:rPr lang="zh-CN" altLang="en-US" dirty="0"/>
              <a:t>时，页缓存中修改的数据会被刷会磁盘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8047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问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：初始值为</a:t>
            </a:r>
            <a:r>
              <a:rPr kumimoji="1" lang="en-US" altLang="zh-CN" dirty="0"/>
              <a:t>0</a:t>
            </a:r>
          </a:p>
          <a:p>
            <a:r>
              <a:rPr kumimoji="1" lang="zh-CN" altLang="en-US" dirty="0"/>
              <a:t>问</a:t>
            </a:r>
            <a:r>
              <a:rPr kumimoji="1" lang="en-US" altLang="zh-CN" dirty="0"/>
              <a:t>-2</a:t>
            </a:r>
            <a:r>
              <a:rPr kumimoji="1" lang="zh-CN" altLang="en-US" dirty="0"/>
              <a:t>：可以不需要，但性能会变差，</a:t>
            </a:r>
            <a:r>
              <a:rPr kumimoji="1" lang="en-US" altLang="zh-CN" dirty="0"/>
              <a:t>VMA</a:t>
            </a:r>
            <a:r>
              <a:rPr kumimoji="1" lang="zh-CN" altLang="en-US" dirty="0"/>
              <a:t>查找更方便</a:t>
            </a:r>
            <a:endParaRPr kumimoji="1" lang="en-US" altLang="zh-CN" dirty="0"/>
          </a:p>
          <a:p>
            <a:r>
              <a:rPr kumimoji="1" lang="zh-CN" altLang="en-US" dirty="0"/>
              <a:t>问</a:t>
            </a:r>
            <a:r>
              <a:rPr kumimoji="1" lang="en-US" altLang="zh-CN" dirty="0"/>
              <a:t>-3</a:t>
            </a:r>
            <a:r>
              <a:rPr kumimoji="1" lang="zh-CN" altLang="en-US" dirty="0"/>
              <a:t>：可以通过网络，不需要磁盘，实现无盘工作站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09873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压缩可以更快，但释放的内存会更少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5758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大数据的场景，更少的</a:t>
            </a:r>
            <a:r>
              <a:rPr kumimoji="1" lang="en-US" altLang="zh-CN" dirty="0"/>
              <a:t>TLB</a:t>
            </a:r>
            <a:r>
              <a:rPr kumimoji="1" lang="zh-CN" altLang="en-US" dirty="0"/>
              <a:t> </a:t>
            </a:r>
            <a:r>
              <a:rPr kumimoji="1" lang="en-US" altLang="zh-CN" dirty="0"/>
              <a:t>miss</a:t>
            </a:r>
          </a:p>
          <a:p>
            <a:r>
              <a:rPr kumimoji="1" lang="zh-CN" altLang="en-US" dirty="0"/>
              <a:t>如果只用物理内存，不适合多用户，适合单用户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9396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1">
            <a:extLst>
              <a:ext uri="{FF2B5EF4-FFF2-40B4-BE49-F238E27FC236}">
                <a16:creationId xmlns:a16="http://schemas.microsoft.com/office/drawing/2014/main" id="{8DF75386-4732-824C-90A2-D3BB7CF3A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endParaRPr lang="en-US" altLang="zh-CN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2F810B90-A01A-2044-AAD4-9C97F4252D5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92865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06783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答：无关，</a:t>
            </a:r>
            <a:r>
              <a:rPr kumimoji="1" lang="en-US" altLang="zh-CN" dirty="0"/>
              <a:t>malloc</a:t>
            </a:r>
            <a:r>
              <a:rPr kumimoji="1" lang="zh-CN" altLang="en-US" dirty="0"/>
              <a:t>只是分配虚拟地址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6760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1622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dirty="0"/>
              <a:t>（外部碎片能避免吗？）</a:t>
            </a:r>
            <a:endParaRPr kumimoji="1" lang="en-US" altLang="zh-CN" sz="1200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4733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合适的大小是 </a:t>
            </a:r>
            <a:r>
              <a:rPr kumimoji="1" lang="en-US" altLang="zh-CN" dirty="0"/>
              <a:t>16</a:t>
            </a:r>
            <a:r>
              <a:rPr kumimoji="1" lang="en" altLang="zh-CN" dirty="0"/>
              <a:t>K</a:t>
            </a:r>
            <a:r>
              <a:rPr kumimoji="1" lang="zh-CN" altLang="en" dirty="0"/>
              <a:t>，</a:t>
            </a:r>
            <a:r>
              <a:rPr kumimoji="1" lang="zh-CN" altLang="en-US" dirty="0"/>
              <a:t>因此首先查找第</a:t>
            </a:r>
            <a:r>
              <a:rPr kumimoji="1" lang="en-US" altLang="zh-CN" dirty="0"/>
              <a:t>2</a:t>
            </a:r>
            <a:r>
              <a:rPr kumimoji="1" lang="zh-CN" altLang="en-US" dirty="0"/>
              <a:t>条（</a:t>
            </a:r>
            <a:r>
              <a:rPr kumimoji="1" lang="en-US" altLang="zh-CN" dirty="0"/>
              <a:t>2</a:t>
            </a:r>
            <a:r>
              <a:rPr kumimoji="1" lang="en-US" altLang="zh-CN" baseline="30000" dirty="0"/>
              <a:t>2</a:t>
            </a:r>
            <a:r>
              <a:rPr kumimoji="1" lang="zh-CN" altLang="en-US" dirty="0"/>
              <a:t>）空闲链表，如果链表不为空， 则可以直接从链表头取出空闲块进行分配。但是，在这个例子中，该链表为空， 分配器就会依次向存储更大块的链表去查找。由于第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条链表不为空，分配器就从该链表头取出空闲块（</a:t>
            </a:r>
            <a:r>
              <a:rPr kumimoji="1" lang="en-US" altLang="zh-CN" dirty="0"/>
              <a:t>32</a:t>
            </a:r>
            <a:r>
              <a:rPr kumimoji="1" lang="en" altLang="zh-CN" dirty="0"/>
              <a:t>K</a:t>
            </a:r>
            <a:r>
              <a:rPr kumimoji="1" lang="zh-CN" altLang="en" dirty="0"/>
              <a:t>）</a:t>
            </a:r>
            <a:r>
              <a:rPr kumimoji="1" lang="zh-CN" altLang="en-US" dirty="0"/>
              <a:t>进行分裂操作，从而获得两个 </a:t>
            </a:r>
            <a:r>
              <a:rPr kumimoji="1" lang="en-US" altLang="zh-CN" dirty="0"/>
              <a:t>16</a:t>
            </a:r>
            <a:r>
              <a:rPr kumimoji="1" lang="en" altLang="zh-CN" dirty="0"/>
              <a:t>K </a:t>
            </a:r>
            <a:r>
              <a:rPr kumimoji="1" lang="zh-CN" altLang="en-US" dirty="0"/>
              <a:t>大小的 块，将其中一个用于服务请求（这里不再需要继续向下分裂），另一个依然作 为空闲块插入到第 </a:t>
            </a:r>
            <a:r>
              <a:rPr kumimoji="1" lang="en-US" altLang="zh-CN" dirty="0"/>
              <a:t>2 </a:t>
            </a:r>
            <a:r>
              <a:rPr kumimoji="1" lang="zh-CN" altLang="en-US" dirty="0"/>
              <a:t>条链表中。若再接收到一个大小为 </a:t>
            </a:r>
            <a:r>
              <a:rPr kumimoji="1" lang="en-US" altLang="zh-CN" dirty="0"/>
              <a:t>8</a:t>
            </a:r>
            <a:r>
              <a:rPr kumimoji="1" lang="en" altLang="zh-CN" dirty="0"/>
              <a:t>K </a:t>
            </a:r>
            <a:r>
              <a:rPr kumimoji="1" lang="zh-CN" altLang="en-US" dirty="0"/>
              <a:t>的分配请求，分配 器则会直接从第 </a:t>
            </a:r>
            <a:r>
              <a:rPr kumimoji="1" lang="en-US" altLang="zh-CN" dirty="0"/>
              <a:t>1 </a:t>
            </a:r>
            <a:r>
              <a:rPr kumimoji="1" lang="zh-CN" altLang="en-US" dirty="0"/>
              <a:t>条链表中取出空闲块服务请求。之后，继续接收到一个大小 为 </a:t>
            </a:r>
            <a:r>
              <a:rPr kumimoji="1" lang="en-US" altLang="zh-CN" dirty="0"/>
              <a:t>4</a:t>
            </a:r>
            <a:r>
              <a:rPr kumimoji="1" lang="en" altLang="zh-CN" dirty="0"/>
              <a:t>K </a:t>
            </a:r>
            <a:r>
              <a:rPr kumimoji="1" lang="zh-CN" altLang="en-US" dirty="0"/>
              <a:t>的分配请求，分配器则会取出第 </a:t>
            </a:r>
            <a:r>
              <a:rPr kumimoji="1" lang="en-US" altLang="zh-CN" dirty="0"/>
              <a:t>2 </a:t>
            </a:r>
            <a:r>
              <a:rPr kumimoji="1" lang="zh-CN" altLang="en-US" dirty="0"/>
              <a:t>条链表中大小为 </a:t>
            </a:r>
            <a:r>
              <a:rPr kumimoji="1" lang="en-US" altLang="zh-CN" dirty="0"/>
              <a:t>16</a:t>
            </a:r>
            <a:r>
              <a:rPr kumimoji="1" lang="en" altLang="zh-CN" dirty="0"/>
              <a:t>K </a:t>
            </a:r>
            <a:r>
              <a:rPr kumimoji="1" lang="zh-CN" altLang="en-US" dirty="0"/>
              <a:t>的空闲块进行 连续分裂，从而服务请求。读者可以思考并画出此时空闲链表数组的内容。释 放块的过程与分配块的过程相反，分配器首先找到被释放的块的伙伴块，如果 伙伴块处于非空闲状态，则将被释放的块直接插入对应大小的空闲链表中，即 完成释放；如果伙伴块处于空闲状态，则将它们两个块进行合并，当成一个完整的块释放，并重复该过程。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4326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网格表示</a:t>
            </a:r>
            <a:r>
              <a:rPr kumimoji="1" lang="en-US" altLang="zh-CN" dirty="0"/>
              <a:t>allocated</a:t>
            </a:r>
            <a:r>
              <a:rPr kumimoji="1" lang="zh-CN" altLang="en-US" dirty="0"/>
              <a:t>。</a:t>
            </a:r>
            <a:r>
              <a:rPr kumimoji="1" lang="en-US" altLang="zh-CN" dirty="0"/>
              <a:t>Full</a:t>
            </a:r>
            <a:r>
              <a:rPr kumimoji="1" lang="zh-CN" altLang="en-US" dirty="0"/>
              <a:t>指针是可选的。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3784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在选择被换出的页面时，优先选择未来不会再访问的页面，或者在最长时间内 不会再访问的页面。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54490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a typeface="+mn-ea"/>
              </a:rPr>
              <a:t>需要排序的内存页可能有非常多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2303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4800" dirty="0"/>
              <a:t>虚拟</a:t>
            </a:r>
            <a:r>
              <a:rPr kumimoji="1" lang="en-US" altLang="zh-CN" sz="4800" dirty="0"/>
              <a:t>&amp;</a:t>
            </a:r>
            <a:r>
              <a:rPr kumimoji="1" lang="zh-CN" altLang="en-US" sz="4800" dirty="0"/>
              <a:t>物理内存管理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上海交通大学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www.sjtu.edu.cn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SE3357-1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·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操作系统（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2022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春）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96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版权声明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 dirty="0"/>
              <a:t>本内容版权归</a:t>
            </a:r>
            <a:r>
              <a:rPr lang="zh-CN" altLang="en-US" sz="2000" dirty="0"/>
              <a:t>上海交通大学并行与分布式系统研究所</a:t>
            </a:r>
            <a:r>
              <a:rPr lang="zh-CN" altLang="en-US" sz="2000" b="0" dirty="0"/>
              <a:t>所有</a:t>
            </a:r>
            <a:endParaRPr lang="en-US" altLang="zh-CN" sz="2000" b="0" dirty="0"/>
          </a:p>
          <a:p>
            <a:r>
              <a:rPr lang="zh-CN" altLang="en-US" sz="2000" b="0" dirty="0"/>
              <a:t>使用者可以将全部或部分本内容免费用于非商业用途</a:t>
            </a:r>
            <a:endParaRPr lang="en-US" altLang="zh-CN" sz="2000" b="0" dirty="0"/>
          </a:p>
          <a:p>
            <a:r>
              <a:rPr lang="zh-CN" altLang="en-US" sz="2000" b="0" dirty="0"/>
              <a:t>使用者在使用全部或部分本内容时请注明来源</a:t>
            </a:r>
            <a:endParaRPr lang="en-US" altLang="zh-CN" sz="2000" b="0" dirty="0"/>
          </a:p>
          <a:p>
            <a:pPr lvl="1"/>
            <a:r>
              <a:rPr lang="zh-CN" altLang="en-US" sz="1600"/>
              <a:t>资</a:t>
            </a:r>
            <a:r>
              <a:rPr lang="zh-CN" altLang="en-US" sz="1600" b="0"/>
              <a:t>料</a:t>
            </a:r>
            <a:r>
              <a:rPr lang="zh-CN" altLang="en-US" sz="1600" b="0" dirty="0"/>
              <a:t>来自</a:t>
            </a:r>
            <a:r>
              <a:rPr lang="zh-CN" altLang="en-US" sz="1600" dirty="0"/>
              <a:t>上海交通大学并行与分布式系统研究所</a:t>
            </a:r>
            <a:r>
              <a:rPr lang="en-US" altLang="zh-CN" sz="1600" dirty="0"/>
              <a:t>+</a:t>
            </a:r>
            <a:r>
              <a:rPr lang="zh-CN" altLang="en-US" sz="1600" dirty="0"/>
              <a:t>材料名字</a:t>
            </a:r>
            <a:endParaRPr lang="en-US" altLang="zh-CN" sz="1600" b="0" dirty="0"/>
          </a:p>
          <a:p>
            <a:r>
              <a:rPr lang="zh-CN" altLang="en-US" sz="2000" b="0" dirty="0"/>
              <a:t>对于不遵守此声明或者其他违法使用本内容者，将依法保留追究权</a:t>
            </a:r>
            <a:endParaRPr lang="en-US" altLang="zh-CN" sz="2000" b="0" dirty="0"/>
          </a:p>
          <a:p>
            <a:r>
              <a:rPr lang="zh-CN" altLang="en-US" sz="2000" b="0" dirty="0"/>
              <a:t>本内容的发布采用 </a:t>
            </a:r>
            <a:r>
              <a:rPr lang="en-US" altLang="zh-CN" sz="2000" b="0" dirty="0"/>
              <a:t>Creative Commons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Attribution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4.0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License</a:t>
            </a:r>
            <a:endParaRPr lang="en-US" altLang="zh-CN" sz="2400" b="0" dirty="0"/>
          </a:p>
          <a:p>
            <a:pPr lvl="1"/>
            <a:r>
              <a:rPr lang="zh-CN" altLang="en-US" sz="1600" dirty="0"/>
              <a:t>完整文本：</a:t>
            </a:r>
            <a:r>
              <a:rPr lang="en-US" altLang="zh-CN" sz="1600" dirty="0">
                <a:hlinkClick r:id="rId2"/>
              </a:rPr>
              <a:t>https://creativecommons.org/licenses/by/4.0/legalcode</a:t>
            </a:r>
            <a:endParaRPr lang="en-US" altLang="zh-CN" sz="1800" b="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800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D8B4FE-D4DF-DC46-947E-9415001B7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Recap: </a:t>
            </a:r>
            <a:r>
              <a:rPr kumimoji="1" lang="zh-CN" altLang="en-US" dirty="0"/>
              <a:t>执行</a:t>
            </a:r>
            <a:r>
              <a:rPr kumimoji="1" lang="en-US" altLang="zh-CN" dirty="0"/>
              <a:t>mmap</a:t>
            </a:r>
            <a:r>
              <a:rPr kumimoji="1" lang="zh-CN" altLang="en-US" dirty="0"/>
              <a:t>后，</a:t>
            </a:r>
            <a:r>
              <a:rPr kumimoji="1" lang="en-US" altLang="zh-CN" dirty="0"/>
              <a:t>VMA</a:t>
            </a:r>
            <a:r>
              <a:rPr kumimoji="1" lang="zh-CN" altLang="en-US" dirty="0"/>
              <a:t>的变化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3160FA-A3C9-5440-B17D-14CBD7715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AE5EAB4-DC15-5A40-B8B7-6D7D40B38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532" y="1161458"/>
            <a:ext cx="7316936" cy="452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230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59BF44-6286-304A-861A-170D389CD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回顾：应用程序仅使用虚拟地址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AE1C21-CA44-D647-9509-19F680F03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AD8AAFC-B247-704E-8974-4EB6B6AF4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1230256"/>
            <a:ext cx="6263115" cy="396575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D9E2107-C0FA-F541-A01B-BA1D7EB7CB02}"/>
              </a:ext>
            </a:extLst>
          </p:cNvPr>
          <p:cNvSpPr txBox="1"/>
          <p:nvPr/>
        </p:nvSpPr>
        <p:spPr>
          <a:xfrm>
            <a:off x="323528" y="1705372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应用程序使用的虚拟地址</a:t>
            </a:r>
          </a:p>
        </p:txBody>
      </p:sp>
      <p:sp>
        <p:nvSpPr>
          <p:cNvPr id="6" name="下箭头 5">
            <a:extLst>
              <a:ext uri="{FF2B5EF4-FFF2-40B4-BE49-F238E27FC236}">
                <a16:creationId xmlns:a16="http://schemas.microsoft.com/office/drawing/2014/main" id="{6C1912A8-1E80-E940-8080-88F0C58544C5}"/>
              </a:ext>
            </a:extLst>
          </p:cNvPr>
          <p:cNvSpPr/>
          <p:nvPr/>
        </p:nvSpPr>
        <p:spPr>
          <a:xfrm>
            <a:off x="1567882" y="2177490"/>
            <a:ext cx="288032" cy="504056"/>
          </a:xfrm>
          <a:prstGeom prst="downArrow">
            <a:avLst>
              <a:gd name="adj1" fmla="val 29491"/>
              <a:gd name="adj2" fmla="val 3974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0365664-7BBE-374D-A7DF-32C06A73D336}"/>
              </a:ext>
            </a:extLst>
          </p:cNvPr>
          <p:cNvSpPr txBox="1"/>
          <p:nvPr/>
        </p:nvSpPr>
        <p:spPr>
          <a:xfrm>
            <a:off x="439147" y="2747857"/>
            <a:ext cx="2749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硬件根据</a:t>
            </a:r>
            <a:r>
              <a:rPr kumimoji="1" lang="zh-CN" altLang="en-US" sz="2000" b="1" dirty="0">
                <a:solidFill>
                  <a:srgbClr val="BD374B"/>
                </a:solidFill>
              </a:rPr>
              <a:t>页表</a:t>
            </a:r>
            <a:r>
              <a:rPr kumimoji="1" lang="zh-CN" altLang="en-US" sz="2000" dirty="0"/>
              <a:t>自动翻译</a:t>
            </a:r>
          </a:p>
        </p:txBody>
      </p:sp>
      <p:sp>
        <p:nvSpPr>
          <p:cNvPr id="10" name="下箭头 9">
            <a:extLst>
              <a:ext uri="{FF2B5EF4-FFF2-40B4-BE49-F238E27FC236}">
                <a16:creationId xmlns:a16="http://schemas.microsoft.com/office/drawing/2014/main" id="{202FC97E-E6CD-EE4D-BFE1-B73BDB67D532}"/>
              </a:ext>
            </a:extLst>
          </p:cNvPr>
          <p:cNvSpPr/>
          <p:nvPr/>
        </p:nvSpPr>
        <p:spPr>
          <a:xfrm>
            <a:off x="1567882" y="3323921"/>
            <a:ext cx="288032" cy="504056"/>
          </a:xfrm>
          <a:prstGeom prst="downArrow">
            <a:avLst>
              <a:gd name="adj1" fmla="val 29491"/>
              <a:gd name="adj2" fmla="val 3974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7F04EB7-81BA-D748-87B6-93FB6E621C00}"/>
              </a:ext>
            </a:extLst>
          </p:cNvPr>
          <p:cNvSpPr txBox="1"/>
          <p:nvPr/>
        </p:nvSpPr>
        <p:spPr>
          <a:xfrm>
            <a:off x="1103269" y="388389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物理地址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A72D97A-D18D-8C43-A089-23815B45A540}"/>
              </a:ext>
            </a:extLst>
          </p:cNvPr>
          <p:cNvSpPr txBox="1"/>
          <p:nvPr/>
        </p:nvSpPr>
        <p:spPr>
          <a:xfrm>
            <a:off x="2754153" y="4800659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BD374B"/>
                </a:solidFill>
              </a:rPr>
              <a:t>操作系统负责配置页表</a:t>
            </a:r>
          </a:p>
        </p:txBody>
      </p:sp>
    </p:spTree>
    <p:extLst>
      <p:ext uri="{BB962C8B-B14F-4D97-AF65-F5344CB8AC3E}">
        <p14:creationId xmlns:p14="http://schemas.microsoft.com/office/powerpoint/2010/main" val="2853405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9C227E-CE3F-7349-9A87-E5EE8A519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问：</a:t>
            </a:r>
            <a:r>
              <a:rPr kumimoji="1" lang="en-US" altLang="zh-CN" dirty="0"/>
              <a:t>VMA</a:t>
            </a:r>
            <a:r>
              <a:rPr kumimoji="1" lang="zh-CN" altLang="en-US" dirty="0"/>
              <a:t>和页表是否冗余？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B99E6A-9C9E-504D-A5F8-ECB231B2D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OS</a:t>
            </a:r>
            <a:r>
              <a:rPr kumimoji="1" lang="zh-CN" altLang="en-US" dirty="0"/>
              <a:t>通过</a:t>
            </a:r>
            <a:r>
              <a:rPr kumimoji="1" lang="en-US" altLang="zh-CN" dirty="0"/>
              <a:t>VMA</a:t>
            </a:r>
            <a:r>
              <a:rPr kumimoji="1" lang="zh-CN" altLang="en-US" dirty="0"/>
              <a:t>记录应用程序能够访问的虚拟地址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未映射的区域没有对应的</a:t>
            </a:r>
            <a:r>
              <a:rPr kumimoji="1" lang="en-US" altLang="zh-CN" dirty="0"/>
              <a:t>VMA</a:t>
            </a:r>
            <a:r>
              <a:rPr kumimoji="1" lang="zh-CN" altLang="en-US" dirty="0"/>
              <a:t>结构</a:t>
            </a:r>
            <a:endParaRPr kumimoji="1" lang="en-US" altLang="zh-CN" dirty="0"/>
          </a:p>
          <a:p>
            <a:r>
              <a:rPr kumimoji="1" lang="en-US" altLang="zh-CN" dirty="0"/>
              <a:t>OS</a:t>
            </a:r>
            <a:r>
              <a:rPr kumimoji="1" lang="zh-CN" altLang="en-US" dirty="0"/>
              <a:t>通过配置页表控制应用程序能够访问的虚拟地址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未分配的虚拟地址没有对应的页表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那么，</a:t>
            </a:r>
            <a:r>
              <a:rPr kumimoji="1" lang="en-US" altLang="zh-CN" dirty="0"/>
              <a:t>VMA</a:t>
            </a:r>
            <a:r>
              <a:rPr kumimoji="1" lang="zh-CN" altLang="en-US" dirty="0"/>
              <a:t>是否冗余？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1F31CC-17E8-6542-980D-0E4CFA06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120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76C78C-EF4E-D94E-82D5-74E3CBBB0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操作系统何时为应用程序填写页表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12663D-A597-8D42-9A8B-1580BA34D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两种方式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立即映射：每个虚拟页都对应了一个物理内存页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延迟映射：有些虚拟页不对应任何物理内存页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对应的数据在磁盘上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没有对应的数据（初始化为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）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51028B-B627-714D-A02E-6686A284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117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370667C-ACD4-1A4A-BBEB-B8DA37D7F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3672418"/>
            <a:ext cx="8602215" cy="1135062"/>
          </a:xfrm>
        </p:spPr>
        <p:txBody>
          <a:bodyPr>
            <a:normAutofit/>
          </a:bodyPr>
          <a:lstStyle/>
          <a:p>
            <a:r>
              <a:rPr lang="zh-CN" altLang="en-US" sz="3400" dirty="0"/>
              <a:t>延迟映射</a:t>
            </a:r>
            <a:r>
              <a:rPr lang="en-US" altLang="zh-CN" sz="3400" dirty="0"/>
              <a:t>/</a:t>
            </a:r>
            <a:r>
              <a:rPr lang="zh-CN" altLang="en-US" sz="3400" dirty="0"/>
              <a:t>按需调页（</a:t>
            </a:r>
            <a:r>
              <a:rPr lang="en-US" altLang="zh-CN" sz="3400" dirty="0"/>
              <a:t>Demand</a:t>
            </a:r>
            <a:r>
              <a:rPr lang="zh-CN" altLang="en-US" sz="3400" dirty="0"/>
              <a:t> </a:t>
            </a:r>
            <a:r>
              <a:rPr lang="en-US" altLang="zh-CN" sz="3400" dirty="0"/>
              <a:t>Paging</a:t>
            </a:r>
            <a:r>
              <a:rPr lang="zh-CN" altLang="en-US" sz="3400" dirty="0"/>
              <a:t>）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5D922DA-9970-1F47-93C9-3E49CD51F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385E9B-8D63-E84B-BA7F-0C5423F99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455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704CC-B9C3-DC47-AACF-BAA43A910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缺页异常（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Fault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6F909B-BA94-904A-808C-A302469A8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altLang="zh-CN" dirty="0"/>
              <a:t>CPU</a:t>
            </a:r>
            <a:r>
              <a:rPr kumimoji="1" lang="zh-CN" altLang="en-US" dirty="0"/>
              <a:t>的控制流转移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CPU</a:t>
            </a:r>
            <a:r>
              <a:rPr kumimoji="1" lang="zh-CN" altLang="en-US" dirty="0"/>
              <a:t>陷入内核，找到并运行相应的异常处理函数（</a:t>
            </a:r>
            <a:r>
              <a:rPr kumimoji="1" lang="en-US" altLang="zh-CN" dirty="0"/>
              <a:t>handler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OS</a:t>
            </a:r>
            <a:r>
              <a:rPr kumimoji="1" lang="zh-CN" altLang="en-US" dirty="0"/>
              <a:t>提前注册缺页异常处理函数</a:t>
            </a:r>
            <a:endParaRPr kumimoji="1" lang="en-US" altLang="zh-CN" dirty="0"/>
          </a:p>
          <a:p>
            <a:r>
              <a:rPr kumimoji="1" lang="en-US" altLang="zh-CN" dirty="0"/>
              <a:t>x86_64</a:t>
            </a:r>
          </a:p>
          <a:p>
            <a:pPr lvl="1"/>
            <a:r>
              <a:rPr kumimoji="1" lang="zh-CN" altLang="en-US" dirty="0"/>
              <a:t>异常号 </a:t>
            </a:r>
            <a:r>
              <a:rPr kumimoji="1" lang="en-US" altLang="zh-CN" dirty="0"/>
              <a:t>#PF</a:t>
            </a:r>
            <a:r>
              <a:rPr kumimoji="1" lang="zh-CN" altLang="en-US" dirty="0"/>
              <a:t> （</a:t>
            </a:r>
            <a:r>
              <a:rPr kumimoji="1" lang="en-US" altLang="zh-CN" dirty="0"/>
              <a:t>13</a:t>
            </a:r>
            <a:r>
              <a:rPr kumimoji="1" lang="zh-CN" altLang="en-US" dirty="0"/>
              <a:t>），错误地址存放在</a:t>
            </a:r>
            <a:r>
              <a:rPr kumimoji="1" lang="en-US" altLang="zh-CN" dirty="0"/>
              <a:t>CR2</a:t>
            </a:r>
            <a:r>
              <a:rPr kumimoji="1" lang="zh-CN" altLang="en-US" dirty="0"/>
              <a:t>寄存器</a:t>
            </a:r>
            <a:endParaRPr kumimoji="1" lang="en-US" altLang="zh-CN" dirty="0"/>
          </a:p>
          <a:p>
            <a:r>
              <a:rPr kumimoji="1" lang="en-US" altLang="zh-CN" dirty="0"/>
              <a:t>AARCH64</a:t>
            </a:r>
          </a:p>
          <a:p>
            <a:pPr lvl="1"/>
            <a:r>
              <a:rPr kumimoji="1" lang="zh-CN" altLang="en-US" dirty="0"/>
              <a:t>触发（通用的）同步异常（</a:t>
            </a:r>
            <a:r>
              <a:rPr kumimoji="1" lang="en-US" altLang="zh-CN" dirty="0"/>
              <a:t>8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根据</a:t>
            </a:r>
            <a:r>
              <a:rPr kumimoji="1" lang="en-US" altLang="zh-CN" dirty="0"/>
              <a:t>ESR</a:t>
            </a:r>
            <a:r>
              <a:rPr kumimoji="1" lang="zh-CN" altLang="en-US" dirty="0"/>
              <a:t>信息判断是否缺页，错误地址存放在</a:t>
            </a:r>
            <a:r>
              <a:rPr kumimoji="1" lang="en-US" altLang="zh-CN" dirty="0"/>
              <a:t>FAR_EL1</a:t>
            </a:r>
          </a:p>
          <a:p>
            <a:pPr lvl="1"/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8752A0-A971-B14E-9AA1-80E183FBA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922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CD805B-45BD-2540-B720-590078C6D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如何判断缺页异常的合法性？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61349C-2912-AF4B-B42D-7C4F74D65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OS</a:t>
            </a:r>
            <a:r>
              <a:rPr kumimoji="1" lang="zh-CN" altLang="en-US" dirty="0"/>
              <a:t>记录应用程序已分配的虚拟内存端（</a:t>
            </a:r>
            <a:r>
              <a:rPr kumimoji="1" lang="en-US" altLang="zh-CN" dirty="0"/>
              <a:t>VMA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b="1" dirty="0">
                <a:solidFill>
                  <a:srgbClr val="BD374B"/>
                </a:solidFill>
                <a:latin typeface="+mn-ea"/>
                <a:ea typeface="+mn-ea"/>
              </a:rPr>
              <a:t>不落在</a:t>
            </a:r>
            <a:r>
              <a:rPr kumimoji="1" lang="en-US" altLang="zh-CN" b="1" dirty="0">
                <a:solidFill>
                  <a:srgbClr val="BD374B"/>
                </a:solidFill>
                <a:latin typeface="+mn-ea"/>
                <a:ea typeface="+mn-ea"/>
              </a:rPr>
              <a:t>VMA</a:t>
            </a:r>
            <a:r>
              <a:rPr kumimoji="1" lang="zh-CN" altLang="en-US" b="1" dirty="0">
                <a:solidFill>
                  <a:srgbClr val="BD374B"/>
                </a:solidFill>
                <a:latin typeface="+mn-ea"/>
                <a:ea typeface="+mn-ea"/>
              </a:rPr>
              <a:t>区域，则为非法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8BA9A5-9B7D-854A-AED8-57C961D6F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8D2B21E-74F9-FC40-A6B1-FA3BE0999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020" y="2661085"/>
            <a:ext cx="5049959" cy="291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573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F4E63A-8612-ED4E-A1A1-312F86217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按需分配考虑的权衡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8BA3A7-60BD-314E-A19B-4E29C7030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优势：节约内存资源</a:t>
            </a:r>
            <a:endParaRPr kumimoji="1" lang="en-US" altLang="zh-CN" sz="2400" dirty="0"/>
          </a:p>
          <a:p>
            <a:r>
              <a:rPr kumimoji="1" lang="zh-CN" altLang="en-US" sz="2400" dirty="0"/>
              <a:t>劣势：缺页异常导致访问延迟增加</a:t>
            </a:r>
            <a:endParaRPr kumimoji="1" lang="en-US" altLang="zh-CN" sz="2400" dirty="0"/>
          </a:p>
          <a:p>
            <a:r>
              <a:rPr kumimoji="1" lang="zh-CN" altLang="en-US" sz="2400" dirty="0"/>
              <a:t>如何取得平衡？</a:t>
            </a:r>
            <a:endParaRPr kumimoji="1" lang="en-US" altLang="zh-CN" sz="2400" dirty="0"/>
          </a:p>
          <a:p>
            <a:pPr lvl="1"/>
            <a:r>
              <a:rPr kumimoji="1" lang="zh-CN" altLang="en-US" sz="2000" dirty="0">
                <a:solidFill>
                  <a:srgbClr val="C00000"/>
                </a:solidFill>
              </a:rPr>
              <a:t>应用程序访存具有时空局部性（</a:t>
            </a:r>
            <a:r>
              <a:rPr kumimoji="1" lang="en-US" altLang="zh-CN" sz="2000" dirty="0">
                <a:solidFill>
                  <a:srgbClr val="C00000"/>
                </a:solidFill>
              </a:rPr>
              <a:t>Locality</a:t>
            </a:r>
            <a:r>
              <a:rPr kumimoji="1" lang="zh-CN" altLang="en-US" sz="2000" dirty="0">
                <a:solidFill>
                  <a:srgbClr val="C00000"/>
                </a:solidFill>
              </a:rPr>
              <a:t>）</a:t>
            </a:r>
            <a:endParaRPr kumimoji="1" lang="en-US" altLang="zh-CN" sz="2000" dirty="0">
              <a:solidFill>
                <a:srgbClr val="C00000"/>
              </a:solidFill>
            </a:endParaRPr>
          </a:p>
          <a:p>
            <a:pPr lvl="1"/>
            <a:r>
              <a:rPr kumimoji="1" lang="zh-CN" altLang="en-US" sz="2000" dirty="0"/>
              <a:t>在缺页异常处理函数中采用预取（</a:t>
            </a:r>
            <a:r>
              <a:rPr kumimoji="1" lang="en-US" altLang="zh-CN" sz="2000" dirty="0">
                <a:solidFill>
                  <a:srgbClr val="C00000"/>
                </a:solidFill>
              </a:rPr>
              <a:t>Prefetching</a:t>
            </a:r>
            <a:r>
              <a:rPr kumimoji="1" lang="zh-CN" altLang="en-US" sz="2000" dirty="0"/>
              <a:t>）机制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即节约内存又能减少缺页异常次数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CE60C1-2DD6-C348-A017-CC876401F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389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07C5A-AC6D-C842-BA02-2B5ADD750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思考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7429B1-7CFD-1F49-983E-A4485D8AF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导致缺页异常的三种可能</a:t>
            </a:r>
            <a:endParaRPr kumimoji="1" lang="en-US" altLang="zh-CN" sz="24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访问非法虚拟地址</a:t>
            </a:r>
            <a:endParaRPr kumimoji="1" lang="en-US" altLang="zh-CN" sz="20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按需分配（尚未分配真正的物理页）</a:t>
            </a:r>
            <a:endParaRPr kumimoji="1" lang="en-US" altLang="zh-CN" sz="20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内存页数据被换出到磁盘上</a:t>
            </a:r>
            <a:endParaRPr kumimoji="1" lang="en-US" altLang="zh-CN" sz="2000" dirty="0"/>
          </a:p>
          <a:p>
            <a:pPr lvl="1"/>
            <a:r>
              <a:rPr kumimoji="1" lang="zh-CN" altLang="en-US" sz="2000" b="1" dirty="0">
                <a:solidFill>
                  <a:srgbClr val="BD374B"/>
                </a:solidFill>
              </a:rPr>
              <a:t>问：后两种都是合法的缺页异常，如何区分？</a:t>
            </a:r>
            <a:endParaRPr kumimoji="1" lang="en-US" altLang="zh-CN" sz="2000" b="1" dirty="0">
              <a:solidFill>
                <a:srgbClr val="BD374B"/>
              </a:solidFill>
            </a:endParaRPr>
          </a:p>
          <a:p>
            <a:pPr lvl="1"/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02996-5648-1843-9564-0B455B70E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396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4776AF-E63F-4623-B019-CC080B4E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MMAP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91B5D8-7702-4AD4-8254-E2230CC40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02DCAD-2645-4D5F-9740-F44EECC85FE7}"/>
              </a:ext>
            </a:extLst>
          </p:cNvPr>
          <p:cNvSpPr/>
          <p:nvPr/>
        </p:nvSpPr>
        <p:spPr>
          <a:xfrm>
            <a:off x="2112434" y="2761129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627F04-F8B1-452F-B9A7-31934153E3CC}"/>
              </a:ext>
            </a:extLst>
          </p:cNvPr>
          <p:cNvSpPr txBox="1"/>
          <p:nvPr/>
        </p:nvSpPr>
        <p:spPr>
          <a:xfrm>
            <a:off x="2112434" y="2770669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用户地址空间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EE294A-778B-40ED-AFD2-0A15E34E1001}"/>
              </a:ext>
            </a:extLst>
          </p:cNvPr>
          <p:cNvSpPr txBox="1"/>
          <p:nvPr/>
        </p:nvSpPr>
        <p:spPr>
          <a:xfrm>
            <a:off x="2085426" y="1557320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内核地址空间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8F757B-693C-4960-A997-CA177A52EDB4}"/>
              </a:ext>
            </a:extLst>
          </p:cNvPr>
          <p:cNvSpPr/>
          <p:nvPr/>
        </p:nvSpPr>
        <p:spPr>
          <a:xfrm>
            <a:off x="4522729" y="3090610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1865F2-A451-40B9-95E4-5C2770DFAED3}"/>
              </a:ext>
            </a:extLst>
          </p:cNvPr>
          <p:cNvSpPr/>
          <p:nvPr/>
        </p:nvSpPr>
        <p:spPr>
          <a:xfrm>
            <a:off x="4808917" y="3090610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B53FEF-FAAE-4B06-8037-FC68F7C7EA0F}"/>
              </a:ext>
            </a:extLst>
          </p:cNvPr>
          <p:cNvSpPr/>
          <p:nvPr/>
        </p:nvSpPr>
        <p:spPr>
          <a:xfrm>
            <a:off x="5095105" y="30906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14B6BC-EAF6-4B26-8BD0-D168479F31CA}"/>
              </a:ext>
            </a:extLst>
          </p:cNvPr>
          <p:cNvSpPr/>
          <p:nvPr/>
        </p:nvSpPr>
        <p:spPr>
          <a:xfrm>
            <a:off x="5381293" y="3090610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0895F4E-220F-4E2C-B997-A8AE46A82423}"/>
              </a:ext>
            </a:extLst>
          </p:cNvPr>
          <p:cNvSpPr/>
          <p:nvPr/>
        </p:nvSpPr>
        <p:spPr>
          <a:xfrm>
            <a:off x="2550633" y="1874637"/>
            <a:ext cx="1080120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VMA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42D226-2C1A-459C-92A0-AC68B3756C68}"/>
              </a:ext>
            </a:extLst>
          </p:cNvPr>
          <p:cNvSpPr/>
          <p:nvPr/>
        </p:nvSpPr>
        <p:spPr>
          <a:xfrm>
            <a:off x="4393188" y="2667338"/>
            <a:ext cx="1440160" cy="854556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2C084B-7DED-4FB3-9765-8948619E2EC5}"/>
              </a:ext>
            </a:extLst>
          </p:cNvPr>
          <p:cNvSpPr txBox="1"/>
          <p:nvPr/>
        </p:nvSpPr>
        <p:spPr>
          <a:xfrm>
            <a:off x="4393188" y="2667338"/>
            <a:ext cx="1347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页缓存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569659-3B6A-48F4-AC23-44D7474B0DDC}"/>
              </a:ext>
            </a:extLst>
          </p:cNvPr>
          <p:cNvSpPr/>
          <p:nvPr/>
        </p:nvSpPr>
        <p:spPr>
          <a:xfrm>
            <a:off x="2364923" y="3207414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D11488A-727C-4BBC-B487-216DCBDBF1B9}"/>
              </a:ext>
            </a:extLst>
          </p:cNvPr>
          <p:cNvSpPr/>
          <p:nvPr/>
        </p:nvSpPr>
        <p:spPr>
          <a:xfrm>
            <a:off x="2655800" y="3207414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E09E83-3955-405F-AB96-A975327FCD5B}"/>
              </a:ext>
            </a:extLst>
          </p:cNvPr>
          <p:cNvSpPr/>
          <p:nvPr/>
        </p:nvSpPr>
        <p:spPr>
          <a:xfrm>
            <a:off x="2946677" y="3207415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0C99F8-9BB6-4C63-BBB3-2DC43D0DF8B9}"/>
              </a:ext>
            </a:extLst>
          </p:cNvPr>
          <p:cNvSpPr/>
          <p:nvPr/>
        </p:nvSpPr>
        <p:spPr>
          <a:xfrm>
            <a:off x="3237554" y="3207414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1ABEABF-C894-4D05-8537-8C5183401A5B}"/>
              </a:ext>
            </a:extLst>
          </p:cNvPr>
          <p:cNvSpPr/>
          <p:nvPr/>
        </p:nvSpPr>
        <p:spPr>
          <a:xfrm>
            <a:off x="6660726" y="2738927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DDBC15F-45E5-4A45-B88E-EDDE837ADE92}"/>
              </a:ext>
            </a:extLst>
          </p:cNvPr>
          <p:cNvSpPr txBox="1"/>
          <p:nvPr/>
        </p:nvSpPr>
        <p:spPr>
          <a:xfrm>
            <a:off x="6660726" y="2748467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磁盘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6DE5BE0-7484-4DFB-8C45-E606BEE8C3C1}"/>
              </a:ext>
            </a:extLst>
          </p:cNvPr>
          <p:cNvSpPr/>
          <p:nvPr/>
        </p:nvSpPr>
        <p:spPr>
          <a:xfrm>
            <a:off x="6913215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93E0530-2463-4D6C-9020-A32576F66B6D}"/>
              </a:ext>
            </a:extLst>
          </p:cNvPr>
          <p:cNvSpPr/>
          <p:nvPr/>
        </p:nvSpPr>
        <p:spPr>
          <a:xfrm>
            <a:off x="7204092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B6691E9-87BE-4A3E-84C6-BC39BB9F53B5}"/>
              </a:ext>
            </a:extLst>
          </p:cNvPr>
          <p:cNvSpPr/>
          <p:nvPr/>
        </p:nvSpPr>
        <p:spPr>
          <a:xfrm>
            <a:off x="7494969" y="3185213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08CAB8D-8DD3-470C-B64A-00BB86E9FA31}"/>
              </a:ext>
            </a:extLst>
          </p:cNvPr>
          <p:cNvSpPr/>
          <p:nvPr/>
        </p:nvSpPr>
        <p:spPr>
          <a:xfrm>
            <a:off x="7785846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88BB074C-28EF-4944-9FF8-D78B007CEC77}"/>
              </a:ext>
            </a:extLst>
          </p:cNvPr>
          <p:cNvSpPr/>
          <p:nvPr/>
        </p:nvSpPr>
        <p:spPr>
          <a:xfrm>
            <a:off x="2109423" y="1562547"/>
            <a:ext cx="3830729" cy="2132267"/>
          </a:xfrm>
          <a:custGeom>
            <a:avLst/>
            <a:gdLst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26582 w 4072270"/>
              <a:gd name="connsiteY5" fmla="*/ 1010093 h 2131828"/>
              <a:gd name="connsiteX6" fmla="*/ 0 w 4072270"/>
              <a:gd name="connsiteY6" fmla="*/ 0 h 2131828"/>
              <a:gd name="connsiteX0" fmla="*/ 10867 w 4083137"/>
              <a:gd name="connsiteY0" fmla="*/ 0 h 2131828"/>
              <a:gd name="connsiteX1" fmla="*/ 4083137 w 4083137"/>
              <a:gd name="connsiteY1" fmla="*/ 0 h 2131828"/>
              <a:gd name="connsiteX2" fmla="*/ 4083137 w 4083137"/>
              <a:gd name="connsiteY2" fmla="*/ 2131828 h 2131828"/>
              <a:gd name="connsiteX3" fmla="*/ 2275602 w 4083137"/>
              <a:gd name="connsiteY3" fmla="*/ 2131828 h 2131828"/>
              <a:gd name="connsiteX4" fmla="*/ 2275602 w 4083137"/>
              <a:gd name="connsiteY4" fmla="*/ 1010093 h 2131828"/>
              <a:gd name="connsiteX5" fmla="*/ 0 w 4083137"/>
              <a:gd name="connsiteY5" fmla="*/ 1010093 h 2131828"/>
              <a:gd name="connsiteX6" fmla="*/ 10867 w 4083137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5883 w 4072270"/>
              <a:gd name="connsiteY5" fmla="*/ 1004778 h 2131828"/>
              <a:gd name="connsiteX6" fmla="*/ 0 w 4072270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0533 w 4072270"/>
              <a:gd name="connsiteY5" fmla="*/ 1020724 h 2131828"/>
              <a:gd name="connsiteX6" fmla="*/ 0 w 4072270"/>
              <a:gd name="connsiteY6" fmla="*/ 0 h 2131828"/>
              <a:gd name="connsiteX0" fmla="*/ 167 w 4072437"/>
              <a:gd name="connsiteY0" fmla="*/ 0 h 2131828"/>
              <a:gd name="connsiteX1" fmla="*/ 4072437 w 4072437"/>
              <a:gd name="connsiteY1" fmla="*/ 0 h 2131828"/>
              <a:gd name="connsiteX2" fmla="*/ 4072437 w 4072437"/>
              <a:gd name="connsiteY2" fmla="*/ 2131828 h 2131828"/>
              <a:gd name="connsiteX3" fmla="*/ 2264902 w 4072437"/>
              <a:gd name="connsiteY3" fmla="*/ 2131828 h 2131828"/>
              <a:gd name="connsiteX4" fmla="*/ 2264902 w 4072437"/>
              <a:gd name="connsiteY4" fmla="*/ 1010093 h 2131828"/>
              <a:gd name="connsiteX5" fmla="*/ 0 w 4072437"/>
              <a:gd name="connsiteY5" fmla="*/ 1020724 h 2131828"/>
              <a:gd name="connsiteX6" fmla="*/ 167 w 4072437"/>
              <a:gd name="connsiteY6" fmla="*/ 0 h 2131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2437" h="2131828">
                <a:moveTo>
                  <a:pt x="167" y="0"/>
                </a:moveTo>
                <a:lnTo>
                  <a:pt x="4072437" y="0"/>
                </a:lnTo>
                <a:lnTo>
                  <a:pt x="4072437" y="2131828"/>
                </a:lnTo>
                <a:lnTo>
                  <a:pt x="2264902" y="2131828"/>
                </a:lnTo>
                <a:lnTo>
                  <a:pt x="2264902" y="1010093"/>
                </a:lnTo>
                <a:lnTo>
                  <a:pt x="0" y="1020724"/>
                </a:lnTo>
                <a:cubicBezTo>
                  <a:pt x="56" y="680483"/>
                  <a:pt x="111" y="340241"/>
                  <a:pt x="167" y="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noFill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B3014545-78D6-4DF9-AE82-3E40B3D016D5}"/>
              </a:ext>
            </a:extLst>
          </p:cNvPr>
          <p:cNvSpPr/>
          <p:nvPr/>
        </p:nvSpPr>
        <p:spPr>
          <a:xfrm>
            <a:off x="4485770" y="1874637"/>
            <a:ext cx="1255407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V-NODE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4359B700-CDEA-48D5-B23B-05A7AA0D64BA}"/>
              </a:ext>
            </a:extLst>
          </p:cNvPr>
          <p:cNvCxnSpPr>
            <a:stCxn id="13" idx="6"/>
            <a:endCxn id="50" idx="2"/>
          </p:cNvCxnSpPr>
          <p:nvPr/>
        </p:nvCxnSpPr>
        <p:spPr>
          <a:xfrm>
            <a:off x="3630753" y="2124115"/>
            <a:ext cx="855017" cy="0"/>
          </a:xfrm>
          <a:prstGeom prst="straightConnector1">
            <a:avLst/>
          </a:prstGeom>
          <a:ln w="1905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158522E8-9D99-4C88-9185-26D0FB015DC8}"/>
              </a:ext>
            </a:extLst>
          </p:cNvPr>
          <p:cNvCxnSpPr/>
          <p:nvPr/>
        </p:nvCxnSpPr>
        <p:spPr>
          <a:xfrm>
            <a:off x="1769512" y="3206398"/>
            <a:ext cx="601235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E3063A1-DEDE-4425-8C5C-B65D475B8AF4}"/>
              </a:ext>
            </a:extLst>
          </p:cNvPr>
          <p:cNvSpPr txBox="1"/>
          <p:nvPr/>
        </p:nvSpPr>
        <p:spPr>
          <a:xfrm>
            <a:off x="1298986" y="3051772"/>
            <a:ext cx="561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/>
              <a:t>addr</a:t>
            </a:r>
            <a:endParaRPr lang="zh-CN" altLang="en-US" sz="1400" dirty="0"/>
          </a:p>
        </p:txBody>
      </p:sp>
      <p:sp>
        <p:nvSpPr>
          <p:cNvPr id="7" name="流程图: 接点 6">
            <a:extLst>
              <a:ext uri="{FF2B5EF4-FFF2-40B4-BE49-F238E27FC236}">
                <a16:creationId xmlns:a16="http://schemas.microsoft.com/office/drawing/2014/main" id="{7B4599FF-6C21-4A8E-8389-AC00EAC61643}"/>
              </a:ext>
            </a:extLst>
          </p:cNvPr>
          <p:cNvSpPr/>
          <p:nvPr/>
        </p:nvSpPr>
        <p:spPr>
          <a:xfrm>
            <a:off x="2168859" y="1858149"/>
            <a:ext cx="323147" cy="32314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9503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4776AF-E63F-4623-B019-CC080B4E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MMAP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91B5D8-7702-4AD4-8254-E2230CC40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02DCAD-2645-4D5F-9740-F44EECC85FE7}"/>
              </a:ext>
            </a:extLst>
          </p:cNvPr>
          <p:cNvSpPr/>
          <p:nvPr/>
        </p:nvSpPr>
        <p:spPr>
          <a:xfrm>
            <a:off x="2112434" y="2761129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627F04-F8B1-452F-B9A7-31934153E3CC}"/>
              </a:ext>
            </a:extLst>
          </p:cNvPr>
          <p:cNvSpPr txBox="1"/>
          <p:nvPr/>
        </p:nvSpPr>
        <p:spPr>
          <a:xfrm>
            <a:off x="2112434" y="2770669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用户地址空间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EE294A-778B-40ED-AFD2-0A15E34E1001}"/>
              </a:ext>
            </a:extLst>
          </p:cNvPr>
          <p:cNvSpPr txBox="1"/>
          <p:nvPr/>
        </p:nvSpPr>
        <p:spPr>
          <a:xfrm>
            <a:off x="2085426" y="1557320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内核地址空间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8F757B-693C-4960-A997-CA177A52EDB4}"/>
              </a:ext>
            </a:extLst>
          </p:cNvPr>
          <p:cNvSpPr/>
          <p:nvPr/>
        </p:nvSpPr>
        <p:spPr>
          <a:xfrm>
            <a:off x="4522729" y="3090610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1865F2-A451-40B9-95E4-5C2770DFAED3}"/>
              </a:ext>
            </a:extLst>
          </p:cNvPr>
          <p:cNvSpPr/>
          <p:nvPr/>
        </p:nvSpPr>
        <p:spPr>
          <a:xfrm>
            <a:off x="4808917" y="3090610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B53FEF-FAAE-4B06-8037-FC68F7C7EA0F}"/>
              </a:ext>
            </a:extLst>
          </p:cNvPr>
          <p:cNvSpPr/>
          <p:nvPr/>
        </p:nvSpPr>
        <p:spPr>
          <a:xfrm>
            <a:off x="5095105" y="30906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14B6BC-EAF6-4B26-8BD0-D168479F31CA}"/>
              </a:ext>
            </a:extLst>
          </p:cNvPr>
          <p:cNvSpPr/>
          <p:nvPr/>
        </p:nvSpPr>
        <p:spPr>
          <a:xfrm>
            <a:off x="5381293" y="3090610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0895F4E-220F-4E2C-B997-A8AE46A82423}"/>
              </a:ext>
            </a:extLst>
          </p:cNvPr>
          <p:cNvSpPr/>
          <p:nvPr/>
        </p:nvSpPr>
        <p:spPr>
          <a:xfrm>
            <a:off x="2550633" y="1874637"/>
            <a:ext cx="1080120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VMA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42D226-2C1A-459C-92A0-AC68B3756C68}"/>
              </a:ext>
            </a:extLst>
          </p:cNvPr>
          <p:cNvSpPr/>
          <p:nvPr/>
        </p:nvSpPr>
        <p:spPr>
          <a:xfrm>
            <a:off x="4393188" y="2667338"/>
            <a:ext cx="1440160" cy="854556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2C084B-7DED-4FB3-9765-8948619E2EC5}"/>
              </a:ext>
            </a:extLst>
          </p:cNvPr>
          <p:cNvSpPr txBox="1"/>
          <p:nvPr/>
        </p:nvSpPr>
        <p:spPr>
          <a:xfrm>
            <a:off x="4393188" y="2667338"/>
            <a:ext cx="1347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页缓存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569659-3B6A-48F4-AC23-44D7474B0DDC}"/>
              </a:ext>
            </a:extLst>
          </p:cNvPr>
          <p:cNvSpPr/>
          <p:nvPr/>
        </p:nvSpPr>
        <p:spPr>
          <a:xfrm>
            <a:off x="2364923" y="3207414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D11488A-727C-4BBC-B487-216DCBDBF1B9}"/>
              </a:ext>
            </a:extLst>
          </p:cNvPr>
          <p:cNvSpPr/>
          <p:nvPr/>
        </p:nvSpPr>
        <p:spPr>
          <a:xfrm>
            <a:off x="2655800" y="3207414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E09E83-3955-405F-AB96-A975327FCD5B}"/>
              </a:ext>
            </a:extLst>
          </p:cNvPr>
          <p:cNvSpPr/>
          <p:nvPr/>
        </p:nvSpPr>
        <p:spPr>
          <a:xfrm>
            <a:off x="2946677" y="3207415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0C99F8-9BB6-4C63-BBB3-2DC43D0DF8B9}"/>
              </a:ext>
            </a:extLst>
          </p:cNvPr>
          <p:cNvSpPr/>
          <p:nvPr/>
        </p:nvSpPr>
        <p:spPr>
          <a:xfrm>
            <a:off x="3237554" y="3207414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2B7EFC-5F08-44F3-AAE8-C20AD738DCD4}"/>
              </a:ext>
            </a:extLst>
          </p:cNvPr>
          <p:cNvSpPr/>
          <p:nvPr/>
        </p:nvSpPr>
        <p:spPr>
          <a:xfrm>
            <a:off x="3223487" y="4385022"/>
            <a:ext cx="3004697" cy="94704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2AE0165-02E4-49CB-8A65-B57402A57187}"/>
              </a:ext>
            </a:extLst>
          </p:cNvPr>
          <p:cNvSpPr txBox="1"/>
          <p:nvPr/>
        </p:nvSpPr>
        <p:spPr>
          <a:xfrm>
            <a:off x="3189627" y="5024292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物理内存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C94B011-9C83-403D-AA34-8FB6709B37FC}"/>
              </a:ext>
            </a:extLst>
          </p:cNvPr>
          <p:cNvSpPr/>
          <p:nvPr/>
        </p:nvSpPr>
        <p:spPr>
          <a:xfrm>
            <a:off x="3529682" y="46314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E5B6470-6467-4A66-B5F7-923027FC60B2}"/>
              </a:ext>
            </a:extLst>
          </p:cNvPr>
          <p:cNvSpPr/>
          <p:nvPr/>
        </p:nvSpPr>
        <p:spPr>
          <a:xfrm>
            <a:off x="3815870" y="46314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2EA78CC-1338-4653-A5C5-E11A7031B19E}"/>
              </a:ext>
            </a:extLst>
          </p:cNvPr>
          <p:cNvSpPr/>
          <p:nvPr/>
        </p:nvSpPr>
        <p:spPr>
          <a:xfrm>
            <a:off x="4102058" y="46314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032A6F5-D2DC-4F85-9BAD-9593694CBF3B}"/>
              </a:ext>
            </a:extLst>
          </p:cNvPr>
          <p:cNvSpPr/>
          <p:nvPr/>
        </p:nvSpPr>
        <p:spPr>
          <a:xfrm>
            <a:off x="4388246" y="46314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75B30D6-86A9-4167-9C16-7D89DAF6861E}"/>
              </a:ext>
            </a:extLst>
          </p:cNvPr>
          <p:cNvCxnSpPr>
            <a:cxnSpLocks/>
          </p:cNvCxnSpPr>
          <p:nvPr/>
        </p:nvCxnSpPr>
        <p:spPr>
          <a:xfrm>
            <a:off x="2364923" y="3511685"/>
            <a:ext cx="1741284" cy="1116861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8B273ED-58D1-40A7-9B31-0CD8EE5D01D6}"/>
              </a:ext>
            </a:extLst>
          </p:cNvPr>
          <p:cNvCxnSpPr>
            <a:cxnSpLocks/>
          </p:cNvCxnSpPr>
          <p:nvPr/>
        </p:nvCxnSpPr>
        <p:spPr>
          <a:xfrm>
            <a:off x="2663009" y="3508819"/>
            <a:ext cx="1744695" cy="1119726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F6CBDE68-2AE5-4E06-9F55-2EE5340A557D}"/>
              </a:ext>
            </a:extLst>
          </p:cNvPr>
          <p:cNvSpPr/>
          <p:nvPr/>
        </p:nvSpPr>
        <p:spPr>
          <a:xfrm>
            <a:off x="4676278" y="4629587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5C603B7-0AF7-42FA-812F-55661747B9C5}"/>
              </a:ext>
            </a:extLst>
          </p:cNvPr>
          <p:cNvSpPr/>
          <p:nvPr/>
        </p:nvSpPr>
        <p:spPr>
          <a:xfrm>
            <a:off x="4967155" y="4629587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1BA1468-5F1A-4E93-BAA3-BDAA2AC6E91A}"/>
              </a:ext>
            </a:extLst>
          </p:cNvPr>
          <p:cNvSpPr/>
          <p:nvPr/>
        </p:nvSpPr>
        <p:spPr>
          <a:xfrm>
            <a:off x="5258032" y="4629588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D50870D-71A5-4702-8822-65B56BB8F82E}"/>
              </a:ext>
            </a:extLst>
          </p:cNvPr>
          <p:cNvSpPr/>
          <p:nvPr/>
        </p:nvSpPr>
        <p:spPr>
          <a:xfrm>
            <a:off x="5548909" y="4629587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864F8F63-91D1-4984-B48E-CBF1EEA63AB2}"/>
              </a:ext>
            </a:extLst>
          </p:cNvPr>
          <p:cNvCxnSpPr>
            <a:cxnSpLocks/>
          </p:cNvCxnSpPr>
          <p:nvPr/>
        </p:nvCxnSpPr>
        <p:spPr>
          <a:xfrm flipH="1">
            <a:off x="4102059" y="3397746"/>
            <a:ext cx="419749" cy="1230800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D6F4925E-336B-42B8-B04C-B8A3EB25CB18}"/>
              </a:ext>
            </a:extLst>
          </p:cNvPr>
          <p:cNvCxnSpPr>
            <a:cxnSpLocks/>
          </p:cNvCxnSpPr>
          <p:nvPr/>
        </p:nvCxnSpPr>
        <p:spPr>
          <a:xfrm flipH="1">
            <a:off x="4392755" y="3394642"/>
            <a:ext cx="418827" cy="1237357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11ABEABF-C894-4D05-8537-8C5183401A5B}"/>
              </a:ext>
            </a:extLst>
          </p:cNvPr>
          <p:cNvSpPr/>
          <p:nvPr/>
        </p:nvSpPr>
        <p:spPr>
          <a:xfrm>
            <a:off x="6660726" y="2738927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DDBC15F-45E5-4A45-B88E-EDDE837ADE92}"/>
              </a:ext>
            </a:extLst>
          </p:cNvPr>
          <p:cNvSpPr txBox="1"/>
          <p:nvPr/>
        </p:nvSpPr>
        <p:spPr>
          <a:xfrm>
            <a:off x="6660726" y="2748467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磁盘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6DE5BE0-7484-4DFB-8C45-E606BEE8C3C1}"/>
              </a:ext>
            </a:extLst>
          </p:cNvPr>
          <p:cNvSpPr/>
          <p:nvPr/>
        </p:nvSpPr>
        <p:spPr>
          <a:xfrm>
            <a:off x="6913215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93E0530-2463-4D6C-9020-A32576F66B6D}"/>
              </a:ext>
            </a:extLst>
          </p:cNvPr>
          <p:cNvSpPr/>
          <p:nvPr/>
        </p:nvSpPr>
        <p:spPr>
          <a:xfrm>
            <a:off x="7204092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B6691E9-87BE-4A3E-84C6-BC39BB9F53B5}"/>
              </a:ext>
            </a:extLst>
          </p:cNvPr>
          <p:cNvSpPr/>
          <p:nvPr/>
        </p:nvSpPr>
        <p:spPr>
          <a:xfrm>
            <a:off x="7494969" y="3185213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08CAB8D-8DD3-470C-B64A-00BB86E9FA31}"/>
              </a:ext>
            </a:extLst>
          </p:cNvPr>
          <p:cNvSpPr/>
          <p:nvPr/>
        </p:nvSpPr>
        <p:spPr>
          <a:xfrm>
            <a:off x="7785846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88BB074C-28EF-4944-9FF8-D78B007CEC77}"/>
              </a:ext>
            </a:extLst>
          </p:cNvPr>
          <p:cNvSpPr/>
          <p:nvPr/>
        </p:nvSpPr>
        <p:spPr>
          <a:xfrm>
            <a:off x="2109423" y="1562547"/>
            <a:ext cx="3830729" cy="2132267"/>
          </a:xfrm>
          <a:custGeom>
            <a:avLst/>
            <a:gdLst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26582 w 4072270"/>
              <a:gd name="connsiteY5" fmla="*/ 1010093 h 2131828"/>
              <a:gd name="connsiteX6" fmla="*/ 0 w 4072270"/>
              <a:gd name="connsiteY6" fmla="*/ 0 h 2131828"/>
              <a:gd name="connsiteX0" fmla="*/ 10867 w 4083137"/>
              <a:gd name="connsiteY0" fmla="*/ 0 h 2131828"/>
              <a:gd name="connsiteX1" fmla="*/ 4083137 w 4083137"/>
              <a:gd name="connsiteY1" fmla="*/ 0 h 2131828"/>
              <a:gd name="connsiteX2" fmla="*/ 4083137 w 4083137"/>
              <a:gd name="connsiteY2" fmla="*/ 2131828 h 2131828"/>
              <a:gd name="connsiteX3" fmla="*/ 2275602 w 4083137"/>
              <a:gd name="connsiteY3" fmla="*/ 2131828 h 2131828"/>
              <a:gd name="connsiteX4" fmla="*/ 2275602 w 4083137"/>
              <a:gd name="connsiteY4" fmla="*/ 1010093 h 2131828"/>
              <a:gd name="connsiteX5" fmla="*/ 0 w 4083137"/>
              <a:gd name="connsiteY5" fmla="*/ 1010093 h 2131828"/>
              <a:gd name="connsiteX6" fmla="*/ 10867 w 4083137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5883 w 4072270"/>
              <a:gd name="connsiteY5" fmla="*/ 1004778 h 2131828"/>
              <a:gd name="connsiteX6" fmla="*/ 0 w 4072270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0533 w 4072270"/>
              <a:gd name="connsiteY5" fmla="*/ 1020724 h 2131828"/>
              <a:gd name="connsiteX6" fmla="*/ 0 w 4072270"/>
              <a:gd name="connsiteY6" fmla="*/ 0 h 2131828"/>
              <a:gd name="connsiteX0" fmla="*/ 167 w 4072437"/>
              <a:gd name="connsiteY0" fmla="*/ 0 h 2131828"/>
              <a:gd name="connsiteX1" fmla="*/ 4072437 w 4072437"/>
              <a:gd name="connsiteY1" fmla="*/ 0 h 2131828"/>
              <a:gd name="connsiteX2" fmla="*/ 4072437 w 4072437"/>
              <a:gd name="connsiteY2" fmla="*/ 2131828 h 2131828"/>
              <a:gd name="connsiteX3" fmla="*/ 2264902 w 4072437"/>
              <a:gd name="connsiteY3" fmla="*/ 2131828 h 2131828"/>
              <a:gd name="connsiteX4" fmla="*/ 2264902 w 4072437"/>
              <a:gd name="connsiteY4" fmla="*/ 1010093 h 2131828"/>
              <a:gd name="connsiteX5" fmla="*/ 0 w 4072437"/>
              <a:gd name="connsiteY5" fmla="*/ 1020724 h 2131828"/>
              <a:gd name="connsiteX6" fmla="*/ 167 w 4072437"/>
              <a:gd name="connsiteY6" fmla="*/ 0 h 2131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2437" h="2131828">
                <a:moveTo>
                  <a:pt x="167" y="0"/>
                </a:moveTo>
                <a:lnTo>
                  <a:pt x="4072437" y="0"/>
                </a:lnTo>
                <a:lnTo>
                  <a:pt x="4072437" y="2131828"/>
                </a:lnTo>
                <a:lnTo>
                  <a:pt x="2264902" y="2131828"/>
                </a:lnTo>
                <a:lnTo>
                  <a:pt x="2264902" y="1010093"/>
                </a:lnTo>
                <a:lnTo>
                  <a:pt x="0" y="1020724"/>
                </a:lnTo>
                <a:cubicBezTo>
                  <a:pt x="56" y="680483"/>
                  <a:pt x="111" y="340241"/>
                  <a:pt x="167" y="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noFill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B3014545-78D6-4DF9-AE82-3E40B3D016D5}"/>
              </a:ext>
            </a:extLst>
          </p:cNvPr>
          <p:cNvSpPr/>
          <p:nvPr/>
        </p:nvSpPr>
        <p:spPr>
          <a:xfrm>
            <a:off x="4485770" y="1874637"/>
            <a:ext cx="1255407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V-NODE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4359B700-CDEA-48D5-B23B-05A7AA0D64BA}"/>
              </a:ext>
            </a:extLst>
          </p:cNvPr>
          <p:cNvCxnSpPr>
            <a:stCxn id="13" idx="6"/>
            <a:endCxn id="50" idx="2"/>
          </p:cNvCxnSpPr>
          <p:nvPr/>
        </p:nvCxnSpPr>
        <p:spPr>
          <a:xfrm>
            <a:off x="3630753" y="2124115"/>
            <a:ext cx="855017" cy="0"/>
          </a:xfrm>
          <a:prstGeom prst="straightConnector1">
            <a:avLst/>
          </a:prstGeom>
          <a:ln w="1905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3235EA77-8984-41D7-8615-B449C65DCC5F}"/>
              </a:ext>
            </a:extLst>
          </p:cNvPr>
          <p:cNvCxnSpPr/>
          <p:nvPr/>
        </p:nvCxnSpPr>
        <p:spPr>
          <a:xfrm>
            <a:off x="1907704" y="3359549"/>
            <a:ext cx="601235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6E1FF962-2CE2-49EB-B9B5-26C63E7D1AAE}"/>
              </a:ext>
            </a:extLst>
          </p:cNvPr>
          <p:cNvSpPr txBox="1"/>
          <p:nvPr/>
        </p:nvSpPr>
        <p:spPr>
          <a:xfrm>
            <a:off x="827585" y="3124998"/>
            <a:ext cx="121995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访问触发 </a:t>
            </a:r>
            <a:r>
              <a:rPr lang="en-US" altLang="zh-CN" sz="1700" dirty="0"/>
              <a:t>page fault</a:t>
            </a:r>
            <a:endParaRPr lang="zh-CN" altLang="en-US" sz="1700" dirty="0"/>
          </a:p>
        </p:txBody>
      </p: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F5707B31-5B5E-45AF-A830-8BEF6E9C1B84}"/>
              </a:ext>
            </a:extLst>
          </p:cNvPr>
          <p:cNvCxnSpPr>
            <a:cxnSpLocks/>
            <a:stCxn id="42" idx="2"/>
            <a:endCxn id="9" idx="2"/>
          </p:cNvCxnSpPr>
          <p:nvPr/>
        </p:nvCxnSpPr>
        <p:spPr>
          <a:xfrm rot="5400000" flipH="1">
            <a:off x="5814687" y="2246939"/>
            <a:ext cx="94602" cy="2390486"/>
          </a:xfrm>
          <a:prstGeom prst="bentConnector3">
            <a:avLst>
              <a:gd name="adj1" fmla="val -370931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流程图: 接点 45">
            <a:extLst>
              <a:ext uri="{FF2B5EF4-FFF2-40B4-BE49-F238E27FC236}">
                <a16:creationId xmlns:a16="http://schemas.microsoft.com/office/drawing/2014/main" id="{B42565E0-06E2-4D8E-93B8-FC11CFF1721B}"/>
              </a:ext>
            </a:extLst>
          </p:cNvPr>
          <p:cNvSpPr/>
          <p:nvPr/>
        </p:nvSpPr>
        <p:spPr>
          <a:xfrm>
            <a:off x="519691" y="3140983"/>
            <a:ext cx="323147" cy="32314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0066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4776AF-E63F-4623-B019-CC080B4E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MMAP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91B5D8-7702-4AD4-8254-E2230CC40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02DCAD-2645-4D5F-9740-F44EECC85FE7}"/>
              </a:ext>
            </a:extLst>
          </p:cNvPr>
          <p:cNvSpPr/>
          <p:nvPr/>
        </p:nvSpPr>
        <p:spPr>
          <a:xfrm>
            <a:off x="2112434" y="2761129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627F04-F8B1-452F-B9A7-31934153E3CC}"/>
              </a:ext>
            </a:extLst>
          </p:cNvPr>
          <p:cNvSpPr txBox="1"/>
          <p:nvPr/>
        </p:nvSpPr>
        <p:spPr>
          <a:xfrm>
            <a:off x="2112434" y="2770669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用户地址空间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EE294A-778B-40ED-AFD2-0A15E34E1001}"/>
              </a:ext>
            </a:extLst>
          </p:cNvPr>
          <p:cNvSpPr txBox="1"/>
          <p:nvPr/>
        </p:nvSpPr>
        <p:spPr>
          <a:xfrm>
            <a:off x="2085426" y="1557320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内核地址空间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8F757B-693C-4960-A997-CA177A52EDB4}"/>
              </a:ext>
            </a:extLst>
          </p:cNvPr>
          <p:cNvSpPr/>
          <p:nvPr/>
        </p:nvSpPr>
        <p:spPr>
          <a:xfrm>
            <a:off x="4522729" y="3090610"/>
            <a:ext cx="288032" cy="304271"/>
          </a:xfrm>
          <a:prstGeom prst="rect">
            <a:avLst/>
          </a:prstGeom>
          <a:pattFill prst="dkHorz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1865F2-A451-40B9-95E4-5C2770DFAED3}"/>
              </a:ext>
            </a:extLst>
          </p:cNvPr>
          <p:cNvSpPr/>
          <p:nvPr/>
        </p:nvSpPr>
        <p:spPr>
          <a:xfrm>
            <a:off x="4808917" y="3090610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B53FEF-FAAE-4B06-8037-FC68F7C7EA0F}"/>
              </a:ext>
            </a:extLst>
          </p:cNvPr>
          <p:cNvSpPr/>
          <p:nvPr/>
        </p:nvSpPr>
        <p:spPr>
          <a:xfrm>
            <a:off x="5095105" y="3090611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14B6BC-EAF6-4B26-8BD0-D168479F31CA}"/>
              </a:ext>
            </a:extLst>
          </p:cNvPr>
          <p:cNvSpPr/>
          <p:nvPr/>
        </p:nvSpPr>
        <p:spPr>
          <a:xfrm>
            <a:off x="5381293" y="3090610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0895F4E-220F-4E2C-B997-A8AE46A82423}"/>
              </a:ext>
            </a:extLst>
          </p:cNvPr>
          <p:cNvSpPr/>
          <p:nvPr/>
        </p:nvSpPr>
        <p:spPr>
          <a:xfrm>
            <a:off x="2550633" y="1874637"/>
            <a:ext cx="1080120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VMA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42D226-2C1A-459C-92A0-AC68B3756C68}"/>
              </a:ext>
            </a:extLst>
          </p:cNvPr>
          <p:cNvSpPr/>
          <p:nvPr/>
        </p:nvSpPr>
        <p:spPr>
          <a:xfrm>
            <a:off x="4393188" y="2667338"/>
            <a:ext cx="1440160" cy="854556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2C084B-7DED-4FB3-9765-8948619E2EC5}"/>
              </a:ext>
            </a:extLst>
          </p:cNvPr>
          <p:cNvSpPr txBox="1"/>
          <p:nvPr/>
        </p:nvSpPr>
        <p:spPr>
          <a:xfrm>
            <a:off x="4393188" y="2667338"/>
            <a:ext cx="1347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页缓存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569659-3B6A-48F4-AC23-44D7474B0DDC}"/>
              </a:ext>
            </a:extLst>
          </p:cNvPr>
          <p:cNvSpPr/>
          <p:nvPr/>
        </p:nvSpPr>
        <p:spPr>
          <a:xfrm>
            <a:off x="2364923" y="3207414"/>
            <a:ext cx="288032" cy="304271"/>
          </a:xfrm>
          <a:prstGeom prst="rect">
            <a:avLst/>
          </a:prstGeom>
          <a:pattFill prst="dkHorz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D11488A-727C-4BBC-B487-216DCBDBF1B9}"/>
              </a:ext>
            </a:extLst>
          </p:cNvPr>
          <p:cNvSpPr/>
          <p:nvPr/>
        </p:nvSpPr>
        <p:spPr>
          <a:xfrm>
            <a:off x="2655800" y="3207414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E09E83-3955-405F-AB96-A975327FCD5B}"/>
              </a:ext>
            </a:extLst>
          </p:cNvPr>
          <p:cNvSpPr/>
          <p:nvPr/>
        </p:nvSpPr>
        <p:spPr>
          <a:xfrm>
            <a:off x="2946677" y="3207415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0C99F8-9BB6-4C63-BBB3-2DC43D0DF8B9}"/>
              </a:ext>
            </a:extLst>
          </p:cNvPr>
          <p:cNvSpPr/>
          <p:nvPr/>
        </p:nvSpPr>
        <p:spPr>
          <a:xfrm>
            <a:off x="3237554" y="3207414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2B7EFC-5F08-44F3-AAE8-C20AD738DCD4}"/>
              </a:ext>
            </a:extLst>
          </p:cNvPr>
          <p:cNvSpPr/>
          <p:nvPr/>
        </p:nvSpPr>
        <p:spPr>
          <a:xfrm>
            <a:off x="3223487" y="4385022"/>
            <a:ext cx="3004697" cy="94704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2AE0165-02E4-49CB-8A65-B57402A57187}"/>
              </a:ext>
            </a:extLst>
          </p:cNvPr>
          <p:cNvSpPr txBox="1"/>
          <p:nvPr/>
        </p:nvSpPr>
        <p:spPr>
          <a:xfrm>
            <a:off x="3189627" y="5024292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物理内存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C94B011-9C83-403D-AA34-8FB6709B37FC}"/>
              </a:ext>
            </a:extLst>
          </p:cNvPr>
          <p:cNvSpPr/>
          <p:nvPr/>
        </p:nvSpPr>
        <p:spPr>
          <a:xfrm>
            <a:off x="3529682" y="46314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E5B6470-6467-4A66-B5F7-923027FC60B2}"/>
              </a:ext>
            </a:extLst>
          </p:cNvPr>
          <p:cNvSpPr/>
          <p:nvPr/>
        </p:nvSpPr>
        <p:spPr>
          <a:xfrm>
            <a:off x="3815870" y="46314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2EA78CC-1338-4653-A5C5-E11A7031B19E}"/>
              </a:ext>
            </a:extLst>
          </p:cNvPr>
          <p:cNvSpPr/>
          <p:nvPr/>
        </p:nvSpPr>
        <p:spPr>
          <a:xfrm>
            <a:off x="4102058" y="4631412"/>
            <a:ext cx="288032" cy="304271"/>
          </a:xfrm>
          <a:prstGeom prst="rect">
            <a:avLst/>
          </a:prstGeom>
          <a:pattFill prst="dkHorz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032A6F5-D2DC-4F85-9BAD-9593694CBF3B}"/>
              </a:ext>
            </a:extLst>
          </p:cNvPr>
          <p:cNvSpPr/>
          <p:nvPr/>
        </p:nvSpPr>
        <p:spPr>
          <a:xfrm>
            <a:off x="4388246" y="4631411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75B30D6-86A9-4167-9C16-7D89DAF6861E}"/>
              </a:ext>
            </a:extLst>
          </p:cNvPr>
          <p:cNvCxnSpPr>
            <a:cxnSpLocks/>
          </p:cNvCxnSpPr>
          <p:nvPr/>
        </p:nvCxnSpPr>
        <p:spPr>
          <a:xfrm>
            <a:off x="2364923" y="3511685"/>
            <a:ext cx="1741284" cy="1116861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8B273ED-58D1-40A7-9B31-0CD8EE5D01D6}"/>
              </a:ext>
            </a:extLst>
          </p:cNvPr>
          <p:cNvCxnSpPr>
            <a:cxnSpLocks/>
          </p:cNvCxnSpPr>
          <p:nvPr/>
        </p:nvCxnSpPr>
        <p:spPr>
          <a:xfrm>
            <a:off x="3519498" y="3505253"/>
            <a:ext cx="1744695" cy="1119726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F6CBDE68-2AE5-4E06-9F55-2EE5340A557D}"/>
              </a:ext>
            </a:extLst>
          </p:cNvPr>
          <p:cNvSpPr/>
          <p:nvPr/>
        </p:nvSpPr>
        <p:spPr>
          <a:xfrm>
            <a:off x="4676278" y="4629587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5C603B7-0AF7-42FA-812F-55661747B9C5}"/>
              </a:ext>
            </a:extLst>
          </p:cNvPr>
          <p:cNvSpPr/>
          <p:nvPr/>
        </p:nvSpPr>
        <p:spPr>
          <a:xfrm>
            <a:off x="4967155" y="4629587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1BA1468-5F1A-4E93-BAA3-BDAA2AC6E91A}"/>
              </a:ext>
            </a:extLst>
          </p:cNvPr>
          <p:cNvSpPr/>
          <p:nvPr/>
        </p:nvSpPr>
        <p:spPr>
          <a:xfrm>
            <a:off x="5258032" y="4629588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D50870D-71A5-4702-8822-65B56BB8F82E}"/>
              </a:ext>
            </a:extLst>
          </p:cNvPr>
          <p:cNvSpPr/>
          <p:nvPr/>
        </p:nvSpPr>
        <p:spPr>
          <a:xfrm>
            <a:off x="5548909" y="4629587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864F8F63-91D1-4984-B48E-CBF1EEA63AB2}"/>
              </a:ext>
            </a:extLst>
          </p:cNvPr>
          <p:cNvCxnSpPr>
            <a:cxnSpLocks/>
          </p:cNvCxnSpPr>
          <p:nvPr/>
        </p:nvCxnSpPr>
        <p:spPr>
          <a:xfrm flipH="1">
            <a:off x="4102059" y="3397746"/>
            <a:ext cx="419749" cy="1230800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D6F4925E-336B-42B8-B04C-B8A3EB25CB18}"/>
              </a:ext>
            </a:extLst>
          </p:cNvPr>
          <p:cNvCxnSpPr>
            <a:cxnSpLocks/>
          </p:cNvCxnSpPr>
          <p:nvPr/>
        </p:nvCxnSpPr>
        <p:spPr>
          <a:xfrm flipH="1">
            <a:off x="5248654" y="3398425"/>
            <a:ext cx="418827" cy="1237357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11ABEABF-C894-4D05-8537-8C5183401A5B}"/>
              </a:ext>
            </a:extLst>
          </p:cNvPr>
          <p:cNvSpPr/>
          <p:nvPr/>
        </p:nvSpPr>
        <p:spPr>
          <a:xfrm>
            <a:off x="6660726" y="2738927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DDBC15F-45E5-4A45-B88E-EDDE837ADE92}"/>
              </a:ext>
            </a:extLst>
          </p:cNvPr>
          <p:cNvSpPr txBox="1"/>
          <p:nvPr/>
        </p:nvSpPr>
        <p:spPr>
          <a:xfrm>
            <a:off x="6660726" y="2748467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磁盘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6DE5BE0-7484-4DFB-8C45-E606BEE8C3C1}"/>
              </a:ext>
            </a:extLst>
          </p:cNvPr>
          <p:cNvSpPr/>
          <p:nvPr/>
        </p:nvSpPr>
        <p:spPr>
          <a:xfrm>
            <a:off x="6913215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93E0530-2463-4D6C-9020-A32576F66B6D}"/>
              </a:ext>
            </a:extLst>
          </p:cNvPr>
          <p:cNvSpPr/>
          <p:nvPr/>
        </p:nvSpPr>
        <p:spPr>
          <a:xfrm>
            <a:off x="7204092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B6691E9-87BE-4A3E-84C6-BC39BB9F53B5}"/>
              </a:ext>
            </a:extLst>
          </p:cNvPr>
          <p:cNvSpPr/>
          <p:nvPr/>
        </p:nvSpPr>
        <p:spPr>
          <a:xfrm>
            <a:off x="7494969" y="3185213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08CAB8D-8DD3-470C-B64A-00BB86E9FA31}"/>
              </a:ext>
            </a:extLst>
          </p:cNvPr>
          <p:cNvSpPr/>
          <p:nvPr/>
        </p:nvSpPr>
        <p:spPr>
          <a:xfrm>
            <a:off x="7785846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88BB074C-28EF-4944-9FF8-D78B007CEC77}"/>
              </a:ext>
            </a:extLst>
          </p:cNvPr>
          <p:cNvSpPr/>
          <p:nvPr/>
        </p:nvSpPr>
        <p:spPr>
          <a:xfrm>
            <a:off x="2109423" y="1562547"/>
            <a:ext cx="3830729" cy="2132267"/>
          </a:xfrm>
          <a:custGeom>
            <a:avLst/>
            <a:gdLst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26582 w 4072270"/>
              <a:gd name="connsiteY5" fmla="*/ 1010093 h 2131828"/>
              <a:gd name="connsiteX6" fmla="*/ 0 w 4072270"/>
              <a:gd name="connsiteY6" fmla="*/ 0 h 2131828"/>
              <a:gd name="connsiteX0" fmla="*/ 10867 w 4083137"/>
              <a:gd name="connsiteY0" fmla="*/ 0 h 2131828"/>
              <a:gd name="connsiteX1" fmla="*/ 4083137 w 4083137"/>
              <a:gd name="connsiteY1" fmla="*/ 0 h 2131828"/>
              <a:gd name="connsiteX2" fmla="*/ 4083137 w 4083137"/>
              <a:gd name="connsiteY2" fmla="*/ 2131828 h 2131828"/>
              <a:gd name="connsiteX3" fmla="*/ 2275602 w 4083137"/>
              <a:gd name="connsiteY3" fmla="*/ 2131828 h 2131828"/>
              <a:gd name="connsiteX4" fmla="*/ 2275602 w 4083137"/>
              <a:gd name="connsiteY4" fmla="*/ 1010093 h 2131828"/>
              <a:gd name="connsiteX5" fmla="*/ 0 w 4083137"/>
              <a:gd name="connsiteY5" fmla="*/ 1010093 h 2131828"/>
              <a:gd name="connsiteX6" fmla="*/ 10867 w 4083137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5883 w 4072270"/>
              <a:gd name="connsiteY5" fmla="*/ 1004778 h 2131828"/>
              <a:gd name="connsiteX6" fmla="*/ 0 w 4072270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0533 w 4072270"/>
              <a:gd name="connsiteY5" fmla="*/ 1020724 h 2131828"/>
              <a:gd name="connsiteX6" fmla="*/ 0 w 4072270"/>
              <a:gd name="connsiteY6" fmla="*/ 0 h 2131828"/>
              <a:gd name="connsiteX0" fmla="*/ 167 w 4072437"/>
              <a:gd name="connsiteY0" fmla="*/ 0 h 2131828"/>
              <a:gd name="connsiteX1" fmla="*/ 4072437 w 4072437"/>
              <a:gd name="connsiteY1" fmla="*/ 0 h 2131828"/>
              <a:gd name="connsiteX2" fmla="*/ 4072437 w 4072437"/>
              <a:gd name="connsiteY2" fmla="*/ 2131828 h 2131828"/>
              <a:gd name="connsiteX3" fmla="*/ 2264902 w 4072437"/>
              <a:gd name="connsiteY3" fmla="*/ 2131828 h 2131828"/>
              <a:gd name="connsiteX4" fmla="*/ 2264902 w 4072437"/>
              <a:gd name="connsiteY4" fmla="*/ 1010093 h 2131828"/>
              <a:gd name="connsiteX5" fmla="*/ 0 w 4072437"/>
              <a:gd name="connsiteY5" fmla="*/ 1020724 h 2131828"/>
              <a:gd name="connsiteX6" fmla="*/ 167 w 4072437"/>
              <a:gd name="connsiteY6" fmla="*/ 0 h 2131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2437" h="2131828">
                <a:moveTo>
                  <a:pt x="167" y="0"/>
                </a:moveTo>
                <a:lnTo>
                  <a:pt x="4072437" y="0"/>
                </a:lnTo>
                <a:lnTo>
                  <a:pt x="4072437" y="2131828"/>
                </a:lnTo>
                <a:lnTo>
                  <a:pt x="2264902" y="2131828"/>
                </a:lnTo>
                <a:lnTo>
                  <a:pt x="2264902" y="1010093"/>
                </a:lnTo>
                <a:lnTo>
                  <a:pt x="0" y="1020724"/>
                </a:lnTo>
                <a:cubicBezTo>
                  <a:pt x="56" y="680483"/>
                  <a:pt x="111" y="340241"/>
                  <a:pt x="167" y="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noFill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B3014545-78D6-4DF9-AE82-3E40B3D016D5}"/>
              </a:ext>
            </a:extLst>
          </p:cNvPr>
          <p:cNvSpPr/>
          <p:nvPr/>
        </p:nvSpPr>
        <p:spPr>
          <a:xfrm>
            <a:off x="4485770" y="1874637"/>
            <a:ext cx="1255407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V-NODE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4359B700-CDEA-48D5-B23B-05A7AA0D64BA}"/>
              </a:ext>
            </a:extLst>
          </p:cNvPr>
          <p:cNvCxnSpPr>
            <a:stCxn id="13" idx="6"/>
            <a:endCxn id="50" idx="2"/>
          </p:cNvCxnSpPr>
          <p:nvPr/>
        </p:nvCxnSpPr>
        <p:spPr>
          <a:xfrm>
            <a:off x="3630753" y="2124115"/>
            <a:ext cx="855017" cy="0"/>
          </a:xfrm>
          <a:prstGeom prst="straightConnector1">
            <a:avLst/>
          </a:prstGeom>
          <a:ln w="1905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3235EA77-8984-41D7-8615-B449C65DCC5F}"/>
              </a:ext>
            </a:extLst>
          </p:cNvPr>
          <p:cNvCxnSpPr/>
          <p:nvPr/>
        </p:nvCxnSpPr>
        <p:spPr>
          <a:xfrm>
            <a:off x="1907704" y="3359549"/>
            <a:ext cx="601235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6E1FF962-2CE2-49EB-B9B5-26C63E7D1AAE}"/>
              </a:ext>
            </a:extLst>
          </p:cNvPr>
          <p:cNvSpPr txBox="1"/>
          <p:nvPr/>
        </p:nvSpPr>
        <p:spPr>
          <a:xfrm>
            <a:off x="1139695" y="3214117"/>
            <a:ext cx="887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写内存</a:t>
            </a:r>
          </a:p>
        </p:txBody>
      </p:sp>
      <p:sp>
        <p:nvSpPr>
          <p:cNvPr id="46" name="流程图: 接点 45">
            <a:extLst>
              <a:ext uri="{FF2B5EF4-FFF2-40B4-BE49-F238E27FC236}">
                <a16:creationId xmlns:a16="http://schemas.microsoft.com/office/drawing/2014/main" id="{EC8C9910-E038-43CE-92E9-6AD5941AED12}"/>
              </a:ext>
            </a:extLst>
          </p:cNvPr>
          <p:cNvSpPr/>
          <p:nvPr/>
        </p:nvSpPr>
        <p:spPr>
          <a:xfrm>
            <a:off x="812254" y="3207413"/>
            <a:ext cx="323147" cy="32314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0127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4776AF-E63F-4623-B019-CC080B4E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MMAP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91B5D8-7702-4AD4-8254-E2230CC40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02DCAD-2645-4D5F-9740-F44EECC85FE7}"/>
              </a:ext>
            </a:extLst>
          </p:cNvPr>
          <p:cNvSpPr/>
          <p:nvPr/>
        </p:nvSpPr>
        <p:spPr>
          <a:xfrm>
            <a:off x="2112434" y="2761129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627F04-F8B1-452F-B9A7-31934153E3CC}"/>
              </a:ext>
            </a:extLst>
          </p:cNvPr>
          <p:cNvSpPr txBox="1"/>
          <p:nvPr/>
        </p:nvSpPr>
        <p:spPr>
          <a:xfrm>
            <a:off x="2112434" y="2770669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用户地址空间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EE294A-778B-40ED-AFD2-0A15E34E1001}"/>
              </a:ext>
            </a:extLst>
          </p:cNvPr>
          <p:cNvSpPr txBox="1"/>
          <p:nvPr/>
        </p:nvSpPr>
        <p:spPr>
          <a:xfrm>
            <a:off x="2085426" y="1557320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内核地址空间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8F757B-693C-4960-A997-CA177A52EDB4}"/>
              </a:ext>
            </a:extLst>
          </p:cNvPr>
          <p:cNvSpPr/>
          <p:nvPr/>
        </p:nvSpPr>
        <p:spPr>
          <a:xfrm>
            <a:off x="4522729" y="3090610"/>
            <a:ext cx="288032" cy="304271"/>
          </a:xfrm>
          <a:prstGeom prst="rect">
            <a:avLst/>
          </a:prstGeom>
          <a:pattFill prst="dkHorz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1865F2-A451-40B9-95E4-5C2770DFAED3}"/>
              </a:ext>
            </a:extLst>
          </p:cNvPr>
          <p:cNvSpPr/>
          <p:nvPr/>
        </p:nvSpPr>
        <p:spPr>
          <a:xfrm>
            <a:off x="4808917" y="3090610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B53FEF-FAAE-4B06-8037-FC68F7C7EA0F}"/>
              </a:ext>
            </a:extLst>
          </p:cNvPr>
          <p:cNvSpPr/>
          <p:nvPr/>
        </p:nvSpPr>
        <p:spPr>
          <a:xfrm>
            <a:off x="5095105" y="3090611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14B6BC-EAF6-4B26-8BD0-D168479F31CA}"/>
              </a:ext>
            </a:extLst>
          </p:cNvPr>
          <p:cNvSpPr/>
          <p:nvPr/>
        </p:nvSpPr>
        <p:spPr>
          <a:xfrm>
            <a:off x="5381293" y="3090610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0895F4E-220F-4E2C-B997-A8AE46A82423}"/>
              </a:ext>
            </a:extLst>
          </p:cNvPr>
          <p:cNvSpPr/>
          <p:nvPr/>
        </p:nvSpPr>
        <p:spPr>
          <a:xfrm>
            <a:off x="2550633" y="1874637"/>
            <a:ext cx="1080120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VMA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42D226-2C1A-459C-92A0-AC68B3756C68}"/>
              </a:ext>
            </a:extLst>
          </p:cNvPr>
          <p:cNvSpPr/>
          <p:nvPr/>
        </p:nvSpPr>
        <p:spPr>
          <a:xfrm>
            <a:off x="4393188" y="2667338"/>
            <a:ext cx="1440160" cy="854556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2C084B-7DED-4FB3-9765-8948619E2EC5}"/>
              </a:ext>
            </a:extLst>
          </p:cNvPr>
          <p:cNvSpPr txBox="1"/>
          <p:nvPr/>
        </p:nvSpPr>
        <p:spPr>
          <a:xfrm>
            <a:off x="4393188" y="2667338"/>
            <a:ext cx="1347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页缓存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569659-3B6A-48F4-AC23-44D7474B0DDC}"/>
              </a:ext>
            </a:extLst>
          </p:cNvPr>
          <p:cNvSpPr/>
          <p:nvPr/>
        </p:nvSpPr>
        <p:spPr>
          <a:xfrm>
            <a:off x="2364923" y="3207414"/>
            <a:ext cx="288032" cy="304271"/>
          </a:xfrm>
          <a:prstGeom prst="rect">
            <a:avLst/>
          </a:prstGeom>
          <a:pattFill prst="dkHorz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D11488A-727C-4BBC-B487-216DCBDBF1B9}"/>
              </a:ext>
            </a:extLst>
          </p:cNvPr>
          <p:cNvSpPr/>
          <p:nvPr/>
        </p:nvSpPr>
        <p:spPr>
          <a:xfrm>
            <a:off x="2655800" y="3207414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E09E83-3955-405F-AB96-A975327FCD5B}"/>
              </a:ext>
            </a:extLst>
          </p:cNvPr>
          <p:cNvSpPr/>
          <p:nvPr/>
        </p:nvSpPr>
        <p:spPr>
          <a:xfrm>
            <a:off x="2946677" y="3207415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0C99F8-9BB6-4C63-BBB3-2DC43D0DF8B9}"/>
              </a:ext>
            </a:extLst>
          </p:cNvPr>
          <p:cNvSpPr/>
          <p:nvPr/>
        </p:nvSpPr>
        <p:spPr>
          <a:xfrm>
            <a:off x="3237554" y="3207414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2B7EFC-5F08-44F3-AAE8-C20AD738DCD4}"/>
              </a:ext>
            </a:extLst>
          </p:cNvPr>
          <p:cNvSpPr/>
          <p:nvPr/>
        </p:nvSpPr>
        <p:spPr>
          <a:xfrm>
            <a:off x="3223487" y="4385022"/>
            <a:ext cx="3004697" cy="94704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2AE0165-02E4-49CB-8A65-B57402A57187}"/>
              </a:ext>
            </a:extLst>
          </p:cNvPr>
          <p:cNvSpPr txBox="1"/>
          <p:nvPr/>
        </p:nvSpPr>
        <p:spPr>
          <a:xfrm>
            <a:off x="3189627" y="5024292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物理内存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C94B011-9C83-403D-AA34-8FB6709B37FC}"/>
              </a:ext>
            </a:extLst>
          </p:cNvPr>
          <p:cNvSpPr/>
          <p:nvPr/>
        </p:nvSpPr>
        <p:spPr>
          <a:xfrm>
            <a:off x="3529682" y="46314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E5B6470-6467-4A66-B5F7-923027FC60B2}"/>
              </a:ext>
            </a:extLst>
          </p:cNvPr>
          <p:cNvSpPr/>
          <p:nvPr/>
        </p:nvSpPr>
        <p:spPr>
          <a:xfrm>
            <a:off x="3815870" y="46314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2EA78CC-1338-4653-A5C5-E11A7031B19E}"/>
              </a:ext>
            </a:extLst>
          </p:cNvPr>
          <p:cNvSpPr/>
          <p:nvPr/>
        </p:nvSpPr>
        <p:spPr>
          <a:xfrm>
            <a:off x="4102058" y="4631412"/>
            <a:ext cx="288032" cy="304271"/>
          </a:xfrm>
          <a:prstGeom prst="rect">
            <a:avLst/>
          </a:prstGeom>
          <a:pattFill prst="dkHorz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032A6F5-D2DC-4F85-9BAD-9593694CBF3B}"/>
              </a:ext>
            </a:extLst>
          </p:cNvPr>
          <p:cNvSpPr/>
          <p:nvPr/>
        </p:nvSpPr>
        <p:spPr>
          <a:xfrm>
            <a:off x="4388246" y="4631411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75B30D6-86A9-4167-9C16-7D89DAF6861E}"/>
              </a:ext>
            </a:extLst>
          </p:cNvPr>
          <p:cNvCxnSpPr>
            <a:cxnSpLocks/>
          </p:cNvCxnSpPr>
          <p:nvPr/>
        </p:nvCxnSpPr>
        <p:spPr>
          <a:xfrm>
            <a:off x="2364923" y="3511685"/>
            <a:ext cx="1741284" cy="1116861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8B273ED-58D1-40A7-9B31-0CD8EE5D01D6}"/>
              </a:ext>
            </a:extLst>
          </p:cNvPr>
          <p:cNvCxnSpPr>
            <a:cxnSpLocks/>
          </p:cNvCxnSpPr>
          <p:nvPr/>
        </p:nvCxnSpPr>
        <p:spPr>
          <a:xfrm>
            <a:off x="3519498" y="3505253"/>
            <a:ext cx="1744695" cy="1119726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F6CBDE68-2AE5-4E06-9F55-2EE5340A557D}"/>
              </a:ext>
            </a:extLst>
          </p:cNvPr>
          <p:cNvSpPr/>
          <p:nvPr/>
        </p:nvSpPr>
        <p:spPr>
          <a:xfrm>
            <a:off x="4676278" y="4629587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5C603B7-0AF7-42FA-812F-55661747B9C5}"/>
              </a:ext>
            </a:extLst>
          </p:cNvPr>
          <p:cNvSpPr/>
          <p:nvPr/>
        </p:nvSpPr>
        <p:spPr>
          <a:xfrm>
            <a:off x="4967155" y="4629587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1BA1468-5F1A-4E93-BAA3-BDAA2AC6E91A}"/>
              </a:ext>
            </a:extLst>
          </p:cNvPr>
          <p:cNvSpPr/>
          <p:nvPr/>
        </p:nvSpPr>
        <p:spPr>
          <a:xfrm>
            <a:off x="5258032" y="4629588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D50870D-71A5-4702-8822-65B56BB8F82E}"/>
              </a:ext>
            </a:extLst>
          </p:cNvPr>
          <p:cNvSpPr/>
          <p:nvPr/>
        </p:nvSpPr>
        <p:spPr>
          <a:xfrm>
            <a:off x="5548909" y="4629587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864F8F63-91D1-4984-B48E-CBF1EEA63AB2}"/>
              </a:ext>
            </a:extLst>
          </p:cNvPr>
          <p:cNvCxnSpPr>
            <a:cxnSpLocks/>
          </p:cNvCxnSpPr>
          <p:nvPr/>
        </p:nvCxnSpPr>
        <p:spPr>
          <a:xfrm flipH="1">
            <a:off x="4102059" y="3397746"/>
            <a:ext cx="419749" cy="1230800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D6F4925E-336B-42B8-B04C-B8A3EB25CB18}"/>
              </a:ext>
            </a:extLst>
          </p:cNvPr>
          <p:cNvCxnSpPr>
            <a:cxnSpLocks/>
          </p:cNvCxnSpPr>
          <p:nvPr/>
        </p:nvCxnSpPr>
        <p:spPr>
          <a:xfrm flipH="1">
            <a:off x="5248654" y="3398425"/>
            <a:ext cx="418827" cy="1237357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11ABEABF-C894-4D05-8537-8C5183401A5B}"/>
              </a:ext>
            </a:extLst>
          </p:cNvPr>
          <p:cNvSpPr/>
          <p:nvPr/>
        </p:nvSpPr>
        <p:spPr>
          <a:xfrm>
            <a:off x="6660726" y="2738927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DDBC15F-45E5-4A45-B88E-EDDE837ADE92}"/>
              </a:ext>
            </a:extLst>
          </p:cNvPr>
          <p:cNvSpPr txBox="1"/>
          <p:nvPr/>
        </p:nvSpPr>
        <p:spPr>
          <a:xfrm>
            <a:off x="6660726" y="2748467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磁盘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6DE5BE0-7484-4DFB-8C45-E606BEE8C3C1}"/>
              </a:ext>
            </a:extLst>
          </p:cNvPr>
          <p:cNvSpPr/>
          <p:nvPr/>
        </p:nvSpPr>
        <p:spPr>
          <a:xfrm>
            <a:off x="6913215" y="3185212"/>
            <a:ext cx="288032" cy="304271"/>
          </a:xfrm>
          <a:prstGeom prst="rect">
            <a:avLst/>
          </a:prstGeom>
          <a:pattFill prst="dkHorz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93E0530-2463-4D6C-9020-A32576F66B6D}"/>
              </a:ext>
            </a:extLst>
          </p:cNvPr>
          <p:cNvSpPr/>
          <p:nvPr/>
        </p:nvSpPr>
        <p:spPr>
          <a:xfrm>
            <a:off x="7204092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B6691E9-87BE-4A3E-84C6-BC39BB9F53B5}"/>
              </a:ext>
            </a:extLst>
          </p:cNvPr>
          <p:cNvSpPr/>
          <p:nvPr/>
        </p:nvSpPr>
        <p:spPr>
          <a:xfrm>
            <a:off x="7494969" y="3185213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08CAB8D-8DD3-470C-B64A-00BB86E9FA31}"/>
              </a:ext>
            </a:extLst>
          </p:cNvPr>
          <p:cNvSpPr/>
          <p:nvPr/>
        </p:nvSpPr>
        <p:spPr>
          <a:xfrm>
            <a:off x="7785846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88BB074C-28EF-4944-9FF8-D78B007CEC77}"/>
              </a:ext>
            </a:extLst>
          </p:cNvPr>
          <p:cNvSpPr/>
          <p:nvPr/>
        </p:nvSpPr>
        <p:spPr>
          <a:xfrm>
            <a:off x="2109423" y="1562547"/>
            <a:ext cx="3830729" cy="2132267"/>
          </a:xfrm>
          <a:custGeom>
            <a:avLst/>
            <a:gdLst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26582 w 4072270"/>
              <a:gd name="connsiteY5" fmla="*/ 1010093 h 2131828"/>
              <a:gd name="connsiteX6" fmla="*/ 0 w 4072270"/>
              <a:gd name="connsiteY6" fmla="*/ 0 h 2131828"/>
              <a:gd name="connsiteX0" fmla="*/ 10867 w 4083137"/>
              <a:gd name="connsiteY0" fmla="*/ 0 h 2131828"/>
              <a:gd name="connsiteX1" fmla="*/ 4083137 w 4083137"/>
              <a:gd name="connsiteY1" fmla="*/ 0 h 2131828"/>
              <a:gd name="connsiteX2" fmla="*/ 4083137 w 4083137"/>
              <a:gd name="connsiteY2" fmla="*/ 2131828 h 2131828"/>
              <a:gd name="connsiteX3" fmla="*/ 2275602 w 4083137"/>
              <a:gd name="connsiteY3" fmla="*/ 2131828 h 2131828"/>
              <a:gd name="connsiteX4" fmla="*/ 2275602 w 4083137"/>
              <a:gd name="connsiteY4" fmla="*/ 1010093 h 2131828"/>
              <a:gd name="connsiteX5" fmla="*/ 0 w 4083137"/>
              <a:gd name="connsiteY5" fmla="*/ 1010093 h 2131828"/>
              <a:gd name="connsiteX6" fmla="*/ 10867 w 4083137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5883 w 4072270"/>
              <a:gd name="connsiteY5" fmla="*/ 1004778 h 2131828"/>
              <a:gd name="connsiteX6" fmla="*/ 0 w 4072270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0533 w 4072270"/>
              <a:gd name="connsiteY5" fmla="*/ 1020724 h 2131828"/>
              <a:gd name="connsiteX6" fmla="*/ 0 w 4072270"/>
              <a:gd name="connsiteY6" fmla="*/ 0 h 2131828"/>
              <a:gd name="connsiteX0" fmla="*/ 167 w 4072437"/>
              <a:gd name="connsiteY0" fmla="*/ 0 h 2131828"/>
              <a:gd name="connsiteX1" fmla="*/ 4072437 w 4072437"/>
              <a:gd name="connsiteY1" fmla="*/ 0 h 2131828"/>
              <a:gd name="connsiteX2" fmla="*/ 4072437 w 4072437"/>
              <a:gd name="connsiteY2" fmla="*/ 2131828 h 2131828"/>
              <a:gd name="connsiteX3" fmla="*/ 2264902 w 4072437"/>
              <a:gd name="connsiteY3" fmla="*/ 2131828 h 2131828"/>
              <a:gd name="connsiteX4" fmla="*/ 2264902 w 4072437"/>
              <a:gd name="connsiteY4" fmla="*/ 1010093 h 2131828"/>
              <a:gd name="connsiteX5" fmla="*/ 0 w 4072437"/>
              <a:gd name="connsiteY5" fmla="*/ 1020724 h 2131828"/>
              <a:gd name="connsiteX6" fmla="*/ 167 w 4072437"/>
              <a:gd name="connsiteY6" fmla="*/ 0 h 2131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2437" h="2131828">
                <a:moveTo>
                  <a:pt x="167" y="0"/>
                </a:moveTo>
                <a:lnTo>
                  <a:pt x="4072437" y="0"/>
                </a:lnTo>
                <a:lnTo>
                  <a:pt x="4072437" y="2131828"/>
                </a:lnTo>
                <a:lnTo>
                  <a:pt x="2264902" y="2131828"/>
                </a:lnTo>
                <a:lnTo>
                  <a:pt x="2264902" y="1010093"/>
                </a:lnTo>
                <a:lnTo>
                  <a:pt x="0" y="1020724"/>
                </a:lnTo>
                <a:cubicBezTo>
                  <a:pt x="56" y="680483"/>
                  <a:pt x="111" y="340241"/>
                  <a:pt x="167" y="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noFill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B3014545-78D6-4DF9-AE82-3E40B3D016D5}"/>
              </a:ext>
            </a:extLst>
          </p:cNvPr>
          <p:cNvSpPr/>
          <p:nvPr/>
        </p:nvSpPr>
        <p:spPr>
          <a:xfrm>
            <a:off x="4485770" y="1874637"/>
            <a:ext cx="1255407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V-NODE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4359B700-CDEA-48D5-B23B-05A7AA0D64BA}"/>
              </a:ext>
            </a:extLst>
          </p:cNvPr>
          <p:cNvCxnSpPr>
            <a:stCxn id="13" idx="6"/>
            <a:endCxn id="50" idx="2"/>
          </p:cNvCxnSpPr>
          <p:nvPr/>
        </p:nvCxnSpPr>
        <p:spPr>
          <a:xfrm>
            <a:off x="3630753" y="2124115"/>
            <a:ext cx="855017" cy="0"/>
          </a:xfrm>
          <a:prstGeom prst="straightConnector1">
            <a:avLst/>
          </a:prstGeom>
          <a:ln w="1905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3235EA77-8984-41D7-8615-B449C65DCC5F}"/>
              </a:ext>
            </a:extLst>
          </p:cNvPr>
          <p:cNvCxnSpPr/>
          <p:nvPr/>
        </p:nvCxnSpPr>
        <p:spPr>
          <a:xfrm>
            <a:off x="1907704" y="3359549"/>
            <a:ext cx="601235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66EDDEF-053F-47C1-9F65-1CA789FCCC63}"/>
              </a:ext>
            </a:extLst>
          </p:cNvPr>
          <p:cNvCxnSpPr/>
          <p:nvPr/>
        </p:nvCxnSpPr>
        <p:spPr>
          <a:xfrm>
            <a:off x="6012160" y="3289548"/>
            <a:ext cx="54104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C0FBB5C9-1AF3-4651-BADF-8B0E5CAB5154}"/>
              </a:ext>
            </a:extLst>
          </p:cNvPr>
          <p:cNvSpPr txBox="1"/>
          <p:nvPr/>
        </p:nvSpPr>
        <p:spPr>
          <a:xfrm>
            <a:off x="5940152" y="2534198"/>
            <a:ext cx="7953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close </a:t>
            </a:r>
            <a:r>
              <a:rPr lang="zh-CN" altLang="en-US" sz="1400" dirty="0"/>
              <a:t>或 </a:t>
            </a:r>
            <a:r>
              <a:rPr lang="en-US" altLang="zh-CN" sz="1400" dirty="0" err="1"/>
              <a:t>msync</a:t>
            </a:r>
            <a:endParaRPr lang="zh-CN" altLang="en-US" sz="14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D96D19D-D934-463A-8A9B-4BD0A8AB69C4}"/>
              </a:ext>
            </a:extLst>
          </p:cNvPr>
          <p:cNvSpPr txBox="1"/>
          <p:nvPr/>
        </p:nvSpPr>
        <p:spPr>
          <a:xfrm>
            <a:off x="1139695" y="3214117"/>
            <a:ext cx="887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写内存</a:t>
            </a:r>
          </a:p>
        </p:txBody>
      </p:sp>
      <p:sp>
        <p:nvSpPr>
          <p:cNvPr id="48" name="流程图: 接点 47">
            <a:extLst>
              <a:ext uri="{FF2B5EF4-FFF2-40B4-BE49-F238E27FC236}">
                <a16:creationId xmlns:a16="http://schemas.microsoft.com/office/drawing/2014/main" id="{061812D9-1158-471D-866D-BD0741C35E4B}"/>
              </a:ext>
            </a:extLst>
          </p:cNvPr>
          <p:cNvSpPr/>
          <p:nvPr/>
        </p:nvSpPr>
        <p:spPr>
          <a:xfrm>
            <a:off x="6119186" y="2241468"/>
            <a:ext cx="323147" cy="32314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0692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A8696C-3ECC-428B-B487-49AF19BC8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MMAP </a:t>
            </a:r>
            <a:r>
              <a:rPr lang="zh-CN" altLang="en-US" dirty="0"/>
              <a:t>的优化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F53CCA-70DA-43AE-ABCC-79D93311F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Prefault</a:t>
            </a:r>
            <a:endParaRPr lang="en-US" altLang="zh-CN" dirty="0"/>
          </a:p>
          <a:p>
            <a:pPr lvl="1"/>
            <a:r>
              <a:rPr lang="zh-CN" altLang="en-US" dirty="0"/>
              <a:t>每次 </a:t>
            </a:r>
            <a:r>
              <a:rPr lang="en-US" altLang="zh-CN" dirty="0"/>
              <a:t>page fault </a:t>
            </a:r>
            <a:r>
              <a:rPr lang="zh-CN" altLang="en-US" dirty="0"/>
              <a:t>载入连续的多个页，减少 </a:t>
            </a:r>
            <a:r>
              <a:rPr lang="en-US" altLang="zh-CN" dirty="0"/>
              <a:t>fault </a:t>
            </a:r>
            <a:r>
              <a:rPr lang="zh-CN" altLang="en-US" dirty="0"/>
              <a:t>次数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MAP_POPULATE</a:t>
            </a:r>
          </a:p>
          <a:p>
            <a:pPr lvl="1"/>
            <a:r>
              <a:rPr lang="zh-CN" altLang="en-US" dirty="0"/>
              <a:t>通过一个包含 </a:t>
            </a:r>
            <a:r>
              <a:rPr lang="en-US" altLang="zh-CN" dirty="0"/>
              <a:t>MAP_POPULATE </a:t>
            </a:r>
            <a:r>
              <a:rPr lang="zh-CN" altLang="en-US" dirty="0"/>
              <a:t>的 </a:t>
            </a:r>
            <a:r>
              <a:rPr lang="en-US" altLang="zh-CN" dirty="0"/>
              <a:t>flags </a:t>
            </a:r>
            <a:r>
              <a:rPr lang="zh-CN" altLang="en-US" dirty="0"/>
              <a:t>参数，可以在调用 </a:t>
            </a:r>
            <a:r>
              <a:rPr lang="en-US" altLang="zh-CN" dirty="0" err="1"/>
              <a:t>mmap</a:t>
            </a:r>
            <a:r>
              <a:rPr lang="en-US" altLang="zh-CN" dirty="0"/>
              <a:t> </a:t>
            </a:r>
            <a:r>
              <a:rPr lang="zh-CN" altLang="en-US" dirty="0"/>
              <a:t>时就预取所有的页，此后访问不会 </a:t>
            </a:r>
            <a:r>
              <a:rPr lang="en-US" altLang="zh-CN" dirty="0"/>
              <a:t>fault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787DBD-4266-4AE7-B3AB-8B08D4533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750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A25E27-D97A-D744-89F5-34581B975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思考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6FDDBE-62B1-A94C-9D77-3A472179F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问：</a:t>
            </a:r>
            <a:r>
              <a:rPr kumimoji="1" lang="en-US" altLang="zh-CN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mmap</a:t>
            </a:r>
            <a:r>
              <a:rPr kumimoji="1" lang="zh-CN" altLang="en-US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匿名映射与文件映射的区别是什么？</a:t>
            </a:r>
            <a:endParaRPr kumimoji="1" lang="en-US" altLang="zh-CN" sz="24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1"/>
            <a:r>
              <a:rPr kumimoji="1" lang="zh-CN" alt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没有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backup</a:t>
            </a:r>
            <a:r>
              <a:rPr kumimoji="1" lang="zh-CN" alt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 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file</a:t>
            </a:r>
            <a:r>
              <a:rPr kumimoji="1" lang="zh-CN" alt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，内存的初始值从哪里来？</a:t>
            </a:r>
            <a:endParaRPr kumimoji="1" lang="en-US" altLang="zh-CN" sz="20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r>
              <a:rPr kumimoji="1" lang="zh-CN" altLang="en-US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问：如果</a:t>
            </a:r>
            <a:r>
              <a:rPr kumimoji="1" lang="en-US" altLang="zh-CN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OS</a:t>
            </a:r>
            <a:r>
              <a:rPr kumimoji="1" lang="zh-CN" altLang="en-US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仅采用立即映射，还需要</a:t>
            </a:r>
            <a:r>
              <a:rPr kumimoji="1" lang="en-US" altLang="zh-CN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VMA</a:t>
            </a:r>
            <a:r>
              <a:rPr kumimoji="1" lang="zh-CN" altLang="en-US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么？</a:t>
            </a:r>
            <a:endParaRPr kumimoji="1" lang="en-US" altLang="zh-CN" sz="24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1"/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VMA</a:t>
            </a:r>
            <a:r>
              <a:rPr kumimoji="1" lang="zh-CN" alt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记录的信息和页表记录的信息有何不同？</a:t>
            </a:r>
            <a:endParaRPr kumimoji="1" lang="en-US" altLang="zh-CN" sz="2000" dirty="0"/>
          </a:p>
          <a:p>
            <a:r>
              <a:rPr kumimoji="1" lang="zh-CN" altLang="en-US" sz="2400" dirty="0"/>
              <a:t>问：</a:t>
            </a:r>
            <a:r>
              <a:rPr kumimoji="1" lang="en-US" altLang="zh-CN" sz="2400" dirty="0"/>
              <a:t>demand-paging</a:t>
            </a:r>
            <a:r>
              <a:rPr kumimoji="1" lang="zh-CN" altLang="en-US" sz="2400" dirty="0"/>
              <a:t>是否可通过网络来实现？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如果都通过网络，本地是否还需要磁盘？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82D9B9-15BD-F84A-9ACD-8251DF5E5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6694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4E491A-F27D-6643-80E0-06F4866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435280" cy="900442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/>
              <a:t>小知识：</a:t>
            </a:r>
            <a:r>
              <a:rPr kumimoji="1" lang="en-US" altLang="zh-CN" dirty="0"/>
              <a:t>OS</a:t>
            </a:r>
            <a:r>
              <a:rPr kumimoji="1" lang="zh-CN" altLang="en-US" dirty="0"/>
              <a:t>可向应用提供灵活的内存管理</a:t>
            </a:r>
            <a:r>
              <a:rPr kumimoji="1" lang="en-US" altLang="zh-CN" dirty="0"/>
              <a:t>API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0074B0-7D54-CB43-A2C4-E8723E631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/>
          </a:bodyPr>
          <a:lstStyle/>
          <a:p>
            <a:r>
              <a:rPr kumimoji="1" lang="en-US" altLang="zh-CN" sz="2400" dirty="0" err="1"/>
              <a:t>madvise</a:t>
            </a:r>
            <a:endParaRPr kumimoji="1" lang="en-US" altLang="zh-CN" sz="2400" dirty="0"/>
          </a:p>
          <a:p>
            <a:pPr lvl="1"/>
            <a:r>
              <a:rPr kumimoji="1" lang="en-US" altLang="zh-CN" sz="2000" dirty="0">
                <a:solidFill>
                  <a:schemeClr val="tx1"/>
                </a:solidFill>
              </a:rPr>
              <a:t>int </a:t>
            </a:r>
            <a:r>
              <a:rPr kumimoji="1" lang="en-US" altLang="zh-CN" sz="2000" dirty="0" err="1">
                <a:solidFill>
                  <a:schemeClr val="tx1"/>
                </a:solidFill>
              </a:rPr>
              <a:t>madvise</a:t>
            </a:r>
            <a:r>
              <a:rPr kumimoji="1" lang="en-US" altLang="zh-CN" sz="2000" dirty="0">
                <a:solidFill>
                  <a:schemeClr val="tx1"/>
                </a:solidFill>
              </a:rPr>
              <a:t>(void *</a:t>
            </a:r>
            <a:r>
              <a:rPr kumimoji="1" lang="en-US" altLang="zh-CN" sz="2000" dirty="0" err="1">
                <a:solidFill>
                  <a:schemeClr val="tx1"/>
                </a:solidFill>
              </a:rPr>
              <a:t>addr</a:t>
            </a:r>
            <a:r>
              <a:rPr kumimoji="1" lang="en-US" altLang="zh-CN" sz="2000" dirty="0">
                <a:solidFill>
                  <a:schemeClr val="tx1"/>
                </a:solidFill>
              </a:rPr>
              <a:t>, </a:t>
            </a:r>
            <a:r>
              <a:rPr kumimoji="1" lang="en-US" altLang="zh-CN" sz="2000" dirty="0" err="1">
                <a:solidFill>
                  <a:schemeClr val="tx1"/>
                </a:solidFill>
              </a:rPr>
              <a:t>size_t</a:t>
            </a:r>
            <a:r>
              <a:rPr kumimoji="1" lang="en-US" altLang="zh-CN" sz="2000" dirty="0">
                <a:solidFill>
                  <a:schemeClr val="tx1"/>
                </a:solidFill>
              </a:rPr>
              <a:t> length, int advice)</a:t>
            </a:r>
          </a:p>
          <a:p>
            <a:pPr lvl="1"/>
            <a:r>
              <a:rPr kumimoji="1" lang="zh-CN" altLang="en-US" sz="2000" dirty="0"/>
              <a:t>将用户态的一些语义信息发给内核以便于优化</a:t>
            </a:r>
            <a:endParaRPr kumimoji="1" lang="en-US" altLang="zh-CN" sz="2000" dirty="0"/>
          </a:p>
          <a:p>
            <a:pPr lvl="2"/>
            <a:r>
              <a:rPr lang="zh-CN" altLang="en-US" sz="1800" dirty="0"/>
              <a:t>例如：将</a:t>
            </a:r>
            <a:r>
              <a:rPr lang="en-US" altLang="zh-CN" sz="1800" dirty="0" err="1"/>
              <a:t>madvise</a:t>
            </a:r>
            <a:r>
              <a:rPr lang="zh-CN" altLang="en-US" sz="1800" dirty="0"/>
              <a:t>和</a:t>
            </a:r>
            <a:r>
              <a:rPr lang="en-US" altLang="zh-CN" sz="1800" dirty="0"/>
              <a:t>mmap</a:t>
            </a:r>
            <a:r>
              <a:rPr lang="zh-CN" altLang="en-US" sz="1800" dirty="0"/>
              <a:t>搭配，在使用数据前告诉内核这一段数据需要使用，</a:t>
            </a:r>
            <a:r>
              <a:rPr lang="zh-CN" altLang="en-US" sz="1800" b="1" dirty="0">
                <a:solidFill>
                  <a:schemeClr val="accent1"/>
                </a:solidFill>
              </a:rPr>
              <a:t>建议</a:t>
            </a:r>
            <a:r>
              <a:rPr lang="en-US" altLang="zh-CN" sz="1800" dirty="0"/>
              <a:t>OS</a:t>
            </a:r>
            <a:r>
              <a:rPr lang="zh-CN" altLang="en-US" sz="1800" dirty="0"/>
              <a:t>提前分配物理页，减少缺页异常开销</a:t>
            </a:r>
            <a:endParaRPr kumimoji="1" lang="en-US" altLang="zh-CN" sz="1600" dirty="0"/>
          </a:p>
          <a:p>
            <a:pPr lvl="0"/>
            <a:r>
              <a:rPr kumimoji="1" lang="en-US" altLang="zh-CN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mprotect</a:t>
            </a:r>
            <a:endParaRPr kumimoji="1" lang="en-US" altLang="zh-CN" sz="20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1"/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int mprotect(void *</a:t>
            </a:r>
            <a:r>
              <a:rPr kumimoji="1" lang="en-US" altLang="zh-CN" sz="20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addr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, </a:t>
            </a:r>
            <a:r>
              <a:rPr kumimoji="1" lang="en-US" altLang="zh-CN" sz="20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size_t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 </a:t>
            </a:r>
            <a:r>
              <a:rPr kumimoji="1" lang="en-US" altLang="zh-CN" sz="20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len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, int </a:t>
            </a:r>
            <a:r>
              <a:rPr kumimoji="1" lang="en-US" altLang="zh-CN" sz="20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prot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);</a:t>
            </a:r>
          </a:p>
          <a:p>
            <a:pPr lvl="1"/>
            <a:r>
              <a:rPr kumimoji="1" lang="zh-CN" alt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改变一段内存的权限</a:t>
            </a:r>
            <a:endParaRPr kumimoji="1" lang="en-US" altLang="zh-CN" sz="20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2"/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例如：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JIT</a:t>
            </a:r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动态生成的二进制代码，需将内存由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</a:t>
            </a:r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可写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</a:t>
            </a:r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改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</a:t>
            </a:r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为可执行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68D50E-8107-3C4D-94F0-BEB8FEB2C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595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B9024A-72C6-3242-B102-716094E0C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可将物理内存看做是虚拟地址空间的</a:t>
            </a:r>
            <a:r>
              <a:rPr kumimoji="1" lang="en-US" altLang="zh-CN" dirty="0"/>
              <a:t>Cache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0C04AE-AF7E-5F4B-A300-70232DF1C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情景</a:t>
            </a:r>
            <a:r>
              <a:rPr kumimoji="1" lang="en-US" altLang="zh-CN" sz="2400" dirty="0"/>
              <a:t>1:</a:t>
            </a:r>
          </a:p>
          <a:p>
            <a:pPr lvl="1"/>
            <a:r>
              <a:rPr kumimoji="1" lang="zh-CN" altLang="en-US" sz="2000" dirty="0"/>
              <a:t>两个应用程序各自需要使用 </a:t>
            </a:r>
            <a:r>
              <a:rPr kumimoji="1" lang="en-US" altLang="zh-CN" sz="2000" dirty="0"/>
              <a:t>3GB </a:t>
            </a:r>
            <a:r>
              <a:rPr kumimoji="1" lang="zh-CN" altLang="en-US" sz="2000" dirty="0"/>
              <a:t>的物理内存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机器实际上总共只有 </a:t>
            </a:r>
            <a:r>
              <a:rPr kumimoji="1" lang="en-US" altLang="zh-CN" sz="2000" dirty="0"/>
              <a:t>4GB </a:t>
            </a:r>
            <a:r>
              <a:rPr kumimoji="1" lang="zh-CN" altLang="en-US" sz="2000" dirty="0"/>
              <a:t>的物理内存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r>
              <a:rPr kumimoji="1" lang="zh-CN" altLang="en-US" sz="2400" dirty="0"/>
              <a:t>情景</a:t>
            </a:r>
            <a:r>
              <a:rPr kumimoji="1" lang="en-US" altLang="zh-CN" sz="2400" dirty="0"/>
              <a:t>2:</a:t>
            </a:r>
          </a:p>
          <a:p>
            <a:pPr lvl="1"/>
            <a:r>
              <a:rPr kumimoji="1" lang="zh-CN" altLang="en-US" sz="2000" dirty="0"/>
              <a:t>一个应用程序申请预先分配足够大的（虚拟）内存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实际上其中大部分的虚拟页最终都不会用到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DCED4D-073F-BC45-B8C3-BBCB09685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71874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0F3F26-DD44-8E42-90F0-3315C1C40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换页机制（</a:t>
            </a:r>
            <a:r>
              <a:rPr kumimoji="1" lang="en-US" altLang="zh-CN" dirty="0"/>
              <a:t>Swapping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9AF3CD-FC6F-EA43-9972-8A501FCE5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换页的基本思想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用磁盘作为物理内存的补充，且对上层应用透明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应用对虚拟内存的使用，不受物理内存大小限制</a:t>
            </a:r>
            <a:endParaRPr kumimoji="1" lang="en-US" altLang="zh-CN" sz="2000" dirty="0"/>
          </a:p>
          <a:p>
            <a:r>
              <a:rPr kumimoji="1" lang="zh-CN" altLang="en-US" sz="2400" dirty="0"/>
              <a:t>如何实现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磁盘上划分专门的</a:t>
            </a:r>
            <a:r>
              <a:rPr kumimoji="1" lang="en-US" altLang="zh-CN" sz="2000" dirty="0"/>
              <a:t>Swap</a:t>
            </a:r>
            <a:r>
              <a:rPr kumimoji="1" lang="zh-CN" altLang="en-US" sz="2000" dirty="0"/>
              <a:t>分区，或专门的</a:t>
            </a:r>
            <a:r>
              <a:rPr kumimoji="1" lang="en-US" altLang="zh-CN" sz="2000" dirty="0"/>
              <a:t>Swap</a:t>
            </a:r>
            <a:r>
              <a:rPr kumimoji="1" lang="zh-CN" altLang="en-US" sz="2000" dirty="0"/>
              <a:t>文件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在处理缺页异常时，触发物理内存页的换入换出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B49A0C-3E3F-A14C-A5BD-E7E71611B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8962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E84600-E16E-C045-9A09-89F57BF83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简单的换页示例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DDE630-238C-8C43-BF7B-3D35A4131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B296E06-1FD1-F24E-9986-592A5E4CB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561356"/>
            <a:ext cx="8686800" cy="347113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5B7F1AB-2E32-9F4A-8F67-CCE9E63C3D8A}"/>
              </a:ext>
            </a:extLst>
          </p:cNvPr>
          <p:cNvSpPr txBox="1"/>
          <p:nvPr/>
        </p:nvSpPr>
        <p:spPr>
          <a:xfrm>
            <a:off x="1306766" y="1253006"/>
            <a:ext cx="3129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A5148E-6EE6-984A-8222-8227551802BD}"/>
              </a:ext>
            </a:extLst>
          </p:cNvPr>
          <p:cNvSpPr txBox="1"/>
          <p:nvPr/>
        </p:nvSpPr>
        <p:spPr>
          <a:xfrm>
            <a:off x="4354022" y="1253006"/>
            <a:ext cx="3129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423EB8C-D644-8C48-B8C5-298B97C9A699}"/>
              </a:ext>
            </a:extLst>
          </p:cNvPr>
          <p:cNvSpPr txBox="1"/>
          <p:nvPr/>
        </p:nvSpPr>
        <p:spPr>
          <a:xfrm>
            <a:off x="7620000" y="1253006"/>
            <a:ext cx="3129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89517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AD820-8ACC-4F29-8BBC-415F09ED9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Page Faults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E98264-EEC9-49DF-A78D-9D3550F36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1163959"/>
          </a:xfrm>
        </p:spPr>
        <p:txBody>
          <a:bodyPr>
            <a:noAutofit/>
          </a:bodyPr>
          <a:lstStyle/>
          <a:p>
            <a:r>
              <a:rPr lang="zh-CN" altLang="en-US" sz="2000" dirty="0">
                <a:latin typeface="+mn-ea"/>
                <a:ea typeface="+mn-ea"/>
              </a:rPr>
              <a:t>换页（</a:t>
            </a:r>
            <a:r>
              <a:rPr lang="en-US" altLang="zh-CN" sz="2000" dirty="0">
                <a:latin typeface="+mn-ea"/>
                <a:ea typeface="+mn-ea"/>
              </a:rPr>
              <a:t>Swapping</a:t>
            </a:r>
            <a:r>
              <a:rPr lang="zh-CN" altLang="en-US" sz="2000" dirty="0">
                <a:latin typeface="+mn-ea"/>
                <a:ea typeface="+mn-ea"/>
              </a:rPr>
              <a:t>）</a:t>
            </a:r>
            <a:endParaRPr lang="en-US" altLang="zh-CN" sz="2000" dirty="0">
              <a:latin typeface="+mn-ea"/>
              <a:ea typeface="+mn-ea"/>
            </a:endParaRPr>
          </a:p>
          <a:p>
            <a:r>
              <a:rPr lang="zh-CN" altLang="en-US" sz="2000" dirty="0">
                <a:latin typeface="+mn-ea"/>
                <a:ea typeface="+mn-ea"/>
              </a:rPr>
              <a:t>页面分配（</a:t>
            </a:r>
            <a:r>
              <a:rPr lang="en-US" altLang="zh-CN" sz="2000" dirty="0">
                <a:latin typeface="+mn-ea"/>
                <a:ea typeface="+mn-ea"/>
              </a:rPr>
              <a:t>Paging</a:t>
            </a:r>
            <a:r>
              <a:rPr lang="zh-CN" altLang="en-US" sz="2000" dirty="0">
                <a:latin typeface="+mn-ea"/>
                <a:ea typeface="+mn-ea"/>
              </a:rPr>
              <a:t>）</a:t>
            </a:r>
            <a:endParaRPr lang="en-US" altLang="zh-CN" sz="2000" dirty="0">
              <a:latin typeface="+mn-ea"/>
              <a:ea typeface="+mn-ea"/>
            </a:endParaRPr>
          </a:p>
          <a:p>
            <a:r>
              <a:rPr lang="zh-CN" altLang="en-US" sz="2000" dirty="0">
                <a:latin typeface="+mn-ea"/>
                <a:ea typeface="+mn-ea"/>
              </a:rPr>
              <a:t>页面按需分配（</a:t>
            </a:r>
            <a:r>
              <a:rPr lang="en-US" altLang="zh-CN" sz="2000" dirty="0">
                <a:latin typeface="+mn-ea"/>
                <a:ea typeface="+mn-ea"/>
              </a:rPr>
              <a:t>Demand paging</a:t>
            </a:r>
            <a:r>
              <a:rPr lang="zh-CN" altLang="en-US" sz="2000" dirty="0">
                <a:latin typeface="+mn-ea"/>
                <a:ea typeface="+mn-ea"/>
              </a:rPr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342BD0-C706-48E1-A677-F87E91BF4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B47AFF1D-C197-476C-8AEA-AA580FFC7D0F}"/>
              </a:ext>
            </a:extLst>
          </p:cNvPr>
          <p:cNvGrpSpPr>
            <a:grpSpLocks/>
          </p:cNvGrpSpPr>
          <p:nvPr/>
        </p:nvGrpSpPr>
        <p:grpSpPr bwMode="auto">
          <a:xfrm>
            <a:off x="827584" y="3086369"/>
            <a:ext cx="7175500" cy="2514864"/>
            <a:chOff x="144" y="2133"/>
            <a:chExt cx="5424" cy="1901"/>
          </a:xfrm>
        </p:grpSpPr>
        <p:sp>
          <p:nvSpPr>
            <p:cNvPr id="7" name="AutoShape 5">
              <a:extLst>
                <a:ext uri="{FF2B5EF4-FFF2-40B4-BE49-F238E27FC236}">
                  <a16:creationId xmlns:a16="http://schemas.microsoft.com/office/drawing/2014/main" id="{D7650DD9-C0BA-4AAF-BB85-C6624F841ED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3" y="2981"/>
              <a:ext cx="431" cy="403"/>
            </a:xfrm>
            <a:prstGeom prst="roundRect">
              <a:avLst>
                <a:gd name="adj" fmla="val 38986"/>
              </a:avLst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" name="AutoShape 6">
              <a:extLst>
                <a:ext uri="{FF2B5EF4-FFF2-40B4-BE49-F238E27FC236}">
                  <a16:creationId xmlns:a16="http://schemas.microsoft.com/office/drawing/2014/main" id="{6CBA5194-AAE4-4A54-B5B5-88756DD8B6B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2952"/>
              <a:ext cx="431" cy="403"/>
            </a:xfrm>
            <a:prstGeom prst="roundRect">
              <a:avLst>
                <a:gd name="adj" fmla="val 38986"/>
              </a:avLst>
            </a:prstGeom>
            <a:solidFill>
              <a:srgbClr val="FF0000">
                <a:alpha val="50195"/>
              </a:srgbClr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CPU</a:t>
              </a: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9FEA89EC-6C3E-4011-83A0-7196F13DA95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02" y="2463"/>
              <a:ext cx="633" cy="1238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A770831F-7076-4EB2-BFCE-3052B4F3A73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73" y="2434"/>
              <a:ext cx="633" cy="1238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7E52E1EA-ABBC-4C2B-BA5B-4DDE70A1ECA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2492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" name="Rectangle 10">
              <a:extLst>
                <a:ext uri="{FF2B5EF4-FFF2-40B4-BE49-F238E27FC236}">
                  <a16:creationId xmlns:a16="http://schemas.microsoft.com/office/drawing/2014/main" id="{6A96FA87-C31B-487D-919D-E0870FE093B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2578"/>
              <a:ext cx="346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6BAECCC5-B98E-46C2-9BC0-4261CE43445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2665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B82F25C0-D706-46AB-82D7-C34DAB81A30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2751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42DBD02E-82E2-4518-978E-00F4BB61405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2837"/>
              <a:ext cx="346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34C2A196-95B0-4719-BE59-72E3BCB09CC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3010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91A91E44-DE19-4430-AEFB-B23889442FD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2924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" name="Rectangle 16">
              <a:extLst>
                <a:ext uri="{FF2B5EF4-FFF2-40B4-BE49-F238E27FC236}">
                  <a16:creationId xmlns:a16="http://schemas.microsoft.com/office/drawing/2014/main" id="{83AC5F2C-6ACF-4452-9013-15D970C087D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3096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" name="Rectangle 17">
              <a:extLst>
                <a:ext uri="{FF2B5EF4-FFF2-40B4-BE49-F238E27FC236}">
                  <a16:creationId xmlns:a16="http://schemas.microsoft.com/office/drawing/2014/main" id="{F9A37572-80FD-4CD5-A4F4-60FF6902990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3182"/>
              <a:ext cx="346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" name="Rectangle 18">
              <a:extLst>
                <a:ext uri="{FF2B5EF4-FFF2-40B4-BE49-F238E27FC236}">
                  <a16:creationId xmlns:a16="http://schemas.microsoft.com/office/drawing/2014/main" id="{09295A9B-B904-48C7-BB3F-342DCCA80A9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3269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A9D3E0E-1F0A-4CE3-B669-AFFACAEA0A8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3355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" name="Rectangle 20">
              <a:extLst>
                <a:ext uri="{FF2B5EF4-FFF2-40B4-BE49-F238E27FC236}">
                  <a16:creationId xmlns:a16="http://schemas.microsoft.com/office/drawing/2014/main" id="{8B5B20A6-6DF1-4B93-AFC8-D79777ED4F6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3528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3" name="Rectangle 21">
              <a:extLst>
                <a:ext uri="{FF2B5EF4-FFF2-40B4-BE49-F238E27FC236}">
                  <a16:creationId xmlns:a16="http://schemas.microsoft.com/office/drawing/2014/main" id="{8D653B2A-4244-4271-A3FC-FE5A2DF0C42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3441"/>
              <a:ext cx="346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" name="Text Box 22">
              <a:extLst>
                <a:ext uri="{FF2B5EF4-FFF2-40B4-BE49-F238E27FC236}">
                  <a16:creationId xmlns:a16="http://schemas.microsoft.com/office/drawing/2014/main" id="{5793990C-62EB-4F7C-93E6-6B67C11571A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228" y="2266"/>
              <a:ext cx="343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zh-CN" altLang="en-US" sz="1167" b="1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内存</a:t>
              </a:r>
              <a:endParaRPr lang="en-US" altLang="zh-CN" sz="1167" b="1" dirty="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2B26900E-39CA-4300-A264-F2389DE8FE4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37" y="2751"/>
              <a:ext cx="460" cy="892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6" name="Rectangle 24">
              <a:extLst>
                <a:ext uri="{FF2B5EF4-FFF2-40B4-BE49-F238E27FC236}">
                  <a16:creationId xmlns:a16="http://schemas.microsoft.com/office/drawing/2014/main" id="{0069C924-02ED-4D4A-9DDC-4AF089AD41A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08" y="2722"/>
              <a:ext cx="460" cy="892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C5DCF1B6-47B0-4A60-867B-57640B83BE8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09" y="2780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8" name="Rectangle 26">
              <a:extLst>
                <a:ext uri="{FF2B5EF4-FFF2-40B4-BE49-F238E27FC236}">
                  <a16:creationId xmlns:a16="http://schemas.microsoft.com/office/drawing/2014/main" id="{87D9F324-C795-429C-9B61-95B715A716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09" y="2866"/>
              <a:ext cx="202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1836630A-BC5B-4490-A39A-2B4748981B1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09" y="2953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0" name="Rectangle 28">
              <a:extLst>
                <a:ext uri="{FF2B5EF4-FFF2-40B4-BE49-F238E27FC236}">
                  <a16:creationId xmlns:a16="http://schemas.microsoft.com/office/drawing/2014/main" id="{E5D7749C-6534-417D-9677-44D7B6782D0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09" y="3039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CA3C7557-2F8E-4C20-9536-71345848191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09" y="3125"/>
              <a:ext cx="202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2EA0B574-5ED7-4DAF-A320-79D47DA6892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09" y="3298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50E12659-9ED3-48EB-BD93-9450483F9D7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09" y="3212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4" name="Rectangle 32">
              <a:extLst>
                <a:ext uri="{FF2B5EF4-FFF2-40B4-BE49-F238E27FC236}">
                  <a16:creationId xmlns:a16="http://schemas.microsoft.com/office/drawing/2014/main" id="{A2AD98D1-18D8-4F2A-8914-55941BADC54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09" y="3384"/>
              <a:ext cx="202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5" name="Rectangle 33">
              <a:extLst>
                <a:ext uri="{FF2B5EF4-FFF2-40B4-BE49-F238E27FC236}">
                  <a16:creationId xmlns:a16="http://schemas.microsoft.com/office/drawing/2014/main" id="{0AEB591E-F1E0-4136-B4BD-7F9F967BB57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09" y="3471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6" name="Text Box 34">
              <a:extLst>
                <a:ext uri="{FF2B5EF4-FFF2-40B4-BE49-F238E27FC236}">
                  <a16:creationId xmlns:a16="http://schemas.microsoft.com/office/drawing/2014/main" id="{3CEB8592-162E-45CE-ACBB-7D53C942052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67" y="2553"/>
              <a:ext cx="343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zh-CN" altLang="en-US" sz="1167" b="1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页表</a:t>
              </a:r>
              <a:endParaRPr lang="en-US" altLang="zh-CN" sz="1167" b="1" dirty="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37" name="Line 35">
              <a:extLst>
                <a:ext uri="{FF2B5EF4-FFF2-40B4-BE49-F238E27FC236}">
                  <a16:creationId xmlns:a16="http://schemas.microsoft.com/office/drawing/2014/main" id="{0BBDBEA5-505D-4D85-B2A2-D5A94A0809C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321" y="2995"/>
              <a:ext cx="953" cy="418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8" name="Line 36">
              <a:extLst>
                <a:ext uri="{FF2B5EF4-FFF2-40B4-BE49-F238E27FC236}">
                  <a16:creationId xmlns:a16="http://schemas.microsoft.com/office/drawing/2014/main" id="{85B10936-19C6-45DF-B6C2-1E28BEB5CB4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324" y="2895"/>
              <a:ext cx="950" cy="432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9" name="Line 37">
              <a:extLst>
                <a:ext uri="{FF2B5EF4-FFF2-40B4-BE49-F238E27FC236}">
                  <a16:creationId xmlns:a16="http://schemas.microsoft.com/office/drawing/2014/main" id="{58528839-5E85-4976-8D7A-9FAA4D9F1F4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209" y="3384"/>
              <a:ext cx="202" cy="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40" name="Line 38">
              <a:extLst>
                <a:ext uri="{FF2B5EF4-FFF2-40B4-BE49-F238E27FC236}">
                  <a16:creationId xmlns:a16="http://schemas.microsoft.com/office/drawing/2014/main" id="{2648BEA9-1945-4AAF-83F1-4F32DCF2DCC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1209" y="3384"/>
              <a:ext cx="202" cy="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41" name="Line 39">
              <a:extLst>
                <a:ext uri="{FF2B5EF4-FFF2-40B4-BE49-F238E27FC236}">
                  <a16:creationId xmlns:a16="http://schemas.microsoft.com/office/drawing/2014/main" id="{9D2EDE68-8C31-4073-BAA5-01FEA1E06BC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209" y="3125"/>
              <a:ext cx="202" cy="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42" name="Line 40">
              <a:extLst>
                <a:ext uri="{FF2B5EF4-FFF2-40B4-BE49-F238E27FC236}">
                  <a16:creationId xmlns:a16="http://schemas.microsoft.com/office/drawing/2014/main" id="{8C4D0752-330D-4886-B72B-6CB240C2849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1209" y="3125"/>
              <a:ext cx="202" cy="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43" name="Rectangle 41">
              <a:extLst>
                <a:ext uri="{FF2B5EF4-FFF2-40B4-BE49-F238E27FC236}">
                  <a16:creationId xmlns:a16="http://schemas.microsoft.com/office/drawing/2014/main" id="{7114E753-1C2F-4B84-83DB-C1E4B4C52B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26" y="3730"/>
              <a:ext cx="489" cy="144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" name="Oval 42">
              <a:extLst>
                <a:ext uri="{FF2B5EF4-FFF2-40B4-BE49-F238E27FC236}">
                  <a16:creationId xmlns:a16="http://schemas.microsoft.com/office/drawing/2014/main" id="{CC7F410B-9EE8-4B75-96D2-A7655C4C8E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26" y="3672"/>
              <a:ext cx="489" cy="115"/>
            </a:xfrm>
            <a:prstGeom prst="ellipse">
              <a:avLst/>
            </a:prstGeom>
            <a:solidFill>
              <a:srgbClr val="FF0000">
                <a:alpha val="50195"/>
              </a:srgbClr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5" name="Line 43">
              <a:extLst>
                <a:ext uri="{FF2B5EF4-FFF2-40B4-BE49-F238E27FC236}">
                  <a16:creationId xmlns:a16="http://schemas.microsoft.com/office/drawing/2014/main" id="{43DFF333-350A-4474-9BBC-14C5E0AEDEF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26" y="3730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46" name="Line 44">
              <a:extLst>
                <a:ext uri="{FF2B5EF4-FFF2-40B4-BE49-F238E27FC236}">
                  <a16:creationId xmlns:a16="http://schemas.microsoft.com/office/drawing/2014/main" id="{E4D486A3-0EAA-409B-8489-763F51D6C9C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015" y="3730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47" name="Freeform 45">
              <a:extLst>
                <a:ext uri="{FF2B5EF4-FFF2-40B4-BE49-F238E27FC236}">
                  <a16:creationId xmlns:a16="http://schemas.microsoft.com/office/drawing/2014/main" id="{93172BEC-2A3A-43DE-9B3C-377514833F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526" y="3874"/>
              <a:ext cx="489" cy="50"/>
            </a:xfrm>
            <a:custGeom>
              <a:avLst/>
              <a:gdLst>
                <a:gd name="T0" fmla="*/ 0 w 816"/>
                <a:gd name="T1" fmla="*/ 0 h 84"/>
                <a:gd name="T2" fmla="*/ 1 w 816"/>
                <a:gd name="T3" fmla="*/ 1 h 84"/>
                <a:gd name="T4" fmla="*/ 1 w 816"/>
                <a:gd name="T5" fmla="*/ 1 h 84"/>
                <a:gd name="T6" fmla="*/ 1 w 816"/>
                <a:gd name="T7" fmla="*/ 1 h 84"/>
                <a:gd name="T8" fmla="*/ 1 w 816"/>
                <a:gd name="T9" fmla="*/ 0 h 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6"/>
                <a:gd name="T16" fmla="*/ 0 h 84"/>
                <a:gd name="T17" fmla="*/ 816 w 816"/>
                <a:gd name="T18" fmla="*/ 84 h 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6" h="84">
                  <a:moveTo>
                    <a:pt x="0" y="0"/>
                  </a:moveTo>
                  <a:cubicBezTo>
                    <a:pt x="25" y="10"/>
                    <a:pt x="81" y="46"/>
                    <a:pt x="150" y="60"/>
                  </a:cubicBezTo>
                  <a:cubicBezTo>
                    <a:pt x="219" y="74"/>
                    <a:pt x="326" y="84"/>
                    <a:pt x="414" y="84"/>
                  </a:cubicBezTo>
                  <a:cubicBezTo>
                    <a:pt x="502" y="84"/>
                    <a:pt x="611" y="74"/>
                    <a:pt x="678" y="60"/>
                  </a:cubicBezTo>
                  <a:cubicBezTo>
                    <a:pt x="745" y="46"/>
                    <a:pt x="787" y="12"/>
                    <a:pt x="816" y="0"/>
                  </a:cubicBezTo>
                </a:path>
              </a:pathLst>
            </a:custGeom>
            <a:solidFill>
              <a:srgbClr val="FF0000">
                <a:alpha val="50195"/>
              </a:srgbClr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48" name="Text Box 46">
              <a:extLst>
                <a:ext uri="{FF2B5EF4-FFF2-40B4-BE49-F238E27FC236}">
                  <a16:creationId xmlns:a16="http://schemas.microsoft.com/office/drawing/2014/main" id="{95AE610D-9535-4657-B5BE-6C40C9E969D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618" y="3759"/>
              <a:ext cx="343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zh-CN" altLang="en-US" sz="1167" b="1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磁盘</a:t>
              </a:r>
              <a:endParaRPr lang="en-US" altLang="zh-CN" sz="1167" b="1" dirty="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49" name="Freeform 47">
              <a:extLst>
                <a:ext uri="{FF2B5EF4-FFF2-40B4-BE49-F238E27FC236}">
                  <a16:creationId xmlns:a16="http://schemas.microsoft.com/office/drawing/2014/main" id="{DA8C2ABF-F441-4084-B539-77E89889565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313" y="3172"/>
              <a:ext cx="490" cy="500"/>
            </a:xfrm>
            <a:custGeom>
              <a:avLst/>
              <a:gdLst>
                <a:gd name="T0" fmla="*/ 0 w 817"/>
                <a:gd name="T1" fmla="*/ 0 h 834"/>
                <a:gd name="T2" fmla="*/ 1 w 817"/>
                <a:gd name="T3" fmla="*/ 1 h 834"/>
                <a:gd name="T4" fmla="*/ 1 w 817"/>
                <a:gd name="T5" fmla="*/ 1 h 834"/>
                <a:gd name="T6" fmla="*/ 1 w 817"/>
                <a:gd name="T7" fmla="*/ 1 h 834"/>
                <a:gd name="T8" fmla="*/ 1 w 817"/>
                <a:gd name="T9" fmla="*/ 1 h 8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7"/>
                <a:gd name="T16" fmla="*/ 0 h 834"/>
                <a:gd name="T17" fmla="*/ 817 w 817"/>
                <a:gd name="T18" fmla="*/ 834 h 8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7" h="834">
                  <a:moveTo>
                    <a:pt x="0" y="0"/>
                  </a:moveTo>
                  <a:cubicBezTo>
                    <a:pt x="58" y="7"/>
                    <a:pt x="243" y="9"/>
                    <a:pt x="348" y="42"/>
                  </a:cubicBezTo>
                  <a:cubicBezTo>
                    <a:pt x="453" y="75"/>
                    <a:pt x="557" y="121"/>
                    <a:pt x="630" y="198"/>
                  </a:cubicBezTo>
                  <a:cubicBezTo>
                    <a:pt x="703" y="275"/>
                    <a:pt x="755" y="398"/>
                    <a:pt x="786" y="504"/>
                  </a:cubicBezTo>
                  <a:cubicBezTo>
                    <a:pt x="817" y="610"/>
                    <a:pt x="810" y="765"/>
                    <a:pt x="816" y="834"/>
                  </a:cubicBez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50" name="Freeform 48">
              <a:extLst>
                <a:ext uri="{FF2B5EF4-FFF2-40B4-BE49-F238E27FC236}">
                  <a16:creationId xmlns:a16="http://schemas.microsoft.com/office/drawing/2014/main" id="{EEAC51CF-A12B-4C2B-A5BF-071C4710DB3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310" y="3427"/>
              <a:ext cx="417" cy="245"/>
            </a:xfrm>
            <a:custGeom>
              <a:avLst/>
              <a:gdLst>
                <a:gd name="T0" fmla="*/ 0 w 817"/>
                <a:gd name="T1" fmla="*/ 0 h 834"/>
                <a:gd name="T2" fmla="*/ 1 w 817"/>
                <a:gd name="T3" fmla="*/ 0 h 834"/>
                <a:gd name="T4" fmla="*/ 1 w 817"/>
                <a:gd name="T5" fmla="*/ 0 h 834"/>
                <a:gd name="T6" fmla="*/ 1 w 817"/>
                <a:gd name="T7" fmla="*/ 0 h 834"/>
                <a:gd name="T8" fmla="*/ 1 w 817"/>
                <a:gd name="T9" fmla="*/ 0 h 8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7"/>
                <a:gd name="T16" fmla="*/ 0 h 834"/>
                <a:gd name="T17" fmla="*/ 817 w 817"/>
                <a:gd name="T18" fmla="*/ 834 h 8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7" h="834">
                  <a:moveTo>
                    <a:pt x="0" y="0"/>
                  </a:moveTo>
                  <a:cubicBezTo>
                    <a:pt x="58" y="7"/>
                    <a:pt x="243" y="9"/>
                    <a:pt x="348" y="42"/>
                  </a:cubicBezTo>
                  <a:cubicBezTo>
                    <a:pt x="453" y="75"/>
                    <a:pt x="557" y="121"/>
                    <a:pt x="630" y="198"/>
                  </a:cubicBezTo>
                  <a:cubicBezTo>
                    <a:pt x="703" y="275"/>
                    <a:pt x="755" y="398"/>
                    <a:pt x="786" y="504"/>
                  </a:cubicBezTo>
                  <a:cubicBezTo>
                    <a:pt x="817" y="610"/>
                    <a:pt x="810" y="765"/>
                    <a:pt x="816" y="834"/>
                  </a:cubicBez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51" name="Text Box 49">
              <a:extLst>
                <a:ext uri="{FF2B5EF4-FFF2-40B4-BE49-F238E27FC236}">
                  <a16:creationId xmlns:a16="http://schemas.microsoft.com/office/drawing/2014/main" id="{65E3D8AE-514A-4F56-A0B2-6DAF394D866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91" y="3372"/>
              <a:ext cx="57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defTabSz="76197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167" b="1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虚拟地址</a:t>
              </a:r>
              <a:endParaRPr lang="en-US" altLang="zh-CN" sz="1167" b="1" dirty="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52" name="Text Box 50">
              <a:extLst>
                <a:ext uri="{FF2B5EF4-FFF2-40B4-BE49-F238E27FC236}">
                  <a16:creationId xmlns:a16="http://schemas.microsoft.com/office/drawing/2014/main" id="{2F822431-56D9-4F74-9A62-D917B0026F3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469" y="2895"/>
              <a:ext cx="57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defTabSz="76197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167" b="1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物理地址</a:t>
              </a:r>
              <a:endParaRPr lang="en-US" altLang="zh-CN" sz="1167" b="1" dirty="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53" name="AutoShape 51">
              <a:extLst>
                <a:ext uri="{FF2B5EF4-FFF2-40B4-BE49-F238E27FC236}">
                  <a16:creationId xmlns:a16="http://schemas.microsoft.com/office/drawing/2014/main" id="{CEE05E13-8E2C-4DEE-9706-4C4EE7F8314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06" y="3077"/>
              <a:ext cx="431" cy="403"/>
            </a:xfrm>
            <a:prstGeom prst="roundRect">
              <a:avLst>
                <a:gd name="adj" fmla="val 38986"/>
              </a:avLst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4" name="AutoShape 52">
              <a:extLst>
                <a:ext uri="{FF2B5EF4-FFF2-40B4-BE49-F238E27FC236}">
                  <a16:creationId xmlns:a16="http://schemas.microsoft.com/office/drawing/2014/main" id="{F178B811-F7F1-4F87-A00B-CD2B63053AC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77" y="3048"/>
              <a:ext cx="431" cy="403"/>
            </a:xfrm>
            <a:prstGeom prst="roundRect">
              <a:avLst>
                <a:gd name="adj" fmla="val 38986"/>
              </a:avLst>
            </a:prstGeom>
            <a:solidFill>
              <a:srgbClr val="FF0000">
                <a:alpha val="50195"/>
              </a:srgbClr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CPU</a:t>
              </a:r>
            </a:p>
          </p:txBody>
        </p:sp>
        <p:sp>
          <p:nvSpPr>
            <p:cNvPr id="55" name="Rectangle 53">
              <a:extLst>
                <a:ext uri="{FF2B5EF4-FFF2-40B4-BE49-F238E27FC236}">
                  <a16:creationId xmlns:a16="http://schemas.microsoft.com/office/drawing/2014/main" id="{F90C6D55-4E05-4D52-82F9-1F6E847D226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35" y="2559"/>
              <a:ext cx="633" cy="1238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6" name="Rectangle 54">
              <a:extLst>
                <a:ext uri="{FF2B5EF4-FFF2-40B4-BE49-F238E27FC236}">
                  <a16:creationId xmlns:a16="http://schemas.microsoft.com/office/drawing/2014/main" id="{FD42BB77-A775-41FF-B822-0267F348972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06" y="2530"/>
              <a:ext cx="633" cy="1238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7" name="Rectangle 55">
              <a:extLst>
                <a:ext uri="{FF2B5EF4-FFF2-40B4-BE49-F238E27FC236}">
                  <a16:creationId xmlns:a16="http://schemas.microsoft.com/office/drawing/2014/main" id="{C458BBBC-BD07-440B-A777-B02304BE8EE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2588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8" name="Rectangle 56">
              <a:extLst>
                <a:ext uri="{FF2B5EF4-FFF2-40B4-BE49-F238E27FC236}">
                  <a16:creationId xmlns:a16="http://schemas.microsoft.com/office/drawing/2014/main" id="{465849EC-CA23-4F5D-9838-03CD849634E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2674"/>
              <a:ext cx="346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9" name="Rectangle 57">
              <a:extLst>
                <a:ext uri="{FF2B5EF4-FFF2-40B4-BE49-F238E27FC236}">
                  <a16:creationId xmlns:a16="http://schemas.microsoft.com/office/drawing/2014/main" id="{C4B7E11D-8A7D-4B96-A793-12BCD3D7376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2761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0" name="Rectangle 58">
              <a:extLst>
                <a:ext uri="{FF2B5EF4-FFF2-40B4-BE49-F238E27FC236}">
                  <a16:creationId xmlns:a16="http://schemas.microsoft.com/office/drawing/2014/main" id="{BA4B3850-C198-4F90-A81C-1C59920BB01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2847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1" name="Rectangle 59">
              <a:extLst>
                <a:ext uri="{FF2B5EF4-FFF2-40B4-BE49-F238E27FC236}">
                  <a16:creationId xmlns:a16="http://schemas.microsoft.com/office/drawing/2014/main" id="{569C2A56-DA7E-427A-91CC-EB03B49502C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2933"/>
              <a:ext cx="346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2" name="Rectangle 60">
              <a:extLst>
                <a:ext uri="{FF2B5EF4-FFF2-40B4-BE49-F238E27FC236}">
                  <a16:creationId xmlns:a16="http://schemas.microsoft.com/office/drawing/2014/main" id="{C607F340-A587-4109-8ED5-BCBF98C2CAF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3106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3" name="Rectangle 61">
              <a:extLst>
                <a:ext uri="{FF2B5EF4-FFF2-40B4-BE49-F238E27FC236}">
                  <a16:creationId xmlns:a16="http://schemas.microsoft.com/office/drawing/2014/main" id="{DA19CBC1-B449-443D-AC60-07728A0EFD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3020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4" name="Rectangle 62">
              <a:extLst>
                <a:ext uri="{FF2B5EF4-FFF2-40B4-BE49-F238E27FC236}">
                  <a16:creationId xmlns:a16="http://schemas.microsoft.com/office/drawing/2014/main" id="{CEF79459-A96A-4869-B2BA-909CE36CCA3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3192"/>
              <a:ext cx="346" cy="86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5" name="Rectangle 63">
              <a:extLst>
                <a:ext uri="{FF2B5EF4-FFF2-40B4-BE49-F238E27FC236}">
                  <a16:creationId xmlns:a16="http://schemas.microsoft.com/office/drawing/2014/main" id="{BD94FB46-33D1-4E4A-AC33-94B4D48CC64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3278"/>
              <a:ext cx="346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6" name="Rectangle 64">
              <a:extLst>
                <a:ext uri="{FF2B5EF4-FFF2-40B4-BE49-F238E27FC236}">
                  <a16:creationId xmlns:a16="http://schemas.microsoft.com/office/drawing/2014/main" id="{4646D426-979C-47C5-844A-75412FDFE74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3365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7" name="Rectangle 65">
              <a:extLst>
                <a:ext uri="{FF2B5EF4-FFF2-40B4-BE49-F238E27FC236}">
                  <a16:creationId xmlns:a16="http://schemas.microsoft.com/office/drawing/2014/main" id="{8D27C90B-DC81-49C9-94D1-BF9FA41C526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3451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8" name="Rectangle 66">
              <a:extLst>
                <a:ext uri="{FF2B5EF4-FFF2-40B4-BE49-F238E27FC236}">
                  <a16:creationId xmlns:a16="http://schemas.microsoft.com/office/drawing/2014/main" id="{5C122A0E-ED4D-4E73-B16C-FC9A66E71CD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3624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9" name="Rectangle 67">
              <a:extLst>
                <a:ext uri="{FF2B5EF4-FFF2-40B4-BE49-F238E27FC236}">
                  <a16:creationId xmlns:a16="http://schemas.microsoft.com/office/drawing/2014/main" id="{8BDD99D0-CD4F-47E3-A30C-68C4DD99CDD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3537"/>
              <a:ext cx="346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0" name="Text Box 68">
              <a:extLst>
                <a:ext uri="{FF2B5EF4-FFF2-40B4-BE49-F238E27FC236}">
                  <a16:creationId xmlns:a16="http://schemas.microsoft.com/office/drawing/2014/main" id="{84054C1B-8242-4578-A997-F4BA0D88C98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077" y="2361"/>
              <a:ext cx="343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zh-CN" altLang="en-US" sz="1167" b="1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内存</a:t>
              </a:r>
              <a:endParaRPr lang="en-US" altLang="zh-CN" sz="1167" b="1" dirty="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71" name="Rectangle 69">
              <a:extLst>
                <a:ext uri="{FF2B5EF4-FFF2-40B4-BE49-F238E27FC236}">
                  <a16:creationId xmlns:a16="http://schemas.microsoft.com/office/drawing/2014/main" id="{0390F4D4-5E29-4D74-B59A-2FC0792C36F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70" y="2847"/>
              <a:ext cx="460" cy="892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2" name="Rectangle 70">
              <a:extLst>
                <a:ext uri="{FF2B5EF4-FFF2-40B4-BE49-F238E27FC236}">
                  <a16:creationId xmlns:a16="http://schemas.microsoft.com/office/drawing/2014/main" id="{1C20D806-7800-4775-86D3-E432B4B8A5F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41" y="2818"/>
              <a:ext cx="460" cy="892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3" name="Rectangle 71">
              <a:extLst>
                <a:ext uri="{FF2B5EF4-FFF2-40B4-BE49-F238E27FC236}">
                  <a16:creationId xmlns:a16="http://schemas.microsoft.com/office/drawing/2014/main" id="{CED5E908-65D5-4B25-A29B-4F12C34CE43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42" y="2876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4" name="Rectangle 72">
              <a:extLst>
                <a:ext uri="{FF2B5EF4-FFF2-40B4-BE49-F238E27FC236}">
                  <a16:creationId xmlns:a16="http://schemas.microsoft.com/office/drawing/2014/main" id="{4A7DB9BA-CA29-4F86-97B9-A184C20C113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42" y="2962"/>
              <a:ext cx="202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" name="Rectangle 73">
              <a:extLst>
                <a:ext uri="{FF2B5EF4-FFF2-40B4-BE49-F238E27FC236}">
                  <a16:creationId xmlns:a16="http://schemas.microsoft.com/office/drawing/2014/main" id="{80E03E71-9367-43C4-BF35-787290F9AFD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42" y="3049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" name="Rectangle 74">
              <a:extLst>
                <a:ext uri="{FF2B5EF4-FFF2-40B4-BE49-F238E27FC236}">
                  <a16:creationId xmlns:a16="http://schemas.microsoft.com/office/drawing/2014/main" id="{A9A045AA-233B-427E-8E91-10A808501C3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42" y="3135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7" name="Rectangle 75">
              <a:extLst>
                <a:ext uri="{FF2B5EF4-FFF2-40B4-BE49-F238E27FC236}">
                  <a16:creationId xmlns:a16="http://schemas.microsoft.com/office/drawing/2014/main" id="{AFE4A860-B7A7-4CF3-9DB2-87ED5175115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42" y="3221"/>
              <a:ext cx="202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8" name="Rectangle 76">
              <a:extLst>
                <a:ext uri="{FF2B5EF4-FFF2-40B4-BE49-F238E27FC236}">
                  <a16:creationId xmlns:a16="http://schemas.microsoft.com/office/drawing/2014/main" id="{316F896E-2EC2-4624-9DA5-4F8D2D3376C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42" y="3394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" name="Rectangle 77">
              <a:extLst>
                <a:ext uri="{FF2B5EF4-FFF2-40B4-BE49-F238E27FC236}">
                  <a16:creationId xmlns:a16="http://schemas.microsoft.com/office/drawing/2014/main" id="{1DA9BEC0-C350-4D3B-9F5C-3CD296CDEB1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42" y="3308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0" name="Rectangle 78">
              <a:extLst>
                <a:ext uri="{FF2B5EF4-FFF2-40B4-BE49-F238E27FC236}">
                  <a16:creationId xmlns:a16="http://schemas.microsoft.com/office/drawing/2014/main" id="{3B2615F1-00A4-4405-86D7-B451A362C5E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42" y="3480"/>
              <a:ext cx="202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1" name="Rectangle 79">
              <a:extLst>
                <a:ext uri="{FF2B5EF4-FFF2-40B4-BE49-F238E27FC236}">
                  <a16:creationId xmlns:a16="http://schemas.microsoft.com/office/drawing/2014/main" id="{8567EF0C-EFF1-462C-B2A7-C1EFDEDF828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42" y="3567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" name="Text Box 80">
              <a:extLst>
                <a:ext uri="{FF2B5EF4-FFF2-40B4-BE49-F238E27FC236}">
                  <a16:creationId xmlns:a16="http://schemas.microsoft.com/office/drawing/2014/main" id="{A203504E-98ED-4710-9141-0B60D8B8CAA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879" y="2640"/>
              <a:ext cx="343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zh-CN" altLang="en-US" sz="1167" b="1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页表</a:t>
              </a:r>
              <a:endParaRPr lang="en-US" altLang="zh-CN" sz="1167" b="1" dirty="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83" name="Line 81">
              <a:extLst>
                <a:ext uri="{FF2B5EF4-FFF2-40B4-BE49-F238E27FC236}">
                  <a16:creationId xmlns:a16="http://schemas.microsoft.com/office/drawing/2014/main" id="{0ED0728D-892C-4D45-B35D-E7DAC576F2C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154" y="3091"/>
              <a:ext cx="953" cy="418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84" name="Line 82">
              <a:extLst>
                <a:ext uri="{FF2B5EF4-FFF2-40B4-BE49-F238E27FC236}">
                  <a16:creationId xmlns:a16="http://schemas.microsoft.com/office/drawing/2014/main" id="{B444EFF4-F47A-4C6A-B243-92620152036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157" y="2991"/>
              <a:ext cx="950" cy="432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85" name="Line 83">
              <a:extLst>
                <a:ext uri="{FF2B5EF4-FFF2-40B4-BE49-F238E27FC236}">
                  <a16:creationId xmlns:a16="http://schemas.microsoft.com/office/drawing/2014/main" id="{21BB59A5-AAB9-4827-B3A6-F48FD2FC5FD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042" y="3221"/>
              <a:ext cx="202" cy="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86" name="Line 84">
              <a:extLst>
                <a:ext uri="{FF2B5EF4-FFF2-40B4-BE49-F238E27FC236}">
                  <a16:creationId xmlns:a16="http://schemas.microsoft.com/office/drawing/2014/main" id="{56218724-63F3-48F1-BF18-C9815935138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4042" y="3221"/>
              <a:ext cx="202" cy="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87" name="Rectangle 85">
              <a:extLst>
                <a:ext uri="{FF2B5EF4-FFF2-40B4-BE49-F238E27FC236}">
                  <a16:creationId xmlns:a16="http://schemas.microsoft.com/office/drawing/2014/main" id="{717ACE80-3193-4A95-8B6E-9733633E020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59" y="3826"/>
              <a:ext cx="489" cy="144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8" name="Oval 86">
              <a:extLst>
                <a:ext uri="{FF2B5EF4-FFF2-40B4-BE49-F238E27FC236}">
                  <a16:creationId xmlns:a16="http://schemas.microsoft.com/office/drawing/2014/main" id="{8E27A70F-FE0D-4FF7-A4F5-6AE63FF4B2E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59" y="3768"/>
              <a:ext cx="489" cy="115"/>
            </a:xfrm>
            <a:prstGeom prst="ellipse">
              <a:avLst/>
            </a:prstGeom>
            <a:solidFill>
              <a:srgbClr val="FF0000">
                <a:alpha val="50195"/>
              </a:srgbClr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9" name="Line 87">
              <a:extLst>
                <a:ext uri="{FF2B5EF4-FFF2-40B4-BE49-F238E27FC236}">
                  <a16:creationId xmlns:a16="http://schemas.microsoft.com/office/drawing/2014/main" id="{292DE40E-3090-4767-A106-63301DE73CB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359" y="3826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0" name="Line 88">
              <a:extLst>
                <a:ext uri="{FF2B5EF4-FFF2-40B4-BE49-F238E27FC236}">
                  <a16:creationId xmlns:a16="http://schemas.microsoft.com/office/drawing/2014/main" id="{8B876B03-30F3-49CD-9164-51E7C0877E1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848" y="3826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1" name="Freeform 89">
              <a:extLst>
                <a:ext uri="{FF2B5EF4-FFF2-40B4-BE49-F238E27FC236}">
                  <a16:creationId xmlns:a16="http://schemas.microsoft.com/office/drawing/2014/main" id="{0965170C-B0A6-4B10-B54E-FEF1A5FC452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359" y="3970"/>
              <a:ext cx="489" cy="50"/>
            </a:xfrm>
            <a:custGeom>
              <a:avLst/>
              <a:gdLst>
                <a:gd name="T0" fmla="*/ 0 w 816"/>
                <a:gd name="T1" fmla="*/ 0 h 84"/>
                <a:gd name="T2" fmla="*/ 1 w 816"/>
                <a:gd name="T3" fmla="*/ 1 h 84"/>
                <a:gd name="T4" fmla="*/ 1 w 816"/>
                <a:gd name="T5" fmla="*/ 1 h 84"/>
                <a:gd name="T6" fmla="*/ 1 w 816"/>
                <a:gd name="T7" fmla="*/ 1 h 84"/>
                <a:gd name="T8" fmla="*/ 1 w 816"/>
                <a:gd name="T9" fmla="*/ 0 h 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6"/>
                <a:gd name="T16" fmla="*/ 0 h 84"/>
                <a:gd name="T17" fmla="*/ 816 w 816"/>
                <a:gd name="T18" fmla="*/ 84 h 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6" h="84">
                  <a:moveTo>
                    <a:pt x="0" y="0"/>
                  </a:moveTo>
                  <a:cubicBezTo>
                    <a:pt x="25" y="10"/>
                    <a:pt x="81" y="46"/>
                    <a:pt x="150" y="60"/>
                  </a:cubicBezTo>
                  <a:cubicBezTo>
                    <a:pt x="219" y="74"/>
                    <a:pt x="326" y="84"/>
                    <a:pt x="414" y="84"/>
                  </a:cubicBezTo>
                  <a:cubicBezTo>
                    <a:pt x="502" y="84"/>
                    <a:pt x="611" y="74"/>
                    <a:pt x="678" y="60"/>
                  </a:cubicBezTo>
                  <a:cubicBezTo>
                    <a:pt x="745" y="46"/>
                    <a:pt x="787" y="12"/>
                    <a:pt x="816" y="0"/>
                  </a:cubicBezTo>
                </a:path>
              </a:pathLst>
            </a:custGeom>
            <a:solidFill>
              <a:srgbClr val="FF0000">
                <a:alpha val="50195"/>
              </a:srgbClr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2" name="Text Box 90">
              <a:extLst>
                <a:ext uri="{FF2B5EF4-FFF2-40B4-BE49-F238E27FC236}">
                  <a16:creationId xmlns:a16="http://schemas.microsoft.com/office/drawing/2014/main" id="{C071517A-E09A-42C4-8677-3424BAE7DA2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451" y="3855"/>
              <a:ext cx="343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zh-CN" altLang="en-US" sz="1167" b="1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磁盘</a:t>
              </a:r>
              <a:endParaRPr lang="en-US" altLang="zh-CN" sz="1167" b="1" dirty="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93" name="Freeform 91">
              <a:extLst>
                <a:ext uri="{FF2B5EF4-FFF2-40B4-BE49-F238E27FC236}">
                  <a16:creationId xmlns:a16="http://schemas.microsoft.com/office/drawing/2014/main" id="{67B6D3BF-D7E7-4AFF-B4EE-8203131AA2F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146" y="3268"/>
              <a:ext cx="490" cy="500"/>
            </a:xfrm>
            <a:custGeom>
              <a:avLst/>
              <a:gdLst>
                <a:gd name="T0" fmla="*/ 0 w 817"/>
                <a:gd name="T1" fmla="*/ 0 h 834"/>
                <a:gd name="T2" fmla="*/ 1 w 817"/>
                <a:gd name="T3" fmla="*/ 1 h 834"/>
                <a:gd name="T4" fmla="*/ 1 w 817"/>
                <a:gd name="T5" fmla="*/ 1 h 834"/>
                <a:gd name="T6" fmla="*/ 1 w 817"/>
                <a:gd name="T7" fmla="*/ 1 h 834"/>
                <a:gd name="T8" fmla="*/ 1 w 817"/>
                <a:gd name="T9" fmla="*/ 1 h 8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7"/>
                <a:gd name="T16" fmla="*/ 0 h 834"/>
                <a:gd name="T17" fmla="*/ 817 w 817"/>
                <a:gd name="T18" fmla="*/ 834 h 8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7" h="834">
                  <a:moveTo>
                    <a:pt x="0" y="0"/>
                  </a:moveTo>
                  <a:cubicBezTo>
                    <a:pt x="58" y="7"/>
                    <a:pt x="243" y="9"/>
                    <a:pt x="348" y="42"/>
                  </a:cubicBezTo>
                  <a:cubicBezTo>
                    <a:pt x="453" y="75"/>
                    <a:pt x="557" y="121"/>
                    <a:pt x="630" y="198"/>
                  </a:cubicBezTo>
                  <a:cubicBezTo>
                    <a:pt x="703" y="275"/>
                    <a:pt x="755" y="398"/>
                    <a:pt x="786" y="504"/>
                  </a:cubicBezTo>
                  <a:cubicBezTo>
                    <a:pt x="817" y="610"/>
                    <a:pt x="810" y="765"/>
                    <a:pt x="816" y="834"/>
                  </a:cubicBez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4" name="Text Box 92">
              <a:extLst>
                <a:ext uri="{FF2B5EF4-FFF2-40B4-BE49-F238E27FC236}">
                  <a16:creationId xmlns:a16="http://schemas.microsoft.com/office/drawing/2014/main" id="{66F21368-9810-492C-978B-9D06AB46EA5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238" y="3478"/>
              <a:ext cx="57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defTabSz="76197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167" b="1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虚拟地址</a:t>
              </a:r>
              <a:endParaRPr lang="en-US" altLang="zh-CN" sz="1167" b="1" dirty="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95" name="Text Box 93">
              <a:extLst>
                <a:ext uri="{FF2B5EF4-FFF2-40B4-BE49-F238E27FC236}">
                  <a16:creationId xmlns:a16="http://schemas.microsoft.com/office/drawing/2014/main" id="{4B48A526-A0E2-45ED-9E2C-3C43FDBAA85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316" y="2951"/>
              <a:ext cx="57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defTabSz="76197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167" b="1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物理地址</a:t>
              </a:r>
              <a:endParaRPr lang="en-US" altLang="zh-CN" sz="1167" b="1" dirty="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96" name="Line 94">
              <a:extLst>
                <a:ext uri="{FF2B5EF4-FFF2-40B4-BE49-F238E27FC236}">
                  <a16:creationId xmlns:a16="http://schemas.microsoft.com/office/drawing/2014/main" id="{39BE3B5A-985A-4EC0-AFEF-622785582E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3216"/>
              <a:ext cx="960" cy="303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7" name="Text Box 95">
              <a:extLst>
                <a:ext uri="{FF2B5EF4-FFF2-40B4-BE49-F238E27FC236}">
                  <a16:creationId xmlns:a16="http://schemas.microsoft.com/office/drawing/2014/main" id="{3E9E2C6C-6259-48B5-BCF1-02B407A144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5" y="2133"/>
              <a:ext cx="1093" cy="2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75406" tIns="37042" rIns="75406" bIns="37042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800" b="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Fault </a:t>
              </a:r>
              <a:r>
                <a:rPr lang="zh-CN" altLang="en-US" sz="1800" b="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发生前</a:t>
              </a:r>
              <a:endParaRPr lang="en-US" altLang="zh-CN" sz="1800" b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98" name="Text Box 96">
              <a:extLst>
                <a:ext uri="{FF2B5EF4-FFF2-40B4-BE49-F238E27FC236}">
                  <a16:creationId xmlns:a16="http://schemas.microsoft.com/office/drawing/2014/main" id="{FB443D11-8D93-4386-BBAF-8508C83FEF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8" y="2137"/>
              <a:ext cx="1093" cy="2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75406" tIns="37042" rIns="75406" bIns="37042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800" b="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Fault </a:t>
              </a:r>
              <a:r>
                <a:rPr lang="zh-CN" altLang="en-US" sz="1800" b="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发生后</a:t>
              </a:r>
              <a:endParaRPr lang="en-US" altLang="zh-CN" sz="1800" b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99" name="Line 97">
              <a:extLst>
                <a:ext uri="{FF2B5EF4-FFF2-40B4-BE49-F238E27FC236}">
                  <a16:creationId xmlns:a16="http://schemas.microsoft.com/office/drawing/2014/main" id="{CBE5A60A-061E-420F-95BC-B1894FA1C85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576" y="3211"/>
              <a:ext cx="633" cy="23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00" name="Line 98">
              <a:extLst>
                <a:ext uri="{FF2B5EF4-FFF2-40B4-BE49-F238E27FC236}">
                  <a16:creationId xmlns:a16="http://schemas.microsoft.com/office/drawing/2014/main" id="{6DB4613A-F055-43B7-B255-E6F252A4812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3399" y="3321"/>
              <a:ext cx="633" cy="23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31756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20AEBA-E447-A249-BC05-BAF456028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OS</a:t>
            </a:r>
            <a:r>
              <a:rPr kumimoji="1" lang="zh-CN" altLang="en-US" dirty="0"/>
              <a:t>内存管理中的更多机制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E6ADC6-EE17-4B40-A1A0-C3ABF04BE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2AEF73-2272-A24A-BB94-6D7FB572C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7234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B3FA88-1827-444B-8643-579B3B58C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共享内存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AAB910-AE4F-3E4C-B087-920ABE744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基本功能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节约内存，如共享库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进程通信，传递数据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4333D9-C67E-0243-9E9C-0D6C593C2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C14E0F7-F9DD-1E40-801A-CADD0A9590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662"/>
          <a:stretch/>
        </p:blipFill>
        <p:spPr>
          <a:xfrm>
            <a:off x="4928560" y="1292353"/>
            <a:ext cx="3779912" cy="378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142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B3FA88-1827-444B-8643-579B3B58C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写时拷贝（</a:t>
            </a:r>
            <a:r>
              <a:rPr kumimoji="1" lang="en-US" altLang="zh-CN" dirty="0"/>
              <a:t>copy-on-write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AAB910-AE4F-3E4C-B087-920ABE744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实现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修改页表项权限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在缺页时拷贝、恢复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典型场景</a:t>
            </a:r>
            <a:r>
              <a:rPr kumimoji="1" lang="en-US" altLang="zh-CN" dirty="0"/>
              <a:t>fork</a:t>
            </a:r>
          </a:p>
          <a:p>
            <a:pPr lvl="1"/>
            <a:r>
              <a:rPr kumimoji="1" lang="zh-CN" altLang="en-US" dirty="0"/>
              <a:t>节约物理内存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性能加速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4333D9-C67E-0243-9E9C-0D6C593C2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C14E0F7-F9DD-1E40-801A-CADD0A9590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50"/>
          <a:stretch/>
        </p:blipFill>
        <p:spPr>
          <a:xfrm>
            <a:off x="4644008" y="1333501"/>
            <a:ext cx="4283968" cy="378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6386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628242-FBEB-E24D-9B5E-1750508B1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内存去重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B67917-9698-3745-8410-BCBDD687C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memory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deduplication</a:t>
            </a:r>
          </a:p>
          <a:p>
            <a:pPr lvl="1"/>
            <a:r>
              <a:rPr kumimoji="1" lang="zh-CN" altLang="en-US" dirty="0"/>
              <a:t>基于写时拷贝机制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在内存中扫描发现具有相同内容的物理页面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执行去重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操作系统发起，对用户态透明</a:t>
            </a:r>
            <a:endParaRPr kumimoji="1" lang="en-US" altLang="zh-CN" dirty="0"/>
          </a:p>
          <a:p>
            <a:r>
              <a:rPr kumimoji="1" lang="zh-CN" altLang="en-US" dirty="0"/>
              <a:t>典型案例：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 </a:t>
            </a:r>
            <a:r>
              <a:rPr kumimoji="1" lang="en-US" altLang="zh-CN" dirty="0"/>
              <a:t>KSM</a:t>
            </a:r>
          </a:p>
          <a:p>
            <a:pPr lvl="1"/>
            <a:r>
              <a:rPr kumimoji="1" lang="en-US" altLang="zh-CN" dirty="0"/>
              <a:t>kernel same-page merging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A2445E-7C8B-FE4C-AB69-ED0DEBAA4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5217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64E508-8AD4-CC4F-98D4-423C231B7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内存压缩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916690-848D-784E-AE44-E5A8F233C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基本思想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当内存资源不充足的时候， 选择将一些“最近不太会使用”的内存页进行数据压缩，从而释放出空闲内存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91F6A1-9A8F-664F-89B2-0562F45F4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0494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64E508-8AD4-CC4F-98D4-423C231B7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内存压缩案例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916690-848D-784E-AE44-E5A8F233C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CN" dirty="0"/>
              <a:t>Windows 10</a:t>
            </a:r>
          </a:p>
          <a:p>
            <a:pPr lvl="1"/>
            <a:r>
              <a:rPr kumimoji="1" lang="zh-CN" altLang="en-US" dirty="0"/>
              <a:t>压缩后的数据仍然存放在内存中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当访问被压缩的数据时，操作系统将其解压即可</a:t>
            </a:r>
            <a:endParaRPr kumimoji="1" lang="en-US" altLang="zh-CN" dirty="0"/>
          </a:p>
          <a:p>
            <a:pPr lvl="1"/>
            <a:r>
              <a:rPr kumimoji="1" lang="zh-CN" altLang="en-US" dirty="0">
                <a:solidFill>
                  <a:srgbClr val="C00000"/>
                </a:solidFill>
              </a:rPr>
              <a:t>思考：对比交换内存页到磁盘，压缩的优点和缺点有哪些？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en-US" altLang="zh-CN" dirty="0">
                <a:solidFill>
                  <a:schemeClr val="tx1"/>
                </a:solidFill>
              </a:rPr>
              <a:t>Linux</a:t>
            </a:r>
          </a:p>
          <a:p>
            <a:pPr lvl="1"/>
            <a:r>
              <a:rPr kumimoji="1" lang="en-US" altLang="zh-CN" dirty="0" err="1">
                <a:solidFill>
                  <a:schemeClr val="tx1"/>
                </a:solidFill>
              </a:rPr>
              <a:t>zswap</a:t>
            </a:r>
            <a:r>
              <a:rPr kumimoji="1" lang="zh-CN" altLang="en-US" dirty="0">
                <a:solidFill>
                  <a:schemeClr val="tx1"/>
                </a:solidFill>
              </a:rPr>
              <a:t>：换页过程中磁盘的缓存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zh-CN" altLang="en-US" dirty="0">
                <a:solidFill>
                  <a:schemeClr val="tx1"/>
                </a:solidFill>
              </a:rPr>
              <a:t>将准备换出的数据压缩并先写入 </a:t>
            </a:r>
            <a:r>
              <a:rPr kumimoji="1" lang="en-US" altLang="zh-CN" dirty="0" err="1">
                <a:solidFill>
                  <a:schemeClr val="tx1"/>
                </a:solidFill>
              </a:rPr>
              <a:t>zswap</a:t>
            </a:r>
            <a:r>
              <a:rPr kumimoji="1" lang="en-US" altLang="zh-CN" dirty="0">
                <a:solidFill>
                  <a:schemeClr val="tx1"/>
                </a:solidFill>
              </a:rPr>
              <a:t> </a:t>
            </a:r>
            <a:r>
              <a:rPr kumimoji="1" lang="zh-CN" altLang="en-US" dirty="0">
                <a:solidFill>
                  <a:schemeClr val="tx1"/>
                </a:solidFill>
              </a:rPr>
              <a:t>区域 （内存）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zh-CN" altLang="en-US" dirty="0">
                <a:solidFill>
                  <a:schemeClr val="tx1"/>
                </a:solidFill>
              </a:rPr>
              <a:t>好处：减少甚至避免磁盘</a:t>
            </a:r>
            <a:r>
              <a:rPr kumimoji="1" lang="en-US" altLang="zh-CN" dirty="0">
                <a:solidFill>
                  <a:schemeClr val="tx1"/>
                </a:solidFill>
              </a:rPr>
              <a:t>I/O</a:t>
            </a:r>
            <a:r>
              <a:rPr kumimoji="1" lang="zh-CN" altLang="en-US" dirty="0">
                <a:solidFill>
                  <a:schemeClr val="tx1"/>
                </a:solidFill>
              </a:rPr>
              <a:t>；增加设备寿命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endParaRPr kumimoji="1" lang="en-US" altLang="zh-CN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91F6A1-9A8F-664F-89B2-0562F45F4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0875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2F3159-BEBD-7E48-A94C-3258A562E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大页：再次回顾</a:t>
            </a:r>
            <a:r>
              <a:rPr kumimoji="1" lang="en-US" altLang="zh-CN" dirty="0"/>
              <a:t>4</a:t>
            </a:r>
            <a:r>
              <a:rPr kumimoji="1" lang="zh-CN" altLang="en-US" dirty="0"/>
              <a:t>级页表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9C6E22-140C-3240-B82F-B4044AE68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200698-3ED8-464D-A6AC-3B7175635C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060949"/>
            <a:ext cx="7177142" cy="4544512"/>
          </a:xfrm>
          <a:prstGeom prst="rect">
            <a:avLst/>
          </a:prstGeom>
        </p:spPr>
      </p:pic>
      <p:sp>
        <p:nvSpPr>
          <p:cNvPr id="6" name="圆角矩形 5">
            <a:extLst>
              <a:ext uri="{FF2B5EF4-FFF2-40B4-BE49-F238E27FC236}">
                <a16:creationId xmlns:a16="http://schemas.microsoft.com/office/drawing/2014/main" id="{487A42F4-14A3-F44F-BB85-E7CB985AC6BA}"/>
              </a:ext>
            </a:extLst>
          </p:cNvPr>
          <p:cNvSpPr/>
          <p:nvPr/>
        </p:nvSpPr>
        <p:spPr>
          <a:xfrm>
            <a:off x="2339752" y="3219318"/>
            <a:ext cx="4824536" cy="1726413"/>
          </a:xfrm>
          <a:prstGeom prst="roundRect">
            <a:avLst>
              <a:gd name="adj" fmla="val 32075"/>
            </a:avLst>
          </a:prstGeom>
          <a:noFill/>
          <a:ln w="508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16856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2EF521-1B62-174D-B0CF-BEE77DC56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大页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F27AF0-D2B0-324B-B803-58F8D0167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在</a:t>
            </a:r>
            <a:r>
              <a:rPr kumimoji="1" lang="en-US" altLang="zh-CN" dirty="0"/>
              <a:t>4</a:t>
            </a:r>
            <a:r>
              <a:rPr kumimoji="1" lang="zh-CN" altLang="en-US" dirty="0"/>
              <a:t>级页表中，某些页表项只保留两级或三级页表</a:t>
            </a:r>
            <a:endParaRPr kumimoji="1" lang="en-US" altLang="zh-CN" dirty="0"/>
          </a:p>
          <a:p>
            <a:r>
              <a:rPr kumimoji="1" lang="en-US" altLang="zh-CN" dirty="0"/>
              <a:t>L2</a:t>
            </a:r>
            <a:r>
              <a:rPr kumimoji="1" lang="zh-CN" altLang="en-US" dirty="0"/>
              <a:t>页表项的第</a:t>
            </a:r>
            <a:r>
              <a:rPr kumimoji="1" lang="en-US" altLang="zh-CN" dirty="0"/>
              <a:t>1</a:t>
            </a:r>
            <a:r>
              <a:rPr kumimoji="1" lang="zh-CN" altLang="en-US" dirty="0"/>
              <a:t>位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标识着该页表项中存储的物理地址（页号）是指向 </a:t>
            </a:r>
            <a:r>
              <a:rPr kumimoji="1" lang="en-US" altLang="zh-CN" dirty="0"/>
              <a:t>L3 </a:t>
            </a:r>
            <a:r>
              <a:rPr kumimoji="1" lang="zh-CN" altLang="en-US" dirty="0"/>
              <a:t>页表页（该位是 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）还是指向一个 </a:t>
            </a:r>
            <a:r>
              <a:rPr kumimoji="1" lang="en-US" altLang="zh-CN" dirty="0">
                <a:solidFill>
                  <a:srgbClr val="C00000"/>
                </a:solidFill>
              </a:rPr>
              <a:t>2M </a:t>
            </a:r>
            <a:r>
              <a:rPr kumimoji="1" lang="zh-CN" altLang="en-US" dirty="0">
                <a:solidFill>
                  <a:srgbClr val="C00000"/>
                </a:solidFill>
              </a:rPr>
              <a:t>的物理页</a:t>
            </a:r>
            <a:r>
              <a:rPr kumimoji="1" lang="zh-CN" altLang="en-US" dirty="0"/>
              <a:t>（该位是 </a:t>
            </a:r>
            <a:r>
              <a:rPr kumimoji="1" lang="en-US" altLang="zh-CN" dirty="0"/>
              <a:t>0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en-US" altLang="zh-CN" dirty="0"/>
              <a:t>L1</a:t>
            </a:r>
            <a:r>
              <a:rPr kumimoji="1" lang="zh-CN" altLang="en-US" dirty="0"/>
              <a:t>页表项的第</a:t>
            </a:r>
            <a:r>
              <a:rPr kumimoji="1" lang="en-US" altLang="zh-CN" dirty="0"/>
              <a:t>1</a:t>
            </a:r>
            <a:r>
              <a:rPr kumimoji="1" lang="zh-CN" altLang="en-US" dirty="0"/>
              <a:t>位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类似地，可以指向一个 </a:t>
            </a:r>
            <a:r>
              <a:rPr kumimoji="1" lang="en-US" altLang="zh-CN" dirty="0">
                <a:solidFill>
                  <a:srgbClr val="C00000"/>
                </a:solidFill>
              </a:rPr>
              <a:t>1G </a:t>
            </a:r>
            <a:r>
              <a:rPr kumimoji="1" lang="zh-CN" altLang="en-US" dirty="0">
                <a:solidFill>
                  <a:srgbClr val="C00000"/>
                </a:solidFill>
              </a:rPr>
              <a:t>的物理页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284C8B-1E53-F249-A44B-D9E8E6D9C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3474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2F3159-BEBD-7E48-A94C-3258A562E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大页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9C6E22-140C-3240-B82F-B4044AE68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200698-3ED8-464D-A6AC-3B7175635C3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12" r="16891" b="19784"/>
          <a:stretch/>
        </p:blipFill>
        <p:spPr>
          <a:xfrm>
            <a:off x="683568" y="1556951"/>
            <a:ext cx="6687845" cy="1656184"/>
          </a:xfrm>
          <a:prstGeom prst="rect">
            <a:avLst/>
          </a:prstGeom>
        </p:spPr>
      </p:pic>
      <p:cxnSp>
        <p:nvCxnSpPr>
          <p:cNvPr id="8" name="肘形连接符 7">
            <a:extLst>
              <a:ext uri="{FF2B5EF4-FFF2-40B4-BE49-F238E27FC236}">
                <a16:creationId xmlns:a16="http://schemas.microsoft.com/office/drawing/2014/main" id="{494B66F3-7D8D-6F44-8F33-EA1726820787}"/>
              </a:ext>
            </a:extLst>
          </p:cNvPr>
          <p:cNvCxnSpPr/>
          <p:nvPr/>
        </p:nvCxnSpPr>
        <p:spPr>
          <a:xfrm>
            <a:off x="7308304" y="2569468"/>
            <a:ext cx="1216152" cy="1106424"/>
          </a:xfrm>
          <a:prstGeom prst="bentConnector3">
            <a:avLst>
              <a:gd name="adj1" fmla="val 10124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折角形 11">
            <a:extLst>
              <a:ext uri="{FF2B5EF4-FFF2-40B4-BE49-F238E27FC236}">
                <a16:creationId xmlns:a16="http://schemas.microsoft.com/office/drawing/2014/main" id="{6FC42FE6-86A2-B84F-89F5-EC4080DBEA19}"/>
              </a:ext>
            </a:extLst>
          </p:cNvPr>
          <p:cNvSpPr/>
          <p:nvPr/>
        </p:nvSpPr>
        <p:spPr>
          <a:xfrm>
            <a:off x="8244408" y="3649588"/>
            <a:ext cx="576064" cy="648072"/>
          </a:xfrm>
          <a:prstGeom prst="foldedCorne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cxnSp>
        <p:nvCxnSpPr>
          <p:cNvPr id="13" name="肘形连接符 12">
            <a:extLst>
              <a:ext uri="{FF2B5EF4-FFF2-40B4-BE49-F238E27FC236}">
                <a16:creationId xmlns:a16="http://schemas.microsoft.com/office/drawing/2014/main" id="{529CB310-937E-2F43-A0C2-352FCDA53745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23896" y="3071604"/>
            <a:ext cx="925516" cy="283064"/>
          </a:xfrm>
          <a:prstGeom prst="bentConnector3">
            <a:avLst>
              <a:gd name="adj1" fmla="val 33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折角形 22">
            <a:extLst>
              <a:ext uri="{FF2B5EF4-FFF2-40B4-BE49-F238E27FC236}">
                <a16:creationId xmlns:a16="http://schemas.microsoft.com/office/drawing/2014/main" id="{3BB05777-DE0C-0049-ADE8-F06E461F606C}"/>
              </a:ext>
            </a:extLst>
          </p:cNvPr>
          <p:cNvSpPr/>
          <p:nvPr/>
        </p:nvSpPr>
        <p:spPr>
          <a:xfrm>
            <a:off x="5945122" y="3640778"/>
            <a:ext cx="859126" cy="1034418"/>
          </a:xfrm>
          <a:prstGeom prst="foldedCorne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2M</a:t>
            </a:r>
            <a:endParaRPr kumimoji="1" lang="zh-CN" altLang="en-US" dirty="0"/>
          </a:p>
        </p:txBody>
      </p:sp>
      <p:cxnSp>
        <p:nvCxnSpPr>
          <p:cNvPr id="24" name="肘形连接符 23">
            <a:extLst>
              <a:ext uri="{FF2B5EF4-FFF2-40B4-BE49-F238E27FC236}">
                <a16:creationId xmlns:a16="http://schemas.microsoft.com/office/drawing/2014/main" id="{6437E2A2-873F-984F-B7EB-57F7D2743CFA}"/>
              </a:ext>
            </a:extLst>
          </p:cNvPr>
          <p:cNvCxnSpPr>
            <a:cxnSpLocks/>
          </p:cNvCxnSpPr>
          <p:nvPr/>
        </p:nvCxnSpPr>
        <p:spPr>
          <a:xfrm rot="16200000" flipH="1">
            <a:off x="4035279" y="2846166"/>
            <a:ext cx="1388273" cy="271177"/>
          </a:xfrm>
          <a:prstGeom prst="bentConnector3">
            <a:avLst>
              <a:gd name="adj1" fmla="val 79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折角形 27">
            <a:extLst>
              <a:ext uri="{FF2B5EF4-FFF2-40B4-BE49-F238E27FC236}">
                <a16:creationId xmlns:a16="http://schemas.microsoft.com/office/drawing/2014/main" id="{717A98F6-AA0F-7045-A07F-53E25B4F9E77}"/>
              </a:ext>
            </a:extLst>
          </p:cNvPr>
          <p:cNvSpPr/>
          <p:nvPr/>
        </p:nvSpPr>
        <p:spPr>
          <a:xfrm>
            <a:off x="4365916" y="3649588"/>
            <a:ext cx="1075150" cy="1512168"/>
          </a:xfrm>
          <a:prstGeom prst="foldedCorne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1G</a:t>
            </a:r>
            <a:endParaRPr kumimoji="1"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232ADFD-3E14-364C-A762-19C431D25C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885" y="3812016"/>
            <a:ext cx="3682752" cy="135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0584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165B9A-4063-F747-97FA-A2D09F7C3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大页的利弊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CB407D-F95B-C145-867A-EBFC4C1E7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400" dirty="0"/>
              <a:t>好处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减少</a:t>
            </a:r>
            <a:r>
              <a:rPr kumimoji="1" lang="en-US" altLang="zh-CN" sz="2000" dirty="0"/>
              <a:t>TLB</a:t>
            </a:r>
            <a:r>
              <a:rPr kumimoji="1" lang="zh-CN" altLang="en-US" sz="2000" dirty="0"/>
              <a:t>缓存项的使用，提高 </a:t>
            </a:r>
            <a:r>
              <a:rPr kumimoji="1" lang="en-US" altLang="zh-CN" sz="2000" dirty="0"/>
              <a:t>TLB </a:t>
            </a:r>
            <a:r>
              <a:rPr kumimoji="1" lang="zh-CN" altLang="en-US" sz="2000" dirty="0"/>
              <a:t>命中率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减少页表的级数，提升遍历页表的效率</a:t>
            </a:r>
            <a:endParaRPr kumimoji="1" lang="en-US" altLang="zh-CN" sz="2000" dirty="0"/>
          </a:p>
          <a:p>
            <a:r>
              <a:rPr kumimoji="1" lang="zh-CN" altLang="en-US" sz="2400" dirty="0"/>
              <a:t>案例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提供</a:t>
            </a:r>
            <a:r>
              <a:rPr kumimoji="1" lang="en-US" altLang="zh-CN" sz="2000" dirty="0"/>
              <a:t>API</a:t>
            </a:r>
            <a:r>
              <a:rPr kumimoji="1" lang="zh-CN" altLang="en-US" sz="2000" dirty="0"/>
              <a:t>允许应用程序进行显示的大页分配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透明大页（</a:t>
            </a:r>
            <a:r>
              <a:rPr kumimoji="1" lang="en-US" altLang="zh-CN" sz="2000" dirty="0"/>
              <a:t>Transparent Huge Pages) </a:t>
            </a:r>
            <a:r>
              <a:rPr kumimoji="1" lang="zh-CN" altLang="en-US" sz="2000" dirty="0"/>
              <a:t>机制</a:t>
            </a:r>
            <a:endParaRPr kumimoji="1" lang="en-US" altLang="zh-CN" sz="2000" dirty="0"/>
          </a:p>
          <a:p>
            <a:r>
              <a:rPr kumimoji="1" lang="zh-CN" altLang="en-US" sz="2400" dirty="0"/>
              <a:t>弊端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未使用整个大页而造成物理内存资源浪费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增加管理内存的复杂度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5B16B9-F136-A341-AD43-917A67386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1264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844E9E-16DA-1343-BB5F-71E02E11D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AARCH64</a:t>
            </a:r>
            <a:r>
              <a:rPr kumimoji="1" lang="zh-CN" altLang="en-US" dirty="0"/>
              <a:t>支持多种最小页面大小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096F52-C8F8-B14E-BB7A-403AC142D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0297"/>
            <a:ext cx="8229600" cy="4381499"/>
          </a:xfrm>
        </p:spPr>
        <p:txBody>
          <a:bodyPr>
            <a:normAutofit/>
          </a:bodyPr>
          <a:lstStyle/>
          <a:p>
            <a:r>
              <a:rPr kumimoji="1" lang="en-US" altLang="zh-CN" sz="2400" dirty="0"/>
              <a:t>x86_64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4K</a:t>
            </a:r>
          </a:p>
          <a:p>
            <a:r>
              <a:rPr kumimoji="1" lang="en-US" altLang="zh-CN" sz="2400" dirty="0"/>
              <a:t>AARCH64</a:t>
            </a:r>
          </a:p>
          <a:p>
            <a:pPr lvl="1"/>
            <a:r>
              <a:rPr kumimoji="1" lang="en-US" altLang="zh-CN" sz="2000" dirty="0"/>
              <a:t>TCR_EL1</a:t>
            </a:r>
            <a:r>
              <a:rPr kumimoji="1" lang="zh-CN" altLang="en-US" sz="2000" dirty="0"/>
              <a:t>可以配置</a:t>
            </a:r>
            <a:r>
              <a:rPr kumimoji="1" lang="en-US" altLang="zh-CN" sz="2000" dirty="0"/>
              <a:t>3</a:t>
            </a:r>
            <a:r>
              <a:rPr kumimoji="1" lang="zh-CN" altLang="en-US" sz="2000" dirty="0"/>
              <a:t>种：</a:t>
            </a:r>
            <a:r>
              <a:rPr kumimoji="1" lang="en-US" altLang="zh-CN" sz="2000" dirty="0"/>
              <a:t>4K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16K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64K</a:t>
            </a:r>
          </a:p>
          <a:p>
            <a:pPr lvl="1"/>
            <a:r>
              <a:rPr kumimoji="1" lang="en-US" altLang="zh-CN" sz="2000" dirty="0"/>
              <a:t>4K</a:t>
            </a:r>
            <a:r>
              <a:rPr kumimoji="1" lang="zh-CN" altLang="en-US" sz="2000" dirty="0"/>
              <a:t>   </a:t>
            </a:r>
            <a:r>
              <a:rPr kumimoji="1" lang="en-US" altLang="zh-CN" sz="2000" dirty="0"/>
              <a:t>+ </a:t>
            </a:r>
            <a:r>
              <a:rPr kumimoji="1" lang="zh-CN" altLang="en-US" sz="2000" dirty="0"/>
              <a:t>大页：</a:t>
            </a:r>
            <a:r>
              <a:rPr kumimoji="1" lang="en-US" altLang="zh-CN" sz="2000" dirty="0"/>
              <a:t>2M/1G</a:t>
            </a:r>
          </a:p>
          <a:p>
            <a:pPr lvl="1"/>
            <a:r>
              <a:rPr kumimoji="1" lang="en-US" altLang="zh-CN" sz="2000" dirty="0"/>
              <a:t>16K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 大页：</a:t>
            </a:r>
            <a:r>
              <a:rPr kumimoji="1" lang="en-US" altLang="zh-CN" sz="2000" dirty="0"/>
              <a:t>32M</a:t>
            </a:r>
            <a:r>
              <a:rPr kumimoji="1" lang="zh-CN" altLang="en-US" sz="2000" dirty="0"/>
              <a:t>（</a:t>
            </a:r>
            <a:r>
              <a:rPr kumimoji="1" lang="zh-CN" altLang="en-US" sz="2000" dirty="0">
                <a:solidFill>
                  <a:srgbClr val="C00000"/>
                </a:solidFill>
              </a:rPr>
              <a:t>思考为什么是</a:t>
            </a:r>
            <a:r>
              <a:rPr kumimoji="1" lang="en-US" altLang="zh-CN" sz="2000" dirty="0">
                <a:solidFill>
                  <a:srgbClr val="C00000"/>
                </a:solidFill>
              </a:rPr>
              <a:t>32M</a:t>
            </a:r>
            <a:r>
              <a:rPr kumimoji="1" lang="zh-CN" altLang="en-US" sz="2000" dirty="0">
                <a:solidFill>
                  <a:srgbClr val="C00000"/>
                </a:solidFill>
              </a:rPr>
              <a:t>？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只有</a:t>
            </a:r>
            <a:r>
              <a:rPr kumimoji="1" lang="en-US" altLang="zh-CN" sz="1800" dirty="0"/>
              <a:t>L2</a:t>
            </a:r>
            <a:r>
              <a:rPr kumimoji="1" lang="zh-CN" altLang="en-US" sz="1800" dirty="0"/>
              <a:t>页表项支持大页</a:t>
            </a:r>
            <a:endParaRPr kumimoji="1" lang="en-US" altLang="zh-CN" sz="1800" dirty="0"/>
          </a:p>
          <a:p>
            <a:pPr lvl="1"/>
            <a:r>
              <a:rPr kumimoji="1" lang="en-US" altLang="zh-CN" sz="2000" dirty="0"/>
              <a:t>64K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 大页：</a:t>
            </a:r>
            <a:r>
              <a:rPr kumimoji="1" lang="en-US" altLang="zh-CN" sz="2000" dirty="0"/>
              <a:t>512M</a:t>
            </a:r>
          </a:p>
          <a:p>
            <a:pPr lvl="2"/>
            <a:r>
              <a:rPr kumimoji="1" lang="zh-CN" altLang="en-US" sz="1800" dirty="0"/>
              <a:t>只有</a:t>
            </a:r>
            <a:r>
              <a:rPr kumimoji="1" lang="en-US" altLang="zh-CN" sz="1800" dirty="0"/>
              <a:t>L2</a:t>
            </a:r>
            <a:r>
              <a:rPr kumimoji="1" lang="zh-CN" altLang="en-US" sz="1800" dirty="0"/>
              <a:t>页表项支持大页 （</a:t>
            </a:r>
            <a:r>
              <a:rPr kumimoji="1" lang="en-US" altLang="zh-CN" sz="1800" dirty="0"/>
              <a:t>ARMv8.2</a:t>
            </a:r>
            <a:r>
              <a:rPr kumimoji="1" lang="zh-CN" altLang="en-US" sz="1800" dirty="0"/>
              <a:t>之前）</a:t>
            </a:r>
            <a:endParaRPr kumimoji="1" lang="en-US" altLang="zh-CN" sz="1800" dirty="0"/>
          </a:p>
          <a:p>
            <a:pPr lvl="1"/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B7D884-8D38-0541-815B-8505A1952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3514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1CB21C-FC96-D343-AD39-A50AAC694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思考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54CB87-6CF3-C646-86A6-EEA6F1C86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4267732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什么情况适合使用大页？</a:t>
            </a:r>
            <a:endParaRPr kumimoji="1" lang="en-US" altLang="zh-CN" sz="2000" dirty="0"/>
          </a:p>
          <a:p>
            <a:r>
              <a:rPr kumimoji="1" lang="zh-CN" altLang="en-US" sz="2000" dirty="0"/>
              <a:t>在物理内存足够大的今天，虚拟内存是否还有存在的必要？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如果不使用虚拟内存抽象，恢复到只用物理内存寻址，会带来哪些改变？哪些场景适合？</a:t>
            </a:r>
          </a:p>
          <a:p>
            <a:r>
              <a:rPr kumimoji="1" lang="zh-CN" altLang="en-US" sz="2000" dirty="0"/>
              <a:t>如果不依靠 </a:t>
            </a:r>
            <a:r>
              <a:rPr kumimoji="1" lang="en-US" altLang="zh-CN" sz="2000" dirty="0"/>
              <a:t>MMU</a:t>
            </a:r>
            <a:r>
              <a:rPr kumimoji="1" lang="zh-CN" altLang="en-US" sz="2000" dirty="0"/>
              <a:t>，是否有可以替换虚拟内存的方法？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基于高级语言实现多个同一个地址空间内运行实例的隔离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基于编译器插桩实现多个运行实例的隔离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更多可参考 </a:t>
            </a:r>
            <a:r>
              <a:rPr kumimoji="1" lang="en-US" altLang="zh-CN" sz="1800" dirty="0"/>
              <a:t>Software Fault Isolation</a:t>
            </a:r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41B43E-F7F3-844A-905E-BB0B73C2B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72625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>
            <a:extLst>
              <a:ext uri="{FF2B5EF4-FFF2-40B4-BE49-F238E27FC236}">
                <a16:creationId xmlns:a16="http://schemas.microsoft.com/office/drawing/2014/main" id="{894B94B3-BE7D-AA45-B413-A5601EAB6C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544" y="337220"/>
            <a:ext cx="6667500" cy="731573"/>
          </a:xfrm>
        </p:spPr>
        <p:txBody>
          <a:bodyPr/>
          <a:lstStyle/>
          <a:p>
            <a:pPr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虚拟内存机制的优势</a:t>
            </a:r>
            <a:endParaRPr lang="en-GB" altLang="zh-CN" dirty="0">
              <a:ea typeface="宋体" panose="02010600030101010101" pitchFamily="2" charset="-122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D7FDDE60-DEF0-4947-BD48-5FD53C0C95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7847" y="1255572"/>
            <a:ext cx="6985000" cy="4122208"/>
          </a:xfrm>
        </p:spPr>
        <p:txBody>
          <a:bodyPr>
            <a:normAutofit/>
          </a:bodyPr>
          <a:lstStyle/>
          <a:p>
            <a:pPr>
              <a:lnSpc>
                <a:spcPct val="83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400" dirty="0">
                <a:latin typeface="+mn-ea"/>
              </a:rPr>
              <a:t>高效使用物理内存</a:t>
            </a:r>
            <a:endParaRPr lang="en-GB" altLang="zh-CN" sz="2400" dirty="0">
              <a:latin typeface="+mn-ea"/>
              <a:ea typeface="+mn-ea"/>
            </a:endParaRPr>
          </a:p>
          <a:p>
            <a:pPr lvl="1"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000" dirty="0">
                <a:latin typeface="+mn-ea"/>
                <a:ea typeface="+mn-ea"/>
              </a:rPr>
              <a:t>使用 </a:t>
            </a:r>
            <a:r>
              <a:rPr lang="en" altLang="zh-CN" sz="2000" dirty="0">
                <a:latin typeface="+mn-ea"/>
                <a:ea typeface="+mn-ea"/>
              </a:rPr>
              <a:t>DRAM </a:t>
            </a:r>
            <a:r>
              <a:rPr lang="zh-CN" altLang="en-US" sz="2000" dirty="0">
                <a:latin typeface="+mn-ea"/>
                <a:ea typeface="+mn-ea"/>
              </a:rPr>
              <a:t>作为虚拟地址空间的缓存</a:t>
            </a:r>
            <a:endParaRPr lang="en-GB" altLang="zh-CN" sz="2000" dirty="0">
              <a:latin typeface="+mn-ea"/>
              <a:ea typeface="+mn-ea"/>
            </a:endParaRPr>
          </a:p>
          <a:p>
            <a:pPr marL="0" indent="0">
              <a:buNone/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endParaRPr lang="en-GB" altLang="zh-CN" sz="600" dirty="0">
              <a:latin typeface="+mn-ea"/>
              <a:ea typeface="+mn-ea"/>
            </a:endParaRPr>
          </a:p>
          <a:p>
            <a:pPr>
              <a:lnSpc>
                <a:spcPct val="83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GB" sz="2400" dirty="0">
                <a:latin typeface="+mn-ea"/>
                <a:ea typeface="+mn-ea"/>
              </a:rPr>
              <a:t>简化内存管理</a:t>
            </a:r>
            <a:endParaRPr lang="en-GB" altLang="zh-CN" sz="2400" dirty="0">
              <a:latin typeface="+mn-ea"/>
              <a:ea typeface="+mn-ea"/>
            </a:endParaRPr>
          </a:p>
          <a:p>
            <a:pPr lvl="1"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GB" sz="2000" dirty="0">
                <a:latin typeface="+mn-ea"/>
                <a:ea typeface="+mn-ea"/>
              </a:rPr>
              <a:t>每个</a:t>
            </a:r>
            <a:r>
              <a:rPr lang="zh-CN" altLang="en-US" sz="2000" dirty="0">
                <a:latin typeface="+mn-ea"/>
                <a:ea typeface="+mn-ea"/>
              </a:rPr>
              <a:t>进程看到的是统一的线性地址空间</a:t>
            </a:r>
            <a:endParaRPr lang="en-GB" altLang="zh-CN" sz="2000" dirty="0">
              <a:latin typeface="+mn-ea"/>
              <a:ea typeface="+mn-ea"/>
            </a:endParaRPr>
          </a:p>
          <a:p>
            <a:pPr marL="0" indent="0">
              <a:lnSpc>
                <a:spcPct val="88000"/>
              </a:lnSpc>
              <a:buNone/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endParaRPr lang="en-GB" altLang="zh-CN" sz="600" dirty="0">
              <a:latin typeface="+mn-ea"/>
              <a:ea typeface="+mn-ea"/>
            </a:endParaRPr>
          </a:p>
          <a:p>
            <a:pPr>
              <a:lnSpc>
                <a:spcPct val="83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400" dirty="0">
                <a:latin typeface="+mn-ea"/>
                <a:ea typeface="+mn-ea"/>
              </a:rPr>
              <a:t>更强的</a:t>
            </a:r>
            <a:r>
              <a:rPr lang="zh-CN" altLang="en-GB" sz="2400" dirty="0">
                <a:latin typeface="+mn-ea"/>
                <a:ea typeface="+mn-ea"/>
              </a:rPr>
              <a:t>隔离</a:t>
            </a:r>
            <a:r>
              <a:rPr lang="zh-CN" altLang="en-US" sz="2400" dirty="0">
                <a:latin typeface="+mn-ea"/>
                <a:ea typeface="+mn-ea"/>
              </a:rPr>
              <a:t>与更细的权限控制</a:t>
            </a:r>
            <a:endParaRPr lang="en-GB" altLang="zh-CN" sz="2400" dirty="0">
              <a:latin typeface="+mn-ea"/>
              <a:ea typeface="+mn-ea"/>
            </a:endParaRPr>
          </a:p>
          <a:p>
            <a:pPr lvl="1"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GB" sz="2000" dirty="0">
                <a:latin typeface="+mn-ea"/>
                <a:ea typeface="+mn-ea"/>
              </a:rPr>
              <a:t>一个进程</a:t>
            </a:r>
            <a:r>
              <a:rPr lang="zh-CN" altLang="en-US" sz="2000" dirty="0">
                <a:latin typeface="+mn-ea"/>
                <a:ea typeface="+mn-ea"/>
              </a:rPr>
              <a:t>不能访问属于其他进程的内存</a:t>
            </a:r>
            <a:r>
              <a:rPr lang="en-GB" altLang="zh-CN" sz="2000" dirty="0">
                <a:latin typeface="+mn-ea"/>
                <a:ea typeface="+mn-ea"/>
              </a:rPr>
              <a:t>	</a:t>
            </a:r>
          </a:p>
          <a:p>
            <a:pPr lvl="1"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000" dirty="0">
                <a:latin typeface="+mn-ea"/>
                <a:ea typeface="+mn-ea"/>
              </a:rPr>
              <a:t>用户程序不能够访问特权更高的内核信息</a:t>
            </a:r>
            <a:endParaRPr lang="en-US" altLang="zh-CN" sz="2000" dirty="0">
              <a:latin typeface="+mn-ea"/>
              <a:ea typeface="+mn-ea"/>
            </a:endParaRPr>
          </a:p>
          <a:p>
            <a:pPr lvl="1"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000" dirty="0">
                <a:latin typeface="+mn-ea"/>
                <a:ea typeface="+mn-ea"/>
              </a:rPr>
              <a:t>不同内存页的读、写、执行权限可以不同</a:t>
            </a:r>
            <a:endParaRPr lang="en-GB" altLang="zh-CN" sz="2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0116153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3C5294-CE55-3648-9B9D-DC0970059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物理内存管理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DBEFCB-432B-1947-B96A-8A455C664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CDE3D1-6768-1D46-B27F-71706BA4B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49449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C1B477-41D1-B940-8675-CA586966D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OS</a:t>
            </a:r>
            <a:r>
              <a:rPr kumimoji="1" lang="zh-CN" altLang="en-US" dirty="0"/>
              <a:t>什么时候需要考虑物理内存？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EF446C-97F6-F34F-B88C-070FA5995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400" dirty="0"/>
              <a:t>引入虚拟内存后，物理内存主要在以下四个场景出现：</a:t>
            </a:r>
            <a:endParaRPr kumimoji="1" lang="en-US" altLang="zh-CN" sz="24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用户态应用程序触发</a:t>
            </a:r>
            <a:r>
              <a:rPr kumimoji="1" lang="en-US" altLang="zh-CN" sz="2000" dirty="0"/>
              <a:t>on-demand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paging</a:t>
            </a:r>
            <a:r>
              <a:rPr kumimoji="1" lang="zh-CN" altLang="en-US" sz="2000" dirty="0"/>
              <a:t>时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此时内核需要分配物理内存页，映射到对应的虚拟页</a:t>
            </a:r>
            <a:endParaRPr kumimoji="1" lang="en-US" altLang="zh-CN" sz="18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内核自己申请内存并使用时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用于内核自身的数据结构，通常通过</a:t>
            </a:r>
            <a:r>
              <a:rPr kumimoji="1" lang="en-US" altLang="zh-CN" sz="1800" dirty="0" err="1"/>
              <a:t>kmalloc</a:t>
            </a:r>
            <a:r>
              <a:rPr kumimoji="1" lang="en-US" altLang="zh-CN" sz="1800" dirty="0"/>
              <a:t>()</a:t>
            </a:r>
            <a:r>
              <a:rPr kumimoji="1" lang="zh-CN" altLang="en-US" sz="1800" dirty="0"/>
              <a:t>完成</a:t>
            </a:r>
            <a:endParaRPr kumimoji="1" lang="en-US" altLang="zh-CN" sz="18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内核申请用于设备的</a:t>
            </a:r>
            <a:r>
              <a:rPr kumimoji="1" lang="en-US" altLang="zh-CN" sz="2000" dirty="0"/>
              <a:t>DMA</a:t>
            </a:r>
            <a:r>
              <a:rPr kumimoji="1" lang="zh-CN" altLang="en-US" sz="2000" dirty="0"/>
              <a:t>缓存时</a:t>
            </a:r>
            <a:endParaRPr kumimoji="1" lang="en-US" altLang="zh-CN" sz="2000" dirty="0"/>
          </a:p>
          <a:p>
            <a:pPr lvl="2"/>
            <a:r>
              <a:rPr kumimoji="1" lang="en-US" altLang="zh-CN" sz="1800" dirty="0"/>
              <a:t>DMA</a:t>
            </a:r>
            <a:r>
              <a:rPr kumimoji="1" lang="zh-CN" altLang="en-US" sz="1800" dirty="0"/>
              <a:t>缓存通常需要连续的物理页</a:t>
            </a:r>
            <a:endParaRPr kumimoji="1" lang="en-US" altLang="zh-CN" sz="18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发生换页（</a:t>
            </a:r>
            <a:r>
              <a:rPr kumimoji="1" lang="en-US" altLang="zh-CN" sz="2000" dirty="0"/>
              <a:t>swapping</a:t>
            </a:r>
            <a:r>
              <a:rPr kumimoji="1" lang="zh-CN" altLang="en-US" sz="2000" dirty="0"/>
              <a:t>）时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通过磁盘来扩展物理内存的容量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E981EE-79CF-2347-A146-5320ACD53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27918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8E73D7-8D8B-A145-98E8-2BBB1D818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场景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：应用触发</a:t>
            </a:r>
            <a:r>
              <a:rPr kumimoji="1" lang="en-US" altLang="zh-CN" dirty="0"/>
              <a:t>on-demand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BB005A-6DED-6C40-8C1E-54645ECB0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kumimoji="1" lang="zh-CN" altLang="en-US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问：当应用调用</a:t>
            </a:r>
            <a:r>
              <a:rPr kumimoji="1" lang="en-US" altLang="zh-CN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malloc</a:t>
            </a:r>
            <a:r>
              <a:rPr kumimoji="1" lang="zh-CN" altLang="en-US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时，与物理内存是否有关？</a:t>
            </a:r>
            <a:endParaRPr kumimoji="1" lang="en-US" altLang="zh-CN" sz="24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1"/>
            <a:r>
              <a:rPr kumimoji="1" lang="zh-CN" altLang="en-US" sz="2000" dirty="0"/>
              <a:t>应用调用</a:t>
            </a:r>
            <a:r>
              <a:rPr kumimoji="1" lang="en-US" altLang="zh-CN" sz="2000" dirty="0"/>
              <a:t>malloc</a:t>
            </a:r>
            <a:r>
              <a:rPr kumimoji="1" lang="zh-CN" altLang="en-US" sz="2000" dirty="0"/>
              <a:t>时，内核仅仅为其分配虚拟地址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此时虚拟地址对应的</a:t>
            </a:r>
            <a:r>
              <a:rPr kumimoji="1" lang="en-US" altLang="zh-CN" sz="2000" dirty="0"/>
              <a:t>VMA</a:t>
            </a:r>
            <a:r>
              <a:rPr kumimoji="1" lang="zh-CN" altLang="en-US" sz="2000" dirty="0"/>
              <a:t>为</a:t>
            </a:r>
            <a:r>
              <a:rPr kumimoji="1" lang="en-US" altLang="zh-CN" sz="2000" dirty="0"/>
              <a:t>valid</a:t>
            </a:r>
            <a:r>
              <a:rPr kumimoji="1" lang="zh-CN" altLang="en-US" sz="2000" dirty="0"/>
              <a:t>，但对应页表的</a:t>
            </a:r>
            <a:r>
              <a:rPr kumimoji="1" lang="en-US" altLang="zh-CN" sz="2000" dirty="0"/>
              <a:t>valid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bit</a:t>
            </a:r>
            <a:r>
              <a:rPr kumimoji="1" lang="zh-CN" altLang="en-US" sz="2000" dirty="0"/>
              <a:t>为</a:t>
            </a:r>
            <a:r>
              <a:rPr kumimoji="1" lang="en-US" altLang="zh-CN" sz="2000" dirty="0"/>
              <a:t>0</a:t>
            </a:r>
          </a:p>
          <a:p>
            <a:pPr lvl="1"/>
            <a:r>
              <a:rPr kumimoji="1" lang="zh-CN" altLang="en-US" sz="2000" dirty="0"/>
              <a:t>当第一次访问新分配的虚拟地址时，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会触发</a:t>
            </a:r>
            <a:r>
              <a:rPr kumimoji="1" lang="en-US" altLang="zh-CN" sz="2000" dirty="0"/>
              <a:t>page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fault</a:t>
            </a:r>
            <a:endParaRPr kumimoji="1" lang="zh-CN" altLang="en-US" sz="2000" dirty="0"/>
          </a:p>
          <a:p>
            <a:r>
              <a:rPr kumimoji="1" lang="zh-CN" altLang="en-US" sz="2400" dirty="0"/>
              <a:t>操作系统需要做（即</a:t>
            </a:r>
            <a:r>
              <a:rPr kumimoji="1" lang="en-US" altLang="zh-CN" sz="2400" dirty="0"/>
              <a:t>page-fault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handler</a:t>
            </a:r>
            <a:r>
              <a:rPr kumimoji="1" lang="zh-CN" altLang="en-US" sz="2400" dirty="0"/>
              <a:t>）：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找到一块空闲的物理内存页 </a:t>
            </a:r>
            <a:r>
              <a:rPr kumimoji="1" lang="en-US" altLang="zh-CN" sz="2000" b="1" dirty="0">
                <a:solidFill>
                  <a:schemeClr val="accent1"/>
                </a:solidFill>
              </a:rPr>
              <a:t>←</a:t>
            </a:r>
            <a:r>
              <a:rPr kumimoji="1" lang="zh-CN" altLang="en-US" sz="2000" b="1" dirty="0">
                <a:solidFill>
                  <a:schemeClr val="accent1"/>
                </a:solidFill>
              </a:rPr>
              <a:t> 物理内存管理（页粒度）</a:t>
            </a:r>
            <a:endParaRPr kumimoji="1" lang="en-US" altLang="zh-CN" sz="2000" b="1" dirty="0">
              <a:solidFill>
                <a:schemeClr val="accent1"/>
              </a:solidFill>
            </a:endParaRPr>
          </a:p>
          <a:p>
            <a:pPr lvl="1"/>
            <a:r>
              <a:rPr kumimoji="1" lang="zh-CN" altLang="en-US" sz="2000" dirty="0"/>
              <a:t>修改页表，将该物理页映射到触发</a:t>
            </a:r>
            <a:r>
              <a:rPr kumimoji="1" lang="en-US" altLang="zh-CN" sz="2000" dirty="0"/>
              <a:t>page-fault</a:t>
            </a:r>
            <a:r>
              <a:rPr kumimoji="1" lang="zh-CN" altLang="en-US" sz="2000" dirty="0"/>
              <a:t>的虚地址所在虚拟页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回到应用，重复执行触发</a:t>
            </a:r>
            <a:r>
              <a:rPr kumimoji="1" lang="en-US" altLang="zh-CN" sz="2000" dirty="0"/>
              <a:t>page-fault</a:t>
            </a:r>
            <a:r>
              <a:rPr kumimoji="1" lang="zh-CN" altLang="en-US" sz="2000" dirty="0"/>
              <a:t>的那行代码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A76933-EDF1-CE47-9C65-4BA3A6856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9268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71F83-1ECC-6D43-AEA9-4DB89144D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场景</a:t>
            </a:r>
            <a:r>
              <a:rPr kumimoji="1" lang="en-US" altLang="zh-CN" dirty="0"/>
              <a:t>-2</a:t>
            </a:r>
            <a:r>
              <a:rPr kumimoji="1" lang="zh-CN" altLang="en-US" dirty="0"/>
              <a:t>：内核自身用到的数据结构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C6B146-7BD4-EC4B-8682-77C09C3C6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内核运行过程中也需要用到动态内存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例如：挂载文件系统后需要大量</a:t>
            </a:r>
            <a:r>
              <a:rPr kumimoji="1" lang="en-US" altLang="zh-CN" sz="2000" dirty="0" err="1"/>
              <a:t>dentry</a:t>
            </a:r>
            <a:r>
              <a:rPr kumimoji="1" lang="zh-CN" altLang="en-US" sz="2000" dirty="0"/>
              <a:t>数据结构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动态性：用时分配，用完释放，类似用户态的</a:t>
            </a:r>
            <a:r>
              <a:rPr kumimoji="1" lang="en-US" altLang="zh-CN" sz="2000" dirty="0"/>
              <a:t>malloc</a:t>
            </a:r>
          </a:p>
          <a:p>
            <a:pPr lvl="1"/>
            <a:r>
              <a:rPr kumimoji="1" lang="zh-CN" altLang="en-US" sz="2000" dirty="0"/>
              <a:t>申请到的内存，不一定是页粒度，可能更细（特点</a:t>
            </a:r>
            <a:r>
              <a:rPr kumimoji="1" lang="en-US" altLang="zh-CN" sz="2000" dirty="0"/>
              <a:t>-1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r>
              <a:rPr kumimoji="1" lang="zh-CN" altLang="en-US" sz="2400" dirty="0"/>
              <a:t>问：为什么不使用与</a:t>
            </a:r>
            <a:r>
              <a:rPr kumimoji="1" lang="en-US" altLang="zh-CN" sz="2400" dirty="0"/>
              <a:t>malloc</a:t>
            </a:r>
            <a:r>
              <a:rPr kumimoji="1" lang="zh-CN" altLang="en-US" sz="2400" dirty="0"/>
              <a:t>类似的机制？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即先分配虚拟地址，然后通过</a:t>
            </a:r>
            <a:r>
              <a:rPr kumimoji="1" lang="en-US" altLang="zh-CN" sz="2000" dirty="0"/>
              <a:t>on-demand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paging</a:t>
            </a:r>
            <a:r>
              <a:rPr kumimoji="1" lang="zh-CN" altLang="en-US" sz="2000" dirty="0"/>
              <a:t>分配物理页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对内核来说，开销太大：这是内核中发生的</a:t>
            </a:r>
            <a:r>
              <a:rPr kumimoji="1" lang="en-US" altLang="zh-CN" sz="2000" dirty="0"/>
              <a:t>page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fault</a:t>
            </a:r>
            <a:r>
              <a:rPr kumimoji="1" lang="zh-CN" altLang="en-US" sz="2000" dirty="0"/>
              <a:t>！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若要不触发</a:t>
            </a:r>
            <a:r>
              <a:rPr kumimoji="1" lang="en-US" altLang="zh-CN" sz="2000" dirty="0"/>
              <a:t>page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fault</a:t>
            </a:r>
            <a:r>
              <a:rPr kumimoji="1" lang="zh-CN" altLang="en-US" sz="2000" dirty="0"/>
              <a:t>，则必须已经映射完成（特点</a:t>
            </a:r>
            <a:r>
              <a:rPr kumimoji="1" lang="en-US" altLang="zh-CN" sz="2000" dirty="0"/>
              <a:t>-2</a:t>
            </a:r>
            <a:r>
              <a:rPr kumimoji="1" lang="zh-CN" altLang="en-US" sz="2000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1379B9-E84D-6642-AAD1-38A3F1DAF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7046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102153-C423-9546-BFC6-3417B5BDA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场景</a:t>
            </a:r>
            <a:r>
              <a:rPr kumimoji="1" lang="en-US" altLang="zh-CN" dirty="0"/>
              <a:t>-3</a:t>
            </a:r>
            <a:r>
              <a:rPr kumimoji="1" lang="zh-CN" altLang="en-US" dirty="0"/>
              <a:t>：设备需要分配</a:t>
            </a:r>
            <a:r>
              <a:rPr kumimoji="1" lang="en-US" altLang="zh-CN" dirty="0"/>
              <a:t>DMA</a:t>
            </a:r>
            <a:r>
              <a:rPr kumimoji="1" lang="zh-CN" altLang="en-US" dirty="0"/>
              <a:t>内存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8357B3-B75A-814E-AB79-B56EB9153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DMA</a:t>
            </a:r>
            <a:r>
              <a:rPr kumimoji="1" lang="zh-CN" altLang="en-US" sz="2400" dirty="0"/>
              <a:t>：设备绕过</a:t>
            </a:r>
            <a:r>
              <a:rPr kumimoji="1" lang="en-US" altLang="zh-CN" sz="2400" dirty="0"/>
              <a:t>CPU</a:t>
            </a:r>
            <a:r>
              <a:rPr kumimoji="1" lang="zh-CN" altLang="en-US" sz="2400" dirty="0"/>
              <a:t>直接访存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由于绕过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MMU</a:t>
            </a:r>
            <a:r>
              <a:rPr kumimoji="1" lang="zh-CN" altLang="en-US" sz="2000" dirty="0"/>
              <a:t>，因此直接访问物理地址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通常需要大段连续的物理内存</a:t>
            </a:r>
            <a:endParaRPr kumimoji="1" lang="en-US" altLang="zh-CN" sz="2000" dirty="0"/>
          </a:p>
          <a:p>
            <a:r>
              <a:rPr kumimoji="1" lang="zh-CN" altLang="en-US" sz="2400" dirty="0"/>
              <a:t>操作系统必须有能力分配</a:t>
            </a:r>
            <a:r>
              <a:rPr kumimoji="1" lang="zh-CN" altLang="en-US" sz="2400" dirty="0">
                <a:solidFill>
                  <a:schemeClr val="accent1"/>
                </a:solidFill>
              </a:rPr>
              <a:t>连续的物理页</a:t>
            </a:r>
            <a:endParaRPr kumimoji="1" lang="en-US" altLang="zh-CN" sz="2400" dirty="0">
              <a:solidFill>
                <a:schemeClr val="accent1"/>
              </a:solidFill>
            </a:endParaRPr>
          </a:p>
          <a:p>
            <a:pPr lvl="1"/>
            <a:r>
              <a:rPr kumimoji="1" lang="zh-CN" altLang="en-US" sz="2000" dirty="0"/>
              <a:t>需要用一种高效的方式来组织和管理物理页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118EC1-5DD8-284C-98A5-9C964E5F4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798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D1FA76-42F2-CD46-9066-8BA5A2C65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场景</a:t>
            </a:r>
            <a:r>
              <a:rPr kumimoji="1" lang="en-US" altLang="zh-CN" dirty="0"/>
              <a:t>-4</a:t>
            </a:r>
            <a:r>
              <a:rPr kumimoji="1" lang="zh-CN" altLang="en-US" dirty="0"/>
              <a:t>：换入换出（</a:t>
            </a:r>
            <a:r>
              <a:rPr kumimoji="1" lang="en-US" altLang="zh-CN" dirty="0"/>
              <a:t>swapping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7E3202-85F6-0341-899C-CCB29A28F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000" dirty="0"/>
              <a:t>换出操作：物理内存不够时</a:t>
            </a:r>
            <a:endParaRPr kumimoji="1" lang="en-US" altLang="zh-CN" sz="2000" dirty="0"/>
          </a:p>
          <a:p>
            <a:pPr lvl="1"/>
            <a:r>
              <a:rPr kumimoji="1" lang="en-US" altLang="zh-CN" sz="1800" dirty="0"/>
              <a:t>OS</a:t>
            </a:r>
            <a:r>
              <a:rPr kumimoji="1" lang="zh-CN" altLang="en-US" sz="1800" dirty="0"/>
              <a:t>选择不常用的物理内存（不同的选择策略）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OS</a:t>
            </a:r>
            <a:r>
              <a:rPr kumimoji="1" lang="zh-CN" altLang="en-US" sz="1800" dirty="0"/>
              <a:t>将内存中的数据写入磁盘块，并记录磁盘块与内存的关联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OS</a:t>
            </a:r>
            <a:r>
              <a:rPr kumimoji="1" lang="zh-CN" altLang="en-US" sz="1800" dirty="0"/>
              <a:t>更新页表，将对应页表项的</a:t>
            </a:r>
            <a:r>
              <a:rPr kumimoji="1" lang="en-US" altLang="zh-CN" sz="1800" dirty="0"/>
              <a:t>valid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bit</a:t>
            </a:r>
            <a:r>
              <a:rPr kumimoji="1" lang="zh-CN" altLang="en-US" sz="1800" dirty="0"/>
              <a:t>设置为</a:t>
            </a:r>
            <a:r>
              <a:rPr kumimoji="1" lang="en-US" altLang="zh-CN" sz="1800" dirty="0"/>
              <a:t>0</a:t>
            </a:r>
          </a:p>
          <a:p>
            <a:r>
              <a:rPr kumimoji="1" lang="zh-CN" altLang="en-US" sz="2000" dirty="0"/>
              <a:t>换入操作：当换出的页被访问时，触发</a:t>
            </a:r>
            <a:r>
              <a:rPr kumimoji="1" lang="en-US" altLang="zh-CN" sz="2000" dirty="0"/>
              <a:t>page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fault</a:t>
            </a:r>
          </a:p>
          <a:p>
            <a:pPr lvl="1"/>
            <a:r>
              <a:rPr kumimoji="1" lang="en-US" altLang="zh-CN" sz="1800" dirty="0"/>
              <a:t>OS</a:t>
            </a:r>
            <a:r>
              <a:rPr kumimoji="1" lang="zh-CN" altLang="en-US" sz="1800" dirty="0"/>
              <a:t>判断该地址所在页被换出，找到对应的磁盘块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OS</a:t>
            </a:r>
            <a:r>
              <a:rPr kumimoji="1" lang="zh-CN" altLang="en-US" sz="1800" dirty="0"/>
              <a:t>分配空闲的物理内存页；若没有空闲页，则再次进行换出操作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OS</a:t>
            </a:r>
            <a:r>
              <a:rPr kumimoji="1" lang="zh-CN" altLang="en-US" sz="1800" dirty="0"/>
              <a:t>将磁盘块中的数据读入前一步找到的内存页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OS</a:t>
            </a:r>
            <a:r>
              <a:rPr kumimoji="1" lang="zh-CN" altLang="en-US" sz="1800" dirty="0"/>
              <a:t>更新页表，将对应页表项的</a:t>
            </a:r>
            <a:r>
              <a:rPr kumimoji="1" lang="en-US" altLang="zh-CN" sz="1800" dirty="0"/>
              <a:t>valid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bit</a:t>
            </a:r>
            <a:r>
              <a:rPr kumimoji="1" lang="zh-CN" altLang="en-US" sz="1800" dirty="0"/>
              <a:t>设置为</a:t>
            </a:r>
            <a:r>
              <a:rPr kumimoji="1" lang="en-US" altLang="zh-CN" sz="1800" dirty="0"/>
              <a:t>1</a:t>
            </a:r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533FFE-61D0-0A4F-968E-92F200CFB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0819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09AD83-E927-FC46-9C6F-A56AD12CE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内核物理内存管理的需求和评价指标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EF1EA0-BD04-DD4B-BEC0-ECFB8C086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400" dirty="0"/>
              <a:t>物理内存管理对操作系统的需求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管理所有空闲的物理页，有能力分配一个或多个连续物理页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管理所有已分配的内存页，并能随时将其回收，变成空闲页</a:t>
            </a:r>
            <a:endParaRPr kumimoji="1" lang="en-US" altLang="zh-CN" sz="2000" dirty="0"/>
          </a:p>
          <a:p>
            <a:r>
              <a:rPr kumimoji="1" lang="zh-CN" altLang="en-US" sz="2400" dirty="0"/>
              <a:t>物理内存管理的评价指标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资源利用率：尽可能避免碎片（外部碎片 </a:t>
            </a:r>
            <a:r>
              <a:rPr kumimoji="1" lang="en-US" altLang="zh-CN" sz="2000" dirty="0"/>
              <a:t>&amp;</a:t>
            </a:r>
            <a:r>
              <a:rPr kumimoji="1" lang="zh-CN" altLang="en-US" sz="2000" dirty="0"/>
              <a:t> 内部碎片）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分配速度：即内存分配与释放操作的时延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分配公平性：避免某些应用独占大量内存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80443B-4A68-7D45-8574-A661A6F7A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4720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8F9AED-B973-AA41-A261-8C73AA18C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直接映射机制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B030BC-0DC3-FB4A-A4F0-6D6A869B8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en-US" altLang="zh-CN" sz="2400" dirty="0"/>
              <a:t>OS</a:t>
            </a:r>
            <a:r>
              <a:rPr kumimoji="1" lang="zh-CN" altLang="en-US" sz="2400" dirty="0"/>
              <a:t>一次性将</a:t>
            </a:r>
            <a:r>
              <a:rPr kumimoji="1" lang="zh-CN" altLang="en-US" sz="2400" dirty="0">
                <a:solidFill>
                  <a:schemeClr val="accent1"/>
                </a:solidFill>
              </a:rPr>
              <a:t>所有</a:t>
            </a:r>
            <a:r>
              <a:rPr kumimoji="1" lang="zh-CN" altLang="en-US" sz="2400" dirty="0"/>
              <a:t>物理内存映射到</a:t>
            </a:r>
            <a:r>
              <a:rPr kumimoji="1" lang="zh-CN" altLang="en-US" sz="2400" dirty="0">
                <a:solidFill>
                  <a:schemeClr val="accent1"/>
                </a:solidFill>
              </a:rPr>
              <a:t>一段</a:t>
            </a:r>
            <a:r>
              <a:rPr kumimoji="1" lang="zh-CN" altLang="en-US" sz="2400" dirty="0"/>
              <a:t>虚拟地址空间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任一物理地址和虚拟地址仅相差一个偏移量</a:t>
            </a:r>
            <a:endParaRPr kumimoji="1" lang="en-US" altLang="zh-CN" sz="2000" dirty="0"/>
          </a:p>
          <a:p>
            <a:pPr lvl="2"/>
            <a:r>
              <a:rPr kumimoji="1" lang="en-US" altLang="zh-CN" dirty="0"/>
              <a:t>OS</a:t>
            </a:r>
            <a:r>
              <a:rPr kumimoji="1" lang="zh-CN" altLang="en-US" dirty="0"/>
              <a:t>可迅速根据物理地址或虚拟地址互相计算</a:t>
            </a:r>
          </a:p>
          <a:p>
            <a:pPr lvl="1"/>
            <a:r>
              <a:rPr kumimoji="1" lang="zh-CN" altLang="en-US" sz="2000" dirty="0"/>
              <a:t>看上去类似最传统的段机制，实际通过配置页表来实现</a:t>
            </a:r>
            <a:endParaRPr kumimoji="1" lang="en-US" altLang="zh-CN" sz="2000" dirty="0"/>
          </a:p>
          <a:p>
            <a:r>
              <a:rPr kumimoji="1" lang="zh-CN" altLang="en-US" sz="2400" dirty="0"/>
              <a:t>直接映射机制的特点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内核使用直接映射的虚拟地址，不会触发</a:t>
            </a:r>
            <a:r>
              <a:rPr kumimoji="1" lang="en-US" altLang="zh-CN" sz="2000" dirty="0"/>
              <a:t>page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fault</a:t>
            </a:r>
          </a:p>
          <a:p>
            <a:pPr lvl="1"/>
            <a:r>
              <a:rPr kumimoji="1" lang="zh-CN" altLang="en-US" sz="2000" dirty="0"/>
              <a:t>更方便找到连续的物理页：只要寻找连续的虚拟页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FFF4AA-1649-094E-A65E-AB7694930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5170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E0B803-9E2B-BE46-9A6A-147CB220C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关于直接映射机制，需要注意的几点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563E10-13BA-7149-AF5D-020A8E11F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000" dirty="0"/>
              <a:t>对内核来说：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已映射的地址不一定正在使用（需要通过</a:t>
            </a:r>
            <a:r>
              <a:rPr kumimoji="1" lang="en-US" altLang="zh-CN" sz="1800" dirty="0" err="1"/>
              <a:t>kmalloc</a:t>
            </a:r>
            <a:r>
              <a:rPr kumimoji="1" lang="zh-CN" altLang="en-US" sz="1800" dirty="0"/>
              <a:t>才能用）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正在使用的地址通常已映射（例外：</a:t>
            </a:r>
            <a:r>
              <a:rPr kumimoji="1" lang="en-US" altLang="zh-CN" sz="1800" dirty="0" err="1"/>
              <a:t>vmalloc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r>
              <a:rPr kumimoji="1" lang="zh-CN" altLang="en-US" sz="2000" dirty="0"/>
              <a:t>对应用来说：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正在使用的地址不一定已映射（</a:t>
            </a:r>
            <a:r>
              <a:rPr kumimoji="1" lang="en-US" altLang="zh-CN" sz="1800" dirty="0"/>
              <a:t>on-demand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paging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已映射的地址一定正在使用（否则不会被映射）</a:t>
            </a:r>
            <a:endParaRPr kumimoji="1" lang="en-US" altLang="zh-CN" sz="1800" dirty="0"/>
          </a:p>
          <a:p>
            <a:r>
              <a:rPr kumimoji="1" lang="zh-CN" altLang="en-US" sz="2000" dirty="0"/>
              <a:t>同一个物理地址可以有多个虚拟地址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如应用任一已映射的虚拟地址，在内核的直接映射下也有一个虚拟地址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A9E9EB-60AF-9546-B383-02D378EF4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76408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3C5294-CE55-3648-9B9D-DC0970059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伙伴系统：页粒度内存管理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DBEFCB-432B-1947-B96A-8A455C664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CDE3D1-6768-1D46-B27F-71706BA4B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89563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BEFC28-F5A3-154F-8F79-F294AE12D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空闲物理内存管理的简单方法：</a:t>
            </a:r>
            <a:r>
              <a:rPr kumimoji="1" lang="en-US" altLang="zh-CN" dirty="0"/>
              <a:t>bitmap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623B87-1A46-9348-B901-2E18B3B0A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最简单直接的方法：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操作系统通过一个</a:t>
            </a:r>
            <a:r>
              <a:rPr kumimoji="1" lang="en-US" altLang="zh-CN" sz="2000" dirty="0"/>
              <a:t>bitmap</a:t>
            </a:r>
            <a:r>
              <a:rPr kumimoji="1" lang="zh-CN" altLang="en-US" sz="2000" dirty="0"/>
              <a:t>记录物理页是否空闲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分配时，通过</a:t>
            </a:r>
            <a:r>
              <a:rPr kumimoji="1" lang="en-US" altLang="zh-CN" sz="2000" dirty="0"/>
              <a:t>bitmap</a:t>
            </a:r>
            <a:r>
              <a:rPr kumimoji="1" lang="zh-CN" altLang="en-US" sz="2000" dirty="0"/>
              <a:t>查找空闲物理页，并在</a:t>
            </a:r>
            <a:r>
              <a:rPr kumimoji="1" lang="en-US" altLang="zh-CN" sz="2000" dirty="0"/>
              <a:t>bitmap</a:t>
            </a:r>
            <a:r>
              <a:rPr kumimoji="1" lang="zh-CN" altLang="en-US" sz="2000" dirty="0"/>
              <a:t>中标记非空闲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回收时，在</a:t>
            </a:r>
            <a:r>
              <a:rPr kumimoji="1" lang="en-US" altLang="zh-CN" sz="2000" dirty="0"/>
              <a:t>bitmap</a:t>
            </a:r>
            <a:r>
              <a:rPr kumimoji="1" lang="zh-CN" altLang="en-US" sz="2000" dirty="0"/>
              <a:t>中，把对应的物理页标记成空闲</a:t>
            </a:r>
            <a:endParaRPr kumimoji="1" lang="en-US" altLang="zh-CN" sz="2000" dirty="0"/>
          </a:p>
          <a:p>
            <a:r>
              <a:rPr kumimoji="1" lang="zh-CN" altLang="en-US" sz="2400" dirty="0"/>
              <a:t>该方法有什么问题？</a:t>
            </a:r>
            <a:r>
              <a:rPr kumimoji="1" lang="en-US" altLang="zh-CN" sz="2400" dirty="0"/>
              <a:t>	</a:t>
            </a:r>
          </a:p>
          <a:p>
            <a:pPr lvl="1"/>
            <a:r>
              <a:rPr kumimoji="1" lang="zh-CN" altLang="en-US" sz="2000" dirty="0"/>
              <a:t>若仅以一个页为粒度分配内存，没什么问题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若需要分配大段连续内存，则可能导致外部碎片，且寻找效率低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F5782C-5888-0341-9A15-D354EACD4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543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C30B62-58AD-6E4F-AC9B-5405506F9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简单管理方法导致外部碎片问题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09B689-1D28-9244-AA5D-429EF4DFE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39B2F5-DA4E-5542-9EC7-20C475AF7372}"/>
              </a:ext>
            </a:extLst>
          </p:cNvPr>
          <p:cNvSpPr/>
          <p:nvPr/>
        </p:nvSpPr>
        <p:spPr>
          <a:xfrm>
            <a:off x="2195736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75237B-2D16-2A49-9271-AF3A4FA49E4F}"/>
              </a:ext>
            </a:extLst>
          </p:cNvPr>
          <p:cNvSpPr/>
          <p:nvPr/>
        </p:nvSpPr>
        <p:spPr>
          <a:xfrm>
            <a:off x="3419872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1EBD57-2DA5-184B-9383-8C6A9E09DF28}"/>
              </a:ext>
            </a:extLst>
          </p:cNvPr>
          <p:cNvSpPr/>
          <p:nvPr/>
        </p:nvSpPr>
        <p:spPr>
          <a:xfrm>
            <a:off x="4644010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66D8BA-83BD-4D4D-9240-4E13FFAEA7B0}"/>
              </a:ext>
            </a:extLst>
          </p:cNvPr>
          <p:cNvSpPr/>
          <p:nvPr/>
        </p:nvSpPr>
        <p:spPr>
          <a:xfrm>
            <a:off x="5868146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C91A8C-73C1-A747-B529-F2A1B2EE39AF}"/>
              </a:ext>
            </a:extLst>
          </p:cNvPr>
          <p:cNvSpPr txBox="1"/>
          <p:nvPr/>
        </p:nvSpPr>
        <p:spPr>
          <a:xfrm>
            <a:off x="611560" y="1366527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1</a:t>
            </a:r>
            <a:endParaRPr kumimoji="1" lang="zh-CN" altLang="en-US" sz="2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BA94A1-403E-124E-BA39-95A5DCDB28BE}"/>
              </a:ext>
            </a:extLst>
          </p:cNvPr>
          <p:cNvSpPr/>
          <p:nvPr/>
        </p:nvSpPr>
        <p:spPr>
          <a:xfrm>
            <a:off x="2195736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FABE902-FF39-3B46-9816-C19971FC7295}"/>
              </a:ext>
            </a:extLst>
          </p:cNvPr>
          <p:cNvSpPr/>
          <p:nvPr/>
        </p:nvSpPr>
        <p:spPr>
          <a:xfrm>
            <a:off x="3419872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9577BB-5043-414A-A243-63D83EFDFE20}"/>
              </a:ext>
            </a:extLst>
          </p:cNvPr>
          <p:cNvSpPr/>
          <p:nvPr/>
        </p:nvSpPr>
        <p:spPr>
          <a:xfrm>
            <a:off x="4644010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39FF573-95E0-6049-A2F4-8CD30717C71A}"/>
              </a:ext>
            </a:extLst>
          </p:cNvPr>
          <p:cNvSpPr/>
          <p:nvPr/>
        </p:nvSpPr>
        <p:spPr>
          <a:xfrm>
            <a:off x="5868146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57E473B-8437-E941-9C73-8E46B41246C7}"/>
              </a:ext>
            </a:extLst>
          </p:cNvPr>
          <p:cNvSpPr txBox="1"/>
          <p:nvPr/>
        </p:nvSpPr>
        <p:spPr>
          <a:xfrm>
            <a:off x="611560" y="2374638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2</a:t>
            </a:r>
            <a:endParaRPr kumimoji="1" lang="zh-CN" altLang="en-US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76AAD8D-5305-994C-9618-6FD1214716AA}"/>
              </a:ext>
            </a:extLst>
          </p:cNvPr>
          <p:cNvSpPr txBox="1"/>
          <p:nvPr/>
        </p:nvSpPr>
        <p:spPr>
          <a:xfrm>
            <a:off x="7308304" y="2410643"/>
            <a:ext cx="1604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分配</a:t>
            </a:r>
            <a:r>
              <a:rPr kumimoji="1" lang="en-US" altLang="zh-CN" sz="2400" dirty="0"/>
              <a:t>1</a:t>
            </a:r>
            <a:r>
              <a:rPr kumimoji="1" lang="zh-CN" altLang="en-US" sz="2400" dirty="0"/>
              <a:t>个页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483A3D6-A4ED-224F-A744-3DA159D8C3AB}"/>
              </a:ext>
            </a:extLst>
          </p:cNvPr>
          <p:cNvSpPr/>
          <p:nvPr/>
        </p:nvSpPr>
        <p:spPr>
          <a:xfrm>
            <a:off x="2195736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82E928-98C1-9447-8936-22011CE5BD1C}"/>
              </a:ext>
            </a:extLst>
          </p:cNvPr>
          <p:cNvSpPr/>
          <p:nvPr/>
        </p:nvSpPr>
        <p:spPr>
          <a:xfrm>
            <a:off x="3419872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50D419D-9107-2548-B7A8-6CB6CBBEA122}"/>
              </a:ext>
            </a:extLst>
          </p:cNvPr>
          <p:cNvSpPr/>
          <p:nvPr/>
        </p:nvSpPr>
        <p:spPr>
          <a:xfrm>
            <a:off x="4644010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5A8C30C-6EB6-1941-872F-40B5CD19DCDA}"/>
              </a:ext>
            </a:extLst>
          </p:cNvPr>
          <p:cNvSpPr/>
          <p:nvPr/>
        </p:nvSpPr>
        <p:spPr>
          <a:xfrm>
            <a:off x="5868146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199D680-6C3E-5D42-BB17-EF7BC0F477B1}"/>
              </a:ext>
            </a:extLst>
          </p:cNvPr>
          <p:cNvSpPr txBox="1"/>
          <p:nvPr/>
        </p:nvSpPr>
        <p:spPr>
          <a:xfrm>
            <a:off x="611560" y="3385749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3</a:t>
            </a:r>
            <a:endParaRPr kumimoji="1" lang="zh-CN" altLang="en-US" sz="24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6E3A6FA-18DE-8A4F-A88B-41BC5FD3BE5E}"/>
              </a:ext>
            </a:extLst>
          </p:cNvPr>
          <p:cNvSpPr txBox="1"/>
          <p:nvPr/>
        </p:nvSpPr>
        <p:spPr>
          <a:xfrm>
            <a:off x="7308304" y="3421754"/>
            <a:ext cx="15872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分配</a:t>
            </a:r>
            <a:r>
              <a:rPr kumimoji="1" lang="en-US" altLang="zh-CN" sz="2400" dirty="0"/>
              <a:t>2</a:t>
            </a:r>
            <a:r>
              <a:rPr kumimoji="1" lang="zh-CN" altLang="en-US" sz="2400" dirty="0"/>
              <a:t>个页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0508EDE-B5F1-9D41-817E-3D795780A4D3}"/>
              </a:ext>
            </a:extLst>
          </p:cNvPr>
          <p:cNvSpPr/>
          <p:nvPr/>
        </p:nvSpPr>
        <p:spPr>
          <a:xfrm>
            <a:off x="3419872" y="3292546"/>
            <a:ext cx="2448274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96149F1-2816-3E44-A3AB-838E7C1E2C50}"/>
              </a:ext>
            </a:extLst>
          </p:cNvPr>
          <p:cNvSpPr/>
          <p:nvPr/>
        </p:nvSpPr>
        <p:spPr>
          <a:xfrm>
            <a:off x="2195736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3881363-510E-E34C-8666-8414A5ACB949}"/>
              </a:ext>
            </a:extLst>
          </p:cNvPr>
          <p:cNvSpPr/>
          <p:nvPr/>
        </p:nvSpPr>
        <p:spPr>
          <a:xfrm>
            <a:off x="3419872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7326B93-D9B3-3744-A068-863EAB12DC73}"/>
              </a:ext>
            </a:extLst>
          </p:cNvPr>
          <p:cNvSpPr/>
          <p:nvPr/>
        </p:nvSpPr>
        <p:spPr>
          <a:xfrm>
            <a:off x="4644010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B1DAB72-AD96-5D41-901E-56DC2DAE8BA8}"/>
              </a:ext>
            </a:extLst>
          </p:cNvPr>
          <p:cNvSpPr/>
          <p:nvPr/>
        </p:nvSpPr>
        <p:spPr>
          <a:xfrm>
            <a:off x="5868146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56F0029-CAAB-E44F-A693-94B37997FECB}"/>
              </a:ext>
            </a:extLst>
          </p:cNvPr>
          <p:cNvSpPr txBox="1"/>
          <p:nvPr/>
        </p:nvSpPr>
        <p:spPr>
          <a:xfrm>
            <a:off x="611560" y="4390861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4</a:t>
            </a:r>
            <a:endParaRPr kumimoji="1" lang="zh-CN" altLang="en-US" sz="24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8B073EC-70AA-804A-BC04-D4CCE807C566}"/>
              </a:ext>
            </a:extLst>
          </p:cNvPr>
          <p:cNvSpPr txBox="1"/>
          <p:nvPr/>
        </p:nvSpPr>
        <p:spPr>
          <a:xfrm>
            <a:off x="7308304" y="4426866"/>
            <a:ext cx="15872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释放</a:t>
            </a:r>
            <a:r>
              <a:rPr kumimoji="1" lang="en-US" altLang="zh-CN" sz="2400" dirty="0"/>
              <a:t>1</a:t>
            </a:r>
            <a:r>
              <a:rPr kumimoji="1" lang="zh-CN" altLang="en-US" sz="2400" dirty="0"/>
              <a:t>个页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858D0DE-7707-E542-9A0E-61871BCF9525}"/>
              </a:ext>
            </a:extLst>
          </p:cNvPr>
          <p:cNvSpPr/>
          <p:nvPr/>
        </p:nvSpPr>
        <p:spPr>
          <a:xfrm>
            <a:off x="3419872" y="4297658"/>
            <a:ext cx="2448274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35A1B54-C540-874C-8590-85F1FFB48927}"/>
              </a:ext>
            </a:extLst>
          </p:cNvPr>
          <p:cNvSpPr txBox="1"/>
          <p:nvPr/>
        </p:nvSpPr>
        <p:spPr>
          <a:xfrm>
            <a:off x="609420" y="5139568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5</a:t>
            </a:r>
            <a:endParaRPr kumimoji="1" lang="zh-CN" altLang="en-US" sz="24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C4B2B19-81B2-8547-AFFD-93D81C1ADF10}"/>
              </a:ext>
            </a:extLst>
          </p:cNvPr>
          <p:cNvSpPr txBox="1"/>
          <p:nvPr/>
        </p:nvSpPr>
        <p:spPr>
          <a:xfrm>
            <a:off x="2411760" y="5139567"/>
            <a:ext cx="54521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请求分配</a:t>
            </a:r>
            <a:r>
              <a:rPr kumimoji="1" lang="en-US" altLang="zh-CN" sz="2400" dirty="0"/>
              <a:t>2</a:t>
            </a:r>
            <a:r>
              <a:rPr kumimoji="1" lang="zh-CN" altLang="en-US" sz="2400" dirty="0"/>
              <a:t>个页，</a:t>
            </a:r>
            <a:r>
              <a:rPr kumimoji="1" lang="zh-CN" altLang="en-US" sz="2400" b="1" dirty="0">
                <a:solidFill>
                  <a:srgbClr val="BD374B"/>
                </a:solidFill>
              </a:rPr>
              <a:t>失败</a:t>
            </a:r>
            <a:r>
              <a:rPr kumimoji="1" lang="zh-CN" altLang="en-US" sz="2400" dirty="0"/>
              <a:t>，实际却有</a:t>
            </a:r>
            <a:r>
              <a:rPr kumimoji="1" lang="en-US" altLang="zh-CN" sz="2400" dirty="0"/>
              <a:t>2</a:t>
            </a:r>
            <a:r>
              <a:rPr kumimoji="1" lang="zh-CN" altLang="en-US" sz="2400" dirty="0"/>
              <a:t>个页</a:t>
            </a:r>
          </a:p>
        </p:txBody>
      </p:sp>
    </p:spTree>
    <p:extLst>
      <p:ext uri="{BB962C8B-B14F-4D97-AF65-F5344CB8AC3E}">
        <p14:creationId xmlns:p14="http://schemas.microsoft.com/office/powerpoint/2010/main" val="24863169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DD7805-A665-2345-9718-0F80B4775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伙伴系统（</a:t>
            </a:r>
            <a:r>
              <a:rPr kumimoji="1" lang="en-US" altLang="zh-CN" dirty="0"/>
              <a:t>buddy</a:t>
            </a:r>
            <a:r>
              <a:rPr kumimoji="1" lang="zh-CN" altLang="en-US" dirty="0"/>
              <a:t> </a:t>
            </a:r>
            <a:r>
              <a:rPr kumimoji="1" lang="en-US" altLang="zh-CN" dirty="0"/>
              <a:t>system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2A0460-6C7D-194F-ABB8-DCEFBB8CB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400" dirty="0"/>
              <a:t>伙伴系统：分裂与合并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ADEE49-C68F-3F42-AC19-C624BC605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F55250-4DAB-674C-8303-EF5511C44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50" y="2076850"/>
            <a:ext cx="7226300" cy="31242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E57997D-6212-724F-AD0C-119356B5CB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324" y="3793604"/>
            <a:ext cx="2151923" cy="49373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229F1AE-B55F-9340-92F5-2191158E71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324" y="4530486"/>
            <a:ext cx="2151923" cy="49373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9D68F55-C0DE-2C4D-B951-279EB2B644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587" y="4541525"/>
            <a:ext cx="971051" cy="47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4780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EC8DE2-D403-A64D-B98A-98ADB7F47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伙伴系统例子：分配</a:t>
            </a:r>
            <a:r>
              <a:rPr kumimoji="1" lang="en-US" altLang="zh-CN" dirty="0"/>
              <a:t>15K</a:t>
            </a:r>
            <a:r>
              <a:rPr kumimoji="1" lang="zh-CN" altLang="en-US" dirty="0"/>
              <a:t>内存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421286-35A2-9B41-9A6B-659D5E907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0126964-DB78-574C-8531-DF99BE9F66D9}"/>
              </a:ext>
            </a:extLst>
          </p:cNvPr>
          <p:cNvSpPr txBox="1"/>
          <p:nvPr/>
        </p:nvSpPr>
        <p:spPr>
          <a:xfrm>
            <a:off x="717999" y="1561803"/>
            <a:ext cx="767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当一个请求需要分配 m 个物理页时，伙伴系统将寻找一个大小合适的块， 该块包含 2</a:t>
            </a:r>
            <a:r>
              <a:rPr lang="zh-CN" altLang="en-US" baseline="30000" dirty="0"/>
              <a:t>n</a:t>
            </a:r>
            <a:r>
              <a:rPr lang="zh-CN" altLang="en-US" dirty="0"/>
              <a:t>个物理页，且满足 2</a:t>
            </a:r>
            <a:r>
              <a:rPr lang="zh-CN" altLang="en-US" baseline="30000" dirty="0"/>
              <a:t>n−1</a:t>
            </a:r>
            <a:r>
              <a:rPr lang="zh-CN" altLang="en-US" dirty="0"/>
              <a:t>&lt; m ⩽ 2</a:t>
            </a:r>
            <a:r>
              <a:rPr lang="zh-CN" altLang="en-US" baseline="30000" dirty="0"/>
              <a:t>n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C5DBC2-E2C5-8844-B0C2-A396AFEAD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2404973"/>
            <a:ext cx="81661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2905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47BF90-6D68-6546-9869-0C22BBBDE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伙伴系统的巧妙之处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D9491C-3511-C64A-8CBB-70CF4B59C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高效地找到伙伴块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互为伙伴的两个块的物理地址</a:t>
            </a:r>
            <a:r>
              <a:rPr kumimoji="1" lang="zh-CN" altLang="en-US" sz="2000" b="1" dirty="0">
                <a:solidFill>
                  <a:srgbClr val="C00000"/>
                </a:solidFill>
              </a:rPr>
              <a:t>仅有一位</a:t>
            </a:r>
            <a:r>
              <a:rPr kumimoji="1" lang="zh-CN" altLang="en-US" sz="2000" dirty="0"/>
              <a:t>不同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而且块的</a:t>
            </a:r>
            <a:r>
              <a:rPr kumimoji="1" lang="zh-CN" altLang="en-US" sz="2000" b="1" dirty="0">
                <a:solidFill>
                  <a:srgbClr val="C00000"/>
                </a:solidFill>
              </a:rPr>
              <a:t>大小决定</a:t>
            </a:r>
            <a:r>
              <a:rPr kumimoji="1" lang="zh-CN" altLang="en-US" sz="2000" dirty="0"/>
              <a:t>是哪一位</a:t>
            </a:r>
            <a:endParaRPr kumimoji="1" lang="en-US" altLang="zh-CN" sz="2000" dirty="0"/>
          </a:p>
          <a:p>
            <a:r>
              <a:rPr kumimoji="1" lang="zh-CN" altLang="en-US" sz="2400" dirty="0"/>
              <a:t>例如：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块</a:t>
            </a:r>
            <a:r>
              <a:rPr kumimoji="1" lang="en" altLang="zh-CN" sz="2000" dirty="0"/>
              <a:t>A</a:t>
            </a:r>
            <a:r>
              <a:rPr kumimoji="1" lang="zh-CN" altLang="en" sz="2000" dirty="0"/>
              <a:t>（</a:t>
            </a:r>
            <a:r>
              <a:rPr kumimoji="1" lang="en" altLang="zh-CN" sz="2000" dirty="0"/>
              <a:t>0-8K</a:t>
            </a:r>
            <a:r>
              <a:rPr kumimoji="1" lang="zh-CN" altLang="en" sz="2000" dirty="0"/>
              <a:t>）</a:t>
            </a:r>
            <a:r>
              <a:rPr kumimoji="1" lang="zh-CN" altLang="en-US" sz="2000" dirty="0"/>
              <a:t>和块</a:t>
            </a:r>
            <a:r>
              <a:rPr kumimoji="1" lang="en" altLang="zh-CN" sz="2000" dirty="0"/>
              <a:t>B</a:t>
            </a:r>
            <a:r>
              <a:rPr kumimoji="1" lang="zh-CN" altLang="en" sz="2000" dirty="0"/>
              <a:t>（</a:t>
            </a:r>
            <a:r>
              <a:rPr kumimoji="1" lang="en" altLang="zh-CN" sz="2000" dirty="0"/>
              <a:t>8-16K</a:t>
            </a:r>
            <a:r>
              <a:rPr kumimoji="1" lang="zh-CN" altLang="en" sz="2000" dirty="0"/>
              <a:t>）</a:t>
            </a:r>
            <a:r>
              <a:rPr kumimoji="1" lang="zh-CN" altLang="en-US" sz="2000" dirty="0"/>
              <a:t>互为伙伴块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块</a:t>
            </a:r>
            <a:r>
              <a:rPr kumimoji="1" lang="en-US" altLang="zh-CN" sz="2000" dirty="0"/>
              <a:t>A</a:t>
            </a:r>
            <a:r>
              <a:rPr kumimoji="1" lang="zh-CN" altLang="en-US" sz="2000" dirty="0"/>
              <a:t>和</a:t>
            </a:r>
            <a:r>
              <a:rPr kumimoji="1" lang="en-US" altLang="zh-CN" sz="2000" dirty="0"/>
              <a:t>B</a:t>
            </a:r>
            <a:r>
              <a:rPr kumimoji="1" lang="zh-CN" altLang="en-US" sz="2000" dirty="0"/>
              <a:t>的物理地址分别是 </a:t>
            </a:r>
            <a:r>
              <a:rPr kumimoji="1" lang="en-US" altLang="zh-CN" sz="2000" dirty="0"/>
              <a:t>0</a:t>
            </a:r>
            <a:r>
              <a:rPr kumimoji="1" lang="en" altLang="zh-CN" sz="2000" dirty="0"/>
              <a:t>x0 </a:t>
            </a:r>
            <a:r>
              <a:rPr kumimoji="1" lang="zh-CN" altLang="en-US" sz="2000" dirty="0"/>
              <a:t>和 </a:t>
            </a:r>
            <a:r>
              <a:rPr kumimoji="1" lang="en-US" altLang="zh-CN" sz="2000" dirty="0"/>
              <a:t>0</a:t>
            </a:r>
            <a:r>
              <a:rPr kumimoji="1" lang="en" altLang="zh-CN" sz="2000" dirty="0"/>
              <a:t>x2000</a:t>
            </a:r>
            <a:endParaRPr kumimoji="1" lang="en-US" altLang="zh-CN" sz="2000" dirty="0"/>
          </a:p>
          <a:p>
            <a:pPr lvl="2"/>
            <a:r>
              <a:rPr kumimoji="1" lang="zh-CN" altLang="en-US" dirty="0"/>
              <a:t>仅有第</a:t>
            </a:r>
            <a:r>
              <a:rPr kumimoji="1" lang="en-US" altLang="zh-CN" dirty="0">
                <a:highlight>
                  <a:srgbClr val="FFFF00"/>
                </a:highlight>
              </a:rPr>
              <a:t>13</a:t>
            </a:r>
            <a:r>
              <a:rPr kumimoji="1" lang="zh-CN" altLang="en-US" dirty="0"/>
              <a:t>位不同，块大小是</a:t>
            </a:r>
            <a:r>
              <a:rPr kumimoji="1" lang="en-US" altLang="zh-CN" dirty="0"/>
              <a:t>8</a:t>
            </a:r>
            <a:r>
              <a:rPr kumimoji="1" lang="en" altLang="zh-CN" dirty="0"/>
              <a:t>K</a:t>
            </a:r>
            <a:r>
              <a:rPr kumimoji="1" lang="zh-CN" altLang="en" dirty="0"/>
              <a:t>（</a:t>
            </a:r>
            <a:r>
              <a:rPr kumimoji="1" lang="en" altLang="zh-CN" dirty="0"/>
              <a:t>2</a:t>
            </a:r>
            <a:r>
              <a:rPr kumimoji="1" lang="en" altLang="zh-CN" baseline="30000" dirty="0">
                <a:highlight>
                  <a:srgbClr val="FFFF00"/>
                </a:highlight>
              </a:rPr>
              <a:t>13</a:t>
            </a:r>
            <a:r>
              <a:rPr kumimoji="1" lang="zh-CN" altLang="en" dirty="0"/>
              <a:t>）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9A4695-F708-624C-91EA-0F8EE93EA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90346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C30B62-58AD-6E4F-AC9B-5405506F9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伙伴系统解决外部碎片（合并操作）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09B689-1D28-9244-AA5D-429EF4DFE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39B2F5-DA4E-5542-9EC7-20C475AF7372}"/>
              </a:ext>
            </a:extLst>
          </p:cNvPr>
          <p:cNvSpPr/>
          <p:nvPr/>
        </p:nvSpPr>
        <p:spPr>
          <a:xfrm>
            <a:off x="2195736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75237B-2D16-2A49-9271-AF3A4FA49E4F}"/>
              </a:ext>
            </a:extLst>
          </p:cNvPr>
          <p:cNvSpPr/>
          <p:nvPr/>
        </p:nvSpPr>
        <p:spPr>
          <a:xfrm>
            <a:off x="3419872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1EBD57-2DA5-184B-9383-8C6A9E09DF28}"/>
              </a:ext>
            </a:extLst>
          </p:cNvPr>
          <p:cNvSpPr/>
          <p:nvPr/>
        </p:nvSpPr>
        <p:spPr>
          <a:xfrm>
            <a:off x="4644010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66D8BA-83BD-4D4D-9240-4E13FFAEA7B0}"/>
              </a:ext>
            </a:extLst>
          </p:cNvPr>
          <p:cNvSpPr/>
          <p:nvPr/>
        </p:nvSpPr>
        <p:spPr>
          <a:xfrm>
            <a:off x="5868146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C91A8C-73C1-A747-B529-F2A1B2EE39AF}"/>
              </a:ext>
            </a:extLst>
          </p:cNvPr>
          <p:cNvSpPr txBox="1"/>
          <p:nvPr/>
        </p:nvSpPr>
        <p:spPr>
          <a:xfrm>
            <a:off x="611560" y="1366527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1</a:t>
            </a:r>
            <a:endParaRPr kumimoji="1" lang="zh-CN" altLang="en-US" sz="2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BA94A1-403E-124E-BA39-95A5DCDB28BE}"/>
              </a:ext>
            </a:extLst>
          </p:cNvPr>
          <p:cNvSpPr/>
          <p:nvPr/>
        </p:nvSpPr>
        <p:spPr>
          <a:xfrm>
            <a:off x="2195736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FABE902-FF39-3B46-9816-C19971FC7295}"/>
              </a:ext>
            </a:extLst>
          </p:cNvPr>
          <p:cNvSpPr/>
          <p:nvPr/>
        </p:nvSpPr>
        <p:spPr>
          <a:xfrm>
            <a:off x="3419872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9577BB-5043-414A-A243-63D83EFDFE20}"/>
              </a:ext>
            </a:extLst>
          </p:cNvPr>
          <p:cNvSpPr/>
          <p:nvPr/>
        </p:nvSpPr>
        <p:spPr>
          <a:xfrm>
            <a:off x="4644010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39FF573-95E0-6049-A2F4-8CD30717C71A}"/>
              </a:ext>
            </a:extLst>
          </p:cNvPr>
          <p:cNvSpPr/>
          <p:nvPr/>
        </p:nvSpPr>
        <p:spPr>
          <a:xfrm>
            <a:off x="5868146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57E473B-8437-E941-9C73-8E46B41246C7}"/>
              </a:ext>
            </a:extLst>
          </p:cNvPr>
          <p:cNvSpPr txBox="1"/>
          <p:nvPr/>
        </p:nvSpPr>
        <p:spPr>
          <a:xfrm>
            <a:off x="611560" y="2374638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2</a:t>
            </a:r>
            <a:endParaRPr kumimoji="1" lang="zh-CN" altLang="en-US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76AAD8D-5305-994C-9618-6FD1214716AA}"/>
              </a:ext>
            </a:extLst>
          </p:cNvPr>
          <p:cNvSpPr txBox="1"/>
          <p:nvPr/>
        </p:nvSpPr>
        <p:spPr>
          <a:xfrm>
            <a:off x="548410" y="2742937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分配</a:t>
            </a:r>
            <a:r>
              <a:rPr kumimoji="1" lang="en-US" altLang="zh-CN" dirty="0"/>
              <a:t>1</a:t>
            </a:r>
            <a:r>
              <a:rPr kumimoji="1" lang="zh-CN" altLang="en-US" dirty="0"/>
              <a:t>个页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483A3D6-A4ED-224F-A744-3DA159D8C3AB}"/>
              </a:ext>
            </a:extLst>
          </p:cNvPr>
          <p:cNvSpPr/>
          <p:nvPr/>
        </p:nvSpPr>
        <p:spPr>
          <a:xfrm>
            <a:off x="2195736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82E928-98C1-9447-8936-22011CE5BD1C}"/>
              </a:ext>
            </a:extLst>
          </p:cNvPr>
          <p:cNvSpPr/>
          <p:nvPr/>
        </p:nvSpPr>
        <p:spPr>
          <a:xfrm>
            <a:off x="3419872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50D419D-9107-2548-B7A8-6CB6CBBEA122}"/>
              </a:ext>
            </a:extLst>
          </p:cNvPr>
          <p:cNvSpPr/>
          <p:nvPr/>
        </p:nvSpPr>
        <p:spPr>
          <a:xfrm>
            <a:off x="4644010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5A8C30C-6EB6-1941-872F-40B5CD19DCDA}"/>
              </a:ext>
            </a:extLst>
          </p:cNvPr>
          <p:cNvSpPr/>
          <p:nvPr/>
        </p:nvSpPr>
        <p:spPr>
          <a:xfrm>
            <a:off x="5868146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199D680-6C3E-5D42-BB17-EF7BC0F477B1}"/>
              </a:ext>
            </a:extLst>
          </p:cNvPr>
          <p:cNvSpPr txBox="1"/>
          <p:nvPr/>
        </p:nvSpPr>
        <p:spPr>
          <a:xfrm>
            <a:off x="611560" y="3385749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3</a:t>
            </a:r>
            <a:endParaRPr kumimoji="1" lang="zh-CN" altLang="en-US" sz="24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6E3A6FA-18DE-8A4F-A88B-41BC5FD3BE5E}"/>
              </a:ext>
            </a:extLst>
          </p:cNvPr>
          <p:cNvSpPr txBox="1"/>
          <p:nvPr/>
        </p:nvSpPr>
        <p:spPr>
          <a:xfrm>
            <a:off x="519102" y="3756586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分配</a:t>
            </a:r>
            <a:r>
              <a:rPr kumimoji="1" lang="en-US" altLang="zh-CN" dirty="0"/>
              <a:t>2</a:t>
            </a:r>
            <a:r>
              <a:rPr kumimoji="1" lang="zh-CN" altLang="en-US" dirty="0"/>
              <a:t>个页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0508EDE-B5F1-9D41-817E-3D795780A4D3}"/>
              </a:ext>
            </a:extLst>
          </p:cNvPr>
          <p:cNvSpPr/>
          <p:nvPr/>
        </p:nvSpPr>
        <p:spPr>
          <a:xfrm>
            <a:off x="4644008" y="3292545"/>
            <a:ext cx="2448274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96149F1-2816-3E44-A3AB-838E7C1E2C50}"/>
              </a:ext>
            </a:extLst>
          </p:cNvPr>
          <p:cNvSpPr/>
          <p:nvPr/>
        </p:nvSpPr>
        <p:spPr>
          <a:xfrm>
            <a:off x="2195736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3881363-510E-E34C-8666-8414A5ACB949}"/>
              </a:ext>
            </a:extLst>
          </p:cNvPr>
          <p:cNvSpPr/>
          <p:nvPr/>
        </p:nvSpPr>
        <p:spPr>
          <a:xfrm>
            <a:off x="3419872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7326B93-D9B3-3744-A068-863EAB12DC73}"/>
              </a:ext>
            </a:extLst>
          </p:cNvPr>
          <p:cNvSpPr/>
          <p:nvPr/>
        </p:nvSpPr>
        <p:spPr>
          <a:xfrm>
            <a:off x="4644010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B1DAB72-AD96-5D41-901E-56DC2DAE8BA8}"/>
              </a:ext>
            </a:extLst>
          </p:cNvPr>
          <p:cNvSpPr/>
          <p:nvPr/>
        </p:nvSpPr>
        <p:spPr>
          <a:xfrm>
            <a:off x="5868146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56F0029-CAAB-E44F-A693-94B37997FECB}"/>
              </a:ext>
            </a:extLst>
          </p:cNvPr>
          <p:cNvSpPr txBox="1"/>
          <p:nvPr/>
        </p:nvSpPr>
        <p:spPr>
          <a:xfrm>
            <a:off x="611560" y="4390861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4</a:t>
            </a:r>
            <a:endParaRPr kumimoji="1" lang="zh-CN" altLang="en-US" sz="24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8B073EC-70AA-804A-BC04-D4CCE807C566}"/>
              </a:ext>
            </a:extLst>
          </p:cNvPr>
          <p:cNvSpPr txBox="1"/>
          <p:nvPr/>
        </p:nvSpPr>
        <p:spPr>
          <a:xfrm>
            <a:off x="548260" y="4761064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释放</a:t>
            </a:r>
            <a:r>
              <a:rPr kumimoji="1" lang="en-US" altLang="zh-CN" dirty="0"/>
              <a:t>1</a:t>
            </a:r>
            <a:r>
              <a:rPr kumimoji="1" lang="zh-CN" altLang="en-US" dirty="0"/>
              <a:t>个页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858D0DE-7707-E542-9A0E-61871BCF9525}"/>
              </a:ext>
            </a:extLst>
          </p:cNvPr>
          <p:cNvSpPr/>
          <p:nvPr/>
        </p:nvSpPr>
        <p:spPr>
          <a:xfrm>
            <a:off x="4644007" y="4303655"/>
            <a:ext cx="2448274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35A1B54-C540-874C-8590-85F1FFB48927}"/>
              </a:ext>
            </a:extLst>
          </p:cNvPr>
          <p:cNvSpPr txBox="1"/>
          <p:nvPr/>
        </p:nvSpPr>
        <p:spPr>
          <a:xfrm>
            <a:off x="609420" y="5139568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5</a:t>
            </a:r>
            <a:endParaRPr kumimoji="1" lang="zh-CN" altLang="en-US" sz="24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C4B2B19-81B2-8547-AFFD-93D81C1ADF10}"/>
              </a:ext>
            </a:extLst>
          </p:cNvPr>
          <p:cNvSpPr txBox="1"/>
          <p:nvPr/>
        </p:nvSpPr>
        <p:spPr>
          <a:xfrm>
            <a:off x="2411760" y="5139567"/>
            <a:ext cx="22028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分配</a:t>
            </a:r>
            <a:r>
              <a:rPr kumimoji="1" lang="en-US" altLang="zh-CN" sz="2400" dirty="0"/>
              <a:t>2</a:t>
            </a:r>
            <a:r>
              <a:rPr kumimoji="1" lang="zh-CN" altLang="en-US" sz="2400" dirty="0"/>
              <a:t>个页</a:t>
            </a:r>
            <a:r>
              <a:rPr kumimoji="1" lang="zh-CN" altLang="en-US" sz="2400" b="1" dirty="0">
                <a:solidFill>
                  <a:srgbClr val="BD374B"/>
                </a:solidFill>
              </a:rPr>
              <a:t>成功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CC6A890-5780-F548-AF3D-C349D2AF56CF}"/>
              </a:ext>
            </a:extLst>
          </p:cNvPr>
          <p:cNvSpPr txBox="1"/>
          <p:nvPr/>
        </p:nvSpPr>
        <p:spPr>
          <a:xfrm>
            <a:off x="7620228" y="1366526"/>
            <a:ext cx="47000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BD374B"/>
                </a:solidFill>
              </a:rPr>
              <a:t>2</a:t>
            </a:r>
            <a:r>
              <a:rPr kumimoji="1" lang="en-US" altLang="zh-CN" sz="2400" baseline="30000" dirty="0">
                <a:solidFill>
                  <a:srgbClr val="BD374B"/>
                </a:solidFill>
              </a:rPr>
              <a:t>2</a:t>
            </a:r>
            <a:endParaRPr kumimoji="1" lang="zh-CN" altLang="en-US" sz="2400" baseline="30000" dirty="0">
              <a:solidFill>
                <a:srgbClr val="BD374B"/>
              </a:solidFill>
            </a:endParaRPr>
          </a:p>
        </p:txBody>
      </p:sp>
      <p:cxnSp>
        <p:nvCxnSpPr>
          <p:cNvPr id="35" name="曲线连接符 34">
            <a:extLst>
              <a:ext uri="{FF2B5EF4-FFF2-40B4-BE49-F238E27FC236}">
                <a16:creationId xmlns:a16="http://schemas.microsoft.com/office/drawing/2014/main" id="{E8DF8D46-D44F-9849-AEA7-96E92D36D1F4}"/>
              </a:ext>
            </a:extLst>
          </p:cNvPr>
          <p:cNvCxnSpPr>
            <a:cxnSpLocks/>
            <a:stCxn id="32" idx="0"/>
            <a:endCxn id="5" idx="0"/>
          </p:cNvCxnSpPr>
          <p:nvPr/>
        </p:nvCxnSpPr>
        <p:spPr>
          <a:xfrm rot="16200000" flipV="1">
            <a:off x="5284915" y="-1203787"/>
            <a:ext cx="93202" cy="5047424"/>
          </a:xfrm>
          <a:prstGeom prst="curvedConnector3">
            <a:avLst>
              <a:gd name="adj1" fmla="val 34527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5ECE8A1A-2BDA-C74A-B946-EA8378F53A2E}"/>
              </a:ext>
            </a:extLst>
          </p:cNvPr>
          <p:cNvSpPr txBox="1"/>
          <p:nvPr/>
        </p:nvSpPr>
        <p:spPr>
          <a:xfrm>
            <a:off x="7704843" y="823079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BD374B"/>
                </a:solidFill>
              </a:rPr>
              <a:t>1</a:t>
            </a:r>
            <a:r>
              <a:rPr kumimoji="1" lang="zh-CN" altLang="en-US" dirty="0">
                <a:solidFill>
                  <a:srgbClr val="BD374B"/>
                </a:solidFill>
              </a:rPr>
              <a:t>个整块</a:t>
            </a:r>
            <a:endParaRPr kumimoji="1" lang="zh-CN" altLang="en-US" sz="2400" dirty="0">
              <a:solidFill>
                <a:srgbClr val="BD374B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AA6D997-F8CC-9248-8760-4A7D95D25270}"/>
              </a:ext>
            </a:extLst>
          </p:cNvPr>
          <p:cNvSpPr txBox="1"/>
          <p:nvPr/>
        </p:nvSpPr>
        <p:spPr>
          <a:xfrm>
            <a:off x="7620228" y="2723556"/>
            <a:ext cx="47000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BD374B"/>
                </a:solidFill>
              </a:rPr>
              <a:t>2</a:t>
            </a:r>
            <a:r>
              <a:rPr kumimoji="1" lang="en-US" altLang="zh-CN" sz="2400" baseline="30000" dirty="0">
                <a:solidFill>
                  <a:srgbClr val="BD374B"/>
                </a:solidFill>
              </a:rPr>
              <a:t>1</a:t>
            </a:r>
            <a:endParaRPr kumimoji="1" lang="zh-CN" altLang="en-US" sz="2400" baseline="30000" dirty="0">
              <a:solidFill>
                <a:srgbClr val="BD374B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88583D4-F291-C84F-96A7-0FE3879AD20B}"/>
              </a:ext>
            </a:extLst>
          </p:cNvPr>
          <p:cNvSpPr txBox="1"/>
          <p:nvPr/>
        </p:nvSpPr>
        <p:spPr>
          <a:xfrm>
            <a:off x="7620228" y="2137420"/>
            <a:ext cx="47000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BD374B"/>
                </a:solidFill>
              </a:rPr>
              <a:t>2</a:t>
            </a:r>
            <a:r>
              <a:rPr kumimoji="1" lang="en-US" altLang="zh-CN" sz="2400" baseline="30000" dirty="0">
                <a:solidFill>
                  <a:srgbClr val="BD374B"/>
                </a:solidFill>
              </a:rPr>
              <a:t>0</a:t>
            </a:r>
            <a:endParaRPr kumimoji="1" lang="zh-CN" altLang="en-US" sz="2400" baseline="30000" dirty="0">
              <a:solidFill>
                <a:srgbClr val="BD374B"/>
              </a:solidFill>
            </a:endParaRPr>
          </a:p>
        </p:txBody>
      </p:sp>
      <p:cxnSp>
        <p:nvCxnSpPr>
          <p:cNvPr id="43" name="曲线连接符 42">
            <a:extLst>
              <a:ext uri="{FF2B5EF4-FFF2-40B4-BE49-F238E27FC236}">
                <a16:creationId xmlns:a16="http://schemas.microsoft.com/office/drawing/2014/main" id="{1DD75F80-EB83-8547-A85E-E4CB562CC357}"/>
              </a:ext>
            </a:extLst>
          </p:cNvPr>
          <p:cNvCxnSpPr>
            <a:cxnSpLocks/>
            <a:stCxn id="39" idx="0"/>
            <a:endCxn id="11" idx="0"/>
          </p:cNvCxnSpPr>
          <p:nvPr/>
        </p:nvCxnSpPr>
        <p:spPr>
          <a:xfrm rot="16200000" flipH="1" flipV="1">
            <a:off x="5871576" y="297783"/>
            <a:ext cx="144015" cy="3823288"/>
          </a:xfrm>
          <a:prstGeom prst="curvedConnector3">
            <a:avLst>
              <a:gd name="adj1" fmla="val -10378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曲线连接符 47">
            <a:extLst>
              <a:ext uri="{FF2B5EF4-FFF2-40B4-BE49-F238E27FC236}">
                <a16:creationId xmlns:a16="http://schemas.microsoft.com/office/drawing/2014/main" id="{E41DAACD-0157-5C4E-8733-8911DC95797C}"/>
              </a:ext>
            </a:extLst>
          </p:cNvPr>
          <p:cNvCxnSpPr>
            <a:stCxn id="38" idx="0"/>
            <a:endCxn id="12" idx="0"/>
          </p:cNvCxnSpPr>
          <p:nvPr/>
        </p:nvCxnSpPr>
        <p:spPr>
          <a:xfrm rot="16200000" flipV="1">
            <a:off x="6334593" y="1202921"/>
            <a:ext cx="442121" cy="2599150"/>
          </a:xfrm>
          <a:prstGeom prst="curvedConnector3">
            <a:avLst>
              <a:gd name="adj1" fmla="val 13579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24094E98-F719-CD4C-AE00-2EA831603DE8}"/>
              </a:ext>
            </a:extLst>
          </p:cNvPr>
          <p:cNvSpPr txBox="1"/>
          <p:nvPr/>
        </p:nvSpPr>
        <p:spPr>
          <a:xfrm>
            <a:off x="7956376" y="1777380"/>
            <a:ext cx="1368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BD374B"/>
                </a:solidFill>
              </a:rPr>
              <a:t>分裂出</a:t>
            </a:r>
            <a:r>
              <a:rPr kumimoji="1" lang="en-US" altLang="zh-CN" dirty="0">
                <a:solidFill>
                  <a:srgbClr val="BD374B"/>
                </a:solidFill>
              </a:rPr>
              <a:t>3</a:t>
            </a:r>
            <a:r>
              <a:rPr kumimoji="1" lang="zh-CN" altLang="en-US" dirty="0">
                <a:solidFill>
                  <a:srgbClr val="BD374B"/>
                </a:solidFill>
              </a:rPr>
              <a:t>块</a:t>
            </a:r>
            <a:endParaRPr kumimoji="1" lang="en-US" altLang="zh-CN" dirty="0">
              <a:solidFill>
                <a:srgbClr val="BD374B"/>
              </a:solidFill>
            </a:endParaRPr>
          </a:p>
          <a:p>
            <a:r>
              <a:rPr kumimoji="1" lang="zh-CN" altLang="en-US" dirty="0">
                <a:solidFill>
                  <a:srgbClr val="BD374B"/>
                </a:solidFill>
              </a:rPr>
              <a:t>   分配</a:t>
            </a:r>
            <a:r>
              <a:rPr kumimoji="1" lang="en-US" altLang="zh-CN" dirty="0">
                <a:solidFill>
                  <a:srgbClr val="BD374B"/>
                </a:solidFill>
              </a:rPr>
              <a:t>1</a:t>
            </a:r>
            <a:r>
              <a:rPr kumimoji="1" lang="zh-CN" altLang="en-US" dirty="0">
                <a:solidFill>
                  <a:srgbClr val="BD374B"/>
                </a:solidFill>
              </a:rPr>
              <a:t>块 </a:t>
            </a:r>
            <a:endParaRPr kumimoji="1" lang="en-US" altLang="zh-CN" dirty="0">
              <a:solidFill>
                <a:srgbClr val="BD374B"/>
              </a:solidFill>
            </a:endParaRPr>
          </a:p>
          <a:p>
            <a:r>
              <a:rPr kumimoji="1" lang="zh-CN" altLang="en-US" dirty="0">
                <a:solidFill>
                  <a:srgbClr val="BD374B"/>
                </a:solidFill>
              </a:rPr>
              <a:t>   剩余</a:t>
            </a:r>
            <a:r>
              <a:rPr kumimoji="1" lang="en-US" altLang="zh-CN" dirty="0">
                <a:solidFill>
                  <a:srgbClr val="BD374B"/>
                </a:solidFill>
              </a:rPr>
              <a:t>2</a:t>
            </a:r>
            <a:r>
              <a:rPr kumimoji="1" lang="zh-CN" altLang="en-US" dirty="0">
                <a:solidFill>
                  <a:srgbClr val="BD374B"/>
                </a:solidFill>
              </a:rPr>
              <a:t>块</a:t>
            </a:r>
            <a:endParaRPr kumimoji="1" lang="en-US" altLang="zh-CN" dirty="0">
              <a:solidFill>
                <a:srgbClr val="BD374B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D6B11A9-83AA-9245-B45C-A9A7D2CAB457}"/>
              </a:ext>
            </a:extLst>
          </p:cNvPr>
          <p:cNvSpPr txBox="1"/>
          <p:nvPr/>
        </p:nvSpPr>
        <p:spPr>
          <a:xfrm>
            <a:off x="7620000" y="3468678"/>
            <a:ext cx="47000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BD374B"/>
                </a:solidFill>
              </a:rPr>
              <a:t>2</a:t>
            </a:r>
            <a:r>
              <a:rPr kumimoji="1" lang="en-US" altLang="zh-CN" sz="2400" baseline="30000" dirty="0">
                <a:solidFill>
                  <a:srgbClr val="BD374B"/>
                </a:solidFill>
              </a:rPr>
              <a:t>0</a:t>
            </a:r>
            <a:endParaRPr kumimoji="1" lang="zh-CN" altLang="en-US" sz="2400" baseline="30000" dirty="0">
              <a:solidFill>
                <a:srgbClr val="BD374B"/>
              </a:solidFill>
            </a:endParaRPr>
          </a:p>
        </p:txBody>
      </p:sp>
      <p:cxnSp>
        <p:nvCxnSpPr>
          <p:cNvPr id="55" name="曲线连接符 54">
            <a:extLst>
              <a:ext uri="{FF2B5EF4-FFF2-40B4-BE49-F238E27FC236}">
                <a16:creationId xmlns:a16="http://schemas.microsoft.com/office/drawing/2014/main" id="{F3976821-C5E1-134A-A597-977BB15C7191}"/>
              </a:ext>
            </a:extLst>
          </p:cNvPr>
          <p:cNvCxnSpPr>
            <a:stCxn id="53" idx="0"/>
            <a:endCxn id="17" idx="0"/>
          </p:cNvCxnSpPr>
          <p:nvPr/>
        </p:nvCxnSpPr>
        <p:spPr>
          <a:xfrm rot="16200000" flipV="1">
            <a:off x="5855404" y="1469082"/>
            <a:ext cx="176132" cy="3823060"/>
          </a:xfrm>
          <a:prstGeom prst="curvedConnector3">
            <a:avLst>
              <a:gd name="adj1" fmla="val 22978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1DE8D915-64C5-2449-B88C-E750B621B480}"/>
              </a:ext>
            </a:extLst>
          </p:cNvPr>
          <p:cNvSpPr txBox="1"/>
          <p:nvPr/>
        </p:nvSpPr>
        <p:spPr>
          <a:xfrm>
            <a:off x="8137750" y="3478082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BD374B"/>
                </a:solidFill>
              </a:rPr>
              <a:t>剩余</a:t>
            </a:r>
            <a:r>
              <a:rPr kumimoji="1" lang="en-US" altLang="zh-CN" dirty="0">
                <a:solidFill>
                  <a:srgbClr val="BD374B"/>
                </a:solidFill>
              </a:rPr>
              <a:t>1</a:t>
            </a:r>
            <a:r>
              <a:rPr kumimoji="1" lang="zh-CN" altLang="en-US" dirty="0">
                <a:solidFill>
                  <a:srgbClr val="BD374B"/>
                </a:solidFill>
              </a:rPr>
              <a:t>块</a:t>
            </a:r>
            <a:endParaRPr kumimoji="1" lang="zh-CN" altLang="en-US" sz="2400" dirty="0">
              <a:solidFill>
                <a:srgbClr val="BD374B"/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5841B92-7DBB-B94A-AF30-57EBB808ACA3}"/>
              </a:ext>
            </a:extLst>
          </p:cNvPr>
          <p:cNvSpPr txBox="1"/>
          <p:nvPr/>
        </p:nvSpPr>
        <p:spPr>
          <a:xfrm>
            <a:off x="7625997" y="4281298"/>
            <a:ext cx="47000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BD374B"/>
                </a:solidFill>
              </a:rPr>
              <a:t>2</a:t>
            </a:r>
            <a:r>
              <a:rPr kumimoji="1" lang="en-US" altLang="zh-CN" sz="2400" baseline="30000" dirty="0">
                <a:solidFill>
                  <a:srgbClr val="BD374B"/>
                </a:solidFill>
              </a:rPr>
              <a:t>1</a:t>
            </a:r>
            <a:endParaRPr kumimoji="1" lang="zh-CN" altLang="en-US" sz="2400" baseline="30000" dirty="0">
              <a:solidFill>
                <a:srgbClr val="BD374B"/>
              </a:solidFill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B134CD37-415B-B44A-88F3-FECA03E9B719}"/>
              </a:ext>
            </a:extLst>
          </p:cNvPr>
          <p:cNvSpPr txBox="1"/>
          <p:nvPr/>
        </p:nvSpPr>
        <p:spPr>
          <a:xfrm>
            <a:off x="7656246" y="4796137"/>
            <a:ext cx="14670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BD374B"/>
                </a:solidFill>
              </a:rPr>
              <a:t>释放合并</a:t>
            </a:r>
            <a:endParaRPr kumimoji="1" lang="en-US" altLang="zh-CN" b="1" dirty="0">
              <a:solidFill>
                <a:srgbClr val="BD374B"/>
              </a:solidFill>
            </a:endParaRPr>
          </a:p>
          <a:p>
            <a:r>
              <a:rPr kumimoji="1" lang="zh-CN" altLang="en-US" dirty="0">
                <a:solidFill>
                  <a:srgbClr val="BD374B"/>
                </a:solidFill>
              </a:rPr>
              <a:t>依然剩余</a:t>
            </a:r>
            <a:r>
              <a:rPr kumimoji="1" lang="en-US" altLang="zh-CN" dirty="0">
                <a:solidFill>
                  <a:srgbClr val="BD374B"/>
                </a:solidFill>
              </a:rPr>
              <a:t>1</a:t>
            </a:r>
            <a:r>
              <a:rPr kumimoji="1" lang="zh-CN" altLang="en-US" dirty="0">
                <a:solidFill>
                  <a:srgbClr val="BD374B"/>
                </a:solidFill>
              </a:rPr>
              <a:t>块</a:t>
            </a:r>
            <a:endParaRPr kumimoji="1" lang="zh-CN" altLang="en-US" sz="2400" dirty="0">
              <a:solidFill>
                <a:srgbClr val="BD374B"/>
              </a:solidFill>
            </a:endParaRPr>
          </a:p>
        </p:txBody>
      </p:sp>
      <p:cxnSp>
        <p:nvCxnSpPr>
          <p:cNvPr id="60" name="曲线连接符 59">
            <a:extLst>
              <a:ext uri="{FF2B5EF4-FFF2-40B4-BE49-F238E27FC236}">
                <a16:creationId xmlns:a16="http://schemas.microsoft.com/office/drawing/2014/main" id="{0AC0CDB9-BCB6-1F40-B4B8-425CA373C588}"/>
              </a:ext>
            </a:extLst>
          </p:cNvPr>
          <p:cNvCxnSpPr>
            <a:cxnSpLocks/>
            <a:stCxn id="57" idx="0"/>
            <a:endCxn id="23" idx="0"/>
          </p:cNvCxnSpPr>
          <p:nvPr/>
        </p:nvCxnSpPr>
        <p:spPr>
          <a:xfrm rot="16200000" flipH="1" flipV="1">
            <a:off x="5326221" y="1762881"/>
            <a:ext cx="16360" cy="5053193"/>
          </a:xfrm>
          <a:prstGeom prst="curvedConnector3">
            <a:avLst>
              <a:gd name="adj1" fmla="val -139731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48934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F5C542-F9D4-BD49-92CB-2C15E3EA6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伙伴系统：以页为粒度的物理内存管理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1DB0BC-D158-6D4F-B044-D9778B73F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000" dirty="0"/>
              <a:t>基于直接映射机制的物理内存管理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一旦分配，则可以直接使用，而不会触发</a:t>
            </a:r>
            <a:r>
              <a:rPr kumimoji="1" lang="en-US" altLang="zh-CN" sz="1800" dirty="0"/>
              <a:t>page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fault</a:t>
            </a:r>
          </a:p>
          <a:p>
            <a:pPr lvl="1"/>
            <a:r>
              <a:rPr kumimoji="1" lang="zh-CN" altLang="en-US" sz="1800" dirty="0"/>
              <a:t>若虚拟地址连续，则物理地址也连续</a:t>
            </a:r>
            <a:endParaRPr kumimoji="1" lang="en-US" altLang="zh-CN" sz="1800" dirty="0"/>
          </a:p>
          <a:p>
            <a:r>
              <a:rPr kumimoji="1" lang="zh-CN" altLang="en-US" sz="2000" dirty="0"/>
              <a:t>优点</a:t>
            </a:r>
            <a:endParaRPr kumimoji="1" lang="en-US" altLang="zh-CN" sz="2400" dirty="0"/>
          </a:p>
          <a:p>
            <a:pPr lvl="1"/>
            <a:r>
              <a:rPr kumimoji="1" lang="zh-CN" altLang="en-US" sz="1800" dirty="0"/>
              <a:t>外部碎片程度降低（但并没有完全解决）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释放物理页时，可快速查找同层的伙伴页，使合并机制的性能提高</a:t>
            </a:r>
            <a:endParaRPr kumimoji="1" lang="en-US" altLang="zh-CN" sz="1800" dirty="0"/>
          </a:p>
          <a:p>
            <a:r>
              <a:rPr kumimoji="1" lang="zh-CN" altLang="en-US" sz="2000" dirty="0"/>
              <a:t>缺点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一次内存页释放有可能导致大量合并操作，导致高时延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内部碎片依然存在：如请求</a:t>
            </a:r>
            <a:r>
              <a:rPr kumimoji="1" lang="en-US" altLang="zh-CN" sz="1800" dirty="0"/>
              <a:t>9KB</a:t>
            </a:r>
            <a:r>
              <a:rPr kumimoji="1" lang="zh-CN" altLang="en-US" sz="1800" dirty="0"/>
              <a:t>，分配</a:t>
            </a:r>
            <a:r>
              <a:rPr kumimoji="1" lang="en-US" altLang="zh-CN" sz="1800" dirty="0"/>
              <a:t>16KB</a:t>
            </a:r>
            <a:r>
              <a:rPr kumimoji="1" lang="zh-CN" altLang="en-US" sz="1800" dirty="0"/>
              <a:t>（</a:t>
            </a:r>
            <a:r>
              <a:rPr kumimoji="1" lang="en-US" altLang="zh-CN" sz="1800" dirty="0"/>
              <a:t>4</a:t>
            </a:r>
            <a:r>
              <a:rPr kumimoji="1" lang="zh-CN" altLang="en-US" sz="1800" dirty="0"/>
              <a:t>个页）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83F2DF-28D9-6E48-BFEA-6CBFF2DC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03850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2289A6-90AB-364E-996F-A8B2E2014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zh-CN" sz="3200" dirty="0"/>
              <a:t>SLAB/SLUB/SLOB</a:t>
            </a:r>
            <a:r>
              <a:rPr kumimoji="1" lang="zh-CN" altLang="en-US" sz="3200" dirty="0"/>
              <a:t>：细粒度内存管理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E23EB0-DE3C-5D4D-A0A5-86C537FB62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4E72FF-D54C-C948-85EB-0250204E5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6117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4A7030-52EA-7A4E-883C-984F8BF3B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如何实现内核的</a:t>
            </a:r>
            <a:r>
              <a:rPr kumimoji="1" lang="en-US" altLang="zh-CN" dirty="0"/>
              <a:t>malloc</a:t>
            </a:r>
            <a:r>
              <a:rPr kumimoji="1" lang="zh-CN" altLang="en-US" dirty="0"/>
              <a:t>（</a:t>
            </a:r>
            <a:r>
              <a:rPr kumimoji="1" lang="en-US" altLang="zh-CN" dirty="0" err="1"/>
              <a:t>kmalloc</a:t>
            </a:r>
            <a:r>
              <a:rPr kumimoji="1" lang="zh-CN" altLang="en-US" dirty="0"/>
              <a:t>）？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0FE469-95F8-E745-9572-8A71669D2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435280" cy="4152633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/>
              <a:t>简单方法：直接使用伙伴系统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每次分配，将大小对齐到页粒度（如</a:t>
            </a:r>
            <a:r>
              <a:rPr kumimoji="1" lang="en-US" altLang="zh-CN" dirty="0"/>
              <a:t>4K</a:t>
            </a:r>
            <a:r>
              <a:rPr kumimoji="1" lang="zh-CN" altLang="en-US" dirty="0"/>
              <a:t>）</a:t>
            </a:r>
          </a:p>
          <a:p>
            <a:r>
              <a:rPr kumimoji="1" lang="zh-CN" altLang="en-US" dirty="0"/>
              <a:t>优点：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分配得到的地址已映射物理内存，不会触发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fault</a:t>
            </a:r>
          </a:p>
          <a:p>
            <a:r>
              <a:rPr kumimoji="1" lang="zh-CN" altLang="en-US" dirty="0"/>
              <a:t>缺点：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大量数据结构都在几十</a:t>
            </a:r>
            <a:r>
              <a:rPr kumimoji="1" lang="en-US" altLang="zh-CN" dirty="0"/>
              <a:t>Byte</a:t>
            </a:r>
            <a:r>
              <a:rPr kumimoji="1" lang="zh-CN" altLang="en-US" dirty="0"/>
              <a:t>粒度，导致内存利用率极低</a:t>
            </a:r>
            <a:endParaRPr kumimoji="1" lang="en-US" altLang="zh-CN" dirty="0"/>
          </a:p>
          <a:p>
            <a:r>
              <a:rPr kumimoji="1" lang="zh-CN" altLang="en-US" dirty="0"/>
              <a:t>需在内存页的基础上，再加一层更细粒度的内存分配系统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D9BA8A-29B3-884B-B2AC-0977D3AA8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96838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2A0460-6C7D-194F-ABB8-DCEFBB8CB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目标：快速分配小内存对象</a:t>
            </a:r>
            <a:endParaRPr kumimoji="1" lang="en-US" altLang="zh-CN" sz="2400" dirty="0"/>
          </a:p>
          <a:p>
            <a:r>
              <a:rPr kumimoji="1" lang="en-US" altLang="zh-CN" sz="2400" dirty="0"/>
              <a:t>SLAB</a:t>
            </a:r>
            <a:r>
              <a:rPr kumimoji="1" lang="zh-CN" altLang="en-US" sz="2400" dirty="0"/>
              <a:t>分配器家族：</a:t>
            </a:r>
            <a:r>
              <a:rPr kumimoji="1" lang="en-US" altLang="zh-CN" sz="2400" dirty="0"/>
              <a:t>SLAB</a:t>
            </a:r>
            <a:r>
              <a:rPr kumimoji="1" lang="zh-CN" altLang="en-US" sz="2400" dirty="0"/>
              <a:t>、</a:t>
            </a:r>
            <a:r>
              <a:rPr kumimoji="1" lang="en-US" altLang="zh-CN" sz="2400" dirty="0"/>
              <a:t>SLUB</a:t>
            </a:r>
            <a:r>
              <a:rPr kumimoji="1" lang="zh-CN" altLang="en-US" sz="2400" dirty="0"/>
              <a:t>、</a:t>
            </a:r>
            <a:r>
              <a:rPr kumimoji="1" lang="en-US" altLang="zh-CN" sz="2400" dirty="0"/>
              <a:t>SLOB</a:t>
            </a:r>
          </a:p>
          <a:p>
            <a:pPr lvl="1"/>
            <a:r>
              <a:rPr kumimoji="1" lang="zh-CN" altLang="en-US" sz="2000" dirty="0"/>
              <a:t>上世纪 </a:t>
            </a:r>
            <a:r>
              <a:rPr kumimoji="1" lang="en-US" altLang="zh-CN" sz="2000" dirty="0"/>
              <a:t>90 </a:t>
            </a:r>
            <a:r>
              <a:rPr kumimoji="1" lang="zh-CN" altLang="en-US" sz="2000" dirty="0"/>
              <a:t>年代，</a:t>
            </a:r>
            <a:r>
              <a:rPr kumimoji="1" lang="en-US" altLang="zh-CN" sz="2000" dirty="0"/>
              <a:t>Jeff </a:t>
            </a:r>
            <a:r>
              <a:rPr kumimoji="1" lang="en-US" altLang="zh-CN" sz="2000" dirty="0" err="1"/>
              <a:t>Bonwick</a:t>
            </a:r>
            <a:r>
              <a:rPr kumimoji="1" lang="zh-CN" altLang="en-US" sz="2000" dirty="0"/>
              <a:t>在</a:t>
            </a:r>
            <a:r>
              <a:rPr kumimoji="1" lang="en-US" altLang="zh-CN" sz="2000" dirty="0"/>
              <a:t>Solaris 2.4</a:t>
            </a:r>
            <a:r>
              <a:rPr kumimoji="1" lang="zh-CN" altLang="en-US" sz="2000" dirty="0"/>
              <a:t>中首创</a:t>
            </a:r>
            <a:r>
              <a:rPr kumimoji="1" lang="en-US" altLang="zh-CN" sz="2000" dirty="0"/>
              <a:t>SLAB</a:t>
            </a:r>
          </a:p>
          <a:p>
            <a:pPr lvl="1"/>
            <a:r>
              <a:rPr lang="en-US" altLang="zh-CN" sz="2000" dirty="0"/>
              <a:t>2007</a:t>
            </a:r>
            <a:r>
              <a:rPr lang="zh-CN" altLang="en-US" sz="2000" dirty="0"/>
              <a:t>年左右，</a:t>
            </a:r>
            <a:r>
              <a:rPr lang="en-US" altLang="zh-CN" sz="2000" dirty="0"/>
              <a:t>Christoph </a:t>
            </a:r>
            <a:r>
              <a:rPr lang="en-US" altLang="zh-CN" sz="2000" dirty="0" err="1"/>
              <a:t>Lameter</a:t>
            </a:r>
            <a:r>
              <a:rPr lang="zh-CN" altLang="en-US" sz="2000" dirty="0"/>
              <a:t>在</a:t>
            </a:r>
            <a:r>
              <a:rPr lang="en-US" altLang="zh-CN" sz="2000" dirty="0"/>
              <a:t>Linux</a:t>
            </a:r>
            <a:r>
              <a:rPr lang="zh-CN" altLang="en-US" sz="2000" dirty="0"/>
              <a:t>中提出</a:t>
            </a:r>
            <a:r>
              <a:rPr lang="en-US" altLang="zh-CN" sz="2000" dirty="0"/>
              <a:t>SLUB</a:t>
            </a:r>
          </a:p>
          <a:p>
            <a:pPr lvl="2"/>
            <a:r>
              <a:rPr kumimoji="1" lang="en-US" altLang="zh-CN" sz="1800" dirty="0"/>
              <a:t>Linux-2.6.23</a:t>
            </a:r>
            <a:r>
              <a:rPr kumimoji="1" lang="zh-CN" altLang="en-US" sz="1800" dirty="0"/>
              <a:t>之后</a:t>
            </a:r>
            <a:r>
              <a:rPr kumimoji="1" lang="en-US" altLang="zh-CN" sz="1800" dirty="0"/>
              <a:t>SLUB</a:t>
            </a:r>
            <a:r>
              <a:rPr kumimoji="1" lang="zh-CN" altLang="en-US" sz="1800" dirty="0"/>
              <a:t>成为默认分配器</a:t>
            </a:r>
            <a:endParaRPr kumimoji="1" lang="en-US" altLang="zh-CN" sz="1800" dirty="0"/>
          </a:p>
          <a:p>
            <a:pPr lvl="1"/>
            <a:r>
              <a:rPr kumimoji="1" lang="zh-CN" altLang="en-US" sz="2000" dirty="0"/>
              <a:t>发展过程中，提出针对内存稀缺场景的</a:t>
            </a:r>
            <a:r>
              <a:rPr kumimoji="1" lang="en-US" altLang="zh-CN" sz="2000" dirty="0"/>
              <a:t>SLOB</a:t>
            </a:r>
          </a:p>
          <a:p>
            <a:r>
              <a:rPr kumimoji="1" lang="zh-CN" altLang="en-US" sz="2400" dirty="0"/>
              <a:t>后续以主流的</a:t>
            </a:r>
            <a:r>
              <a:rPr kumimoji="1" lang="en-US" altLang="zh-CN" sz="2400" dirty="0"/>
              <a:t>SLUB</a:t>
            </a:r>
            <a:r>
              <a:rPr kumimoji="1" lang="zh-CN" altLang="en-US" sz="2400" dirty="0"/>
              <a:t>为例讲解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ADEE49-C68F-3F42-AC19-C624BC605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EA5EE2D9-5816-664C-8A18-A62485CB5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SLAB</a:t>
            </a:r>
            <a:r>
              <a:rPr lang="zh-CN" altLang="en-US" dirty="0"/>
              <a:t>：建立在伙伴系统之上的分配器</a:t>
            </a:r>
          </a:p>
        </p:txBody>
      </p:sp>
    </p:spTree>
    <p:extLst>
      <p:ext uri="{BB962C8B-B14F-4D97-AF65-F5344CB8AC3E}">
        <p14:creationId xmlns:p14="http://schemas.microsoft.com/office/powerpoint/2010/main" val="1592972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6EE4C4-3EC4-F44C-B6EE-EF880C51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分配器的思路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7CD2CB-3A7E-AA4A-BC26-A0DE1D742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zh-CN" altLang="en-US" dirty="0"/>
              <a:t>观察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操作系统频繁分配的对象大小相对比较固定</a:t>
            </a:r>
            <a:endParaRPr kumimoji="1" lang="en-US" altLang="zh-CN" dirty="0"/>
          </a:p>
          <a:p>
            <a:r>
              <a:rPr kumimoji="1" lang="zh-CN" altLang="en-US" dirty="0"/>
              <a:t>基本思想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从伙伴系统获得大块内存（名为</a:t>
            </a:r>
            <a:r>
              <a:rPr kumimoji="1" lang="en-US" altLang="zh-CN" dirty="0"/>
              <a:t>slab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对每份大块内存进一步细分成固定大小的小块内存进行管理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块的大小通常是 </a:t>
            </a:r>
            <a:r>
              <a:rPr kumimoji="1" lang="en-US" altLang="zh-CN" dirty="0"/>
              <a:t>2</a:t>
            </a:r>
            <a:r>
              <a:rPr kumimoji="1" lang="en-US" altLang="zh-CN" baseline="30000" dirty="0"/>
              <a:t>n</a:t>
            </a:r>
            <a:r>
              <a:rPr kumimoji="1" lang="en-US" altLang="zh-CN" dirty="0"/>
              <a:t> </a:t>
            </a:r>
            <a:r>
              <a:rPr kumimoji="1" lang="zh-CN" altLang="en-US" dirty="0"/>
              <a:t>个字节（一般来说，</a:t>
            </a:r>
            <a:r>
              <a:rPr kumimoji="1" lang="en-US" altLang="zh-CN" dirty="0"/>
              <a:t>3 ⩽ n &lt; 12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也可为特定数据结构增加特殊大小的块，从而减小内部碎片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A68EB2-4ADC-4A49-95B7-6E84A7DE9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96178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7BBC4B-0A06-CF41-8129-4C7C5647D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079D37-8022-714B-8D3C-8010EC817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>
                <a:solidFill>
                  <a:srgbClr val="C00000"/>
                </a:solidFill>
              </a:rPr>
              <a:t>只分配固定大小块</a:t>
            </a:r>
            <a:endParaRPr kumimoji="1" lang="en-US" altLang="zh-CN" sz="2400" dirty="0"/>
          </a:p>
          <a:p>
            <a:r>
              <a:rPr kumimoji="1" lang="zh-CN" altLang="en-US" sz="2400" dirty="0"/>
              <a:t>对于每个固定块大小，</a:t>
            </a:r>
            <a:r>
              <a:rPr kumimoji="1" lang="en-US" altLang="zh-CN" sz="2400" dirty="0"/>
              <a:t>SLUB </a:t>
            </a:r>
            <a:r>
              <a:rPr kumimoji="1" lang="zh-CN" altLang="en-US" sz="2400" dirty="0"/>
              <a:t>分配器都会使用独立的内存资源池进行分配</a:t>
            </a:r>
            <a:endParaRPr kumimoji="1" lang="en-US" altLang="zh-CN" sz="2400" dirty="0"/>
          </a:p>
          <a:p>
            <a:r>
              <a:rPr kumimoji="1" lang="zh-CN" altLang="en-US" sz="2400" dirty="0"/>
              <a:t>采用</a:t>
            </a:r>
            <a:r>
              <a:rPr kumimoji="1" lang="en-US" altLang="zh-CN" sz="2400" dirty="0">
                <a:solidFill>
                  <a:srgbClr val="C00000"/>
                </a:solidFill>
              </a:rPr>
              <a:t>best</a:t>
            </a:r>
            <a:r>
              <a:rPr kumimoji="1" lang="zh-CN" altLang="en-US" sz="2400" dirty="0">
                <a:solidFill>
                  <a:srgbClr val="C00000"/>
                </a:solidFill>
              </a:rPr>
              <a:t> </a:t>
            </a:r>
            <a:r>
              <a:rPr kumimoji="1" lang="en-US" altLang="zh-CN" sz="2400" dirty="0">
                <a:solidFill>
                  <a:srgbClr val="C00000"/>
                </a:solidFill>
              </a:rPr>
              <a:t>fit</a:t>
            </a:r>
            <a:r>
              <a:rPr kumimoji="1" lang="zh-CN" altLang="en-US" sz="2400" dirty="0"/>
              <a:t>定位资源池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18473F-1668-5B48-964E-9142EA862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CDD9B70-80F6-954F-9BD8-961227E633AB}"/>
              </a:ext>
            </a:extLst>
          </p:cNvPr>
          <p:cNvGrpSpPr/>
          <p:nvPr/>
        </p:nvGrpSpPr>
        <p:grpSpPr>
          <a:xfrm>
            <a:off x="4582248" y="2929508"/>
            <a:ext cx="4005949" cy="2063226"/>
            <a:chOff x="3230347" y="2408067"/>
            <a:chExt cx="4005949" cy="206322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4B8AB6A-33B8-EE44-A5BE-EEDEBB1BD443}"/>
                </a:ext>
              </a:extLst>
            </p:cNvPr>
            <p:cNvSpPr/>
            <p:nvPr/>
          </p:nvSpPr>
          <p:spPr>
            <a:xfrm>
              <a:off x="4355976" y="2869732"/>
              <a:ext cx="2880320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690B026-0684-D34E-A09A-3CD60CD68B0B}"/>
                </a:ext>
              </a:extLst>
            </p:cNvPr>
            <p:cNvSpPr/>
            <p:nvPr/>
          </p:nvSpPr>
          <p:spPr>
            <a:xfrm>
              <a:off x="5206134" y="2408067"/>
              <a:ext cx="1107996" cy="46166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zh-CN" altLang="en-US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资源池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099F34F-D7E2-4748-A171-7F7507D2520F}"/>
                </a:ext>
              </a:extLst>
            </p:cNvPr>
            <p:cNvSpPr/>
            <p:nvPr/>
          </p:nvSpPr>
          <p:spPr>
            <a:xfrm>
              <a:off x="4355976" y="3433564"/>
              <a:ext cx="2880320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2E6D062-4128-2C46-BB58-D07EB92336C0}"/>
                </a:ext>
              </a:extLst>
            </p:cNvPr>
            <p:cNvSpPr/>
            <p:nvPr/>
          </p:nvSpPr>
          <p:spPr>
            <a:xfrm>
              <a:off x="4355976" y="4009628"/>
              <a:ext cx="2880320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5F88D2F-7AF6-2D4B-94EC-68BFFEECDC55}"/>
                </a:ext>
              </a:extLst>
            </p:cNvPr>
            <p:cNvSpPr/>
            <p:nvPr/>
          </p:nvSpPr>
          <p:spPr>
            <a:xfrm>
              <a:off x="3301007" y="2869732"/>
              <a:ext cx="982961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32</a:t>
              </a:r>
              <a:r>
                <a:rPr lang="zh-CN" altLang="en-US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字节</a:t>
              </a:r>
              <a:endParaRPr lang="zh-CN" alt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43E740A-89F9-AF4A-AE08-CEE2EBEA0984}"/>
                </a:ext>
              </a:extLst>
            </p:cNvPr>
            <p:cNvSpPr/>
            <p:nvPr/>
          </p:nvSpPr>
          <p:spPr>
            <a:xfrm>
              <a:off x="3301007" y="3433564"/>
              <a:ext cx="982961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64</a:t>
              </a:r>
              <a:r>
                <a:rPr lang="zh-CN" altLang="en-US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字节</a:t>
              </a:r>
              <a:endParaRPr lang="zh-CN" alt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877FD72-7658-8D41-8A80-293B2EA41667}"/>
                </a:ext>
              </a:extLst>
            </p:cNvPr>
            <p:cNvSpPr/>
            <p:nvPr/>
          </p:nvSpPr>
          <p:spPr>
            <a:xfrm>
              <a:off x="3230347" y="4009628"/>
              <a:ext cx="1125629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128</a:t>
              </a:r>
              <a:r>
                <a:rPr lang="zh-CN" altLang="en-US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字节</a:t>
              </a:r>
              <a:endParaRPr lang="zh-CN" alt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32025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53582-84BA-514F-A8BA-78EAAB52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具体示例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CEDF7-2D92-ED42-A32B-062222C5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A644DD-8B79-F245-8488-E5C448CA017C}"/>
              </a:ext>
            </a:extLst>
          </p:cNvPr>
          <p:cNvSpPr/>
          <p:nvPr/>
        </p:nvSpPr>
        <p:spPr>
          <a:xfrm>
            <a:off x="1115616" y="2312900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4K/8K</a:t>
            </a:r>
            <a:r>
              <a:rPr kumimoji="1" lang="zh-CN" altLang="en-US" dirty="0"/>
              <a:t> </a:t>
            </a:r>
            <a:r>
              <a:rPr kumimoji="1" lang="en-US" altLang="zh-CN" dirty="0"/>
              <a:t>…</a:t>
            </a:r>
            <a:r>
              <a:rPr kumimoji="1" lang="zh-CN" altLang="en-US" dirty="0"/>
              <a:t> </a:t>
            </a:r>
            <a:r>
              <a:rPr kumimoji="1" lang="en-US" altLang="zh-CN" dirty="0"/>
              <a:t>1M/2M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398926-FF47-1749-AB62-8B6BDC83B68A}"/>
              </a:ext>
            </a:extLst>
          </p:cNvPr>
          <p:cNvSpPr txBox="1"/>
          <p:nvPr/>
        </p:nvSpPr>
        <p:spPr>
          <a:xfrm>
            <a:off x="892019" y="1329083"/>
            <a:ext cx="79928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把从伙伴系统得到的连续物理页</a:t>
            </a:r>
            <a:r>
              <a:rPr kumimoji="1" lang="zh-CN" altLang="en-US" sz="2400" b="1" dirty="0"/>
              <a:t>划分成若干等份</a:t>
            </a:r>
            <a:r>
              <a:rPr kumimoji="1" lang="zh-CN" altLang="en-US" sz="2400" dirty="0"/>
              <a:t>（</a:t>
            </a:r>
            <a:r>
              <a:rPr kumimoji="1" lang="en-US" altLang="zh-CN" sz="2400" dirty="0"/>
              <a:t>slot</a:t>
            </a:r>
            <a:r>
              <a:rPr kumimoji="1" lang="zh-CN" altLang="en-US" sz="2400" dirty="0"/>
              <a:t>）</a:t>
            </a: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70F36EB4-119C-4844-B5F7-4C10579B8339}"/>
              </a:ext>
            </a:extLst>
          </p:cNvPr>
          <p:cNvCxnSpPr>
            <a:cxnSpLocks/>
          </p:cNvCxnSpPr>
          <p:nvPr/>
        </p:nvCxnSpPr>
        <p:spPr>
          <a:xfrm>
            <a:off x="3779912" y="3433564"/>
            <a:ext cx="172819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D92A800F-A6E0-5744-865C-896D127CBE89}"/>
              </a:ext>
            </a:extLst>
          </p:cNvPr>
          <p:cNvSpPr/>
          <p:nvPr/>
        </p:nvSpPr>
        <p:spPr>
          <a:xfrm>
            <a:off x="5868144" y="2312900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DDD295-7A56-9443-A9C9-70BDB0D779E5}"/>
              </a:ext>
            </a:extLst>
          </p:cNvPr>
          <p:cNvSpPr/>
          <p:nvPr/>
        </p:nvSpPr>
        <p:spPr>
          <a:xfrm>
            <a:off x="5868144" y="230649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98A6DF-5D04-294B-A19F-10583E7973E4}"/>
              </a:ext>
            </a:extLst>
          </p:cNvPr>
          <p:cNvSpPr/>
          <p:nvPr/>
        </p:nvSpPr>
        <p:spPr>
          <a:xfrm>
            <a:off x="5868144" y="277456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409AED-371D-8948-BE6F-E0A3F23BA410}"/>
              </a:ext>
            </a:extLst>
          </p:cNvPr>
          <p:cNvSpPr/>
          <p:nvPr/>
        </p:nvSpPr>
        <p:spPr>
          <a:xfrm>
            <a:off x="5868144" y="3217540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F1D801-7085-C74A-935D-B1CB0E88FAAB}"/>
              </a:ext>
            </a:extLst>
          </p:cNvPr>
          <p:cNvSpPr/>
          <p:nvPr/>
        </p:nvSpPr>
        <p:spPr>
          <a:xfrm>
            <a:off x="5868144" y="4369668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549AAFF-9BF3-B046-B54F-C1635B7975CF}"/>
              </a:ext>
            </a:extLst>
          </p:cNvPr>
          <p:cNvSpPr/>
          <p:nvPr/>
        </p:nvSpPr>
        <p:spPr>
          <a:xfrm>
            <a:off x="5868144" y="3673968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449607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53582-84BA-514F-A8BA-78EAAB52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具体示例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CEDF7-2D92-ED42-A32B-062222C5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398926-FF47-1749-AB62-8B6BDC83B68A}"/>
              </a:ext>
            </a:extLst>
          </p:cNvPr>
          <p:cNvSpPr txBox="1"/>
          <p:nvPr/>
        </p:nvSpPr>
        <p:spPr>
          <a:xfrm>
            <a:off x="2243351" y="1232815"/>
            <a:ext cx="48013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当分配时直接分配一个空闲</a:t>
            </a:r>
            <a:r>
              <a:rPr kumimoji="1" lang="en-US" altLang="zh-CN" sz="2400" dirty="0"/>
              <a:t>slot</a:t>
            </a:r>
            <a:r>
              <a:rPr kumimoji="1" lang="zh-CN" altLang="en-US" sz="2400" dirty="0"/>
              <a:t>：</a:t>
            </a:r>
            <a:endParaRPr kumimoji="1" lang="en-US" altLang="zh-CN" sz="2400" dirty="0"/>
          </a:p>
          <a:p>
            <a:r>
              <a:rPr kumimoji="1" lang="zh-CN" altLang="en-US" sz="2400" b="1" dirty="0">
                <a:solidFill>
                  <a:srgbClr val="C00000"/>
                </a:solidFill>
              </a:rPr>
              <a:t>如何区分是否空闲？</a:t>
            </a:r>
            <a:r>
              <a:rPr kumimoji="1" lang="zh-CN" altLang="en-US" sz="2400" dirty="0"/>
              <a:t>采用空闲链表</a:t>
            </a:r>
            <a:endParaRPr kumimoji="1" lang="en-US" altLang="zh-CN" sz="2400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70F36EB4-119C-4844-B5F7-4C10579B8339}"/>
              </a:ext>
            </a:extLst>
          </p:cNvPr>
          <p:cNvCxnSpPr>
            <a:cxnSpLocks/>
          </p:cNvCxnSpPr>
          <p:nvPr/>
        </p:nvCxnSpPr>
        <p:spPr>
          <a:xfrm>
            <a:off x="3779912" y="3433564"/>
            <a:ext cx="172819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D92A800F-A6E0-5744-865C-896D127CBE89}"/>
              </a:ext>
            </a:extLst>
          </p:cNvPr>
          <p:cNvSpPr/>
          <p:nvPr/>
        </p:nvSpPr>
        <p:spPr>
          <a:xfrm>
            <a:off x="5868144" y="2312900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DDD295-7A56-9443-A9C9-70BDB0D779E5}"/>
              </a:ext>
            </a:extLst>
          </p:cNvPr>
          <p:cNvSpPr/>
          <p:nvPr/>
        </p:nvSpPr>
        <p:spPr>
          <a:xfrm>
            <a:off x="5868144" y="230649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98A6DF-5D04-294B-A19F-10583E7973E4}"/>
              </a:ext>
            </a:extLst>
          </p:cNvPr>
          <p:cNvSpPr/>
          <p:nvPr/>
        </p:nvSpPr>
        <p:spPr>
          <a:xfrm>
            <a:off x="5868144" y="277456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409AED-371D-8948-BE6F-E0A3F23BA410}"/>
              </a:ext>
            </a:extLst>
          </p:cNvPr>
          <p:cNvSpPr/>
          <p:nvPr/>
        </p:nvSpPr>
        <p:spPr>
          <a:xfrm>
            <a:off x="5868144" y="3217540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F1D801-7085-C74A-935D-B1CB0E88FAAB}"/>
              </a:ext>
            </a:extLst>
          </p:cNvPr>
          <p:cNvSpPr/>
          <p:nvPr/>
        </p:nvSpPr>
        <p:spPr>
          <a:xfrm>
            <a:off x="5868144" y="4369668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549AAFF-9BF3-B046-B54F-C1635B7975CF}"/>
              </a:ext>
            </a:extLst>
          </p:cNvPr>
          <p:cNvSpPr/>
          <p:nvPr/>
        </p:nvSpPr>
        <p:spPr>
          <a:xfrm>
            <a:off x="5868144" y="3673968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A3220E8-FAA1-1846-92F9-501F834AB7A3}"/>
              </a:ext>
            </a:extLst>
          </p:cNvPr>
          <p:cNvSpPr/>
          <p:nvPr/>
        </p:nvSpPr>
        <p:spPr>
          <a:xfrm>
            <a:off x="971601" y="2312900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A98904E-03C3-754D-A5E8-94995AC92156}"/>
              </a:ext>
            </a:extLst>
          </p:cNvPr>
          <p:cNvSpPr/>
          <p:nvPr/>
        </p:nvSpPr>
        <p:spPr>
          <a:xfrm>
            <a:off x="971601" y="230649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1306797-DF09-2B40-B93A-F8F62B02D4E2}"/>
              </a:ext>
            </a:extLst>
          </p:cNvPr>
          <p:cNvSpPr/>
          <p:nvPr/>
        </p:nvSpPr>
        <p:spPr>
          <a:xfrm>
            <a:off x="971601" y="277456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4F37443-30CF-154D-9960-8403FE61CA43}"/>
              </a:ext>
            </a:extLst>
          </p:cNvPr>
          <p:cNvSpPr/>
          <p:nvPr/>
        </p:nvSpPr>
        <p:spPr>
          <a:xfrm>
            <a:off x="971601" y="3217540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B95EA0B-FFDF-4D49-BAF9-2BA8385058A4}"/>
              </a:ext>
            </a:extLst>
          </p:cNvPr>
          <p:cNvSpPr/>
          <p:nvPr/>
        </p:nvSpPr>
        <p:spPr>
          <a:xfrm>
            <a:off x="971601" y="4369668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AED1B14-693D-B946-BA0E-74D67A9AB8B2}"/>
              </a:ext>
            </a:extLst>
          </p:cNvPr>
          <p:cNvSpPr/>
          <p:nvPr/>
        </p:nvSpPr>
        <p:spPr>
          <a:xfrm>
            <a:off x="971601" y="3673968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9" name="环形箭头 8">
            <a:extLst>
              <a:ext uri="{FF2B5EF4-FFF2-40B4-BE49-F238E27FC236}">
                <a16:creationId xmlns:a16="http://schemas.microsoft.com/office/drawing/2014/main" id="{EA3FA183-CEEF-0048-B046-F1BF2EA509E3}"/>
              </a:ext>
            </a:extLst>
          </p:cNvPr>
          <p:cNvSpPr/>
          <p:nvPr/>
        </p:nvSpPr>
        <p:spPr>
          <a:xfrm rot="5400000">
            <a:off x="7992360" y="2389468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2" name="环形箭头 21">
            <a:extLst>
              <a:ext uri="{FF2B5EF4-FFF2-40B4-BE49-F238E27FC236}">
                <a16:creationId xmlns:a16="http://schemas.microsoft.com/office/drawing/2014/main" id="{F8A4118E-0A19-5A41-8757-C24C7192A4D6}"/>
              </a:ext>
            </a:extLst>
          </p:cNvPr>
          <p:cNvSpPr/>
          <p:nvPr/>
        </p:nvSpPr>
        <p:spPr>
          <a:xfrm rot="5400000">
            <a:off x="7992360" y="2902077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3" name="环形箭头 22">
            <a:extLst>
              <a:ext uri="{FF2B5EF4-FFF2-40B4-BE49-F238E27FC236}">
                <a16:creationId xmlns:a16="http://schemas.microsoft.com/office/drawing/2014/main" id="{6CE7191D-AAE2-D64D-A17B-EB2A55461B69}"/>
              </a:ext>
            </a:extLst>
          </p:cNvPr>
          <p:cNvSpPr/>
          <p:nvPr/>
        </p:nvSpPr>
        <p:spPr>
          <a:xfrm rot="5400000">
            <a:off x="8012316" y="4032322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4" name="环形箭头 23">
            <a:extLst>
              <a:ext uri="{FF2B5EF4-FFF2-40B4-BE49-F238E27FC236}">
                <a16:creationId xmlns:a16="http://schemas.microsoft.com/office/drawing/2014/main" id="{8A1C7F5A-C778-9944-8F8F-05F1FBBC37E9}"/>
              </a:ext>
            </a:extLst>
          </p:cNvPr>
          <p:cNvSpPr/>
          <p:nvPr/>
        </p:nvSpPr>
        <p:spPr>
          <a:xfrm rot="5400000">
            <a:off x="8012316" y="3344302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47635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53582-84BA-514F-A8BA-78EAAB52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具体示例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CEDF7-2D92-ED42-A32B-062222C5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398926-FF47-1749-AB62-8B6BDC83B68A}"/>
              </a:ext>
            </a:extLst>
          </p:cNvPr>
          <p:cNvSpPr txBox="1"/>
          <p:nvPr/>
        </p:nvSpPr>
        <p:spPr>
          <a:xfrm>
            <a:off x="579561" y="1243716"/>
            <a:ext cx="82926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分配</a:t>
            </a:r>
            <a:r>
              <a:rPr kumimoji="1" lang="en-US" altLang="zh-CN" sz="2400" dirty="0"/>
              <a:t>N</a:t>
            </a:r>
            <a:r>
              <a:rPr kumimoji="1" lang="zh-CN" altLang="en-US" sz="2400" dirty="0"/>
              <a:t>字节时，首先找到大小最合适的</a:t>
            </a:r>
            <a:r>
              <a:rPr kumimoji="1" lang="en-US" altLang="zh-CN" sz="2400" dirty="0"/>
              <a:t>SLAB</a:t>
            </a:r>
            <a:r>
              <a:rPr kumimoji="1" lang="zh-CN" altLang="en-US" sz="2400" dirty="0"/>
              <a:t>，</a:t>
            </a:r>
            <a:endParaRPr kumimoji="1" lang="en-US" altLang="zh-CN" sz="2400" dirty="0"/>
          </a:p>
          <a:p>
            <a:r>
              <a:rPr kumimoji="1" lang="zh-CN" altLang="en-US" sz="2400" dirty="0"/>
              <a:t>取走</a:t>
            </a:r>
            <a:r>
              <a:rPr kumimoji="1" lang="en-US" altLang="zh-CN" sz="2400" dirty="0" err="1"/>
              <a:t>Next_Free</a:t>
            </a:r>
            <a:r>
              <a:rPr kumimoji="1" lang="zh-CN" altLang="en-US" sz="2400" dirty="0"/>
              <a:t>指向的第一个；释放时直接放回</a:t>
            </a:r>
            <a:r>
              <a:rPr kumimoji="1" lang="en-US" altLang="zh-CN" sz="2400" dirty="0" err="1"/>
              <a:t>Next_Free</a:t>
            </a:r>
            <a:r>
              <a:rPr kumimoji="1" lang="zh-CN" altLang="en-US" sz="2400" dirty="0"/>
              <a:t>后</a:t>
            </a:r>
            <a:endParaRPr kumimoji="1" lang="en-US" altLang="zh-CN" sz="2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2A800F-A6E0-5744-865C-896D127CBE89}"/>
              </a:ext>
            </a:extLst>
          </p:cNvPr>
          <p:cNvSpPr/>
          <p:nvPr/>
        </p:nvSpPr>
        <p:spPr>
          <a:xfrm>
            <a:off x="6136300" y="2312900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DDD295-7A56-9443-A9C9-70BDB0D779E5}"/>
              </a:ext>
            </a:extLst>
          </p:cNvPr>
          <p:cNvSpPr/>
          <p:nvPr/>
        </p:nvSpPr>
        <p:spPr>
          <a:xfrm>
            <a:off x="6136300" y="230649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98A6DF-5D04-294B-A19F-10583E7973E4}"/>
              </a:ext>
            </a:extLst>
          </p:cNvPr>
          <p:cNvSpPr/>
          <p:nvPr/>
        </p:nvSpPr>
        <p:spPr>
          <a:xfrm>
            <a:off x="6136300" y="277456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256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409AED-371D-8948-BE6F-E0A3F23BA410}"/>
              </a:ext>
            </a:extLst>
          </p:cNvPr>
          <p:cNvSpPr/>
          <p:nvPr/>
        </p:nvSpPr>
        <p:spPr>
          <a:xfrm>
            <a:off x="6136300" y="3217540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256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F1D801-7085-C74A-935D-B1CB0E88FAAB}"/>
              </a:ext>
            </a:extLst>
          </p:cNvPr>
          <p:cNvSpPr/>
          <p:nvPr/>
        </p:nvSpPr>
        <p:spPr>
          <a:xfrm>
            <a:off x="6136300" y="4369668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256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549AAFF-9BF3-B046-B54F-C1635B7975CF}"/>
              </a:ext>
            </a:extLst>
          </p:cNvPr>
          <p:cNvSpPr/>
          <p:nvPr/>
        </p:nvSpPr>
        <p:spPr>
          <a:xfrm>
            <a:off x="6136300" y="3673968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9" name="环形箭头 8">
            <a:extLst>
              <a:ext uri="{FF2B5EF4-FFF2-40B4-BE49-F238E27FC236}">
                <a16:creationId xmlns:a16="http://schemas.microsoft.com/office/drawing/2014/main" id="{EA3FA183-CEEF-0048-B046-F1BF2EA509E3}"/>
              </a:ext>
            </a:extLst>
          </p:cNvPr>
          <p:cNvSpPr/>
          <p:nvPr/>
        </p:nvSpPr>
        <p:spPr>
          <a:xfrm rot="5400000">
            <a:off x="8260516" y="2389468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2" name="环形箭头 21">
            <a:extLst>
              <a:ext uri="{FF2B5EF4-FFF2-40B4-BE49-F238E27FC236}">
                <a16:creationId xmlns:a16="http://schemas.microsoft.com/office/drawing/2014/main" id="{F8A4118E-0A19-5A41-8757-C24C7192A4D6}"/>
              </a:ext>
            </a:extLst>
          </p:cNvPr>
          <p:cNvSpPr/>
          <p:nvPr/>
        </p:nvSpPr>
        <p:spPr>
          <a:xfrm rot="5400000">
            <a:off x="8260516" y="2902077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3" name="环形箭头 22">
            <a:extLst>
              <a:ext uri="{FF2B5EF4-FFF2-40B4-BE49-F238E27FC236}">
                <a16:creationId xmlns:a16="http://schemas.microsoft.com/office/drawing/2014/main" id="{6CE7191D-AAE2-D64D-A17B-EB2A55461B69}"/>
              </a:ext>
            </a:extLst>
          </p:cNvPr>
          <p:cNvSpPr/>
          <p:nvPr/>
        </p:nvSpPr>
        <p:spPr>
          <a:xfrm rot="5400000">
            <a:off x="8280472" y="4032322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4" name="环形箭头 23">
            <a:extLst>
              <a:ext uri="{FF2B5EF4-FFF2-40B4-BE49-F238E27FC236}">
                <a16:creationId xmlns:a16="http://schemas.microsoft.com/office/drawing/2014/main" id="{8A1C7F5A-C778-9944-8F8F-05F1FBBC37E9}"/>
              </a:ext>
            </a:extLst>
          </p:cNvPr>
          <p:cNvSpPr/>
          <p:nvPr/>
        </p:nvSpPr>
        <p:spPr>
          <a:xfrm rot="5400000">
            <a:off x="8280472" y="3344302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6BE7AC-912B-8A43-8662-8CA583A4A971}"/>
              </a:ext>
            </a:extLst>
          </p:cNvPr>
          <p:cNvSpPr/>
          <p:nvPr/>
        </p:nvSpPr>
        <p:spPr>
          <a:xfrm>
            <a:off x="338675" y="2306604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6FDF5A5-39C8-2647-BD73-CDDD5EB3ACBA}"/>
              </a:ext>
            </a:extLst>
          </p:cNvPr>
          <p:cNvSpPr/>
          <p:nvPr/>
        </p:nvSpPr>
        <p:spPr>
          <a:xfrm>
            <a:off x="338675" y="2300199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69FF4D6-867E-ED48-8CD1-7D9819534981}"/>
              </a:ext>
            </a:extLst>
          </p:cNvPr>
          <p:cNvSpPr/>
          <p:nvPr/>
        </p:nvSpPr>
        <p:spPr>
          <a:xfrm>
            <a:off x="338675" y="2750676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F9CC4F6-C242-054E-B69B-393216C5D72C}"/>
              </a:ext>
            </a:extLst>
          </p:cNvPr>
          <p:cNvSpPr/>
          <p:nvPr/>
        </p:nvSpPr>
        <p:spPr>
          <a:xfrm>
            <a:off x="338675" y="3211244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CFD83DE-94D2-7546-84E3-C5BFBA1A6F52}"/>
              </a:ext>
            </a:extLst>
          </p:cNvPr>
          <p:cNvSpPr/>
          <p:nvPr/>
        </p:nvSpPr>
        <p:spPr>
          <a:xfrm>
            <a:off x="338675" y="4363372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AB76296-CCA3-294D-A21F-7907A759211F}"/>
              </a:ext>
            </a:extLst>
          </p:cNvPr>
          <p:cNvSpPr/>
          <p:nvPr/>
        </p:nvSpPr>
        <p:spPr>
          <a:xfrm>
            <a:off x="338675" y="3667672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31" name="环形箭头 30">
            <a:extLst>
              <a:ext uri="{FF2B5EF4-FFF2-40B4-BE49-F238E27FC236}">
                <a16:creationId xmlns:a16="http://schemas.microsoft.com/office/drawing/2014/main" id="{4BB57DDB-5076-7745-9647-16AC1D3242AC}"/>
              </a:ext>
            </a:extLst>
          </p:cNvPr>
          <p:cNvSpPr/>
          <p:nvPr/>
        </p:nvSpPr>
        <p:spPr>
          <a:xfrm rot="5400000">
            <a:off x="2462891" y="2383172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2" name="环形箭头 31">
            <a:extLst>
              <a:ext uri="{FF2B5EF4-FFF2-40B4-BE49-F238E27FC236}">
                <a16:creationId xmlns:a16="http://schemas.microsoft.com/office/drawing/2014/main" id="{FC86EA2D-4778-A04D-9D0B-8116E8CA2F5E}"/>
              </a:ext>
            </a:extLst>
          </p:cNvPr>
          <p:cNvSpPr/>
          <p:nvPr/>
        </p:nvSpPr>
        <p:spPr>
          <a:xfrm rot="5400000">
            <a:off x="2462891" y="2895781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3" name="环形箭头 32">
            <a:extLst>
              <a:ext uri="{FF2B5EF4-FFF2-40B4-BE49-F238E27FC236}">
                <a16:creationId xmlns:a16="http://schemas.microsoft.com/office/drawing/2014/main" id="{8364C8BB-DEBE-164D-8398-B1B3097C0DAA}"/>
              </a:ext>
            </a:extLst>
          </p:cNvPr>
          <p:cNvSpPr/>
          <p:nvPr/>
        </p:nvSpPr>
        <p:spPr>
          <a:xfrm rot="5400000">
            <a:off x="2482847" y="4026026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4" name="环形箭头 33">
            <a:extLst>
              <a:ext uri="{FF2B5EF4-FFF2-40B4-BE49-F238E27FC236}">
                <a16:creationId xmlns:a16="http://schemas.microsoft.com/office/drawing/2014/main" id="{1BAC3350-8852-8640-B2D2-AACCF823AEAA}"/>
              </a:ext>
            </a:extLst>
          </p:cNvPr>
          <p:cNvSpPr/>
          <p:nvPr/>
        </p:nvSpPr>
        <p:spPr>
          <a:xfrm rot="5400000">
            <a:off x="2482847" y="3338006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3C48FEA-FD65-1A43-9725-0871D23FB8C1}"/>
              </a:ext>
            </a:extLst>
          </p:cNvPr>
          <p:cNvSpPr/>
          <p:nvPr/>
        </p:nvSpPr>
        <p:spPr>
          <a:xfrm>
            <a:off x="3255980" y="2306604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C05DF6D-448C-7E40-8336-9CD44A7008AA}"/>
              </a:ext>
            </a:extLst>
          </p:cNvPr>
          <p:cNvSpPr/>
          <p:nvPr/>
        </p:nvSpPr>
        <p:spPr>
          <a:xfrm>
            <a:off x="3255980" y="2300199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98F2806-C8C9-AC44-8B59-A7DA633EE307}"/>
              </a:ext>
            </a:extLst>
          </p:cNvPr>
          <p:cNvSpPr/>
          <p:nvPr/>
        </p:nvSpPr>
        <p:spPr>
          <a:xfrm>
            <a:off x="3255980" y="2750676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128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FDB814C-A1E9-FC40-B269-6AC130525FE4}"/>
              </a:ext>
            </a:extLst>
          </p:cNvPr>
          <p:cNvSpPr/>
          <p:nvPr/>
        </p:nvSpPr>
        <p:spPr>
          <a:xfrm>
            <a:off x="3255980" y="3211244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128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7B88D21-BDC2-8D47-912D-3B5433844F24}"/>
              </a:ext>
            </a:extLst>
          </p:cNvPr>
          <p:cNvSpPr/>
          <p:nvPr/>
        </p:nvSpPr>
        <p:spPr>
          <a:xfrm>
            <a:off x="3255980" y="4363372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128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436FADB-A624-3C4A-B06B-639AE08A9367}"/>
              </a:ext>
            </a:extLst>
          </p:cNvPr>
          <p:cNvSpPr/>
          <p:nvPr/>
        </p:nvSpPr>
        <p:spPr>
          <a:xfrm>
            <a:off x="3255980" y="3667672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41" name="环形箭头 40">
            <a:extLst>
              <a:ext uri="{FF2B5EF4-FFF2-40B4-BE49-F238E27FC236}">
                <a16:creationId xmlns:a16="http://schemas.microsoft.com/office/drawing/2014/main" id="{47523D2C-6F71-014A-9EA0-BB7E4E2816C6}"/>
              </a:ext>
            </a:extLst>
          </p:cNvPr>
          <p:cNvSpPr/>
          <p:nvPr/>
        </p:nvSpPr>
        <p:spPr>
          <a:xfrm rot="5400000">
            <a:off x="5380196" y="2383172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2" name="环形箭头 41">
            <a:extLst>
              <a:ext uri="{FF2B5EF4-FFF2-40B4-BE49-F238E27FC236}">
                <a16:creationId xmlns:a16="http://schemas.microsoft.com/office/drawing/2014/main" id="{CF6D2539-5472-0A40-BA3E-A613446F2B79}"/>
              </a:ext>
            </a:extLst>
          </p:cNvPr>
          <p:cNvSpPr/>
          <p:nvPr/>
        </p:nvSpPr>
        <p:spPr>
          <a:xfrm rot="5400000">
            <a:off x="5380196" y="2895781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3" name="环形箭头 42">
            <a:extLst>
              <a:ext uri="{FF2B5EF4-FFF2-40B4-BE49-F238E27FC236}">
                <a16:creationId xmlns:a16="http://schemas.microsoft.com/office/drawing/2014/main" id="{860D2543-C372-E743-9167-081847D71275}"/>
              </a:ext>
            </a:extLst>
          </p:cNvPr>
          <p:cNvSpPr/>
          <p:nvPr/>
        </p:nvSpPr>
        <p:spPr>
          <a:xfrm rot="5400000">
            <a:off x="5400152" y="4026026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4" name="环形箭头 43">
            <a:extLst>
              <a:ext uri="{FF2B5EF4-FFF2-40B4-BE49-F238E27FC236}">
                <a16:creationId xmlns:a16="http://schemas.microsoft.com/office/drawing/2014/main" id="{BDA23C22-409C-FA41-90A2-08A1637A12F5}"/>
              </a:ext>
            </a:extLst>
          </p:cNvPr>
          <p:cNvSpPr/>
          <p:nvPr/>
        </p:nvSpPr>
        <p:spPr>
          <a:xfrm rot="5400000">
            <a:off x="5400152" y="3338006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88306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DCAAAE-9654-0D4F-85A4-A4F6D0311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具体示例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F681AC-7474-9346-BE70-3F623E805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FD82F7-B76E-054B-914E-7B47DF5EE395}"/>
              </a:ext>
            </a:extLst>
          </p:cNvPr>
          <p:cNvSpPr/>
          <p:nvPr/>
        </p:nvSpPr>
        <p:spPr>
          <a:xfrm>
            <a:off x="5652120" y="2143825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D20207-35EC-C542-A02C-A09326040E88}"/>
              </a:ext>
            </a:extLst>
          </p:cNvPr>
          <p:cNvSpPr/>
          <p:nvPr/>
        </p:nvSpPr>
        <p:spPr>
          <a:xfrm>
            <a:off x="5652120" y="2137420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50ACD0D-3827-6E47-8330-41C7BFF21A38}"/>
              </a:ext>
            </a:extLst>
          </p:cNvPr>
          <p:cNvSpPr/>
          <p:nvPr/>
        </p:nvSpPr>
        <p:spPr>
          <a:xfrm>
            <a:off x="5652120" y="2583597"/>
            <a:ext cx="2304256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E4CB25-57D4-A746-BE51-53C3A7066201}"/>
              </a:ext>
            </a:extLst>
          </p:cNvPr>
          <p:cNvSpPr/>
          <p:nvPr/>
        </p:nvSpPr>
        <p:spPr>
          <a:xfrm>
            <a:off x="5652120" y="304846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F0352D-D2E0-D94C-B488-0065A05C31F2}"/>
              </a:ext>
            </a:extLst>
          </p:cNvPr>
          <p:cNvSpPr/>
          <p:nvPr/>
        </p:nvSpPr>
        <p:spPr>
          <a:xfrm>
            <a:off x="5652120" y="4200593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3BD2945-6E1A-8841-81EA-ABC73964E1CC}"/>
              </a:ext>
            </a:extLst>
          </p:cNvPr>
          <p:cNvSpPr/>
          <p:nvPr/>
        </p:nvSpPr>
        <p:spPr>
          <a:xfrm>
            <a:off x="5652120" y="3504893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11" name="环形箭头 10">
            <a:extLst>
              <a:ext uri="{FF2B5EF4-FFF2-40B4-BE49-F238E27FC236}">
                <a16:creationId xmlns:a16="http://schemas.microsoft.com/office/drawing/2014/main" id="{7323FB36-C997-4141-B575-27704E9AE3EF}"/>
              </a:ext>
            </a:extLst>
          </p:cNvPr>
          <p:cNvSpPr/>
          <p:nvPr/>
        </p:nvSpPr>
        <p:spPr>
          <a:xfrm rot="5400000">
            <a:off x="7506115" y="2490614"/>
            <a:ext cx="900442" cy="720000"/>
          </a:xfrm>
          <a:prstGeom prst="circularArrow">
            <a:avLst>
              <a:gd name="adj1" fmla="val 8632"/>
              <a:gd name="adj2" fmla="val 1142319"/>
              <a:gd name="adj3" fmla="val 20680748"/>
              <a:gd name="adj4" fmla="val 10800000"/>
              <a:gd name="adj5" fmla="val 12500"/>
            </a:avLst>
          </a:prstGeom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3" name="环形箭头 12">
            <a:extLst>
              <a:ext uri="{FF2B5EF4-FFF2-40B4-BE49-F238E27FC236}">
                <a16:creationId xmlns:a16="http://schemas.microsoft.com/office/drawing/2014/main" id="{4C3999DD-767E-C44B-B37D-10FFD8BA7183}"/>
              </a:ext>
            </a:extLst>
          </p:cNvPr>
          <p:cNvSpPr/>
          <p:nvPr/>
        </p:nvSpPr>
        <p:spPr>
          <a:xfrm rot="5400000">
            <a:off x="7796292" y="3863247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4" name="环形箭头 13">
            <a:extLst>
              <a:ext uri="{FF2B5EF4-FFF2-40B4-BE49-F238E27FC236}">
                <a16:creationId xmlns:a16="http://schemas.microsoft.com/office/drawing/2014/main" id="{BCB52FEB-547A-2149-8F99-145D2447849A}"/>
              </a:ext>
            </a:extLst>
          </p:cNvPr>
          <p:cNvSpPr/>
          <p:nvPr/>
        </p:nvSpPr>
        <p:spPr>
          <a:xfrm rot="5400000">
            <a:off x="7796292" y="3175227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76D9B65-3835-E140-A793-2C88C441389A}"/>
              </a:ext>
            </a:extLst>
          </p:cNvPr>
          <p:cNvSpPr txBox="1"/>
          <p:nvPr/>
        </p:nvSpPr>
        <p:spPr>
          <a:xfrm>
            <a:off x="376900" y="1566156"/>
            <a:ext cx="531587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C00000"/>
                </a:solidFill>
              </a:rPr>
              <a:t>释放时如何找到</a:t>
            </a:r>
            <a:r>
              <a:rPr kumimoji="1" lang="en-US" altLang="zh-CN" sz="2400" b="1" dirty="0" err="1">
                <a:solidFill>
                  <a:srgbClr val="C00000"/>
                </a:solidFill>
              </a:rPr>
              <a:t>Next_Free</a:t>
            </a:r>
            <a:r>
              <a:rPr kumimoji="1" lang="en-US" altLang="zh-CN" sz="2400" b="1" dirty="0">
                <a:solidFill>
                  <a:srgbClr val="C00000"/>
                </a:solidFill>
              </a:rPr>
              <a:t>?</a:t>
            </a:r>
          </a:p>
          <a:p>
            <a:r>
              <a:rPr kumimoji="1" lang="en-US" altLang="zh-CN" sz="2400" dirty="0" err="1"/>
              <a:t>kfree</a:t>
            </a:r>
            <a:r>
              <a:rPr kumimoji="1" lang="zh-CN" altLang="en-US" sz="2400" dirty="0"/>
              <a:t>（</a:t>
            </a:r>
            <a:r>
              <a:rPr kumimoji="1" lang="en-US" altLang="zh-CN" sz="2400" dirty="0"/>
              <a:t>object</a:t>
            </a:r>
            <a:r>
              <a:rPr kumimoji="1" lang="zh-CN" altLang="en-US" sz="2400" dirty="0"/>
              <a:t>）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提示：</a:t>
            </a:r>
            <a:r>
              <a:rPr kumimoji="1" lang="en-US" altLang="zh-CN" sz="2400" dirty="0"/>
              <a:t>SLAB</a:t>
            </a:r>
            <a:r>
              <a:rPr kumimoji="1" lang="zh-CN" altLang="en-US" sz="2400" dirty="0"/>
              <a:t>的大小是固定的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思路：根据</a:t>
            </a:r>
            <a:r>
              <a:rPr kumimoji="1" lang="en-US" altLang="zh-CN" sz="2400" dirty="0"/>
              <a:t>object</a:t>
            </a:r>
            <a:r>
              <a:rPr kumimoji="1" lang="zh-CN" altLang="en-US" sz="2400" dirty="0"/>
              <a:t>地址找到当前</a:t>
            </a:r>
            <a:r>
              <a:rPr kumimoji="1" lang="en-US" altLang="zh-CN" sz="2400" dirty="0"/>
              <a:t>SLAB</a:t>
            </a:r>
          </a:p>
          <a:p>
            <a:r>
              <a:rPr kumimoji="1" lang="en-US" altLang="zh-CN" sz="2400" dirty="0"/>
              <a:t>	</a:t>
            </a:r>
            <a:r>
              <a:rPr kumimoji="1" lang="zh-CN" altLang="en-US" sz="2400" dirty="0"/>
              <a:t>的起始地址即可（</a:t>
            </a:r>
            <a:r>
              <a:rPr kumimoji="1" lang="en-US" altLang="zh-CN" sz="2400" dirty="0" err="1"/>
              <a:t>Next_Free</a:t>
            </a:r>
            <a:r>
              <a:rPr kumimoji="1" lang="zh-CN" altLang="en-US" sz="2400" dirty="0"/>
              <a:t>）</a:t>
            </a:r>
            <a:endParaRPr kumimoji="1" lang="en-US" altLang="zh-CN" sz="2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DFA9FFB-158F-D84A-90E6-A91957DC1147}"/>
              </a:ext>
            </a:extLst>
          </p:cNvPr>
          <p:cNvSpPr txBox="1"/>
          <p:nvPr/>
        </p:nvSpPr>
        <p:spPr>
          <a:xfrm>
            <a:off x="6318377" y="1573726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SLAB</a:t>
            </a:r>
            <a:endParaRPr kumimoji="1" lang="zh-CN" altLang="en-US" sz="2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6D9931E-641F-D448-8171-5AB2C8FAF967}"/>
              </a:ext>
            </a:extLst>
          </p:cNvPr>
          <p:cNvSpPr txBox="1"/>
          <p:nvPr/>
        </p:nvSpPr>
        <p:spPr>
          <a:xfrm>
            <a:off x="376900" y="4801716"/>
            <a:ext cx="4665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ADDR &amp; ~(SLAB_SIZE-1)</a:t>
            </a:r>
          </a:p>
        </p:txBody>
      </p:sp>
    </p:spTree>
    <p:extLst>
      <p:ext uri="{BB962C8B-B14F-4D97-AF65-F5344CB8AC3E}">
        <p14:creationId xmlns:p14="http://schemas.microsoft.com/office/powerpoint/2010/main" val="358457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53582-84BA-514F-A8BA-78EAAB52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具体示例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CEDF7-2D92-ED42-A32B-062222C5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62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398926-FF47-1749-AB62-8B6BDC83B68A}"/>
              </a:ext>
            </a:extLst>
          </p:cNvPr>
          <p:cNvSpPr txBox="1"/>
          <p:nvPr/>
        </p:nvSpPr>
        <p:spPr>
          <a:xfrm>
            <a:off x="579561" y="1243716"/>
            <a:ext cx="59137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BD374B"/>
                </a:solidFill>
              </a:rPr>
              <a:t>当</a:t>
            </a:r>
            <a:r>
              <a:rPr kumimoji="1" lang="en-US" altLang="zh-CN" sz="2400" b="1" dirty="0">
                <a:solidFill>
                  <a:srgbClr val="BD374B"/>
                </a:solidFill>
              </a:rPr>
              <a:t>64</a:t>
            </a:r>
            <a:r>
              <a:rPr kumimoji="1" lang="zh-CN" altLang="en-US" sz="2400" b="1" dirty="0">
                <a:solidFill>
                  <a:srgbClr val="BD374B"/>
                </a:solidFill>
              </a:rPr>
              <a:t>字节</a:t>
            </a:r>
            <a:r>
              <a:rPr kumimoji="1" lang="en-US" altLang="zh-CN" sz="2400" b="1" dirty="0">
                <a:solidFill>
                  <a:srgbClr val="BD374B"/>
                </a:solidFill>
              </a:rPr>
              <a:t>slot</a:t>
            </a:r>
            <a:r>
              <a:rPr kumimoji="1" lang="zh-CN" altLang="en-US" sz="2400" b="1" dirty="0">
                <a:solidFill>
                  <a:srgbClr val="BD374B"/>
                </a:solidFill>
              </a:rPr>
              <a:t>的</a:t>
            </a:r>
            <a:r>
              <a:rPr kumimoji="1" lang="en-US" altLang="zh-CN" sz="2400" b="1" dirty="0">
                <a:solidFill>
                  <a:srgbClr val="BD374B"/>
                </a:solidFill>
              </a:rPr>
              <a:t>SLAB</a:t>
            </a:r>
            <a:r>
              <a:rPr kumimoji="1" lang="zh-CN" altLang="en-US" sz="2400" b="1" dirty="0">
                <a:solidFill>
                  <a:srgbClr val="BD374B"/>
                </a:solidFill>
              </a:rPr>
              <a:t>已经分配完怎么办？</a:t>
            </a:r>
            <a:endParaRPr kumimoji="1" lang="en-US" altLang="zh-CN" sz="2400" b="1" dirty="0">
              <a:solidFill>
                <a:srgbClr val="BD374B"/>
              </a:solidFill>
            </a:endParaRPr>
          </a:p>
          <a:p>
            <a:r>
              <a:rPr kumimoji="1" lang="zh-CN" altLang="en-US" sz="2400" dirty="0"/>
              <a:t>再从伙伴系统分配一个</a:t>
            </a:r>
            <a:r>
              <a:rPr kumimoji="1" lang="en-US" altLang="zh-CN" sz="2400" dirty="0"/>
              <a:t>SLAB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6BE7AC-912B-8A43-8662-8CA583A4A971}"/>
              </a:ext>
            </a:extLst>
          </p:cNvPr>
          <p:cNvSpPr/>
          <p:nvPr/>
        </p:nvSpPr>
        <p:spPr>
          <a:xfrm>
            <a:off x="1187624" y="2301794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6FDF5A5-39C8-2647-BD73-CDDD5EB3ACBA}"/>
              </a:ext>
            </a:extLst>
          </p:cNvPr>
          <p:cNvSpPr/>
          <p:nvPr/>
        </p:nvSpPr>
        <p:spPr>
          <a:xfrm>
            <a:off x="1187624" y="2295389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r>
              <a:rPr kumimoji="1" lang="zh-CN" altLang="en-US" b="1" dirty="0">
                <a:solidFill>
                  <a:srgbClr val="C00000"/>
                </a:solidFill>
              </a:rPr>
              <a:t> </a:t>
            </a:r>
            <a:r>
              <a:rPr kumimoji="1" lang="en-US" altLang="zh-CN" b="1" dirty="0">
                <a:solidFill>
                  <a:schemeClr val="tx1"/>
                </a:solidFill>
              </a:rPr>
              <a:t>NULL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69FF4D6-867E-ED48-8CD1-7D9819534981}"/>
              </a:ext>
            </a:extLst>
          </p:cNvPr>
          <p:cNvSpPr/>
          <p:nvPr/>
        </p:nvSpPr>
        <p:spPr>
          <a:xfrm>
            <a:off x="1187624" y="2755584"/>
            <a:ext cx="2304256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F9CC4F6-C242-054E-B69B-393216C5D72C}"/>
              </a:ext>
            </a:extLst>
          </p:cNvPr>
          <p:cNvSpPr/>
          <p:nvPr/>
        </p:nvSpPr>
        <p:spPr>
          <a:xfrm>
            <a:off x="1187624" y="3206434"/>
            <a:ext cx="2304256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CFD83DE-94D2-7546-84E3-C5BFBA1A6F52}"/>
              </a:ext>
            </a:extLst>
          </p:cNvPr>
          <p:cNvSpPr/>
          <p:nvPr/>
        </p:nvSpPr>
        <p:spPr>
          <a:xfrm>
            <a:off x="1187624" y="4358562"/>
            <a:ext cx="2304256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AB76296-CCA3-294D-A21F-7907A759211F}"/>
              </a:ext>
            </a:extLst>
          </p:cNvPr>
          <p:cNvSpPr/>
          <p:nvPr/>
        </p:nvSpPr>
        <p:spPr>
          <a:xfrm>
            <a:off x="1187624" y="3662862"/>
            <a:ext cx="2304256" cy="71194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43B9F8C-8B8E-9F4D-9F1E-54776C964BAC}"/>
              </a:ext>
            </a:extLst>
          </p:cNvPr>
          <p:cNvSpPr/>
          <p:nvPr/>
        </p:nvSpPr>
        <p:spPr>
          <a:xfrm>
            <a:off x="4788024" y="2306604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8783CF3-1F2F-5642-8FB4-29FA6AAB6F52}"/>
              </a:ext>
            </a:extLst>
          </p:cNvPr>
          <p:cNvSpPr/>
          <p:nvPr/>
        </p:nvSpPr>
        <p:spPr>
          <a:xfrm>
            <a:off x="4788024" y="2300199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433B12D-9264-8F42-B5A4-85C78EA815B5}"/>
              </a:ext>
            </a:extLst>
          </p:cNvPr>
          <p:cNvSpPr/>
          <p:nvPr/>
        </p:nvSpPr>
        <p:spPr>
          <a:xfrm>
            <a:off x="4788024" y="2756627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02D72B3-D790-BC4D-BDEF-E03830708FD6}"/>
              </a:ext>
            </a:extLst>
          </p:cNvPr>
          <p:cNvSpPr/>
          <p:nvPr/>
        </p:nvSpPr>
        <p:spPr>
          <a:xfrm>
            <a:off x="4788024" y="3211244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D077C88-1E91-9848-B3EB-8F12A6A15F99}"/>
              </a:ext>
            </a:extLst>
          </p:cNvPr>
          <p:cNvSpPr/>
          <p:nvPr/>
        </p:nvSpPr>
        <p:spPr>
          <a:xfrm>
            <a:off x="4788024" y="4372420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A6FBEB6-B564-8541-8300-18FAE16D1BC2}"/>
              </a:ext>
            </a:extLst>
          </p:cNvPr>
          <p:cNvSpPr/>
          <p:nvPr/>
        </p:nvSpPr>
        <p:spPr>
          <a:xfrm>
            <a:off x="4788024" y="3667672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51" name="环形箭头 50">
            <a:extLst>
              <a:ext uri="{FF2B5EF4-FFF2-40B4-BE49-F238E27FC236}">
                <a16:creationId xmlns:a16="http://schemas.microsoft.com/office/drawing/2014/main" id="{9C86F8DD-B743-DE48-B942-7D69547DCD94}"/>
              </a:ext>
            </a:extLst>
          </p:cNvPr>
          <p:cNvSpPr/>
          <p:nvPr/>
        </p:nvSpPr>
        <p:spPr>
          <a:xfrm rot="5400000">
            <a:off x="6912240" y="2383172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2" name="环形箭头 51">
            <a:extLst>
              <a:ext uri="{FF2B5EF4-FFF2-40B4-BE49-F238E27FC236}">
                <a16:creationId xmlns:a16="http://schemas.microsoft.com/office/drawing/2014/main" id="{0447D5EF-2CA7-654A-ABBA-C8961F78CDF0}"/>
              </a:ext>
            </a:extLst>
          </p:cNvPr>
          <p:cNvSpPr/>
          <p:nvPr/>
        </p:nvSpPr>
        <p:spPr>
          <a:xfrm rot="5400000">
            <a:off x="6912240" y="2895781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3" name="环形箭头 52">
            <a:extLst>
              <a:ext uri="{FF2B5EF4-FFF2-40B4-BE49-F238E27FC236}">
                <a16:creationId xmlns:a16="http://schemas.microsoft.com/office/drawing/2014/main" id="{1179E3E5-3ABE-7943-A141-1FC4E54D1C4B}"/>
              </a:ext>
            </a:extLst>
          </p:cNvPr>
          <p:cNvSpPr/>
          <p:nvPr/>
        </p:nvSpPr>
        <p:spPr>
          <a:xfrm rot="5400000">
            <a:off x="6932196" y="4026026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4" name="环形箭头 53">
            <a:extLst>
              <a:ext uri="{FF2B5EF4-FFF2-40B4-BE49-F238E27FC236}">
                <a16:creationId xmlns:a16="http://schemas.microsoft.com/office/drawing/2014/main" id="{5E49A63F-B49C-9E49-A32F-1E7ABCEB080F}"/>
              </a:ext>
            </a:extLst>
          </p:cNvPr>
          <p:cNvSpPr/>
          <p:nvPr/>
        </p:nvSpPr>
        <p:spPr>
          <a:xfrm rot="5400000">
            <a:off x="6932196" y="3338006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990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70A0FB-5366-F148-889C-06D9F8326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具体示例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AF788D-31E5-4949-977B-F9365A995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C443DD-4CC7-734D-A298-73288C79E855}"/>
              </a:ext>
            </a:extLst>
          </p:cNvPr>
          <p:cNvSpPr txBox="1"/>
          <p:nvPr/>
        </p:nvSpPr>
        <p:spPr>
          <a:xfrm>
            <a:off x="579561" y="1243716"/>
            <a:ext cx="6837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BD374B"/>
                </a:solidFill>
              </a:rPr>
              <a:t>如何组织多个</a:t>
            </a:r>
            <a:r>
              <a:rPr kumimoji="1" lang="en-US" altLang="zh-CN" sz="2400" b="1" dirty="0">
                <a:solidFill>
                  <a:srgbClr val="BD374B"/>
                </a:solidFill>
              </a:rPr>
              <a:t>64</a:t>
            </a:r>
            <a:r>
              <a:rPr kumimoji="1" lang="zh-CN" altLang="en-US" sz="2400" b="1" dirty="0">
                <a:solidFill>
                  <a:srgbClr val="BD374B"/>
                </a:solidFill>
              </a:rPr>
              <a:t>字节</a:t>
            </a:r>
            <a:r>
              <a:rPr kumimoji="1" lang="en-US" altLang="zh-CN" sz="2400" b="1" dirty="0">
                <a:solidFill>
                  <a:srgbClr val="BD374B"/>
                </a:solidFill>
              </a:rPr>
              <a:t>slot</a:t>
            </a:r>
            <a:r>
              <a:rPr kumimoji="1" lang="zh-CN" altLang="en-US" sz="2400" b="1" dirty="0">
                <a:solidFill>
                  <a:srgbClr val="BD374B"/>
                </a:solidFill>
              </a:rPr>
              <a:t>的</a:t>
            </a:r>
            <a:r>
              <a:rPr kumimoji="1" lang="en-US" altLang="zh-CN" sz="2400" b="1" dirty="0">
                <a:solidFill>
                  <a:srgbClr val="BD374B"/>
                </a:solidFill>
              </a:rPr>
              <a:t>SLAB</a:t>
            </a:r>
            <a:r>
              <a:rPr kumimoji="1" lang="zh-CN" altLang="en-US" sz="2400" b="1" dirty="0">
                <a:solidFill>
                  <a:srgbClr val="BD374B"/>
                </a:solidFill>
              </a:rPr>
              <a:t>？</a:t>
            </a:r>
            <a:r>
              <a:rPr kumimoji="1" lang="zh-CN" altLang="en-US" sz="2400" dirty="0"/>
              <a:t>引入两个指针</a:t>
            </a:r>
            <a:endParaRPr kumimoji="1" lang="en-US" altLang="zh-CN" sz="2400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FF71339-3570-6F48-96D5-26DA79F21EF3}"/>
              </a:ext>
            </a:extLst>
          </p:cNvPr>
          <p:cNvGrpSpPr/>
          <p:nvPr/>
        </p:nvGrpSpPr>
        <p:grpSpPr>
          <a:xfrm>
            <a:off x="1475656" y="2281436"/>
            <a:ext cx="1584176" cy="2533886"/>
            <a:chOff x="1403648" y="2275031"/>
            <a:chExt cx="1584176" cy="2533886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6CF6479-317D-A24C-BBE1-086A06158C20}"/>
                </a:ext>
              </a:extLst>
            </p:cNvPr>
            <p:cNvSpPr/>
            <p:nvPr/>
          </p:nvSpPr>
          <p:spPr>
            <a:xfrm>
              <a:off x="1403648" y="2281436"/>
              <a:ext cx="1584176" cy="25202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14BC889-1687-F142-8871-952C82AF5CEF}"/>
                </a:ext>
              </a:extLst>
            </p:cNvPr>
            <p:cNvSpPr/>
            <p:nvPr/>
          </p:nvSpPr>
          <p:spPr>
            <a:xfrm>
              <a:off x="1403648" y="2275031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Next_Free</a:t>
              </a:r>
              <a:br>
                <a:rPr kumimoji="1" lang="en-US" altLang="zh-CN" sz="1400" b="1" dirty="0">
                  <a:solidFill>
                    <a:srgbClr val="C00000"/>
                  </a:solidFill>
                </a:rPr>
              </a:br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Next_Slab</a:t>
              </a:r>
              <a:endParaRPr kumimoji="1" lang="zh-CN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1DA01A5-DFB4-604D-8618-46D239F205CB}"/>
                </a:ext>
              </a:extLst>
            </p:cNvPr>
            <p:cNvSpPr/>
            <p:nvPr/>
          </p:nvSpPr>
          <p:spPr>
            <a:xfrm>
              <a:off x="1403648" y="2731459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942A9CC-6C05-8E43-A453-050523D1A9D9}"/>
                </a:ext>
              </a:extLst>
            </p:cNvPr>
            <p:cNvSpPr/>
            <p:nvPr/>
          </p:nvSpPr>
          <p:spPr>
            <a:xfrm>
              <a:off x="1403648" y="3186076"/>
              <a:ext cx="1584176" cy="4616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C5E0A9A-069C-F842-A569-7951A327E47F}"/>
                </a:ext>
              </a:extLst>
            </p:cNvPr>
            <p:cNvSpPr/>
            <p:nvPr/>
          </p:nvSpPr>
          <p:spPr>
            <a:xfrm>
              <a:off x="1403648" y="4347252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635C13E-5EBD-B043-B034-EAA6F26A31D4}"/>
                </a:ext>
              </a:extLst>
            </p:cNvPr>
            <p:cNvSpPr/>
            <p:nvPr/>
          </p:nvSpPr>
          <p:spPr>
            <a:xfrm>
              <a:off x="1403648" y="3642504"/>
              <a:ext cx="1584176" cy="71194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…</a:t>
              </a:r>
              <a:endParaRPr kumimoji="1" lang="zh-CN" altLang="en-US" dirty="0"/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89DD6521-DA10-4348-A624-3A65563BC897}"/>
              </a:ext>
            </a:extLst>
          </p:cNvPr>
          <p:cNvSpPr txBox="1"/>
          <p:nvPr/>
        </p:nvSpPr>
        <p:spPr>
          <a:xfrm>
            <a:off x="107504" y="2096770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Current</a:t>
            </a:r>
            <a:r>
              <a:rPr kumimoji="1" lang="zh-CN" altLang="en-US" dirty="0"/>
              <a:t>指针</a:t>
            </a: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21773021-9308-9448-929C-00C96A29D5B1}"/>
              </a:ext>
            </a:extLst>
          </p:cNvPr>
          <p:cNvCxnSpPr/>
          <p:nvPr/>
        </p:nvCxnSpPr>
        <p:spPr>
          <a:xfrm>
            <a:off x="59884" y="2491025"/>
            <a:ext cx="1415772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6635CEC-C462-3940-945E-BE0C49A28383}"/>
              </a:ext>
            </a:extLst>
          </p:cNvPr>
          <p:cNvGrpSpPr/>
          <p:nvPr/>
        </p:nvGrpSpPr>
        <p:grpSpPr>
          <a:xfrm>
            <a:off x="4763636" y="2281436"/>
            <a:ext cx="1584176" cy="2533886"/>
            <a:chOff x="1403648" y="2275031"/>
            <a:chExt cx="1584176" cy="2533886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27845C22-FE76-514E-802B-957C11191A82}"/>
                </a:ext>
              </a:extLst>
            </p:cNvPr>
            <p:cNvSpPr/>
            <p:nvPr/>
          </p:nvSpPr>
          <p:spPr>
            <a:xfrm>
              <a:off x="1403648" y="2281436"/>
              <a:ext cx="1584176" cy="25202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D1B1AD6-86BF-BD4F-B347-FF3F4EC12CF6}"/>
                </a:ext>
              </a:extLst>
            </p:cNvPr>
            <p:cNvSpPr/>
            <p:nvPr/>
          </p:nvSpPr>
          <p:spPr>
            <a:xfrm>
              <a:off x="1403648" y="2275031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Next_Free</a:t>
              </a:r>
              <a:br>
                <a:rPr kumimoji="1" lang="en-US" altLang="zh-CN" sz="1400" b="1" dirty="0">
                  <a:solidFill>
                    <a:srgbClr val="C00000"/>
                  </a:solidFill>
                </a:rPr>
              </a:br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Next_Slab</a:t>
              </a:r>
              <a:endParaRPr kumimoji="1" lang="zh-CN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D5F62E54-A21F-9E48-9A52-65BADEA485F8}"/>
                </a:ext>
              </a:extLst>
            </p:cNvPr>
            <p:cNvSpPr/>
            <p:nvPr/>
          </p:nvSpPr>
          <p:spPr>
            <a:xfrm>
              <a:off x="1403648" y="2731459"/>
              <a:ext cx="1584176" cy="4616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9E564427-948D-8147-A304-09B1A2404552}"/>
                </a:ext>
              </a:extLst>
            </p:cNvPr>
            <p:cNvSpPr/>
            <p:nvPr/>
          </p:nvSpPr>
          <p:spPr>
            <a:xfrm>
              <a:off x="1403648" y="3186076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477CFE3-3EA2-A640-835A-60850EA72C1A}"/>
                </a:ext>
              </a:extLst>
            </p:cNvPr>
            <p:cNvSpPr/>
            <p:nvPr/>
          </p:nvSpPr>
          <p:spPr>
            <a:xfrm>
              <a:off x="1403648" y="4347252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55D62326-7BC8-F44B-9811-96AE508EA0F6}"/>
                </a:ext>
              </a:extLst>
            </p:cNvPr>
            <p:cNvSpPr/>
            <p:nvPr/>
          </p:nvSpPr>
          <p:spPr>
            <a:xfrm>
              <a:off x="1403648" y="3642504"/>
              <a:ext cx="1584176" cy="71194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…</a:t>
              </a:r>
              <a:endParaRPr kumimoji="1" lang="zh-CN" altLang="en-US" dirty="0"/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66371463-86CC-4F4C-9C66-8959C7564CE6}"/>
              </a:ext>
            </a:extLst>
          </p:cNvPr>
          <p:cNvSpPr txBox="1"/>
          <p:nvPr/>
        </p:nvSpPr>
        <p:spPr>
          <a:xfrm>
            <a:off x="3487668" y="2128128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Partial</a:t>
            </a:r>
            <a:r>
              <a:rPr kumimoji="1" lang="zh-CN" altLang="en-US" dirty="0"/>
              <a:t>指针</a:t>
            </a:r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B247C651-42DD-3849-BE33-193F9C690E05}"/>
              </a:ext>
            </a:extLst>
          </p:cNvPr>
          <p:cNvCxnSpPr/>
          <p:nvPr/>
        </p:nvCxnSpPr>
        <p:spPr>
          <a:xfrm>
            <a:off x="6347812" y="2641476"/>
            <a:ext cx="684000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E08385A-8B93-A84F-B8FB-B003314FDA45}"/>
              </a:ext>
            </a:extLst>
          </p:cNvPr>
          <p:cNvGrpSpPr/>
          <p:nvPr/>
        </p:nvGrpSpPr>
        <p:grpSpPr>
          <a:xfrm>
            <a:off x="7020272" y="2287841"/>
            <a:ext cx="1584176" cy="2533886"/>
            <a:chOff x="1403648" y="2275031"/>
            <a:chExt cx="1584176" cy="2533886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F25B6C9D-275D-1A4E-AFE9-89A809270456}"/>
                </a:ext>
              </a:extLst>
            </p:cNvPr>
            <p:cNvSpPr/>
            <p:nvPr/>
          </p:nvSpPr>
          <p:spPr>
            <a:xfrm>
              <a:off x="1403648" y="2281436"/>
              <a:ext cx="1584176" cy="25202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10CD53C3-3BF5-BC41-BC02-32471470847F}"/>
                </a:ext>
              </a:extLst>
            </p:cNvPr>
            <p:cNvSpPr/>
            <p:nvPr/>
          </p:nvSpPr>
          <p:spPr>
            <a:xfrm>
              <a:off x="1403648" y="2275031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Next_Free</a:t>
              </a:r>
              <a:br>
                <a:rPr kumimoji="1" lang="en-US" altLang="zh-CN" sz="1400" b="1" dirty="0">
                  <a:solidFill>
                    <a:srgbClr val="C00000"/>
                  </a:solidFill>
                </a:rPr>
              </a:br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Next_Slab</a:t>
              </a:r>
              <a:endParaRPr kumimoji="1" lang="zh-CN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51D42164-36BC-5642-AF6A-804B5F335BBD}"/>
                </a:ext>
              </a:extLst>
            </p:cNvPr>
            <p:cNvSpPr/>
            <p:nvPr/>
          </p:nvSpPr>
          <p:spPr>
            <a:xfrm>
              <a:off x="1403648" y="2731459"/>
              <a:ext cx="1584176" cy="4616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7A99F9CB-AE3D-D84E-9B89-5513D835ADC8}"/>
                </a:ext>
              </a:extLst>
            </p:cNvPr>
            <p:cNvSpPr/>
            <p:nvPr/>
          </p:nvSpPr>
          <p:spPr>
            <a:xfrm>
              <a:off x="1403648" y="3186076"/>
              <a:ext cx="1584176" cy="4616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2AF44BA1-E334-1E4C-9ACC-0A6C07F21F47}"/>
                </a:ext>
              </a:extLst>
            </p:cNvPr>
            <p:cNvSpPr/>
            <p:nvPr/>
          </p:nvSpPr>
          <p:spPr>
            <a:xfrm>
              <a:off x="1403648" y="4347252"/>
              <a:ext cx="1584176" cy="4616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991BC7A1-860B-5247-AD06-E3B08F2E261B}"/>
                </a:ext>
              </a:extLst>
            </p:cNvPr>
            <p:cNvSpPr/>
            <p:nvPr/>
          </p:nvSpPr>
          <p:spPr>
            <a:xfrm>
              <a:off x="1403648" y="3642504"/>
              <a:ext cx="1584176" cy="71194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…</a:t>
              </a:r>
              <a:endParaRPr kumimoji="1" lang="zh-CN" altLang="en-US" dirty="0"/>
            </a:p>
          </p:txBody>
        </p:sp>
      </p:grp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5DF26187-316D-5349-93EB-11C909BC32AA}"/>
              </a:ext>
            </a:extLst>
          </p:cNvPr>
          <p:cNvCxnSpPr/>
          <p:nvPr/>
        </p:nvCxnSpPr>
        <p:spPr>
          <a:xfrm>
            <a:off x="3347864" y="2486500"/>
            <a:ext cx="1415772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07310D69-99DB-DA49-8D6D-178D20FC645D}"/>
              </a:ext>
            </a:extLst>
          </p:cNvPr>
          <p:cNvSpPr txBox="1"/>
          <p:nvPr/>
        </p:nvSpPr>
        <p:spPr>
          <a:xfrm>
            <a:off x="210344" y="4942909"/>
            <a:ext cx="411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Current</a:t>
            </a:r>
            <a:r>
              <a:rPr kumimoji="1" lang="zh-CN" altLang="en-US" dirty="0"/>
              <a:t>指向一个</a:t>
            </a:r>
            <a:r>
              <a:rPr kumimoji="1" lang="en-US" altLang="zh-CN" dirty="0"/>
              <a:t>SLAB</a:t>
            </a:r>
            <a:r>
              <a:rPr kumimoji="1" lang="zh-CN" altLang="en-US" b="1" dirty="0">
                <a:solidFill>
                  <a:srgbClr val="C00000"/>
                </a:solidFill>
              </a:rPr>
              <a:t>并从其中分配；</a:t>
            </a:r>
            <a:endParaRPr kumimoji="1" lang="en-US" altLang="zh-CN" b="1" dirty="0">
              <a:solidFill>
                <a:srgbClr val="C00000"/>
              </a:solidFill>
            </a:endParaRPr>
          </a:p>
          <a:p>
            <a:r>
              <a:rPr kumimoji="1" lang="en-US" altLang="zh-CN" dirty="0"/>
              <a:t>Current</a:t>
            </a:r>
            <a:r>
              <a:rPr kumimoji="1" lang="zh-CN" altLang="en-US" dirty="0"/>
              <a:t>和</a:t>
            </a:r>
            <a:r>
              <a:rPr kumimoji="1" lang="en-US" altLang="zh-CN" dirty="0"/>
              <a:t>Partial</a:t>
            </a:r>
            <a:r>
              <a:rPr kumimoji="1" lang="zh-CN" altLang="en-US" dirty="0"/>
              <a:t>之间的</a:t>
            </a:r>
            <a:r>
              <a:rPr kumimoji="1" lang="en-US" altLang="zh-CN" dirty="0"/>
              <a:t>SLAB</a:t>
            </a:r>
            <a:r>
              <a:rPr kumimoji="1" lang="zh-CN" altLang="en-US" dirty="0"/>
              <a:t>移动</a:t>
            </a:r>
            <a:endParaRPr kumimoji="1" lang="en-US" altLang="zh-CN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1FFA4B4-B215-1F48-9C60-374A5282A223}"/>
              </a:ext>
            </a:extLst>
          </p:cNvPr>
          <p:cNvSpPr txBox="1"/>
          <p:nvPr/>
        </p:nvSpPr>
        <p:spPr>
          <a:xfrm>
            <a:off x="4427984" y="4959530"/>
            <a:ext cx="4067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释放</a:t>
            </a:r>
            <a:r>
              <a:rPr kumimoji="1" lang="zh-CN" altLang="en-US" dirty="0"/>
              <a:t>到对应的</a:t>
            </a:r>
            <a:r>
              <a:rPr kumimoji="1" lang="en-US" altLang="zh-CN" dirty="0"/>
              <a:t>SLAB</a:t>
            </a:r>
            <a:r>
              <a:rPr kumimoji="1" lang="zh-CN" altLang="en-US" dirty="0"/>
              <a:t>；</a:t>
            </a:r>
            <a:endParaRPr kumimoji="1" lang="en-US" altLang="zh-CN" dirty="0"/>
          </a:p>
          <a:p>
            <a:r>
              <a:rPr kumimoji="1" lang="zh-CN" altLang="en-US" dirty="0"/>
              <a:t>若某个</a:t>
            </a:r>
            <a:r>
              <a:rPr kumimoji="1" lang="en-US" altLang="zh-CN" dirty="0"/>
              <a:t>SLAB</a:t>
            </a:r>
            <a:r>
              <a:rPr kumimoji="1" lang="zh-CN" altLang="en-US" dirty="0"/>
              <a:t>全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则可还给伙伴系统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0814101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A84B0FA-798F-5E43-867A-CAD7A37FCC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513" y="-87459"/>
            <a:ext cx="6282503" cy="5715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681635C-BABC-494C-B19B-C38EC2DB8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总体来看</a:t>
            </a:r>
            <a:r>
              <a:rPr kumimoji="1" lang="en-US" altLang="zh-CN" dirty="0"/>
              <a:t>SLUB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2AE8DD-841B-D243-A68C-3DB7090F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64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0E95B56-74AD-8A4D-8079-919EF0CBE219}"/>
              </a:ext>
            </a:extLst>
          </p:cNvPr>
          <p:cNvSpPr txBox="1"/>
          <p:nvPr/>
        </p:nvSpPr>
        <p:spPr>
          <a:xfrm>
            <a:off x="6244604" y="245304"/>
            <a:ext cx="28993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</a:rPr>
              <a:t>从伙伴系统获得的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zh-CN" altLang="en-US" dirty="0">
                <a:solidFill>
                  <a:srgbClr val="C00000"/>
                </a:solidFill>
              </a:rPr>
              <a:t>物理内存块称为 </a:t>
            </a:r>
            <a:r>
              <a:rPr kumimoji="1" lang="en-US" altLang="zh-CN" dirty="0">
                <a:solidFill>
                  <a:srgbClr val="C00000"/>
                </a:solidFill>
              </a:rPr>
              <a:t>slab</a:t>
            </a:r>
          </a:p>
          <a:p>
            <a:pPr marL="285750" indent="-285750">
              <a:buFontTx/>
              <a:buChar char="-"/>
            </a:pP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en-US" altLang="zh-CN" dirty="0">
                <a:solidFill>
                  <a:srgbClr val="C00000"/>
                </a:solidFill>
              </a:rPr>
              <a:t>Slab</a:t>
            </a:r>
            <a:r>
              <a:rPr kumimoji="1" lang="zh-CN" altLang="en-US" dirty="0">
                <a:solidFill>
                  <a:srgbClr val="C00000"/>
                </a:solidFill>
              </a:rPr>
              <a:t>内部组织为空闲链表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DAEF8FF-EBCD-CE43-BA24-ED2D3B505FF0}"/>
              </a:ext>
            </a:extLst>
          </p:cNvPr>
          <p:cNvSpPr txBox="1"/>
          <p:nvPr/>
        </p:nvSpPr>
        <p:spPr>
          <a:xfrm>
            <a:off x="0" y="1449077"/>
            <a:ext cx="29523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三个指针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current</a:t>
            </a:r>
            <a:r>
              <a:rPr kumimoji="1" lang="zh-CN" altLang="en-US" dirty="0"/>
              <a:t>仅指向一个 </a:t>
            </a:r>
            <a:r>
              <a:rPr kumimoji="1" lang="en-US" altLang="zh-CN" dirty="0"/>
              <a:t>slab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partial</a:t>
            </a:r>
            <a:r>
              <a:rPr kumimoji="1" lang="zh-CN" altLang="en-US" dirty="0"/>
              <a:t>指向未满</a:t>
            </a:r>
            <a:r>
              <a:rPr kumimoji="1" lang="en-US" altLang="zh-CN" dirty="0"/>
              <a:t>slab</a:t>
            </a:r>
            <a:r>
              <a:rPr kumimoji="1" lang="zh-CN" altLang="en-US" dirty="0"/>
              <a:t>链表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full</a:t>
            </a:r>
            <a:r>
              <a:rPr kumimoji="1" lang="zh-CN" altLang="en-US" dirty="0"/>
              <a:t>指向全满</a:t>
            </a:r>
            <a:r>
              <a:rPr kumimoji="1" lang="en-US" altLang="zh-CN" dirty="0"/>
              <a:t>slab</a:t>
            </a:r>
            <a:r>
              <a:rPr kumimoji="1" lang="zh-CN" altLang="en-US" dirty="0"/>
              <a:t>链表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6443843-3818-FA4D-A99F-6FC778A33167}"/>
              </a:ext>
            </a:extLst>
          </p:cNvPr>
          <p:cNvSpPr txBox="1"/>
          <p:nvPr/>
        </p:nvSpPr>
        <p:spPr>
          <a:xfrm>
            <a:off x="251520" y="3873215"/>
            <a:ext cx="40679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分配</a:t>
            </a:r>
            <a:r>
              <a:rPr kumimoji="1" lang="zh-CN" altLang="en-US" dirty="0"/>
              <a:t>使用</a:t>
            </a:r>
            <a:r>
              <a:rPr kumimoji="1" lang="en-US" altLang="zh-CN" dirty="0"/>
              <a:t>current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slab</a:t>
            </a:r>
          </a:p>
          <a:p>
            <a:pPr marL="742950" lvl="1" indent="-285750">
              <a:buFontTx/>
              <a:buChar char="-"/>
            </a:pPr>
            <a:r>
              <a:rPr kumimoji="1" lang="zh-CN" altLang="en-US" dirty="0"/>
              <a:t>若满发生两个移动</a:t>
            </a:r>
            <a:endParaRPr kumimoji="1" lang="en-US" altLang="zh-CN" dirty="0"/>
          </a:p>
          <a:p>
            <a:pPr marL="742950" lvl="1" indent="-285750">
              <a:buFontTx/>
              <a:buChar char="-"/>
            </a:pPr>
            <a:endParaRPr kumimoji="1" lang="en-US" altLang="zh-CN" dirty="0"/>
          </a:p>
          <a:p>
            <a:r>
              <a:rPr kumimoji="1" lang="zh-CN" altLang="en-US" b="1" dirty="0">
                <a:solidFill>
                  <a:srgbClr val="C00000"/>
                </a:solidFill>
              </a:rPr>
              <a:t>释放</a:t>
            </a:r>
            <a:r>
              <a:rPr kumimoji="1" lang="zh-CN" altLang="en-US" dirty="0"/>
              <a:t>到对应的</a:t>
            </a:r>
            <a:r>
              <a:rPr kumimoji="1" lang="en-US" altLang="zh-CN" dirty="0"/>
              <a:t>slab</a:t>
            </a:r>
          </a:p>
          <a:p>
            <a:pPr marL="742950" lvl="1" indent="-285750">
              <a:buFontTx/>
              <a:buChar char="-"/>
            </a:pPr>
            <a:r>
              <a:rPr kumimoji="1" lang="zh-CN" altLang="en-US" dirty="0"/>
              <a:t>移动 </a:t>
            </a:r>
            <a:r>
              <a:rPr kumimoji="1" lang="en-US" altLang="zh-CN" dirty="0"/>
              <a:t>full</a:t>
            </a:r>
            <a:r>
              <a:rPr kumimoji="1" lang="zh-CN" altLang="en-US" dirty="0"/>
              <a:t> 到 </a:t>
            </a:r>
            <a:r>
              <a:rPr kumimoji="1" lang="en-US" altLang="zh-CN" dirty="0"/>
              <a:t>partial</a:t>
            </a:r>
          </a:p>
          <a:p>
            <a:pPr marL="742950" lvl="1" indent="-285750">
              <a:buFontTx/>
              <a:buChar char="-"/>
            </a:pPr>
            <a:r>
              <a:rPr kumimoji="1" lang="zh-CN" altLang="en-US" dirty="0"/>
              <a:t>若</a:t>
            </a:r>
            <a:r>
              <a:rPr kumimoji="1" lang="en-US" altLang="zh-CN" dirty="0"/>
              <a:t>partial</a:t>
            </a:r>
            <a:r>
              <a:rPr kumimoji="1" lang="zh-CN" altLang="en-US" dirty="0"/>
              <a:t>全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则还给伙伴系统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076976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E855ED-A6A0-5B48-A3CC-1A3D352F4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内存分配器小结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6115E9-8E78-EF4B-8FA5-DC0B7122D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 fontScale="92500"/>
          </a:bodyPr>
          <a:lstStyle/>
          <a:p>
            <a:r>
              <a:rPr kumimoji="1" lang="zh-CN" altLang="en-US" dirty="0"/>
              <a:t>伙伴系统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分配单个或连续的物理页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有效解决外部碎片问题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思考：分配效率？</a:t>
            </a:r>
            <a:endParaRPr kumimoji="1" lang="en-US" altLang="zh-CN" dirty="0"/>
          </a:p>
          <a:p>
            <a:r>
              <a:rPr kumimoji="1" lang="en-US" altLang="zh-CN" dirty="0"/>
              <a:t>SLUB</a:t>
            </a:r>
          </a:p>
          <a:p>
            <a:pPr lvl="1"/>
            <a:r>
              <a:rPr kumimoji="1" lang="zh-CN" altLang="en-US" dirty="0"/>
              <a:t>分配比页小的内存请求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有效解决内部碎片问题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思考：分配效率？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51CDA9-59DD-1445-B6F9-521AA9726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530672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6E55ED-1522-BA41-B8CF-8460A8F36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换页策略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CC9E35-904A-0442-8514-F3947DA92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Swap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3F6133-4985-2546-92B4-EC8317DBC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99989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E03C28-A504-0343-9DF6-3FE1C64E2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理想的换页策略（</a:t>
            </a:r>
            <a:r>
              <a:rPr kumimoji="1" lang="en-US" altLang="zh-CN" dirty="0"/>
              <a:t>OPT</a:t>
            </a:r>
            <a:r>
              <a:rPr kumimoji="1" lang="zh-CN" altLang="en-US" dirty="0"/>
              <a:t>策略）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D819CB5-2F0D-5F41-99EF-028DA77FE8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323" y="3044816"/>
            <a:ext cx="8817354" cy="2106325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60AB3B-A95C-C440-932B-DF0557EB6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67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0A2E6A-7A1C-2D46-ADC1-3317641510BE}"/>
              </a:ext>
            </a:extLst>
          </p:cNvPr>
          <p:cNvSpPr txBox="1"/>
          <p:nvPr/>
        </p:nvSpPr>
        <p:spPr>
          <a:xfrm>
            <a:off x="251520" y="1417340"/>
            <a:ext cx="58977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+mn-ea"/>
              </a:rPr>
              <a:t>假设物理内存中可以存放三个物理页，初始为空，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某应用程序一共需要访问物理页面 </a:t>
            </a:r>
            <a:r>
              <a:rPr kumimoji="1" lang="en-US" altLang="zh-CN" sz="2000" dirty="0">
                <a:latin typeface="+mn-ea"/>
              </a:rPr>
              <a:t>1</a:t>
            </a:r>
            <a:r>
              <a:rPr kumimoji="1" lang="zh-CN" altLang="en-US" sz="2000" dirty="0">
                <a:latin typeface="+mn-ea"/>
              </a:rPr>
              <a:t>～</a:t>
            </a:r>
            <a:r>
              <a:rPr kumimoji="1" lang="en-US" altLang="zh-CN" sz="2000" dirty="0">
                <a:latin typeface="+mn-ea"/>
              </a:rPr>
              <a:t>5</a:t>
            </a:r>
            <a:endParaRPr kumimoji="1" lang="zh-CN" altLang="en-US" sz="2000" dirty="0">
              <a:latin typeface="+mn-ea"/>
            </a:endParaRP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EF40A5D7-A487-AC49-987A-D2F10F35E202}"/>
              </a:ext>
            </a:extLst>
          </p:cNvPr>
          <p:cNvCxnSpPr>
            <a:cxnSpLocks/>
          </p:cNvCxnSpPr>
          <p:nvPr/>
        </p:nvCxnSpPr>
        <p:spPr>
          <a:xfrm>
            <a:off x="323528" y="2929508"/>
            <a:ext cx="849694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36272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E6DC8-BD73-604D-8FDD-E7B084726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FIFO</a:t>
            </a:r>
            <a:r>
              <a:rPr kumimoji="1" lang="zh-CN" altLang="en-US" dirty="0"/>
              <a:t>策略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ED0E10B5-FD62-7448-B0B9-D5D7424C89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57" y="2980703"/>
            <a:ext cx="8976485" cy="2253061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B6CF01-6558-2241-B1A3-0F633F627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68</a:t>
            </a:fld>
            <a:endParaRPr lang="zh-CN" altLang="en-US"/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102E02A8-9AB4-C042-BB69-CA3C39CEADA0}"/>
              </a:ext>
            </a:extLst>
          </p:cNvPr>
          <p:cNvCxnSpPr>
            <a:cxnSpLocks/>
          </p:cNvCxnSpPr>
          <p:nvPr/>
        </p:nvCxnSpPr>
        <p:spPr>
          <a:xfrm>
            <a:off x="323528" y="2926482"/>
            <a:ext cx="842493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BB4D90B-FE07-2B4E-B49C-C43CE35CC092}"/>
              </a:ext>
            </a:extLst>
          </p:cNvPr>
          <p:cNvSpPr txBox="1"/>
          <p:nvPr/>
        </p:nvSpPr>
        <p:spPr>
          <a:xfrm>
            <a:off x="251520" y="1417340"/>
            <a:ext cx="63401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+mn-ea"/>
              </a:rPr>
              <a:t>操作系统维护一个队列用于记录换入内存的物理页号，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每换入一个物理页就把其页号加到队尾，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因此最先换进的物理页号总是处于队头位置</a:t>
            </a:r>
          </a:p>
        </p:txBody>
      </p:sp>
    </p:spTree>
    <p:extLst>
      <p:ext uri="{BB962C8B-B14F-4D97-AF65-F5344CB8AC3E}">
        <p14:creationId xmlns:p14="http://schemas.microsoft.com/office/powerpoint/2010/main" val="9467026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829B1E-7915-A845-8D58-8000DB09C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Belady’s</a:t>
            </a:r>
            <a:r>
              <a:rPr kumimoji="1" lang="zh-CN" altLang="en-US" dirty="0"/>
              <a:t> </a:t>
            </a:r>
            <a:r>
              <a:rPr kumimoji="1" lang="en-US" altLang="zh-CN" dirty="0"/>
              <a:t>Anomaly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3B951E-4CC2-334F-851C-007ACC990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访问顺序：</a:t>
            </a:r>
            <a:r>
              <a:rPr kumimoji="1" lang="en-US" altLang="zh-CN" dirty="0"/>
              <a:t>1, 2, 3, 4, 1, 2, 5, 1, 2, 3, 4, 5</a:t>
            </a:r>
          </a:p>
          <a:p>
            <a:pPr lvl="1"/>
            <a:r>
              <a:rPr kumimoji="1" lang="en" altLang="zh-CN" dirty="0"/>
              <a:t>3</a:t>
            </a:r>
            <a:r>
              <a:rPr kumimoji="1" lang="zh-CN" altLang="en" dirty="0"/>
              <a:t>个物理</a:t>
            </a:r>
            <a:r>
              <a:rPr kumimoji="1" lang="zh-CN" altLang="en-US" dirty="0"/>
              <a:t>页：</a:t>
            </a:r>
            <a:r>
              <a:rPr kumimoji="1" lang="en" altLang="zh-CN" dirty="0"/>
              <a:t>9</a:t>
            </a:r>
            <a:r>
              <a:rPr kumimoji="1" lang="zh-CN" altLang="en" dirty="0"/>
              <a:t>次</a:t>
            </a:r>
            <a:r>
              <a:rPr kumimoji="1" lang="en" altLang="zh-CN" dirty="0"/>
              <a:t>page faults</a:t>
            </a:r>
          </a:p>
          <a:p>
            <a:pPr lvl="1"/>
            <a:r>
              <a:rPr kumimoji="1" lang="en" altLang="zh-CN" dirty="0"/>
              <a:t>4</a:t>
            </a:r>
            <a:r>
              <a:rPr kumimoji="1" lang="zh-CN" altLang="en" dirty="0"/>
              <a:t>个物理页</a:t>
            </a:r>
            <a:r>
              <a:rPr kumimoji="1" lang="en" altLang="zh-CN" dirty="0"/>
              <a:t>: 10</a:t>
            </a:r>
            <a:r>
              <a:rPr kumimoji="1" lang="zh-CN" altLang="en" dirty="0"/>
              <a:t>次</a:t>
            </a:r>
            <a:r>
              <a:rPr kumimoji="1" lang="en" altLang="zh-CN" dirty="0"/>
              <a:t>page faults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3DE149-5FEC-1F46-BA87-549C33DD7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69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15CE9FC-CA46-8740-99C1-B60072684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3060761"/>
            <a:ext cx="4023828" cy="264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44612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E6DC8-BD73-604D-8FDD-E7B084726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Second</a:t>
            </a:r>
            <a:r>
              <a:rPr kumimoji="1" lang="zh-CN" altLang="en-US" dirty="0"/>
              <a:t> </a:t>
            </a:r>
            <a:r>
              <a:rPr kumimoji="1" lang="en-US" altLang="zh-CN" dirty="0"/>
              <a:t>Chance</a:t>
            </a:r>
            <a:r>
              <a:rPr kumimoji="1" lang="zh-CN" altLang="en-US" dirty="0"/>
              <a:t>策略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B6CF01-6558-2241-B1A3-0F633F627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70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BB4D90B-FE07-2B4E-B49C-C43CE35CC092}"/>
              </a:ext>
            </a:extLst>
          </p:cNvPr>
          <p:cNvSpPr txBox="1"/>
          <p:nvPr/>
        </p:nvSpPr>
        <p:spPr>
          <a:xfrm>
            <a:off x="251520" y="1417340"/>
            <a:ext cx="79977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+mn-ea"/>
              </a:rPr>
              <a:t>FIFO </a:t>
            </a:r>
            <a:r>
              <a:rPr kumimoji="1" lang="zh-CN" altLang="en-US" sz="2000" dirty="0">
                <a:latin typeface="+mn-ea"/>
              </a:rPr>
              <a:t>策略的一种改进版本：为每一个物理页号维护一个访问标志位。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如果访问的页面号已经处在队列中，则置上其访问标志位。</a:t>
            </a:r>
            <a:endParaRPr kumimoji="1" lang="en-US" altLang="zh-CN" sz="2000" dirty="0">
              <a:latin typeface="+mn-ea"/>
            </a:endParaRPr>
          </a:p>
          <a:p>
            <a:r>
              <a:rPr kumimoji="1" lang="zh-CN" altLang="en-US" sz="2000" dirty="0">
                <a:latin typeface="+mn-ea"/>
              </a:rPr>
              <a:t>换页时查看队头：</a:t>
            </a:r>
            <a:r>
              <a:rPr kumimoji="1" lang="en-US" altLang="zh-CN" sz="2000" dirty="0">
                <a:latin typeface="+mn-ea"/>
              </a:rPr>
              <a:t>1</a:t>
            </a:r>
            <a:r>
              <a:rPr kumimoji="1" lang="zh-CN" altLang="en-US" sz="2000" dirty="0">
                <a:latin typeface="+mn-ea"/>
              </a:rPr>
              <a:t>）无标志则换出；</a:t>
            </a:r>
            <a:br>
              <a:rPr kumimoji="1" lang="en-US" altLang="zh-CN" sz="2000" dirty="0">
                <a:latin typeface="+mn-ea"/>
              </a:rPr>
            </a:br>
            <a:r>
              <a:rPr kumimoji="1" lang="en-US" altLang="zh-CN" sz="2000" dirty="0">
                <a:latin typeface="+mn-ea"/>
              </a:rPr>
              <a:t>2</a:t>
            </a:r>
            <a:r>
              <a:rPr kumimoji="1" lang="zh-CN" altLang="en-US" sz="2000" dirty="0">
                <a:latin typeface="+mn-ea"/>
              </a:rPr>
              <a:t>）有标志则去除标志放入队尾，继续寻找</a:t>
            </a: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102E02A8-9AB4-C042-BB69-CA3C39CEADA0}"/>
              </a:ext>
            </a:extLst>
          </p:cNvPr>
          <p:cNvCxnSpPr>
            <a:cxnSpLocks/>
          </p:cNvCxnSpPr>
          <p:nvPr/>
        </p:nvCxnSpPr>
        <p:spPr>
          <a:xfrm>
            <a:off x="323528" y="3073524"/>
            <a:ext cx="842493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55E2AB98-B7F0-D64A-9EE5-0AFDC9F16D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156916"/>
            <a:ext cx="8712968" cy="206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65005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E6DC8-BD73-604D-8FDD-E7B084726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LRU</a:t>
            </a:r>
            <a:r>
              <a:rPr kumimoji="1" lang="zh-CN" altLang="en-US" dirty="0"/>
              <a:t>策略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B6CF01-6558-2241-B1A3-0F633F627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71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BB4D90B-FE07-2B4E-B49C-C43CE35CC092}"/>
              </a:ext>
            </a:extLst>
          </p:cNvPr>
          <p:cNvSpPr txBox="1"/>
          <p:nvPr/>
        </p:nvSpPr>
        <p:spPr>
          <a:xfrm>
            <a:off x="251520" y="1226284"/>
            <a:ext cx="842493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latin typeface="+mn-ea"/>
              </a:rPr>
              <a:t>OS</a:t>
            </a:r>
            <a:r>
              <a:rPr kumimoji="1" lang="zh-CN" altLang="en-US" sz="2000" dirty="0">
                <a:latin typeface="+mn-ea"/>
              </a:rPr>
              <a:t>维护一个链表，在每次内存访问后，</a:t>
            </a:r>
            <a:r>
              <a:rPr kumimoji="1" lang="en-US" altLang="zh-CN" sz="2000" dirty="0">
                <a:latin typeface="+mn-ea"/>
              </a:rPr>
              <a:t>OS</a:t>
            </a:r>
            <a:r>
              <a:rPr kumimoji="1" lang="zh-CN" altLang="en-US" sz="2000" dirty="0">
                <a:latin typeface="+mn-ea"/>
              </a:rPr>
              <a:t>把刚刚访问的内存页调整到链表尾端；每次都选择换出位于链表头部的页面</a:t>
            </a:r>
            <a:endParaRPr kumimoji="1" lang="en-US" altLang="zh-CN" sz="2000" dirty="0">
              <a:latin typeface="+mn-ea"/>
            </a:endParaRPr>
          </a:p>
          <a:p>
            <a:endParaRPr kumimoji="1" lang="en-US" altLang="zh-CN" sz="2000" dirty="0">
              <a:latin typeface="+mn-ea"/>
            </a:endParaRPr>
          </a:p>
          <a:p>
            <a:r>
              <a:rPr kumimoji="1" lang="zh-CN" altLang="en-US" sz="2000" dirty="0">
                <a:latin typeface="+mn-ea"/>
              </a:rPr>
              <a:t>缺点</a:t>
            </a:r>
            <a:r>
              <a:rPr kumimoji="1" lang="en-US" altLang="zh-CN" sz="2000" dirty="0">
                <a:latin typeface="+mn-ea"/>
              </a:rPr>
              <a:t>-1</a:t>
            </a:r>
            <a:r>
              <a:rPr kumimoji="1" lang="zh-CN" altLang="en-US" sz="2000" dirty="0">
                <a:latin typeface="+mn-ea"/>
              </a:rPr>
              <a:t>：对于特定的序列，效果可能非常差，如循环访问内存</a:t>
            </a:r>
            <a:endParaRPr kumimoji="1" lang="en-US" altLang="zh-CN" sz="2000" dirty="0">
              <a:latin typeface="+mn-ea"/>
            </a:endParaRPr>
          </a:p>
          <a:p>
            <a:r>
              <a:rPr kumimoji="1" lang="zh-CN" altLang="en-US" sz="2000" dirty="0">
                <a:latin typeface="+mn-ea"/>
              </a:rPr>
              <a:t>缺点</a:t>
            </a:r>
            <a:r>
              <a:rPr kumimoji="1" lang="en-US" altLang="zh-CN" sz="2000" dirty="0">
                <a:latin typeface="+mn-ea"/>
              </a:rPr>
              <a:t>-2</a:t>
            </a:r>
            <a:r>
              <a:rPr kumimoji="1" lang="zh-CN" altLang="en-US" sz="2000" dirty="0">
                <a:latin typeface="+mn-ea"/>
              </a:rPr>
              <a:t>：需要排序的内存页可能非常多，导致很高的额外负载</a:t>
            </a: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102E02A8-9AB4-C042-BB69-CA3C39CEADA0}"/>
              </a:ext>
            </a:extLst>
          </p:cNvPr>
          <p:cNvCxnSpPr>
            <a:cxnSpLocks/>
          </p:cNvCxnSpPr>
          <p:nvPr/>
        </p:nvCxnSpPr>
        <p:spPr>
          <a:xfrm>
            <a:off x="323528" y="3073524"/>
            <a:ext cx="842493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EDCF50BA-A1D9-2F45-9268-E0D960ABA2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40" y="3215757"/>
            <a:ext cx="8509624" cy="194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70394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3ABEAC-3AF4-0942-84FF-CE840C8CD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LRU</a:t>
            </a:r>
            <a:r>
              <a:rPr kumimoji="1" lang="zh-CN" altLang="en-US" dirty="0"/>
              <a:t>如何实现呢？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4761C9-8300-AB41-A74E-21D830EB7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精确排序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CPU</a:t>
            </a:r>
            <a:r>
              <a:rPr kumimoji="1" lang="zh-CN" altLang="en-US" sz="2000" dirty="0"/>
              <a:t>访问某个页时，在页表项上打时间戳（</a:t>
            </a:r>
            <a:r>
              <a:rPr kumimoji="1" lang="en-US" altLang="zh-CN" sz="2000" dirty="0"/>
              <a:t>cycle</a:t>
            </a:r>
            <a:r>
              <a:rPr kumimoji="1" lang="zh-CN" altLang="en-US" sz="2000" dirty="0"/>
              <a:t>数）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OS</a:t>
            </a:r>
            <a:r>
              <a:rPr kumimoji="1" lang="zh-CN" altLang="en-US" sz="2000" dirty="0"/>
              <a:t>遍历所有内存页的页表项，根据时间戳排序</a:t>
            </a:r>
            <a:endParaRPr kumimoji="1" lang="en-US" altLang="zh-CN" sz="2000" dirty="0"/>
          </a:p>
          <a:p>
            <a:r>
              <a:rPr kumimoji="1" lang="zh-CN" altLang="en-US" sz="2400" dirty="0"/>
              <a:t>缺点：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遍历所有页表项太费时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不同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的时间戳不一定全局排序，无法保证完全精确</a:t>
            </a:r>
            <a:endParaRPr kumimoji="1" lang="en-US" altLang="zh-CN" sz="2000" dirty="0"/>
          </a:p>
          <a:p>
            <a:r>
              <a:rPr kumimoji="1" lang="zh-CN" altLang="en-US" sz="2400" dirty="0"/>
              <a:t>思路：是否可用近似的方式？</a:t>
            </a:r>
            <a:endParaRPr kumimoji="1" lang="en-US" altLang="zh-CN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525803-09BE-C14A-8061-D79127D9D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48958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408939-330F-9045-AB94-CA0BF9AF0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时钟算法策略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35C21E-7F72-ED47-8A42-5CEF97F22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165311"/>
            <a:ext cx="8229600" cy="3771636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物理页环形排列（类似时钟）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当物理页被访问时，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把对应页表项的“访问位”设成</a:t>
            </a:r>
            <a:r>
              <a:rPr kumimoji="1" lang="en-US" altLang="zh-CN" sz="2000" dirty="0"/>
              <a:t>T</a:t>
            </a:r>
          </a:p>
          <a:p>
            <a:pPr lvl="1"/>
            <a:r>
              <a:rPr kumimoji="1" lang="en-US" altLang="zh-CN" sz="2000" dirty="0"/>
              <a:t>OS</a:t>
            </a:r>
            <a:r>
              <a:rPr kumimoji="1" lang="zh-CN" altLang="en-US" sz="2000" dirty="0"/>
              <a:t>依次（如顺时针）查看每个页的“访问位”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如果是</a:t>
            </a:r>
            <a:r>
              <a:rPr kumimoji="1" lang="en-US" altLang="zh-CN" sz="1800" dirty="0"/>
              <a:t>T</a:t>
            </a:r>
            <a:r>
              <a:rPr kumimoji="1" lang="zh-CN" altLang="en-US" sz="1800" dirty="0"/>
              <a:t>，则置成</a:t>
            </a:r>
            <a:r>
              <a:rPr kumimoji="1" lang="en-US" altLang="zh-CN" sz="1800" dirty="0"/>
              <a:t>F</a:t>
            </a:r>
          </a:p>
          <a:p>
            <a:pPr lvl="2"/>
            <a:r>
              <a:rPr kumimoji="1" lang="zh-CN" altLang="en-US" sz="1800" dirty="0"/>
              <a:t>如果是</a:t>
            </a:r>
            <a:r>
              <a:rPr kumimoji="1" lang="en-US" altLang="zh-CN" sz="1800" dirty="0"/>
              <a:t>F</a:t>
            </a:r>
            <a:r>
              <a:rPr kumimoji="1" lang="zh-CN" altLang="en-US" sz="1800" dirty="0"/>
              <a:t>，则驱逐该页</a:t>
            </a:r>
            <a:endParaRPr kumimoji="1" lang="en-US" altLang="zh-CN" sz="1800" dirty="0"/>
          </a:p>
          <a:p>
            <a:pPr lvl="1"/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8E430A-2169-C14A-973C-7E58F068D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73</a:t>
            </a:fld>
            <a:endParaRPr lang="zh-CN" alt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465FE93-388E-E741-AF2E-9D0D4BEC7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2087" y="2857050"/>
            <a:ext cx="4128446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256908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A9D19-98A3-0240-A54F-663CF820A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思考具体实现案例：时钟算法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90A140-7A2B-2A43-9FB2-5E85A197E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/>
              <a:t>每个物理页有一个“访问位”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实际上，硬件是在页表项里面为虚拟页打上“访问位”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Recap</a:t>
            </a:r>
            <a:r>
              <a:rPr kumimoji="1" lang="zh-CN" altLang="en-US" dirty="0"/>
              <a:t>：</a:t>
            </a:r>
            <a:r>
              <a:rPr kumimoji="1" lang="en-US" altLang="zh-CN" dirty="0"/>
              <a:t>Access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Flag</a:t>
            </a:r>
          </a:p>
          <a:p>
            <a:r>
              <a:rPr kumimoji="1" lang="zh-CN" altLang="en-US" dirty="0"/>
              <a:t>如何实现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OS</a:t>
            </a:r>
            <a:r>
              <a:rPr kumimoji="1" lang="zh-CN" altLang="en-US" dirty="0"/>
              <a:t>为每个物理页维护元数据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当物理页被填写到某张页表中时，把页表项的位置记录在元数据中（在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中称为“反向映射”：</a:t>
            </a:r>
            <a:r>
              <a:rPr kumimoji="1" lang="en-US" altLang="zh-CN" b="1" dirty="0">
                <a:solidFill>
                  <a:srgbClr val="C00000"/>
                </a:solidFill>
              </a:rPr>
              <a:t>reverse</a:t>
            </a:r>
            <a:r>
              <a:rPr kumimoji="1" lang="zh-CN" altLang="en-US" b="1" dirty="0">
                <a:solidFill>
                  <a:srgbClr val="C00000"/>
                </a:solidFill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mapping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根据物理页对应的页表项中的“访问位”判断是否驱逐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驱逐某页时应该清空所有对应的页表项（例如共享内存）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A4A2E0-2463-0F47-9E60-DD56BA69F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57078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B9024A-72C6-3242-B102-716094E0C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页替换策略小结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0C04AE-AF7E-5F4B-A300-70232DF1C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00263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常见的替换策略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FIFO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LRU/MRU</a:t>
            </a:r>
            <a:r>
              <a:rPr kumimoji="1" lang="zh-CN" altLang="en-US" sz="2000" dirty="0"/>
              <a:t>、时钟算法、随机替换 </a:t>
            </a:r>
            <a:r>
              <a:rPr kumimoji="1" lang="en-US" altLang="zh-CN" sz="2000" dirty="0"/>
              <a:t>…</a:t>
            </a:r>
          </a:p>
          <a:p>
            <a:r>
              <a:rPr kumimoji="1" lang="zh-CN" altLang="en-US" sz="2400" dirty="0"/>
              <a:t>替换策略评价标准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缺页发生的概率 （参照理想但不能实现的</a:t>
            </a:r>
            <a:r>
              <a:rPr kumimoji="1" lang="en-US" altLang="zh-CN" sz="2000" b="1" dirty="0"/>
              <a:t>OPT</a:t>
            </a:r>
            <a:r>
              <a:rPr kumimoji="1" lang="zh-CN" altLang="en-US" sz="2000" b="1" dirty="0"/>
              <a:t>策略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策略本身的性能开销</a:t>
            </a:r>
            <a:endParaRPr kumimoji="1" lang="en-US" altLang="zh-CN" sz="2000" dirty="0"/>
          </a:p>
          <a:p>
            <a:pPr lvl="2"/>
            <a:r>
              <a:rPr kumimoji="1" lang="zh-CN" altLang="en-US" sz="1800" dirty="0">
                <a:solidFill>
                  <a:srgbClr val="C00000"/>
                </a:solidFill>
              </a:rPr>
              <a:t>如何高效地记录物理页的使用情况？</a:t>
            </a:r>
            <a:endParaRPr kumimoji="1" lang="en-US" altLang="zh-CN" sz="1800" dirty="0">
              <a:solidFill>
                <a:srgbClr val="C00000"/>
              </a:solidFill>
            </a:endParaRPr>
          </a:p>
          <a:p>
            <a:pPr lvl="3"/>
            <a:r>
              <a:rPr kumimoji="1" lang="zh-CN" altLang="en-US" dirty="0">
                <a:solidFill>
                  <a:srgbClr val="C00000"/>
                </a:solidFill>
              </a:rPr>
              <a:t>页表项中</a:t>
            </a:r>
            <a:r>
              <a:rPr kumimoji="1" lang="en-US" altLang="zh-CN" dirty="0">
                <a:solidFill>
                  <a:srgbClr val="C00000"/>
                </a:solidFill>
              </a:rPr>
              <a:t>Access/Dirty</a:t>
            </a:r>
            <a:r>
              <a:rPr kumimoji="1" lang="zh-CN" altLang="en-US" dirty="0">
                <a:solidFill>
                  <a:srgbClr val="C00000"/>
                </a:solidFill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</a:rPr>
              <a:t>Bits</a:t>
            </a:r>
            <a:r>
              <a:rPr kumimoji="1" lang="zh-CN" altLang="en-US" dirty="0">
                <a:solidFill>
                  <a:srgbClr val="C00000"/>
                </a:solidFill>
              </a:rPr>
              <a:t> 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en-US" altLang="zh-CN" sz="2400" u="sng" dirty="0"/>
              <a:t>Thrashing</a:t>
            </a:r>
            <a:r>
              <a:rPr kumimoji="1" lang="zh-CN" altLang="en-US" sz="2400" u="sng" dirty="0"/>
              <a:t> </a:t>
            </a:r>
            <a:r>
              <a:rPr kumimoji="1" lang="en-US" altLang="zh-CN" sz="2400" u="sng" dirty="0"/>
              <a:t>Problem</a:t>
            </a:r>
          </a:p>
          <a:p>
            <a:endParaRPr kumimoji="1" lang="en-US" altLang="zh-CN" sz="2400" dirty="0"/>
          </a:p>
          <a:p>
            <a:pPr lvl="1"/>
            <a:endParaRPr kumimoji="1" lang="zh-CN" altLang="en-US" dirty="0"/>
          </a:p>
          <a:p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DCED4D-073F-BC45-B8C3-BBCB09685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072614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256EBB-C989-2344-831F-54C3FE4EE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Thrashing Problem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EF1081-DB6E-F541-89D6-85EBACE8F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74363"/>
            <a:ext cx="8229600" cy="3771636"/>
          </a:xfrm>
        </p:spPr>
        <p:txBody>
          <a:bodyPr>
            <a:noAutofit/>
          </a:bodyPr>
          <a:lstStyle/>
          <a:p>
            <a:r>
              <a:rPr kumimoji="1" lang="zh-CN" altLang="en-US" sz="2400" dirty="0"/>
              <a:t>直接原因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过于频繁的缺页异常（物理内存总需求过大）</a:t>
            </a:r>
            <a:endParaRPr kumimoji="1" lang="en-US" altLang="zh-CN" sz="2000" dirty="0"/>
          </a:p>
          <a:p>
            <a:r>
              <a:rPr kumimoji="1" lang="zh-CN" altLang="en-US" sz="2400" dirty="0"/>
              <a:t>大部分 </a:t>
            </a:r>
            <a:r>
              <a:rPr kumimoji="1" lang="en-US" altLang="zh-CN" sz="2400" dirty="0"/>
              <a:t>CPU </a:t>
            </a:r>
            <a:r>
              <a:rPr kumimoji="1" lang="zh-CN" altLang="en-US" sz="2400" dirty="0"/>
              <a:t>时间都被用来处理缺页异常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等待缓慢的磁盘 </a:t>
            </a:r>
            <a:r>
              <a:rPr kumimoji="1" lang="en-US" altLang="zh-CN" sz="2000" dirty="0"/>
              <a:t>I/O </a:t>
            </a:r>
            <a:r>
              <a:rPr kumimoji="1" lang="zh-CN" altLang="en-US" sz="2000" dirty="0"/>
              <a:t>操作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仅剩小部分的时间用于执行真正有意义的工作</a:t>
            </a:r>
            <a:endParaRPr kumimoji="1" lang="en-US" altLang="zh-CN" sz="2000" dirty="0"/>
          </a:p>
          <a:p>
            <a:r>
              <a:rPr kumimoji="1" lang="zh-CN" altLang="en-US" sz="2400" dirty="0"/>
              <a:t>调度器造成问题加剧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等待磁盘 </a:t>
            </a:r>
            <a:r>
              <a:rPr kumimoji="1" lang="en-US" altLang="zh-CN" sz="2000" dirty="0"/>
              <a:t>I/O</a:t>
            </a:r>
            <a:r>
              <a:rPr kumimoji="1" lang="zh-CN" altLang="en-US" sz="2000" dirty="0"/>
              <a:t>导致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利用率下降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调度器载入更多的进程以期提高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利用率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触发更多的缺页异常、进一步降低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利用率、导致连锁反应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pPr lvl="1"/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3724CF-22FA-B941-AA0E-4AE95E09D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609570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CB6E9F-2A13-0046-A197-6BA255CE6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工作集模型（有效避免</a:t>
            </a:r>
            <a:r>
              <a:rPr kumimoji="1" lang="en-US" altLang="zh-CN" dirty="0"/>
              <a:t>Thrashing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9E9348-6A3B-5443-89FA-38B1C2A82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一个进程在时间</a:t>
            </a:r>
            <a:r>
              <a:rPr kumimoji="1" lang="en-US" altLang="zh-CN" sz="2400" dirty="0"/>
              <a:t>t</a:t>
            </a:r>
            <a:r>
              <a:rPr kumimoji="1" lang="zh-CN" altLang="en-US" sz="2400" dirty="0"/>
              <a:t>的工作集</a:t>
            </a:r>
            <a:r>
              <a:rPr kumimoji="1" lang="en-US" altLang="zh-CN" sz="2400" dirty="0"/>
              <a:t>W(t, x)</a:t>
            </a:r>
            <a:r>
              <a:rPr kumimoji="1" lang="zh-CN" altLang="en-US" sz="2400" dirty="0"/>
              <a:t>：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其在时间段（</a:t>
            </a:r>
            <a:r>
              <a:rPr kumimoji="1" lang="en-US" altLang="zh-CN" sz="2000" dirty="0"/>
              <a:t>t - x, t)</a:t>
            </a:r>
            <a:r>
              <a:rPr kumimoji="1" lang="zh-CN" altLang="en-US" sz="2000" dirty="0"/>
              <a:t>内使用的内存页集合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也被视为其在未来（下一个</a:t>
            </a:r>
            <a:r>
              <a:rPr kumimoji="1" lang="en-US" altLang="zh-CN" sz="2000" dirty="0"/>
              <a:t>x</a:t>
            </a:r>
            <a:r>
              <a:rPr kumimoji="1" lang="zh-CN" altLang="en-US" sz="2000" dirty="0"/>
              <a:t>时间内）会访问的页集合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如果希望进程能够顺利进展，则需要将该集合保持在内存中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r>
              <a:rPr lang="zh-CN" altLang="en-US" sz="2400" dirty="0"/>
              <a:t>工作集模型：</a:t>
            </a:r>
            <a:r>
              <a:rPr lang="en-US" altLang="zh-CN" sz="2400" dirty="0"/>
              <a:t>All-or-nothing</a:t>
            </a:r>
          </a:p>
          <a:p>
            <a:pPr lvl="1"/>
            <a:r>
              <a:rPr lang="zh-CN" altLang="en-US" sz="2000" dirty="0"/>
              <a:t>进程工作集要么都在内存中，要么全都换出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避免</a:t>
            </a:r>
            <a:r>
              <a:rPr kumimoji="1" lang="en-US" altLang="zh-CN" sz="2000" dirty="0"/>
              <a:t>thrashing</a:t>
            </a:r>
            <a:r>
              <a:rPr kumimoji="1" lang="zh-CN" altLang="en-US" sz="2000" dirty="0"/>
              <a:t>，提高系统整体性能表现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093FE9-5A36-AF46-AED4-7EA15E6EA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46790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F7C139-7F16-5449-8D6D-55B72D002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跟踪工作集</a:t>
            </a:r>
            <a:r>
              <a:rPr kumimoji="1" lang="en-US" altLang="zh-CN" dirty="0"/>
              <a:t>w(t, x)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312CB7-F7BB-F740-83F1-67CF83A6D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345331"/>
            <a:ext cx="8229600" cy="4255901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工作集时钟中断固定间隔发生，处理函数扫描内存页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若访问位为</a:t>
            </a:r>
            <a:r>
              <a:rPr kumimoji="1" lang="en-US" altLang="zh-CN" dirty="0"/>
              <a:t>1</a:t>
            </a:r>
            <a:r>
              <a:rPr kumimoji="1" lang="zh-CN" altLang="en-US" dirty="0"/>
              <a:t>，则表示此次</a:t>
            </a:r>
            <a:r>
              <a:rPr kumimoji="1" lang="en-US" altLang="zh-CN" dirty="0"/>
              <a:t>tick</a:t>
            </a:r>
            <a:r>
              <a:rPr kumimoji="1" lang="zh-CN" altLang="en-US" dirty="0"/>
              <a:t>中被访问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记录上次使用时间为当前时间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若访问位为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，则表示此次</a:t>
            </a:r>
            <a:r>
              <a:rPr kumimoji="1" lang="en-US" altLang="zh-CN" dirty="0"/>
              <a:t>tick</a:t>
            </a:r>
            <a:r>
              <a:rPr kumimoji="1" lang="zh-CN" altLang="en-US" dirty="0"/>
              <a:t>中未访问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当前时间 </a:t>
            </a:r>
            <a:r>
              <a:rPr kumimoji="1" lang="en-US" altLang="zh-CN" dirty="0"/>
              <a:t>–</a:t>
            </a:r>
            <a:r>
              <a:rPr kumimoji="1" lang="zh-CN" altLang="en-US" dirty="0"/>
              <a:t> 上次使用时间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若</a:t>
            </a:r>
            <a:r>
              <a:rPr kumimoji="1" lang="en-US" altLang="zh-CN" dirty="0"/>
              <a:t>Age</a:t>
            </a:r>
            <a:r>
              <a:rPr kumimoji="1" lang="zh-CN" altLang="en-US" dirty="0"/>
              <a:t>大于设置的</a:t>
            </a:r>
            <a:r>
              <a:rPr kumimoji="1" lang="en-US" altLang="zh-CN" dirty="0"/>
              <a:t>x</a:t>
            </a:r>
            <a:r>
              <a:rPr kumimoji="1" lang="zh-CN" altLang="en-US" dirty="0"/>
              <a:t>，则不在工作集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最后，</a:t>
            </a:r>
            <a:r>
              <a:rPr kumimoji="1" lang="en-US" altLang="zh-CN" dirty="0"/>
              <a:t>OS</a:t>
            </a:r>
            <a:r>
              <a:rPr kumimoji="1" lang="zh-CN" altLang="en-US" dirty="0"/>
              <a:t>将所有访问位清</a:t>
            </a:r>
            <a:r>
              <a:rPr kumimoji="1" lang="en-US" altLang="zh-CN" dirty="0"/>
              <a:t>0</a:t>
            </a:r>
          </a:p>
          <a:p>
            <a:pPr lvl="2"/>
            <a:r>
              <a:rPr kumimoji="1" lang="zh-CN" altLang="en-US" dirty="0"/>
              <a:t>注意：访问位由</a:t>
            </a:r>
            <a:r>
              <a:rPr kumimoji="1" lang="en-US" altLang="zh-CN" dirty="0"/>
              <a:t>CPU</a:t>
            </a:r>
            <a:r>
              <a:rPr kumimoji="1" lang="zh-CN" altLang="en-US" dirty="0"/>
              <a:t>在访问时设为</a:t>
            </a:r>
            <a:r>
              <a:rPr kumimoji="1" lang="en-US" altLang="zh-CN" dirty="0"/>
              <a:t>1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E4BB1F-2EB7-6D4F-B117-72127101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78</a:t>
            </a:fld>
            <a:endParaRPr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199678F-1329-5C4E-A5FE-EC6F1DB12180}"/>
              </a:ext>
            </a:extLst>
          </p:cNvPr>
          <p:cNvGrpSpPr/>
          <p:nvPr/>
        </p:nvGrpSpPr>
        <p:grpSpPr>
          <a:xfrm>
            <a:off x="6745307" y="2857499"/>
            <a:ext cx="1861740" cy="399095"/>
            <a:chOff x="6228184" y="1561356"/>
            <a:chExt cx="2584421" cy="515887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2BE1D32-B754-9E4E-A430-2C461C8D2311}"/>
                </a:ext>
              </a:extLst>
            </p:cNvPr>
            <p:cNvSpPr/>
            <p:nvPr/>
          </p:nvSpPr>
          <p:spPr>
            <a:xfrm>
              <a:off x="6228184" y="1561356"/>
              <a:ext cx="2088232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2010</a:t>
              </a:r>
              <a:endParaRPr kumimoji="1" lang="zh-CN" altLang="en-US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E2FD075-90E7-D94F-A2D6-CB7242F0BFE0}"/>
                </a:ext>
              </a:extLst>
            </p:cNvPr>
            <p:cNvSpPr/>
            <p:nvPr/>
          </p:nvSpPr>
          <p:spPr>
            <a:xfrm>
              <a:off x="8244408" y="1561356"/>
              <a:ext cx="568197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1</a:t>
              </a:r>
              <a:endParaRPr kumimoji="1" lang="zh-CN" altLang="en-US" dirty="0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5C522E9-29D1-A349-8055-96309D80640B}"/>
              </a:ext>
            </a:extLst>
          </p:cNvPr>
          <p:cNvGrpSpPr/>
          <p:nvPr/>
        </p:nvGrpSpPr>
        <p:grpSpPr>
          <a:xfrm>
            <a:off x="6745307" y="3373386"/>
            <a:ext cx="1861740" cy="399095"/>
            <a:chOff x="6228184" y="1561356"/>
            <a:chExt cx="2584421" cy="515887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B9DA0F4-693A-A44F-A209-0D6023E805A8}"/>
                </a:ext>
              </a:extLst>
            </p:cNvPr>
            <p:cNvSpPr/>
            <p:nvPr/>
          </p:nvSpPr>
          <p:spPr>
            <a:xfrm>
              <a:off x="6228184" y="1561356"/>
              <a:ext cx="2088232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2000</a:t>
              </a:r>
              <a:endParaRPr kumimoji="1" lang="zh-CN" altLang="en-US" dirty="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AF4F167-BA57-C34F-801A-F8EC3B4349EA}"/>
                </a:ext>
              </a:extLst>
            </p:cNvPr>
            <p:cNvSpPr/>
            <p:nvPr/>
          </p:nvSpPr>
          <p:spPr>
            <a:xfrm>
              <a:off x="8244408" y="1561356"/>
              <a:ext cx="568197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1</a:t>
              </a:r>
              <a:endParaRPr kumimoji="1" lang="zh-CN" altLang="en-US" dirty="0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84C3B2F-E490-754D-A2AD-0282B9A2DA7C}"/>
              </a:ext>
            </a:extLst>
          </p:cNvPr>
          <p:cNvGrpSpPr/>
          <p:nvPr/>
        </p:nvGrpSpPr>
        <p:grpSpPr>
          <a:xfrm>
            <a:off x="6745307" y="3865611"/>
            <a:ext cx="1861740" cy="399095"/>
            <a:chOff x="6228184" y="1561356"/>
            <a:chExt cx="2584421" cy="515887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FC909E3-7E96-2B43-A1E7-A477C0B97A41}"/>
                </a:ext>
              </a:extLst>
            </p:cNvPr>
            <p:cNvSpPr/>
            <p:nvPr/>
          </p:nvSpPr>
          <p:spPr>
            <a:xfrm>
              <a:off x="6228184" y="1561356"/>
              <a:ext cx="2088232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1970</a:t>
              </a:r>
              <a:endParaRPr kumimoji="1" lang="zh-CN" altLang="en-US" dirty="0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9EDC1F74-BCE4-424D-9672-A1242C26C4C2}"/>
                </a:ext>
              </a:extLst>
            </p:cNvPr>
            <p:cNvSpPr/>
            <p:nvPr/>
          </p:nvSpPr>
          <p:spPr>
            <a:xfrm>
              <a:off x="8244408" y="1561356"/>
              <a:ext cx="568197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0</a:t>
              </a:r>
              <a:endParaRPr kumimoji="1" lang="zh-CN" altLang="en-US" dirty="0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A93198F-A072-7D40-A419-02F0FCAFC241}"/>
              </a:ext>
            </a:extLst>
          </p:cNvPr>
          <p:cNvGrpSpPr/>
          <p:nvPr/>
        </p:nvGrpSpPr>
        <p:grpSpPr>
          <a:xfrm>
            <a:off x="6745307" y="4381498"/>
            <a:ext cx="1861740" cy="399095"/>
            <a:chOff x="6228184" y="1561356"/>
            <a:chExt cx="2584421" cy="515887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A37C5A40-B83E-244B-A5B3-5F961324A20D}"/>
                </a:ext>
              </a:extLst>
            </p:cNvPr>
            <p:cNvSpPr/>
            <p:nvPr/>
          </p:nvSpPr>
          <p:spPr>
            <a:xfrm>
              <a:off x="6228184" y="1561356"/>
              <a:ext cx="2088232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1990</a:t>
              </a:r>
              <a:endParaRPr kumimoji="1" lang="zh-CN" altLang="en-US" dirty="0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A8484C48-D0CE-E646-9A15-5E7A163F980C}"/>
                </a:ext>
              </a:extLst>
            </p:cNvPr>
            <p:cNvSpPr/>
            <p:nvPr/>
          </p:nvSpPr>
          <p:spPr>
            <a:xfrm>
              <a:off x="8244408" y="1561356"/>
              <a:ext cx="568197" cy="5158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0</a:t>
              </a:r>
              <a:endParaRPr kumimoji="1" lang="zh-CN" altLang="en-US" dirty="0"/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F6F8BD65-BC25-714D-ADE0-D6FF1E5A3D4A}"/>
              </a:ext>
            </a:extLst>
          </p:cNvPr>
          <p:cNvSpPr txBox="1"/>
          <p:nvPr/>
        </p:nvSpPr>
        <p:spPr>
          <a:xfrm>
            <a:off x="8100392" y="486443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访问位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DB3FB72-4940-624F-8F6B-D2E9B5A5FBB0}"/>
              </a:ext>
            </a:extLst>
          </p:cNvPr>
          <p:cNvSpPr txBox="1"/>
          <p:nvPr/>
        </p:nvSpPr>
        <p:spPr>
          <a:xfrm>
            <a:off x="6602740" y="486443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上次使用时间</a:t>
            </a:r>
            <a:endParaRPr kumimoji="1" lang="en-US" altLang="zh-CN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CBCACA9-8EEE-2C4F-9601-7FEAE2C62A3E}"/>
              </a:ext>
            </a:extLst>
          </p:cNvPr>
          <p:cNvSpPr txBox="1"/>
          <p:nvPr/>
        </p:nvSpPr>
        <p:spPr>
          <a:xfrm>
            <a:off x="6745307" y="2303772"/>
            <a:ext cx="186174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dirty="0"/>
              <a:t>当前时间：</a:t>
            </a:r>
            <a:r>
              <a:rPr kumimoji="1" lang="en-US" altLang="zh-CN" dirty="0"/>
              <a:t>2020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3106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46343</TotalTime>
  <Words>5032</Words>
  <Application>Microsoft Office PowerPoint</Application>
  <PresentationFormat>全屏显示(16:10)</PresentationFormat>
  <Paragraphs>741</Paragraphs>
  <Slides>78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78</vt:i4>
      </vt:variant>
    </vt:vector>
  </HeadingPairs>
  <TitlesOfParts>
    <vt:vector size="86" baseType="lpstr">
      <vt:lpstr>DengXian</vt:lpstr>
      <vt:lpstr>微软雅黑</vt:lpstr>
      <vt:lpstr>微软雅黑</vt:lpstr>
      <vt:lpstr>Arial</vt:lpstr>
      <vt:lpstr>Calibri</vt:lpstr>
      <vt:lpstr>Comic Sans MS</vt:lpstr>
      <vt:lpstr>Helvetica</vt:lpstr>
      <vt:lpstr>Office 主题​​</vt:lpstr>
      <vt:lpstr>虚拟&amp;物理内存管理</vt:lpstr>
      <vt:lpstr>版权声明</vt:lpstr>
      <vt:lpstr>Recap: 执行mmap后，VMA的变化</vt:lpstr>
      <vt:lpstr>回顾：应用程序仅使用虚拟地址</vt:lpstr>
      <vt:lpstr>问：VMA和页表是否冗余？</vt:lpstr>
      <vt:lpstr>操作系统何时为应用程序填写页表</vt:lpstr>
      <vt:lpstr>延迟映射/按需调页（Demand Paging）</vt:lpstr>
      <vt:lpstr>缺页异常（Page Fault）</vt:lpstr>
      <vt:lpstr>如何判断缺页异常的合法性？</vt:lpstr>
      <vt:lpstr>按需分配考虑的权衡</vt:lpstr>
      <vt:lpstr>思考</vt:lpstr>
      <vt:lpstr>MMAP</vt:lpstr>
      <vt:lpstr>MMAP</vt:lpstr>
      <vt:lpstr>MMAP</vt:lpstr>
      <vt:lpstr>MMAP</vt:lpstr>
      <vt:lpstr>MMAP 的优化</vt:lpstr>
      <vt:lpstr>思考</vt:lpstr>
      <vt:lpstr>小知识：OS可向应用提供灵活的内存管理API</vt:lpstr>
      <vt:lpstr>可将物理内存看做是虚拟地址空间的Cache</vt:lpstr>
      <vt:lpstr>换页机制（Swapping）</vt:lpstr>
      <vt:lpstr>简单的换页示例</vt:lpstr>
      <vt:lpstr>Page Faults</vt:lpstr>
      <vt:lpstr>OS内存管理中的更多机制</vt:lpstr>
      <vt:lpstr>共享内存</vt:lpstr>
      <vt:lpstr>写时拷贝（copy-on-write）</vt:lpstr>
      <vt:lpstr>内存去重</vt:lpstr>
      <vt:lpstr>内存压缩</vt:lpstr>
      <vt:lpstr>内存压缩案例</vt:lpstr>
      <vt:lpstr>大页：再次回顾4级页表</vt:lpstr>
      <vt:lpstr>大页</vt:lpstr>
      <vt:lpstr>大页</vt:lpstr>
      <vt:lpstr>大页的利弊</vt:lpstr>
      <vt:lpstr>AARCH64支持多种最小页面大小</vt:lpstr>
      <vt:lpstr>思考</vt:lpstr>
      <vt:lpstr>虚拟内存机制的优势</vt:lpstr>
      <vt:lpstr>物理内存管理</vt:lpstr>
      <vt:lpstr>OS什么时候需要考虑物理内存？</vt:lpstr>
      <vt:lpstr>场景-1：应用触发on-demand paging</vt:lpstr>
      <vt:lpstr>场景-2：内核自身用到的数据结构</vt:lpstr>
      <vt:lpstr>场景-3：设备需要分配DMA内存</vt:lpstr>
      <vt:lpstr>场景-4：换入换出（swapping）</vt:lpstr>
      <vt:lpstr>内核物理内存管理的需求和评价指标</vt:lpstr>
      <vt:lpstr>直接映射机制</vt:lpstr>
      <vt:lpstr>关于直接映射机制，需要注意的几点</vt:lpstr>
      <vt:lpstr>伙伴系统：页粒度内存管理</vt:lpstr>
      <vt:lpstr>空闲物理内存管理的简单方法：bitmap</vt:lpstr>
      <vt:lpstr>简单管理方法导致外部碎片问题</vt:lpstr>
      <vt:lpstr>伙伴系统（buddy system）</vt:lpstr>
      <vt:lpstr>伙伴系统例子：分配15K内存</vt:lpstr>
      <vt:lpstr>伙伴系统的巧妙之处</vt:lpstr>
      <vt:lpstr>伙伴系统解决外部碎片（合并操作）</vt:lpstr>
      <vt:lpstr>伙伴系统：以页为粒度的物理内存管理</vt:lpstr>
      <vt:lpstr>SLAB/SLUB/SLOB：细粒度内存管理</vt:lpstr>
      <vt:lpstr>如何实现内核的malloc（kmalloc）？</vt:lpstr>
      <vt:lpstr>SLAB：建立在伙伴系统之上的分配器</vt:lpstr>
      <vt:lpstr>SLUB分配器的思路</vt:lpstr>
      <vt:lpstr>SLUB设计</vt:lpstr>
      <vt:lpstr>具体示例</vt:lpstr>
      <vt:lpstr>具体示例</vt:lpstr>
      <vt:lpstr>具体示例</vt:lpstr>
      <vt:lpstr>具体示例</vt:lpstr>
      <vt:lpstr>具体示例</vt:lpstr>
      <vt:lpstr>具体示例</vt:lpstr>
      <vt:lpstr>总体来看SLUB</vt:lpstr>
      <vt:lpstr>SLUB内存分配器小结</vt:lpstr>
      <vt:lpstr>换页策略</vt:lpstr>
      <vt:lpstr>理想的换页策略（OPT策略）</vt:lpstr>
      <vt:lpstr>FIFO策略</vt:lpstr>
      <vt:lpstr>Belady’s Anomaly</vt:lpstr>
      <vt:lpstr>Second Chance策略</vt:lpstr>
      <vt:lpstr>LRU策略</vt:lpstr>
      <vt:lpstr>LRU如何实现呢？</vt:lpstr>
      <vt:lpstr>时钟算法策略</vt:lpstr>
      <vt:lpstr>思考具体实现案例：时钟算法</vt:lpstr>
      <vt:lpstr>页替换策略小结</vt:lpstr>
      <vt:lpstr>Thrashing Problem</vt:lpstr>
      <vt:lpstr>工作集模型（有效避免Thrashing）</vt:lpstr>
      <vt:lpstr>跟踪工作集w(t, x)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zhao zejun</cp:lastModifiedBy>
  <cp:revision>1645</cp:revision>
  <cp:lastPrinted>2016-06-13T07:55:34Z</cp:lastPrinted>
  <dcterms:created xsi:type="dcterms:W3CDTF">2017-11-24T09:35:45Z</dcterms:created>
  <dcterms:modified xsi:type="dcterms:W3CDTF">2023-03-20T11:55:44Z</dcterms:modified>
</cp:coreProperties>
</file>